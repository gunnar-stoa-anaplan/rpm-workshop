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notesSlides/notesSlide6.xml" ContentType="application/vnd.openxmlformats-officedocument.presentationml.notesSlide+xml"/>
  <Override PartName="/ppt/comments/modernComment_113_3063AA17.xml" ContentType="application/vnd.ms-powerpoint.comments+xml"/>
  <Override PartName="/ppt/tags/tag21.xml" ContentType="application/vnd.openxmlformats-officedocument.presentationml.tags+xml"/>
  <Override PartName="/ppt/notesSlides/notesSlide7.xml" ContentType="application/vnd.openxmlformats-officedocument.presentationml.notesSlide+xml"/>
  <Override PartName="/ppt/comments/modernComment_115_89589E60.xml" ContentType="application/vnd.ms-powerpoint.comments+xml"/>
  <Override PartName="/ppt/tags/tag22.xml" ContentType="application/vnd.openxmlformats-officedocument.presentationml.tags+xml"/>
  <Override PartName="/ppt/notesSlides/notesSlide8.xml" ContentType="application/vnd.openxmlformats-officedocument.presentationml.notesSlide+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notesSlides/notesSlide11.xml" ContentType="application/vnd.openxmlformats-officedocument.presentationml.notesSlide+xml"/>
  <Override PartName="/ppt/tags/tag26.xml" ContentType="application/vnd.openxmlformats-officedocument.presentationml.tags+xml"/>
  <Override PartName="/ppt/notesSlides/notesSlide12.xml" ContentType="application/vnd.openxmlformats-officedocument.presentationml.notesSlide+xml"/>
  <Override PartName="/ppt/tags/tag27.xml" ContentType="application/vnd.openxmlformats-officedocument.presentationml.tags+xml"/>
  <Override PartName="/ppt/notesSlides/notesSlide1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5.xml" ContentType="application/vnd.openxmlformats-officedocument.presentationml.notesSlide+xml"/>
  <Override PartName="/ppt/tags/tag32.xml" ContentType="application/vnd.openxmlformats-officedocument.presentationml.tags+xml"/>
  <Override PartName="/ppt/notesSlides/notesSlide16.xml" ContentType="application/vnd.openxmlformats-officedocument.presentationml.notesSlide+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8.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9.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20.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2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2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2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25.xml" ContentType="application/vnd.openxmlformats-officedocument.presentationml.notesSlide+xml"/>
  <Override PartName="/ppt/tags/tag5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48"/>
  </p:notesMasterIdLst>
  <p:handoutMasterIdLst>
    <p:handoutMasterId r:id="rId49"/>
  </p:handoutMasterIdLst>
  <p:sldIdLst>
    <p:sldId id="2147483617" r:id="rId5"/>
    <p:sldId id="267" r:id="rId6"/>
    <p:sldId id="331" r:id="rId7"/>
    <p:sldId id="257" r:id="rId8"/>
    <p:sldId id="259" r:id="rId9"/>
    <p:sldId id="2147483638" r:id="rId10"/>
    <p:sldId id="342" r:id="rId11"/>
    <p:sldId id="271" r:id="rId12"/>
    <p:sldId id="298" r:id="rId13"/>
    <p:sldId id="265" r:id="rId14"/>
    <p:sldId id="264" r:id="rId15"/>
    <p:sldId id="260" r:id="rId16"/>
    <p:sldId id="297" r:id="rId17"/>
    <p:sldId id="270" r:id="rId18"/>
    <p:sldId id="306" r:id="rId19"/>
    <p:sldId id="262" r:id="rId20"/>
    <p:sldId id="303" r:id="rId21"/>
    <p:sldId id="275" r:id="rId22"/>
    <p:sldId id="277" r:id="rId23"/>
    <p:sldId id="269" r:id="rId24"/>
    <p:sldId id="274" r:id="rId25"/>
    <p:sldId id="360" r:id="rId26"/>
    <p:sldId id="2147483641" r:id="rId27"/>
    <p:sldId id="2147483533" r:id="rId28"/>
    <p:sldId id="373" r:id="rId29"/>
    <p:sldId id="2147483619" r:id="rId30"/>
    <p:sldId id="261" r:id="rId31"/>
    <p:sldId id="268" r:id="rId32"/>
    <p:sldId id="370" r:id="rId33"/>
    <p:sldId id="369" r:id="rId34"/>
    <p:sldId id="256" r:id="rId35"/>
    <p:sldId id="272" r:id="rId36"/>
    <p:sldId id="273" r:id="rId37"/>
    <p:sldId id="276" r:id="rId38"/>
    <p:sldId id="278" r:id="rId39"/>
    <p:sldId id="279" r:id="rId40"/>
    <p:sldId id="280" r:id="rId41"/>
    <p:sldId id="281" r:id="rId42"/>
    <p:sldId id="282" r:id="rId43"/>
    <p:sldId id="283" r:id="rId44"/>
    <p:sldId id="266" r:id="rId45"/>
    <p:sldId id="258" r:id="rId46"/>
    <p:sldId id="263" r:id="rId47"/>
  </p:sldIdLst>
  <p:sldSz cx="9144000" cy="5143500" type="screen16x9"/>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ation Slides" id="{CE73B084-1FC7-F343-88F8-9C60A016B6E6}">
          <p14:sldIdLst>
            <p14:sldId id="2147483617"/>
            <p14:sldId id="267"/>
            <p14:sldId id="331"/>
            <p14:sldId id="257"/>
            <p14:sldId id="259"/>
            <p14:sldId id="2147483638"/>
            <p14:sldId id="342"/>
            <p14:sldId id="271"/>
            <p14:sldId id="298"/>
            <p14:sldId id="265"/>
            <p14:sldId id="264"/>
            <p14:sldId id="260"/>
            <p14:sldId id="297"/>
            <p14:sldId id="270"/>
            <p14:sldId id="306"/>
            <p14:sldId id="262"/>
            <p14:sldId id="303"/>
            <p14:sldId id="275"/>
            <p14:sldId id="277"/>
            <p14:sldId id="269"/>
            <p14:sldId id="274"/>
            <p14:sldId id="360"/>
            <p14:sldId id="2147483641"/>
            <p14:sldId id="2147483533"/>
            <p14:sldId id="373"/>
            <p14:sldId id="2147483619"/>
            <p14:sldId id="261"/>
            <p14:sldId id="268"/>
            <p14:sldId id="370"/>
            <p14:sldId id="369"/>
            <p14:sldId id="256"/>
            <p14:sldId id="272"/>
            <p14:sldId id="273"/>
            <p14:sldId id="276"/>
            <p14:sldId id="278"/>
            <p14:sldId id="279"/>
            <p14:sldId id="280"/>
            <p14:sldId id="281"/>
            <p14:sldId id="282"/>
            <p14:sldId id="283"/>
            <p14:sldId id="266"/>
            <p14:sldId id="258"/>
            <p14:sldId id="26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7C1C12E-8F2A-42AA-1CED-00DA13D721B9}" name="Scott Kolka" initials="SK" userId="S::scott.kolka@anaplan.com::2ed3a597-c8c8-40e8-b4a8-91802adef3e0" providerId="AD"/>
  <p188:author id="{E0CBF631-E4FF-E5B7-3B1B-09F0815EB7AC}" name="Maria Milefchik" initials="" userId="S::maria.milefchik@anaplan.com::a479d857-260c-493a-a1dd-5bb524fda509" providerId="AD"/>
  <p188:author id="{6EFD7152-D5BC-3378-DC26-A00070F18D50}" name="Rob Marshall" initials="RM" userId="S::rob.marshall@anaplan.com::9947f67e-6866-42f5-b443-72eb8d26bc63" providerId="AD"/>
  <p188:author id="{3FB92966-B6E8-B9A2-DBB0-6F828F6F6A62}" name="Abby Schutt Beckman" initials="ASB" userId="S::Abby.SchuttBeckman@anaplan.com::0524e67a-e393-49b6-9e36-a073a4c6128e" providerId="AD"/>
  <p188:author id="{3BBD676F-8E28-25D4-2D0E-94EC625501E2}" name="Kerri Vogel" initials="KV" userId="S::kerri.vogel@anaplan.com::a3b61504-22a4-41c4-8fe9-cd561b1abc85" providerId="AD"/>
  <p188:author id="{55CB068F-EB30-EAED-6874-12C9D74994FB}" name="Ryan Slinkard" initials="RS" userId="S::ryan.slinkard@anaplan.com::73ffe3fb-2c42-4884-a4bf-984b0554d0fe" providerId="AD"/>
  <p188:author id="{07B68B92-48D8-64C8-4AEF-3791939CC491}" name="Sean Haney" initials="SH" userId="S::sean.haney@anaplan.com::cd633784-f7f3-441c-a4df-eede0e345892" providerId="AD"/>
  <p188:author id="{D26CFDC9-D12C-FF80-C1D5-C10DBA1D7FA1}" name="Katy McShane" initials="KM" userId="S::katy.mcshane@anaplan.com::0843615c-3602-4876-939c-ca6900df41ad" providerId="AD"/>
  <p188:author id="{D35BE4D1-5B3B-21A7-7E99-B6065ACBE7D2}" name="Dihya Atmani" initials="DA" userId="S::dihya.atmani@anaplan.com::c02bfac3-1259-408a-8044-1d248ae30ef8" providerId="AD"/>
  <p188:author id="{64B80CD4-6E55-C73B-60B4-D520BC19ACD1}" name="Abby Schutt Beckman" initials="AB" userId="S::abby.schuttbeckman@anaplan.com::0524e67a-e393-49b6-9e36-a073a4c6128e" providerId="AD"/>
  <p188:author id="{BF30BEE5-0896-C4AC-443F-CF9F9E7F86C7}" name="Wayne Haymes" initials="" userId="S::wayne.haymes@anaplan.com::35932973-c409-4278-bacb-2e74dce4db66" providerId="AD"/>
  <p188:author id="{5F1CCAE8-FAAF-39A7-F0CF-B621250FA764}" name="Jenny Elias" initials="JE" userId="S::jenny.elias@anaplan.com::80bc6b8c-88e1-4b14-a673-37ea383e1ca4"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1EE"/>
    <a:srgbClr val="3B596B"/>
    <a:srgbClr val="001D32"/>
    <a:srgbClr val="ECECEC"/>
    <a:srgbClr val="F0F1F7"/>
    <a:srgbClr val="C882D9"/>
    <a:srgbClr val="9696FA"/>
    <a:srgbClr val="8AE6D2"/>
    <a:srgbClr val="96B5FA"/>
    <a:srgbClr val="89E5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DADCA-03F4-EB50-E30C-CB279BF705C2}" v="4" dt="2026-03-27T14:48:13.31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2178" y="94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 Duh" userId="S::chan.duh@anaplan.com::b840b9db-54ae-4d18-a5e4-ccd87183607d" providerId="AD" clId="Web-{350D98EC-8F29-9059-0933-2218FAF2EEC4}"/>
    <pc:docChg chg="addSld delSld modSection">
      <pc:chgData name="Chan Duh" userId="S::chan.duh@anaplan.com::b840b9db-54ae-4d18-a5e4-ccd87183607d" providerId="AD" clId="Web-{350D98EC-8F29-9059-0933-2218FAF2EEC4}" dt="2026-03-23T11:42:14.078" v="10"/>
      <pc:docMkLst>
        <pc:docMk/>
      </pc:docMkLst>
      <pc:sldChg chg="add">
        <pc:chgData name="Chan Duh" userId="S::chan.duh@anaplan.com::b840b9db-54ae-4d18-a5e4-ccd87183607d" providerId="AD" clId="Web-{350D98EC-8F29-9059-0933-2218FAF2EEC4}" dt="2026-03-23T11:41:44.750" v="0"/>
        <pc:sldMkLst>
          <pc:docMk/>
          <pc:sldMk cId="2903078124" sldId="256"/>
        </pc:sldMkLst>
      </pc:sldChg>
      <pc:sldChg chg="add">
        <pc:chgData name="Chan Duh" userId="S::chan.duh@anaplan.com::b840b9db-54ae-4d18-a5e4-ccd87183607d" providerId="AD" clId="Web-{350D98EC-8F29-9059-0933-2218FAF2EEC4}" dt="2026-03-23T11:41:45.250" v="1"/>
        <pc:sldMkLst>
          <pc:docMk/>
          <pc:sldMk cId="2526368543" sldId="272"/>
        </pc:sldMkLst>
      </pc:sldChg>
      <pc:sldChg chg="add">
        <pc:chgData name="Chan Duh" userId="S::chan.duh@anaplan.com::b840b9db-54ae-4d18-a5e4-ccd87183607d" providerId="AD" clId="Web-{350D98EC-8F29-9059-0933-2218FAF2EEC4}" dt="2026-03-23T11:41:45.750" v="2"/>
        <pc:sldMkLst>
          <pc:docMk/>
          <pc:sldMk cId="3258459441" sldId="273"/>
        </pc:sldMkLst>
      </pc:sldChg>
      <pc:sldChg chg="add">
        <pc:chgData name="Chan Duh" userId="S::chan.duh@anaplan.com::b840b9db-54ae-4d18-a5e4-ccd87183607d" providerId="AD" clId="Web-{350D98EC-8F29-9059-0933-2218FAF2EEC4}" dt="2026-03-23T11:41:46.265" v="3"/>
        <pc:sldMkLst>
          <pc:docMk/>
          <pc:sldMk cId="1268111172" sldId="276"/>
        </pc:sldMkLst>
      </pc:sldChg>
      <pc:sldChg chg="add">
        <pc:chgData name="Chan Duh" userId="S::chan.duh@anaplan.com::b840b9db-54ae-4d18-a5e4-ccd87183607d" providerId="AD" clId="Web-{350D98EC-8F29-9059-0933-2218FAF2EEC4}" dt="2026-03-23T11:41:46.828" v="4"/>
        <pc:sldMkLst>
          <pc:docMk/>
          <pc:sldMk cId="1728762284" sldId="278"/>
        </pc:sldMkLst>
      </pc:sldChg>
      <pc:sldChg chg="add">
        <pc:chgData name="Chan Duh" userId="S::chan.duh@anaplan.com::b840b9db-54ae-4d18-a5e4-ccd87183607d" providerId="AD" clId="Web-{350D98EC-8F29-9059-0933-2218FAF2EEC4}" dt="2026-03-23T11:41:47.297" v="5"/>
        <pc:sldMkLst>
          <pc:docMk/>
          <pc:sldMk cId="452845906" sldId="279"/>
        </pc:sldMkLst>
      </pc:sldChg>
      <pc:sldChg chg="add">
        <pc:chgData name="Chan Duh" userId="S::chan.duh@anaplan.com::b840b9db-54ae-4d18-a5e4-ccd87183607d" providerId="AD" clId="Web-{350D98EC-8F29-9059-0933-2218FAF2EEC4}" dt="2026-03-23T11:41:47.687" v="6"/>
        <pc:sldMkLst>
          <pc:docMk/>
          <pc:sldMk cId="1673620480" sldId="280"/>
        </pc:sldMkLst>
      </pc:sldChg>
      <pc:sldChg chg="add">
        <pc:chgData name="Chan Duh" userId="S::chan.duh@anaplan.com::b840b9db-54ae-4d18-a5e4-ccd87183607d" providerId="AD" clId="Web-{350D98EC-8F29-9059-0933-2218FAF2EEC4}" dt="2026-03-23T11:41:48.156" v="7"/>
        <pc:sldMkLst>
          <pc:docMk/>
          <pc:sldMk cId="939299368" sldId="281"/>
        </pc:sldMkLst>
      </pc:sldChg>
      <pc:sldChg chg="add">
        <pc:chgData name="Chan Duh" userId="S::chan.duh@anaplan.com::b840b9db-54ae-4d18-a5e4-ccd87183607d" providerId="AD" clId="Web-{350D98EC-8F29-9059-0933-2218FAF2EEC4}" dt="2026-03-23T11:41:48.765" v="8"/>
        <pc:sldMkLst>
          <pc:docMk/>
          <pc:sldMk cId="3734656856" sldId="282"/>
        </pc:sldMkLst>
      </pc:sldChg>
      <pc:sldChg chg="add">
        <pc:chgData name="Chan Duh" userId="S::chan.duh@anaplan.com::b840b9db-54ae-4d18-a5e4-ccd87183607d" providerId="AD" clId="Web-{350D98EC-8F29-9059-0933-2218FAF2EEC4}" dt="2026-03-23T11:41:49.281" v="9"/>
        <pc:sldMkLst>
          <pc:docMk/>
          <pc:sldMk cId="1109226974" sldId="283"/>
        </pc:sldMkLst>
      </pc:sldChg>
    </pc:docChg>
  </pc:docChgLst>
  <pc:docChgLst>
    <pc:chgData name="Chan Duh" userId="S::chan.duh@anaplan.com::b840b9db-54ae-4d18-a5e4-ccd87183607d" providerId="AD" clId="Web-{359DADCA-03F4-EB50-E30C-CB279BF705C2}"/>
    <pc:docChg chg="delSld modSection">
      <pc:chgData name="Chan Duh" userId="S::chan.duh@anaplan.com::b840b9db-54ae-4d18-a5e4-ccd87183607d" providerId="AD" clId="Web-{359DADCA-03F4-EB50-E30C-CB279BF705C2}" dt="2026-03-27T14:48:13.315" v="3"/>
      <pc:docMkLst>
        <pc:docMk/>
      </pc:docMkLst>
      <pc:sldChg chg="del">
        <pc:chgData name="Chan Duh" userId="S::chan.duh@anaplan.com::b840b9db-54ae-4d18-a5e4-ccd87183607d" providerId="AD" clId="Web-{359DADCA-03F4-EB50-E30C-CB279BF705C2}" dt="2026-03-27T14:48:13.315" v="2"/>
        <pc:sldMkLst>
          <pc:docMk/>
          <pc:sldMk cId="3182938111" sldId="366"/>
        </pc:sldMkLst>
      </pc:sldChg>
      <pc:sldChg chg="del">
        <pc:chgData name="Chan Duh" userId="S::chan.duh@anaplan.com::b840b9db-54ae-4d18-a5e4-ccd87183607d" providerId="AD" clId="Web-{359DADCA-03F4-EB50-E30C-CB279BF705C2}" dt="2026-03-27T14:48:13.315" v="3"/>
        <pc:sldMkLst>
          <pc:docMk/>
          <pc:sldMk cId="3193598486" sldId="2147483377"/>
        </pc:sldMkLst>
      </pc:sldChg>
      <pc:sldChg chg="del">
        <pc:chgData name="Chan Duh" userId="S::chan.duh@anaplan.com::b840b9db-54ae-4d18-a5e4-ccd87183607d" providerId="AD" clId="Web-{359DADCA-03F4-EB50-E30C-CB279BF705C2}" dt="2026-03-27T14:48:06.221" v="1"/>
        <pc:sldMkLst>
          <pc:docMk/>
          <pc:sldMk cId="222500148" sldId="2147483646"/>
        </pc:sldMkLst>
      </pc:sldChg>
      <pc:sldChg chg="del">
        <pc:chgData name="Chan Duh" userId="S::chan.duh@anaplan.com::b840b9db-54ae-4d18-a5e4-ccd87183607d" providerId="AD" clId="Web-{359DADCA-03F4-EB50-E30C-CB279BF705C2}" dt="2026-03-27T14:48:06.221" v="0"/>
        <pc:sldMkLst>
          <pc:docMk/>
          <pc:sldMk cId="3565977079" sldId="2147483647"/>
        </pc:sldMkLst>
      </pc:sldChg>
    </pc:docChg>
  </pc:docChgLst>
</pc:chgInfo>
</file>

<file path=ppt/comments/modernComment_113_3063AA17.xml><?xml version="1.0" encoding="utf-8"?>
<p188:cmLst xmlns:a="http://schemas.openxmlformats.org/drawingml/2006/main" xmlns:r="http://schemas.openxmlformats.org/officeDocument/2006/relationships" xmlns:p188="http://schemas.microsoft.com/office/powerpoint/2018/8/main">
  <p188:cm id="{19BD3179-39C5-4C89-9F7F-129B5D5922A9}" authorId="{55CB068F-EB30-EAED-6874-12C9D74994FB}" created="2026-01-21T16:52:37.189">
    <pc:sldMkLst xmlns:pc="http://schemas.microsoft.com/office/powerpoint/2013/main/command">
      <pc:docMk/>
      <pc:sldMk cId="811837975" sldId="275"/>
    </pc:sldMkLst>
    <p188:replyLst>
      <p188:reply id="{B2FE5749-B6BF-4DEA-BE79-C17FF9D4CE77}" authorId="{E0CBF631-E4FF-E5B7-3B1B-09F0815EB7AC}" created="2026-01-21T17:08:45.198">
        <p188:txBody>
          <a:bodyPr/>
          <a:lstStyle/>
          <a:p>
            <a:r>
              <a:rPr lang="en-US"/>
              <a:t>Ryan, I think we need a visual of some sort (a picture is worth a thousand words) plus the info on Slide 20. Can we get creative on how to show the process in a visual manner?</a:t>
            </a:r>
          </a:p>
        </p188:txBody>
      </p188:reply>
    </p188:replyLst>
    <p188:txBody>
      <a:bodyPr/>
      <a:lstStyle/>
      <a:p>
        <a:r>
          <a:rPr lang="en-US"/>
          <a:t>Hi Team - Do we really need this slide and can remove vs. hide slide 19?
[@Maria Milefchik] [@Sean Haney] [@Scott Kolka] </a:t>
        </a:r>
      </a:p>
    </p188:txBody>
  </p188:cm>
</p188:cmLst>
</file>

<file path=ppt/comments/modernComment_115_89589E60.xml><?xml version="1.0" encoding="utf-8"?>
<p188:cmLst xmlns:a="http://schemas.openxmlformats.org/drawingml/2006/main" xmlns:r="http://schemas.openxmlformats.org/officeDocument/2006/relationships" xmlns:p188="http://schemas.microsoft.com/office/powerpoint/2018/8/main">
  <p188:cm id="{8D140CA0-EA82-4F81-8AB8-143894BEF480}" authorId="{55CB068F-EB30-EAED-6874-12C9D74994FB}" created="2026-01-21T16:54:33.991">
    <ac:deMkLst xmlns:ac="http://schemas.microsoft.com/office/drawing/2013/main/command">
      <pc:docMk xmlns:pc="http://schemas.microsoft.com/office/powerpoint/2013/main/command"/>
      <pc:sldMk xmlns:pc="http://schemas.microsoft.com/office/powerpoint/2013/main/command" cId="2304286304" sldId="277"/>
      <ac:spMk id="18" creationId="{DECCD03C-0339-7DF2-2CAE-B93CEE7E9F37}"/>
    </ac:deMkLst>
    <p188:txBody>
      <a:bodyPr/>
      <a:lstStyle/>
      <a:p>
        <a:r>
          <a:rPr lang="en-US"/>
          <a:t>[@Sean Haney] [@Maria Milefchik] [@Scott Kolka] Team - 
1. If we have this slide we need another one that removes test and deploy like we did on slides 20-21.
2. can we please create a build guide for this slide (like we did for 16) and the next two for them to choose which one to use based on how the project is sold?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27/3/2026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3/27/2026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Arial"/>
            </a:endParaRPr>
          </a:p>
        </p:txBody>
      </p:sp>
      <p:sp>
        <p:nvSpPr>
          <p:cNvPr id="4" name="Slide Number Placeholder 3"/>
          <p:cNvSpPr>
            <a:spLocks noGrp="1"/>
          </p:cNvSpPr>
          <p:nvPr>
            <p:ph type="sldNum" sz="quarter" idx="5"/>
          </p:nvPr>
        </p:nvSpPr>
        <p:spPr/>
        <p:txBody>
          <a:bodyPr/>
          <a:lstStyle/>
          <a:p>
            <a:fld id="{5DA7E72F-BFB2-D748-87F9-5C2F0B5EB908}" type="slidenum">
              <a:rPr lang="en-US" smtClean="0"/>
              <a:pPr/>
              <a:t>4</a:t>
            </a:fld>
            <a:endParaRPr lang="en-US"/>
          </a:p>
        </p:txBody>
      </p:sp>
    </p:spTree>
    <p:extLst>
      <p:ext uri="{BB962C8B-B14F-4D97-AF65-F5344CB8AC3E}">
        <p14:creationId xmlns:p14="http://schemas.microsoft.com/office/powerpoint/2010/main" val="2590563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DA7E72F-BFB2-D748-87F9-5C2F0B5EB908}" type="slidenum">
              <a:rPr lang="en-US" smtClean="0"/>
              <a:pPr/>
              <a:t>5</a:t>
            </a:fld>
            <a:endParaRPr lang="en-US"/>
          </a:p>
        </p:txBody>
      </p:sp>
    </p:spTree>
    <p:extLst>
      <p:ext uri="{BB962C8B-B14F-4D97-AF65-F5344CB8AC3E}">
        <p14:creationId xmlns:p14="http://schemas.microsoft.com/office/powerpoint/2010/main" val="3702686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7</a:t>
            </a:fld>
            <a:endParaRPr lang="en-US"/>
          </a:p>
        </p:txBody>
      </p:sp>
    </p:spTree>
    <p:extLst>
      <p:ext uri="{BB962C8B-B14F-4D97-AF65-F5344CB8AC3E}">
        <p14:creationId xmlns:p14="http://schemas.microsoft.com/office/powerpoint/2010/main" val="2546506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9</a:t>
            </a:fld>
            <a:endParaRPr lang="en-US"/>
          </a:p>
        </p:txBody>
      </p:sp>
    </p:spTree>
    <p:extLst>
      <p:ext uri="{BB962C8B-B14F-4D97-AF65-F5344CB8AC3E}">
        <p14:creationId xmlns:p14="http://schemas.microsoft.com/office/powerpoint/2010/main" val="3131176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17</a:t>
            </a:fld>
            <a:endParaRPr lang="en-US"/>
          </a:p>
        </p:txBody>
      </p:sp>
    </p:spTree>
    <p:extLst>
      <p:ext uri="{BB962C8B-B14F-4D97-AF65-F5344CB8AC3E}">
        <p14:creationId xmlns:p14="http://schemas.microsoft.com/office/powerpoint/2010/main" val="1322885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a:cs typeface="Arial"/>
              </a:rPr>
              <a:t>**Instructions**</a:t>
            </a:r>
            <a:endParaRPr lang="en-US"/>
          </a:p>
          <a:p>
            <a:r>
              <a:rPr lang="en-US"/>
              <a:t>Delivery PM or team lead presents the Anaplan Way Methodology. </a:t>
            </a:r>
          </a:p>
          <a:p>
            <a:endParaRPr lang="en-US"/>
          </a:p>
          <a:p>
            <a:r>
              <a:rPr lang="en-US"/>
              <a:t>Pillars of the approach</a:t>
            </a:r>
          </a:p>
          <a:p>
            <a:pPr defTabSz="601266">
              <a:lnSpc>
                <a:spcPct val="80000"/>
              </a:lnSpc>
              <a:spcAft>
                <a:spcPts val="450"/>
              </a:spcAft>
            </a:pPr>
            <a:r>
              <a:rPr lang="en-GB" sz="1400" b="1" i="0" kern="1200">
                <a:solidFill>
                  <a:schemeClr val="tx2"/>
                </a:solidFill>
                <a:latin typeface="Arial" panose="020B0604020202020204" pitchFamily="34" charset="0"/>
                <a:ea typeface="Verdana"/>
                <a:cs typeface="Verdana" panose="020B0604030504040204" pitchFamily="34" charset="0"/>
              </a:rPr>
              <a:t>1) Start with the Application</a:t>
            </a:r>
            <a:r>
              <a:rPr lang="en-GB" sz="1400" b="0" i="0" kern="1200">
                <a:solidFill>
                  <a:schemeClr val="tx2"/>
                </a:solidFill>
                <a:latin typeface="Arial" panose="020B0604020202020204" pitchFamily="34" charset="0"/>
                <a:ea typeface="Verdana"/>
                <a:cs typeface="Verdana" panose="020B0604030504040204" pitchFamily="34" charset="0"/>
              </a:rPr>
              <a:t>: </a:t>
            </a:r>
          </a:p>
          <a:p>
            <a:pPr marL="171450" indent="-17145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Start with </a:t>
            </a:r>
            <a:r>
              <a:rPr lang="en-GB" sz="1200" b="0" i="0" kern="1200">
                <a:solidFill>
                  <a:schemeClr val="tx2"/>
                </a:solidFill>
                <a:highlight>
                  <a:srgbClr val="FFFF00"/>
                </a:highlight>
                <a:latin typeface="Arial" panose="020B0604020202020204" pitchFamily="34" charset="0"/>
                <a:ea typeface="Verdana"/>
                <a:cs typeface="Verdana" panose="020B0604030504040204" pitchFamily="34" charset="0"/>
              </a:rPr>
              <a:t>the application</a:t>
            </a:r>
            <a:r>
              <a:rPr lang="en-GB" sz="1200" b="0" i="0" kern="1200">
                <a:solidFill>
                  <a:schemeClr val="tx2"/>
                </a:solidFill>
                <a:latin typeface="Arial" panose="020B0604020202020204" pitchFamily="34" charset="0"/>
                <a:ea typeface="Verdana"/>
                <a:cs typeface="Verdana" panose="020B0604030504040204" pitchFamily="34" charset="0"/>
              </a:rPr>
              <a:t> as a baseline </a:t>
            </a:r>
          </a:p>
          <a:p>
            <a:pPr marL="171450" indent="-17145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Take the model to production within </a:t>
            </a:r>
            <a:r>
              <a:rPr lang="en-GB" sz="1200" b="0" i="0" kern="1200">
                <a:solidFill>
                  <a:schemeClr val="tx2"/>
                </a:solidFill>
                <a:highlight>
                  <a:srgbClr val="FFFF00"/>
                </a:highlight>
                <a:latin typeface="Arial" panose="020B0604020202020204" pitchFamily="34" charset="0"/>
                <a:ea typeface="Verdana"/>
                <a:cs typeface="Verdana" panose="020B0604030504040204" pitchFamily="34" charset="0"/>
              </a:rPr>
              <a:t>X</a:t>
            </a:r>
            <a:r>
              <a:rPr lang="en-GB" sz="1200" b="0" i="0" kern="1200">
                <a:solidFill>
                  <a:schemeClr val="tx2"/>
                </a:solidFill>
                <a:latin typeface="Arial" panose="020B0604020202020204" pitchFamily="34" charset="0"/>
                <a:ea typeface="Verdana"/>
                <a:cs typeface="Verdana" panose="020B0604030504040204" pitchFamily="34" charset="0"/>
              </a:rPr>
              <a:t> weeks.</a:t>
            </a:r>
          </a:p>
          <a:p>
            <a:pPr marL="171450" indent="-17145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Extend functionalities to maximize value</a:t>
            </a:r>
          </a:p>
          <a:p>
            <a:pPr marL="171450" indent="-171450" defTabSz="601266">
              <a:lnSpc>
                <a:spcPct val="80000"/>
              </a:lnSpc>
              <a:spcAft>
                <a:spcPts val="450"/>
              </a:spcAft>
              <a:buFont typeface="Arial" panose="020B0604020202020204" pitchFamily="34" charset="0"/>
              <a:buChar char="•"/>
            </a:pPr>
            <a:endParaRPr lang="en-GB" sz="1200" b="0" i="0" kern="1200">
              <a:solidFill>
                <a:schemeClr val="tx2"/>
              </a:solidFill>
              <a:latin typeface="Arial" panose="020B0604020202020204" pitchFamily="34" charset="0"/>
              <a:ea typeface="Verdana"/>
              <a:cs typeface="Verdana" panose="020B0604030504040204" pitchFamily="34" charset="0"/>
            </a:endParaRPr>
          </a:p>
          <a:p>
            <a:pPr defTabSz="601266">
              <a:lnSpc>
                <a:spcPct val="80000"/>
              </a:lnSpc>
              <a:spcAft>
                <a:spcPts val="450"/>
              </a:spcAft>
            </a:pPr>
            <a:r>
              <a:rPr lang="en-GB" sz="1400" b="1" i="0" kern="1200">
                <a:solidFill>
                  <a:schemeClr val="tx2"/>
                </a:solidFill>
                <a:latin typeface="Arial" panose="020B0604020202020204" pitchFamily="34" charset="0"/>
                <a:ea typeface="Verdana"/>
                <a:cs typeface="Verdana" panose="020B0604030504040204" pitchFamily="34" charset="0"/>
              </a:rPr>
              <a:t>2) Foundation of Success</a:t>
            </a:r>
            <a:r>
              <a:rPr lang="en-GB" sz="1400" b="0" i="0" kern="1200">
                <a:solidFill>
                  <a:schemeClr val="tx2"/>
                </a:solidFill>
                <a:latin typeface="Arial" panose="020B0604020202020204" pitchFamily="34" charset="0"/>
                <a:ea typeface="Verdana"/>
                <a:cs typeface="Verdana" panose="020B0604030504040204" pitchFamily="34" charset="0"/>
              </a:rPr>
              <a:t>: </a:t>
            </a:r>
            <a:endParaRPr lang="en-US">
              <a:solidFill>
                <a:schemeClr val="tx2"/>
              </a:solidFill>
              <a:ea typeface="Verdana"/>
            </a:endParaRPr>
          </a:p>
          <a:p>
            <a:pPr marL="228600" indent="-22860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Use our data templates </a:t>
            </a:r>
          </a:p>
          <a:p>
            <a:pPr marL="228600" indent="-22860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Sign off for our best in call process</a:t>
            </a:r>
          </a:p>
          <a:p>
            <a:pPr marL="228600" indent="-22860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Configuration of </a:t>
            </a:r>
            <a:r>
              <a:rPr lang="en-GB" sz="1200" b="0" i="0" kern="1200">
                <a:solidFill>
                  <a:schemeClr val="tx2"/>
                </a:solidFill>
                <a:highlight>
                  <a:srgbClr val="FFFF00"/>
                </a:highlight>
                <a:latin typeface="Arial" panose="020B0604020202020204" pitchFamily="34" charset="0"/>
                <a:ea typeface="Verdana"/>
                <a:cs typeface="Verdana" panose="020B0604030504040204" pitchFamily="34" charset="0"/>
              </a:rPr>
              <a:t>the application</a:t>
            </a:r>
            <a:r>
              <a:rPr lang="en-GB" sz="1200" b="0" i="0" kern="1200">
                <a:solidFill>
                  <a:schemeClr val="tx2"/>
                </a:solidFill>
                <a:latin typeface="Arial" panose="020B0604020202020204" pitchFamily="34" charset="0"/>
                <a:ea typeface="Verdana"/>
                <a:cs typeface="Verdana" panose="020B0604030504040204" pitchFamily="34" charset="0"/>
              </a:rPr>
              <a:t> led by Anaplan</a:t>
            </a:r>
          </a:p>
          <a:p>
            <a:pPr marL="228600" indent="-22860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Strong involvement from key users during the </a:t>
            </a:r>
            <a:r>
              <a:rPr lang="en-GB" sz="1200" b="0" i="0" kern="1200">
                <a:solidFill>
                  <a:schemeClr val="tx2"/>
                </a:solidFill>
                <a:highlight>
                  <a:srgbClr val="FFFF00"/>
                </a:highlight>
                <a:latin typeface="Arial" panose="020B0604020202020204" pitchFamily="34" charset="0"/>
                <a:ea typeface="Verdana"/>
                <a:cs typeface="Verdana" panose="020B0604030504040204" pitchFamily="34" charset="0"/>
              </a:rPr>
              <a:t>initial configuration</a:t>
            </a:r>
            <a:r>
              <a:rPr lang="en-GB" sz="1200" b="0" i="0" kern="1200">
                <a:solidFill>
                  <a:schemeClr val="tx2"/>
                </a:solidFill>
                <a:latin typeface="Arial" panose="020B0604020202020204" pitchFamily="34" charset="0"/>
                <a:ea typeface="Verdana"/>
                <a:cs typeface="Verdana" panose="020B0604030504040204" pitchFamily="34" charset="0"/>
              </a:rPr>
              <a:t> weeks to maximize adoption</a:t>
            </a:r>
          </a:p>
          <a:p>
            <a:pPr marL="171450" indent="-171450" defTabSz="601266">
              <a:lnSpc>
                <a:spcPct val="80000"/>
              </a:lnSpc>
              <a:spcAft>
                <a:spcPts val="450"/>
              </a:spcAft>
              <a:buFont typeface="Arial" panose="020B0604020202020204" pitchFamily="34" charset="0"/>
              <a:buChar char="•"/>
            </a:pPr>
            <a:endParaRPr lang="en-GB" sz="1200" b="0" i="0" kern="1200">
              <a:solidFill>
                <a:schemeClr val="tx2"/>
              </a:solidFill>
              <a:latin typeface="Arial" panose="020B0604020202020204" pitchFamily="34" charset="0"/>
              <a:ea typeface="Verdana"/>
              <a:cs typeface="Verdana" panose="020B060403050404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i="0" kern="1200">
                <a:solidFill>
                  <a:schemeClr val="tx2"/>
                </a:solidFill>
                <a:latin typeface="Arial" panose="020B0604020202020204" pitchFamily="34" charset="0"/>
                <a:ea typeface="Verdana"/>
                <a:cs typeface="Verdana" panose="020B0604030504040204" pitchFamily="34" charset="0"/>
              </a:rPr>
              <a:t>3) Efficient Delivery: for the first weeks</a:t>
            </a:r>
            <a:r>
              <a:rPr lang="en-GB" sz="1200" b="1" i="0" kern="1200">
                <a:solidFill>
                  <a:schemeClr val="tx2"/>
                </a:solidFill>
                <a:latin typeface="Arial" panose="020B0604020202020204" pitchFamily="34" charset="0"/>
                <a:ea typeface="Verdana"/>
                <a:cs typeface="Verdana" panose="020B0604030504040204" pitchFamily="34" charset="0"/>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2"/>
                </a:solidFill>
                <a:latin typeface="Arial" panose="020B0604020202020204" pitchFamily="34" charset="0"/>
                <a:ea typeface="Verdana"/>
                <a:cs typeface="Verdana" panose="020B0604030504040204" pitchFamily="34" charset="0"/>
              </a:rPr>
              <a:t>An iterative approach in which users will review the process with their data and define the right level of analysis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0" i="0" kern="1200">
              <a:solidFill>
                <a:schemeClr val="tx2"/>
              </a:solidFill>
              <a:latin typeface="Arial" panose="020B0604020202020204" pitchFamily="34" charset="0"/>
              <a:ea typeface="Verdana"/>
              <a:cs typeface="Verdana" panose="020B0604030504040204" pitchFamily="34" charset="0"/>
            </a:endParaRPr>
          </a:p>
          <a:p>
            <a:pPr defTabSz="601266">
              <a:lnSpc>
                <a:spcPct val="80000"/>
              </a:lnSpc>
              <a:spcAft>
                <a:spcPts val="450"/>
              </a:spcAft>
            </a:pPr>
            <a:r>
              <a:rPr lang="en-GB" sz="1400" b="1" i="0" kern="1200">
                <a:solidFill>
                  <a:schemeClr val="tx2"/>
                </a:solidFill>
                <a:latin typeface="Arial" panose="020B0604020202020204" pitchFamily="34" charset="0"/>
                <a:ea typeface="Verdana"/>
                <a:cs typeface="Verdana" panose="020B0604030504040204" pitchFamily="34" charset="0"/>
              </a:rPr>
              <a:t>4) Agility in Action</a:t>
            </a:r>
            <a:r>
              <a:rPr lang="en-GB" sz="800" b="1" i="0" kern="1200">
                <a:solidFill>
                  <a:schemeClr val="tx2"/>
                </a:solidFill>
                <a:latin typeface="Arial" panose="020B0604020202020204" pitchFamily="34" charset="0"/>
                <a:ea typeface="Verdana"/>
                <a:cs typeface="Verdana" panose="020B0604030504040204" pitchFamily="34" charset="0"/>
              </a:rPr>
              <a:t>:</a:t>
            </a:r>
          </a:p>
          <a:p>
            <a:pPr marL="171450" indent="-171450" defTabSz="601266">
              <a:lnSpc>
                <a:spcPct val="80000"/>
              </a:lnSpc>
              <a:spcAft>
                <a:spcPts val="450"/>
              </a:spcAft>
              <a:buFont typeface="Arial" panose="020B0604020202020204" pitchFamily="34" charset="0"/>
              <a:buChar char="•"/>
            </a:pPr>
            <a:r>
              <a:rPr lang="en-GB" sz="1200" b="0" i="0" kern="1200">
                <a:solidFill>
                  <a:schemeClr val="tx2"/>
                </a:solidFill>
                <a:latin typeface="Arial" panose="020B0604020202020204" pitchFamily="34" charset="0"/>
                <a:ea typeface="Verdana"/>
                <a:cs typeface="Verdana" panose="020B0604030504040204" pitchFamily="34" charset="0"/>
              </a:rPr>
              <a:t>Frequent feedback loops and adaptive configuration, testing, and enablement to maximize adoption</a:t>
            </a:r>
          </a:p>
          <a:p>
            <a:pPr marL="171450" marR="0" lvl="0" indent="-171450" algn="l" defTabSz="601266" rtl="0" eaLnBrk="1" fontAlgn="auto" latinLnBrk="0" hangingPunct="1">
              <a:lnSpc>
                <a:spcPct val="80000"/>
              </a:lnSpc>
              <a:spcBef>
                <a:spcPts val="0"/>
              </a:spcBef>
              <a:spcAft>
                <a:spcPts val="450"/>
              </a:spcAft>
              <a:buClrTx/>
              <a:buSzTx/>
              <a:buFont typeface="Arial" panose="020B0604020202020204" pitchFamily="34" charset="0"/>
              <a:buChar char="•"/>
              <a:tabLst/>
              <a:defRPr/>
            </a:pPr>
            <a:endParaRPr lang="en-GB" sz="1400" b="1" i="0" kern="1200">
              <a:solidFill>
                <a:schemeClr val="tx2"/>
              </a:solidFill>
              <a:latin typeface="Arial" panose="020B0604020202020204" pitchFamily="34" charset="0"/>
              <a:ea typeface="Verdana"/>
              <a:cs typeface="Verdana" panose="020B0604030504040204" pitchFamily="34" charset="0"/>
            </a:endParaRPr>
          </a:p>
          <a:p>
            <a:pPr marL="0" marR="0" lvl="0" indent="0" algn="l" defTabSz="601266" rtl="0" eaLnBrk="1" fontAlgn="auto" latinLnBrk="0" hangingPunct="1">
              <a:lnSpc>
                <a:spcPct val="80000"/>
              </a:lnSpc>
              <a:spcBef>
                <a:spcPts val="0"/>
              </a:spcBef>
              <a:spcAft>
                <a:spcPts val="450"/>
              </a:spcAft>
              <a:buClrTx/>
              <a:buSzTx/>
              <a:buFont typeface="Arial" panose="020B0604020202020204" pitchFamily="34" charset="0"/>
              <a:buNone/>
              <a:tabLst/>
              <a:defRPr/>
            </a:pPr>
            <a:r>
              <a:rPr lang="en-GB" sz="1400" b="1" i="0" kern="1200">
                <a:solidFill>
                  <a:schemeClr val="tx2"/>
                </a:solidFill>
                <a:latin typeface="Arial" panose="020B0604020202020204" pitchFamily="34" charset="0"/>
                <a:ea typeface="Verdana"/>
                <a:cs typeface="Verdana" panose="020B0604030504040204" pitchFamily="34" charset="0"/>
              </a:rPr>
              <a:t>5) Early training on the solution:</a:t>
            </a:r>
            <a:r>
              <a:rPr lang="en-GB" sz="1400" b="0" i="0" kern="1200">
                <a:solidFill>
                  <a:schemeClr val="tx2"/>
                </a:solidFill>
                <a:latin typeface="Arial" panose="020B0604020202020204" pitchFamily="34" charset="0"/>
                <a:ea typeface="Verdana"/>
                <a:cs typeface="Verdana" panose="020B0604030504040204" pitchFamily="34" charset="0"/>
              </a:rPr>
              <a:t> </a:t>
            </a:r>
            <a:r>
              <a:rPr lang="en-GB" sz="1200" b="0" i="0" kern="1200">
                <a:solidFill>
                  <a:schemeClr val="tx2"/>
                </a:solidFill>
                <a:latin typeface="Arial" panose="020B0604020202020204" pitchFamily="34" charset="0"/>
                <a:ea typeface="Verdana"/>
                <a:cs typeface="Verdana" panose="020B0604030504040204" pitchFamily="34" charset="0"/>
              </a:rPr>
              <a:t>Users will be trained on </a:t>
            </a:r>
            <a:r>
              <a:rPr lang="en-GB" sz="1200" b="0" i="0" kern="1200">
                <a:solidFill>
                  <a:schemeClr val="tx2"/>
                </a:solidFill>
                <a:highlight>
                  <a:srgbClr val="FFFF00"/>
                </a:highlight>
                <a:latin typeface="Arial" panose="020B0604020202020204" pitchFamily="34" charset="0"/>
                <a:ea typeface="Verdana"/>
                <a:cs typeface="Verdana" panose="020B0604030504040204" pitchFamily="34" charset="0"/>
              </a:rPr>
              <a:t>the application</a:t>
            </a:r>
            <a:r>
              <a:rPr lang="en-GB" sz="1200" b="0" i="0" kern="1200">
                <a:solidFill>
                  <a:schemeClr val="tx2"/>
                </a:solidFill>
                <a:latin typeface="Arial" panose="020B0604020202020204" pitchFamily="34" charset="0"/>
                <a:ea typeface="Verdana"/>
                <a:cs typeface="Verdana" panose="020B0604030504040204" pitchFamily="34" charset="0"/>
              </a:rPr>
              <a:t> within the first several</a:t>
            </a:r>
            <a:r>
              <a:rPr lang="en-GB" sz="1200" b="0" i="0" kern="1200">
                <a:solidFill>
                  <a:schemeClr val="tx2"/>
                </a:solidFill>
                <a:highlight>
                  <a:srgbClr val="FFFF00"/>
                </a:highlight>
                <a:latin typeface="Arial" panose="020B0604020202020204" pitchFamily="34" charset="0"/>
                <a:ea typeface="Verdana"/>
                <a:cs typeface="Verdana" panose="020B0604030504040204" pitchFamily="34" charset="0"/>
              </a:rPr>
              <a:t> weeks</a:t>
            </a:r>
            <a:r>
              <a:rPr lang="en-GB" sz="1200" b="0" i="0" kern="1200">
                <a:solidFill>
                  <a:schemeClr val="tx2"/>
                </a:solidFill>
                <a:latin typeface="Arial" panose="020B0604020202020204" pitchFamily="34" charset="0"/>
                <a:ea typeface="Verdana"/>
                <a:cs typeface="Verdana" panose="020B0604030504040204" pitchFamily="34" charset="0"/>
              </a:rPr>
              <a:t> to ensure production readiness</a:t>
            </a:r>
          </a:p>
          <a:p>
            <a:pPr marL="171450" indent="-171450" defTabSz="601266">
              <a:lnSpc>
                <a:spcPct val="80000"/>
              </a:lnSpc>
              <a:spcAft>
                <a:spcPts val="450"/>
              </a:spcAft>
              <a:buFont typeface="Arial" panose="020B0604020202020204" pitchFamily="34" charset="0"/>
              <a:buChar char="•"/>
            </a:pPr>
            <a:endParaRPr lang="en-GB" sz="1200" b="0" i="0" kern="1200">
              <a:solidFill>
                <a:schemeClr val="tx2"/>
              </a:solidFill>
              <a:latin typeface="Arial" panose="020B0604020202020204" pitchFamily="34" charset="0"/>
              <a:ea typeface="Verdana"/>
              <a:cs typeface="Verdana" panose="020B0604030504040204" pitchFamily="34" charset="0"/>
            </a:endParaRPr>
          </a:p>
          <a:p>
            <a:endParaRPr lang="en-US"/>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18</a:t>
            </a:fld>
            <a:endParaRPr lang="en-US"/>
          </a:p>
        </p:txBody>
      </p:sp>
    </p:spTree>
    <p:extLst>
      <p:ext uri="{BB962C8B-B14F-4D97-AF65-F5344CB8AC3E}">
        <p14:creationId xmlns:p14="http://schemas.microsoft.com/office/powerpoint/2010/main" val="3722608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F916-0026-0C34-DB02-6C0E84FAC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E9B8F-6CD0-C0D3-DD76-FB9B3AA5CFE5}"/>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BFC9E869-0D3A-3975-6EF0-672AD59E7F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1C4906-C0A9-7EAD-C699-C2F9901526E6}"/>
              </a:ext>
            </a:extLst>
          </p:cNvPr>
          <p:cNvSpPr>
            <a:spLocks noGrp="1"/>
          </p:cNvSpPr>
          <p:nvPr>
            <p:ph type="sldNum" sz="quarter" idx="5"/>
          </p:nvPr>
        </p:nvSpPr>
        <p:spPr/>
        <p:txBody>
          <a:bodyPr/>
          <a:lstStyle/>
          <a:p>
            <a:fld id="{979717FE-9929-47D1-8F09-04B7240822A5}" type="slidenum">
              <a:rPr lang="en-US" smtClean="0"/>
              <a:t>19</a:t>
            </a:fld>
            <a:endParaRPr lang="en-US"/>
          </a:p>
        </p:txBody>
      </p:sp>
    </p:spTree>
    <p:extLst>
      <p:ext uri="{BB962C8B-B14F-4D97-AF65-F5344CB8AC3E}">
        <p14:creationId xmlns:p14="http://schemas.microsoft.com/office/powerpoint/2010/main" val="2205014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84C9-B81A-E46B-147F-D3B717ADC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84F49-B78C-1FEA-06CE-161B2AD9578C}"/>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3E69B837-33F6-6C1F-BA17-FD8F81E4E6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B72453-2EC6-0004-BBE4-1C9F7ABB7A6E}"/>
              </a:ext>
            </a:extLst>
          </p:cNvPr>
          <p:cNvSpPr>
            <a:spLocks noGrp="1"/>
          </p:cNvSpPr>
          <p:nvPr>
            <p:ph type="sldNum" sz="quarter" idx="5"/>
          </p:nvPr>
        </p:nvSpPr>
        <p:spPr/>
        <p:txBody>
          <a:bodyPr/>
          <a:lstStyle/>
          <a:p>
            <a:fld id="{979717FE-9929-47D1-8F09-04B7240822A5}" type="slidenum">
              <a:rPr lang="en-US" smtClean="0"/>
              <a:t>20</a:t>
            </a:fld>
            <a:endParaRPr lang="en-US"/>
          </a:p>
        </p:txBody>
      </p:sp>
    </p:spTree>
    <p:extLst>
      <p:ext uri="{BB962C8B-B14F-4D97-AF65-F5344CB8AC3E}">
        <p14:creationId xmlns:p14="http://schemas.microsoft.com/office/powerpoint/2010/main" val="4273304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B66E-491E-A615-956D-F1159E28A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03FDD-8A15-3D66-0EAD-9E8CFA9E8F4F}"/>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00E94B77-DF2F-B4CD-7ABB-A62047B74B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23C6EB-E6C9-9DD0-1078-2D2E751CCDC6}"/>
              </a:ext>
            </a:extLst>
          </p:cNvPr>
          <p:cNvSpPr>
            <a:spLocks noGrp="1"/>
          </p:cNvSpPr>
          <p:nvPr>
            <p:ph type="sldNum" sz="quarter" idx="5"/>
          </p:nvPr>
        </p:nvSpPr>
        <p:spPr/>
        <p:txBody>
          <a:bodyPr/>
          <a:lstStyle/>
          <a:p>
            <a:fld id="{979717FE-9929-47D1-8F09-04B7240822A5}" type="slidenum">
              <a:rPr lang="en-US" smtClean="0"/>
              <a:t>21</a:t>
            </a:fld>
            <a:endParaRPr lang="en-US"/>
          </a:p>
        </p:txBody>
      </p:sp>
    </p:spTree>
    <p:extLst>
      <p:ext uri="{BB962C8B-B14F-4D97-AF65-F5344CB8AC3E}">
        <p14:creationId xmlns:p14="http://schemas.microsoft.com/office/powerpoint/2010/main" val="1305424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22</a:t>
            </a:fld>
            <a:endParaRPr lang="en-US"/>
          </a:p>
        </p:txBody>
      </p:sp>
    </p:spTree>
    <p:extLst>
      <p:ext uri="{BB962C8B-B14F-4D97-AF65-F5344CB8AC3E}">
        <p14:creationId xmlns:p14="http://schemas.microsoft.com/office/powerpoint/2010/main" val="724906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80562-B7E8-CFED-3683-77C96B2D8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FE6DC-203B-82D7-CB26-26232BA45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48154-D17C-2163-B23C-B8AA892027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102266-CD73-2D2A-3890-5795751E0AF9}"/>
              </a:ext>
            </a:extLst>
          </p:cNvPr>
          <p:cNvSpPr>
            <a:spLocks noGrp="1"/>
          </p:cNvSpPr>
          <p:nvPr>
            <p:ph type="sldNum" sz="quarter" idx="5"/>
          </p:nvPr>
        </p:nvSpPr>
        <p:spPr/>
        <p:txBody>
          <a:bodyPr/>
          <a:lstStyle/>
          <a:p>
            <a:fld id="{5DA7E72F-BFB2-D748-87F9-5C2F0B5EB908}" type="slidenum">
              <a:rPr lang="en-US" smtClean="0"/>
              <a:pPr/>
              <a:t>23</a:t>
            </a:fld>
            <a:endParaRPr lang="en-US"/>
          </a:p>
        </p:txBody>
      </p:sp>
    </p:spTree>
    <p:extLst>
      <p:ext uri="{BB962C8B-B14F-4D97-AF65-F5344CB8AC3E}">
        <p14:creationId xmlns:p14="http://schemas.microsoft.com/office/powerpoint/2010/main" val="2367187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Arial"/>
            </a:endParaRPr>
          </a:p>
        </p:txBody>
      </p:sp>
      <p:sp>
        <p:nvSpPr>
          <p:cNvPr id="4" name="Slide Number Placeholder 3"/>
          <p:cNvSpPr>
            <a:spLocks noGrp="1"/>
          </p:cNvSpPr>
          <p:nvPr>
            <p:ph type="sldNum" sz="quarter" idx="5"/>
          </p:nvPr>
        </p:nvSpPr>
        <p:spPr/>
        <p:txBody>
          <a:bodyPr/>
          <a:lstStyle/>
          <a:p>
            <a:fld id="{5DA7E72F-BFB2-D748-87F9-5C2F0B5EB908}" type="slidenum">
              <a:rPr lang="en-US" smtClean="0"/>
              <a:pPr/>
              <a:t>24</a:t>
            </a:fld>
            <a:endParaRPr lang="en-US"/>
          </a:p>
        </p:txBody>
      </p:sp>
    </p:spTree>
    <p:extLst>
      <p:ext uri="{BB962C8B-B14F-4D97-AF65-F5344CB8AC3E}">
        <p14:creationId xmlns:p14="http://schemas.microsoft.com/office/powerpoint/2010/main" val="2448171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1"/>
        <p:cNvGrpSpPr/>
        <p:nvPr/>
      </p:nvGrpSpPr>
      <p:grpSpPr>
        <a:xfrm>
          <a:off x="0" y="0"/>
          <a:ext cx="0" cy="0"/>
          <a:chOff x="0" y="0"/>
          <a:chExt cx="0" cy="0"/>
        </a:xfrm>
      </p:grpSpPr>
      <p:sp>
        <p:nvSpPr>
          <p:cNvPr id="2352" name="Google Shape;2352;g2f0b555269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3" name="Google Shape;2353;g2f0b555269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27</a:t>
            </a:fld>
            <a:endParaRPr lang="en-US"/>
          </a:p>
        </p:txBody>
      </p:sp>
    </p:spTree>
    <p:extLst>
      <p:ext uri="{BB962C8B-B14F-4D97-AF65-F5344CB8AC3E}">
        <p14:creationId xmlns:p14="http://schemas.microsoft.com/office/powerpoint/2010/main" val="3720620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5ED9-E5F4-01D0-12EF-FDEEDF5C0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B78BE-1E43-DAD5-1C1E-660BBD321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03530-BF69-E871-BE0F-F02F57AD1F0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a:solidFill>
                  <a:srgbClr val="1D1C1D"/>
                </a:solidFill>
                <a:effectLst/>
                <a:latin typeface="Slack-Lato"/>
              </a:rPr>
              <a:t>Where can you see all events? Here: https://us1a.app.anaplan.com/a/apps/app/951501f6-5a98-45cb-a670-c2aa31694566/boards/052d543d-034b-49cf-b8b1-07e0b862893c </a:t>
            </a:r>
            <a:endParaRPr lang="en-US">
              <a:cs typeface="Arial" panose="020B0604020202020204" pitchFamily="34" charset="0"/>
            </a:endParaRPr>
          </a:p>
          <a:p>
            <a:endParaRPr lang="en-US">
              <a:cs typeface="Arial" panose="020B0604020202020204" pitchFamily="34" charset="0"/>
            </a:endParaRPr>
          </a:p>
        </p:txBody>
      </p:sp>
      <p:sp>
        <p:nvSpPr>
          <p:cNvPr id="4" name="Slide Number Placeholder 3">
            <a:extLst>
              <a:ext uri="{FF2B5EF4-FFF2-40B4-BE49-F238E27FC236}">
                <a16:creationId xmlns:a16="http://schemas.microsoft.com/office/drawing/2014/main" id="{38144F95-FAB6-697F-CB38-C1D0208718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76229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D0A98-DFED-640F-36B4-A07AB88F3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0B570-7E88-6033-C5FB-BAA4393DB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63AAA5-D111-19FC-8988-DD4FCC17FDC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a:solidFill>
                  <a:srgbClr val="1D1C1D"/>
                </a:solidFill>
                <a:effectLst/>
                <a:latin typeface="Slack-Lato"/>
              </a:rPr>
              <a:t>Where can you see all events? Here: https://us1a.app.anaplan.com/a/apps/app/951501f6-5a98-45cb-a670-c2aa31694566/boards/052d543d-034b-49cf-b8b1-07e0b862893c </a:t>
            </a:r>
            <a:endParaRPr lang="en-US">
              <a:cs typeface="Arial" panose="020B0604020202020204" pitchFamily="34" charset="0"/>
            </a:endParaRPr>
          </a:p>
          <a:p>
            <a:endParaRPr lang="en-US">
              <a:cs typeface="Arial" panose="020B0604020202020204" pitchFamily="34" charset="0"/>
            </a:endParaRPr>
          </a:p>
        </p:txBody>
      </p:sp>
      <p:sp>
        <p:nvSpPr>
          <p:cNvPr id="4" name="Slide Number Placeholder 3">
            <a:extLst>
              <a:ext uri="{FF2B5EF4-FFF2-40B4-BE49-F238E27FC236}">
                <a16:creationId xmlns:a16="http://schemas.microsoft.com/office/drawing/2014/main" id="{3A2E5F3B-F2C8-786F-7396-71C9980B8B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84156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Dimensions &amp; Hierarchies:</a:t>
            </a:r>
          </a:p>
          <a:p>
            <a:r>
              <a:rPr lang="en-US"/>
              <a:t>Objectives -</a:t>
            </a:r>
          </a:p>
          <a:p>
            <a:pPr marL="171450" indent="-171450">
              <a:buFont typeface="Arial" panose="020B0604020202020204" pitchFamily="34" charset="0"/>
              <a:buChar char="•"/>
            </a:pPr>
            <a:r>
              <a:rPr lang="en-US"/>
              <a:t>Territory Assignment Dimensional Inconsistencies</a:t>
            </a:r>
          </a:p>
          <a:p>
            <a:pPr marL="171450" indent="-171450">
              <a:buFont typeface="Arial" panose="020B0604020202020204" pitchFamily="34" charset="0"/>
              <a:buChar char="•"/>
            </a:pPr>
            <a:r>
              <a:rPr lang="en-US"/>
              <a:t>Target &amp; Goal Setting </a:t>
            </a:r>
          </a:p>
          <a:p>
            <a:pPr marL="171450" indent="-171450">
              <a:buFont typeface="Arial" panose="020B0604020202020204" pitchFamily="34" charset="0"/>
              <a:buChar char="•"/>
            </a:pPr>
            <a:r>
              <a:rPr lang="en-US"/>
              <a:t>Reporting Needs</a:t>
            </a:r>
          </a:p>
          <a:p>
            <a:pPr marL="0" indent="0">
              <a:buFont typeface="Arial" panose="020B0604020202020204" pitchFamily="34" charset="0"/>
              <a:buNone/>
            </a:pPr>
            <a:r>
              <a:rPr lang="en-US"/>
              <a:t>Activities – </a:t>
            </a:r>
          </a:p>
          <a:p>
            <a:pPr marL="171450" indent="-171450">
              <a:buFont typeface="Arial" panose="020B0604020202020204" pitchFamily="34" charset="0"/>
              <a:buChar char="•"/>
            </a:pPr>
            <a:r>
              <a:rPr lang="en-US"/>
              <a:t>Identify dimensions that need to change (ex. Extra dimension on Target Setting)</a:t>
            </a:r>
          </a:p>
          <a:p>
            <a:pPr marL="171450" indent="-171450">
              <a:buFont typeface="Arial" panose="020B0604020202020204" pitchFamily="34" charset="0"/>
              <a:buChar char="•"/>
            </a:pPr>
            <a:r>
              <a:rPr lang="en-US"/>
              <a:t>Identify downstream impacts to changed dimensions</a:t>
            </a:r>
          </a:p>
          <a:p>
            <a:pPr marL="171450" indent="-171450">
              <a:buFont typeface="Arial" panose="020B0604020202020204" pitchFamily="34" charset="0"/>
              <a:buChar char="•"/>
            </a:pPr>
            <a:endParaRPr lang="en-US"/>
          </a:p>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31</a:t>
            </a:fld>
            <a:endParaRPr lang="en-US"/>
          </a:p>
        </p:txBody>
      </p:sp>
    </p:spTree>
    <p:extLst>
      <p:ext uri="{BB962C8B-B14F-4D97-AF65-F5344CB8AC3E}">
        <p14:creationId xmlns:p14="http://schemas.microsoft.com/office/powerpoint/2010/main" val="1473922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0EE7F-B163-7593-DCB9-9B189D268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5323D-1E19-0A5E-EF9F-707EFC64D3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C08E38-81C9-F714-84A6-0F9067CBF332}"/>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C7A6B85B-14A6-04C4-46B1-B34770DCA5B4}"/>
              </a:ext>
            </a:extLst>
          </p:cNvPr>
          <p:cNvSpPr>
            <a:spLocks noGrp="1"/>
          </p:cNvSpPr>
          <p:nvPr>
            <p:ph type="sldNum" sz="quarter" idx="5"/>
          </p:nvPr>
        </p:nvSpPr>
        <p:spPr/>
        <p:txBody>
          <a:bodyPr/>
          <a:lstStyle/>
          <a:p>
            <a:fld id="{5DA7E72F-BFB2-D748-87F9-5C2F0B5EB908}" type="slidenum">
              <a:rPr lang="en-US" smtClean="0"/>
              <a:pPr/>
              <a:t>33</a:t>
            </a:fld>
            <a:endParaRPr lang="en-US"/>
          </a:p>
        </p:txBody>
      </p:sp>
    </p:spTree>
    <p:extLst>
      <p:ext uri="{BB962C8B-B14F-4D97-AF65-F5344CB8AC3E}">
        <p14:creationId xmlns:p14="http://schemas.microsoft.com/office/powerpoint/2010/main" val="1210098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6A57-C677-61CE-025B-5734B18E7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9F37F-2C2D-C357-B9AF-7BC8C6155A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2C618BC-CE32-4D3F-A867-83AA9CA0D39C}"/>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D50F8922-912C-734B-F928-88C2EAD514D3}"/>
              </a:ext>
            </a:extLst>
          </p:cNvPr>
          <p:cNvSpPr>
            <a:spLocks noGrp="1"/>
          </p:cNvSpPr>
          <p:nvPr>
            <p:ph type="sldNum" sz="quarter" idx="5"/>
          </p:nvPr>
        </p:nvSpPr>
        <p:spPr/>
        <p:txBody>
          <a:bodyPr/>
          <a:lstStyle/>
          <a:p>
            <a:fld id="{5DA7E72F-BFB2-D748-87F9-5C2F0B5EB908}" type="slidenum">
              <a:rPr lang="en-US" smtClean="0"/>
              <a:pPr/>
              <a:t>34</a:t>
            </a:fld>
            <a:endParaRPr lang="en-US"/>
          </a:p>
        </p:txBody>
      </p:sp>
    </p:spTree>
    <p:extLst>
      <p:ext uri="{BB962C8B-B14F-4D97-AF65-F5344CB8AC3E}">
        <p14:creationId xmlns:p14="http://schemas.microsoft.com/office/powerpoint/2010/main" val="939141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A2BC4-57D4-F84B-58AB-5561726E5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7D64C-67F3-365B-5DE6-B1AC2186D1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B8D079-6503-CF71-670B-E3B2B0BDD9D1}"/>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41C07199-FA54-50C6-74D5-CE54DBA4A3B8}"/>
              </a:ext>
            </a:extLst>
          </p:cNvPr>
          <p:cNvSpPr>
            <a:spLocks noGrp="1"/>
          </p:cNvSpPr>
          <p:nvPr>
            <p:ph type="sldNum" sz="quarter" idx="5"/>
          </p:nvPr>
        </p:nvSpPr>
        <p:spPr/>
        <p:txBody>
          <a:bodyPr/>
          <a:lstStyle/>
          <a:p>
            <a:fld id="{5DA7E72F-BFB2-D748-87F9-5C2F0B5EB908}" type="slidenum">
              <a:rPr lang="en-US" smtClean="0"/>
              <a:pPr/>
              <a:t>35</a:t>
            </a:fld>
            <a:endParaRPr lang="en-US"/>
          </a:p>
        </p:txBody>
      </p:sp>
    </p:spTree>
    <p:extLst>
      <p:ext uri="{BB962C8B-B14F-4D97-AF65-F5344CB8AC3E}">
        <p14:creationId xmlns:p14="http://schemas.microsoft.com/office/powerpoint/2010/main" val="1323202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C487-CC24-CB2B-D69B-12FFE8009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547C8-18AC-A78E-8963-0CB9E69BB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CC4ABB-D401-1DDB-0AAA-A6995E0DBBAD}"/>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4D68B278-D5C1-072F-F594-9D0F4060620F}"/>
              </a:ext>
            </a:extLst>
          </p:cNvPr>
          <p:cNvSpPr>
            <a:spLocks noGrp="1"/>
          </p:cNvSpPr>
          <p:nvPr>
            <p:ph type="sldNum" sz="quarter" idx="5"/>
          </p:nvPr>
        </p:nvSpPr>
        <p:spPr/>
        <p:txBody>
          <a:bodyPr/>
          <a:lstStyle/>
          <a:p>
            <a:fld id="{5DA7E72F-BFB2-D748-87F9-5C2F0B5EB908}" type="slidenum">
              <a:rPr lang="en-US" smtClean="0"/>
              <a:pPr/>
              <a:t>36</a:t>
            </a:fld>
            <a:endParaRPr lang="en-US"/>
          </a:p>
        </p:txBody>
      </p:sp>
    </p:spTree>
    <p:extLst>
      <p:ext uri="{BB962C8B-B14F-4D97-AF65-F5344CB8AC3E}">
        <p14:creationId xmlns:p14="http://schemas.microsoft.com/office/powerpoint/2010/main" val="1722888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01D26-6C68-029B-2C0F-103D097BA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C56BD-4F5F-7984-AD00-76EBB5DB51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1355C8-6D49-62E5-8251-EA3F7B3B9375}"/>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6C7593EF-9864-476E-D107-468B495CD635}"/>
              </a:ext>
            </a:extLst>
          </p:cNvPr>
          <p:cNvSpPr>
            <a:spLocks noGrp="1"/>
          </p:cNvSpPr>
          <p:nvPr>
            <p:ph type="sldNum" sz="quarter" idx="5"/>
          </p:nvPr>
        </p:nvSpPr>
        <p:spPr/>
        <p:txBody>
          <a:bodyPr/>
          <a:lstStyle/>
          <a:p>
            <a:fld id="{5DA7E72F-BFB2-D748-87F9-5C2F0B5EB908}" type="slidenum">
              <a:rPr lang="en-US" smtClean="0"/>
              <a:pPr/>
              <a:t>37</a:t>
            </a:fld>
            <a:endParaRPr lang="en-US"/>
          </a:p>
        </p:txBody>
      </p:sp>
    </p:spTree>
    <p:extLst>
      <p:ext uri="{BB962C8B-B14F-4D97-AF65-F5344CB8AC3E}">
        <p14:creationId xmlns:p14="http://schemas.microsoft.com/office/powerpoint/2010/main" val="2771136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DF4E-D943-AF8E-683C-4AA3574EB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0D825-C491-050D-35E0-A013F9E953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6B4838-4574-0C4D-18C3-2FDED49CB596}"/>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E0168E42-4D62-F989-4C8D-A4B94D3C9D33}"/>
              </a:ext>
            </a:extLst>
          </p:cNvPr>
          <p:cNvSpPr>
            <a:spLocks noGrp="1"/>
          </p:cNvSpPr>
          <p:nvPr>
            <p:ph type="sldNum" sz="quarter" idx="5"/>
          </p:nvPr>
        </p:nvSpPr>
        <p:spPr/>
        <p:txBody>
          <a:bodyPr/>
          <a:lstStyle/>
          <a:p>
            <a:fld id="{5DA7E72F-BFB2-D748-87F9-5C2F0B5EB908}" type="slidenum">
              <a:rPr lang="en-US" smtClean="0"/>
              <a:pPr/>
              <a:t>38</a:t>
            </a:fld>
            <a:endParaRPr lang="en-US"/>
          </a:p>
        </p:txBody>
      </p:sp>
    </p:spTree>
    <p:extLst>
      <p:ext uri="{BB962C8B-B14F-4D97-AF65-F5344CB8AC3E}">
        <p14:creationId xmlns:p14="http://schemas.microsoft.com/office/powerpoint/2010/main" val="36463136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614A-E282-22E4-EBC0-D47110B18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FE92C-1E0B-6257-9F24-3C584971AD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43C3FD-EC42-2599-7667-183E041506E4}"/>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65E820C2-4325-AF39-DD66-ADD4D394B71B}"/>
              </a:ext>
            </a:extLst>
          </p:cNvPr>
          <p:cNvSpPr>
            <a:spLocks noGrp="1"/>
          </p:cNvSpPr>
          <p:nvPr>
            <p:ph type="sldNum" sz="quarter" idx="5"/>
          </p:nvPr>
        </p:nvSpPr>
        <p:spPr/>
        <p:txBody>
          <a:bodyPr/>
          <a:lstStyle/>
          <a:p>
            <a:fld id="{5DA7E72F-BFB2-D748-87F9-5C2F0B5EB908}" type="slidenum">
              <a:rPr lang="en-US" smtClean="0"/>
              <a:pPr/>
              <a:t>39</a:t>
            </a:fld>
            <a:endParaRPr lang="en-US"/>
          </a:p>
        </p:txBody>
      </p:sp>
    </p:spTree>
    <p:extLst>
      <p:ext uri="{BB962C8B-B14F-4D97-AF65-F5344CB8AC3E}">
        <p14:creationId xmlns:p14="http://schemas.microsoft.com/office/powerpoint/2010/main" val="6588503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6CC9D-0267-AF42-D430-AB740A833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7797B-2DF7-DFD5-B685-734C09D7AD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D54ACB-96B5-54C8-654E-995B3922511C}"/>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FB750111-C849-5756-DB21-A2752BE19225}"/>
              </a:ext>
            </a:extLst>
          </p:cNvPr>
          <p:cNvSpPr>
            <a:spLocks noGrp="1"/>
          </p:cNvSpPr>
          <p:nvPr>
            <p:ph type="sldNum" sz="quarter" idx="5"/>
          </p:nvPr>
        </p:nvSpPr>
        <p:spPr/>
        <p:txBody>
          <a:bodyPr/>
          <a:lstStyle/>
          <a:p>
            <a:fld id="{5DA7E72F-BFB2-D748-87F9-5C2F0B5EB908}" type="slidenum">
              <a:rPr lang="en-US" smtClean="0"/>
              <a:pPr/>
              <a:t>40</a:t>
            </a:fld>
            <a:endParaRPr lang="en-US"/>
          </a:p>
        </p:txBody>
      </p:sp>
    </p:spTree>
    <p:extLst>
      <p:ext uri="{BB962C8B-B14F-4D97-AF65-F5344CB8AC3E}">
        <p14:creationId xmlns:p14="http://schemas.microsoft.com/office/powerpoint/2010/main" val="1998163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10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1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1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Box 3">
            <a:extLst>
              <a:ext uri="{FF2B5EF4-FFF2-40B4-BE49-F238E27FC236}">
                <a16:creationId xmlns:a16="http://schemas.microsoft.com/office/drawing/2014/main" id="{D13ED6B6-77B2-C25F-D879-D3AE7865E285}"/>
              </a:ext>
            </a:extLst>
          </p:cNvPr>
          <p:cNvSpPr txBox="1"/>
          <p:nvPr userDrawn="1"/>
        </p:nvSpPr>
        <p:spPr>
          <a:xfrm>
            <a:off x="7728336" y="282000"/>
            <a:ext cx="1107034" cy="584775"/>
          </a:xfrm>
          <a:prstGeom prst="rect">
            <a:avLst/>
          </a:prstGeom>
          <a:noFill/>
        </p:spPr>
        <p:txBody>
          <a:bodyPr wrap="none" lIns="0" rtlCol="0">
            <a:spAutoFit/>
          </a:bodyPr>
          <a:lstStyle/>
          <a:p>
            <a:pPr algn="l">
              <a:buClrTx/>
            </a:pPr>
            <a:r>
              <a:rPr lang="en-FR" sz="1600" b="1">
                <a:highlight>
                  <a:srgbClr val="FFFF00"/>
                </a:highlight>
                <a:latin typeface="Arial" panose="020B0604020202020204" pitchFamily="34" charset="0"/>
                <a:ea typeface="Inter Light" panose="02000503000000020004" pitchFamily="2" charset="0"/>
                <a:cs typeface="Arial" panose="020B0604020202020204" pitchFamily="34" charset="0"/>
              </a:rPr>
              <a:t>Customer </a:t>
            </a:r>
          </a:p>
          <a:p>
            <a:pPr algn="l">
              <a:buClrTx/>
            </a:pPr>
            <a:r>
              <a:rPr lang="en-FR" sz="1600" b="1">
                <a:highlight>
                  <a:srgbClr val="FFFF00"/>
                </a:highlight>
                <a:latin typeface="Arial" panose="020B0604020202020204" pitchFamily="34" charset="0"/>
                <a:ea typeface="Inter Light" panose="02000503000000020004" pitchFamily="2" charset="0"/>
                <a:cs typeface="Arial" panose="020B0604020202020204" pitchFamily="34" charset="0"/>
              </a:rPr>
              <a:t>Logo</a:t>
            </a:r>
          </a:p>
        </p:txBody>
      </p:sp>
    </p:spTree>
    <p:custDataLst>
      <p:tags r:id="rId1"/>
    </p:custDataLst>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Box 1">
            <a:extLst>
              <a:ext uri="{FF2B5EF4-FFF2-40B4-BE49-F238E27FC236}">
                <a16:creationId xmlns:a16="http://schemas.microsoft.com/office/drawing/2014/main" id="{06E842CE-2444-D482-765E-4A52B4BC97A9}"/>
              </a:ext>
            </a:extLst>
          </p:cNvPr>
          <p:cNvSpPr txBox="1"/>
          <p:nvPr userDrawn="1"/>
        </p:nvSpPr>
        <p:spPr>
          <a:xfrm>
            <a:off x="2366025" y="1032830"/>
            <a:ext cx="1759185" cy="1708160"/>
          </a:xfrm>
          <a:prstGeom prst="rect">
            <a:avLst/>
          </a:prstGeom>
          <a:noFill/>
          <a:ln>
            <a:noFill/>
          </a:ln>
        </p:spPr>
        <p:txBody>
          <a:bodyPr wrap="square" rtlCol="0" anchor="ctr">
            <a:spAutoFit/>
          </a:bodyPr>
          <a:lstStyle/>
          <a:p>
            <a:pPr algn="ctr"/>
            <a:r>
              <a:rPr lang="en-US" sz="10500" b="1" i="0">
                <a:ln>
                  <a:noFill/>
                </a:ln>
                <a:solidFill>
                  <a:schemeClr val="tx1"/>
                </a:solidFill>
                <a:latin typeface="Arial" panose="020B0604020202020204" pitchFamily="34" charset="0"/>
                <a:ea typeface="Verdana" panose="020B0604030504040204" pitchFamily="34" charset="0"/>
                <a:cs typeface="Gotham Bold" pitchFamily="2" charset="0"/>
              </a:rPr>
              <a:t>Q</a:t>
            </a:r>
          </a:p>
        </p:txBody>
      </p:sp>
      <p:sp>
        <p:nvSpPr>
          <p:cNvPr id="3" name="TextBox 2">
            <a:extLst>
              <a:ext uri="{FF2B5EF4-FFF2-40B4-BE49-F238E27FC236}">
                <a16:creationId xmlns:a16="http://schemas.microsoft.com/office/drawing/2014/main" id="{0AFD3C8E-2E5D-0B6B-568B-6FFBF76E67AC}"/>
              </a:ext>
            </a:extLst>
          </p:cNvPr>
          <p:cNvSpPr txBox="1"/>
          <p:nvPr userDrawn="1"/>
        </p:nvSpPr>
        <p:spPr>
          <a:xfrm>
            <a:off x="4832868" y="1548520"/>
            <a:ext cx="1759185" cy="1708160"/>
          </a:xfrm>
          <a:prstGeom prst="rect">
            <a:avLst/>
          </a:prstGeom>
          <a:noFill/>
          <a:ln>
            <a:noFill/>
          </a:ln>
        </p:spPr>
        <p:txBody>
          <a:bodyPr wrap="square" rtlCol="0" anchor="ctr">
            <a:spAutoFit/>
          </a:bodyPr>
          <a:lstStyle/>
          <a:p>
            <a:pPr algn="ctr"/>
            <a:r>
              <a:rPr lang="en-US" sz="10500" b="1" i="0">
                <a:ln>
                  <a:noFill/>
                </a:ln>
                <a:solidFill>
                  <a:schemeClr val="tx1"/>
                </a:solidFill>
                <a:latin typeface="Arial" panose="020B0604020202020204" pitchFamily="34" charset="0"/>
                <a:ea typeface="Verdana" panose="020B0604030504040204" pitchFamily="34" charset="0"/>
                <a:cs typeface="Gotham Bold" pitchFamily="2" charset="0"/>
              </a:rPr>
              <a:t>A</a:t>
            </a:r>
          </a:p>
        </p:txBody>
      </p:sp>
      <p:sp>
        <p:nvSpPr>
          <p:cNvPr id="5" name="Rectangular Callout 4">
            <a:extLst>
              <a:ext uri="{FF2B5EF4-FFF2-40B4-BE49-F238E27FC236}">
                <a16:creationId xmlns:a16="http://schemas.microsoft.com/office/drawing/2014/main" id="{2F94B345-0131-031A-8C76-05E3498025DE}"/>
              </a:ext>
            </a:extLst>
          </p:cNvPr>
          <p:cNvSpPr/>
          <p:nvPr userDrawn="1"/>
        </p:nvSpPr>
        <p:spPr>
          <a:xfrm>
            <a:off x="1796878" y="703571"/>
            <a:ext cx="2897481" cy="2366678"/>
          </a:xfrm>
          <a:prstGeom prst="wedgeRectCallout">
            <a:avLst>
              <a:gd name="adj1" fmla="val -33003"/>
              <a:gd name="adj2" fmla="val 70895"/>
            </a:avLst>
          </a:prstGeom>
          <a:noFill/>
          <a:ln w="666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cs typeface="Arial" panose="020B0604020202020204" pitchFamily="34" charset="0"/>
            </a:endParaRPr>
          </a:p>
        </p:txBody>
      </p:sp>
      <p:sp>
        <p:nvSpPr>
          <p:cNvPr id="7" name="Rectangular Callout 6">
            <a:extLst>
              <a:ext uri="{FF2B5EF4-FFF2-40B4-BE49-F238E27FC236}">
                <a16:creationId xmlns:a16="http://schemas.microsoft.com/office/drawing/2014/main" id="{B5FF96A3-D6AE-F513-DD03-39BA9F0328B9}"/>
              </a:ext>
            </a:extLst>
          </p:cNvPr>
          <p:cNvSpPr/>
          <p:nvPr userDrawn="1"/>
        </p:nvSpPr>
        <p:spPr>
          <a:xfrm flipH="1">
            <a:off x="4199721" y="1176352"/>
            <a:ext cx="3025481" cy="2452497"/>
          </a:xfrm>
          <a:prstGeom prst="wedgeRectCallout">
            <a:avLst>
              <a:gd name="adj1" fmla="val -33526"/>
              <a:gd name="adj2" fmla="val 71849"/>
            </a:avLst>
          </a:prstGeom>
          <a:noFill/>
          <a:ln w="6667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Q&amp;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552970-B6BA-6F41-8ACA-441571C1B7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extBox 1">
            <a:extLst>
              <a:ext uri="{FF2B5EF4-FFF2-40B4-BE49-F238E27FC236}">
                <a16:creationId xmlns:a16="http://schemas.microsoft.com/office/drawing/2014/main" id="{C3FFCA55-9DB0-B3B0-E503-4296E0D86007}"/>
              </a:ext>
            </a:extLst>
          </p:cNvPr>
          <p:cNvSpPr txBox="1"/>
          <p:nvPr userDrawn="1"/>
        </p:nvSpPr>
        <p:spPr>
          <a:xfrm>
            <a:off x="2366025" y="103283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Q</a:t>
            </a:r>
          </a:p>
        </p:txBody>
      </p:sp>
      <p:sp>
        <p:nvSpPr>
          <p:cNvPr id="4" name="TextBox 3">
            <a:extLst>
              <a:ext uri="{FF2B5EF4-FFF2-40B4-BE49-F238E27FC236}">
                <a16:creationId xmlns:a16="http://schemas.microsoft.com/office/drawing/2014/main" id="{127603FF-A392-9995-B682-4162954B7FD1}"/>
              </a:ext>
            </a:extLst>
          </p:cNvPr>
          <p:cNvSpPr txBox="1"/>
          <p:nvPr userDrawn="1"/>
        </p:nvSpPr>
        <p:spPr>
          <a:xfrm>
            <a:off x="4832868" y="1548520"/>
            <a:ext cx="1759185" cy="1708160"/>
          </a:xfrm>
          <a:prstGeom prst="rect">
            <a:avLst/>
          </a:prstGeom>
          <a:noFill/>
        </p:spPr>
        <p:txBody>
          <a:bodyPr wrap="square" rtlCol="0" anchor="ctr">
            <a:spAutoFit/>
          </a:bodyPr>
          <a:lstStyle/>
          <a:p>
            <a:pPr algn="ctr"/>
            <a:r>
              <a:rPr lang="en-US" sz="10500" b="1" i="0">
                <a:solidFill>
                  <a:schemeClr val="bg1"/>
                </a:solidFill>
                <a:latin typeface="Arial" panose="020B0604020202020204" pitchFamily="34" charset="0"/>
                <a:ea typeface="Verdana" panose="020B0604030504040204" pitchFamily="34" charset="0"/>
                <a:cs typeface="Gotham Bold" pitchFamily="2" charset="0"/>
              </a:rPr>
              <a:t>A</a:t>
            </a:r>
          </a:p>
        </p:txBody>
      </p:sp>
      <p:sp>
        <p:nvSpPr>
          <p:cNvPr id="5" name="Rectangular Callout 4">
            <a:extLst>
              <a:ext uri="{FF2B5EF4-FFF2-40B4-BE49-F238E27FC236}">
                <a16:creationId xmlns:a16="http://schemas.microsoft.com/office/drawing/2014/main" id="{99A5CECA-71D7-5D65-8953-F33FCAFA2F35}"/>
              </a:ext>
            </a:extLst>
          </p:cNvPr>
          <p:cNvSpPr/>
          <p:nvPr userDrawn="1"/>
        </p:nvSpPr>
        <p:spPr>
          <a:xfrm>
            <a:off x="1796878" y="703571"/>
            <a:ext cx="2897481" cy="2366678"/>
          </a:xfrm>
          <a:prstGeom prst="wedgeRectCallout">
            <a:avLst>
              <a:gd name="adj1" fmla="val -33003"/>
              <a:gd name="adj2" fmla="val 70895"/>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
        <p:nvSpPr>
          <p:cNvPr id="6" name="Rectangular Callout 5">
            <a:extLst>
              <a:ext uri="{FF2B5EF4-FFF2-40B4-BE49-F238E27FC236}">
                <a16:creationId xmlns:a16="http://schemas.microsoft.com/office/drawing/2014/main" id="{EEC6FEB3-AD3E-DD34-7815-DDA03EC3F896}"/>
              </a:ext>
            </a:extLst>
          </p:cNvPr>
          <p:cNvSpPr/>
          <p:nvPr userDrawn="1"/>
        </p:nvSpPr>
        <p:spPr>
          <a:xfrm flipH="1">
            <a:off x="4199721" y="1176352"/>
            <a:ext cx="3025481" cy="2452497"/>
          </a:xfrm>
          <a:prstGeom prst="wedgeRectCallout">
            <a:avLst>
              <a:gd name="adj1" fmla="val -33526"/>
              <a:gd name="adj2" fmla="val 71849"/>
            </a:avLst>
          </a:prstGeom>
          <a:noFill/>
          <a:ln w="666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6352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716650" y="4716150"/>
            <a:ext cx="427350" cy="427350"/>
          </a:xfrm>
          <a:prstGeom prst="rect">
            <a:avLst/>
          </a:prstGeom>
        </p:spPr>
        <p:txBody>
          <a:bodyPr spcFirstLastPara="1" wrap="square" lIns="182875" tIns="182875" rIns="0" bIns="0" anchor="t" anchorCtr="0">
            <a:noAutofit/>
          </a:bodyPr>
          <a:lstStyle>
            <a:lvl1pPr lvl="0" rtl="0">
              <a:buNone/>
              <a:defRPr b="1">
                <a:latin typeface="Proxima Nova"/>
                <a:ea typeface="Proxima Nova"/>
                <a:cs typeface="Proxima Nova"/>
                <a:sym typeface="Proxima Nova"/>
              </a:defRPr>
            </a:lvl1pPr>
            <a:lvl2pPr lvl="1" rtl="0">
              <a:buNone/>
              <a:defRPr b="1">
                <a:latin typeface="Proxima Nova"/>
                <a:ea typeface="Proxima Nova"/>
                <a:cs typeface="Proxima Nova"/>
                <a:sym typeface="Proxima Nova"/>
              </a:defRPr>
            </a:lvl2pPr>
            <a:lvl3pPr lvl="2" rtl="0">
              <a:buNone/>
              <a:defRPr b="1">
                <a:latin typeface="Proxima Nova"/>
                <a:ea typeface="Proxima Nova"/>
                <a:cs typeface="Proxima Nova"/>
                <a:sym typeface="Proxima Nova"/>
              </a:defRPr>
            </a:lvl3pPr>
            <a:lvl4pPr lvl="3" rtl="0">
              <a:buNone/>
              <a:defRPr b="1">
                <a:latin typeface="Proxima Nova"/>
                <a:ea typeface="Proxima Nova"/>
                <a:cs typeface="Proxima Nova"/>
                <a:sym typeface="Proxima Nova"/>
              </a:defRPr>
            </a:lvl4pPr>
            <a:lvl5pPr lvl="4" rtl="0">
              <a:buNone/>
              <a:defRPr b="1">
                <a:latin typeface="Proxima Nova"/>
                <a:ea typeface="Proxima Nova"/>
                <a:cs typeface="Proxima Nova"/>
                <a:sym typeface="Proxima Nova"/>
              </a:defRPr>
            </a:lvl5pPr>
            <a:lvl6pPr lvl="5" rtl="0">
              <a:buNone/>
              <a:defRPr b="1">
                <a:latin typeface="Proxima Nova"/>
                <a:ea typeface="Proxima Nova"/>
                <a:cs typeface="Proxima Nova"/>
                <a:sym typeface="Proxima Nova"/>
              </a:defRPr>
            </a:lvl6pPr>
            <a:lvl7pPr lvl="6" rtl="0">
              <a:buNone/>
              <a:defRPr b="1">
                <a:latin typeface="Proxima Nova"/>
                <a:ea typeface="Proxima Nova"/>
                <a:cs typeface="Proxima Nova"/>
                <a:sym typeface="Proxima Nova"/>
              </a:defRPr>
            </a:lvl7pPr>
            <a:lvl8pPr lvl="7" rtl="0">
              <a:buNone/>
              <a:defRPr b="1">
                <a:latin typeface="Proxima Nova"/>
                <a:ea typeface="Proxima Nova"/>
                <a:cs typeface="Proxima Nova"/>
                <a:sym typeface="Proxima Nova"/>
              </a:defRPr>
            </a:lvl8pPr>
            <a:lvl9pPr lvl="8" rtl="0">
              <a:buNone/>
              <a:defRPr b="1">
                <a:latin typeface="Proxima Nova"/>
                <a:ea typeface="Proxima Nova"/>
                <a:cs typeface="Proxima Nova"/>
                <a:sym typeface="Proxima Nova"/>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1244725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486"/>
        <p:cNvGrpSpPr/>
        <p:nvPr/>
      </p:nvGrpSpPr>
      <p:grpSpPr>
        <a:xfrm>
          <a:off x="0" y="0"/>
          <a:ext cx="0" cy="0"/>
          <a:chOff x="0" y="0"/>
          <a:chExt cx="0" cy="0"/>
        </a:xfrm>
      </p:grpSpPr>
      <p:sp>
        <p:nvSpPr>
          <p:cNvPr id="1487" name="Google Shape;1487;p195"/>
          <p:cNvSpPr txBox="1">
            <a:spLocks noGrp="1"/>
          </p:cNvSpPr>
          <p:nvPr>
            <p:ph type="title"/>
          </p:nvPr>
        </p:nvSpPr>
        <p:spPr>
          <a:xfrm>
            <a:off x="461325" y="294640"/>
            <a:ext cx="8237700" cy="338700"/>
          </a:xfrm>
          <a:prstGeom prst="rect">
            <a:avLst/>
          </a:prstGeom>
          <a:noFill/>
          <a:ln>
            <a:noFill/>
          </a:ln>
        </p:spPr>
        <p:txBody>
          <a:bodyPr spcFirstLastPara="1" wrap="square" lIns="0" tIns="91400" rIns="0" bIns="91400" anchor="t" anchorCtr="0">
            <a:noAutofit/>
          </a:bodyPr>
          <a:lstStyle>
            <a:lvl1pPr marR="0" lvl="0" algn="l">
              <a:lnSpc>
                <a:spcPct val="100000"/>
              </a:lnSpc>
              <a:spcBef>
                <a:spcPts val="0"/>
              </a:spcBef>
              <a:spcAft>
                <a:spcPts val="0"/>
              </a:spcAft>
              <a:buClr>
                <a:schemeClr val="accent2"/>
              </a:buClr>
              <a:buSzPts val="3600"/>
              <a:buFont typeface="Arial"/>
              <a:buNone/>
              <a:defRPr sz="1800" b="1" i="0" u="none" strike="noStrike" cap="none">
                <a:solidFill>
                  <a:schemeClr val="accent2"/>
                </a:solidFill>
                <a:latin typeface="Arial"/>
                <a:ea typeface="Arial"/>
                <a:cs typeface="Arial"/>
                <a:sym typeface="Arial"/>
              </a:defRPr>
            </a:lvl1pPr>
            <a:lvl2pPr marR="0" lvl="1"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718309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88">
          <p15:clr>
            <a:srgbClr val="FBAE40"/>
          </p15:clr>
        </p15:guide>
        <p15:guide id="2" pos="576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61325" y="294640"/>
            <a:ext cx="8237613" cy="338554"/>
          </a:xfrm>
          <a:prstGeom prst="rect">
            <a:avLst/>
          </a:prstGeom>
        </p:spPr>
        <p:txBody>
          <a:bodyPr lIns="0" rIns="0"/>
          <a:lstStyle>
            <a:lvl1pPr algn="l">
              <a:defRPr sz="18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61325" y="834850"/>
            <a:ext cx="8237613" cy="3942242"/>
          </a:xfrm>
          <a:prstGeom prst="rect">
            <a:avLst/>
          </a:prstGeom>
        </p:spPr>
        <p:txBody>
          <a:bodyPr lIns="0" rIns="0"/>
          <a:lstStyle>
            <a:lvl1pPr marL="174625" indent="-174625">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631825" indent="-174625">
              <a:buClrTx/>
              <a:buFont typeface="Arial"/>
              <a:buChar char="•"/>
              <a:tabLst/>
              <a:defRPr b="0" i="0">
                <a:solidFill>
                  <a:schemeClr val="bg2"/>
                </a:solidFill>
                <a:latin typeface="Arial" panose="020B0604020202020204" pitchFamily="34" charset="0"/>
                <a:cs typeface="Gotham Book" pitchFamily="2" charset="0"/>
              </a:defRPr>
            </a:lvl2pPr>
            <a:lvl3pPr marL="1087438" indent="-173038">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18481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slideLayout" Target="../slideLayouts/slideLayout14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570" r:id="rId1"/>
    <p:sldLayoutId id="2147484463" r:id="rId2"/>
    <p:sldLayoutId id="2147484464" r:id="rId3"/>
    <p:sldLayoutId id="2147484474" r:id="rId4"/>
    <p:sldLayoutId id="2147484465" r:id="rId5"/>
    <p:sldLayoutId id="2147484462" r:id="rId6"/>
    <p:sldLayoutId id="2147484461" r:id="rId7"/>
    <p:sldLayoutId id="2147484562" r:id="rId8"/>
    <p:sldLayoutId id="2147484473" r:id="rId9"/>
    <p:sldLayoutId id="2147484532" r:id="rId10"/>
    <p:sldLayoutId id="2147484451" r:id="rId11"/>
    <p:sldLayoutId id="2147484452" r:id="rId12"/>
    <p:sldLayoutId id="2147484533" r:id="rId13"/>
    <p:sldLayoutId id="2147484453" r:id="rId14"/>
    <p:sldLayoutId id="2147484454" r:id="rId15"/>
    <p:sldLayoutId id="2147484534" r:id="rId16"/>
    <p:sldLayoutId id="2147484520" r:id="rId17"/>
    <p:sldLayoutId id="2147484400" r:id="rId18"/>
    <p:sldLayoutId id="2147484401" r:id="rId19"/>
    <p:sldLayoutId id="2147484466" r:id="rId20"/>
    <p:sldLayoutId id="2147484467" r:id="rId21"/>
    <p:sldLayoutId id="2147484468" r:id="rId22"/>
    <p:sldLayoutId id="2147484469" r:id="rId23"/>
    <p:sldLayoutId id="2147484370" r:id="rId24"/>
    <p:sldLayoutId id="2147484433" r:id="rId25"/>
    <p:sldLayoutId id="2147484524" r:id="rId26"/>
    <p:sldLayoutId id="2147484371" r:id="rId27"/>
    <p:sldLayoutId id="2147484431" r:id="rId28"/>
    <p:sldLayoutId id="2147484525" r:id="rId29"/>
    <p:sldLayoutId id="2147484372" r:id="rId30"/>
    <p:sldLayoutId id="2147484393" r:id="rId31"/>
    <p:sldLayoutId id="2147484527" r:id="rId32"/>
    <p:sldLayoutId id="2147484373" r:id="rId33"/>
    <p:sldLayoutId id="2147484430" r:id="rId34"/>
    <p:sldLayoutId id="2147484571" r:id="rId35"/>
    <p:sldLayoutId id="2147484528" r:id="rId36"/>
    <p:sldLayoutId id="2147484374" r:id="rId37"/>
    <p:sldLayoutId id="2147484521" r:id="rId38"/>
    <p:sldLayoutId id="2147484529" r:id="rId39"/>
    <p:sldLayoutId id="2147484540" r:id="rId40"/>
    <p:sldLayoutId id="2147484541" r:id="rId41"/>
    <p:sldLayoutId id="2147484485" r:id="rId42"/>
    <p:sldLayoutId id="2147484486" r:id="rId43"/>
    <p:sldLayoutId id="2147484488" r:id="rId44"/>
    <p:sldLayoutId id="2147484489" r:id="rId45"/>
    <p:sldLayoutId id="2147484535" r:id="rId46"/>
    <p:sldLayoutId id="2147484536" r:id="rId47"/>
    <p:sldLayoutId id="2147484379" r:id="rId48"/>
    <p:sldLayoutId id="2147484530" r:id="rId49"/>
    <p:sldLayoutId id="2147484380" r:id="rId50"/>
    <p:sldLayoutId id="2147484531" r:id="rId51"/>
    <p:sldLayoutId id="2147484513" r:id="rId52"/>
    <p:sldLayoutId id="2147484376" r:id="rId53"/>
    <p:sldLayoutId id="2147484522" r:id="rId54"/>
    <p:sldLayoutId id="2147484512" r:id="rId55"/>
    <p:sldLayoutId id="2147484523" r:id="rId56"/>
    <p:sldLayoutId id="2147484514" r:id="rId57"/>
    <p:sldLayoutId id="2147484383" r:id="rId58"/>
    <p:sldLayoutId id="2147484558" r:id="rId59"/>
    <p:sldLayoutId id="2147484475" r:id="rId60"/>
    <p:sldLayoutId id="2147484476" r:id="rId61"/>
    <p:sldLayoutId id="2147484477" r:id="rId62"/>
    <p:sldLayoutId id="2147484559" r:id="rId63"/>
    <p:sldLayoutId id="2147484480" r:id="rId64"/>
    <p:sldLayoutId id="2147484481" r:id="rId65"/>
    <p:sldLayoutId id="2147484560" r:id="rId66"/>
    <p:sldLayoutId id="2147484482" r:id="rId67"/>
    <p:sldLayoutId id="2147484483" r:id="rId68"/>
    <p:sldLayoutId id="2147484561" r:id="rId69"/>
    <p:sldLayoutId id="2147484384" r:id="rId70"/>
    <p:sldLayoutId id="2147484542" r:id="rId71"/>
    <p:sldLayoutId id="2147484555" r:id="rId72"/>
    <p:sldLayoutId id="2147484385" r:id="rId73"/>
    <p:sldLayoutId id="2147484556" r:id="rId74"/>
    <p:sldLayoutId id="2147484386" r:id="rId75"/>
    <p:sldLayoutId id="2147484557" r:id="rId76"/>
    <p:sldLayoutId id="2147484478" r:id="rId77"/>
    <p:sldLayoutId id="2147484479" r:id="rId78"/>
    <p:sldLayoutId id="2147484387" r:id="rId79"/>
    <p:sldLayoutId id="2147484429" r:id="rId80"/>
    <p:sldLayoutId id="2147484434" r:id="rId81"/>
    <p:sldLayoutId id="2147484445" r:id="rId82"/>
    <p:sldLayoutId id="2147484446" r:id="rId83"/>
    <p:sldLayoutId id="2147484447" r:id="rId84"/>
    <p:sldLayoutId id="2147484449" r:id="rId85"/>
    <p:sldLayoutId id="2147484448" r:id="rId86"/>
    <p:sldLayoutId id="2147484547" r:id="rId87"/>
    <p:sldLayoutId id="2147484548" r:id="rId88"/>
    <p:sldLayoutId id="2147484549" r:id="rId89"/>
    <p:sldLayoutId id="2147484550" r:id="rId90"/>
    <p:sldLayoutId id="2147484551" r:id="rId91"/>
    <p:sldLayoutId id="2147484552" r:id="rId92"/>
    <p:sldLayoutId id="2147484553" r:id="rId93"/>
    <p:sldLayoutId id="2147484554" r:id="rId94"/>
    <p:sldLayoutId id="2147484435" r:id="rId95"/>
    <p:sldLayoutId id="2147484436" r:id="rId96"/>
    <p:sldLayoutId id="2147484572" r:id="rId97"/>
    <p:sldLayoutId id="2147484437" r:id="rId98"/>
    <p:sldLayoutId id="2147484438" r:id="rId99"/>
    <p:sldLayoutId id="2147484439" r:id="rId100"/>
    <p:sldLayoutId id="2147484443" r:id="rId101"/>
    <p:sldLayoutId id="2147484441" r:id="rId102"/>
    <p:sldLayoutId id="2147484444" r:id="rId103"/>
    <p:sldLayoutId id="2147484440" r:id="rId104"/>
    <p:sldLayoutId id="2147484442" r:id="rId105"/>
    <p:sldLayoutId id="2147484573" r:id="rId106"/>
    <p:sldLayoutId id="2147484574" r:id="rId107"/>
    <p:sldLayoutId id="2147484575" r:id="rId108"/>
    <p:sldLayoutId id="2147484455" r:id="rId109"/>
    <p:sldLayoutId id="2147484543" r:id="rId110"/>
    <p:sldLayoutId id="2147484544" r:id="rId111"/>
    <p:sldLayoutId id="2147484490" r:id="rId112"/>
    <p:sldLayoutId id="2147484491" r:id="rId113"/>
    <p:sldLayoutId id="2147484492" r:id="rId114"/>
    <p:sldLayoutId id="2147484493" r:id="rId115"/>
    <p:sldLayoutId id="2147484494" r:id="rId116"/>
    <p:sldLayoutId id="2147484495" r:id="rId117"/>
    <p:sldLayoutId id="2147484496" r:id="rId118"/>
    <p:sldLayoutId id="2147484497" r:id="rId119"/>
    <p:sldLayoutId id="2147484498" r:id="rId120"/>
    <p:sldLayoutId id="2147484499" r:id="rId121"/>
    <p:sldLayoutId id="2147484500" r:id="rId122"/>
    <p:sldLayoutId id="2147484501" r:id="rId123"/>
    <p:sldLayoutId id="2147484518" r:id="rId124"/>
    <p:sldLayoutId id="2147484502" r:id="rId125"/>
    <p:sldLayoutId id="2147484503" r:id="rId126"/>
    <p:sldLayoutId id="2147484506" r:id="rId127"/>
    <p:sldLayoutId id="2147484519" r:id="rId128"/>
    <p:sldLayoutId id="2147484505" r:id="rId129"/>
    <p:sldLayoutId id="2147484507" r:id="rId130"/>
    <p:sldLayoutId id="2147484508" r:id="rId131"/>
    <p:sldLayoutId id="2147484509" r:id="rId132"/>
    <p:sldLayoutId id="2147484510" r:id="rId133"/>
    <p:sldLayoutId id="2147484511" r:id="rId134"/>
    <p:sldLayoutId id="2147484515" r:id="rId135"/>
    <p:sldLayoutId id="2147484516" r:id="rId136"/>
    <p:sldLayoutId id="2147484517" r:id="rId137"/>
    <p:sldLayoutId id="2147484537" r:id="rId138"/>
    <p:sldLayoutId id="2147484538" r:id="rId139"/>
    <p:sldLayoutId id="2147484539" r:id="rId140"/>
    <p:sldLayoutId id="2147484545" r:id="rId141"/>
    <p:sldLayoutId id="2147484546" r:id="rId142"/>
    <p:sldLayoutId id="2147484563" r:id="rId143"/>
    <p:sldLayoutId id="2147484566" r:id="rId144"/>
    <p:sldLayoutId id="2147484567" r:id="rId145"/>
    <p:sldLayoutId id="2147484568" r:id="rId1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4.xml"/><Relationship Id="rId1" Type="http://schemas.openxmlformats.org/officeDocument/2006/relationships/tags" Target="../tags/tag6.xml"/><Relationship Id="rId5" Type="http://schemas.openxmlformats.org/officeDocument/2006/relationships/image" Target="../media/image15.sv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4.xml"/><Relationship Id="rId1" Type="http://schemas.openxmlformats.org/officeDocument/2006/relationships/tags" Target="../tags/tag7.xml"/><Relationship Id="rId5" Type="http://schemas.openxmlformats.org/officeDocument/2006/relationships/image" Target="../media/image15.sv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3.xml"/><Relationship Id="rId1" Type="http://schemas.openxmlformats.org/officeDocument/2006/relationships/tags" Target="../tags/tag9.xml"/><Relationship Id="rId5" Type="http://schemas.openxmlformats.org/officeDocument/2006/relationships/image" Target="../media/image15.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slideLayout" Target="../slideLayouts/slideLayout118.xml"/><Relationship Id="rId1" Type="http://schemas.openxmlformats.org/officeDocument/2006/relationships/tags" Target="../tags/tag10.xml"/><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9.xml"/><Relationship Id="rId1" Type="http://schemas.openxmlformats.org/officeDocument/2006/relationships/tags" Target="../tags/tag11.xml"/><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slideLayout" Target="../slideLayouts/slideLayout30.xml"/><Relationship Id="rId1" Type="http://schemas.openxmlformats.org/officeDocument/2006/relationships/tags" Target="../tags/tag13.xml"/><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slideLayout" Target="../slideLayouts/slideLayout113.xml"/><Relationship Id="rId1" Type="http://schemas.openxmlformats.org/officeDocument/2006/relationships/tags" Target="../tags/tag15.xml"/><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62.xml"/><Relationship Id="rId1" Type="http://schemas.openxmlformats.org/officeDocument/2006/relationships/tags" Target="../tags/tag16.xml"/><Relationship Id="rId5" Type="http://schemas.openxmlformats.org/officeDocument/2006/relationships/image" Target="../media/image14.svg"/><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slideLayout" Target="../slideLayouts/slideLayout114.xml"/><Relationship Id="rId1" Type="http://schemas.openxmlformats.org/officeDocument/2006/relationships/tags" Target="../tags/tag17.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14.svg"/><Relationship Id="rId4" Type="http://schemas.openxmlformats.org/officeDocument/2006/relationships/image" Target="../media/image19.svg"/><Relationship Id="rId9"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60.xml"/><Relationship Id="rId1" Type="http://schemas.openxmlformats.org/officeDocument/2006/relationships/tags" Target="../tags/tag18.xml"/><Relationship Id="rId6" Type="http://schemas.openxmlformats.org/officeDocument/2006/relationships/image" Target="../media/image14.svg"/><Relationship Id="rId5" Type="http://schemas.openxmlformats.org/officeDocument/2006/relationships/image" Target="../media/image16.sv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6.xml"/><Relationship Id="rId7" Type="http://schemas.openxmlformats.org/officeDocument/2006/relationships/image" Target="../media/image26.png"/><Relationship Id="rId2" Type="http://schemas.openxmlformats.org/officeDocument/2006/relationships/slideLayout" Target="../slideLayouts/slideLayout136.xml"/><Relationship Id="rId1" Type="http://schemas.openxmlformats.org/officeDocument/2006/relationships/tags" Target="../tags/tag20.xml"/><Relationship Id="rId6" Type="http://schemas.openxmlformats.org/officeDocument/2006/relationships/image" Target="../media/image25.png"/><Relationship Id="rId5" Type="http://schemas.openxmlformats.org/officeDocument/2006/relationships/image" Target="../media/image24.png"/><Relationship Id="rId4" Type="http://schemas.microsoft.com/office/2018/10/relationships/comments" Target="../comments/modernComment_113_3063AA17.xml"/><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notesSlide" Target="../notesSlides/notesSlide7.xml"/><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image" Target="../media/image15.svg"/><Relationship Id="rId2" Type="http://schemas.openxmlformats.org/officeDocument/2006/relationships/slideLayout" Target="../slideLayouts/slideLayout136.xml"/><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tags" Target="../tags/tag21.xml"/><Relationship Id="rId6" Type="http://schemas.openxmlformats.org/officeDocument/2006/relationships/image" Target="../media/image30.png"/><Relationship Id="rId11" Type="http://schemas.openxmlformats.org/officeDocument/2006/relationships/image" Target="../media/image35.png"/><Relationship Id="rId24" Type="http://schemas.openxmlformats.org/officeDocument/2006/relationships/image" Target="../media/image14.svg"/><Relationship Id="rId5" Type="http://schemas.openxmlformats.org/officeDocument/2006/relationships/image" Target="../media/image29.png"/><Relationship Id="rId15" Type="http://schemas.openxmlformats.org/officeDocument/2006/relationships/image" Target="../media/image39.png"/><Relationship Id="rId23" Type="http://schemas.openxmlformats.org/officeDocument/2006/relationships/image" Target="../media/image47.png"/><Relationship Id="rId10" Type="http://schemas.openxmlformats.org/officeDocument/2006/relationships/image" Target="../media/image34.png"/><Relationship Id="rId19" Type="http://schemas.openxmlformats.org/officeDocument/2006/relationships/image" Target="../media/image43.png"/><Relationship Id="rId4" Type="http://schemas.microsoft.com/office/2018/10/relationships/comments" Target="../comments/modernComment_115_89589E60.xml"/><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6.xml"/><Relationship Id="rId1" Type="http://schemas.openxmlformats.org/officeDocument/2006/relationships/tags" Target="../tags/tag22.xml"/><Relationship Id="rId5" Type="http://schemas.openxmlformats.org/officeDocument/2006/relationships/image" Target="../media/image15.svg"/><Relationship Id="rId4" Type="http://schemas.openxmlformats.org/officeDocument/2006/relationships/image" Target="../media/image14.sv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6.xml"/><Relationship Id="rId1" Type="http://schemas.openxmlformats.org/officeDocument/2006/relationships/tags" Target="../tags/tag23.xml"/><Relationship Id="rId5" Type="http://schemas.openxmlformats.org/officeDocument/2006/relationships/image" Target="../media/image15.svg"/><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8.xml"/><Relationship Id="rId1" Type="http://schemas.openxmlformats.org/officeDocument/2006/relationships/tags" Target="../tags/tag2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25.xml"/><Relationship Id="rId5" Type="http://schemas.openxmlformats.org/officeDocument/2006/relationships/image" Target="../media/image15.svg"/><Relationship Id="rId4" Type="http://schemas.openxmlformats.org/officeDocument/2006/relationships/image" Target="../media/image14.sv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5.svg"/><Relationship Id="rId2" Type="http://schemas.openxmlformats.org/officeDocument/2006/relationships/slideLayout" Target="../slideLayouts/slideLayout30.xml"/><Relationship Id="rId1" Type="http://schemas.openxmlformats.org/officeDocument/2006/relationships/tags" Target="../tags/tag26.xml"/><Relationship Id="rId6" Type="http://schemas.openxmlformats.org/officeDocument/2006/relationships/image" Target="../media/image14.svg"/><Relationship Id="rId5" Type="http://schemas.openxmlformats.org/officeDocument/2006/relationships/image" Target="../media/image49.svg"/><Relationship Id="rId4" Type="http://schemas.openxmlformats.org/officeDocument/2006/relationships/image" Target="../media/image48.sv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4.xml"/><Relationship Id="rId1" Type="http://schemas.openxmlformats.org/officeDocument/2006/relationships/tags" Target="../tags/tag27.xml"/><Relationship Id="rId5" Type="http://schemas.openxmlformats.org/officeDocument/2006/relationships/image" Target="../media/image14.svg"/><Relationship Id="rId4" Type="http://schemas.openxmlformats.org/officeDocument/2006/relationships/image" Target="../media/image16.sv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1.xml"/><Relationship Id="rId1" Type="http://schemas.openxmlformats.org/officeDocument/2006/relationships/tags" Target="../tags/tag29.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50.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46.xml"/><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1.xml"/><Relationship Id="rId1" Type="http://schemas.openxmlformats.org/officeDocument/2006/relationships/tags" Target="../tags/tag31.xml"/><Relationship Id="rId5" Type="http://schemas.openxmlformats.org/officeDocument/2006/relationships/image" Target="../media/image15.svg"/><Relationship Id="rId4" Type="http://schemas.openxmlformats.org/officeDocument/2006/relationships/image" Target="../media/image14.sv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1.xml"/><Relationship Id="rId1" Type="http://schemas.openxmlformats.org/officeDocument/2006/relationships/tags" Target="../tags/tag32.xml"/><Relationship Id="rId5" Type="http://schemas.openxmlformats.org/officeDocument/2006/relationships/image" Target="../media/image15.svg"/><Relationship Id="rId4" Type="http://schemas.openxmlformats.org/officeDocument/2006/relationships/image" Target="../media/image14.sv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33.xml"/><Relationship Id="rId5" Type="http://schemas.openxmlformats.org/officeDocument/2006/relationships/image" Target="../media/image14.svg"/><Relationship Id="rId4" Type="http://schemas.openxmlformats.org/officeDocument/2006/relationships/image" Target="../media/image16.svg"/></Relationships>
</file>

<file path=ppt/slides/_rels/slide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slideLayout" Target="../slideLayouts/slideLayout1.xml"/><Relationship Id="rId1" Type="http://schemas.openxmlformats.org/officeDocument/2006/relationships/tags" Target="../tags/tag34.xml"/><Relationship Id="rId4" Type="http://schemas.openxmlformats.org/officeDocument/2006/relationships/image" Target="../media/image14.svg"/></Relationships>
</file>

<file path=ppt/slides/_rels/slide3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Layout" Target="../slideLayouts/slideLayout1.xml"/><Relationship Id="rId7" Type="http://schemas.openxmlformats.org/officeDocument/2006/relationships/image" Target="../media/image16.sv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51.emf"/><Relationship Id="rId5" Type="http://schemas.openxmlformats.org/officeDocument/2006/relationships/oleObject" Target="../embeddings/oleObject1.bin"/><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5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BFE-AD7B-9188-C889-4270CACA8954}"/>
              </a:ext>
            </a:extLst>
          </p:cNvPr>
          <p:cNvSpPr>
            <a:spLocks noGrp="1"/>
          </p:cNvSpPr>
          <p:nvPr>
            <p:ph type="title"/>
          </p:nvPr>
        </p:nvSpPr>
        <p:spPr>
          <a:xfrm>
            <a:off x="763588" y="866775"/>
            <a:ext cx="4877821" cy="1847850"/>
          </a:xfrm>
        </p:spPr>
        <p:txBody>
          <a:bodyPr lIns="0" tIns="45720" rIns="0" bIns="45720" anchor="b"/>
          <a:lstStyle/>
          <a:p>
            <a:r>
              <a:rPr lang="en-US">
                <a:latin typeface="Arial"/>
                <a:ea typeface="Inter Medium"/>
                <a:cs typeface="Arial"/>
              </a:rPr>
              <a:t>Application Configuration Kick-off</a:t>
            </a:r>
          </a:p>
        </p:txBody>
      </p:sp>
      <p:sp>
        <p:nvSpPr>
          <p:cNvPr id="15" name="Text Placeholder 14">
            <a:extLst>
              <a:ext uri="{FF2B5EF4-FFF2-40B4-BE49-F238E27FC236}">
                <a16:creationId xmlns:a16="http://schemas.microsoft.com/office/drawing/2014/main" id="{4ABE029C-943E-1AB0-A6A6-0E1D6F88768A}"/>
              </a:ext>
            </a:extLst>
          </p:cNvPr>
          <p:cNvSpPr>
            <a:spLocks noGrp="1"/>
          </p:cNvSpPr>
          <p:nvPr>
            <p:ph type="body" sz="quarter" idx="10"/>
          </p:nvPr>
        </p:nvSpPr>
        <p:spPr>
          <a:xfrm>
            <a:off x="763588" y="2871574"/>
            <a:ext cx="3732212" cy="563971"/>
          </a:xfrm>
        </p:spPr>
        <p:txBody>
          <a:bodyPr lIns="0" tIns="45720" rIns="91440" bIns="45720" anchor="t"/>
          <a:lstStyle/>
          <a:p>
            <a:r>
              <a:rPr lang="en-US">
                <a:latin typeface="Arial"/>
                <a:cs typeface="Arial"/>
              </a:rPr>
              <a:t>Month/DD/YYYY</a:t>
            </a:r>
            <a:endParaRPr lang="en-US"/>
          </a:p>
        </p:txBody>
      </p:sp>
    </p:spTree>
    <p:custDataLst>
      <p:tags r:id="rId1"/>
    </p:custDataLst>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DE92F7-28B3-5308-F0FF-EBB9973A3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E703A-3651-33CD-A8A6-848844E69824}"/>
              </a:ext>
            </a:extLst>
          </p:cNvPr>
          <p:cNvSpPr>
            <a:spLocks noGrp="1"/>
          </p:cNvSpPr>
          <p:nvPr>
            <p:ph type="title"/>
          </p:nvPr>
        </p:nvSpPr>
        <p:spPr>
          <a:xfrm>
            <a:off x="742107" y="544613"/>
            <a:ext cx="6844592" cy="344012"/>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b="1"/>
              <a:t>The Anaplan Way for Apps Template</a:t>
            </a:r>
            <a:endParaRPr lang="en-US" b="1">
              <a:cs typeface="Arial"/>
            </a:endParaRPr>
          </a:p>
        </p:txBody>
      </p:sp>
      <p:grpSp>
        <p:nvGrpSpPr>
          <p:cNvPr id="4" name="Group 3">
            <a:extLst>
              <a:ext uri="{FF2B5EF4-FFF2-40B4-BE49-F238E27FC236}">
                <a16:creationId xmlns:a16="http://schemas.microsoft.com/office/drawing/2014/main" id="{6094D3A3-41B7-4A2E-10DA-C5F8A2E6E008}"/>
              </a:ext>
            </a:extLst>
          </p:cNvPr>
          <p:cNvGrpSpPr/>
          <p:nvPr/>
        </p:nvGrpSpPr>
        <p:grpSpPr>
          <a:xfrm>
            <a:off x="1" y="0"/>
            <a:ext cx="1416624" cy="960120"/>
            <a:chOff x="1" y="0"/>
            <a:chExt cx="1888832" cy="1280160"/>
          </a:xfrm>
        </p:grpSpPr>
        <p:sp>
          <p:nvSpPr>
            <p:cNvPr id="5" name="Diagonal Stripe 4">
              <a:extLst>
                <a:ext uri="{FF2B5EF4-FFF2-40B4-BE49-F238E27FC236}">
                  <a16:creationId xmlns:a16="http://schemas.microsoft.com/office/drawing/2014/main" id="{334B2B26-39AC-A78D-197E-8D05429C70A9}"/>
                </a:ext>
              </a:extLst>
            </p:cNvPr>
            <p:cNvSpPr/>
            <p:nvPr/>
          </p:nvSpPr>
          <p:spPr>
            <a:xfrm>
              <a:off x="1" y="0"/>
              <a:ext cx="1888832" cy="1280160"/>
            </a:xfrm>
            <a:prstGeom prst="diagStripe">
              <a:avLst>
                <a:gd name="adj" fmla="val 44393"/>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50">
                <a:solidFill>
                  <a:schemeClr val="bg1"/>
                </a:solidFill>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D9BC8973-5A66-49D6-8EE5-8697578FF78C}"/>
                </a:ext>
              </a:extLst>
            </p:cNvPr>
            <p:cNvSpPr txBox="1"/>
            <p:nvPr/>
          </p:nvSpPr>
          <p:spPr>
            <a:xfrm rot="19559987">
              <a:off x="35771" y="331887"/>
              <a:ext cx="1210241" cy="448056"/>
            </a:xfrm>
            <a:prstGeom prst="rect">
              <a:avLst/>
            </a:prstGeom>
            <a:noFill/>
          </p:spPr>
          <p:txBody>
            <a:bodyPr wrap="square" lIns="0" tIns="0" rIns="0" bIns="0" rtlCol="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buClrTx/>
              </a:pPr>
              <a:r>
                <a:rPr lang="en-GB" sz="750" b="1">
                  <a:solidFill>
                    <a:schemeClr val="bg1"/>
                  </a:solidFill>
                  <a:latin typeface="Arial" panose="020B0604020202020204" pitchFamily="34" charset="0"/>
                  <a:ea typeface="Inter Light" panose="02000503000000020004" pitchFamily="2" charset="0"/>
                  <a:cs typeface="Arial" panose="020B0604020202020204" pitchFamily="34" charset="0"/>
                </a:rPr>
                <a:t>REMOVE BEFORE PRESENTING</a:t>
              </a:r>
            </a:p>
          </p:txBody>
        </p:sp>
      </p:grpSp>
      <p:sp>
        <p:nvSpPr>
          <p:cNvPr id="17" name="Rectangle: Rounded Corners 16">
            <a:extLst>
              <a:ext uri="{FF2B5EF4-FFF2-40B4-BE49-F238E27FC236}">
                <a16:creationId xmlns:a16="http://schemas.microsoft.com/office/drawing/2014/main" id="{CCF37616-B29E-D02C-E28D-AF5FCD6FC5AF}"/>
              </a:ext>
            </a:extLst>
          </p:cNvPr>
          <p:cNvSpPr/>
          <p:nvPr/>
        </p:nvSpPr>
        <p:spPr>
          <a:xfrm>
            <a:off x="1416624" y="1740481"/>
            <a:ext cx="6087190" cy="1735127"/>
          </a:xfrm>
          <a:prstGeom prst="roundRect">
            <a:avLst>
              <a:gd name="adj" fmla="val 497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74319" tIns="68580" rIns="274319" bIns="6858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600"/>
              </a:spcAft>
            </a:pPr>
            <a:r>
              <a:rPr lang="en-US" sz="1800" b="1">
                <a:solidFill>
                  <a:schemeClr val="tx1"/>
                </a:solidFill>
                <a:latin typeface="Arial"/>
                <a:ea typeface="Verdana"/>
                <a:cs typeface="Arial"/>
              </a:rPr>
              <a:t>Project Kick-off ​Template</a:t>
            </a:r>
            <a:endParaRPr lang="en-US" sz="1013">
              <a:solidFill>
                <a:schemeClr val="tx1"/>
              </a:solidFill>
              <a:cs typeface="Arial" panose="020B0604020202020204"/>
            </a:endParaRPr>
          </a:p>
          <a:p>
            <a:r>
              <a:rPr lang="en-US" sz="1200">
                <a:solidFill>
                  <a:schemeClr val="tx1"/>
                </a:solidFill>
                <a:latin typeface="Arial"/>
                <a:ea typeface="Verdana"/>
                <a:cs typeface="Arial"/>
              </a:rPr>
              <a:t>The purpose of this document is to set the stage for the Project deliverables. The document will contain important information from the Pre-sales cycle as well as the SOW. During the set up the kick-off meeting (and deck) items such as the success criteria, summary of functionality purchased (scope), implementation approach, roles and responsibilities, governance and timelines will be documented to ensure alignment.</a:t>
            </a:r>
            <a:endParaRPr lang="en-US" sz="1013">
              <a:solidFill>
                <a:schemeClr val="tx1"/>
              </a:solidFill>
            </a:endParaRPr>
          </a:p>
        </p:txBody>
      </p:sp>
      <p:sp>
        <p:nvSpPr>
          <p:cNvPr id="3" name="Rectangle: Rounded Corners 2">
            <a:extLst>
              <a:ext uri="{FF2B5EF4-FFF2-40B4-BE49-F238E27FC236}">
                <a16:creationId xmlns:a16="http://schemas.microsoft.com/office/drawing/2014/main" id="{87FE94D0-723D-0E6B-9BE9-39EA0E399CC4}"/>
              </a:ext>
            </a:extLst>
          </p:cNvPr>
          <p:cNvSpPr/>
          <p:nvPr/>
        </p:nvSpPr>
        <p:spPr>
          <a:xfrm>
            <a:off x="1413072" y="3582140"/>
            <a:ext cx="6087190" cy="1261867"/>
          </a:xfrm>
          <a:prstGeom prst="roundRect">
            <a:avLst>
              <a:gd name="adj" fmla="val 497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74319" tIns="68580" rIns="274319" bIns="6858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600"/>
              </a:spcAft>
            </a:pPr>
            <a:r>
              <a:rPr lang="en-US" sz="1800" b="1">
                <a:solidFill>
                  <a:schemeClr val="tx1"/>
                </a:solidFill>
                <a:latin typeface="Arial"/>
                <a:ea typeface="Verdana"/>
                <a:cs typeface="Arial"/>
              </a:rPr>
              <a:t>Instructions:</a:t>
            </a:r>
            <a:endParaRPr lang="en-US" sz="1013">
              <a:solidFill>
                <a:schemeClr val="tx1"/>
              </a:solidFill>
            </a:endParaRPr>
          </a:p>
          <a:p>
            <a:pPr marL="214313" indent="-214313">
              <a:spcBef>
                <a:spcPct val="20000"/>
              </a:spcBef>
              <a:buFont typeface="Arial"/>
              <a:buChar char="•"/>
            </a:pPr>
            <a:r>
              <a:rPr lang="en-US" sz="1200">
                <a:solidFill>
                  <a:schemeClr val="tx1"/>
                </a:solidFill>
                <a:latin typeface="Arial"/>
                <a:ea typeface="Verdana"/>
                <a:cs typeface="Arial"/>
              </a:rPr>
              <a:t>Replace any </a:t>
            </a:r>
            <a:r>
              <a:rPr lang="en-US" sz="1200">
                <a:solidFill>
                  <a:schemeClr val="tx1"/>
                </a:solidFill>
                <a:highlight>
                  <a:srgbClr val="FFFF00"/>
                </a:highlight>
                <a:latin typeface="Arial"/>
                <a:ea typeface="Verdana"/>
                <a:cs typeface="Arial"/>
              </a:rPr>
              <a:t>yellow </a:t>
            </a:r>
            <a:r>
              <a:rPr lang="en-US" sz="1200">
                <a:solidFill>
                  <a:schemeClr val="tx1"/>
                </a:solidFill>
                <a:latin typeface="Arial"/>
                <a:ea typeface="Verdana"/>
                <a:cs typeface="Arial"/>
              </a:rPr>
              <a:t>content with customer-specific details </a:t>
            </a:r>
          </a:p>
          <a:p>
            <a:pPr marL="214313" indent="-214313">
              <a:spcBef>
                <a:spcPct val="20000"/>
              </a:spcBef>
              <a:buFont typeface="Arial"/>
              <a:buChar char="•"/>
            </a:pPr>
            <a:r>
              <a:rPr lang="en-US" sz="1200">
                <a:solidFill>
                  <a:schemeClr val="tx1"/>
                </a:solidFill>
                <a:latin typeface="Arial"/>
                <a:ea typeface="Verdana"/>
                <a:cs typeface="Arial"/>
              </a:rPr>
              <a:t>Replace any </a:t>
            </a:r>
            <a:r>
              <a:rPr lang="en-US" sz="1200">
                <a:solidFill>
                  <a:schemeClr val="tx1"/>
                </a:solidFill>
                <a:highlight>
                  <a:srgbClr val="FF0000"/>
                </a:highlight>
                <a:latin typeface="Arial"/>
                <a:ea typeface="Verdana"/>
                <a:cs typeface="Arial"/>
              </a:rPr>
              <a:t>red</a:t>
            </a:r>
            <a:r>
              <a:rPr lang="en-US" sz="1200">
                <a:solidFill>
                  <a:schemeClr val="tx1"/>
                </a:solidFill>
                <a:latin typeface="Arial"/>
                <a:ea typeface="Verdana"/>
                <a:cs typeface="Arial"/>
              </a:rPr>
              <a:t> content with application-specific details </a:t>
            </a:r>
          </a:p>
          <a:p>
            <a:pPr marL="214313" indent="-214313">
              <a:spcBef>
                <a:spcPct val="20000"/>
              </a:spcBef>
              <a:buFont typeface="Arial"/>
              <a:buChar char="•"/>
            </a:pPr>
            <a:r>
              <a:rPr lang="en-US" sz="1200">
                <a:solidFill>
                  <a:schemeClr val="tx1"/>
                </a:solidFill>
                <a:latin typeface="Arial"/>
                <a:ea typeface="Verdana"/>
                <a:cs typeface="Arial"/>
              </a:rPr>
              <a:t>Remove build notes and any slides marked "Remove Before Presenting" </a:t>
            </a:r>
          </a:p>
          <a:p>
            <a:pPr marL="214313" indent="-214313">
              <a:spcBef>
                <a:spcPct val="20000"/>
              </a:spcBef>
              <a:buFont typeface="Arial"/>
              <a:buChar char="•"/>
            </a:pPr>
            <a:r>
              <a:rPr lang="en-US" sz="1200">
                <a:latin typeface="Arial"/>
                <a:ea typeface="Verdana"/>
                <a:cs typeface="Arial"/>
              </a:rPr>
              <a:t>Paste Customer logo and any other formatting desired by customer</a:t>
            </a:r>
            <a:endParaRPr lang="en-US" sz="1013">
              <a:solidFill>
                <a:schemeClr val="tx1"/>
              </a:solidFill>
            </a:endParaRPr>
          </a:p>
        </p:txBody>
      </p:sp>
      <p:sp>
        <p:nvSpPr>
          <p:cNvPr id="16" name="Pentagon 2">
            <a:extLst>
              <a:ext uri="{FF2B5EF4-FFF2-40B4-BE49-F238E27FC236}">
                <a16:creationId xmlns:a16="http://schemas.microsoft.com/office/drawing/2014/main" id="{41A5EA89-A957-DAD9-E775-83566C91A6B3}"/>
              </a:ext>
            </a:extLst>
          </p:cNvPr>
          <p:cNvSpPr/>
          <p:nvPr/>
        </p:nvSpPr>
        <p:spPr>
          <a:xfrm>
            <a:off x="742143" y="1042262"/>
            <a:ext cx="1175276" cy="402308"/>
          </a:xfrm>
          <a:prstGeom prst="homePlate">
            <a:avLst/>
          </a:prstGeom>
          <a:solidFill>
            <a:schemeClr val="bg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ea typeface="Verdana"/>
                <a:cs typeface="Arial"/>
              </a:rPr>
              <a:t>Pre-Delivery </a:t>
            </a:r>
          </a:p>
        </p:txBody>
      </p:sp>
      <p:cxnSp>
        <p:nvCxnSpPr>
          <p:cNvPr id="22" name="Elbow Connector 17">
            <a:extLst>
              <a:ext uri="{FF2B5EF4-FFF2-40B4-BE49-F238E27FC236}">
                <a16:creationId xmlns:a16="http://schemas.microsoft.com/office/drawing/2014/main" id="{7AA19A43-153B-AE68-2024-059E3964D736}"/>
              </a:ext>
            </a:extLst>
          </p:cNvPr>
          <p:cNvCxnSpPr>
            <a:cxnSpLocks/>
            <a:stCxn id="17" idx="1"/>
            <a:endCxn id="32" idx="2"/>
          </p:cNvCxnSpPr>
          <p:nvPr/>
        </p:nvCxnSpPr>
        <p:spPr>
          <a:xfrm rot="10800000" flipH="1">
            <a:off x="1416624" y="1442706"/>
            <a:ext cx="908078" cy="1165340"/>
          </a:xfrm>
          <a:prstGeom prst="bentConnector4">
            <a:avLst>
              <a:gd name="adj1" fmla="val -18881"/>
              <a:gd name="adj2" fmla="val 87224"/>
            </a:avLst>
          </a:prstGeom>
          <a:ln w="25400" cap="rnd">
            <a:solidFill>
              <a:schemeClr val="tx2"/>
            </a:solidFill>
            <a:prstDash val="sysDot"/>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5" name="Chevron 14">
            <a:extLst>
              <a:ext uri="{FF2B5EF4-FFF2-40B4-BE49-F238E27FC236}">
                <a16:creationId xmlns:a16="http://schemas.microsoft.com/office/drawing/2014/main" id="{13D45C04-85EF-49CD-C5F8-7ED0A69FEDCD}"/>
              </a:ext>
            </a:extLst>
          </p:cNvPr>
          <p:cNvSpPr/>
          <p:nvPr/>
        </p:nvSpPr>
        <p:spPr>
          <a:xfrm>
            <a:off x="1837677" y="1042262"/>
            <a:ext cx="1175276" cy="402308"/>
          </a:xfrm>
          <a:prstGeom prst="chevron">
            <a:avLst/>
          </a:prstGeom>
          <a:solidFill>
            <a:schemeClr val="bg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tx1"/>
                </a:solidFill>
                <a:ea typeface="Verdana" charset="0"/>
                <a:cs typeface="Arial" panose="020B0604020202020204" pitchFamily="34" charset="0"/>
              </a:rPr>
              <a:t>Config</a:t>
            </a:r>
          </a:p>
        </p:txBody>
      </p:sp>
      <p:sp>
        <p:nvSpPr>
          <p:cNvPr id="19" name="Chevron 18">
            <a:extLst>
              <a:ext uri="{FF2B5EF4-FFF2-40B4-BE49-F238E27FC236}">
                <a16:creationId xmlns:a16="http://schemas.microsoft.com/office/drawing/2014/main" id="{C87DB227-D7B0-F291-93BE-8C64CF82AEC6}"/>
              </a:ext>
            </a:extLst>
          </p:cNvPr>
          <p:cNvSpPr/>
          <p:nvPr/>
        </p:nvSpPr>
        <p:spPr>
          <a:xfrm>
            <a:off x="2933211" y="1042262"/>
            <a:ext cx="1175276" cy="402308"/>
          </a:xfrm>
          <a:prstGeom prst="chevron">
            <a:avLst/>
          </a:prstGeom>
          <a:solidFill>
            <a:schemeClr val="bg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tx1"/>
                </a:solidFill>
                <a:ea typeface="Verdana" charset="0"/>
                <a:cs typeface="Arial" panose="020B0604020202020204" pitchFamily="34" charset="0"/>
              </a:rPr>
              <a:t>Test &amp; Deploy</a:t>
            </a:r>
          </a:p>
        </p:txBody>
      </p:sp>
      <p:sp>
        <p:nvSpPr>
          <p:cNvPr id="21" name="Chevron 20">
            <a:extLst>
              <a:ext uri="{FF2B5EF4-FFF2-40B4-BE49-F238E27FC236}">
                <a16:creationId xmlns:a16="http://schemas.microsoft.com/office/drawing/2014/main" id="{D2EEAFB5-6D27-99BD-061A-7953C499A392}"/>
              </a:ext>
            </a:extLst>
          </p:cNvPr>
          <p:cNvSpPr/>
          <p:nvPr/>
        </p:nvSpPr>
        <p:spPr>
          <a:xfrm>
            <a:off x="4028745" y="1042262"/>
            <a:ext cx="1175276" cy="402308"/>
          </a:xfrm>
          <a:prstGeom prst="chevron">
            <a:avLst/>
          </a:prstGeom>
          <a:solidFill>
            <a:schemeClr val="bg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ea typeface="Verdana"/>
                <a:cs typeface="Arial"/>
              </a:rPr>
              <a:t>Extension Design</a:t>
            </a:r>
            <a:endParaRPr lang="en-US" sz="900">
              <a:solidFill>
                <a:schemeClr val="tx1"/>
              </a:solidFill>
              <a:ea typeface="Verdana" charset="0"/>
              <a:cs typeface="Arial" panose="020B0604020202020204" pitchFamily="34" charset="0"/>
            </a:endParaRPr>
          </a:p>
        </p:txBody>
      </p:sp>
      <p:sp>
        <p:nvSpPr>
          <p:cNvPr id="26" name="Chevron 25">
            <a:extLst>
              <a:ext uri="{FF2B5EF4-FFF2-40B4-BE49-F238E27FC236}">
                <a16:creationId xmlns:a16="http://schemas.microsoft.com/office/drawing/2014/main" id="{C8CD82C2-6406-827F-ED0B-AC8BF6C0E789}"/>
              </a:ext>
            </a:extLst>
          </p:cNvPr>
          <p:cNvSpPr/>
          <p:nvPr/>
        </p:nvSpPr>
        <p:spPr>
          <a:xfrm>
            <a:off x="5124279" y="1042262"/>
            <a:ext cx="1175276" cy="402308"/>
          </a:xfrm>
          <a:prstGeom prst="chevron">
            <a:avLst/>
          </a:prstGeom>
          <a:solidFill>
            <a:schemeClr val="bg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tx1"/>
                </a:solidFill>
                <a:ea typeface="Verdana" charset="0"/>
                <a:cs typeface="Arial" panose="020B0604020202020204" pitchFamily="34" charset="0"/>
              </a:rPr>
              <a:t>Iterative Extension</a:t>
            </a:r>
          </a:p>
        </p:txBody>
      </p:sp>
      <p:sp>
        <p:nvSpPr>
          <p:cNvPr id="28" name="Chevron 27">
            <a:extLst>
              <a:ext uri="{FF2B5EF4-FFF2-40B4-BE49-F238E27FC236}">
                <a16:creationId xmlns:a16="http://schemas.microsoft.com/office/drawing/2014/main" id="{D0657B28-A542-BC9F-A2A4-BEA1C0707C63}"/>
              </a:ext>
            </a:extLst>
          </p:cNvPr>
          <p:cNvSpPr/>
          <p:nvPr/>
        </p:nvSpPr>
        <p:spPr>
          <a:xfrm>
            <a:off x="6219813" y="1042262"/>
            <a:ext cx="1284038" cy="402308"/>
          </a:xfrm>
          <a:prstGeom prst="chevron">
            <a:avLst/>
          </a:prstGeom>
          <a:solidFill>
            <a:schemeClr val="bg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tx1"/>
                </a:solidFill>
                <a:ea typeface="Verdana" charset="0"/>
                <a:cs typeface="Arial" panose="020B0604020202020204" pitchFamily="34" charset="0"/>
              </a:rPr>
              <a:t>Extension Test &amp; Deploy</a:t>
            </a:r>
          </a:p>
        </p:txBody>
      </p:sp>
      <p:sp>
        <p:nvSpPr>
          <p:cNvPr id="32" name="Chevron 31">
            <a:extLst>
              <a:ext uri="{FF2B5EF4-FFF2-40B4-BE49-F238E27FC236}">
                <a16:creationId xmlns:a16="http://schemas.microsoft.com/office/drawing/2014/main" id="{3495D1E5-1C54-57DD-D161-6B2E7355FBC7}"/>
              </a:ext>
            </a:extLst>
          </p:cNvPr>
          <p:cNvSpPr/>
          <p:nvPr/>
        </p:nvSpPr>
        <p:spPr>
          <a:xfrm>
            <a:off x="1837641" y="1040397"/>
            <a:ext cx="1175276" cy="402308"/>
          </a:xfrm>
          <a:prstGeom prst="chevron">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ea typeface="Verdana" charset="0"/>
                <a:cs typeface="Arial" panose="020B0604020202020204" pitchFamily="34" charset="0"/>
              </a:rPr>
              <a:t>Config</a:t>
            </a:r>
          </a:p>
        </p:txBody>
      </p:sp>
    </p:spTree>
    <p:custDataLst>
      <p:tags r:id="rId1"/>
    </p:custDataLst>
    <p:extLst>
      <p:ext uri="{BB962C8B-B14F-4D97-AF65-F5344CB8AC3E}">
        <p14:creationId xmlns:p14="http://schemas.microsoft.com/office/powerpoint/2010/main" val="75295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01E5F-542A-38AA-0808-EAA4E0D8FF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56F95B-08C6-48BC-B37A-35CEE104C186}"/>
              </a:ext>
            </a:extLst>
          </p:cNvPr>
          <p:cNvSpPr>
            <a:spLocks noGrp="1"/>
          </p:cNvSpPr>
          <p:nvPr>
            <p:ph type="title"/>
          </p:nvPr>
        </p:nvSpPr>
        <p:spPr/>
        <p:txBody>
          <a:bodyPr/>
          <a:lstStyle/>
          <a:p>
            <a:r>
              <a:rPr lang="en-US"/>
              <a:t>Agenda</a:t>
            </a:r>
          </a:p>
        </p:txBody>
      </p:sp>
      <p:sp>
        <p:nvSpPr>
          <p:cNvPr id="17" name="Text Placeholder 16">
            <a:extLst>
              <a:ext uri="{FF2B5EF4-FFF2-40B4-BE49-F238E27FC236}">
                <a16:creationId xmlns:a16="http://schemas.microsoft.com/office/drawing/2014/main" id="{B243992A-7C2D-FB78-FF9F-65D216BBB25D}"/>
              </a:ext>
            </a:extLst>
          </p:cNvPr>
          <p:cNvSpPr>
            <a:spLocks noGrp="1"/>
          </p:cNvSpPr>
          <p:nvPr>
            <p:ph type="body" sz="quarter" idx="41"/>
          </p:nvPr>
        </p:nvSpPr>
        <p:spPr/>
        <p:txBody>
          <a:bodyPr/>
          <a:lstStyle/>
          <a:p>
            <a:r>
              <a:rPr lang="en-US" b="1"/>
              <a:t>Project Governance, Resourcing and Schedule </a:t>
            </a:r>
          </a:p>
        </p:txBody>
      </p:sp>
      <p:sp>
        <p:nvSpPr>
          <p:cNvPr id="20" name="Text Placeholder 19">
            <a:extLst>
              <a:ext uri="{FF2B5EF4-FFF2-40B4-BE49-F238E27FC236}">
                <a16:creationId xmlns:a16="http://schemas.microsoft.com/office/drawing/2014/main" id="{2377A85E-AA19-1E4A-198A-AC2E89DAD9CC}"/>
              </a:ext>
            </a:extLst>
          </p:cNvPr>
          <p:cNvSpPr>
            <a:spLocks noGrp="1"/>
          </p:cNvSpPr>
          <p:nvPr>
            <p:ph type="body" sz="quarter" idx="43"/>
          </p:nvPr>
        </p:nvSpPr>
        <p:spPr/>
        <p:txBody>
          <a:bodyPr/>
          <a:lstStyle/>
          <a:p>
            <a:r>
              <a:rPr lang="en-US" b="1"/>
              <a:t>Key Next Steps</a:t>
            </a:r>
          </a:p>
        </p:txBody>
      </p:sp>
      <p:sp>
        <p:nvSpPr>
          <p:cNvPr id="21" name="Text Placeholder 20">
            <a:extLst>
              <a:ext uri="{FF2B5EF4-FFF2-40B4-BE49-F238E27FC236}">
                <a16:creationId xmlns:a16="http://schemas.microsoft.com/office/drawing/2014/main" id="{B5D5B843-D36F-CCFC-7E7F-FC3BA064D360}"/>
              </a:ext>
            </a:extLst>
          </p:cNvPr>
          <p:cNvSpPr>
            <a:spLocks noGrp="1"/>
          </p:cNvSpPr>
          <p:nvPr>
            <p:ph type="body" sz="quarter" idx="44"/>
          </p:nvPr>
        </p:nvSpPr>
        <p:spPr/>
        <p:txBody>
          <a:bodyPr/>
          <a:lstStyle/>
          <a:p>
            <a:r>
              <a:rPr lang="en-US" b="1"/>
              <a:t>Appendix</a:t>
            </a:r>
            <a:endParaRPr lang="en-US" sz="1400"/>
          </a:p>
        </p:txBody>
      </p:sp>
      <p:sp>
        <p:nvSpPr>
          <p:cNvPr id="18" name="Text Placeholder 17">
            <a:extLst>
              <a:ext uri="{FF2B5EF4-FFF2-40B4-BE49-F238E27FC236}">
                <a16:creationId xmlns:a16="http://schemas.microsoft.com/office/drawing/2014/main" id="{6F10CF50-0AC6-6368-13F3-472272E7C23E}"/>
              </a:ext>
            </a:extLst>
          </p:cNvPr>
          <p:cNvSpPr>
            <a:spLocks noGrp="1"/>
          </p:cNvSpPr>
          <p:nvPr>
            <p:ph type="body" sz="quarter" idx="30"/>
          </p:nvPr>
        </p:nvSpPr>
        <p:spPr/>
        <p:txBody>
          <a:bodyPr/>
          <a:lstStyle/>
          <a:p>
            <a:r>
              <a:rPr lang="en-US" b="1"/>
              <a:t>Project Objectives and Timeline</a:t>
            </a:r>
          </a:p>
        </p:txBody>
      </p:sp>
      <p:sp>
        <p:nvSpPr>
          <p:cNvPr id="19" name="Text Placeholder 18">
            <a:extLst>
              <a:ext uri="{FF2B5EF4-FFF2-40B4-BE49-F238E27FC236}">
                <a16:creationId xmlns:a16="http://schemas.microsoft.com/office/drawing/2014/main" id="{03D4E735-97A7-95BF-FAC5-A2FBFBAB36B9}"/>
              </a:ext>
            </a:extLst>
          </p:cNvPr>
          <p:cNvSpPr>
            <a:spLocks noGrp="1"/>
          </p:cNvSpPr>
          <p:nvPr>
            <p:ph type="body" sz="quarter" idx="32"/>
          </p:nvPr>
        </p:nvSpPr>
        <p:spPr/>
        <p:txBody>
          <a:bodyPr/>
          <a:lstStyle/>
          <a:p>
            <a:r>
              <a:rPr lang="en-US" b="1"/>
              <a:t>Application Overview</a:t>
            </a:r>
          </a:p>
        </p:txBody>
      </p:sp>
      <p:sp>
        <p:nvSpPr>
          <p:cNvPr id="16" name="Text Placeholder 15">
            <a:extLst>
              <a:ext uri="{FF2B5EF4-FFF2-40B4-BE49-F238E27FC236}">
                <a16:creationId xmlns:a16="http://schemas.microsoft.com/office/drawing/2014/main" id="{2483796D-B01C-6716-71A7-890F9A347CE0}"/>
              </a:ext>
            </a:extLst>
          </p:cNvPr>
          <p:cNvSpPr>
            <a:spLocks noGrp="1"/>
          </p:cNvSpPr>
          <p:nvPr>
            <p:ph type="body" sz="quarter" idx="33"/>
          </p:nvPr>
        </p:nvSpPr>
        <p:spPr/>
        <p:txBody>
          <a:bodyPr/>
          <a:lstStyle/>
          <a:p>
            <a:r>
              <a:rPr lang="en-US" b="1"/>
              <a:t>How we Deliver: Ethos and Methodology</a:t>
            </a:r>
          </a:p>
        </p:txBody>
      </p:sp>
    </p:spTree>
    <p:custDataLst>
      <p:tags r:id="rId1"/>
    </p:custDataLst>
    <p:extLst>
      <p:ext uri="{BB962C8B-B14F-4D97-AF65-F5344CB8AC3E}">
        <p14:creationId xmlns:p14="http://schemas.microsoft.com/office/powerpoint/2010/main" val="297288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F827-FA3E-0A62-73D2-EC5C8F78859F}"/>
              </a:ext>
            </a:extLst>
          </p:cNvPr>
          <p:cNvSpPr>
            <a:spLocks noGrp="1"/>
          </p:cNvSpPr>
          <p:nvPr>
            <p:ph type="title"/>
          </p:nvPr>
        </p:nvSpPr>
        <p:spPr>
          <a:xfrm>
            <a:off x="418255" y="344974"/>
            <a:ext cx="8153401" cy="338554"/>
          </a:xfrm>
        </p:spPr>
        <p:txBody>
          <a:bodyPr/>
          <a:lstStyle/>
          <a:p>
            <a:r>
              <a:rPr lang="en-US"/>
              <a:t>Introductions - Customer</a:t>
            </a:r>
          </a:p>
        </p:txBody>
      </p:sp>
      <p:sp>
        <p:nvSpPr>
          <p:cNvPr id="3" name="Picture Placeholder 2">
            <a:extLst>
              <a:ext uri="{FF2B5EF4-FFF2-40B4-BE49-F238E27FC236}">
                <a16:creationId xmlns:a16="http://schemas.microsoft.com/office/drawing/2014/main" id="{DEB314AF-84E3-FC79-18B6-52CACF7575FA}"/>
              </a:ext>
            </a:extLst>
          </p:cNvPr>
          <p:cNvSpPr>
            <a:spLocks noGrp="1"/>
          </p:cNvSpPr>
          <p:nvPr>
            <p:ph type="pic" sz="quarter" idx="17"/>
          </p:nvPr>
        </p:nvSpPr>
        <p:spPr/>
        <p:txBody>
          <a:bodyPr/>
          <a:lstStyle/>
          <a:p>
            <a:endParaRPr lang="en-US"/>
          </a:p>
        </p:txBody>
      </p:sp>
      <p:sp>
        <p:nvSpPr>
          <p:cNvPr id="4" name="Text Placeholder 3">
            <a:extLst>
              <a:ext uri="{FF2B5EF4-FFF2-40B4-BE49-F238E27FC236}">
                <a16:creationId xmlns:a16="http://schemas.microsoft.com/office/drawing/2014/main" id="{3887AD8E-9C3E-6E25-5DE3-295A19BEF0A2}"/>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35B525B3-A3BD-A76E-75B2-9346B3D2E7A4}"/>
              </a:ext>
            </a:extLst>
          </p:cNvPr>
          <p:cNvSpPr>
            <a:spLocks noGrp="1"/>
          </p:cNvSpPr>
          <p:nvPr>
            <p:ph type="body" sz="quarter" idx="22"/>
          </p:nvPr>
        </p:nvSpPr>
        <p:spPr/>
        <p:txBody>
          <a:bodyPr/>
          <a:lstStyle/>
          <a:p>
            <a:endParaRPr lang="en-US"/>
          </a:p>
        </p:txBody>
      </p:sp>
      <p:sp>
        <p:nvSpPr>
          <p:cNvPr id="6" name="Text Placeholder 5">
            <a:extLst>
              <a:ext uri="{FF2B5EF4-FFF2-40B4-BE49-F238E27FC236}">
                <a16:creationId xmlns:a16="http://schemas.microsoft.com/office/drawing/2014/main" id="{B7AED7ED-CAC5-1EC2-4CB8-7F8D2B85D587}"/>
              </a:ext>
            </a:extLst>
          </p:cNvPr>
          <p:cNvSpPr>
            <a:spLocks noGrp="1"/>
          </p:cNvSpPr>
          <p:nvPr>
            <p:ph type="body" sz="quarter" idx="23"/>
          </p:nvPr>
        </p:nvSpPr>
        <p:spPr/>
        <p:txBody>
          <a:bodyPr/>
          <a:lstStyle/>
          <a:p>
            <a:endParaRPr lang="en-US"/>
          </a:p>
        </p:txBody>
      </p:sp>
      <p:sp>
        <p:nvSpPr>
          <p:cNvPr id="7" name="Text Placeholder 6">
            <a:extLst>
              <a:ext uri="{FF2B5EF4-FFF2-40B4-BE49-F238E27FC236}">
                <a16:creationId xmlns:a16="http://schemas.microsoft.com/office/drawing/2014/main" id="{531E3238-8F5A-5641-F0D0-8B5C2768F489}"/>
              </a:ext>
            </a:extLst>
          </p:cNvPr>
          <p:cNvSpPr>
            <a:spLocks noGrp="1"/>
          </p:cNvSpPr>
          <p:nvPr>
            <p:ph type="body" sz="quarter" idx="24"/>
          </p:nvPr>
        </p:nvSpPr>
        <p:spPr/>
        <p:txBody>
          <a:bodyPr/>
          <a:lstStyle/>
          <a:p>
            <a:endParaRPr lang="en-US"/>
          </a:p>
        </p:txBody>
      </p:sp>
      <p:sp>
        <p:nvSpPr>
          <p:cNvPr id="8" name="Text Placeholder 7">
            <a:extLst>
              <a:ext uri="{FF2B5EF4-FFF2-40B4-BE49-F238E27FC236}">
                <a16:creationId xmlns:a16="http://schemas.microsoft.com/office/drawing/2014/main" id="{D85C2455-1FF6-59A4-B7F5-621DF26F2E87}"/>
              </a:ext>
            </a:extLst>
          </p:cNvPr>
          <p:cNvSpPr>
            <a:spLocks noGrp="1"/>
          </p:cNvSpPr>
          <p:nvPr>
            <p:ph type="body" sz="quarter" idx="25"/>
          </p:nvPr>
        </p:nvSpPr>
        <p:spPr/>
        <p:txBody>
          <a:bodyPr/>
          <a:lstStyle/>
          <a:p>
            <a:endParaRPr lang="en-US"/>
          </a:p>
        </p:txBody>
      </p:sp>
      <p:sp>
        <p:nvSpPr>
          <p:cNvPr id="9" name="Text Placeholder 8">
            <a:extLst>
              <a:ext uri="{FF2B5EF4-FFF2-40B4-BE49-F238E27FC236}">
                <a16:creationId xmlns:a16="http://schemas.microsoft.com/office/drawing/2014/main" id="{FACEA5B0-D248-AA74-A4EE-271302BFCB4A}"/>
              </a:ext>
            </a:extLst>
          </p:cNvPr>
          <p:cNvSpPr>
            <a:spLocks noGrp="1"/>
          </p:cNvSpPr>
          <p:nvPr>
            <p:ph type="body" sz="quarter" idx="26"/>
          </p:nvPr>
        </p:nvSpPr>
        <p:spPr/>
        <p:txBody>
          <a:bodyPr/>
          <a:lstStyle/>
          <a:p>
            <a:endParaRPr lang="en-US"/>
          </a:p>
        </p:txBody>
      </p:sp>
      <p:sp>
        <p:nvSpPr>
          <p:cNvPr id="10" name="Picture Placeholder 9">
            <a:extLst>
              <a:ext uri="{FF2B5EF4-FFF2-40B4-BE49-F238E27FC236}">
                <a16:creationId xmlns:a16="http://schemas.microsoft.com/office/drawing/2014/main" id="{32104072-A5ED-4127-ECDB-8F329C809107}"/>
              </a:ext>
            </a:extLst>
          </p:cNvPr>
          <p:cNvSpPr>
            <a:spLocks noGrp="1"/>
          </p:cNvSpPr>
          <p:nvPr>
            <p:ph type="pic" sz="quarter" idx="27"/>
          </p:nvPr>
        </p:nvSpPr>
        <p:spPr/>
        <p:txBody>
          <a:bodyPr/>
          <a:lstStyle/>
          <a:p>
            <a:endParaRPr lang="en-US"/>
          </a:p>
        </p:txBody>
      </p:sp>
      <p:sp>
        <p:nvSpPr>
          <p:cNvPr id="11" name="Picture Placeholder 10">
            <a:extLst>
              <a:ext uri="{FF2B5EF4-FFF2-40B4-BE49-F238E27FC236}">
                <a16:creationId xmlns:a16="http://schemas.microsoft.com/office/drawing/2014/main" id="{CF09E3D5-0BF5-4F95-91E2-61D40014EE96}"/>
              </a:ext>
            </a:extLst>
          </p:cNvPr>
          <p:cNvSpPr>
            <a:spLocks noGrp="1"/>
          </p:cNvSpPr>
          <p:nvPr>
            <p:ph type="pic" sz="quarter" idx="28"/>
          </p:nvPr>
        </p:nvSpPr>
        <p:spPr/>
        <p:txBody>
          <a:bodyPr/>
          <a:lstStyle/>
          <a:p>
            <a:endParaRPr lang="en-US"/>
          </a:p>
        </p:txBody>
      </p:sp>
      <p:sp>
        <p:nvSpPr>
          <p:cNvPr id="12" name="Picture Placeholder 11">
            <a:extLst>
              <a:ext uri="{FF2B5EF4-FFF2-40B4-BE49-F238E27FC236}">
                <a16:creationId xmlns:a16="http://schemas.microsoft.com/office/drawing/2014/main" id="{922F6169-F000-CF2E-3926-BC4CB9256268}"/>
              </a:ext>
            </a:extLst>
          </p:cNvPr>
          <p:cNvSpPr>
            <a:spLocks noGrp="1"/>
          </p:cNvSpPr>
          <p:nvPr>
            <p:ph type="pic" sz="quarter" idx="29"/>
          </p:nvPr>
        </p:nvSpPr>
        <p:spPr/>
        <p:txBody>
          <a:bodyPr/>
          <a:lstStyle/>
          <a:p>
            <a:endParaRPr lang="en-US"/>
          </a:p>
        </p:txBody>
      </p:sp>
      <p:sp>
        <p:nvSpPr>
          <p:cNvPr id="13" name="Text Placeholder 12">
            <a:extLst>
              <a:ext uri="{FF2B5EF4-FFF2-40B4-BE49-F238E27FC236}">
                <a16:creationId xmlns:a16="http://schemas.microsoft.com/office/drawing/2014/main" id="{BD2AF6E5-EC47-1805-663F-8C419B154A82}"/>
              </a:ext>
            </a:extLst>
          </p:cNvPr>
          <p:cNvSpPr>
            <a:spLocks noGrp="1"/>
          </p:cNvSpPr>
          <p:nvPr>
            <p:ph type="body" sz="quarter" idx="30"/>
          </p:nvPr>
        </p:nvSpPr>
        <p:spPr/>
        <p:txBody>
          <a:bodyPr/>
          <a:lstStyle/>
          <a:p>
            <a:endParaRPr lang="en-US"/>
          </a:p>
        </p:txBody>
      </p:sp>
      <p:sp>
        <p:nvSpPr>
          <p:cNvPr id="14" name="Text Placeholder 13">
            <a:extLst>
              <a:ext uri="{FF2B5EF4-FFF2-40B4-BE49-F238E27FC236}">
                <a16:creationId xmlns:a16="http://schemas.microsoft.com/office/drawing/2014/main" id="{2E5A994F-09DC-59C7-1C55-F741867ED60B}"/>
              </a:ext>
            </a:extLst>
          </p:cNvPr>
          <p:cNvSpPr>
            <a:spLocks noGrp="1"/>
          </p:cNvSpPr>
          <p:nvPr>
            <p:ph type="body" sz="quarter" idx="31"/>
          </p:nvPr>
        </p:nvSpPr>
        <p:spPr/>
        <p:txBody>
          <a:bodyPr/>
          <a:lstStyle/>
          <a:p>
            <a:endParaRPr lang="en-US"/>
          </a:p>
        </p:txBody>
      </p:sp>
      <p:sp>
        <p:nvSpPr>
          <p:cNvPr id="15" name="Text Placeholder 14">
            <a:extLst>
              <a:ext uri="{FF2B5EF4-FFF2-40B4-BE49-F238E27FC236}">
                <a16:creationId xmlns:a16="http://schemas.microsoft.com/office/drawing/2014/main" id="{71965CD8-4A58-7B9C-E24A-98CFD44F4230}"/>
              </a:ext>
            </a:extLst>
          </p:cNvPr>
          <p:cNvSpPr>
            <a:spLocks noGrp="1"/>
          </p:cNvSpPr>
          <p:nvPr>
            <p:ph type="body" sz="quarter" idx="32"/>
          </p:nvPr>
        </p:nvSpPr>
        <p:spPr/>
        <p:txBody>
          <a:bodyPr/>
          <a:lstStyle/>
          <a:p>
            <a:endParaRPr lang="en-US"/>
          </a:p>
        </p:txBody>
      </p:sp>
      <p:sp>
        <p:nvSpPr>
          <p:cNvPr id="16" name="Text Placeholder 15">
            <a:extLst>
              <a:ext uri="{FF2B5EF4-FFF2-40B4-BE49-F238E27FC236}">
                <a16:creationId xmlns:a16="http://schemas.microsoft.com/office/drawing/2014/main" id="{DC680717-CEA1-49FE-0E22-B040EA5ACABC}"/>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31988EBB-DC7C-CBBE-41F5-3B6A97EFBEE7}"/>
              </a:ext>
            </a:extLst>
          </p:cNvPr>
          <p:cNvSpPr>
            <a:spLocks noGrp="1"/>
          </p:cNvSpPr>
          <p:nvPr>
            <p:ph type="body" sz="quarter" idx="34"/>
          </p:nvPr>
        </p:nvSpPr>
        <p:spPr/>
        <p:txBody>
          <a:bodyPr/>
          <a:lstStyle/>
          <a:p>
            <a:endParaRPr lang="en-US"/>
          </a:p>
        </p:txBody>
      </p:sp>
      <p:sp>
        <p:nvSpPr>
          <p:cNvPr id="18" name="Text Placeholder 17">
            <a:extLst>
              <a:ext uri="{FF2B5EF4-FFF2-40B4-BE49-F238E27FC236}">
                <a16:creationId xmlns:a16="http://schemas.microsoft.com/office/drawing/2014/main" id="{EFF7631C-86D9-4C00-8B29-674D29F9B031}"/>
              </a:ext>
            </a:extLst>
          </p:cNvPr>
          <p:cNvSpPr>
            <a:spLocks noGrp="1"/>
          </p:cNvSpPr>
          <p:nvPr>
            <p:ph type="body" sz="quarter" idx="35"/>
          </p:nvPr>
        </p:nvSpPr>
        <p:spPr/>
        <p:txBody>
          <a:bodyPr/>
          <a:lstStyle/>
          <a:p>
            <a:endParaRPr lang="en-US"/>
          </a:p>
        </p:txBody>
      </p:sp>
      <p:sp>
        <p:nvSpPr>
          <p:cNvPr id="19" name="Picture Placeholder 18">
            <a:extLst>
              <a:ext uri="{FF2B5EF4-FFF2-40B4-BE49-F238E27FC236}">
                <a16:creationId xmlns:a16="http://schemas.microsoft.com/office/drawing/2014/main" id="{264B3191-7693-8005-4560-A583C7FDE0F2}"/>
              </a:ext>
            </a:extLst>
          </p:cNvPr>
          <p:cNvSpPr>
            <a:spLocks noGrp="1"/>
          </p:cNvSpPr>
          <p:nvPr>
            <p:ph type="pic" sz="quarter" idx="36"/>
          </p:nvPr>
        </p:nvSpPr>
        <p:spPr/>
        <p:txBody>
          <a:bodyPr/>
          <a:lstStyle/>
          <a:p>
            <a:endParaRPr lang="en-US"/>
          </a:p>
        </p:txBody>
      </p:sp>
      <p:sp>
        <p:nvSpPr>
          <p:cNvPr id="20" name="Picture Placeholder 19">
            <a:extLst>
              <a:ext uri="{FF2B5EF4-FFF2-40B4-BE49-F238E27FC236}">
                <a16:creationId xmlns:a16="http://schemas.microsoft.com/office/drawing/2014/main" id="{379389F8-BA30-C086-9155-CCDE79355038}"/>
              </a:ext>
            </a:extLst>
          </p:cNvPr>
          <p:cNvSpPr>
            <a:spLocks noGrp="1"/>
          </p:cNvSpPr>
          <p:nvPr>
            <p:ph type="pic" sz="quarter" idx="37"/>
          </p:nvPr>
        </p:nvSpPr>
        <p:spPr/>
        <p:txBody>
          <a:bodyPr/>
          <a:lstStyle/>
          <a:p>
            <a:endParaRPr lang="en-US"/>
          </a:p>
        </p:txBody>
      </p:sp>
      <p:grpSp>
        <p:nvGrpSpPr>
          <p:cNvPr id="21" name="Group 20">
            <a:extLst>
              <a:ext uri="{FF2B5EF4-FFF2-40B4-BE49-F238E27FC236}">
                <a16:creationId xmlns:a16="http://schemas.microsoft.com/office/drawing/2014/main" id="{8ABB834F-516B-EF28-E1C2-8EA18863D664}"/>
              </a:ext>
            </a:extLst>
          </p:cNvPr>
          <p:cNvGrpSpPr/>
          <p:nvPr/>
        </p:nvGrpSpPr>
        <p:grpSpPr>
          <a:xfrm>
            <a:off x="-2208139" y="0"/>
            <a:ext cx="2338441" cy="5143500"/>
            <a:chOff x="-2208139" y="0"/>
            <a:chExt cx="2338441" cy="5143500"/>
          </a:xfrm>
        </p:grpSpPr>
        <p:sp>
          <p:nvSpPr>
            <p:cNvPr id="22" name="Rectangle: Rounded Corners 21">
              <a:extLst>
                <a:ext uri="{FF2B5EF4-FFF2-40B4-BE49-F238E27FC236}">
                  <a16:creationId xmlns:a16="http://schemas.microsoft.com/office/drawing/2014/main" id="{57CC049D-6C1B-4E2F-7ED0-769495AB228A}"/>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07186CBD-9EC7-6430-4C39-EF1FFF224B91}"/>
                </a:ext>
              </a:extLst>
            </p:cNvPr>
            <p:cNvGrpSpPr/>
            <p:nvPr/>
          </p:nvGrpSpPr>
          <p:grpSpPr>
            <a:xfrm>
              <a:off x="-2208139" y="0"/>
              <a:ext cx="2018501" cy="5143500"/>
              <a:chOff x="-2208139" y="0"/>
              <a:chExt cx="2018501" cy="5143500"/>
            </a:xfrm>
          </p:grpSpPr>
          <p:sp>
            <p:nvSpPr>
              <p:cNvPr id="24" name="Rectangle: Rounded Corners 23">
                <a:extLst>
                  <a:ext uri="{FF2B5EF4-FFF2-40B4-BE49-F238E27FC236}">
                    <a16:creationId xmlns:a16="http://schemas.microsoft.com/office/drawing/2014/main" id="{270759B2-9A89-47D8-A1BD-D77909C9629F}"/>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5" name="TextBox 24">
                <a:extLst>
                  <a:ext uri="{FF2B5EF4-FFF2-40B4-BE49-F238E27FC236}">
                    <a16:creationId xmlns:a16="http://schemas.microsoft.com/office/drawing/2014/main" id="{2F54A17C-8AB7-3DF4-453D-50A4EB5612E9}"/>
                  </a:ext>
                </a:extLst>
              </p:cNvPr>
              <p:cNvSpPr txBox="1"/>
              <p:nvPr/>
            </p:nvSpPr>
            <p:spPr>
              <a:xfrm>
                <a:off x="-2081074" y="983848"/>
                <a:ext cx="1764368" cy="738664"/>
              </a:xfrm>
              <a:prstGeom prst="rect">
                <a:avLst/>
              </a:prstGeom>
              <a:solidFill>
                <a:schemeClr val="bg1"/>
              </a:solidFill>
              <a:ln w="3175">
                <a:solidFill>
                  <a:schemeClr val="accent6">
                    <a:lumMod val="10000"/>
                  </a:schemeClr>
                </a:solidFill>
              </a:ln>
            </p:spPr>
            <p:txBody>
              <a:bodyPr wrap="square" lIns="91440" rtlCol="0">
                <a:spAutoFit/>
              </a:bodyPr>
              <a:lstStyle/>
              <a:p>
                <a:r>
                  <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Have customer provide attendees and titles</a:t>
                </a:r>
              </a:p>
            </p:txBody>
          </p:sp>
          <p:sp>
            <p:nvSpPr>
              <p:cNvPr id="26" name="TextBox 25">
                <a:extLst>
                  <a:ext uri="{FF2B5EF4-FFF2-40B4-BE49-F238E27FC236}">
                    <a16:creationId xmlns:a16="http://schemas.microsoft.com/office/drawing/2014/main" id="{AE9E8F43-DA4F-1D5C-BC2E-955132B5AE3B}"/>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7" name="Group 26">
                <a:extLst>
                  <a:ext uri="{FF2B5EF4-FFF2-40B4-BE49-F238E27FC236}">
                    <a16:creationId xmlns:a16="http://schemas.microsoft.com/office/drawing/2014/main" id="{F0090574-4290-8F84-E1FF-6EB3104E5CDD}"/>
                  </a:ext>
                </a:extLst>
              </p:cNvPr>
              <p:cNvGrpSpPr/>
              <p:nvPr/>
            </p:nvGrpSpPr>
            <p:grpSpPr>
              <a:xfrm>
                <a:off x="-1913726" y="4862278"/>
                <a:ext cx="1537258" cy="215444"/>
                <a:chOff x="-1907058" y="4862278"/>
                <a:chExt cx="1537258" cy="215444"/>
              </a:xfrm>
            </p:grpSpPr>
            <p:sp>
              <p:nvSpPr>
                <p:cNvPr id="31" name="TextBox 30">
                  <a:extLst>
                    <a:ext uri="{FF2B5EF4-FFF2-40B4-BE49-F238E27FC236}">
                      <a16:creationId xmlns:a16="http://schemas.microsoft.com/office/drawing/2014/main" id="{1EB91D18-FE0B-813B-55DD-8F59FB39EDBA}"/>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2" name="Graphic 31" descr="Warning with solid fill">
                  <a:extLst>
                    <a:ext uri="{FF2B5EF4-FFF2-40B4-BE49-F238E27FC236}">
                      <a16:creationId xmlns:a16="http://schemas.microsoft.com/office/drawing/2014/main" id="{0190E8D1-8154-19FA-78FF-614D7782CE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28" name="Group 27">
                <a:extLst>
                  <a:ext uri="{FF2B5EF4-FFF2-40B4-BE49-F238E27FC236}">
                    <a16:creationId xmlns:a16="http://schemas.microsoft.com/office/drawing/2014/main" id="{DF6D3DC9-8E6E-5857-1DE5-BECC2CAE9CF8}"/>
                  </a:ext>
                </a:extLst>
              </p:cNvPr>
              <p:cNvGrpSpPr/>
              <p:nvPr/>
            </p:nvGrpSpPr>
            <p:grpSpPr>
              <a:xfrm>
                <a:off x="-1468837" y="0"/>
                <a:ext cx="539895" cy="539895"/>
                <a:chOff x="-1468837" y="0"/>
                <a:chExt cx="539895" cy="539895"/>
              </a:xfrm>
            </p:grpSpPr>
            <p:sp>
              <p:nvSpPr>
                <p:cNvPr id="29" name="Oval 28">
                  <a:extLst>
                    <a:ext uri="{FF2B5EF4-FFF2-40B4-BE49-F238E27FC236}">
                      <a16:creationId xmlns:a16="http://schemas.microsoft.com/office/drawing/2014/main" id="{E7CDDCE9-407A-DBD6-3BD6-BBC219AFAC7A}"/>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0" name="Graphic 29" descr="Target Audience with solid fill">
                  <a:extLst>
                    <a:ext uri="{FF2B5EF4-FFF2-40B4-BE49-F238E27FC236}">
                      <a16:creationId xmlns:a16="http://schemas.microsoft.com/office/drawing/2014/main" id="{0EAD0411-1219-C888-038B-3A20C4DDDBD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789914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DD8B1-667C-502C-7332-A376C0BA4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CBDB1-87D4-D3A6-A154-D024EE178055}"/>
              </a:ext>
            </a:extLst>
          </p:cNvPr>
          <p:cNvSpPr>
            <a:spLocks noGrp="1"/>
          </p:cNvSpPr>
          <p:nvPr>
            <p:ph type="title"/>
          </p:nvPr>
        </p:nvSpPr>
        <p:spPr>
          <a:xfrm>
            <a:off x="418255" y="344974"/>
            <a:ext cx="8153401" cy="338554"/>
          </a:xfrm>
        </p:spPr>
        <p:txBody>
          <a:bodyPr/>
          <a:lstStyle/>
          <a:p>
            <a:r>
              <a:rPr lang="en-US"/>
              <a:t>Introductions - Delivery Team</a:t>
            </a:r>
          </a:p>
        </p:txBody>
      </p:sp>
      <p:sp>
        <p:nvSpPr>
          <p:cNvPr id="3" name="Picture Placeholder 2">
            <a:extLst>
              <a:ext uri="{FF2B5EF4-FFF2-40B4-BE49-F238E27FC236}">
                <a16:creationId xmlns:a16="http://schemas.microsoft.com/office/drawing/2014/main" id="{D97DE4D4-D341-69F6-2D6D-856E5D4E67C3}"/>
              </a:ext>
            </a:extLst>
          </p:cNvPr>
          <p:cNvSpPr>
            <a:spLocks noGrp="1"/>
          </p:cNvSpPr>
          <p:nvPr>
            <p:ph type="pic" sz="quarter" idx="17"/>
          </p:nvPr>
        </p:nvSpPr>
        <p:spPr/>
        <p:txBody>
          <a:bodyPr/>
          <a:lstStyle/>
          <a:p>
            <a:endParaRPr lang="en-US"/>
          </a:p>
        </p:txBody>
      </p:sp>
      <p:sp>
        <p:nvSpPr>
          <p:cNvPr id="4" name="Text Placeholder 3">
            <a:extLst>
              <a:ext uri="{FF2B5EF4-FFF2-40B4-BE49-F238E27FC236}">
                <a16:creationId xmlns:a16="http://schemas.microsoft.com/office/drawing/2014/main" id="{2E46C845-B4FB-7189-40C1-F51F2072FEDD}"/>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B0DACEB8-E2D7-BB30-3EF3-B6357EF36905}"/>
              </a:ext>
            </a:extLst>
          </p:cNvPr>
          <p:cNvSpPr>
            <a:spLocks noGrp="1"/>
          </p:cNvSpPr>
          <p:nvPr>
            <p:ph type="body" sz="quarter" idx="22"/>
          </p:nvPr>
        </p:nvSpPr>
        <p:spPr/>
        <p:txBody>
          <a:bodyPr/>
          <a:lstStyle/>
          <a:p>
            <a:endParaRPr lang="en-US"/>
          </a:p>
        </p:txBody>
      </p:sp>
      <p:sp>
        <p:nvSpPr>
          <p:cNvPr id="6" name="Text Placeholder 5">
            <a:extLst>
              <a:ext uri="{FF2B5EF4-FFF2-40B4-BE49-F238E27FC236}">
                <a16:creationId xmlns:a16="http://schemas.microsoft.com/office/drawing/2014/main" id="{D768C848-C15D-4122-A4D6-2C2B5FEF039E}"/>
              </a:ext>
            </a:extLst>
          </p:cNvPr>
          <p:cNvSpPr>
            <a:spLocks noGrp="1"/>
          </p:cNvSpPr>
          <p:nvPr>
            <p:ph type="body" sz="quarter" idx="23"/>
          </p:nvPr>
        </p:nvSpPr>
        <p:spPr/>
        <p:txBody>
          <a:bodyPr/>
          <a:lstStyle/>
          <a:p>
            <a:endParaRPr lang="en-US"/>
          </a:p>
        </p:txBody>
      </p:sp>
      <p:sp>
        <p:nvSpPr>
          <p:cNvPr id="7" name="Text Placeholder 6">
            <a:extLst>
              <a:ext uri="{FF2B5EF4-FFF2-40B4-BE49-F238E27FC236}">
                <a16:creationId xmlns:a16="http://schemas.microsoft.com/office/drawing/2014/main" id="{7F845860-4356-2947-8DD1-7911F7C42EA5}"/>
              </a:ext>
            </a:extLst>
          </p:cNvPr>
          <p:cNvSpPr>
            <a:spLocks noGrp="1"/>
          </p:cNvSpPr>
          <p:nvPr>
            <p:ph type="body" sz="quarter" idx="24"/>
          </p:nvPr>
        </p:nvSpPr>
        <p:spPr/>
        <p:txBody>
          <a:bodyPr/>
          <a:lstStyle/>
          <a:p>
            <a:endParaRPr lang="en-US"/>
          </a:p>
        </p:txBody>
      </p:sp>
      <p:sp>
        <p:nvSpPr>
          <p:cNvPr id="8" name="Text Placeholder 7">
            <a:extLst>
              <a:ext uri="{FF2B5EF4-FFF2-40B4-BE49-F238E27FC236}">
                <a16:creationId xmlns:a16="http://schemas.microsoft.com/office/drawing/2014/main" id="{62207479-2E4C-7275-5FB0-509E173D3BCD}"/>
              </a:ext>
            </a:extLst>
          </p:cNvPr>
          <p:cNvSpPr>
            <a:spLocks noGrp="1"/>
          </p:cNvSpPr>
          <p:nvPr>
            <p:ph type="body" sz="quarter" idx="25"/>
          </p:nvPr>
        </p:nvSpPr>
        <p:spPr/>
        <p:txBody>
          <a:bodyPr/>
          <a:lstStyle/>
          <a:p>
            <a:endParaRPr lang="en-US"/>
          </a:p>
        </p:txBody>
      </p:sp>
      <p:sp>
        <p:nvSpPr>
          <p:cNvPr id="9" name="Text Placeholder 8">
            <a:extLst>
              <a:ext uri="{FF2B5EF4-FFF2-40B4-BE49-F238E27FC236}">
                <a16:creationId xmlns:a16="http://schemas.microsoft.com/office/drawing/2014/main" id="{E81DBC0C-F3D8-6A4A-1F72-F696E41B5550}"/>
              </a:ext>
            </a:extLst>
          </p:cNvPr>
          <p:cNvSpPr>
            <a:spLocks noGrp="1"/>
          </p:cNvSpPr>
          <p:nvPr>
            <p:ph type="body" sz="quarter" idx="26"/>
          </p:nvPr>
        </p:nvSpPr>
        <p:spPr/>
        <p:txBody>
          <a:bodyPr/>
          <a:lstStyle/>
          <a:p>
            <a:endParaRPr lang="en-US"/>
          </a:p>
        </p:txBody>
      </p:sp>
      <p:sp>
        <p:nvSpPr>
          <p:cNvPr id="10" name="Picture Placeholder 9">
            <a:extLst>
              <a:ext uri="{FF2B5EF4-FFF2-40B4-BE49-F238E27FC236}">
                <a16:creationId xmlns:a16="http://schemas.microsoft.com/office/drawing/2014/main" id="{273E06D8-2398-9DB3-9F40-F330ED8EF3A7}"/>
              </a:ext>
            </a:extLst>
          </p:cNvPr>
          <p:cNvSpPr>
            <a:spLocks noGrp="1"/>
          </p:cNvSpPr>
          <p:nvPr>
            <p:ph type="pic" sz="quarter" idx="27"/>
          </p:nvPr>
        </p:nvSpPr>
        <p:spPr/>
        <p:txBody>
          <a:bodyPr/>
          <a:lstStyle/>
          <a:p>
            <a:endParaRPr lang="en-US"/>
          </a:p>
        </p:txBody>
      </p:sp>
      <p:sp>
        <p:nvSpPr>
          <p:cNvPr id="11" name="Picture Placeholder 10">
            <a:extLst>
              <a:ext uri="{FF2B5EF4-FFF2-40B4-BE49-F238E27FC236}">
                <a16:creationId xmlns:a16="http://schemas.microsoft.com/office/drawing/2014/main" id="{9D93585F-8683-1FC2-EB00-65285D6D1B3E}"/>
              </a:ext>
            </a:extLst>
          </p:cNvPr>
          <p:cNvSpPr>
            <a:spLocks noGrp="1"/>
          </p:cNvSpPr>
          <p:nvPr>
            <p:ph type="pic" sz="quarter" idx="28"/>
          </p:nvPr>
        </p:nvSpPr>
        <p:spPr/>
        <p:txBody>
          <a:bodyPr/>
          <a:lstStyle/>
          <a:p>
            <a:endParaRPr lang="en-US"/>
          </a:p>
        </p:txBody>
      </p:sp>
      <p:sp>
        <p:nvSpPr>
          <p:cNvPr id="12" name="Picture Placeholder 11">
            <a:extLst>
              <a:ext uri="{FF2B5EF4-FFF2-40B4-BE49-F238E27FC236}">
                <a16:creationId xmlns:a16="http://schemas.microsoft.com/office/drawing/2014/main" id="{24E34077-2CF5-80CD-B658-A45CCDACE6DF}"/>
              </a:ext>
            </a:extLst>
          </p:cNvPr>
          <p:cNvSpPr>
            <a:spLocks noGrp="1"/>
          </p:cNvSpPr>
          <p:nvPr>
            <p:ph type="pic" sz="quarter" idx="29"/>
          </p:nvPr>
        </p:nvSpPr>
        <p:spPr/>
        <p:txBody>
          <a:bodyPr/>
          <a:lstStyle/>
          <a:p>
            <a:endParaRPr lang="en-US"/>
          </a:p>
        </p:txBody>
      </p:sp>
      <p:sp>
        <p:nvSpPr>
          <p:cNvPr id="13" name="Text Placeholder 12">
            <a:extLst>
              <a:ext uri="{FF2B5EF4-FFF2-40B4-BE49-F238E27FC236}">
                <a16:creationId xmlns:a16="http://schemas.microsoft.com/office/drawing/2014/main" id="{C9F7A9D5-75E2-C4AB-5F5D-BE4FA8C4AB1F}"/>
              </a:ext>
            </a:extLst>
          </p:cNvPr>
          <p:cNvSpPr>
            <a:spLocks noGrp="1"/>
          </p:cNvSpPr>
          <p:nvPr>
            <p:ph type="body" sz="quarter" idx="30"/>
          </p:nvPr>
        </p:nvSpPr>
        <p:spPr/>
        <p:txBody>
          <a:bodyPr/>
          <a:lstStyle/>
          <a:p>
            <a:endParaRPr lang="en-US"/>
          </a:p>
        </p:txBody>
      </p:sp>
      <p:sp>
        <p:nvSpPr>
          <p:cNvPr id="14" name="Text Placeholder 13">
            <a:extLst>
              <a:ext uri="{FF2B5EF4-FFF2-40B4-BE49-F238E27FC236}">
                <a16:creationId xmlns:a16="http://schemas.microsoft.com/office/drawing/2014/main" id="{0EC6C34C-D0DD-AA10-85F6-AA1DDB31D8B6}"/>
              </a:ext>
            </a:extLst>
          </p:cNvPr>
          <p:cNvSpPr>
            <a:spLocks noGrp="1"/>
          </p:cNvSpPr>
          <p:nvPr>
            <p:ph type="body" sz="quarter" idx="31"/>
          </p:nvPr>
        </p:nvSpPr>
        <p:spPr/>
        <p:txBody>
          <a:bodyPr/>
          <a:lstStyle/>
          <a:p>
            <a:endParaRPr lang="en-US"/>
          </a:p>
        </p:txBody>
      </p:sp>
      <p:sp>
        <p:nvSpPr>
          <p:cNvPr id="15" name="Text Placeholder 14">
            <a:extLst>
              <a:ext uri="{FF2B5EF4-FFF2-40B4-BE49-F238E27FC236}">
                <a16:creationId xmlns:a16="http://schemas.microsoft.com/office/drawing/2014/main" id="{8CE2C9A3-CCEF-1D5C-1EA6-302162298392}"/>
              </a:ext>
            </a:extLst>
          </p:cNvPr>
          <p:cNvSpPr>
            <a:spLocks noGrp="1"/>
          </p:cNvSpPr>
          <p:nvPr>
            <p:ph type="body" sz="quarter" idx="32"/>
          </p:nvPr>
        </p:nvSpPr>
        <p:spPr/>
        <p:txBody>
          <a:bodyPr/>
          <a:lstStyle/>
          <a:p>
            <a:endParaRPr lang="en-US"/>
          </a:p>
        </p:txBody>
      </p:sp>
      <p:sp>
        <p:nvSpPr>
          <p:cNvPr id="16" name="Text Placeholder 15">
            <a:extLst>
              <a:ext uri="{FF2B5EF4-FFF2-40B4-BE49-F238E27FC236}">
                <a16:creationId xmlns:a16="http://schemas.microsoft.com/office/drawing/2014/main" id="{242D2C4B-C03D-8509-AD7E-8ABC6EEA6950}"/>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6C129717-2854-23B6-DD6B-F558AD3E7589}"/>
              </a:ext>
            </a:extLst>
          </p:cNvPr>
          <p:cNvSpPr>
            <a:spLocks noGrp="1"/>
          </p:cNvSpPr>
          <p:nvPr>
            <p:ph type="body" sz="quarter" idx="34"/>
          </p:nvPr>
        </p:nvSpPr>
        <p:spPr/>
        <p:txBody>
          <a:bodyPr/>
          <a:lstStyle/>
          <a:p>
            <a:endParaRPr lang="en-US"/>
          </a:p>
        </p:txBody>
      </p:sp>
      <p:sp>
        <p:nvSpPr>
          <p:cNvPr id="18" name="Text Placeholder 17">
            <a:extLst>
              <a:ext uri="{FF2B5EF4-FFF2-40B4-BE49-F238E27FC236}">
                <a16:creationId xmlns:a16="http://schemas.microsoft.com/office/drawing/2014/main" id="{FFC1B711-B6A4-6CAC-9D16-6624299CD3FA}"/>
              </a:ext>
            </a:extLst>
          </p:cNvPr>
          <p:cNvSpPr>
            <a:spLocks noGrp="1"/>
          </p:cNvSpPr>
          <p:nvPr>
            <p:ph type="body" sz="quarter" idx="35"/>
          </p:nvPr>
        </p:nvSpPr>
        <p:spPr/>
        <p:txBody>
          <a:bodyPr/>
          <a:lstStyle/>
          <a:p>
            <a:endParaRPr lang="en-US"/>
          </a:p>
        </p:txBody>
      </p:sp>
      <p:sp>
        <p:nvSpPr>
          <p:cNvPr id="19" name="Picture Placeholder 18">
            <a:extLst>
              <a:ext uri="{FF2B5EF4-FFF2-40B4-BE49-F238E27FC236}">
                <a16:creationId xmlns:a16="http://schemas.microsoft.com/office/drawing/2014/main" id="{9C51E8C4-23BB-9866-4E37-DB3145C99122}"/>
              </a:ext>
            </a:extLst>
          </p:cNvPr>
          <p:cNvSpPr>
            <a:spLocks noGrp="1"/>
          </p:cNvSpPr>
          <p:nvPr>
            <p:ph type="pic" sz="quarter" idx="36"/>
          </p:nvPr>
        </p:nvSpPr>
        <p:spPr/>
        <p:txBody>
          <a:bodyPr/>
          <a:lstStyle/>
          <a:p>
            <a:endParaRPr lang="en-US"/>
          </a:p>
        </p:txBody>
      </p:sp>
      <p:sp>
        <p:nvSpPr>
          <p:cNvPr id="20" name="Picture Placeholder 19">
            <a:extLst>
              <a:ext uri="{FF2B5EF4-FFF2-40B4-BE49-F238E27FC236}">
                <a16:creationId xmlns:a16="http://schemas.microsoft.com/office/drawing/2014/main" id="{CED555AC-4B34-D68D-F710-560BA6455411}"/>
              </a:ext>
            </a:extLst>
          </p:cNvPr>
          <p:cNvSpPr>
            <a:spLocks noGrp="1"/>
          </p:cNvSpPr>
          <p:nvPr>
            <p:ph type="pic" sz="quarter" idx="37"/>
          </p:nvPr>
        </p:nvSpPr>
        <p:spPr/>
        <p:txBody>
          <a:bodyPr/>
          <a:lstStyle/>
          <a:p>
            <a:endParaRPr lang="en-US"/>
          </a:p>
        </p:txBody>
      </p:sp>
      <p:grpSp>
        <p:nvGrpSpPr>
          <p:cNvPr id="21" name="Group 20">
            <a:extLst>
              <a:ext uri="{FF2B5EF4-FFF2-40B4-BE49-F238E27FC236}">
                <a16:creationId xmlns:a16="http://schemas.microsoft.com/office/drawing/2014/main" id="{9B105CBE-2C52-1F64-90F4-E4837F73AEB2}"/>
              </a:ext>
            </a:extLst>
          </p:cNvPr>
          <p:cNvGrpSpPr/>
          <p:nvPr/>
        </p:nvGrpSpPr>
        <p:grpSpPr>
          <a:xfrm>
            <a:off x="-2208139" y="0"/>
            <a:ext cx="2338441" cy="5143500"/>
            <a:chOff x="-2208139" y="0"/>
            <a:chExt cx="2338441" cy="5143500"/>
          </a:xfrm>
        </p:grpSpPr>
        <p:sp>
          <p:nvSpPr>
            <p:cNvPr id="22" name="Rectangle: Rounded Corners 21">
              <a:extLst>
                <a:ext uri="{FF2B5EF4-FFF2-40B4-BE49-F238E27FC236}">
                  <a16:creationId xmlns:a16="http://schemas.microsoft.com/office/drawing/2014/main" id="{3E5CF110-013E-6AC1-97D3-3B9C795B2154}"/>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587CF15-D39B-6AF3-5C44-59C00E39FF88}"/>
                </a:ext>
              </a:extLst>
            </p:cNvPr>
            <p:cNvGrpSpPr/>
            <p:nvPr/>
          </p:nvGrpSpPr>
          <p:grpSpPr>
            <a:xfrm>
              <a:off x="-2208139" y="0"/>
              <a:ext cx="2018501" cy="5143500"/>
              <a:chOff x="-2208139" y="0"/>
              <a:chExt cx="2018501" cy="5143500"/>
            </a:xfrm>
          </p:grpSpPr>
          <p:sp>
            <p:nvSpPr>
              <p:cNvPr id="24" name="Rectangle: Rounded Corners 23">
                <a:extLst>
                  <a:ext uri="{FF2B5EF4-FFF2-40B4-BE49-F238E27FC236}">
                    <a16:creationId xmlns:a16="http://schemas.microsoft.com/office/drawing/2014/main" id="{0410A2F3-BAB1-070E-8E49-03E95A60CF84}"/>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5" name="TextBox 24">
                <a:extLst>
                  <a:ext uri="{FF2B5EF4-FFF2-40B4-BE49-F238E27FC236}">
                    <a16:creationId xmlns:a16="http://schemas.microsoft.com/office/drawing/2014/main" id="{0C2EAD3F-45CC-98C9-1A74-7D7499366B21}"/>
                  </a:ext>
                </a:extLst>
              </p:cNvPr>
              <p:cNvSpPr txBox="1"/>
              <p:nvPr/>
            </p:nvSpPr>
            <p:spPr>
              <a:xfrm>
                <a:off x="-2081074" y="983848"/>
                <a:ext cx="1764368" cy="523220"/>
              </a:xfrm>
              <a:prstGeom prst="rect">
                <a:avLst/>
              </a:prstGeom>
              <a:solidFill>
                <a:schemeClr val="bg1"/>
              </a:solidFill>
              <a:ln w="3175">
                <a:solidFill>
                  <a:schemeClr val="accent6">
                    <a:lumMod val="10000"/>
                  </a:schemeClr>
                </a:solidFill>
              </a:ln>
            </p:spPr>
            <p:txBody>
              <a:bodyPr wrap="square" lIns="91440" rtlCol="0">
                <a:spAutoFit/>
              </a:bodyPr>
              <a:lstStyle/>
              <a:p>
                <a:r>
                  <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PM to update with delivery team</a:t>
                </a:r>
              </a:p>
            </p:txBody>
          </p:sp>
          <p:sp>
            <p:nvSpPr>
              <p:cNvPr id="26" name="TextBox 25">
                <a:extLst>
                  <a:ext uri="{FF2B5EF4-FFF2-40B4-BE49-F238E27FC236}">
                    <a16:creationId xmlns:a16="http://schemas.microsoft.com/office/drawing/2014/main" id="{666CB737-B50A-635A-B404-2B30C05667E2}"/>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7" name="Group 26">
                <a:extLst>
                  <a:ext uri="{FF2B5EF4-FFF2-40B4-BE49-F238E27FC236}">
                    <a16:creationId xmlns:a16="http://schemas.microsoft.com/office/drawing/2014/main" id="{05D08E9D-DF56-B2FC-C121-FB79E1F30653}"/>
                  </a:ext>
                </a:extLst>
              </p:cNvPr>
              <p:cNvGrpSpPr/>
              <p:nvPr/>
            </p:nvGrpSpPr>
            <p:grpSpPr>
              <a:xfrm>
                <a:off x="-1913726" y="4862278"/>
                <a:ext cx="1537258" cy="215444"/>
                <a:chOff x="-1907058" y="4862278"/>
                <a:chExt cx="1537258" cy="215444"/>
              </a:xfrm>
            </p:grpSpPr>
            <p:sp>
              <p:nvSpPr>
                <p:cNvPr id="31" name="TextBox 30">
                  <a:extLst>
                    <a:ext uri="{FF2B5EF4-FFF2-40B4-BE49-F238E27FC236}">
                      <a16:creationId xmlns:a16="http://schemas.microsoft.com/office/drawing/2014/main" id="{36E8047A-2350-8F38-F971-E05E756FF480}"/>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2" name="Graphic 31" descr="Warning with solid fill">
                  <a:extLst>
                    <a:ext uri="{FF2B5EF4-FFF2-40B4-BE49-F238E27FC236}">
                      <a16:creationId xmlns:a16="http://schemas.microsoft.com/office/drawing/2014/main" id="{3C65A372-AFB4-9221-9F9C-81D7F48CCF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28" name="Group 27">
                <a:extLst>
                  <a:ext uri="{FF2B5EF4-FFF2-40B4-BE49-F238E27FC236}">
                    <a16:creationId xmlns:a16="http://schemas.microsoft.com/office/drawing/2014/main" id="{14592D2E-816D-A73B-B488-DBBD4BABDE34}"/>
                  </a:ext>
                </a:extLst>
              </p:cNvPr>
              <p:cNvGrpSpPr/>
              <p:nvPr/>
            </p:nvGrpSpPr>
            <p:grpSpPr>
              <a:xfrm>
                <a:off x="-1468837" y="0"/>
                <a:ext cx="539895" cy="539895"/>
                <a:chOff x="-1468837" y="0"/>
                <a:chExt cx="539895" cy="539895"/>
              </a:xfrm>
            </p:grpSpPr>
            <p:sp>
              <p:nvSpPr>
                <p:cNvPr id="29" name="Oval 28">
                  <a:extLst>
                    <a:ext uri="{FF2B5EF4-FFF2-40B4-BE49-F238E27FC236}">
                      <a16:creationId xmlns:a16="http://schemas.microsoft.com/office/drawing/2014/main" id="{39BC2387-3D09-FD79-C1C5-0DD65384DEE3}"/>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0" name="Graphic 29" descr="Target Audience with solid fill">
                  <a:extLst>
                    <a:ext uri="{FF2B5EF4-FFF2-40B4-BE49-F238E27FC236}">
                      <a16:creationId xmlns:a16="http://schemas.microsoft.com/office/drawing/2014/main" id="{40EDA261-3E5D-B333-BC17-069880EC06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689475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DF402-10D2-4BBF-58E1-A7273FA0E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B6AA8-1402-5516-FDD7-F7CBD175F0FF}"/>
              </a:ext>
            </a:extLst>
          </p:cNvPr>
          <p:cNvSpPr>
            <a:spLocks noGrp="1"/>
          </p:cNvSpPr>
          <p:nvPr>
            <p:ph type="title"/>
          </p:nvPr>
        </p:nvSpPr>
        <p:spPr/>
        <p:txBody>
          <a:bodyPr/>
          <a:lstStyle/>
          <a:p>
            <a:r>
              <a:rPr lang="en-US"/>
              <a:t>Project Objectives and Timeline</a:t>
            </a:r>
          </a:p>
        </p:txBody>
      </p:sp>
    </p:spTree>
    <p:custDataLst>
      <p:tags r:id="rId1"/>
    </p:custDataLst>
    <p:extLst>
      <p:ext uri="{BB962C8B-B14F-4D97-AF65-F5344CB8AC3E}">
        <p14:creationId xmlns:p14="http://schemas.microsoft.com/office/powerpoint/2010/main" val="241534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296F-72CF-6B04-A170-FD003DC3BF2E}"/>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289D7818-B6B2-8635-C30F-5D163A55AC20}"/>
              </a:ext>
            </a:extLst>
          </p:cNvPr>
          <p:cNvSpPr/>
          <p:nvPr/>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A9CF321C-E410-0089-60CE-D013019F4713}"/>
              </a:ext>
            </a:extLst>
          </p:cNvPr>
          <p:cNvSpPr/>
          <p:nvPr/>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2" name="Rounded Rectangle 1">
            <a:extLst>
              <a:ext uri="{FF2B5EF4-FFF2-40B4-BE49-F238E27FC236}">
                <a16:creationId xmlns:a16="http://schemas.microsoft.com/office/drawing/2014/main" id="{5C8D5612-292F-550C-4D85-8189B624F8E8}"/>
              </a:ext>
            </a:extLst>
          </p:cNvPr>
          <p:cNvSpPr/>
          <p:nvPr/>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13" name="Freeform 12">
            <a:extLst>
              <a:ext uri="{FF2B5EF4-FFF2-40B4-BE49-F238E27FC236}">
                <a16:creationId xmlns:a16="http://schemas.microsoft.com/office/drawing/2014/main" id="{611A6E8F-BAF6-AF22-A4B1-A49DC786C85E}"/>
              </a:ext>
            </a:extLst>
          </p:cNvPr>
          <p:cNvSpPr/>
          <p:nvPr/>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a:latin typeface="Arial" panose="020B0604020202020204" pitchFamily="34" charset="0"/>
            </a:endParaRPr>
          </a:p>
        </p:txBody>
      </p:sp>
      <p:sp>
        <p:nvSpPr>
          <p:cNvPr id="7" name="Text Placeholder 6">
            <a:extLst>
              <a:ext uri="{FF2B5EF4-FFF2-40B4-BE49-F238E27FC236}">
                <a16:creationId xmlns:a16="http://schemas.microsoft.com/office/drawing/2014/main" id="{6ABCD3F8-5C73-61A9-3BD9-79071016C853}"/>
              </a:ext>
            </a:extLst>
          </p:cNvPr>
          <p:cNvSpPr>
            <a:spLocks noGrp="1"/>
          </p:cNvSpPr>
          <p:nvPr>
            <p:ph type="body" sz="quarter" idx="41"/>
          </p:nvPr>
        </p:nvSpPr>
        <p:spPr>
          <a:xfrm>
            <a:off x="2185495" y="1228132"/>
            <a:ext cx="5623558" cy="1976489"/>
          </a:xfrm>
        </p:spPr>
        <p:txBody>
          <a:bodyPr/>
          <a:lstStyle/>
          <a:p>
            <a:r>
              <a:rPr lang="en-US"/>
              <a:t>Forword from the project sponsor.”</a:t>
            </a:r>
          </a:p>
        </p:txBody>
      </p:sp>
      <p:sp>
        <p:nvSpPr>
          <p:cNvPr id="9" name="Text Placeholder 8">
            <a:extLst>
              <a:ext uri="{FF2B5EF4-FFF2-40B4-BE49-F238E27FC236}">
                <a16:creationId xmlns:a16="http://schemas.microsoft.com/office/drawing/2014/main" id="{2EFC8F68-7E6B-E800-D084-92199AAD0DAA}"/>
              </a:ext>
            </a:extLst>
          </p:cNvPr>
          <p:cNvSpPr>
            <a:spLocks noGrp="1"/>
          </p:cNvSpPr>
          <p:nvPr>
            <p:ph type="body" sz="quarter" idx="10"/>
          </p:nvPr>
        </p:nvSpPr>
        <p:spPr>
          <a:xfrm>
            <a:off x="2193019" y="3374218"/>
            <a:ext cx="4098925" cy="281567"/>
          </a:xfrm>
        </p:spPr>
        <p:txBody>
          <a:bodyPr/>
          <a:lstStyle/>
          <a:p>
            <a:r>
              <a:rPr lang="en-US"/>
              <a:t>John Doe</a:t>
            </a:r>
          </a:p>
        </p:txBody>
      </p:sp>
      <p:sp>
        <p:nvSpPr>
          <p:cNvPr id="10" name="Text Placeholder 9">
            <a:extLst>
              <a:ext uri="{FF2B5EF4-FFF2-40B4-BE49-F238E27FC236}">
                <a16:creationId xmlns:a16="http://schemas.microsoft.com/office/drawing/2014/main" id="{3ACB9590-FD2A-4B45-438D-05ABD3AA6D7D}"/>
              </a:ext>
            </a:extLst>
          </p:cNvPr>
          <p:cNvSpPr>
            <a:spLocks noGrp="1"/>
          </p:cNvSpPr>
          <p:nvPr>
            <p:ph type="body" sz="quarter" idx="11"/>
          </p:nvPr>
        </p:nvSpPr>
        <p:spPr>
          <a:xfrm>
            <a:off x="2193019" y="3655786"/>
            <a:ext cx="4098925" cy="281567"/>
          </a:xfrm>
        </p:spPr>
        <p:txBody>
          <a:bodyPr/>
          <a:lstStyle/>
          <a:p>
            <a:r>
              <a:rPr lang="en-US"/>
              <a:t>Job Title, Company</a:t>
            </a:r>
          </a:p>
        </p:txBody>
      </p:sp>
      <p:grpSp>
        <p:nvGrpSpPr>
          <p:cNvPr id="3" name="Group 2">
            <a:extLst>
              <a:ext uri="{FF2B5EF4-FFF2-40B4-BE49-F238E27FC236}">
                <a16:creationId xmlns:a16="http://schemas.microsoft.com/office/drawing/2014/main" id="{81320B52-B020-FB08-C4C0-9BF8DF4C8C56}"/>
              </a:ext>
            </a:extLst>
          </p:cNvPr>
          <p:cNvGrpSpPr/>
          <p:nvPr/>
        </p:nvGrpSpPr>
        <p:grpSpPr>
          <a:xfrm>
            <a:off x="-2208139" y="0"/>
            <a:ext cx="2338441" cy="5143500"/>
            <a:chOff x="-2208139" y="0"/>
            <a:chExt cx="2338441" cy="5143500"/>
          </a:xfrm>
        </p:grpSpPr>
        <p:sp>
          <p:nvSpPr>
            <p:cNvPr id="6" name="Rectangle: Rounded Corners 5">
              <a:extLst>
                <a:ext uri="{FF2B5EF4-FFF2-40B4-BE49-F238E27FC236}">
                  <a16:creationId xmlns:a16="http://schemas.microsoft.com/office/drawing/2014/main" id="{6C6DB2C7-7F78-D340-7B37-AB709929D761}"/>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5AB8ACDA-4407-2CE2-6B5D-538F79F0ED25}"/>
                </a:ext>
              </a:extLst>
            </p:cNvPr>
            <p:cNvGrpSpPr/>
            <p:nvPr/>
          </p:nvGrpSpPr>
          <p:grpSpPr>
            <a:xfrm>
              <a:off x="-2208139" y="0"/>
              <a:ext cx="2018501" cy="5143500"/>
              <a:chOff x="-2208139" y="0"/>
              <a:chExt cx="2018501" cy="5143500"/>
            </a:xfrm>
          </p:grpSpPr>
          <p:sp>
            <p:nvSpPr>
              <p:cNvPr id="11" name="Rectangle: Rounded Corners 10">
                <a:extLst>
                  <a:ext uri="{FF2B5EF4-FFF2-40B4-BE49-F238E27FC236}">
                    <a16:creationId xmlns:a16="http://schemas.microsoft.com/office/drawing/2014/main" id="{481048C8-AAD1-C399-A6C4-F6D886EFAD25}"/>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2" name="TextBox 11">
                <a:extLst>
                  <a:ext uri="{FF2B5EF4-FFF2-40B4-BE49-F238E27FC236}">
                    <a16:creationId xmlns:a16="http://schemas.microsoft.com/office/drawing/2014/main" id="{6CF6C83C-A9DF-CDCF-4C4D-C721B96F8ADF}"/>
                  </a:ext>
                </a:extLst>
              </p:cNvPr>
              <p:cNvSpPr txBox="1"/>
              <p:nvPr/>
            </p:nvSpPr>
            <p:spPr>
              <a:xfrm>
                <a:off x="-2081074" y="983848"/>
                <a:ext cx="1764368" cy="1815882"/>
              </a:xfrm>
              <a:prstGeom prst="rect">
                <a:avLst/>
              </a:prstGeom>
              <a:solidFill>
                <a:schemeClr val="bg1"/>
              </a:solidFill>
              <a:ln w="3175">
                <a:solidFill>
                  <a:schemeClr val="accent6">
                    <a:lumMod val="10000"/>
                  </a:schemeClr>
                </a:solidFill>
              </a:ln>
            </p:spPr>
            <p:txBody>
              <a:bodyPr wrap="square" lIns="91440" rtlCol="0">
                <a:spAutoFit/>
              </a:bodyPr>
              <a:lstStyle/>
              <a:p>
                <a:r>
                  <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If a Sponsor is present, ask them to speak for a few minutes on project goals. If not, capture and share a Sponsor quote with the team.</a:t>
                </a:r>
              </a:p>
            </p:txBody>
          </p:sp>
          <p:sp>
            <p:nvSpPr>
              <p:cNvPr id="14" name="TextBox 13">
                <a:extLst>
                  <a:ext uri="{FF2B5EF4-FFF2-40B4-BE49-F238E27FC236}">
                    <a16:creationId xmlns:a16="http://schemas.microsoft.com/office/drawing/2014/main" id="{CF2F59ED-B6FA-FB8C-7977-ED182ADDDBD2}"/>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5" name="Group 14">
                <a:extLst>
                  <a:ext uri="{FF2B5EF4-FFF2-40B4-BE49-F238E27FC236}">
                    <a16:creationId xmlns:a16="http://schemas.microsoft.com/office/drawing/2014/main" id="{9D576071-F97A-1DEA-9375-2736C9BBD2CB}"/>
                  </a:ext>
                </a:extLst>
              </p:cNvPr>
              <p:cNvGrpSpPr/>
              <p:nvPr/>
            </p:nvGrpSpPr>
            <p:grpSpPr>
              <a:xfrm>
                <a:off x="-1913726" y="4862278"/>
                <a:ext cx="1537258" cy="215444"/>
                <a:chOff x="-1907058" y="4862278"/>
                <a:chExt cx="1537258" cy="215444"/>
              </a:xfrm>
            </p:grpSpPr>
            <p:sp>
              <p:nvSpPr>
                <p:cNvPr id="19" name="TextBox 18">
                  <a:extLst>
                    <a:ext uri="{FF2B5EF4-FFF2-40B4-BE49-F238E27FC236}">
                      <a16:creationId xmlns:a16="http://schemas.microsoft.com/office/drawing/2014/main" id="{072FC219-6C23-1C0B-3D3D-D70027585F7D}"/>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20" name="Graphic 19" descr="Warning with solid fill">
                  <a:extLst>
                    <a:ext uri="{FF2B5EF4-FFF2-40B4-BE49-F238E27FC236}">
                      <a16:creationId xmlns:a16="http://schemas.microsoft.com/office/drawing/2014/main" id="{5C15DC99-D954-CEE4-233B-5F902A4FA1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16" name="Group 15">
                <a:extLst>
                  <a:ext uri="{FF2B5EF4-FFF2-40B4-BE49-F238E27FC236}">
                    <a16:creationId xmlns:a16="http://schemas.microsoft.com/office/drawing/2014/main" id="{29E9F2FB-9CD2-9FBE-A78C-21F5399D24FD}"/>
                  </a:ext>
                </a:extLst>
              </p:cNvPr>
              <p:cNvGrpSpPr/>
              <p:nvPr/>
            </p:nvGrpSpPr>
            <p:grpSpPr>
              <a:xfrm>
                <a:off x="-1468837" y="0"/>
                <a:ext cx="539895" cy="539895"/>
                <a:chOff x="-1468837" y="0"/>
                <a:chExt cx="539895" cy="539895"/>
              </a:xfrm>
            </p:grpSpPr>
            <p:sp>
              <p:nvSpPr>
                <p:cNvPr id="17" name="Oval 16">
                  <a:extLst>
                    <a:ext uri="{FF2B5EF4-FFF2-40B4-BE49-F238E27FC236}">
                      <a16:creationId xmlns:a16="http://schemas.microsoft.com/office/drawing/2014/main" id="{712AFFF2-F90F-4AE7-946E-D7FEA2478D0E}"/>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8" name="Graphic 17" descr="Target Audience with solid fill">
                  <a:extLst>
                    <a:ext uri="{FF2B5EF4-FFF2-40B4-BE49-F238E27FC236}">
                      <a16:creationId xmlns:a16="http://schemas.microsoft.com/office/drawing/2014/main" id="{C595832A-C2C5-970E-6133-0A334E84552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2630119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DA4CAFD7-F09F-818D-8E32-2360A79140D3}"/>
              </a:ext>
            </a:extLst>
          </p:cNvPr>
          <p:cNvGrpSpPr/>
          <p:nvPr/>
        </p:nvGrpSpPr>
        <p:grpSpPr>
          <a:xfrm>
            <a:off x="6045052" y="1148592"/>
            <a:ext cx="489957" cy="431792"/>
            <a:chOff x="495032" y="3221820"/>
            <a:chExt cx="611550" cy="538950"/>
          </a:xfrm>
        </p:grpSpPr>
        <p:grpSp>
          <p:nvGrpSpPr>
            <p:cNvPr id="44" name="Group 43">
              <a:extLst>
                <a:ext uri="{FF2B5EF4-FFF2-40B4-BE49-F238E27FC236}">
                  <a16:creationId xmlns:a16="http://schemas.microsoft.com/office/drawing/2014/main" id="{0392368D-F53D-E8BC-B8F4-8C95B6229A42}"/>
                </a:ext>
              </a:extLst>
            </p:cNvPr>
            <p:cNvGrpSpPr/>
            <p:nvPr/>
          </p:nvGrpSpPr>
          <p:grpSpPr>
            <a:xfrm>
              <a:off x="495032" y="3221820"/>
              <a:ext cx="611550" cy="538950"/>
              <a:chOff x="4020647" y="1836179"/>
              <a:chExt cx="429759" cy="378740"/>
            </a:xfrm>
          </p:grpSpPr>
          <p:grpSp>
            <p:nvGrpSpPr>
              <p:cNvPr id="46" name="Graphic 63">
                <a:extLst>
                  <a:ext uri="{FF2B5EF4-FFF2-40B4-BE49-F238E27FC236}">
                    <a16:creationId xmlns:a16="http://schemas.microsoft.com/office/drawing/2014/main" id="{40D11F07-834E-B241-9FDD-C07B8AE1546E}"/>
                  </a:ext>
                </a:extLst>
              </p:cNvPr>
              <p:cNvGrpSpPr/>
              <p:nvPr/>
            </p:nvGrpSpPr>
            <p:grpSpPr>
              <a:xfrm>
                <a:off x="4192889" y="1949995"/>
                <a:ext cx="257517" cy="264924"/>
                <a:chOff x="4192889" y="1949995"/>
                <a:chExt cx="257517" cy="264924"/>
              </a:xfrm>
            </p:grpSpPr>
            <p:sp>
              <p:nvSpPr>
                <p:cNvPr id="51" name="Freeform 26">
                  <a:extLst>
                    <a:ext uri="{FF2B5EF4-FFF2-40B4-BE49-F238E27FC236}">
                      <a16:creationId xmlns:a16="http://schemas.microsoft.com/office/drawing/2014/main" id="{74C0C2D5-27BD-6DD5-D78B-9D2B79A6F117}"/>
                    </a:ext>
                  </a:extLst>
                </p:cNvPr>
                <p:cNvSpPr/>
                <p:nvPr/>
              </p:nvSpPr>
              <p:spPr>
                <a:xfrm>
                  <a:off x="4275871" y="1997521"/>
                  <a:ext cx="125775" cy="37292"/>
                </a:xfrm>
                <a:custGeom>
                  <a:avLst/>
                  <a:gdLst>
                    <a:gd name="connsiteX0" fmla="*/ 0 w 125775"/>
                    <a:gd name="connsiteY0" fmla="*/ 36690 h 37292"/>
                    <a:gd name="connsiteX1" fmla="*/ 77290 w 125775"/>
                    <a:gd name="connsiteY1" fmla="*/ 0 h 37292"/>
                    <a:gd name="connsiteX2" fmla="*/ 125776 w 125775"/>
                    <a:gd name="connsiteY2" fmla="*/ 36416 h 37292"/>
                  </a:gdLst>
                  <a:ahLst/>
                  <a:cxnLst>
                    <a:cxn ang="0">
                      <a:pos x="connsiteX0" y="connsiteY0"/>
                    </a:cxn>
                    <a:cxn ang="0">
                      <a:pos x="connsiteX1" y="connsiteY1"/>
                    </a:cxn>
                    <a:cxn ang="0">
                      <a:pos x="connsiteX2" y="connsiteY2"/>
                    </a:cxn>
                  </a:cxnLst>
                  <a:rect l="l" t="t" r="r" b="b"/>
                  <a:pathLst>
                    <a:path w="125775" h="37292">
                      <a:moveTo>
                        <a:pt x="0" y="36690"/>
                      </a:moveTo>
                      <a:cubicBezTo>
                        <a:pt x="0" y="36690"/>
                        <a:pt x="58910" y="44988"/>
                        <a:pt x="77290" y="0"/>
                      </a:cubicBezTo>
                      <a:cubicBezTo>
                        <a:pt x="77290" y="0"/>
                        <a:pt x="96972" y="36416"/>
                        <a:pt x="125776" y="36416"/>
                      </a:cubicBezTo>
                    </a:path>
                  </a:pathLst>
                </a:custGeom>
                <a:noFill/>
                <a:ln w="19050" cap="flat">
                  <a:solidFill>
                    <a:schemeClr val="tx2"/>
                  </a:solidFill>
                  <a:prstDash val="solid"/>
                  <a:round/>
                </a:ln>
              </p:spPr>
              <p:txBody>
                <a:bodyPr rtlCol="0" anchor="ctr"/>
                <a:lstStyle/>
                <a:p>
                  <a:endParaRPr lang="en-US"/>
                </a:p>
              </p:txBody>
            </p:sp>
            <p:sp>
              <p:nvSpPr>
                <p:cNvPr id="52" name="Freeform 27">
                  <a:extLst>
                    <a:ext uri="{FF2B5EF4-FFF2-40B4-BE49-F238E27FC236}">
                      <a16:creationId xmlns:a16="http://schemas.microsoft.com/office/drawing/2014/main" id="{13626939-D2CD-090E-9147-2C8CD102E7AD}"/>
                    </a:ext>
                  </a:extLst>
                </p:cNvPr>
                <p:cNvSpPr/>
                <p:nvPr/>
              </p:nvSpPr>
              <p:spPr>
                <a:xfrm>
                  <a:off x="4192889" y="2144008"/>
                  <a:ext cx="84223" cy="70911"/>
                </a:xfrm>
                <a:custGeom>
                  <a:avLst/>
                  <a:gdLst>
                    <a:gd name="connsiteX0" fmla="*/ 84216 w 84223"/>
                    <a:gd name="connsiteY0" fmla="*/ 0 h 70911"/>
                    <a:gd name="connsiteX1" fmla="*/ 84216 w 84223"/>
                    <a:gd name="connsiteY1" fmla="*/ 34290 h 70911"/>
                    <a:gd name="connsiteX2" fmla="*/ 0 w 84223"/>
                    <a:gd name="connsiteY2" fmla="*/ 70912 h 70911"/>
                  </a:gdLst>
                  <a:ahLst/>
                  <a:cxnLst>
                    <a:cxn ang="0">
                      <a:pos x="connsiteX0" y="connsiteY0"/>
                    </a:cxn>
                    <a:cxn ang="0">
                      <a:pos x="connsiteX1" y="connsiteY1"/>
                    </a:cxn>
                    <a:cxn ang="0">
                      <a:pos x="connsiteX2" y="connsiteY2"/>
                    </a:cxn>
                  </a:cxnLst>
                  <a:rect l="l" t="t" r="r" b="b"/>
                  <a:pathLst>
                    <a:path w="84223" h="70911">
                      <a:moveTo>
                        <a:pt x="84216" y="0"/>
                      </a:moveTo>
                      <a:lnTo>
                        <a:pt x="84216" y="34290"/>
                      </a:lnTo>
                      <a:cubicBezTo>
                        <a:pt x="84216" y="34290"/>
                        <a:pt x="86685" y="48898"/>
                        <a:pt x="0" y="70912"/>
                      </a:cubicBezTo>
                    </a:path>
                  </a:pathLst>
                </a:custGeom>
                <a:noFill/>
                <a:ln w="19050" cap="flat">
                  <a:solidFill>
                    <a:schemeClr val="tx2"/>
                  </a:solidFill>
                  <a:prstDash val="solid"/>
                  <a:round/>
                </a:ln>
              </p:spPr>
              <p:txBody>
                <a:bodyPr rtlCol="0" anchor="ctr"/>
                <a:lstStyle/>
                <a:p>
                  <a:endParaRPr lang="en-US"/>
                </a:p>
              </p:txBody>
            </p:sp>
            <p:sp>
              <p:nvSpPr>
                <p:cNvPr id="53" name="Freeform 28">
                  <a:extLst>
                    <a:ext uri="{FF2B5EF4-FFF2-40B4-BE49-F238E27FC236}">
                      <a16:creationId xmlns:a16="http://schemas.microsoft.com/office/drawing/2014/main" id="{07440A64-1CC0-E518-CDE3-D35874CB23FA}"/>
                    </a:ext>
                  </a:extLst>
                </p:cNvPr>
                <p:cNvSpPr/>
                <p:nvPr/>
              </p:nvSpPr>
              <p:spPr>
                <a:xfrm>
                  <a:off x="4366252" y="2144008"/>
                  <a:ext cx="84154" cy="70911"/>
                </a:xfrm>
                <a:custGeom>
                  <a:avLst/>
                  <a:gdLst>
                    <a:gd name="connsiteX0" fmla="*/ 7 w 84154"/>
                    <a:gd name="connsiteY0" fmla="*/ 0 h 70911"/>
                    <a:gd name="connsiteX1" fmla="*/ 7 w 84154"/>
                    <a:gd name="connsiteY1" fmla="*/ 34290 h 70911"/>
                    <a:gd name="connsiteX2" fmla="*/ 84155 w 84154"/>
                    <a:gd name="connsiteY2" fmla="*/ 70912 h 70911"/>
                  </a:gdLst>
                  <a:ahLst/>
                  <a:cxnLst>
                    <a:cxn ang="0">
                      <a:pos x="connsiteX0" y="connsiteY0"/>
                    </a:cxn>
                    <a:cxn ang="0">
                      <a:pos x="connsiteX1" y="connsiteY1"/>
                    </a:cxn>
                    <a:cxn ang="0">
                      <a:pos x="connsiteX2" y="connsiteY2"/>
                    </a:cxn>
                  </a:cxnLst>
                  <a:rect l="l" t="t" r="r" b="b"/>
                  <a:pathLst>
                    <a:path w="84154" h="70911">
                      <a:moveTo>
                        <a:pt x="7" y="0"/>
                      </a:moveTo>
                      <a:cubicBezTo>
                        <a:pt x="7" y="10767"/>
                        <a:pt x="7" y="34290"/>
                        <a:pt x="7" y="34290"/>
                      </a:cubicBezTo>
                      <a:cubicBezTo>
                        <a:pt x="7" y="34290"/>
                        <a:pt x="-2462" y="48898"/>
                        <a:pt x="84155" y="70912"/>
                      </a:cubicBezTo>
                    </a:path>
                  </a:pathLst>
                </a:custGeom>
                <a:noFill/>
                <a:ln w="19050" cap="flat">
                  <a:solidFill>
                    <a:schemeClr val="tx2"/>
                  </a:solidFill>
                  <a:prstDash val="solid"/>
                  <a:round/>
                </a:ln>
              </p:spPr>
              <p:txBody>
                <a:bodyPr rtlCol="0" anchor="ctr"/>
                <a:lstStyle/>
                <a:p>
                  <a:endParaRPr lang="en-US"/>
                </a:p>
              </p:txBody>
            </p:sp>
            <p:sp>
              <p:nvSpPr>
                <p:cNvPr id="54" name="Freeform 29">
                  <a:extLst>
                    <a:ext uri="{FF2B5EF4-FFF2-40B4-BE49-F238E27FC236}">
                      <a16:creationId xmlns:a16="http://schemas.microsoft.com/office/drawing/2014/main" id="{7D043392-1DDC-58E9-60FA-03F122FFE90B}"/>
                    </a:ext>
                  </a:extLst>
                </p:cNvPr>
                <p:cNvSpPr/>
                <p:nvPr/>
              </p:nvSpPr>
              <p:spPr>
                <a:xfrm>
                  <a:off x="4239679" y="1949995"/>
                  <a:ext cx="163979" cy="199293"/>
                </a:xfrm>
                <a:custGeom>
                  <a:avLst/>
                  <a:gdLst>
                    <a:gd name="connsiteX0" fmla="*/ 108887 w 163979"/>
                    <a:gd name="connsiteY0" fmla="*/ 199293 h 199293"/>
                    <a:gd name="connsiteX1" fmla="*/ 126581 w 163979"/>
                    <a:gd name="connsiteY1" fmla="*/ 191270 h 199293"/>
                    <a:gd name="connsiteX2" fmla="*/ 162517 w 163979"/>
                    <a:gd name="connsiteY2" fmla="*/ 102116 h 199293"/>
                    <a:gd name="connsiteX3" fmla="*/ 82210 w 163979"/>
                    <a:gd name="connsiteY3" fmla="*/ 0 h 199293"/>
                    <a:gd name="connsiteX4" fmla="*/ 81730 w 163979"/>
                    <a:gd name="connsiteY4" fmla="*/ 0 h 199293"/>
                    <a:gd name="connsiteX5" fmla="*/ 1491 w 163979"/>
                    <a:gd name="connsiteY5" fmla="*/ 102116 h 199293"/>
                    <a:gd name="connsiteX6" fmla="*/ 37427 w 163979"/>
                    <a:gd name="connsiteY6" fmla="*/ 191270 h 199293"/>
                    <a:gd name="connsiteX7" fmla="*/ 55121 w 163979"/>
                    <a:gd name="connsiteY7" fmla="*/ 199293 h 19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79" h="199293">
                      <a:moveTo>
                        <a:pt x="108887" y="199293"/>
                      </a:moveTo>
                      <a:cubicBezTo>
                        <a:pt x="115300" y="197942"/>
                        <a:pt x="121339" y="195203"/>
                        <a:pt x="126581" y="191270"/>
                      </a:cubicBezTo>
                      <a:cubicBezTo>
                        <a:pt x="146469" y="177142"/>
                        <a:pt x="158814" y="132839"/>
                        <a:pt x="162517" y="102116"/>
                      </a:cubicBezTo>
                      <a:cubicBezTo>
                        <a:pt x="167935" y="56441"/>
                        <a:pt x="161831" y="1783"/>
                        <a:pt x="82210" y="0"/>
                      </a:cubicBezTo>
                      <a:lnTo>
                        <a:pt x="81730" y="0"/>
                      </a:lnTo>
                      <a:cubicBezTo>
                        <a:pt x="2108" y="1783"/>
                        <a:pt x="-3995" y="56441"/>
                        <a:pt x="1491" y="102116"/>
                      </a:cubicBezTo>
                      <a:cubicBezTo>
                        <a:pt x="5194" y="133114"/>
                        <a:pt x="17539" y="177554"/>
                        <a:pt x="37427" y="191270"/>
                      </a:cubicBezTo>
                      <a:cubicBezTo>
                        <a:pt x="42658" y="195223"/>
                        <a:pt x="48701" y="197963"/>
                        <a:pt x="55121" y="199293"/>
                      </a:cubicBezTo>
                    </a:path>
                  </a:pathLst>
                </a:custGeom>
                <a:noFill/>
                <a:ln w="19050" cap="flat">
                  <a:solidFill>
                    <a:schemeClr val="tx2"/>
                  </a:solidFill>
                  <a:prstDash val="solid"/>
                  <a:round/>
                </a:ln>
              </p:spPr>
              <p:txBody>
                <a:bodyPr rtlCol="0" anchor="ctr"/>
                <a:lstStyle/>
                <a:p>
                  <a:endParaRPr lang="en-US"/>
                </a:p>
              </p:txBody>
            </p:sp>
          </p:grpSp>
          <p:sp>
            <p:nvSpPr>
              <p:cNvPr id="47" name="Freeform 22">
                <a:extLst>
                  <a:ext uri="{FF2B5EF4-FFF2-40B4-BE49-F238E27FC236}">
                    <a16:creationId xmlns:a16="http://schemas.microsoft.com/office/drawing/2014/main" id="{404B1E9F-0391-DF9F-2CDA-24611B71E37F}"/>
                  </a:ext>
                </a:extLst>
              </p:cNvPr>
              <p:cNvSpPr/>
              <p:nvPr/>
            </p:nvSpPr>
            <p:spPr>
              <a:xfrm>
                <a:off x="4068026" y="1906187"/>
                <a:ext cx="197358" cy="9525"/>
              </a:xfrm>
              <a:custGeom>
                <a:avLst/>
                <a:gdLst>
                  <a:gd name="connsiteX0" fmla="*/ 0 w 197358"/>
                  <a:gd name="connsiteY0" fmla="*/ 0 h 9525"/>
                  <a:gd name="connsiteX1" fmla="*/ 197358 w 197358"/>
                  <a:gd name="connsiteY1" fmla="*/ 0 h 9525"/>
                </a:gdLst>
                <a:ahLst/>
                <a:cxnLst>
                  <a:cxn ang="0">
                    <a:pos x="connsiteX0" y="connsiteY0"/>
                  </a:cxn>
                  <a:cxn ang="0">
                    <a:pos x="connsiteX1" y="connsiteY1"/>
                  </a:cxn>
                </a:cxnLst>
                <a:rect l="l" t="t" r="r" b="b"/>
                <a:pathLst>
                  <a:path w="197358" h="9525">
                    <a:moveTo>
                      <a:pt x="0" y="0"/>
                    </a:moveTo>
                    <a:lnTo>
                      <a:pt x="197358" y="0"/>
                    </a:lnTo>
                  </a:path>
                </a:pathLst>
              </a:custGeom>
              <a:ln w="19050" cap="flat">
                <a:solidFill>
                  <a:schemeClr val="tx2"/>
                </a:solidFill>
                <a:prstDash val="solid"/>
                <a:round/>
              </a:ln>
            </p:spPr>
            <p:txBody>
              <a:bodyPr rtlCol="0" anchor="ctr"/>
              <a:lstStyle/>
              <a:p>
                <a:endParaRPr lang="en-US"/>
              </a:p>
            </p:txBody>
          </p:sp>
          <p:sp>
            <p:nvSpPr>
              <p:cNvPr id="48" name="Freeform 23">
                <a:extLst>
                  <a:ext uri="{FF2B5EF4-FFF2-40B4-BE49-F238E27FC236}">
                    <a16:creationId xmlns:a16="http://schemas.microsoft.com/office/drawing/2014/main" id="{200ABB47-2F0F-C5D2-9D91-3D445D78A249}"/>
                  </a:ext>
                </a:extLst>
              </p:cNvPr>
              <p:cNvSpPr/>
              <p:nvPr/>
            </p:nvSpPr>
            <p:spPr>
              <a:xfrm>
                <a:off x="4068026" y="2007914"/>
                <a:ext cx="77533" cy="9525"/>
              </a:xfrm>
              <a:custGeom>
                <a:avLst/>
                <a:gdLst>
                  <a:gd name="connsiteX0" fmla="*/ 0 w 77533"/>
                  <a:gd name="connsiteY0" fmla="*/ 0 h 9525"/>
                  <a:gd name="connsiteX1" fmla="*/ 77534 w 77533"/>
                  <a:gd name="connsiteY1" fmla="*/ 0 h 9525"/>
                </a:gdLst>
                <a:ahLst/>
                <a:cxnLst>
                  <a:cxn ang="0">
                    <a:pos x="connsiteX0" y="connsiteY0"/>
                  </a:cxn>
                  <a:cxn ang="0">
                    <a:pos x="connsiteX1" y="connsiteY1"/>
                  </a:cxn>
                </a:cxnLst>
                <a:rect l="l" t="t" r="r" b="b"/>
                <a:pathLst>
                  <a:path w="77533" h="9525">
                    <a:moveTo>
                      <a:pt x="0" y="0"/>
                    </a:moveTo>
                    <a:lnTo>
                      <a:pt x="77534" y="0"/>
                    </a:lnTo>
                  </a:path>
                </a:pathLst>
              </a:custGeom>
              <a:ln w="19050" cap="flat">
                <a:solidFill>
                  <a:schemeClr val="tx2"/>
                </a:solidFill>
                <a:prstDash val="solid"/>
                <a:round/>
              </a:ln>
            </p:spPr>
            <p:txBody>
              <a:bodyPr rtlCol="0" anchor="ctr"/>
              <a:lstStyle/>
              <a:p>
                <a:endParaRPr lang="en-US"/>
              </a:p>
            </p:txBody>
          </p:sp>
          <p:sp>
            <p:nvSpPr>
              <p:cNvPr id="49" name="Freeform 24">
                <a:extLst>
                  <a:ext uri="{FF2B5EF4-FFF2-40B4-BE49-F238E27FC236}">
                    <a16:creationId xmlns:a16="http://schemas.microsoft.com/office/drawing/2014/main" id="{FC91D72B-2F78-E90F-3331-CAA0EDB9F381}"/>
                  </a:ext>
                </a:extLst>
              </p:cNvPr>
              <p:cNvSpPr/>
              <p:nvPr/>
            </p:nvSpPr>
            <p:spPr>
              <a:xfrm>
                <a:off x="4068026" y="1957051"/>
                <a:ext cx="152781" cy="9525"/>
              </a:xfrm>
              <a:custGeom>
                <a:avLst/>
                <a:gdLst>
                  <a:gd name="connsiteX0" fmla="*/ 0 w 152781"/>
                  <a:gd name="connsiteY0" fmla="*/ 0 h 9525"/>
                  <a:gd name="connsiteX1" fmla="*/ 152781 w 152781"/>
                  <a:gd name="connsiteY1" fmla="*/ 0 h 9525"/>
                </a:gdLst>
                <a:ahLst/>
                <a:cxnLst>
                  <a:cxn ang="0">
                    <a:pos x="connsiteX0" y="connsiteY0"/>
                  </a:cxn>
                  <a:cxn ang="0">
                    <a:pos x="connsiteX1" y="connsiteY1"/>
                  </a:cxn>
                </a:cxnLst>
                <a:rect l="l" t="t" r="r" b="b"/>
                <a:pathLst>
                  <a:path w="152781" h="9525">
                    <a:moveTo>
                      <a:pt x="0" y="0"/>
                    </a:moveTo>
                    <a:lnTo>
                      <a:pt x="152781" y="0"/>
                    </a:lnTo>
                  </a:path>
                </a:pathLst>
              </a:custGeom>
              <a:ln w="19050" cap="flat">
                <a:solidFill>
                  <a:schemeClr val="tx2"/>
                </a:solidFill>
                <a:prstDash val="solid"/>
                <a:round/>
              </a:ln>
            </p:spPr>
            <p:txBody>
              <a:bodyPr rtlCol="0" anchor="ctr"/>
              <a:lstStyle/>
              <a:p>
                <a:endParaRPr lang="en-US"/>
              </a:p>
            </p:txBody>
          </p:sp>
          <p:sp>
            <p:nvSpPr>
              <p:cNvPr id="50" name="Freeform 25">
                <a:extLst>
                  <a:ext uri="{FF2B5EF4-FFF2-40B4-BE49-F238E27FC236}">
                    <a16:creationId xmlns:a16="http://schemas.microsoft.com/office/drawing/2014/main" id="{77233CCA-632D-824B-2CA5-146A6D9A4A55}"/>
                  </a:ext>
                </a:extLst>
              </p:cNvPr>
              <p:cNvSpPr/>
              <p:nvPr/>
            </p:nvSpPr>
            <p:spPr>
              <a:xfrm flipV="1">
                <a:off x="4020647" y="1836179"/>
                <a:ext cx="296717" cy="221377"/>
              </a:xfrm>
              <a:custGeom>
                <a:avLst/>
                <a:gdLst>
                  <a:gd name="connsiteX0" fmla="*/ 432149 w 432149"/>
                  <a:gd name="connsiteY0" fmla="*/ 161639 h 322421"/>
                  <a:gd name="connsiteX1" fmla="*/ 432149 w 432149"/>
                  <a:gd name="connsiteY1" fmla="*/ 299752 h 322421"/>
                  <a:gd name="connsiteX2" fmla="*/ 409575 w 432149"/>
                  <a:gd name="connsiteY2" fmla="*/ 322421 h 322421"/>
                  <a:gd name="connsiteX3" fmla="*/ 22670 w 432149"/>
                  <a:gd name="connsiteY3" fmla="*/ 322421 h 322421"/>
                  <a:gd name="connsiteX4" fmla="*/ 0 w 432149"/>
                  <a:gd name="connsiteY4" fmla="*/ 299752 h 322421"/>
                  <a:gd name="connsiteX5" fmla="*/ 0 w 432149"/>
                  <a:gd name="connsiteY5" fmla="*/ 22670 h 322421"/>
                  <a:gd name="connsiteX6" fmla="*/ 22670 w 432149"/>
                  <a:gd name="connsiteY6" fmla="*/ 0 h 322421"/>
                  <a:gd name="connsiteX7" fmla="*/ 179451 w 432149"/>
                  <a:gd name="connsiteY7" fmla="*/ 0 h 32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2149" h="322421">
                    <a:moveTo>
                      <a:pt x="432149" y="161639"/>
                    </a:moveTo>
                    <a:lnTo>
                      <a:pt x="432149" y="299752"/>
                    </a:lnTo>
                    <a:cubicBezTo>
                      <a:pt x="432149" y="312234"/>
                      <a:pt x="422058" y="322369"/>
                      <a:pt x="409575" y="322421"/>
                    </a:cubicBezTo>
                    <a:lnTo>
                      <a:pt x="22670" y="322421"/>
                    </a:lnTo>
                    <a:cubicBezTo>
                      <a:pt x="10171" y="322369"/>
                      <a:pt x="52" y="312250"/>
                      <a:pt x="0" y="299752"/>
                    </a:cubicBezTo>
                    <a:lnTo>
                      <a:pt x="0" y="22670"/>
                    </a:lnTo>
                    <a:cubicBezTo>
                      <a:pt x="52" y="10171"/>
                      <a:pt x="10171" y="52"/>
                      <a:pt x="22670" y="0"/>
                    </a:cubicBezTo>
                    <a:lnTo>
                      <a:pt x="179451" y="0"/>
                    </a:lnTo>
                  </a:path>
                </a:pathLst>
              </a:custGeom>
              <a:noFill/>
              <a:ln w="19050" cap="flat">
                <a:solidFill>
                  <a:schemeClr val="tx2"/>
                </a:solidFill>
                <a:prstDash val="solid"/>
                <a:round/>
              </a:ln>
            </p:spPr>
            <p:txBody>
              <a:bodyPr rtlCol="0" anchor="ctr"/>
              <a:lstStyle/>
              <a:p>
                <a:endParaRPr lang="en-US"/>
              </a:p>
            </p:txBody>
          </p:sp>
        </p:grpSp>
        <p:sp>
          <p:nvSpPr>
            <p:cNvPr id="45" name="Graphic 30">
              <a:extLst>
                <a:ext uri="{FF2B5EF4-FFF2-40B4-BE49-F238E27FC236}">
                  <a16:creationId xmlns:a16="http://schemas.microsoft.com/office/drawing/2014/main" id="{0F0E8447-ECC4-B669-D981-9A03CE5C4CC2}"/>
                </a:ext>
              </a:extLst>
            </p:cNvPr>
            <p:cNvSpPr/>
            <p:nvPr/>
          </p:nvSpPr>
          <p:spPr>
            <a:xfrm rot="10800000">
              <a:off x="603263" y="3521733"/>
              <a:ext cx="111912" cy="97051"/>
            </a:xfrm>
            <a:custGeom>
              <a:avLst/>
              <a:gdLst>
                <a:gd name="connsiteX0" fmla="*/ 0 w 1548267"/>
                <a:gd name="connsiteY0" fmla="*/ 1342670 h 1342670"/>
                <a:gd name="connsiteX1" fmla="*/ 774005 w 1548267"/>
                <a:gd name="connsiteY1" fmla="*/ 0 h 1342670"/>
                <a:gd name="connsiteX2" fmla="*/ 1548267 w 1548267"/>
                <a:gd name="connsiteY2" fmla="*/ 1342670 h 1342670"/>
              </a:gdLst>
              <a:ahLst/>
              <a:cxnLst>
                <a:cxn ang="0">
                  <a:pos x="connsiteX0" y="connsiteY0"/>
                </a:cxn>
                <a:cxn ang="0">
                  <a:pos x="connsiteX1" y="connsiteY1"/>
                </a:cxn>
                <a:cxn ang="0">
                  <a:pos x="connsiteX2" y="connsiteY2"/>
                </a:cxn>
              </a:cxnLst>
              <a:rect l="l" t="t" r="r" b="b"/>
              <a:pathLst>
                <a:path w="1548267" h="1342670">
                  <a:moveTo>
                    <a:pt x="0" y="1342670"/>
                  </a:moveTo>
                  <a:lnTo>
                    <a:pt x="774005" y="0"/>
                  </a:lnTo>
                  <a:lnTo>
                    <a:pt x="1548267" y="1342670"/>
                  </a:lnTo>
                  <a:close/>
                </a:path>
              </a:pathLst>
            </a:custGeom>
            <a:solidFill>
              <a:schemeClr val="accent1"/>
            </a:solidFill>
            <a:ln w="2571" cap="flat">
              <a:noFill/>
              <a:prstDash val="solid"/>
              <a:miter/>
            </a:ln>
          </p:spPr>
          <p:txBody>
            <a:bodyPr rtlCol="0" anchor="ctr"/>
            <a:lstStyle/>
            <a:p>
              <a:endParaRPr lang="en-US"/>
            </a:p>
          </p:txBody>
        </p:sp>
      </p:grpSp>
      <p:grpSp>
        <p:nvGrpSpPr>
          <p:cNvPr id="24" name="Group 23">
            <a:extLst>
              <a:ext uri="{FF2B5EF4-FFF2-40B4-BE49-F238E27FC236}">
                <a16:creationId xmlns:a16="http://schemas.microsoft.com/office/drawing/2014/main" id="{0A81B7F3-5EB1-9FD4-AC40-D88B87F2DB82}"/>
              </a:ext>
            </a:extLst>
          </p:cNvPr>
          <p:cNvGrpSpPr/>
          <p:nvPr/>
        </p:nvGrpSpPr>
        <p:grpSpPr>
          <a:xfrm>
            <a:off x="3332590" y="1182549"/>
            <a:ext cx="363879" cy="363879"/>
            <a:chOff x="466510" y="2192685"/>
            <a:chExt cx="537163" cy="537163"/>
          </a:xfrm>
        </p:grpSpPr>
        <p:grpSp>
          <p:nvGrpSpPr>
            <p:cNvPr id="25" name="Graphic 905">
              <a:extLst>
                <a:ext uri="{FF2B5EF4-FFF2-40B4-BE49-F238E27FC236}">
                  <a16:creationId xmlns:a16="http://schemas.microsoft.com/office/drawing/2014/main" id="{53A7B95F-57E7-783E-3E9F-0DA7141C5CD7}"/>
                </a:ext>
              </a:extLst>
            </p:cNvPr>
            <p:cNvGrpSpPr/>
            <p:nvPr/>
          </p:nvGrpSpPr>
          <p:grpSpPr>
            <a:xfrm>
              <a:off x="466510" y="2192685"/>
              <a:ext cx="537163" cy="537163"/>
              <a:chOff x="8173012" y="1840235"/>
              <a:chExt cx="381304" cy="381304"/>
            </a:xfrm>
            <a:noFill/>
          </p:grpSpPr>
          <p:grpSp>
            <p:nvGrpSpPr>
              <p:cNvPr id="27" name="Graphic 905">
                <a:extLst>
                  <a:ext uri="{FF2B5EF4-FFF2-40B4-BE49-F238E27FC236}">
                    <a16:creationId xmlns:a16="http://schemas.microsoft.com/office/drawing/2014/main" id="{52EE9225-4E35-60E2-A1AA-BD22ED0E875B}"/>
                  </a:ext>
                </a:extLst>
              </p:cNvPr>
              <p:cNvGrpSpPr/>
              <p:nvPr/>
            </p:nvGrpSpPr>
            <p:grpSpPr>
              <a:xfrm>
                <a:off x="8173012" y="1840235"/>
                <a:ext cx="381304" cy="381304"/>
                <a:chOff x="8173012" y="1840235"/>
                <a:chExt cx="381304" cy="381304"/>
              </a:xfrm>
              <a:noFill/>
            </p:grpSpPr>
            <p:sp>
              <p:nvSpPr>
                <p:cNvPr id="29" name="Freeform 16">
                  <a:extLst>
                    <a:ext uri="{FF2B5EF4-FFF2-40B4-BE49-F238E27FC236}">
                      <a16:creationId xmlns:a16="http://schemas.microsoft.com/office/drawing/2014/main" id="{B18BB24C-E90E-08CA-E2BC-34962178590C}"/>
                    </a:ext>
                  </a:extLst>
                </p:cNvPr>
                <p:cNvSpPr/>
                <p:nvPr/>
              </p:nvSpPr>
              <p:spPr>
                <a:xfrm>
                  <a:off x="8173012" y="1840235"/>
                  <a:ext cx="381304" cy="381304"/>
                </a:xfrm>
                <a:custGeom>
                  <a:avLst/>
                  <a:gdLst>
                    <a:gd name="connsiteX0" fmla="*/ 381305 w 381304"/>
                    <a:gd name="connsiteY0" fmla="*/ 190652 h 381304"/>
                    <a:gd name="connsiteX1" fmla="*/ 190652 w 381304"/>
                    <a:gd name="connsiteY1" fmla="*/ 381305 h 381304"/>
                    <a:gd name="connsiteX2" fmla="*/ 0 w 381304"/>
                    <a:gd name="connsiteY2" fmla="*/ 190652 h 381304"/>
                    <a:gd name="connsiteX3" fmla="*/ 190652 w 381304"/>
                    <a:gd name="connsiteY3" fmla="*/ 0 h 381304"/>
                    <a:gd name="connsiteX4" fmla="*/ 381305 w 381304"/>
                    <a:gd name="connsiteY4" fmla="*/ 190652 h 381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304" h="381304">
                      <a:moveTo>
                        <a:pt x="381305" y="190652"/>
                      </a:moveTo>
                      <a:cubicBezTo>
                        <a:pt x="381305" y="295580"/>
                        <a:pt x="296266" y="381305"/>
                        <a:pt x="190652" y="381305"/>
                      </a:cubicBezTo>
                      <a:cubicBezTo>
                        <a:pt x="85725" y="381305"/>
                        <a:pt x="0" y="296266"/>
                        <a:pt x="0" y="190652"/>
                      </a:cubicBezTo>
                      <a:cubicBezTo>
                        <a:pt x="0" y="85725"/>
                        <a:pt x="85039" y="0"/>
                        <a:pt x="190652" y="0"/>
                      </a:cubicBezTo>
                      <a:cubicBezTo>
                        <a:pt x="295580" y="0"/>
                        <a:pt x="381305" y="85725"/>
                        <a:pt x="381305" y="190652"/>
                      </a:cubicBezTo>
                      <a:close/>
                    </a:path>
                  </a:pathLst>
                </a:custGeom>
                <a:noFill/>
                <a:ln w="19050" cap="flat">
                  <a:solidFill>
                    <a:schemeClr val="tx2"/>
                  </a:solidFill>
                  <a:prstDash val="solid"/>
                  <a:round/>
                </a:ln>
              </p:spPr>
              <p:txBody>
                <a:bodyPr rtlCol="0" anchor="ctr"/>
                <a:lstStyle/>
                <a:p>
                  <a:endParaRPr lang="en-US"/>
                </a:p>
              </p:txBody>
            </p:sp>
            <p:sp>
              <p:nvSpPr>
                <p:cNvPr id="30" name="Freeform 17">
                  <a:extLst>
                    <a:ext uri="{FF2B5EF4-FFF2-40B4-BE49-F238E27FC236}">
                      <a16:creationId xmlns:a16="http://schemas.microsoft.com/office/drawing/2014/main" id="{BC358AAF-D208-CA32-6137-D159650E51CD}"/>
                    </a:ext>
                  </a:extLst>
                </p:cNvPr>
                <p:cNvSpPr/>
                <p:nvPr/>
              </p:nvSpPr>
              <p:spPr>
                <a:xfrm>
                  <a:off x="8221018" y="1888241"/>
                  <a:ext cx="285292" cy="285292"/>
                </a:xfrm>
                <a:custGeom>
                  <a:avLst/>
                  <a:gdLst>
                    <a:gd name="connsiteX0" fmla="*/ 142646 w 285292"/>
                    <a:gd name="connsiteY0" fmla="*/ 0 h 285292"/>
                    <a:gd name="connsiteX1" fmla="*/ 285293 w 285292"/>
                    <a:gd name="connsiteY1" fmla="*/ 142646 h 285292"/>
                    <a:gd name="connsiteX2" fmla="*/ 142646 w 285292"/>
                    <a:gd name="connsiteY2" fmla="*/ 285293 h 285292"/>
                    <a:gd name="connsiteX3" fmla="*/ 0 w 285292"/>
                    <a:gd name="connsiteY3" fmla="*/ 142646 h 285292"/>
                    <a:gd name="connsiteX4" fmla="*/ 54864 w 285292"/>
                    <a:gd name="connsiteY4" fmla="*/ 30175 h 2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92" h="285292">
                      <a:moveTo>
                        <a:pt x="142646" y="0"/>
                      </a:moveTo>
                      <a:cubicBezTo>
                        <a:pt x="221513" y="0"/>
                        <a:pt x="285293" y="63779"/>
                        <a:pt x="285293" y="142646"/>
                      </a:cubicBezTo>
                      <a:cubicBezTo>
                        <a:pt x="285293" y="221513"/>
                        <a:pt x="221513" y="285293"/>
                        <a:pt x="142646" y="285293"/>
                      </a:cubicBezTo>
                      <a:cubicBezTo>
                        <a:pt x="63779" y="285293"/>
                        <a:pt x="0" y="221513"/>
                        <a:pt x="0" y="142646"/>
                      </a:cubicBezTo>
                      <a:cubicBezTo>
                        <a:pt x="0" y="96698"/>
                        <a:pt x="21260" y="56236"/>
                        <a:pt x="54864" y="30175"/>
                      </a:cubicBezTo>
                    </a:path>
                  </a:pathLst>
                </a:custGeom>
                <a:noFill/>
                <a:ln w="19050" cap="flat">
                  <a:solidFill>
                    <a:schemeClr val="tx2"/>
                  </a:solidFill>
                  <a:prstDash val="solid"/>
                  <a:round/>
                </a:ln>
              </p:spPr>
              <p:txBody>
                <a:bodyPr rtlCol="0" anchor="ctr"/>
                <a:lstStyle/>
                <a:p>
                  <a:endParaRPr lang="en-US"/>
                </a:p>
              </p:txBody>
            </p:sp>
          </p:grpSp>
          <p:sp>
            <p:nvSpPr>
              <p:cNvPr id="28" name="Freeform 15">
                <a:extLst>
                  <a:ext uri="{FF2B5EF4-FFF2-40B4-BE49-F238E27FC236}">
                    <a16:creationId xmlns:a16="http://schemas.microsoft.com/office/drawing/2014/main" id="{6434684B-1C5A-CAD3-7D92-63D38274F625}"/>
                  </a:ext>
                </a:extLst>
              </p:cNvPr>
              <p:cNvSpPr/>
              <p:nvPr/>
            </p:nvSpPr>
            <p:spPr>
              <a:xfrm>
                <a:off x="8317030" y="1944477"/>
                <a:ext cx="93282" cy="131673"/>
              </a:xfrm>
              <a:custGeom>
                <a:avLst/>
                <a:gdLst>
                  <a:gd name="connsiteX0" fmla="*/ 0 w 93282"/>
                  <a:gd name="connsiteY0" fmla="*/ 41148 h 131673"/>
                  <a:gd name="connsiteX1" fmla="*/ 46634 w 93282"/>
                  <a:gd name="connsiteY1" fmla="*/ 0 h 131673"/>
                  <a:gd name="connsiteX2" fmla="*/ 93269 w 93282"/>
                  <a:gd name="connsiteY2" fmla="*/ 41148 h 131673"/>
                  <a:gd name="connsiteX3" fmla="*/ 69952 w 93282"/>
                  <a:gd name="connsiteY3" fmla="*/ 76810 h 131673"/>
                  <a:gd name="connsiteX4" fmla="*/ 41148 w 93282"/>
                  <a:gd name="connsiteY4" fmla="*/ 131674 h 131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282" h="131673">
                    <a:moveTo>
                      <a:pt x="0" y="41148"/>
                    </a:moveTo>
                    <a:cubicBezTo>
                      <a:pt x="0" y="18517"/>
                      <a:pt x="21260" y="0"/>
                      <a:pt x="46634" y="0"/>
                    </a:cubicBezTo>
                    <a:cubicBezTo>
                      <a:pt x="72695" y="0"/>
                      <a:pt x="93269" y="18517"/>
                      <a:pt x="93269" y="41148"/>
                    </a:cubicBezTo>
                    <a:cubicBezTo>
                      <a:pt x="93269" y="41148"/>
                      <a:pt x="94640" y="59665"/>
                      <a:pt x="69952" y="76810"/>
                    </a:cubicBezTo>
                    <a:cubicBezTo>
                      <a:pt x="53492" y="89154"/>
                      <a:pt x="41148" y="109042"/>
                      <a:pt x="41148" y="131674"/>
                    </a:cubicBezTo>
                  </a:path>
                </a:pathLst>
              </a:custGeom>
              <a:noFill/>
              <a:ln w="19050" cap="flat">
                <a:solidFill>
                  <a:schemeClr val="tx2"/>
                </a:solidFill>
                <a:prstDash val="solid"/>
                <a:miter/>
              </a:ln>
            </p:spPr>
            <p:txBody>
              <a:bodyPr rtlCol="0" anchor="ctr"/>
              <a:lstStyle/>
              <a:p>
                <a:endParaRPr lang="en-US"/>
              </a:p>
            </p:txBody>
          </p:sp>
        </p:grpSp>
        <p:sp>
          <p:nvSpPr>
            <p:cNvPr id="26" name="Graphic 28">
              <a:extLst>
                <a:ext uri="{FF2B5EF4-FFF2-40B4-BE49-F238E27FC236}">
                  <a16:creationId xmlns:a16="http://schemas.microsoft.com/office/drawing/2014/main" id="{16FE7B8C-CED1-F424-3B08-C9AD08E8D836}"/>
                </a:ext>
              </a:extLst>
            </p:cNvPr>
            <p:cNvSpPr/>
            <p:nvPr/>
          </p:nvSpPr>
          <p:spPr>
            <a:xfrm rot="5400000">
              <a:off x="697699" y="2526259"/>
              <a:ext cx="64407" cy="111666"/>
            </a:xfrm>
            <a:custGeom>
              <a:avLst/>
              <a:gdLst>
                <a:gd name="connsiteX0" fmla="*/ 387212 w 774423"/>
                <a:gd name="connsiteY0" fmla="*/ 1342670 h 1342670"/>
                <a:gd name="connsiteX1" fmla="*/ 774424 w 774423"/>
                <a:gd name="connsiteY1" fmla="*/ 671335 h 1342670"/>
                <a:gd name="connsiteX2" fmla="*/ 387212 w 774423"/>
                <a:gd name="connsiteY2" fmla="*/ 0 h 1342670"/>
                <a:gd name="connsiteX3" fmla="*/ 0 w 774423"/>
                <a:gd name="connsiteY3" fmla="*/ 671335 h 1342670"/>
              </a:gdLst>
              <a:ahLst/>
              <a:cxnLst>
                <a:cxn ang="0">
                  <a:pos x="connsiteX0" y="connsiteY0"/>
                </a:cxn>
                <a:cxn ang="0">
                  <a:pos x="connsiteX1" y="connsiteY1"/>
                </a:cxn>
                <a:cxn ang="0">
                  <a:pos x="connsiteX2" y="connsiteY2"/>
                </a:cxn>
                <a:cxn ang="0">
                  <a:pos x="connsiteX3" y="connsiteY3"/>
                </a:cxn>
              </a:cxnLst>
              <a:rect l="l" t="t" r="r" b="b"/>
              <a:pathLst>
                <a:path w="774423" h="1342670">
                  <a:moveTo>
                    <a:pt x="387212" y="1342670"/>
                  </a:moveTo>
                  <a:lnTo>
                    <a:pt x="774424" y="671335"/>
                  </a:lnTo>
                  <a:lnTo>
                    <a:pt x="387212" y="0"/>
                  </a:lnTo>
                  <a:lnTo>
                    <a:pt x="0" y="671335"/>
                  </a:lnTo>
                  <a:close/>
                </a:path>
              </a:pathLst>
            </a:custGeom>
            <a:solidFill>
              <a:schemeClr val="accent1"/>
            </a:solidFill>
            <a:ln w="2563" cap="flat">
              <a:noFill/>
              <a:prstDash val="solid"/>
              <a:miter/>
            </a:ln>
          </p:spPr>
          <p:txBody>
            <a:bodyPr rtlCol="0" anchor="ctr"/>
            <a:lstStyle/>
            <a:p>
              <a:endParaRPr lang="en-US"/>
            </a:p>
          </p:txBody>
        </p:sp>
      </p:grpSp>
      <p:grpSp>
        <p:nvGrpSpPr>
          <p:cNvPr id="12" name="Group 11">
            <a:extLst>
              <a:ext uri="{FF2B5EF4-FFF2-40B4-BE49-F238E27FC236}">
                <a16:creationId xmlns:a16="http://schemas.microsoft.com/office/drawing/2014/main" id="{F1767053-0152-9768-7134-189430F54809}"/>
              </a:ext>
            </a:extLst>
          </p:cNvPr>
          <p:cNvGrpSpPr/>
          <p:nvPr/>
        </p:nvGrpSpPr>
        <p:grpSpPr>
          <a:xfrm>
            <a:off x="609730" y="1137310"/>
            <a:ext cx="454356" cy="454356"/>
            <a:chOff x="461056" y="1156457"/>
            <a:chExt cx="614655" cy="614655"/>
          </a:xfrm>
        </p:grpSpPr>
        <p:grpSp>
          <p:nvGrpSpPr>
            <p:cNvPr id="13" name="Graphic 135">
              <a:extLst>
                <a:ext uri="{FF2B5EF4-FFF2-40B4-BE49-F238E27FC236}">
                  <a16:creationId xmlns:a16="http://schemas.microsoft.com/office/drawing/2014/main" id="{5741D8A9-5CC8-9D5C-465D-067C3AFFE4EB}"/>
                </a:ext>
              </a:extLst>
            </p:cNvPr>
            <p:cNvGrpSpPr/>
            <p:nvPr/>
          </p:nvGrpSpPr>
          <p:grpSpPr>
            <a:xfrm>
              <a:off x="461056" y="1156457"/>
              <a:ext cx="614655" cy="614655"/>
              <a:chOff x="3367754" y="3884879"/>
              <a:chExt cx="351091" cy="351091"/>
            </a:xfrm>
          </p:grpSpPr>
          <p:sp>
            <p:nvSpPr>
              <p:cNvPr id="15" name="Freeform 35">
                <a:extLst>
                  <a:ext uri="{FF2B5EF4-FFF2-40B4-BE49-F238E27FC236}">
                    <a16:creationId xmlns:a16="http://schemas.microsoft.com/office/drawing/2014/main" id="{A170ADB9-942A-BD15-501A-8203EE72D3B9}"/>
                  </a:ext>
                </a:extLst>
              </p:cNvPr>
              <p:cNvSpPr/>
              <p:nvPr/>
            </p:nvSpPr>
            <p:spPr>
              <a:xfrm>
                <a:off x="3408902" y="3926217"/>
                <a:ext cx="107727" cy="108489"/>
              </a:xfrm>
              <a:custGeom>
                <a:avLst/>
                <a:gdLst>
                  <a:gd name="connsiteX0" fmla="*/ 0 w 107727"/>
                  <a:gd name="connsiteY0" fmla="*/ 108490 h 108489"/>
                  <a:gd name="connsiteX1" fmla="*/ 107728 w 107727"/>
                  <a:gd name="connsiteY1" fmla="*/ 0 h 108489"/>
                </a:gdLst>
                <a:ahLst/>
                <a:cxnLst>
                  <a:cxn ang="0">
                    <a:pos x="connsiteX0" y="connsiteY0"/>
                  </a:cxn>
                  <a:cxn ang="0">
                    <a:pos x="connsiteX1" y="connsiteY1"/>
                  </a:cxn>
                </a:cxnLst>
                <a:rect l="l" t="t" r="r" b="b"/>
                <a:pathLst>
                  <a:path w="107727" h="108489">
                    <a:moveTo>
                      <a:pt x="0" y="108490"/>
                    </a:moveTo>
                    <a:cubicBezTo>
                      <a:pt x="10483" y="53772"/>
                      <a:pt x="53086" y="10869"/>
                      <a:pt x="107728" y="0"/>
                    </a:cubicBezTo>
                  </a:path>
                </a:pathLst>
              </a:custGeom>
              <a:noFill/>
              <a:ln w="19050" cap="flat">
                <a:solidFill>
                  <a:schemeClr val="tx2"/>
                </a:solidFill>
                <a:prstDash val="solid"/>
                <a:round/>
              </a:ln>
            </p:spPr>
            <p:txBody>
              <a:bodyPr rtlCol="0" anchor="ctr"/>
              <a:lstStyle/>
              <a:p>
                <a:endParaRPr lang="en-US"/>
              </a:p>
            </p:txBody>
          </p:sp>
          <p:sp>
            <p:nvSpPr>
              <p:cNvPr id="16" name="Freeform 36">
                <a:extLst>
                  <a:ext uri="{FF2B5EF4-FFF2-40B4-BE49-F238E27FC236}">
                    <a16:creationId xmlns:a16="http://schemas.microsoft.com/office/drawing/2014/main" id="{07799819-F608-E33B-AE57-8453B15830B8}"/>
                  </a:ext>
                </a:extLst>
              </p:cNvPr>
              <p:cNvSpPr/>
              <p:nvPr/>
            </p:nvSpPr>
            <p:spPr>
              <a:xfrm>
                <a:off x="3406520" y="4061282"/>
                <a:ext cx="110109" cy="133350"/>
              </a:xfrm>
              <a:custGeom>
                <a:avLst/>
                <a:gdLst>
                  <a:gd name="connsiteX0" fmla="*/ 110109 w 110109"/>
                  <a:gd name="connsiteY0" fmla="*/ 133350 h 133350"/>
                  <a:gd name="connsiteX1" fmla="*/ 0 w 110109"/>
                  <a:gd name="connsiteY1" fmla="*/ 0 h 133350"/>
                </a:gdLst>
                <a:ahLst/>
                <a:cxnLst>
                  <a:cxn ang="0">
                    <a:pos x="connsiteX0" y="connsiteY0"/>
                  </a:cxn>
                  <a:cxn ang="0">
                    <a:pos x="connsiteX1" y="connsiteY1"/>
                  </a:cxn>
                </a:cxnLst>
                <a:rect l="l" t="t" r="r" b="b"/>
                <a:pathLst>
                  <a:path w="110109" h="133350">
                    <a:moveTo>
                      <a:pt x="110109" y="133350"/>
                    </a:moveTo>
                    <a:cubicBezTo>
                      <a:pt x="46418" y="120651"/>
                      <a:pt x="419" y="64943"/>
                      <a:pt x="0" y="0"/>
                    </a:cubicBezTo>
                  </a:path>
                </a:pathLst>
              </a:custGeom>
              <a:noFill/>
              <a:ln w="19050" cap="flat">
                <a:solidFill>
                  <a:schemeClr val="tx2"/>
                </a:solidFill>
                <a:prstDash val="solid"/>
                <a:round/>
              </a:ln>
            </p:spPr>
            <p:txBody>
              <a:bodyPr rtlCol="0" anchor="ctr"/>
              <a:lstStyle/>
              <a:p>
                <a:endParaRPr lang="en-US"/>
              </a:p>
            </p:txBody>
          </p:sp>
          <p:sp>
            <p:nvSpPr>
              <p:cNvPr id="17" name="Freeform 37">
                <a:extLst>
                  <a:ext uri="{FF2B5EF4-FFF2-40B4-BE49-F238E27FC236}">
                    <a16:creationId xmlns:a16="http://schemas.microsoft.com/office/drawing/2014/main" id="{9B84675B-213B-0D9A-5B12-9FC97E4A4EDF}"/>
                  </a:ext>
                </a:extLst>
              </p:cNvPr>
              <p:cNvSpPr/>
              <p:nvPr/>
            </p:nvSpPr>
            <p:spPr>
              <a:xfrm>
                <a:off x="3543300" y="4061377"/>
                <a:ext cx="136779" cy="135826"/>
              </a:xfrm>
              <a:custGeom>
                <a:avLst/>
                <a:gdLst>
                  <a:gd name="connsiteX0" fmla="*/ 136779 w 136779"/>
                  <a:gd name="connsiteY0" fmla="*/ 0 h 135826"/>
                  <a:gd name="connsiteX1" fmla="*/ 0 w 136779"/>
                  <a:gd name="connsiteY1" fmla="*/ 135827 h 135826"/>
                </a:gdLst>
                <a:ahLst/>
                <a:cxnLst>
                  <a:cxn ang="0">
                    <a:pos x="connsiteX0" y="connsiteY0"/>
                  </a:cxn>
                  <a:cxn ang="0">
                    <a:pos x="connsiteX1" y="connsiteY1"/>
                  </a:cxn>
                </a:cxnLst>
                <a:rect l="l" t="t" r="r" b="b"/>
                <a:pathLst>
                  <a:path w="136779" h="135826">
                    <a:moveTo>
                      <a:pt x="136779" y="0"/>
                    </a:moveTo>
                    <a:cubicBezTo>
                      <a:pt x="136308" y="75190"/>
                      <a:pt x="75192" y="135881"/>
                      <a:pt x="0" y="135827"/>
                    </a:cubicBezTo>
                  </a:path>
                </a:pathLst>
              </a:custGeom>
              <a:noFill/>
              <a:ln w="19050" cap="flat">
                <a:solidFill>
                  <a:schemeClr val="tx2"/>
                </a:solidFill>
                <a:prstDash val="solid"/>
                <a:round/>
              </a:ln>
            </p:spPr>
            <p:txBody>
              <a:bodyPr rtlCol="0" anchor="ctr"/>
              <a:lstStyle/>
              <a:p>
                <a:endParaRPr lang="en-US"/>
              </a:p>
            </p:txBody>
          </p:sp>
          <p:sp>
            <p:nvSpPr>
              <p:cNvPr id="18" name="Freeform 38">
                <a:extLst>
                  <a:ext uri="{FF2B5EF4-FFF2-40B4-BE49-F238E27FC236}">
                    <a16:creationId xmlns:a16="http://schemas.microsoft.com/office/drawing/2014/main" id="{B527787D-ED90-0272-4AB3-4FA05FDBDF08}"/>
                  </a:ext>
                </a:extLst>
              </p:cNvPr>
              <p:cNvSpPr/>
              <p:nvPr/>
            </p:nvSpPr>
            <p:spPr>
              <a:xfrm>
                <a:off x="3543300" y="3923645"/>
                <a:ext cx="134397" cy="110775"/>
              </a:xfrm>
              <a:custGeom>
                <a:avLst/>
                <a:gdLst>
                  <a:gd name="connsiteX0" fmla="*/ 0 w 134397"/>
                  <a:gd name="connsiteY0" fmla="*/ 0 h 110775"/>
                  <a:gd name="connsiteX1" fmla="*/ 134398 w 134397"/>
                  <a:gd name="connsiteY1" fmla="*/ 110776 h 110775"/>
                </a:gdLst>
                <a:ahLst/>
                <a:cxnLst>
                  <a:cxn ang="0">
                    <a:pos x="connsiteX0" y="connsiteY0"/>
                  </a:cxn>
                  <a:cxn ang="0">
                    <a:pos x="connsiteX1" y="connsiteY1"/>
                  </a:cxn>
                </a:cxnLst>
                <a:rect l="l" t="t" r="r" b="b"/>
                <a:pathLst>
                  <a:path w="134397" h="110775">
                    <a:moveTo>
                      <a:pt x="0" y="0"/>
                    </a:moveTo>
                    <a:cubicBezTo>
                      <a:pt x="65544" y="-16"/>
                      <a:pt x="121900" y="46434"/>
                      <a:pt x="134398" y="110776"/>
                    </a:cubicBezTo>
                  </a:path>
                </a:pathLst>
              </a:custGeom>
              <a:noFill/>
              <a:ln w="19050" cap="flat">
                <a:solidFill>
                  <a:schemeClr val="tx2"/>
                </a:solidFill>
                <a:prstDash val="solid"/>
                <a:round/>
              </a:ln>
            </p:spPr>
            <p:txBody>
              <a:bodyPr rtlCol="0" anchor="ctr"/>
              <a:lstStyle/>
              <a:p>
                <a:endParaRPr lang="en-US"/>
              </a:p>
            </p:txBody>
          </p:sp>
          <p:sp>
            <p:nvSpPr>
              <p:cNvPr id="19" name="Freeform 39">
                <a:extLst>
                  <a:ext uri="{FF2B5EF4-FFF2-40B4-BE49-F238E27FC236}">
                    <a16:creationId xmlns:a16="http://schemas.microsoft.com/office/drawing/2014/main" id="{29ED98FC-ED05-7FDE-531A-1D61EDBB5666}"/>
                  </a:ext>
                </a:extLst>
              </p:cNvPr>
              <p:cNvSpPr/>
              <p:nvPr/>
            </p:nvSpPr>
            <p:spPr>
              <a:xfrm>
                <a:off x="3451193" y="3968318"/>
                <a:ext cx="184213" cy="184213"/>
              </a:xfrm>
              <a:custGeom>
                <a:avLst/>
                <a:gdLst>
                  <a:gd name="connsiteX0" fmla="*/ 184213 w 184213"/>
                  <a:gd name="connsiteY0" fmla="*/ 92107 h 184213"/>
                  <a:gd name="connsiteX1" fmla="*/ 92107 w 184213"/>
                  <a:gd name="connsiteY1" fmla="*/ 184213 h 184213"/>
                  <a:gd name="connsiteX2" fmla="*/ 0 w 184213"/>
                  <a:gd name="connsiteY2" fmla="*/ 92107 h 184213"/>
                  <a:gd name="connsiteX3" fmla="*/ 92107 w 184213"/>
                  <a:gd name="connsiteY3" fmla="*/ 0 h 184213"/>
                  <a:gd name="connsiteX4" fmla="*/ 184213 w 184213"/>
                  <a:gd name="connsiteY4" fmla="*/ 92107 h 184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13" h="184213">
                    <a:moveTo>
                      <a:pt x="184213" y="92107"/>
                    </a:moveTo>
                    <a:cubicBezTo>
                      <a:pt x="184213" y="142976"/>
                      <a:pt x="142976" y="184213"/>
                      <a:pt x="92107" y="184213"/>
                    </a:cubicBezTo>
                    <a:cubicBezTo>
                      <a:pt x="41238" y="184213"/>
                      <a:pt x="0" y="142976"/>
                      <a:pt x="0" y="92107"/>
                    </a:cubicBezTo>
                    <a:cubicBezTo>
                      <a:pt x="0" y="41238"/>
                      <a:pt x="41238" y="0"/>
                      <a:pt x="92107" y="0"/>
                    </a:cubicBezTo>
                    <a:cubicBezTo>
                      <a:pt x="142976" y="0"/>
                      <a:pt x="184213" y="41238"/>
                      <a:pt x="184213" y="92107"/>
                    </a:cubicBezTo>
                    <a:close/>
                  </a:path>
                </a:pathLst>
              </a:custGeom>
              <a:noFill/>
              <a:ln w="19050" cap="flat">
                <a:solidFill>
                  <a:schemeClr val="tx2"/>
                </a:solidFill>
                <a:prstDash val="solid"/>
                <a:round/>
              </a:ln>
            </p:spPr>
            <p:txBody>
              <a:bodyPr rtlCol="0" anchor="ctr"/>
              <a:lstStyle/>
              <a:p>
                <a:endParaRPr lang="en-US"/>
              </a:p>
            </p:txBody>
          </p:sp>
          <p:sp>
            <p:nvSpPr>
              <p:cNvPr id="20" name="Freeform 40">
                <a:extLst>
                  <a:ext uri="{FF2B5EF4-FFF2-40B4-BE49-F238E27FC236}">
                    <a16:creationId xmlns:a16="http://schemas.microsoft.com/office/drawing/2014/main" id="{82ABE940-DB7C-7AA6-8831-EC5B258361B6}"/>
                  </a:ext>
                </a:extLst>
              </p:cNvPr>
              <p:cNvSpPr/>
              <p:nvPr/>
            </p:nvSpPr>
            <p:spPr>
              <a:xfrm>
                <a:off x="3367754" y="4060425"/>
                <a:ext cx="79152" cy="9525"/>
              </a:xfrm>
              <a:custGeom>
                <a:avLst/>
                <a:gdLst>
                  <a:gd name="connsiteX0" fmla="*/ 0 w 79152"/>
                  <a:gd name="connsiteY0" fmla="*/ 0 h 9525"/>
                  <a:gd name="connsiteX1" fmla="*/ 79153 w 79152"/>
                  <a:gd name="connsiteY1" fmla="*/ 0 h 9525"/>
                </a:gdLst>
                <a:ahLst/>
                <a:cxnLst>
                  <a:cxn ang="0">
                    <a:pos x="connsiteX0" y="connsiteY0"/>
                  </a:cxn>
                  <a:cxn ang="0">
                    <a:pos x="connsiteX1" y="connsiteY1"/>
                  </a:cxn>
                </a:cxnLst>
                <a:rect l="l" t="t" r="r" b="b"/>
                <a:pathLst>
                  <a:path w="79152" h="9525">
                    <a:moveTo>
                      <a:pt x="0" y="0"/>
                    </a:moveTo>
                    <a:lnTo>
                      <a:pt x="79153" y="0"/>
                    </a:lnTo>
                  </a:path>
                </a:pathLst>
              </a:custGeom>
              <a:ln w="19050" cap="flat">
                <a:solidFill>
                  <a:schemeClr val="tx2"/>
                </a:solidFill>
                <a:prstDash val="solid"/>
                <a:round/>
              </a:ln>
            </p:spPr>
            <p:txBody>
              <a:bodyPr rtlCol="0" anchor="ctr"/>
              <a:lstStyle/>
              <a:p>
                <a:endParaRPr lang="en-US"/>
              </a:p>
            </p:txBody>
          </p:sp>
          <p:sp>
            <p:nvSpPr>
              <p:cNvPr id="21" name="Freeform 41">
                <a:extLst>
                  <a:ext uri="{FF2B5EF4-FFF2-40B4-BE49-F238E27FC236}">
                    <a16:creationId xmlns:a16="http://schemas.microsoft.com/office/drawing/2014/main" id="{B82C2716-13B6-34E8-8224-89EA65CCEFAC}"/>
                  </a:ext>
                </a:extLst>
              </p:cNvPr>
              <p:cNvSpPr/>
              <p:nvPr/>
            </p:nvSpPr>
            <p:spPr>
              <a:xfrm>
                <a:off x="3543300" y="3884879"/>
                <a:ext cx="9525" cy="79152"/>
              </a:xfrm>
              <a:custGeom>
                <a:avLst/>
                <a:gdLst>
                  <a:gd name="connsiteX0" fmla="*/ 0 w 9525"/>
                  <a:gd name="connsiteY0" fmla="*/ 79153 h 79152"/>
                  <a:gd name="connsiteX1" fmla="*/ 0 w 9525"/>
                  <a:gd name="connsiteY1" fmla="*/ 0 h 79152"/>
                </a:gdLst>
                <a:ahLst/>
                <a:cxnLst>
                  <a:cxn ang="0">
                    <a:pos x="connsiteX0" y="connsiteY0"/>
                  </a:cxn>
                  <a:cxn ang="0">
                    <a:pos x="connsiteX1" y="connsiteY1"/>
                  </a:cxn>
                </a:cxnLst>
                <a:rect l="l" t="t" r="r" b="b"/>
                <a:pathLst>
                  <a:path w="9525" h="79152">
                    <a:moveTo>
                      <a:pt x="0" y="79153"/>
                    </a:moveTo>
                    <a:lnTo>
                      <a:pt x="0" y="0"/>
                    </a:lnTo>
                  </a:path>
                </a:pathLst>
              </a:custGeom>
              <a:ln w="19050" cap="flat">
                <a:solidFill>
                  <a:schemeClr val="tx2"/>
                </a:solidFill>
                <a:prstDash val="solid"/>
                <a:round/>
              </a:ln>
            </p:spPr>
            <p:txBody>
              <a:bodyPr rtlCol="0" anchor="ctr"/>
              <a:lstStyle/>
              <a:p>
                <a:endParaRPr lang="en-US"/>
              </a:p>
            </p:txBody>
          </p:sp>
          <p:sp>
            <p:nvSpPr>
              <p:cNvPr id="22" name="Freeform 42">
                <a:extLst>
                  <a:ext uri="{FF2B5EF4-FFF2-40B4-BE49-F238E27FC236}">
                    <a16:creationId xmlns:a16="http://schemas.microsoft.com/office/drawing/2014/main" id="{576E2546-40F7-4223-30E0-E07C9345CB47}"/>
                  </a:ext>
                </a:extLst>
              </p:cNvPr>
              <p:cNvSpPr/>
              <p:nvPr/>
            </p:nvSpPr>
            <p:spPr>
              <a:xfrm>
                <a:off x="3543300" y="4156818"/>
                <a:ext cx="9525" cy="79152"/>
              </a:xfrm>
              <a:custGeom>
                <a:avLst/>
                <a:gdLst>
                  <a:gd name="connsiteX0" fmla="*/ 0 w 9525"/>
                  <a:gd name="connsiteY0" fmla="*/ 79153 h 79152"/>
                  <a:gd name="connsiteX1" fmla="*/ 0 w 9525"/>
                  <a:gd name="connsiteY1" fmla="*/ 0 h 79152"/>
                </a:gdLst>
                <a:ahLst/>
                <a:cxnLst>
                  <a:cxn ang="0">
                    <a:pos x="connsiteX0" y="connsiteY0"/>
                  </a:cxn>
                  <a:cxn ang="0">
                    <a:pos x="connsiteX1" y="connsiteY1"/>
                  </a:cxn>
                </a:cxnLst>
                <a:rect l="l" t="t" r="r" b="b"/>
                <a:pathLst>
                  <a:path w="9525" h="79152">
                    <a:moveTo>
                      <a:pt x="0" y="79153"/>
                    </a:moveTo>
                    <a:lnTo>
                      <a:pt x="0" y="0"/>
                    </a:lnTo>
                  </a:path>
                </a:pathLst>
              </a:custGeom>
              <a:ln w="19050" cap="flat">
                <a:solidFill>
                  <a:schemeClr val="tx2"/>
                </a:solidFill>
                <a:prstDash val="solid"/>
                <a:round/>
              </a:ln>
            </p:spPr>
            <p:txBody>
              <a:bodyPr rtlCol="0" anchor="ctr"/>
              <a:lstStyle/>
              <a:p>
                <a:endParaRPr lang="en-US"/>
              </a:p>
            </p:txBody>
          </p:sp>
          <p:sp>
            <p:nvSpPr>
              <p:cNvPr id="23" name="Freeform 43">
                <a:extLst>
                  <a:ext uri="{FF2B5EF4-FFF2-40B4-BE49-F238E27FC236}">
                    <a16:creationId xmlns:a16="http://schemas.microsoft.com/office/drawing/2014/main" id="{AD8DDDA4-AD75-C353-A36E-FA9D829EE211}"/>
                  </a:ext>
                </a:extLst>
              </p:cNvPr>
              <p:cNvSpPr/>
              <p:nvPr/>
            </p:nvSpPr>
            <p:spPr>
              <a:xfrm>
                <a:off x="3639693" y="4060425"/>
                <a:ext cx="79152" cy="9525"/>
              </a:xfrm>
              <a:custGeom>
                <a:avLst/>
                <a:gdLst>
                  <a:gd name="connsiteX0" fmla="*/ 0 w 79152"/>
                  <a:gd name="connsiteY0" fmla="*/ 0 h 9525"/>
                  <a:gd name="connsiteX1" fmla="*/ 79153 w 79152"/>
                  <a:gd name="connsiteY1" fmla="*/ 0 h 9525"/>
                </a:gdLst>
                <a:ahLst/>
                <a:cxnLst>
                  <a:cxn ang="0">
                    <a:pos x="connsiteX0" y="connsiteY0"/>
                  </a:cxn>
                  <a:cxn ang="0">
                    <a:pos x="connsiteX1" y="connsiteY1"/>
                  </a:cxn>
                </a:cxnLst>
                <a:rect l="l" t="t" r="r" b="b"/>
                <a:pathLst>
                  <a:path w="79152" h="9525">
                    <a:moveTo>
                      <a:pt x="0" y="0"/>
                    </a:moveTo>
                    <a:lnTo>
                      <a:pt x="79153" y="0"/>
                    </a:lnTo>
                  </a:path>
                </a:pathLst>
              </a:custGeom>
              <a:ln w="19050" cap="flat">
                <a:solidFill>
                  <a:schemeClr val="tx2"/>
                </a:solidFill>
                <a:prstDash val="solid"/>
                <a:round/>
              </a:ln>
            </p:spPr>
            <p:txBody>
              <a:bodyPr rtlCol="0" anchor="ctr"/>
              <a:lstStyle/>
              <a:p>
                <a:endParaRPr lang="en-US"/>
              </a:p>
            </p:txBody>
          </p:sp>
        </p:grpSp>
        <p:sp>
          <p:nvSpPr>
            <p:cNvPr id="14" name="Freeform 34">
              <a:extLst>
                <a:ext uri="{FF2B5EF4-FFF2-40B4-BE49-F238E27FC236}">
                  <a16:creationId xmlns:a16="http://schemas.microsoft.com/office/drawing/2014/main" id="{FD36DC09-93C0-6DA6-D59B-AA362E2D0259}"/>
                </a:ext>
              </a:extLst>
            </p:cNvPr>
            <p:cNvSpPr/>
            <p:nvPr/>
          </p:nvSpPr>
          <p:spPr>
            <a:xfrm>
              <a:off x="682383" y="1394069"/>
              <a:ext cx="177369" cy="153626"/>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chemeClr val="accent1"/>
            </a:solidFill>
            <a:ln w="13066" cap="flat">
              <a:noFill/>
              <a:prstDash val="solid"/>
              <a:miter/>
            </a:ln>
          </p:spPr>
          <p:txBody>
            <a:bodyPr rtlCol="0" anchor="ctr"/>
            <a:lstStyle/>
            <a:p>
              <a:endParaRPr lang="en-US" sz="850" b="1">
                <a:latin typeface="Arial" panose="020B0604020202020204" pitchFamily="34" charset="0"/>
                <a:ea typeface="Verdana" panose="020B0604030504040204" pitchFamily="34" charset="0"/>
                <a:cs typeface="Arial" panose="020B0604020202020204" pitchFamily="34" charset="0"/>
              </a:endParaRPr>
            </a:p>
          </p:txBody>
        </p:sp>
      </p:grpSp>
      <p:sp>
        <p:nvSpPr>
          <p:cNvPr id="2" name="Text Placeholder 1">
            <a:extLst>
              <a:ext uri="{FF2B5EF4-FFF2-40B4-BE49-F238E27FC236}">
                <a16:creationId xmlns:a16="http://schemas.microsoft.com/office/drawing/2014/main" id="{4C840383-3667-4C3B-A179-F241780B17B2}"/>
              </a:ext>
            </a:extLst>
          </p:cNvPr>
          <p:cNvSpPr>
            <a:spLocks noGrp="1"/>
          </p:cNvSpPr>
          <p:nvPr>
            <p:ph type="body" sz="quarter" idx="55"/>
          </p:nvPr>
        </p:nvSpPr>
        <p:spPr/>
        <p:txBody>
          <a:bodyPr lIns="0" tIns="45720" rIns="91440" bIns="45720" anchor="t"/>
          <a:lstStyle/>
          <a:p>
            <a:pPr marL="171450" indent="-171450">
              <a:buFont typeface="Arial" panose="020B0604020202020204" pitchFamily="34" charset="0"/>
              <a:buChar char="•"/>
            </a:pPr>
            <a:r>
              <a:rPr lang="en-US" sz="1000">
                <a:highlight>
                  <a:srgbClr val="FFFF00"/>
                </a:highlight>
                <a:latin typeface="Arial"/>
                <a:ea typeface="Verdana"/>
                <a:cs typeface="Arial"/>
              </a:rPr>
              <a:t>Enter customer mission</a:t>
            </a:r>
          </a:p>
          <a:p>
            <a:endParaRPr lang="en-US"/>
          </a:p>
        </p:txBody>
      </p:sp>
      <p:sp>
        <p:nvSpPr>
          <p:cNvPr id="3" name="Title 2">
            <a:extLst>
              <a:ext uri="{FF2B5EF4-FFF2-40B4-BE49-F238E27FC236}">
                <a16:creationId xmlns:a16="http://schemas.microsoft.com/office/drawing/2014/main" id="{8412DAC2-63EA-0A79-C772-BEF822EDB013}"/>
              </a:ext>
            </a:extLst>
          </p:cNvPr>
          <p:cNvSpPr>
            <a:spLocks noGrp="1"/>
          </p:cNvSpPr>
          <p:nvPr>
            <p:ph type="title"/>
          </p:nvPr>
        </p:nvSpPr>
        <p:spPr/>
        <p:txBody>
          <a:bodyPr/>
          <a:lstStyle/>
          <a:p>
            <a:r>
              <a:rPr lang="en-US"/>
              <a:t>Project Manifesto</a:t>
            </a:r>
          </a:p>
        </p:txBody>
      </p:sp>
      <p:sp>
        <p:nvSpPr>
          <p:cNvPr id="5" name="Text Placeholder 4">
            <a:extLst>
              <a:ext uri="{FF2B5EF4-FFF2-40B4-BE49-F238E27FC236}">
                <a16:creationId xmlns:a16="http://schemas.microsoft.com/office/drawing/2014/main" id="{034FF30A-0328-EA03-4EE5-16029832BD3C}"/>
              </a:ext>
            </a:extLst>
          </p:cNvPr>
          <p:cNvSpPr>
            <a:spLocks noGrp="1"/>
          </p:cNvSpPr>
          <p:nvPr>
            <p:ph type="body" sz="quarter" idx="46"/>
          </p:nvPr>
        </p:nvSpPr>
        <p:spPr/>
        <p:txBody>
          <a:bodyPr/>
          <a:lstStyle/>
          <a:p>
            <a:r>
              <a:rPr lang="en-US"/>
              <a:t>Mission: </a:t>
            </a:r>
            <a:r>
              <a:rPr lang="en-GB">
                <a:solidFill>
                  <a:srgbClr val="0A324B"/>
                </a:solidFill>
              </a:rPr>
              <a:t>What are we trying to accomplish?</a:t>
            </a:r>
          </a:p>
        </p:txBody>
      </p:sp>
      <p:sp>
        <p:nvSpPr>
          <p:cNvPr id="7" name="Text Placeholder 6">
            <a:extLst>
              <a:ext uri="{FF2B5EF4-FFF2-40B4-BE49-F238E27FC236}">
                <a16:creationId xmlns:a16="http://schemas.microsoft.com/office/drawing/2014/main" id="{EFF3132B-DC1D-770A-4A9A-1AB3C65880A7}"/>
              </a:ext>
            </a:extLst>
          </p:cNvPr>
          <p:cNvSpPr>
            <a:spLocks noGrp="1"/>
          </p:cNvSpPr>
          <p:nvPr>
            <p:ph type="body" sz="quarter" idx="49"/>
          </p:nvPr>
        </p:nvSpPr>
        <p:spPr/>
        <p:txBody>
          <a:bodyPr/>
          <a:lstStyle/>
          <a:p>
            <a:r>
              <a:rPr lang="en-US"/>
              <a:t>Means: How do we achieve our mission?</a:t>
            </a:r>
          </a:p>
        </p:txBody>
      </p:sp>
      <p:sp>
        <p:nvSpPr>
          <p:cNvPr id="9" name="Text Placeholder 8">
            <a:extLst>
              <a:ext uri="{FF2B5EF4-FFF2-40B4-BE49-F238E27FC236}">
                <a16:creationId xmlns:a16="http://schemas.microsoft.com/office/drawing/2014/main" id="{AA421D7D-EEB0-AB0E-F288-93E18FD7F651}"/>
              </a:ext>
            </a:extLst>
          </p:cNvPr>
          <p:cNvSpPr>
            <a:spLocks noGrp="1"/>
          </p:cNvSpPr>
          <p:nvPr>
            <p:ph type="body" sz="quarter" idx="52"/>
          </p:nvPr>
        </p:nvSpPr>
        <p:spPr/>
        <p:txBody>
          <a:bodyPr/>
          <a:lstStyle/>
          <a:p>
            <a:r>
              <a:rPr lang="en-US"/>
              <a:t>Membership: What do we offer each other? </a:t>
            </a:r>
          </a:p>
        </p:txBody>
      </p:sp>
      <p:sp>
        <p:nvSpPr>
          <p:cNvPr id="10" name="Text Placeholder 9">
            <a:extLst>
              <a:ext uri="{FF2B5EF4-FFF2-40B4-BE49-F238E27FC236}">
                <a16:creationId xmlns:a16="http://schemas.microsoft.com/office/drawing/2014/main" id="{94DB6226-6E6F-ECA2-6427-7A7B092DB270}"/>
              </a:ext>
            </a:extLst>
          </p:cNvPr>
          <p:cNvSpPr>
            <a:spLocks noGrp="1"/>
          </p:cNvSpPr>
          <p:nvPr>
            <p:ph type="body" sz="quarter" idx="56"/>
          </p:nvPr>
        </p:nvSpPr>
        <p:spPr/>
        <p:txBody>
          <a:bodyPr/>
          <a:lstStyle/>
          <a:p>
            <a:pPr marL="171450" indent="-171450">
              <a:buFont typeface="Arial" panose="020B0604020202020204" pitchFamily="34" charset="0"/>
              <a:buChar char="•"/>
            </a:pPr>
            <a:r>
              <a:rPr lang="en-US" sz="1000">
                <a:highlight>
                  <a:srgbClr val="FFFF00"/>
                </a:highlight>
              </a:rPr>
              <a:t>Enter customer means</a:t>
            </a:r>
            <a:endParaRPr lang="en-US">
              <a:highlight>
                <a:srgbClr val="FFFF00"/>
              </a:highlight>
            </a:endParaRPr>
          </a:p>
        </p:txBody>
      </p:sp>
      <p:sp>
        <p:nvSpPr>
          <p:cNvPr id="11" name="Text Placeholder 10">
            <a:extLst>
              <a:ext uri="{FF2B5EF4-FFF2-40B4-BE49-F238E27FC236}">
                <a16:creationId xmlns:a16="http://schemas.microsoft.com/office/drawing/2014/main" id="{C0678DCE-6CCE-51AB-751C-3305920FDE96}"/>
              </a:ext>
            </a:extLst>
          </p:cNvPr>
          <p:cNvSpPr>
            <a:spLocks noGrp="1"/>
          </p:cNvSpPr>
          <p:nvPr>
            <p:ph type="body" sz="quarter" idx="57"/>
          </p:nvPr>
        </p:nvSpPr>
        <p:spPr/>
        <p:txBody>
          <a:bodyPr/>
          <a:lstStyle/>
          <a:p>
            <a:pPr marL="171450" indent="-171450">
              <a:buFont typeface="Arial" panose="020B0604020202020204" pitchFamily="34" charset="0"/>
              <a:buChar char="•"/>
            </a:pPr>
            <a:r>
              <a:rPr lang="en-US" sz="1000">
                <a:highlight>
                  <a:srgbClr val="FFFF00"/>
                </a:highlight>
              </a:rPr>
              <a:t>Enter customer membership</a:t>
            </a:r>
            <a:endParaRPr lang="en-US">
              <a:highlight>
                <a:srgbClr val="FFFF00"/>
              </a:highlight>
            </a:endParaRPr>
          </a:p>
        </p:txBody>
      </p:sp>
      <p:grpSp>
        <p:nvGrpSpPr>
          <p:cNvPr id="57" name="Group 56">
            <a:extLst>
              <a:ext uri="{FF2B5EF4-FFF2-40B4-BE49-F238E27FC236}">
                <a16:creationId xmlns:a16="http://schemas.microsoft.com/office/drawing/2014/main" id="{BC2E27DD-9712-1156-DAE7-4724FA33D387}"/>
              </a:ext>
            </a:extLst>
          </p:cNvPr>
          <p:cNvGrpSpPr/>
          <p:nvPr/>
        </p:nvGrpSpPr>
        <p:grpSpPr>
          <a:xfrm>
            <a:off x="-2208139" y="0"/>
            <a:ext cx="2338441" cy="5143500"/>
            <a:chOff x="-2208139" y="0"/>
            <a:chExt cx="2338441" cy="5143500"/>
          </a:xfrm>
        </p:grpSpPr>
        <p:sp>
          <p:nvSpPr>
            <p:cNvPr id="58" name="Rectangle: Rounded Corners 57">
              <a:extLst>
                <a:ext uri="{FF2B5EF4-FFF2-40B4-BE49-F238E27FC236}">
                  <a16:creationId xmlns:a16="http://schemas.microsoft.com/office/drawing/2014/main" id="{14DE355F-E4A8-7D57-D8D4-C7119F5771FB}"/>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51542A5E-7563-BCD0-F342-57A518EFB5EE}"/>
                </a:ext>
              </a:extLst>
            </p:cNvPr>
            <p:cNvGrpSpPr/>
            <p:nvPr/>
          </p:nvGrpSpPr>
          <p:grpSpPr>
            <a:xfrm>
              <a:off x="-2208139" y="0"/>
              <a:ext cx="2018501" cy="5143500"/>
              <a:chOff x="-2208139" y="0"/>
              <a:chExt cx="2018501" cy="5143500"/>
            </a:xfrm>
          </p:grpSpPr>
          <p:sp>
            <p:nvSpPr>
              <p:cNvPr id="60" name="Rectangle: Rounded Corners 59">
                <a:extLst>
                  <a:ext uri="{FF2B5EF4-FFF2-40B4-BE49-F238E27FC236}">
                    <a16:creationId xmlns:a16="http://schemas.microsoft.com/office/drawing/2014/main" id="{D1A1803A-415C-7E64-2DD7-2262E0CC5514}"/>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61" name="TextBox 60">
                <a:extLst>
                  <a:ext uri="{FF2B5EF4-FFF2-40B4-BE49-F238E27FC236}">
                    <a16:creationId xmlns:a16="http://schemas.microsoft.com/office/drawing/2014/main" id="{9BD1345B-1C26-C0D2-2033-AAF0D8A65B49}"/>
                  </a:ext>
                </a:extLst>
              </p:cNvPr>
              <p:cNvSpPr txBox="1"/>
              <p:nvPr/>
            </p:nvSpPr>
            <p:spPr>
              <a:xfrm>
                <a:off x="-2081074" y="983848"/>
                <a:ext cx="1764368" cy="1384995"/>
              </a:xfrm>
              <a:prstGeom prst="rect">
                <a:avLst/>
              </a:prstGeom>
              <a:solidFill>
                <a:schemeClr val="bg1"/>
              </a:solidFill>
              <a:ln w="3175">
                <a:solidFill>
                  <a:schemeClr val="accent6">
                    <a:lumMod val="10000"/>
                  </a:schemeClr>
                </a:solidFill>
              </a:ln>
            </p:spPr>
            <p:txBody>
              <a:bodyPr wrap="square" lIns="91440" tIns="45720" rIns="91440" bIns="45720" rtlCol="0" anchor="t">
                <a:spAutoFit/>
              </a:bodyPr>
              <a:lstStyle/>
              <a:p>
                <a:r>
                  <a:rPr lang="en-US" sz="1400">
                    <a:solidFill>
                      <a:schemeClr val="accent6">
                        <a:lumMod val="10000"/>
                      </a:schemeClr>
                    </a:solidFill>
                    <a:latin typeface="Arial"/>
                    <a:ea typeface="Inter Light" panose="02000503000000020004" pitchFamily="2" charset="0"/>
                    <a:cs typeface="Arial"/>
                  </a:rPr>
                  <a:t>Sample - replace all highlighted text and/ or slide with customer-specific names, terms, and values</a:t>
                </a:r>
              </a:p>
            </p:txBody>
          </p:sp>
          <p:sp>
            <p:nvSpPr>
              <p:cNvPr id="62" name="TextBox 61">
                <a:extLst>
                  <a:ext uri="{FF2B5EF4-FFF2-40B4-BE49-F238E27FC236}">
                    <a16:creationId xmlns:a16="http://schemas.microsoft.com/office/drawing/2014/main" id="{0B22575F-7CE8-D6E8-B079-7875A2985A36}"/>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63" name="Group 62">
                <a:extLst>
                  <a:ext uri="{FF2B5EF4-FFF2-40B4-BE49-F238E27FC236}">
                    <a16:creationId xmlns:a16="http://schemas.microsoft.com/office/drawing/2014/main" id="{43DCBC45-3401-BC14-05E1-7E7274419B88}"/>
                  </a:ext>
                </a:extLst>
              </p:cNvPr>
              <p:cNvGrpSpPr/>
              <p:nvPr/>
            </p:nvGrpSpPr>
            <p:grpSpPr>
              <a:xfrm>
                <a:off x="-1913726" y="4862278"/>
                <a:ext cx="1537258" cy="215444"/>
                <a:chOff x="-1907058" y="4862278"/>
                <a:chExt cx="1537258" cy="215444"/>
              </a:xfrm>
            </p:grpSpPr>
            <p:sp>
              <p:nvSpPr>
                <p:cNvPr id="67" name="TextBox 66">
                  <a:extLst>
                    <a:ext uri="{FF2B5EF4-FFF2-40B4-BE49-F238E27FC236}">
                      <a16:creationId xmlns:a16="http://schemas.microsoft.com/office/drawing/2014/main" id="{A5C0AB4D-8082-92FB-32CF-A4E590657339}"/>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68" name="Graphic 67" descr="Warning with solid fill">
                  <a:extLst>
                    <a:ext uri="{FF2B5EF4-FFF2-40B4-BE49-F238E27FC236}">
                      <a16:creationId xmlns:a16="http://schemas.microsoft.com/office/drawing/2014/main" id="{F7B43AC3-E10B-FB6E-39A9-5464C6283C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7058" y="4928624"/>
                  <a:ext cx="98429" cy="98429"/>
                </a:xfrm>
                <a:prstGeom prst="rect">
                  <a:avLst/>
                </a:prstGeom>
              </p:spPr>
            </p:pic>
          </p:grpSp>
          <p:grpSp>
            <p:nvGrpSpPr>
              <p:cNvPr id="64" name="Group 63">
                <a:extLst>
                  <a:ext uri="{FF2B5EF4-FFF2-40B4-BE49-F238E27FC236}">
                    <a16:creationId xmlns:a16="http://schemas.microsoft.com/office/drawing/2014/main" id="{687D8EB0-7213-72A0-BE0D-F72CB88B9278}"/>
                  </a:ext>
                </a:extLst>
              </p:cNvPr>
              <p:cNvGrpSpPr/>
              <p:nvPr/>
            </p:nvGrpSpPr>
            <p:grpSpPr>
              <a:xfrm>
                <a:off x="-1468837" y="0"/>
                <a:ext cx="539895" cy="539895"/>
                <a:chOff x="-1468837" y="0"/>
                <a:chExt cx="539895" cy="539895"/>
              </a:xfrm>
            </p:grpSpPr>
            <p:sp>
              <p:nvSpPr>
                <p:cNvPr id="65" name="Oval 64">
                  <a:extLst>
                    <a:ext uri="{FF2B5EF4-FFF2-40B4-BE49-F238E27FC236}">
                      <a16:creationId xmlns:a16="http://schemas.microsoft.com/office/drawing/2014/main" id="{9668532A-53AE-CA9D-8121-418645BFC25F}"/>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66" name="Graphic 65" descr="Target Audience with solid fill">
                  <a:extLst>
                    <a:ext uri="{FF2B5EF4-FFF2-40B4-BE49-F238E27FC236}">
                      <a16:creationId xmlns:a16="http://schemas.microsoft.com/office/drawing/2014/main" id="{0FCAB043-857E-C4C7-FF29-A69E00DDB0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1885679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F7AFC-1A54-7082-1C8C-8B73232BD587}"/>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D67FFE19-DC4F-9D6E-891A-22949C3C1043}"/>
              </a:ext>
            </a:extLst>
          </p:cNvPr>
          <p:cNvSpPr>
            <a:spLocks noGrp="1"/>
          </p:cNvSpPr>
          <p:nvPr>
            <p:ph type="body" sz="quarter" idx="52"/>
          </p:nvPr>
        </p:nvSpPr>
        <p:spPr>
          <a:xfrm>
            <a:off x="6054240" y="1262717"/>
            <a:ext cx="2202441" cy="431793"/>
          </a:xfrm>
        </p:spPr>
        <p:txBody>
          <a:bodyPr/>
          <a:lstStyle/>
          <a:p>
            <a:r>
              <a:rPr lang="en-US"/>
              <a:t>Solution Expectations</a:t>
            </a:r>
          </a:p>
        </p:txBody>
      </p:sp>
      <p:sp>
        <p:nvSpPr>
          <p:cNvPr id="3" name="Title 2">
            <a:extLst>
              <a:ext uri="{FF2B5EF4-FFF2-40B4-BE49-F238E27FC236}">
                <a16:creationId xmlns:a16="http://schemas.microsoft.com/office/drawing/2014/main" id="{5526EADB-774D-0620-F1C0-4898FBA47D9B}"/>
              </a:ext>
            </a:extLst>
          </p:cNvPr>
          <p:cNvSpPr>
            <a:spLocks noGrp="1"/>
          </p:cNvSpPr>
          <p:nvPr>
            <p:ph type="title"/>
          </p:nvPr>
        </p:nvSpPr>
        <p:spPr>
          <a:xfrm>
            <a:off x="419100" y="294640"/>
            <a:ext cx="8153400" cy="338554"/>
          </a:xfrm>
        </p:spPr>
        <p:txBody>
          <a:bodyPr/>
          <a:lstStyle/>
          <a:p>
            <a:r>
              <a:rPr lang="en-US"/>
              <a:t>Executive Summary – Goals and Success Measures</a:t>
            </a:r>
          </a:p>
        </p:txBody>
      </p:sp>
      <p:sp>
        <p:nvSpPr>
          <p:cNvPr id="4" name="Text Placeholder 3">
            <a:extLst>
              <a:ext uri="{FF2B5EF4-FFF2-40B4-BE49-F238E27FC236}">
                <a16:creationId xmlns:a16="http://schemas.microsoft.com/office/drawing/2014/main" id="{03E6DBD6-ED02-B44E-BD83-DCE808707FC5}"/>
              </a:ext>
            </a:extLst>
          </p:cNvPr>
          <p:cNvSpPr>
            <a:spLocks noGrp="1"/>
          </p:cNvSpPr>
          <p:nvPr>
            <p:ph type="body" sz="quarter" idx="46"/>
          </p:nvPr>
        </p:nvSpPr>
        <p:spPr>
          <a:xfrm>
            <a:off x="593197" y="1262717"/>
            <a:ext cx="2202441" cy="431793"/>
          </a:xfrm>
        </p:spPr>
        <p:txBody>
          <a:bodyPr/>
          <a:lstStyle/>
          <a:p>
            <a:r>
              <a:rPr lang="en-US"/>
              <a:t>Vision</a:t>
            </a:r>
          </a:p>
        </p:txBody>
      </p:sp>
      <p:sp>
        <p:nvSpPr>
          <p:cNvPr id="6" name="Text Placeholder 5">
            <a:extLst>
              <a:ext uri="{FF2B5EF4-FFF2-40B4-BE49-F238E27FC236}">
                <a16:creationId xmlns:a16="http://schemas.microsoft.com/office/drawing/2014/main" id="{34A6FED2-A542-23EA-ACD7-BC1C63F3DD67}"/>
              </a:ext>
            </a:extLst>
          </p:cNvPr>
          <p:cNvSpPr>
            <a:spLocks noGrp="1"/>
          </p:cNvSpPr>
          <p:nvPr>
            <p:ph type="body" sz="quarter" idx="49"/>
          </p:nvPr>
        </p:nvSpPr>
        <p:spPr>
          <a:xfrm>
            <a:off x="3310271" y="1262717"/>
            <a:ext cx="2202441" cy="431793"/>
          </a:xfrm>
        </p:spPr>
        <p:txBody>
          <a:bodyPr/>
          <a:lstStyle/>
          <a:p>
            <a:r>
              <a:rPr lang="en-US"/>
              <a:t>Business Problem</a:t>
            </a:r>
          </a:p>
        </p:txBody>
      </p:sp>
      <p:sp>
        <p:nvSpPr>
          <p:cNvPr id="9" name="Text Placeholder 8">
            <a:extLst>
              <a:ext uri="{FF2B5EF4-FFF2-40B4-BE49-F238E27FC236}">
                <a16:creationId xmlns:a16="http://schemas.microsoft.com/office/drawing/2014/main" id="{7C1887D6-B946-4F81-21C8-15EEFB142181}"/>
              </a:ext>
            </a:extLst>
          </p:cNvPr>
          <p:cNvSpPr>
            <a:spLocks noGrp="1"/>
          </p:cNvSpPr>
          <p:nvPr>
            <p:ph type="body" sz="quarter" idx="55"/>
          </p:nvPr>
        </p:nvSpPr>
        <p:spPr/>
        <p:txBody>
          <a:bodyPr/>
          <a:lstStyle/>
          <a:p>
            <a:r>
              <a:rPr lang="en-US">
                <a:highlight>
                  <a:srgbClr val="FFFF00"/>
                </a:highlight>
              </a:rPr>
              <a:t>Enter customer-specific vision from Sales Handoff Process </a:t>
            </a:r>
          </a:p>
          <a:p>
            <a:endParaRPr lang="en-US"/>
          </a:p>
        </p:txBody>
      </p:sp>
      <p:sp>
        <p:nvSpPr>
          <p:cNvPr id="5" name="Text Placeholder 4">
            <a:extLst>
              <a:ext uri="{FF2B5EF4-FFF2-40B4-BE49-F238E27FC236}">
                <a16:creationId xmlns:a16="http://schemas.microsoft.com/office/drawing/2014/main" id="{590FC360-48EA-96C4-1D5C-2AFC75ED55BE}"/>
              </a:ext>
            </a:extLst>
          </p:cNvPr>
          <p:cNvSpPr>
            <a:spLocks noGrp="1"/>
          </p:cNvSpPr>
          <p:nvPr>
            <p:ph type="body" sz="quarter" idx="56"/>
          </p:nvPr>
        </p:nvSpPr>
        <p:spPr/>
        <p:txBody>
          <a:bodyPr/>
          <a:lstStyle/>
          <a:p>
            <a:r>
              <a:rPr lang="en-US">
                <a:highlight>
                  <a:srgbClr val="FFFF00"/>
                </a:highlight>
              </a:rPr>
              <a:t>Enter customer-specific business problem from Sales Handoff Process </a:t>
            </a:r>
          </a:p>
          <a:p>
            <a:endParaRPr lang="en-US"/>
          </a:p>
        </p:txBody>
      </p:sp>
      <p:sp>
        <p:nvSpPr>
          <p:cNvPr id="7" name="Text Placeholder 6">
            <a:extLst>
              <a:ext uri="{FF2B5EF4-FFF2-40B4-BE49-F238E27FC236}">
                <a16:creationId xmlns:a16="http://schemas.microsoft.com/office/drawing/2014/main" id="{925E5512-64E2-C5B9-ACE7-8274723ACAA1}"/>
              </a:ext>
            </a:extLst>
          </p:cNvPr>
          <p:cNvSpPr>
            <a:spLocks noGrp="1"/>
          </p:cNvSpPr>
          <p:nvPr>
            <p:ph type="body" sz="quarter" idx="57"/>
          </p:nvPr>
        </p:nvSpPr>
        <p:spPr/>
        <p:txBody>
          <a:bodyPr/>
          <a:lstStyle/>
          <a:p>
            <a:r>
              <a:rPr lang="en-US">
                <a:highlight>
                  <a:srgbClr val="FFFF00"/>
                </a:highlight>
              </a:rPr>
              <a:t>Enter customer-specific expectations from Sales Handoff Process </a:t>
            </a:r>
          </a:p>
          <a:p>
            <a:endParaRPr lang="en-US"/>
          </a:p>
        </p:txBody>
      </p:sp>
      <p:grpSp>
        <p:nvGrpSpPr>
          <p:cNvPr id="2" name="Group 1">
            <a:extLst>
              <a:ext uri="{FF2B5EF4-FFF2-40B4-BE49-F238E27FC236}">
                <a16:creationId xmlns:a16="http://schemas.microsoft.com/office/drawing/2014/main" id="{E6C291AC-C197-55C6-BB2B-E6906302F54B}"/>
              </a:ext>
            </a:extLst>
          </p:cNvPr>
          <p:cNvGrpSpPr/>
          <p:nvPr/>
        </p:nvGrpSpPr>
        <p:grpSpPr>
          <a:xfrm>
            <a:off x="-2208139" y="0"/>
            <a:ext cx="2338441" cy="5143500"/>
            <a:chOff x="-2208139" y="0"/>
            <a:chExt cx="2338441" cy="5143500"/>
          </a:xfrm>
        </p:grpSpPr>
        <p:sp>
          <p:nvSpPr>
            <p:cNvPr id="10" name="Rectangle: Rounded Corners 9">
              <a:extLst>
                <a:ext uri="{FF2B5EF4-FFF2-40B4-BE49-F238E27FC236}">
                  <a16:creationId xmlns:a16="http://schemas.microsoft.com/office/drawing/2014/main" id="{D396B38A-BDFD-E04C-CC7B-45D8A9C3B776}"/>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38CDA59A-8662-964A-D826-E156F0AA7771}"/>
                </a:ext>
              </a:extLst>
            </p:cNvPr>
            <p:cNvGrpSpPr/>
            <p:nvPr/>
          </p:nvGrpSpPr>
          <p:grpSpPr>
            <a:xfrm>
              <a:off x="-2208139" y="0"/>
              <a:ext cx="2018501" cy="5143500"/>
              <a:chOff x="-2208139" y="0"/>
              <a:chExt cx="2018501" cy="5143500"/>
            </a:xfrm>
          </p:grpSpPr>
          <p:sp>
            <p:nvSpPr>
              <p:cNvPr id="12" name="Rectangle: Rounded Corners 11">
                <a:extLst>
                  <a:ext uri="{FF2B5EF4-FFF2-40B4-BE49-F238E27FC236}">
                    <a16:creationId xmlns:a16="http://schemas.microsoft.com/office/drawing/2014/main" id="{FF323FE3-B418-3F63-F809-A13A73BF61D6}"/>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3" name="TextBox 12">
                <a:extLst>
                  <a:ext uri="{FF2B5EF4-FFF2-40B4-BE49-F238E27FC236}">
                    <a16:creationId xmlns:a16="http://schemas.microsoft.com/office/drawing/2014/main" id="{5550BAA7-DF7C-4D89-6B3C-CCAA55687D83}"/>
                  </a:ext>
                </a:extLst>
              </p:cNvPr>
              <p:cNvSpPr txBox="1"/>
              <p:nvPr/>
            </p:nvSpPr>
            <p:spPr>
              <a:xfrm>
                <a:off x="-2081074" y="983848"/>
                <a:ext cx="1764368" cy="2677656"/>
              </a:xfrm>
              <a:prstGeom prst="rect">
                <a:avLst/>
              </a:prstGeom>
              <a:solidFill>
                <a:schemeClr val="bg1"/>
              </a:solidFill>
              <a:ln w="3175">
                <a:solidFill>
                  <a:schemeClr val="accent6">
                    <a:lumMod val="10000"/>
                  </a:schemeClr>
                </a:solidFill>
              </a:ln>
            </p:spPr>
            <p:txBody>
              <a:bodyPr wrap="square" lIns="91440" rtlCol="0">
                <a:spAutoFit/>
              </a:bodyPr>
              <a:lstStyle/>
              <a:p>
                <a:r>
                  <a:rPr lang="en-US" sz="1400"/>
                  <a:t>Populate this slide using inputs from the Sales handoff. If not provided, align with Sales and customer sponsors/leads to confirm the customer vision, business problem, and solution expectations.</a:t>
                </a:r>
                <a:endPar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endParaRPr>
              </a:p>
            </p:txBody>
          </p:sp>
          <p:sp>
            <p:nvSpPr>
              <p:cNvPr id="14" name="TextBox 13">
                <a:extLst>
                  <a:ext uri="{FF2B5EF4-FFF2-40B4-BE49-F238E27FC236}">
                    <a16:creationId xmlns:a16="http://schemas.microsoft.com/office/drawing/2014/main" id="{29F3DE04-40DA-159A-1370-150086680847}"/>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5" name="Group 14">
                <a:extLst>
                  <a:ext uri="{FF2B5EF4-FFF2-40B4-BE49-F238E27FC236}">
                    <a16:creationId xmlns:a16="http://schemas.microsoft.com/office/drawing/2014/main" id="{91D42DF9-B6B6-B969-2A6D-EBD071568F1D}"/>
                  </a:ext>
                </a:extLst>
              </p:cNvPr>
              <p:cNvGrpSpPr/>
              <p:nvPr/>
            </p:nvGrpSpPr>
            <p:grpSpPr>
              <a:xfrm>
                <a:off x="-1913726" y="4862278"/>
                <a:ext cx="1537258" cy="215444"/>
                <a:chOff x="-1907058" y="4862278"/>
                <a:chExt cx="1537258" cy="215444"/>
              </a:xfrm>
            </p:grpSpPr>
            <p:sp>
              <p:nvSpPr>
                <p:cNvPr id="19" name="TextBox 18">
                  <a:extLst>
                    <a:ext uri="{FF2B5EF4-FFF2-40B4-BE49-F238E27FC236}">
                      <a16:creationId xmlns:a16="http://schemas.microsoft.com/office/drawing/2014/main" id="{BE0E24D5-12F3-6FD2-D979-0339295F76A7}"/>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20" name="Graphic 19" descr="Warning with solid fill">
                  <a:extLst>
                    <a:ext uri="{FF2B5EF4-FFF2-40B4-BE49-F238E27FC236}">
                      <a16:creationId xmlns:a16="http://schemas.microsoft.com/office/drawing/2014/main" id="{B26C7D99-61B4-5060-3549-397B791BAB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16" name="Group 15">
                <a:extLst>
                  <a:ext uri="{FF2B5EF4-FFF2-40B4-BE49-F238E27FC236}">
                    <a16:creationId xmlns:a16="http://schemas.microsoft.com/office/drawing/2014/main" id="{2EF5C3F3-8EC6-4B1B-5E35-E92FAA466530}"/>
                  </a:ext>
                </a:extLst>
              </p:cNvPr>
              <p:cNvGrpSpPr/>
              <p:nvPr/>
            </p:nvGrpSpPr>
            <p:grpSpPr>
              <a:xfrm>
                <a:off x="-1468837" y="0"/>
                <a:ext cx="539895" cy="539895"/>
                <a:chOff x="-1468837" y="0"/>
                <a:chExt cx="539895" cy="539895"/>
              </a:xfrm>
            </p:grpSpPr>
            <p:sp>
              <p:nvSpPr>
                <p:cNvPr id="17" name="Oval 16">
                  <a:extLst>
                    <a:ext uri="{FF2B5EF4-FFF2-40B4-BE49-F238E27FC236}">
                      <a16:creationId xmlns:a16="http://schemas.microsoft.com/office/drawing/2014/main" id="{FEBEEEA4-40B9-462A-D350-70F7CC193330}"/>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8" name="Graphic 17" descr="Target Audience with solid fill">
                  <a:extLst>
                    <a:ext uri="{FF2B5EF4-FFF2-40B4-BE49-F238E27FC236}">
                      <a16:creationId xmlns:a16="http://schemas.microsoft.com/office/drawing/2014/main" id="{8E34F28E-BE40-73BF-4DAE-DF841A4445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51368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FA3CB-3FBE-670B-B9B0-2E5D3E241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5AB5D-189E-86F2-3A25-59EAD279B8B4}"/>
              </a:ext>
            </a:extLst>
          </p:cNvPr>
          <p:cNvSpPr>
            <a:spLocks noGrp="1"/>
          </p:cNvSpPr>
          <p:nvPr>
            <p:ph type="title"/>
          </p:nvPr>
        </p:nvSpPr>
        <p:spPr>
          <a:xfrm>
            <a:off x="433314" y="304210"/>
            <a:ext cx="8153401" cy="338554"/>
          </a:xfrm>
        </p:spPr>
        <p:txBody>
          <a:bodyPr/>
          <a:lstStyle/>
          <a:p>
            <a:r>
              <a:rPr lang="en-US"/>
              <a:t>Project Timeline</a:t>
            </a:r>
          </a:p>
        </p:txBody>
      </p:sp>
      <p:graphicFrame>
        <p:nvGraphicFramePr>
          <p:cNvPr id="54" name="Table 53">
            <a:extLst>
              <a:ext uri="{FF2B5EF4-FFF2-40B4-BE49-F238E27FC236}">
                <a16:creationId xmlns:a16="http://schemas.microsoft.com/office/drawing/2014/main" id="{DDEEF54D-A65F-DEAB-661F-41445924181D}"/>
              </a:ext>
            </a:extLst>
          </p:cNvPr>
          <p:cNvGraphicFramePr>
            <a:graphicFrameLocks noGrp="1"/>
          </p:cNvGraphicFramePr>
          <p:nvPr/>
        </p:nvGraphicFramePr>
        <p:xfrm>
          <a:off x="7676223" y="226003"/>
          <a:ext cx="910492" cy="449391"/>
        </p:xfrm>
        <a:graphic>
          <a:graphicData uri="http://schemas.openxmlformats.org/drawingml/2006/table">
            <a:tbl>
              <a:tblPr>
                <a:tableStyleId>{5C22544A-7EE6-4342-B048-85BDC9FD1C3A}</a:tableStyleId>
              </a:tblPr>
              <a:tblGrid>
                <a:gridCol w="910492">
                  <a:extLst>
                    <a:ext uri="{9D8B030D-6E8A-4147-A177-3AD203B41FA5}">
                      <a16:colId xmlns:a16="http://schemas.microsoft.com/office/drawing/2014/main" val="957519160"/>
                    </a:ext>
                  </a:extLst>
                </a:gridCol>
              </a:tblGrid>
              <a:tr h="149797">
                <a:tc>
                  <a:txBody>
                    <a:bodyPr/>
                    <a:lstStyle/>
                    <a:p>
                      <a:pPr algn="l" fontAlgn="b">
                        <a:buNone/>
                      </a:pPr>
                      <a:r>
                        <a:rPr lang="en-US" sz="900" b="1" u="none" strike="noStrike">
                          <a:solidFill>
                            <a:schemeClr val="bg1"/>
                          </a:solidFill>
                          <a:effectLst/>
                          <a:latin typeface="+mj-lt"/>
                        </a:rPr>
                        <a:t>Legend</a:t>
                      </a:r>
                    </a:p>
                  </a:txBody>
                  <a:tcPr marL="45720" marR="4536" marT="453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920529996"/>
                  </a:ext>
                </a:extLst>
              </a:tr>
              <a:tr h="149797">
                <a:tc>
                  <a:txBody>
                    <a:bodyPr/>
                    <a:lstStyle/>
                    <a:p>
                      <a:pPr algn="l" fontAlgn="b">
                        <a:buNone/>
                      </a:pPr>
                      <a:r>
                        <a:rPr lang="en-US" sz="900" u="none" strike="noStrike">
                          <a:solidFill>
                            <a:schemeClr val="accent1"/>
                          </a:solidFill>
                          <a:effectLst/>
                        </a:rPr>
                        <a:t>◆ </a:t>
                      </a:r>
                      <a:r>
                        <a:rPr lang="en-US" sz="900" u="none" strike="noStrike">
                          <a:solidFill>
                            <a:schemeClr val="tx2"/>
                          </a:solidFill>
                          <a:effectLst/>
                        </a:rPr>
                        <a:t>Milestone</a:t>
                      </a:r>
                    </a:p>
                  </a:txBody>
                  <a:tcPr marL="4536" marR="4536" marT="453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2023706740"/>
                  </a:ext>
                </a:extLst>
              </a:tr>
              <a:tr h="149797">
                <a:tc>
                  <a:txBody>
                    <a:bodyPr/>
                    <a:lstStyle/>
                    <a:p>
                      <a:pPr algn="l" fontAlgn="b">
                        <a:buNone/>
                      </a:pPr>
                      <a:r>
                        <a:rPr lang="en-US" sz="900" u="none" strike="noStrike">
                          <a:solidFill>
                            <a:schemeClr val="accent2"/>
                          </a:solidFill>
                          <a:effectLst/>
                        </a:rPr>
                        <a:t>●  </a:t>
                      </a:r>
                      <a:r>
                        <a:rPr lang="en-US" sz="900" u="none" strike="noStrike">
                          <a:effectLst/>
                        </a:rPr>
                        <a:t>Go-Live</a:t>
                      </a:r>
                      <a:endParaRPr lang="en-US" sz="900" b="0" i="0" u="none" strike="noStrike">
                        <a:solidFill>
                          <a:srgbClr val="000000"/>
                        </a:solidFill>
                        <a:effectLst/>
                        <a:latin typeface="Arial" panose="020B0604020202020204" pitchFamily="34" charset="0"/>
                      </a:endParaRPr>
                    </a:p>
                  </a:txBody>
                  <a:tcPr marL="4536" marR="4536" marT="453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77497164"/>
                  </a:ext>
                </a:extLst>
              </a:tr>
            </a:tbl>
          </a:graphicData>
        </a:graphic>
      </p:graphicFrame>
      <p:grpSp>
        <p:nvGrpSpPr>
          <p:cNvPr id="59" name="Group 58">
            <a:extLst>
              <a:ext uri="{FF2B5EF4-FFF2-40B4-BE49-F238E27FC236}">
                <a16:creationId xmlns:a16="http://schemas.microsoft.com/office/drawing/2014/main" id="{09579528-E2FB-0D0E-45D7-FA235C08CCCE}"/>
              </a:ext>
            </a:extLst>
          </p:cNvPr>
          <p:cNvGrpSpPr/>
          <p:nvPr/>
        </p:nvGrpSpPr>
        <p:grpSpPr>
          <a:xfrm>
            <a:off x="-2208139" y="0"/>
            <a:ext cx="2338441" cy="5143500"/>
            <a:chOff x="-2208139" y="0"/>
            <a:chExt cx="2338441" cy="5143500"/>
          </a:xfrm>
        </p:grpSpPr>
        <p:sp>
          <p:nvSpPr>
            <p:cNvPr id="60" name="Rectangle: Rounded Corners 59">
              <a:extLst>
                <a:ext uri="{FF2B5EF4-FFF2-40B4-BE49-F238E27FC236}">
                  <a16:creationId xmlns:a16="http://schemas.microsoft.com/office/drawing/2014/main" id="{7360CC33-0BE5-37D4-BFAD-3194E74778CB}"/>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0AC8DADE-8683-0789-FD8C-3759D7945FCB}"/>
                </a:ext>
              </a:extLst>
            </p:cNvPr>
            <p:cNvGrpSpPr/>
            <p:nvPr/>
          </p:nvGrpSpPr>
          <p:grpSpPr>
            <a:xfrm>
              <a:off x="-2208139" y="0"/>
              <a:ext cx="2018501" cy="5143500"/>
              <a:chOff x="-2208139" y="0"/>
              <a:chExt cx="2018501" cy="5143500"/>
            </a:xfrm>
          </p:grpSpPr>
          <p:sp>
            <p:nvSpPr>
              <p:cNvPr id="62" name="Rectangle: Rounded Corners 61">
                <a:extLst>
                  <a:ext uri="{FF2B5EF4-FFF2-40B4-BE49-F238E27FC236}">
                    <a16:creationId xmlns:a16="http://schemas.microsoft.com/office/drawing/2014/main" id="{F4A98F60-87DD-B244-AFB9-02D393204767}"/>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63" name="TextBox 62">
                <a:extLst>
                  <a:ext uri="{FF2B5EF4-FFF2-40B4-BE49-F238E27FC236}">
                    <a16:creationId xmlns:a16="http://schemas.microsoft.com/office/drawing/2014/main" id="{1038A757-6CEC-7CCE-5E1D-0ABA2C85D31B}"/>
                  </a:ext>
                </a:extLst>
              </p:cNvPr>
              <p:cNvSpPr txBox="1"/>
              <p:nvPr/>
            </p:nvSpPr>
            <p:spPr>
              <a:xfrm>
                <a:off x="-2081074" y="983848"/>
                <a:ext cx="1764368" cy="1169551"/>
              </a:xfrm>
              <a:prstGeom prst="rect">
                <a:avLst/>
              </a:prstGeom>
              <a:solidFill>
                <a:schemeClr val="bg1"/>
              </a:solidFill>
              <a:ln w="3175">
                <a:solidFill>
                  <a:schemeClr val="accent6">
                    <a:lumMod val="10000"/>
                  </a:schemeClr>
                </a:solidFill>
              </a:ln>
            </p:spPr>
            <p:txBody>
              <a:bodyPr wrap="square" lIns="91440" tIns="45720" rIns="91440" bIns="45720" rtlCol="0" anchor="t">
                <a:spAutoFit/>
              </a:bodyPr>
              <a:lstStyle/>
              <a:p>
                <a:r>
                  <a:rPr lang="en-US" sz="1400"/>
                  <a:t>Adjust the timeline and phasing to reflect the specific customer and application.</a:t>
                </a:r>
              </a:p>
            </p:txBody>
          </p:sp>
          <p:sp>
            <p:nvSpPr>
              <p:cNvPr id="64" name="TextBox 63">
                <a:extLst>
                  <a:ext uri="{FF2B5EF4-FFF2-40B4-BE49-F238E27FC236}">
                    <a16:creationId xmlns:a16="http://schemas.microsoft.com/office/drawing/2014/main" id="{6A2DCDDF-1D3A-56DE-7C17-53E035334310}"/>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65" name="Group 64">
                <a:extLst>
                  <a:ext uri="{FF2B5EF4-FFF2-40B4-BE49-F238E27FC236}">
                    <a16:creationId xmlns:a16="http://schemas.microsoft.com/office/drawing/2014/main" id="{F5D7D4B5-9262-7610-63FC-3130B12BCD79}"/>
                  </a:ext>
                </a:extLst>
              </p:cNvPr>
              <p:cNvGrpSpPr/>
              <p:nvPr/>
            </p:nvGrpSpPr>
            <p:grpSpPr>
              <a:xfrm>
                <a:off x="-1913726" y="4862278"/>
                <a:ext cx="1537258" cy="215444"/>
                <a:chOff x="-1907058" y="4862278"/>
                <a:chExt cx="1537258" cy="215444"/>
              </a:xfrm>
            </p:grpSpPr>
            <p:sp>
              <p:nvSpPr>
                <p:cNvPr id="69" name="TextBox 68">
                  <a:extLst>
                    <a:ext uri="{FF2B5EF4-FFF2-40B4-BE49-F238E27FC236}">
                      <a16:creationId xmlns:a16="http://schemas.microsoft.com/office/drawing/2014/main" id="{555D37AE-A58D-86FC-8DB6-40958BF288AA}"/>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70" name="Graphic 69" descr="Warning with solid fill">
                  <a:extLst>
                    <a:ext uri="{FF2B5EF4-FFF2-40B4-BE49-F238E27FC236}">
                      <a16:creationId xmlns:a16="http://schemas.microsoft.com/office/drawing/2014/main" id="{9E02A485-4D27-28BB-08DF-0D33B57626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7058" y="4928624"/>
                  <a:ext cx="98429" cy="98429"/>
                </a:xfrm>
                <a:prstGeom prst="rect">
                  <a:avLst/>
                </a:prstGeom>
              </p:spPr>
            </p:pic>
          </p:grpSp>
          <p:grpSp>
            <p:nvGrpSpPr>
              <p:cNvPr id="66" name="Group 65">
                <a:extLst>
                  <a:ext uri="{FF2B5EF4-FFF2-40B4-BE49-F238E27FC236}">
                    <a16:creationId xmlns:a16="http://schemas.microsoft.com/office/drawing/2014/main" id="{A51C3393-57EE-41C0-2FA8-5956ADBE1089}"/>
                  </a:ext>
                </a:extLst>
              </p:cNvPr>
              <p:cNvGrpSpPr/>
              <p:nvPr/>
            </p:nvGrpSpPr>
            <p:grpSpPr>
              <a:xfrm>
                <a:off x="-1468837" y="0"/>
                <a:ext cx="539895" cy="539895"/>
                <a:chOff x="-1468837" y="0"/>
                <a:chExt cx="539895" cy="539895"/>
              </a:xfrm>
            </p:grpSpPr>
            <p:sp>
              <p:nvSpPr>
                <p:cNvPr id="67" name="Oval 66">
                  <a:extLst>
                    <a:ext uri="{FF2B5EF4-FFF2-40B4-BE49-F238E27FC236}">
                      <a16:creationId xmlns:a16="http://schemas.microsoft.com/office/drawing/2014/main" id="{D4E1E9B8-314F-AE4F-5041-F46D32978CBE}"/>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68" name="Graphic 67" descr="Target Audience with solid fill">
                  <a:extLst>
                    <a:ext uri="{FF2B5EF4-FFF2-40B4-BE49-F238E27FC236}">
                      <a16:creationId xmlns:a16="http://schemas.microsoft.com/office/drawing/2014/main" id="{5A157A62-1E0C-0E5F-1CE2-2BAC181C42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641" y="89196"/>
                  <a:ext cx="361503" cy="361503"/>
                </a:xfrm>
                <a:prstGeom prst="rect">
                  <a:avLst/>
                </a:prstGeom>
              </p:spPr>
            </p:pic>
          </p:grpSp>
        </p:grpSp>
      </p:grpSp>
      <p:graphicFrame>
        <p:nvGraphicFramePr>
          <p:cNvPr id="5" name="Table 4">
            <a:extLst>
              <a:ext uri="{FF2B5EF4-FFF2-40B4-BE49-F238E27FC236}">
                <a16:creationId xmlns:a16="http://schemas.microsoft.com/office/drawing/2014/main" id="{BB542ED1-95EF-2093-2F5D-68BDD94BB9F2}"/>
              </a:ext>
            </a:extLst>
          </p:cNvPr>
          <p:cNvGraphicFramePr>
            <a:graphicFrameLocks noGrp="1"/>
          </p:cNvGraphicFramePr>
          <p:nvPr/>
        </p:nvGraphicFramePr>
        <p:xfrm>
          <a:off x="433313" y="913409"/>
          <a:ext cx="8153403" cy="4005774"/>
        </p:xfrm>
        <a:graphic>
          <a:graphicData uri="http://schemas.openxmlformats.org/drawingml/2006/table">
            <a:tbl>
              <a:tblPr>
                <a:tableStyleId>{5C22544A-7EE6-4342-B048-85BDC9FD1C3A}</a:tableStyleId>
              </a:tblPr>
              <a:tblGrid>
                <a:gridCol w="3688716">
                  <a:extLst>
                    <a:ext uri="{9D8B030D-6E8A-4147-A177-3AD203B41FA5}">
                      <a16:colId xmlns:a16="http://schemas.microsoft.com/office/drawing/2014/main" val="1547714114"/>
                    </a:ext>
                  </a:extLst>
                </a:gridCol>
                <a:gridCol w="371120">
                  <a:extLst>
                    <a:ext uri="{9D8B030D-6E8A-4147-A177-3AD203B41FA5}">
                      <a16:colId xmlns:a16="http://schemas.microsoft.com/office/drawing/2014/main" val="1470347086"/>
                    </a:ext>
                  </a:extLst>
                </a:gridCol>
                <a:gridCol w="371120">
                  <a:extLst>
                    <a:ext uri="{9D8B030D-6E8A-4147-A177-3AD203B41FA5}">
                      <a16:colId xmlns:a16="http://schemas.microsoft.com/office/drawing/2014/main" val="3979765678"/>
                    </a:ext>
                  </a:extLst>
                </a:gridCol>
                <a:gridCol w="371120">
                  <a:extLst>
                    <a:ext uri="{9D8B030D-6E8A-4147-A177-3AD203B41FA5}">
                      <a16:colId xmlns:a16="http://schemas.microsoft.com/office/drawing/2014/main" val="264747828"/>
                    </a:ext>
                  </a:extLst>
                </a:gridCol>
                <a:gridCol w="371120">
                  <a:extLst>
                    <a:ext uri="{9D8B030D-6E8A-4147-A177-3AD203B41FA5}">
                      <a16:colId xmlns:a16="http://schemas.microsoft.com/office/drawing/2014/main" val="1049810207"/>
                    </a:ext>
                  </a:extLst>
                </a:gridCol>
                <a:gridCol w="371120">
                  <a:extLst>
                    <a:ext uri="{9D8B030D-6E8A-4147-A177-3AD203B41FA5}">
                      <a16:colId xmlns:a16="http://schemas.microsoft.com/office/drawing/2014/main" val="1434781450"/>
                    </a:ext>
                  </a:extLst>
                </a:gridCol>
                <a:gridCol w="371120">
                  <a:extLst>
                    <a:ext uri="{9D8B030D-6E8A-4147-A177-3AD203B41FA5}">
                      <a16:colId xmlns:a16="http://schemas.microsoft.com/office/drawing/2014/main" val="3528408457"/>
                    </a:ext>
                  </a:extLst>
                </a:gridCol>
                <a:gridCol w="371120">
                  <a:extLst>
                    <a:ext uri="{9D8B030D-6E8A-4147-A177-3AD203B41FA5}">
                      <a16:colId xmlns:a16="http://schemas.microsoft.com/office/drawing/2014/main" val="2576512"/>
                    </a:ext>
                  </a:extLst>
                </a:gridCol>
                <a:gridCol w="371120">
                  <a:extLst>
                    <a:ext uri="{9D8B030D-6E8A-4147-A177-3AD203B41FA5}">
                      <a16:colId xmlns:a16="http://schemas.microsoft.com/office/drawing/2014/main" val="3383565470"/>
                    </a:ext>
                  </a:extLst>
                </a:gridCol>
                <a:gridCol w="371120">
                  <a:extLst>
                    <a:ext uri="{9D8B030D-6E8A-4147-A177-3AD203B41FA5}">
                      <a16:colId xmlns:a16="http://schemas.microsoft.com/office/drawing/2014/main" val="242460514"/>
                    </a:ext>
                  </a:extLst>
                </a:gridCol>
                <a:gridCol w="393613">
                  <a:extLst>
                    <a:ext uri="{9D8B030D-6E8A-4147-A177-3AD203B41FA5}">
                      <a16:colId xmlns:a16="http://schemas.microsoft.com/office/drawing/2014/main" val="491550662"/>
                    </a:ext>
                  </a:extLst>
                </a:gridCol>
                <a:gridCol w="359874">
                  <a:extLst>
                    <a:ext uri="{9D8B030D-6E8A-4147-A177-3AD203B41FA5}">
                      <a16:colId xmlns:a16="http://schemas.microsoft.com/office/drawing/2014/main" val="1579303753"/>
                    </a:ext>
                  </a:extLst>
                </a:gridCol>
                <a:gridCol w="371120">
                  <a:extLst>
                    <a:ext uri="{9D8B030D-6E8A-4147-A177-3AD203B41FA5}">
                      <a16:colId xmlns:a16="http://schemas.microsoft.com/office/drawing/2014/main" val="777821903"/>
                    </a:ext>
                  </a:extLst>
                </a:gridCol>
              </a:tblGrid>
              <a:tr h="222543">
                <a:tc>
                  <a:txBody>
                    <a:bodyPr/>
                    <a:lstStyle/>
                    <a:p>
                      <a:pPr algn="l" rtl="0" fontAlgn="b">
                        <a:buNone/>
                      </a:pPr>
                      <a:r>
                        <a:rPr lang="en-US" sz="900" b="1" u="none" strike="noStrike">
                          <a:solidFill>
                            <a:schemeClr val="bg1"/>
                          </a:solidFill>
                          <a:effectLst/>
                          <a:latin typeface="+mj-lt"/>
                        </a:rPr>
                        <a:t>Activity</a:t>
                      </a:r>
                      <a:endParaRPr lang="en-US" sz="900" b="1" i="0" u="none" strike="noStrike">
                        <a:solidFill>
                          <a:schemeClr val="bg1"/>
                        </a:solidFill>
                        <a:effectLst/>
                        <a:latin typeface="+mj-lt"/>
                      </a:endParaRPr>
                    </a:p>
                  </a:txBody>
                  <a:tcPr marL="27432" marR="0" marT="0" marB="0" anchor="b">
                    <a:lnL w="12700" cap="flat" cmpd="sng" algn="ctr">
                      <a:solidFill>
                        <a:schemeClr val="tx1"/>
                      </a:solidFill>
                      <a:prstDash val="solid"/>
                      <a:round/>
                      <a:headEnd type="none" w="med" len="med"/>
                      <a:tailEnd type="none" w="med" len="med"/>
                    </a:lnL>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W1</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W2</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W3</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W4</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W5</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W6</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W7</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W8</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W9</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W10</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W11</a:t>
                      </a:r>
                      <a:endParaRPr lang="en-US" sz="900" b="1" i="0" u="none" strike="noStrike">
                        <a:solidFill>
                          <a:schemeClr val="bg1"/>
                        </a:solidFill>
                        <a:effectLst/>
                        <a:latin typeface="+mj-lt"/>
                      </a:endParaRPr>
                    </a:p>
                  </a:txBody>
                  <a:tcPr marL="0" marR="0" marT="0" marB="0" anchor="b">
                    <a:lnB w="12700" cmpd="sng">
                      <a:noFill/>
                    </a:lnB>
                    <a:solidFill>
                      <a:srgbClr val="0A2F46"/>
                    </a:solidFill>
                  </a:tcPr>
                </a:tc>
                <a:tc>
                  <a:txBody>
                    <a:bodyPr/>
                    <a:lstStyle/>
                    <a:p>
                      <a:pPr algn="ctr" rtl="0" fontAlgn="b">
                        <a:buNone/>
                      </a:pPr>
                      <a:r>
                        <a:rPr lang="en-US" sz="900" b="1" u="none" strike="noStrike">
                          <a:solidFill>
                            <a:schemeClr val="bg1"/>
                          </a:solidFill>
                          <a:effectLst/>
                          <a:latin typeface="+mj-lt"/>
                        </a:rPr>
                        <a:t>W12</a:t>
                      </a:r>
                      <a:endParaRPr lang="en-US" sz="900" b="1" i="0" u="none" strike="noStrike">
                        <a:solidFill>
                          <a:schemeClr val="bg1"/>
                        </a:solidFill>
                        <a:effectLst/>
                        <a:latin typeface="+mj-lt"/>
                      </a:endParaRPr>
                    </a:p>
                  </a:txBody>
                  <a:tcPr marL="0" marR="0" marT="0" marB="0" anchor="b">
                    <a:lnR w="12700" cap="flat" cmpd="sng" algn="ctr">
                      <a:solidFill>
                        <a:schemeClr val="tx1"/>
                      </a:solidFill>
                      <a:prstDash val="solid"/>
                      <a:round/>
                      <a:headEnd type="none" w="med" len="med"/>
                      <a:tailEnd type="none" w="med" len="med"/>
                    </a:lnR>
                    <a:lnB w="12700" cmpd="sng">
                      <a:noFill/>
                    </a:lnB>
                    <a:solidFill>
                      <a:srgbClr val="0A2F46"/>
                    </a:solidFill>
                  </a:tcPr>
                </a:tc>
                <a:extLst>
                  <a:ext uri="{0D108BD9-81ED-4DB2-BD59-A6C34878D82A}">
                    <a16:rowId xmlns:a16="http://schemas.microsoft.com/office/drawing/2014/main" val="3343337645"/>
                  </a:ext>
                </a:extLst>
              </a:tr>
              <a:tr h="222543">
                <a:tc>
                  <a:txBody>
                    <a:bodyPr/>
                    <a:lstStyle/>
                    <a:p>
                      <a:pPr algn="l" rtl="0" fontAlgn="b">
                        <a:buNone/>
                      </a:pPr>
                      <a:r>
                        <a:rPr lang="en-US" sz="900" b="1" u="none" strike="noStrike">
                          <a:effectLst/>
                        </a:rPr>
                        <a:t>Pre-Project</a:t>
                      </a:r>
                      <a:endParaRPr lang="en-US" sz="900" b="1" i="0" u="none" strike="noStrike">
                        <a:solidFill>
                          <a:srgbClr val="0A2F46"/>
                        </a:solidFill>
                        <a:effectLst/>
                        <a:latin typeface="Arial" panose="020B0604020202020204" pitchFamily="34" charset="0"/>
                      </a:endParaRPr>
                    </a:p>
                  </a:txBody>
                  <a:tcPr marL="27432"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9EDFA"/>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3314256910"/>
                  </a:ext>
                </a:extLst>
              </a:tr>
              <a:tr h="222543">
                <a:tc>
                  <a:txBody>
                    <a:bodyPr/>
                    <a:lstStyle/>
                    <a:p>
                      <a:pPr algn="l" rtl="0" fontAlgn="b">
                        <a:buNone/>
                      </a:pPr>
                      <a:r>
                        <a:rPr lang="en-US" sz="900" u="none" strike="noStrike">
                          <a:effectLst/>
                        </a:rPr>
                        <a:t>Sales Knowledge Transfer</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9EDFA"/>
                    </a:solidFill>
                  </a:tcPr>
                </a:tc>
                <a:tc>
                  <a:txBody>
                    <a:bodyPr/>
                    <a:lstStyle/>
                    <a:p>
                      <a:pPr algn="l" fontAlgn="b">
                        <a:buNone/>
                      </a:pPr>
                      <a:r>
                        <a:rPr lang="en-US" sz="9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68991863"/>
                  </a:ext>
                </a:extLst>
              </a:tr>
              <a:tr h="222543">
                <a:tc>
                  <a:txBody>
                    <a:bodyPr/>
                    <a:lstStyle/>
                    <a:p>
                      <a:pPr algn="l" rtl="0" fontAlgn="b">
                        <a:buNone/>
                      </a:pPr>
                      <a:r>
                        <a:rPr lang="en-US" sz="900" u="none" strike="noStrike">
                          <a:effectLst/>
                        </a:rPr>
                        <a:t>Delivery Scope Alignment &amp; KO</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DFA"/>
                    </a:solidFill>
                  </a:tcPr>
                </a:tc>
                <a:tc>
                  <a:txBody>
                    <a:bodyPr/>
                    <a:lstStyle/>
                    <a:p>
                      <a:pPr algn="l" fontAlgn="b">
                        <a:buNone/>
                      </a:pPr>
                      <a:r>
                        <a:rPr lang="en-US" sz="9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4200883265"/>
                  </a:ext>
                </a:extLst>
              </a:tr>
              <a:tr h="222543">
                <a:tc>
                  <a:txBody>
                    <a:bodyPr/>
                    <a:lstStyle/>
                    <a:p>
                      <a:pPr algn="l" rtl="0" fontAlgn="b">
                        <a:buNone/>
                      </a:pPr>
                      <a:r>
                        <a:rPr lang="en-US" sz="900" b="1" u="none" strike="noStrike">
                          <a:effectLst/>
                        </a:rPr>
                        <a:t>Baseline Application (No Extensions)</a:t>
                      </a:r>
                      <a:endParaRPr lang="en-US" sz="900" b="1" i="0" u="none" strike="noStrike">
                        <a:solidFill>
                          <a:srgbClr val="0A2F46"/>
                        </a:solidFill>
                        <a:effectLst/>
                        <a:latin typeface="Arial" panose="020B0604020202020204" pitchFamily="34" charset="0"/>
                      </a:endParaRPr>
                    </a:p>
                  </a:txBody>
                  <a:tcPr marL="27432"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DFCC"/>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1004206318"/>
                  </a:ext>
                </a:extLst>
              </a:tr>
              <a:tr h="222543">
                <a:tc>
                  <a:txBody>
                    <a:bodyPr/>
                    <a:lstStyle/>
                    <a:p>
                      <a:pPr algn="l" rtl="0" fontAlgn="b">
                        <a:buNone/>
                      </a:pPr>
                      <a:r>
                        <a:rPr lang="en-US" sz="900" u="none" strike="noStrike">
                          <a:effectLst/>
                        </a:rPr>
                        <a:t>Granularity workshop</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2003718066"/>
                  </a:ext>
                </a:extLst>
              </a:tr>
              <a:tr h="222543">
                <a:tc>
                  <a:txBody>
                    <a:bodyPr/>
                    <a:lstStyle/>
                    <a:p>
                      <a:pPr algn="l" rtl="0" fontAlgn="b">
                        <a:buNone/>
                      </a:pPr>
                      <a:r>
                        <a:rPr lang="en-US" sz="900" u="none" strike="noStrike">
                          <a:effectLst/>
                        </a:rPr>
                        <a:t>Dimension Configuration</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3915388663"/>
                  </a:ext>
                </a:extLst>
              </a:tr>
              <a:tr h="222543">
                <a:tc>
                  <a:txBody>
                    <a:bodyPr/>
                    <a:lstStyle/>
                    <a:p>
                      <a:pPr algn="l" rtl="0" fontAlgn="b">
                        <a:buNone/>
                      </a:pPr>
                      <a:r>
                        <a:rPr lang="en-US" sz="900" u="none" strike="noStrike">
                          <a:effectLst/>
                        </a:rPr>
                        <a:t>Hierarchy and time Configuration</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1983738132"/>
                  </a:ext>
                </a:extLst>
              </a:tr>
              <a:tr h="222543">
                <a:tc>
                  <a:txBody>
                    <a:bodyPr/>
                    <a:lstStyle/>
                    <a:p>
                      <a:pPr algn="l" rtl="0" fontAlgn="b">
                        <a:buNone/>
                      </a:pPr>
                      <a:r>
                        <a:rPr lang="en-US" sz="900" u="none" strike="noStrike">
                          <a:effectLst/>
                        </a:rPr>
                        <a:t>Playback session to validation the granularity</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1009966536"/>
                  </a:ext>
                </a:extLst>
              </a:tr>
              <a:tr h="222543">
                <a:tc>
                  <a:txBody>
                    <a:bodyPr/>
                    <a:lstStyle/>
                    <a:p>
                      <a:pPr algn="l" rtl="0" fontAlgn="b">
                        <a:buNone/>
                      </a:pPr>
                      <a:r>
                        <a:rPr lang="en-US" sz="900" u="none" strike="noStrike">
                          <a:effectLst/>
                        </a:rPr>
                        <a:t>Solution Configuration &amp; Creation</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4276939803"/>
                  </a:ext>
                </a:extLst>
              </a:tr>
              <a:tr h="222543">
                <a:tc>
                  <a:txBody>
                    <a:bodyPr/>
                    <a:lstStyle/>
                    <a:p>
                      <a:pPr algn="l" rtl="0" fontAlgn="b">
                        <a:buNone/>
                      </a:pPr>
                      <a:r>
                        <a:rPr lang="en-US" sz="900" u="none" strike="noStrike">
                          <a:effectLst/>
                        </a:rPr>
                        <a:t>Model Familiarization and Training</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1918415133"/>
                  </a:ext>
                </a:extLst>
              </a:tr>
              <a:tr h="222543">
                <a:tc>
                  <a:txBody>
                    <a:bodyPr/>
                    <a:lstStyle/>
                    <a:p>
                      <a:pPr algn="l" rtl="0" fontAlgn="b">
                        <a:buNone/>
                      </a:pPr>
                      <a:r>
                        <a:rPr lang="en-US" sz="900" u="none" strike="noStrike">
                          <a:effectLst/>
                        </a:rPr>
                        <a:t>Playback session to validate the scope of solution</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3361144330"/>
                  </a:ext>
                </a:extLst>
              </a:tr>
              <a:tr h="222543">
                <a:tc>
                  <a:txBody>
                    <a:bodyPr/>
                    <a:lstStyle/>
                    <a:p>
                      <a:pPr algn="l" rtl="0" fontAlgn="b">
                        <a:buNone/>
                      </a:pPr>
                      <a:r>
                        <a:rPr lang="en-US" sz="900" u="none" strike="noStrike">
                          <a:effectLst/>
                        </a:rPr>
                        <a:t>UAT and Sign-off</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DFCC"/>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1229235753"/>
                  </a:ext>
                </a:extLst>
              </a:tr>
              <a:tr h="222543">
                <a:tc>
                  <a:txBody>
                    <a:bodyPr/>
                    <a:lstStyle/>
                    <a:p>
                      <a:pPr algn="l" rtl="0" fontAlgn="b">
                        <a:buNone/>
                      </a:pPr>
                      <a:r>
                        <a:rPr lang="en-US" sz="900" u="none" strike="noStrike">
                          <a:effectLst/>
                        </a:rPr>
                        <a:t>Collect feedback on the scope</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600" u="none" strike="noStrike">
                          <a:effectLst/>
                        </a:rPr>
                        <a:t> </a:t>
                      </a:r>
                      <a:endParaRPr lang="en-US" sz="6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600" u="none" strike="noStrike">
                          <a:effectLst/>
                        </a:rPr>
                        <a:t> </a:t>
                      </a:r>
                      <a:endParaRPr lang="en-US" sz="6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2926602788"/>
                  </a:ext>
                </a:extLst>
              </a:tr>
              <a:tr h="222543">
                <a:tc>
                  <a:txBody>
                    <a:bodyPr/>
                    <a:lstStyle/>
                    <a:p>
                      <a:pPr algn="l" rtl="0" fontAlgn="b">
                        <a:buNone/>
                      </a:pPr>
                      <a:r>
                        <a:rPr lang="en-US" sz="900" b="1" u="none" strike="noStrike">
                          <a:effectLst/>
                        </a:rPr>
                        <a:t>Change Management and Deployment</a:t>
                      </a:r>
                      <a:endParaRPr lang="en-US" sz="900" b="1" i="0" u="none" strike="noStrike">
                        <a:solidFill>
                          <a:srgbClr val="0A2F46"/>
                        </a:solidFill>
                        <a:effectLst/>
                        <a:latin typeface="Arial" panose="020B0604020202020204" pitchFamily="34" charset="0"/>
                      </a:endParaRPr>
                    </a:p>
                  </a:txBody>
                  <a:tcPr marL="27432"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DEDEFB"/>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tc>
                  <a:txBody>
                    <a:bodyPr/>
                    <a:lstStyle/>
                    <a:p>
                      <a:pPr algn="l" rtl="0" fontAlgn="b">
                        <a:buNone/>
                      </a:pPr>
                      <a:r>
                        <a:rPr lang="en-US" sz="900" u="none" strike="noStrike">
                          <a:effectLst/>
                        </a:rPr>
                        <a:t> </a:t>
                      </a:r>
                      <a:endParaRPr lang="en-US" sz="900" b="0" i="0" u="none" strike="noStrike">
                        <a:solidFill>
                          <a:srgbClr val="000000"/>
                        </a:solidFill>
                        <a:effectLst/>
                        <a:latin typeface="Arial" panose="020B06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1746947045"/>
                  </a:ext>
                </a:extLst>
              </a:tr>
              <a:tr h="222543">
                <a:tc>
                  <a:txBody>
                    <a:bodyPr/>
                    <a:lstStyle/>
                    <a:p>
                      <a:pPr algn="l" rtl="0" fontAlgn="b">
                        <a:buNone/>
                      </a:pPr>
                      <a:r>
                        <a:rPr lang="en-US" sz="900" u="none" strike="noStrike">
                          <a:effectLst/>
                        </a:rPr>
                        <a:t>User Adoption and Training</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EDEFB"/>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3284913586"/>
                  </a:ext>
                </a:extLst>
              </a:tr>
              <a:tr h="222543">
                <a:tc>
                  <a:txBody>
                    <a:bodyPr/>
                    <a:lstStyle/>
                    <a:p>
                      <a:pPr algn="l" rtl="0" fontAlgn="b">
                        <a:buNone/>
                      </a:pPr>
                      <a:r>
                        <a:rPr lang="en-US" sz="900" u="none" strike="noStrike">
                          <a:effectLst/>
                        </a:rPr>
                        <a:t>Application Deployment</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EDEFB"/>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endParaRPr lang="en-US" sz="6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3952272642"/>
                  </a:ext>
                </a:extLst>
              </a:tr>
              <a:tr h="222543">
                <a:tc>
                  <a:txBody>
                    <a:bodyPr/>
                    <a:lstStyle/>
                    <a:p>
                      <a:pPr algn="l" rtl="0" fontAlgn="b">
                        <a:buNone/>
                      </a:pPr>
                      <a:r>
                        <a:rPr lang="en-US" sz="900" u="none" strike="noStrike">
                          <a:effectLst/>
                        </a:rPr>
                        <a:t>Post Go Live support</a:t>
                      </a:r>
                      <a:endParaRPr lang="en-US" sz="900" b="0" i="0" u="none" strike="noStrike">
                        <a:solidFill>
                          <a:srgbClr val="0A2F46"/>
                        </a:solidFill>
                        <a:effectLst/>
                        <a:latin typeface="Arial" panose="020B0604020202020204" pitchFamily="34" charset="0"/>
                      </a:endParaRPr>
                    </a:p>
                  </a:txBody>
                  <a:tcPr marL="54864" marR="0" marT="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tc>
                  <a:txBody>
                    <a:bodyPr/>
                    <a:lstStyle/>
                    <a:p>
                      <a:pPr algn="l" fontAlgn="b">
                        <a:buNone/>
                      </a:pP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1EE"/>
                    </a:solidFill>
                  </a:tcPr>
                </a:tc>
                <a:extLst>
                  <a:ext uri="{0D108BD9-81ED-4DB2-BD59-A6C34878D82A}">
                    <a16:rowId xmlns:a16="http://schemas.microsoft.com/office/drawing/2014/main" val="3169368544"/>
                  </a:ext>
                </a:extLst>
              </a:tr>
            </a:tbl>
          </a:graphicData>
        </a:graphic>
      </p:graphicFrame>
      <p:sp>
        <p:nvSpPr>
          <p:cNvPr id="75" name="Pentagon 14">
            <a:extLst>
              <a:ext uri="{FF2B5EF4-FFF2-40B4-BE49-F238E27FC236}">
                <a16:creationId xmlns:a16="http://schemas.microsoft.com/office/drawing/2014/main" id="{6FD3A13B-8582-F8C8-5524-E3854346DE92}"/>
              </a:ext>
              <a:ext uri="{147F2762-F138-4A5C-976F-8EAC2B608ADB}">
                <a16:predDERef xmlns:a16="http://schemas.microsoft.com/office/drawing/2014/main" pred="{709049B7-B2F6-57B0-A494-5FCBA036BE85}"/>
              </a:ext>
            </a:extLst>
          </p:cNvPr>
          <p:cNvSpPr/>
          <p:nvPr/>
        </p:nvSpPr>
        <p:spPr>
          <a:xfrm>
            <a:off x="4140200" y="1386951"/>
            <a:ext cx="3429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76" name="Pentagon 14">
            <a:extLst>
              <a:ext uri="{FF2B5EF4-FFF2-40B4-BE49-F238E27FC236}">
                <a16:creationId xmlns:a16="http://schemas.microsoft.com/office/drawing/2014/main" id="{1A26009F-26A6-E9AF-62BD-E935A7BBCEEC}"/>
              </a:ext>
              <a:ext uri="{147F2762-F138-4A5C-976F-8EAC2B608ADB}">
                <a16:predDERef xmlns:a16="http://schemas.microsoft.com/office/drawing/2014/main" pred="{709049B7-B2F6-57B0-A494-5FCBA036BE85}"/>
              </a:ext>
            </a:extLst>
          </p:cNvPr>
          <p:cNvSpPr/>
          <p:nvPr/>
        </p:nvSpPr>
        <p:spPr>
          <a:xfrm>
            <a:off x="4140200" y="1599566"/>
            <a:ext cx="699278"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77" name="Pentagon 14">
            <a:extLst>
              <a:ext uri="{FF2B5EF4-FFF2-40B4-BE49-F238E27FC236}">
                <a16:creationId xmlns:a16="http://schemas.microsoft.com/office/drawing/2014/main" id="{5FB7025B-DE1A-BBDF-6424-214C311823C7}"/>
              </a:ext>
              <a:ext uri="{147F2762-F138-4A5C-976F-8EAC2B608ADB}">
                <a16:predDERef xmlns:a16="http://schemas.microsoft.com/office/drawing/2014/main" pred="{709049B7-B2F6-57B0-A494-5FCBA036BE85}"/>
              </a:ext>
            </a:extLst>
          </p:cNvPr>
          <p:cNvSpPr/>
          <p:nvPr/>
        </p:nvSpPr>
        <p:spPr>
          <a:xfrm>
            <a:off x="4883150" y="2057439"/>
            <a:ext cx="3429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78" name="Pentagon 14">
            <a:extLst>
              <a:ext uri="{FF2B5EF4-FFF2-40B4-BE49-F238E27FC236}">
                <a16:creationId xmlns:a16="http://schemas.microsoft.com/office/drawing/2014/main" id="{779A15E0-6052-757F-2B9D-B3B3AEBEA0D1}"/>
              </a:ext>
              <a:ext uri="{147F2762-F138-4A5C-976F-8EAC2B608ADB}">
                <a16:predDERef xmlns:a16="http://schemas.microsoft.com/office/drawing/2014/main" pred="{709049B7-B2F6-57B0-A494-5FCBA036BE85}"/>
              </a:ext>
            </a:extLst>
          </p:cNvPr>
          <p:cNvSpPr/>
          <p:nvPr/>
        </p:nvSpPr>
        <p:spPr>
          <a:xfrm>
            <a:off x="4883150" y="2283408"/>
            <a:ext cx="3429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79" name="Pentagon 14">
            <a:extLst>
              <a:ext uri="{FF2B5EF4-FFF2-40B4-BE49-F238E27FC236}">
                <a16:creationId xmlns:a16="http://schemas.microsoft.com/office/drawing/2014/main" id="{554F4C0B-3369-9B1D-CFB1-AE963FCDE5C4}"/>
              </a:ext>
              <a:ext uri="{147F2762-F138-4A5C-976F-8EAC2B608ADB}">
                <a16:predDERef xmlns:a16="http://schemas.microsoft.com/office/drawing/2014/main" pred="{709049B7-B2F6-57B0-A494-5FCBA036BE85}"/>
              </a:ext>
            </a:extLst>
          </p:cNvPr>
          <p:cNvSpPr/>
          <p:nvPr/>
        </p:nvSpPr>
        <p:spPr>
          <a:xfrm>
            <a:off x="4883150" y="2503231"/>
            <a:ext cx="3429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0" name="Pentagon 14">
            <a:extLst>
              <a:ext uri="{FF2B5EF4-FFF2-40B4-BE49-F238E27FC236}">
                <a16:creationId xmlns:a16="http://schemas.microsoft.com/office/drawing/2014/main" id="{C94E7A81-FBDA-2690-8A1F-9FEFD0490571}"/>
              </a:ext>
              <a:ext uri="{147F2762-F138-4A5C-976F-8EAC2B608ADB}">
                <a16:predDERef xmlns:a16="http://schemas.microsoft.com/office/drawing/2014/main" pred="{709049B7-B2F6-57B0-A494-5FCBA036BE85}"/>
              </a:ext>
            </a:extLst>
          </p:cNvPr>
          <p:cNvSpPr/>
          <p:nvPr/>
        </p:nvSpPr>
        <p:spPr>
          <a:xfrm>
            <a:off x="5243311" y="2717861"/>
            <a:ext cx="3429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1" name="Pentagon 14">
            <a:extLst>
              <a:ext uri="{FF2B5EF4-FFF2-40B4-BE49-F238E27FC236}">
                <a16:creationId xmlns:a16="http://schemas.microsoft.com/office/drawing/2014/main" id="{2C3A0ADA-558A-0CFA-7107-CA0EE225BDAA}"/>
              </a:ext>
              <a:ext uri="{147F2762-F138-4A5C-976F-8EAC2B608ADB}">
                <a16:predDERef xmlns:a16="http://schemas.microsoft.com/office/drawing/2014/main" pred="{709049B7-B2F6-57B0-A494-5FCBA036BE85}"/>
              </a:ext>
            </a:extLst>
          </p:cNvPr>
          <p:cNvSpPr/>
          <p:nvPr/>
        </p:nvSpPr>
        <p:spPr>
          <a:xfrm>
            <a:off x="5414760" y="2955876"/>
            <a:ext cx="922539"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2" name="Pentagon 14">
            <a:extLst>
              <a:ext uri="{FF2B5EF4-FFF2-40B4-BE49-F238E27FC236}">
                <a16:creationId xmlns:a16="http://schemas.microsoft.com/office/drawing/2014/main" id="{4F342E94-7BFA-8A83-8776-589A4E519C0A}"/>
              </a:ext>
              <a:ext uri="{147F2762-F138-4A5C-976F-8EAC2B608ADB}">
                <a16:predDERef xmlns:a16="http://schemas.microsoft.com/office/drawing/2014/main" pred="{709049B7-B2F6-57B0-A494-5FCBA036BE85}"/>
              </a:ext>
            </a:extLst>
          </p:cNvPr>
          <p:cNvSpPr/>
          <p:nvPr/>
        </p:nvSpPr>
        <p:spPr>
          <a:xfrm>
            <a:off x="5243311" y="3171558"/>
            <a:ext cx="1297189"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3" name="Pentagon 14">
            <a:extLst>
              <a:ext uri="{FF2B5EF4-FFF2-40B4-BE49-F238E27FC236}">
                <a16:creationId xmlns:a16="http://schemas.microsoft.com/office/drawing/2014/main" id="{63C36DE2-BF9F-ACA1-6FAB-C0D4622F7D08}"/>
              </a:ext>
              <a:ext uri="{147F2762-F138-4A5C-976F-8EAC2B608ADB}">
                <a16:predDERef xmlns:a16="http://schemas.microsoft.com/office/drawing/2014/main" pred="{709049B7-B2F6-57B0-A494-5FCBA036BE85}"/>
              </a:ext>
            </a:extLst>
          </p:cNvPr>
          <p:cNvSpPr/>
          <p:nvPr/>
        </p:nvSpPr>
        <p:spPr>
          <a:xfrm>
            <a:off x="5617961" y="3387240"/>
            <a:ext cx="719338"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4" name="Pentagon 14">
            <a:extLst>
              <a:ext uri="{FF2B5EF4-FFF2-40B4-BE49-F238E27FC236}">
                <a16:creationId xmlns:a16="http://schemas.microsoft.com/office/drawing/2014/main" id="{7E3A786A-C677-7A60-BF4B-D62667D68772}"/>
              </a:ext>
              <a:ext uri="{147F2762-F138-4A5C-976F-8EAC2B608ADB}">
                <a16:predDERef xmlns:a16="http://schemas.microsoft.com/office/drawing/2014/main" pred="{709049B7-B2F6-57B0-A494-5FCBA036BE85}"/>
              </a:ext>
            </a:extLst>
          </p:cNvPr>
          <p:cNvSpPr/>
          <p:nvPr/>
        </p:nvSpPr>
        <p:spPr>
          <a:xfrm>
            <a:off x="6540500" y="3617853"/>
            <a:ext cx="9144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5" name="Pentagon 14">
            <a:extLst>
              <a:ext uri="{FF2B5EF4-FFF2-40B4-BE49-F238E27FC236}">
                <a16:creationId xmlns:a16="http://schemas.microsoft.com/office/drawing/2014/main" id="{F8CE36C7-6080-7480-1B27-FDBAAE56FF0C}"/>
              </a:ext>
              <a:ext uri="{147F2762-F138-4A5C-976F-8EAC2B608ADB}">
                <a16:predDERef xmlns:a16="http://schemas.microsoft.com/office/drawing/2014/main" pred="{709049B7-B2F6-57B0-A494-5FCBA036BE85}"/>
              </a:ext>
            </a:extLst>
          </p:cNvPr>
          <p:cNvSpPr/>
          <p:nvPr/>
        </p:nvSpPr>
        <p:spPr>
          <a:xfrm>
            <a:off x="5617961" y="3830468"/>
            <a:ext cx="1836939"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6" name="Pentagon 14">
            <a:extLst>
              <a:ext uri="{FF2B5EF4-FFF2-40B4-BE49-F238E27FC236}">
                <a16:creationId xmlns:a16="http://schemas.microsoft.com/office/drawing/2014/main" id="{B0B1C375-8C9D-CFCA-9F11-E89C4A69E4C1}"/>
              </a:ext>
              <a:ext uri="{147F2762-F138-4A5C-976F-8EAC2B608ADB}">
                <a16:predDERef xmlns:a16="http://schemas.microsoft.com/office/drawing/2014/main" pred="{709049B7-B2F6-57B0-A494-5FCBA036BE85}"/>
              </a:ext>
            </a:extLst>
          </p:cNvPr>
          <p:cNvSpPr/>
          <p:nvPr/>
        </p:nvSpPr>
        <p:spPr>
          <a:xfrm>
            <a:off x="5977630" y="4262858"/>
            <a:ext cx="2609085"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7" name="Pentagon 14">
            <a:extLst>
              <a:ext uri="{FF2B5EF4-FFF2-40B4-BE49-F238E27FC236}">
                <a16:creationId xmlns:a16="http://schemas.microsoft.com/office/drawing/2014/main" id="{8C68816E-0987-3CBC-0FCA-A28D7CFE8930}"/>
              </a:ext>
              <a:ext uri="{147F2762-F138-4A5C-976F-8EAC2B608ADB}">
                <a16:predDERef xmlns:a16="http://schemas.microsoft.com/office/drawing/2014/main" pred="{709049B7-B2F6-57B0-A494-5FCBA036BE85}"/>
              </a:ext>
            </a:extLst>
          </p:cNvPr>
          <p:cNvSpPr/>
          <p:nvPr/>
        </p:nvSpPr>
        <p:spPr>
          <a:xfrm>
            <a:off x="7524477" y="4483110"/>
            <a:ext cx="342900"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8" name="Pentagon 14">
            <a:extLst>
              <a:ext uri="{FF2B5EF4-FFF2-40B4-BE49-F238E27FC236}">
                <a16:creationId xmlns:a16="http://schemas.microsoft.com/office/drawing/2014/main" id="{99256C4B-E88D-FB4E-8B73-D61E3256E9B5}"/>
              </a:ext>
              <a:ext uri="{147F2762-F138-4A5C-976F-8EAC2B608ADB}">
                <a16:predDERef xmlns:a16="http://schemas.microsoft.com/office/drawing/2014/main" pred="{709049B7-B2F6-57B0-A494-5FCBA036BE85}"/>
              </a:ext>
            </a:extLst>
          </p:cNvPr>
          <p:cNvSpPr/>
          <p:nvPr/>
        </p:nvSpPr>
        <p:spPr>
          <a:xfrm>
            <a:off x="7867377" y="4713354"/>
            <a:ext cx="719338" cy="1828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89" name="5-Point Star 17">
            <a:extLst>
              <a:ext uri="{FF2B5EF4-FFF2-40B4-BE49-F238E27FC236}">
                <a16:creationId xmlns:a16="http://schemas.microsoft.com/office/drawing/2014/main" id="{85F637DC-B798-4EBF-EB2A-F1569696C6DC}"/>
              </a:ext>
              <a:ext uri="{147F2762-F138-4A5C-976F-8EAC2B608ADB}">
                <a16:predDERef xmlns:a16="http://schemas.microsoft.com/office/drawing/2014/main" pred="{75453C1E-80D7-3C42-BFF2-3BCB5842B51D}"/>
              </a:ext>
            </a:extLst>
          </p:cNvPr>
          <p:cNvSpPr/>
          <p:nvPr/>
        </p:nvSpPr>
        <p:spPr>
          <a:xfrm>
            <a:off x="4796179" y="1636473"/>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90" name="5-Point Star 17">
            <a:extLst>
              <a:ext uri="{FF2B5EF4-FFF2-40B4-BE49-F238E27FC236}">
                <a16:creationId xmlns:a16="http://schemas.microsoft.com/office/drawing/2014/main" id="{63D6C36B-7A3A-AFA5-C9E5-85839CF6E78B}"/>
              </a:ext>
              <a:ext uri="{147F2762-F138-4A5C-976F-8EAC2B608ADB}">
                <a16:predDERef xmlns:a16="http://schemas.microsoft.com/office/drawing/2014/main" pred="{75453C1E-80D7-3C42-BFF2-3BCB5842B51D}"/>
              </a:ext>
            </a:extLst>
          </p:cNvPr>
          <p:cNvSpPr/>
          <p:nvPr/>
        </p:nvSpPr>
        <p:spPr>
          <a:xfrm>
            <a:off x="5536692" y="2745692"/>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91" name="5-Point Star 17">
            <a:extLst>
              <a:ext uri="{FF2B5EF4-FFF2-40B4-BE49-F238E27FC236}">
                <a16:creationId xmlns:a16="http://schemas.microsoft.com/office/drawing/2014/main" id="{94234E32-708A-20CE-AD13-137CF11EE05D}"/>
              </a:ext>
              <a:ext uri="{147F2762-F138-4A5C-976F-8EAC2B608ADB}">
                <a16:predDERef xmlns:a16="http://schemas.microsoft.com/office/drawing/2014/main" pred="{75453C1E-80D7-3C42-BFF2-3BCB5842B51D}"/>
              </a:ext>
            </a:extLst>
          </p:cNvPr>
          <p:cNvSpPr/>
          <p:nvPr/>
        </p:nvSpPr>
        <p:spPr>
          <a:xfrm>
            <a:off x="6294000" y="2992011"/>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92" name="5-Point Star 17">
            <a:extLst>
              <a:ext uri="{FF2B5EF4-FFF2-40B4-BE49-F238E27FC236}">
                <a16:creationId xmlns:a16="http://schemas.microsoft.com/office/drawing/2014/main" id="{18600A6D-31AC-F744-C9C6-58251EE1427F}"/>
              </a:ext>
              <a:ext uri="{147F2762-F138-4A5C-976F-8EAC2B608ADB}">
                <a16:predDERef xmlns:a16="http://schemas.microsoft.com/office/drawing/2014/main" pred="{75453C1E-80D7-3C42-BFF2-3BCB5842B51D}"/>
              </a:ext>
            </a:extLst>
          </p:cNvPr>
          <p:cNvSpPr/>
          <p:nvPr/>
        </p:nvSpPr>
        <p:spPr>
          <a:xfrm>
            <a:off x="6294000" y="3432558"/>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93" name="5-Point Star 17">
            <a:extLst>
              <a:ext uri="{FF2B5EF4-FFF2-40B4-BE49-F238E27FC236}">
                <a16:creationId xmlns:a16="http://schemas.microsoft.com/office/drawing/2014/main" id="{9B1DDC91-06F2-626A-0620-59D84E52F195}"/>
              </a:ext>
              <a:ext uri="{147F2762-F138-4A5C-976F-8EAC2B608ADB}">
                <a16:predDERef xmlns:a16="http://schemas.microsoft.com/office/drawing/2014/main" pred="{75453C1E-80D7-3C42-BFF2-3BCB5842B51D}"/>
              </a:ext>
            </a:extLst>
          </p:cNvPr>
          <p:cNvSpPr/>
          <p:nvPr/>
        </p:nvSpPr>
        <p:spPr>
          <a:xfrm>
            <a:off x="5926786" y="3432558"/>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94" name="Oval 93">
            <a:extLst>
              <a:ext uri="{FF2B5EF4-FFF2-40B4-BE49-F238E27FC236}">
                <a16:creationId xmlns:a16="http://schemas.microsoft.com/office/drawing/2014/main" id="{A4BDB6F4-600F-0EF6-A8E6-0363194F26C5}"/>
              </a:ext>
            </a:extLst>
          </p:cNvPr>
          <p:cNvSpPr/>
          <p:nvPr/>
        </p:nvSpPr>
        <p:spPr>
          <a:xfrm>
            <a:off x="7807941" y="4516489"/>
            <a:ext cx="118872" cy="118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95" name="TextBox 94">
            <a:extLst>
              <a:ext uri="{FF2B5EF4-FFF2-40B4-BE49-F238E27FC236}">
                <a16:creationId xmlns:a16="http://schemas.microsoft.com/office/drawing/2014/main" id="{9CC91BBD-9F3C-DC7A-45AF-0DE7CD6DB46C}"/>
              </a:ext>
            </a:extLst>
          </p:cNvPr>
          <p:cNvSpPr txBox="1"/>
          <p:nvPr/>
        </p:nvSpPr>
        <p:spPr>
          <a:xfrm>
            <a:off x="7963603" y="4480405"/>
            <a:ext cx="467450" cy="215444"/>
          </a:xfrm>
          <a:prstGeom prst="rect">
            <a:avLst/>
          </a:prstGeom>
          <a:noFill/>
        </p:spPr>
        <p:txBody>
          <a:bodyPr wrap="square" lIns="0" rtlCol="0">
            <a:spAutoFit/>
          </a:bodyPr>
          <a:lstStyle/>
          <a:p>
            <a:r>
              <a:rPr lang="en-GB" sz="800"/>
              <a:t>Go-Live</a:t>
            </a:r>
          </a:p>
        </p:txBody>
      </p:sp>
    </p:spTree>
    <p:custDataLst>
      <p:tags r:id="rId1"/>
    </p:custDataLst>
    <p:extLst>
      <p:ext uri="{BB962C8B-B14F-4D97-AF65-F5344CB8AC3E}">
        <p14:creationId xmlns:p14="http://schemas.microsoft.com/office/powerpoint/2010/main" val="106481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04B7-CDC6-0B18-66E2-F5C25D924DCB}"/>
              </a:ext>
            </a:extLst>
          </p:cNvPr>
          <p:cNvSpPr>
            <a:spLocks noGrp="1"/>
          </p:cNvSpPr>
          <p:nvPr>
            <p:ph type="title"/>
          </p:nvPr>
        </p:nvSpPr>
        <p:spPr/>
        <p:txBody>
          <a:bodyPr/>
          <a:lstStyle/>
          <a:p>
            <a:r>
              <a:rPr lang="en-US"/>
              <a:t>Project Timeline</a:t>
            </a:r>
          </a:p>
        </p:txBody>
      </p:sp>
      <p:graphicFrame>
        <p:nvGraphicFramePr>
          <p:cNvPr id="3" name="Table 2">
            <a:extLst>
              <a:ext uri="{FF2B5EF4-FFF2-40B4-BE49-F238E27FC236}">
                <a16:creationId xmlns:a16="http://schemas.microsoft.com/office/drawing/2014/main" id="{9A1DA71E-3DE2-4310-F20C-B5903719BC21}"/>
              </a:ext>
            </a:extLst>
          </p:cNvPr>
          <p:cNvGraphicFramePr>
            <a:graphicFrameLocks noGrp="1"/>
          </p:cNvGraphicFramePr>
          <p:nvPr/>
        </p:nvGraphicFramePr>
        <p:xfrm>
          <a:off x="228600" y="807433"/>
          <a:ext cx="8538575" cy="4001238"/>
        </p:xfrm>
        <a:graphic>
          <a:graphicData uri="http://schemas.openxmlformats.org/drawingml/2006/table">
            <a:tbl>
              <a:tblPr>
                <a:tableStyleId>{5C22544A-7EE6-4342-B048-85BDC9FD1C3A}</a:tableStyleId>
              </a:tblPr>
              <a:tblGrid>
                <a:gridCol w="2045225">
                  <a:extLst>
                    <a:ext uri="{9D8B030D-6E8A-4147-A177-3AD203B41FA5}">
                      <a16:colId xmlns:a16="http://schemas.microsoft.com/office/drawing/2014/main" val="1046618211"/>
                    </a:ext>
                  </a:extLst>
                </a:gridCol>
                <a:gridCol w="259734">
                  <a:extLst>
                    <a:ext uri="{9D8B030D-6E8A-4147-A177-3AD203B41FA5}">
                      <a16:colId xmlns:a16="http://schemas.microsoft.com/office/drawing/2014/main" val="3259857491"/>
                    </a:ext>
                  </a:extLst>
                </a:gridCol>
                <a:gridCol w="259734">
                  <a:extLst>
                    <a:ext uri="{9D8B030D-6E8A-4147-A177-3AD203B41FA5}">
                      <a16:colId xmlns:a16="http://schemas.microsoft.com/office/drawing/2014/main" val="3059459772"/>
                    </a:ext>
                  </a:extLst>
                </a:gridCol>
                <a:gridCol w="259734">
                  <a:extLst>
                    <a:ext uri="{9D8B030D-6E8A-4147-A177-3AD203B41FA5}">
                      <a16:colId xmlns:a16="http://schemas.microsoft.com/office/drawing/2014/main" val="2211181475"/>
                    </a:ext>
                  </a:extLst>
                </a:gridCol>
                <a:gridCol w="259734">
                  <a:extLst>
                    <a:ext uri="{9D8B030D-6E8A-4147-A177-3AD203B41FA5}">
                      <a16:colId xmlns:a16="http://schemas.microsoft.com/office/drawing/2014/main" val="1372036003"/>
                    </a:ext>
                  </a:extLst>
                </a:gridCol>
                <a:gridCol w="259734">
                  <a:extLst>
                    <a:ext uri="{9D8B030D-6E8A-4147-A177-3AD203B41FA5}">
                      <a16:colId xmlns:a16="http://schemas.microsoft.com/office/drawing/2014/main" val="817527081"/>
                    </a:ext>
                  </a:extLst>
                </a:gridCol>
                <a:gridCol w="259734">
                  <a:extLst>
                    <a:ext uri="{9D8B030D-6E8A-4147-A177-3AD203B41FA5}">
                      <a16:colId xmlns:a16="http://schemas.microsoft.com/office/drawing/2014/main" val="958597148"/>
                    </a:ext>
                  </a:extLst>
                </a:gridCol>
                <a:gridCol w="259734">
                  <a:extLst>
                    <a:ext uri="{9D8B030D-6E8A-4147-A177-3AD203B41FA5}">
                      <a16:colId xmlns:a16="http://schemas.microsoft.com/office/drawing/2014/main" val="1281161359"/>
                    </a:ext>
                  </a:extLst>
                </a:gridCol>
                <a:gridCol w="259734">
                  <a:extLst>
                    <a:ext uri="{9D8B030D-6E8A-4147-A177-3AD203B41FA5}">
                      <a16:colId xmlns:a16="http://schemas.microsoft.com/office/drawing/2014/main" val="2292233245"/>
                    </a:ext>
                  </a:extLst>
                </a:gridCol>
                <a:gridCol w="259734">
                  <a:extLst>
                    <a:ext uri="{9D8B030D-6E8A-4147-A177-3AD203B41FA5}">
                      <a16:colId xmlns:a16="http://schemas.microsoft.com/office/drawing/2014/main" val="1118982471"/>
                    </a:ext>
                  </a:extLst>
                </a:gridCol>
                <a:gridCol w="259734">
                  <a:extLst>
                    <a:ext uri="{9D8B030D-6E8A-4147-A177-3AD203B41FA5}">
                      <a16:colId xmlns:a16="http://schemas.microsoft.com/office/drawing/2014/main" val="1532144940"/>
                    </a:ext>
                  </a:extLst>
                </a:gridCol>
                <a:gridCol w="259734">
                  <a:extLst>
                    <a:ext uri="{9D8B030D-6E8A-4147-A177-3AD203B41FA5}">
                      <a16:colId xmlns:a16="http://schemas.microsoft.com/office/drawing/2014/main" val="2743756797"/>
                    </a:ext>
                  </a:extLst>
                </a:gridCol>
                <a:gridCol w="259734">
                  <a:extLst>
                    <a:ext uri="{9D8B030D-6E8A-4147-A177-3AD203B41FA5}">
                      <a16:colId xmlns:a16="http://schemas.microsoft.com/office/drawing/2014/main" val="2131280443"/>
                    </a:ext>
                  </a:extLst>
                </a:gridCol>
                <a:gridCol w="259734">
                  <a:extLst>
                    <a:ext uri="{9D8B030D-6E8A-4147-A177-3AD203B41FA5}">
                      <a16:colId xmlns:a16="http://schemas.microsoft.com/office/drawing/2014/main" val="182832806"/>
                    </a:ext>
                  </a:extLst>
                </a:gridCol>
                <a:gridCol w="259734">
                  <a:extLst>
                    <a:ext uri="{9D8B030D-6E8A-4147-A177-3AD203B41FA5}">
                      <a16:colId xmlns:a16="http://schemas.microsoft.com/office/drawing/2014/main" val="3220813162"/>
                    </a:ext>
                  </a:extLst>
                </a:gridCol>
                <a:gridCol w="259734">
                  <a:extLst>
                    <a:ext uri="{9D8B030D-6E8A-4147-A177-3AD203B41FA5}">
                      <a16:colId xmlns:a16="http://schemas.microsoft.com/office/drawing/2014/main" val="3266921148"/>
                    </a:ext>
                  </a:extLst>
                </a:gridCol>
                <a:gridCol w="259734">
                  <a:extLst>
                    <a:ext uri="{9D8B030D-6E8A-4147-A177-3AD203B41FA5}">
                      <a16:colId xmlns:a16="http://schemas.microsoft.com/office/drawing/2014/main" val="2158313411"/>
                    </a:ext>
                  </a:extLst>
                </a:gridCol>
                <a:gridCol w="259734">
                  <a:extLst>
                    <a:ext uri="{9D8B030D-6E8A-4147-A177-3AD203B41FA5}">
                      <a16:colId xmlns:a16="http://schemas.microsoft.com/office/drawing/2014/main" val="4221729149"/>
                    </a:ext>
                  </a:extLst>
                </a:gridCol>
                <a:gridCol w="259734">
                  <a:extLst>
                    <a:ext uri="{9D8B030D-6E8A-4147-A177-3AD203B41FA5}">
                      <a16:colId xmlns:a16="http://schemas.microsoft.com/office/drawing/2014/main" val="782320797"/>
                    </a:ext>
                  </a:extLst>
                </a:gridCol>
                <a:gridCol w="259734">
                  <a:extLst>
                    <a:ext uri="{9D8B030D-6E8A-4147-A177-3AD203B41FA5}">
                      <a16:colId xmlns:a16="http://schemas.microsoft.com/office/drawing/2014/main" val="324767831"/>
                    </a:ext>
                  </a:extLst>
                </a:gridCol>
                <a:gridCol w="259734">
                  <a:extLst>
                    <a:ext uri="{9D8B030D-6E8A-4147-A177-3AD203B41FA5}">
                      <a16:colId xmlns:a16="http://schemas.microsoft.com/office/drawing/2014/main" val="3467974298"/>
                    </a:ext>
                  </a:extLst>
                </a:gridCol>
                <a:gridCol w="259734">
                  <a:extLst>
                    <a:ext uri="{9D8B030D-6E8A-4147-A177-3AD203B41FA5}">
                      <a16:colId xmlns:a16="http://schemas.microsoft.com/office/drawing/2014/main" val="3276589927"/>
                    </a:ext>
                  </a:extLst>
                </a:gridCol>
                <a:gridCol w="259734">
                  <a:extLst>
                    <a:ext uri="{9D8B030D-6E8A-4147-A177-3AD203B41FA5}">
                      <a16:colId xmlns:a16="http://schemas.microsoft.com/office/drawing/2014/main" val="3091987603"/>
                    </a:ext>
                  </a:extLst>
                </a:gridCol>
                <a:gridCol w="259734">
                  <a:extLst>
                    <a:ext uri="{9D8B030D-6E8A-4147-A177-3AD203B41FA5}">
                      <a16:colId xmlns:a16="http://schemas.microsoft.com/office/drawing/2014/main" val="1775102708"/>
                    </a:ext>
                  </a:extLst>
                </a:gridCol>
                <a:gridCol w="259734">
                  <a:extLst>
                    <a:ext uri="{9D8B030D-6E8A-4147-A177-3AD203B41FA5}">
                      <a16:colId xmlns:a16="http://schemas.microsoft.com/office/drawing/2014/main" val="477311178"/>
                    </a:ext>
                  </a:extLst>
                </a:gridCol>
                <a:gridCol w="259734">
                  <a:extLst>
                    <a:ext uri="{9D8B030D-6E8A-4147-A177-3AD203B41FA5}">
                      <a16:colId xmlns:a16="http://schemas.microsoft.com/office/drawing/2014/main" val="2612298600"/>
                    </a:ext>
                  </a:extLst>
                </a:gridCol>
              </a:tblGrid>
              <a:tr h="129303">
                <a:tc>
                  <a:txBody>
                    <a:bodyPr/>
                    <a:lstStyle/>
                    <a:p>
                      <a:pPr algn="l" rtl="0" fontAlgn="b">
                        <a:buNone/>
                      </a:pPr>
                      <a:r>
                        <a:rPr lang="en-US" sz="800" b="1" u="none" strike="noStrike">
                          <a:solidFill>
                            <a:schemeClr val="bg1"/>
                          </a:solidFill>
                          <a:effectLst/>
                          <a:latin typeface="+mj-lt"/>
                        </a:rPr>
                        <a:t>Activity</a:t>
                      </a:r>
                      <a:endParaRPr lang="en-US" sz="800" b="1" i="0" u="none" strike="noStrike">
                        <a:solidFill>
                          <a:schemeClr val="bg1"/>
                        </a:solidFill>
                        <a:effectLst/>
                        <a:latin typeface="+mj-lt"/>
                      </a:endParaRPr>
                    </a:p>
                  </a:txBody>
                  <a:tcPr marL="45720" marR="0"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W3</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W4</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W5</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W6</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W7</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W8</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W9</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W10</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W11</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W12</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W13</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W14</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W15</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W16</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W17</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W18</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W19</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W20</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W21</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W22</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W23</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W24</a:t>
                      </a:r>
                      <a:endParaRPr lang="en-US" sz="800" b="1" i="0" u="none" strike="noStrike">
                        <a:solidFill>
                          <a:schemeClr val="bg1"/>
                        </a:solidFill>
                        <a:effectLst/>
                        <a:latin typeface="+mj-lt"/>
                      </a:endParaRPr>
                    </a:p>
                  </a:txBody>
                  <a:tcPr marL="0" marR="0" marT="0" marB="0" anchor="ct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tc>
                  <a:txBody>
                    <a:bodyPr/>
                    <a:lstStyle/>
                    <a:p>
                      <a:pPr algn="ctr" rtl="0" fontAlgn="b">
                        <a:buNone/>
                      </a:pPr>
                      <a:r>
                        <a:rPr lang="en-US" sz="800" b="1" u="none" strike="noStrike">
                          <a:solidFill>
                            <a:schemeClr val="bg1"/>
                          </a:solidFill>
                          <a:effectLst/>
                          <a:latin typeface="+mj-lt"/>
                        </a:rPr>
                        <a:t>W25</a:t>
                      </a:r>
                      <a:endParaRPr lang="en-US" sz="800" b="1" i="0" u="none" strike="noStrike">
                        <a:solidFill>
                          <a:schemeClr val="bg1"/>
                        </a:solidFill>
                        <a:effectLst/>
                        <a:latin typeface="+mj-lt"/>
                      </a:endParaRPr>
                    </a:p>
                  </a:txBody>
                  <a:tcPr marL="0" marR="0"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3737335995"/>
                  </a:ext>
                </a:extLst>
              </a:tr>
              <a:tr h="143405">
                <a:tc>
                  <a:txBody>
                    <a:bodyPr/>
                    <a:lstStyle/>
                    <a:p>
                      <a:pPr algn="l" rtl="0" fontAlgn="b">
                        <a:buNone/>
                      </a:pPr>
                      <a:r>
                        <a:rPr lang="en-US" sz="700" b="1" u="none" strike="noStrike">
                          <a:effectLst/>
                        </a:rPr>
                        <a:t>Pre-Project</a:t>
                      </a:r>
                    </a:p>
                  </a:txBody>
                  <a:tcPr marL="914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DFA"/>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38643483"/>
                  </a:ext>
                </a:extLst>
              </a:tr>
              <a:tr h="143405">
                <a:tc>
                  <a:txBody>
                    <a:bodyPr/>
                    <a:lstStyle/>
                    <a:p>
                      <a:pPr algn="l" rtl="0" fontAlgn="b">
                        <a:buNone/>
                      </a:pPr>
                      <a:r>
                        <a:rPr lang="en-US" sz="700" u="none" strike="noStrike">
                          <a:effectLst/>
                        </a:rPr>
                        <a:t>Sales Knowledge Transfer</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DFA"/>
                    </a:solidFill>
                  </a:tcPr>
                </a:tc>
                <a:tc>
                  <a:txBody>
                    <a:bodyPr/>
                    <a:lstStyle/>
                    <a:p>
                      <a:pPr algn="l" fontAlgn="b">
                        <a:buNone/>
                      </a:pPr>
                      <a:endParaRPr lang="en-US" sz="700" b="0" i="0" u="none" strike="noStrike">
                        <a:solidFill>
                          <a:srgbClr val="000000"/>
                        </a:solidFill>
                        <a:effectLst/>
                        <a:latin typeface="Aptos Narrow" panose="020B00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01338336"/>
                  </a:ext>
                </a:extLst>
              </a:tr>
              <a:tr h="143405">
                <a:tc>
                  <a:txBody>
                    <a:bodyPr/>
                    <a:lstStyle/>
                    <a:p>
                      <a:pPr algn="l" rtl="0" fontAlgn="b">
                        <a:buNone/>
                      </a:pPr>
                      <a:r>
                        <a:rPr lang="en-US" sz="700" u="none" strike="noStrike">
                          <a:effectLst/>
                        </a:rPr>
                        <a:t>Delivery Scope Alignment &amp; KO</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DFA"/>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55696706"/>
                  </a:ext>
                </a:extLst>
              </a:tr>
              <a:tr h="143405">
                <a:tc>
                  <a:txBody>
                    <a:bodyPr/>
                    <a:lstStyle/>
                    <a:p>
                      <a:pPr algn="l" rtl="0" fontAlgn="b">
                        <a:buNone/>
                      </a:pPr>
                      <a:r>
                        <a:rPr lang="en-US" sz="700" b="1" u="none" strike="noStrike">
                          <a:effectLst/>
                        </a:rPr>
                        <a:t>Baseline Application (No Extensions)</a:t>
                      </a:r>
                      <a:endParaRPr lang="en-US" sz="700" b="1" i="0" u="none" strike="noStrike">
                        <a:solidFill>
                          <a:srgbClr val="0A2F46"/>
                        </a:solidFill>
                        <a:effectLst/>
                        <a:latin typeface="Arial" panose="020B0604020202020204" pitchFamily="34" charset="0"/>
                      </a:endParaRPr>
                    </a:p>
                  </a:txBody>
                  <a:tcPr marL="914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65446893"/>
                  </a:ext>
                </a:extLst>
              </a:tr>
              <a:tr h="143405">
                <a:tc>
                  <a:txBody>
                    <a:bodyPr/>
                    <a:lstStyle/>
                    <a:p>
                      <a:pPr algn="l" rtl="0" fontAlgn="b">
                        <a:buNone/>
                      </a:pPr>
                      <a:r>
                        <a:rPr lang="en-US" sz="700" u="none" strike="noStrike">
                          <a:effectLst/>
                        </a:rPr>
                        <a:t>Granularity workshop</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700" b="0" i="0" u="none" strike="noStrike">
                        <a:solidFill>
                          <a:srgbClr val="000000"/>
                        </a:solidFill>
                        <a:effectLst/>
                        <a:latin typeface="Aptos Narrow" panose="020B00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54225354"/>
                  </a:ext>
                </a:extLst>
              </a:tr>
              <a:tr h="143405">
                <a:tc>
                  <a:txBody>
                    <a:bodyPr/>
                    <a:lstStyle/>
                    <a:p>
                      <a:pPr algn="l" rtl="0" fontAlgn="b">
                        <a:buNone/>
                      </a:pPr>
                      <a:r>
                        <a:rPr lang="en-US" sz="700" u="none" strike="noStrike">
                          <a:effectLst/>
                        </a:rPr>
                        <a:t>Dimension Configuration</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94307223"/>
                  </a:ext>
                </a:extLst>
              </a:tr>
              <a:tr h="143405">
                <a:tc>
                  <a:txBody>
                    <a:bodyPr/>
                    <a:lstStyle/>
                    <a:p>
                      <a:pPr algn="l" rtl="0" fontAlgn="b">
                        <a:buNone/>
                      </a:pPr>
                      <a:r>
                        <a:rPr lang="en-US" sz="700" u="none" strike="noStrike">
                          <a:effectLst/>
                        </a:rPr>
                        <a:t>Hierarchy and time Configuration</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76013510"/>
                  </a:ext>
                </a:extLst>
              </a:tr>
              <a:tr h="143405">
                <a:tc>
                  <a:txBody>
                    <a:bodyPr/>
                    <a:lstStyle/>
                    <a:p>
                      <a:pPr algn="l" rtl="0" fontAlgn="b">
                        <a:buNone/>
                      </a:pPr>
                      <a:r>
                        <a:rPr lang="en-US" sz="700" u="none" strike="noStrike">
                          <a:effectLst/>
                        </a:rPr>
                        <a:t>Playback session to validation the granularity</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76402836"/>
                  </a:ext>
                </a:extLst>
              </a:tr>
              <a:tr h="143405">
                <a:tc>
                  <a:txBody>
                    <a:bodyPr/>
                    <a:lstStyle/>
                    <a:p>
                      <a:pPr algn="l" rtl="0" fontAlgn="b">
                        <a:buNone/>
                      </a:pPr>
                      <a:r>
                        <a:rPr lang="en-US" sz="700" u="none" strike="noStrike">
                          <a:effectLst/>
                        </a:rPr>
                        <a:t>Solution Configuration &amp; Creation</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50114086"/>
                  </a:ext>
                </a:extLst>
              </a:tr>
              <a:tr h="143405">
                <a:tc>
                  <a:txBody>
                    <a:bodyPr/>
                    <a:lstStyle/>
                    <a:p>
                      <a:pPr algn="l" rtl="0" fontAlgn="b">
                        <a:buNone/>
                      </a:pPr>
                      <a:r>
                        <a:rPr lang="en-US" sz="700" u="none" strike="noStrike">
                          <a:effectLst/>
                        </a:rPr>
                        <a:t>Model Familiarization and Training</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23433307"/>
                  </a:ext>
                </a:extLst>
              </a:tr>
              <a:tr h="143405">
                <a:tc>
                  <a:txBody>
                    <a:bodyPr/>
                    <a:lstStyle/>
                    <a:p>
                      <a:pPr algn="l" rtl="0" fontAlgn="b">
                        <a:buNone/>
                      </a:pPr>
                      <a:r>
                        <a:rPr lang="en-US" sz="700" u="none" strike="noStrike">
                          <a:effectLst/>
                        </a:rPr>
                        <a:t>Playback session to validate the scope of solution</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19349937"/>
                  </a:ext>
                </a:extLst>
              </a:tr>
              <a:tr h="143405">
                <a:tc>
                  <a:txBody>
                    <a:bodyPr/>
                    <a:lstStyle/>
                    <a:p>
                      <a:pPr algn="l" rtl="0" fontAlgn="b">
                        <a:buNone/>
                      </a:pPr>
                      <a:r>
                        <a:rPr lang="en-US" sz="700" u="none" strike="noStrike">
                          <a:effectLst/>
                        </a:rPr>
                        <a:t>UAT and Sign-off</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14440384"/>
                  </a:ext>
                </a:extLst>
              </a:tr>
              <a:tr h="143405">
                <a:tc>
                  <a:txBody>
                    <a:bodyPr/>
                    <a:lstStyle/>
                    <a:p>
                      <a:pPr algn="l" rtl="0" fontAlgn="b">
                        <a:buNone/>
                      </a:pPr>
                      <a:r>
                        <a:rPr lang="en-US" sz="700" u="none" strike="noStrike">
                          <a:effectLst/>
                        </a:rPr>
                        <a:t>Collect feedback on the scope</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FCC"/>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500" u="none" strike="noStrike">
                          <a:effectLst/>
                        </a:rPr>
                        <a:t> </a:t>
                      </a:r>
                      <a:endParaRPr lang="en-US" sz="5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500" u="none" strike="noStrike">
                          <a:effectLst/>
                        </a:rPr>
                        <a:t> </a:t>
                      </a:r>
                      <a:endParaRPr lang="en-US" sz="5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42948379"/>
                  </a:ext>
                </a:extLst>
              </a:tr>
              <a:tr h="143405">
                <a:tc>
                  <a:txBody>
                    <a:bodyPr/>
                    <a:lstStyle/>
                    <a:p>
                      <a:pPr algn="l" rtl="0" fontAlgn="b">
                        <a:buNone/>
                      </a:pPr>
                      <a:r>
                        <a:rPr lang="en-US" sz="700" b="1" u="none" strike="noStrike">
                          <a:effectLst/>
                        </a:rPr>
                        <a:t>Extensions</a:t>
                      </a:r>
                      <a:endParaRPr lang="en-US" sz="700" b="1" i="0" u="none" strike="noStrike">
                        <a:solidFill>
                          <a:srgbClr val="0A2F46"/>
                        </a:solidFill>
                        <a:effectLst/>
                        <a:latin typeface="Arial" panose="020B0604020202020204" pitchFamily="34" charset="0"/>
                      </a:endParaRPr>
                    </a:p>
                  </a:txBody>
                  <a:tcPr marL="914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39944625"/>
                  </a:ext>
                </a:extLst>
              </a:tr>
              <a:tr h="143405">
                <a:tc>
                  <a:txBody>
                    <a:bodyPr/>
                    <a:lstStyle/>
                    <a:p>
                      <a:pPr algn="l" rtl="0" fontAlgn="b">
                        <a:buNone/>
                      </a:pPr>
                      <a:r>
                        <a:rPr lang="en-US" sz="700" u="none" strike="noStrike">
                          <a:effectLst/>
                        </a:rPr>
                        <a:t>Extension Review and Analysis</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700" b="0" i="0" u="none" strike="noStrike">
                        <a:solidFill>
                          <a:srgbClr val="000000"/>
                        </a:solidFill>
                        <a:effectLst/>
                        <a:latin typeface="Aptos Narrow" panose="020B00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90286341"/>
                  </a:ext>
                </a:extLst>
              </a:tr>
              <a:tr h="143405">
                <a:tc>
                  <a:txBody>
                    <a:bodyPr/>
                    <a:lstStyle/>
                    <a:p>
                      <a:pPr algn="l" rtl="0" fontAlgn="b">
                        <a:buNone/>
                      </a:pPr>
                      <a:r>
                        <a:rPr lang="en-US" sz="700" u="none" strike="noStrike">
                          <a:effectLst/>
                        </a:rPr>
                        <a:t>User Stories / Workshops</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12283801"/>
                  </a:ext>
                </a:extLst>
              </a:tr>
              <a:tr h="143405">
                <a:tc>
                  <a:txBody>
                    <a:bodyPr/>
                    <a:lstStyle/>
                    <a:p>
                      <a:pPr algn="l" rtl="0" fontAlgn="b">
                        <a:buNone/>
                      </a:pPr>
                      <a:r>
                        <a:rPr lang="en-US" sz="700" b="1" u="none" strike="noStrike">
                          <a:effectLst/>
                        </a:rPr>
                        <a:t>Implementation Sprints</a:t>
                      </a:r>
                      <a:endParaRPr lang="en-US" sz="700" b="1" i="0" u="none" strike="noStrike">
                        <a:solidFill>
                          <a:srgbClr val="0A2F46"/>
                        </a:solidFill>
                        <a:effectLst/>
                        <a:latin typeface="Arial" panose="020B0604020202020204" pitchFamily="34" charset="0"/>
                      </a:endParaRPr>
                    </a:p>
                  </a:txBody>
                  <a:tcPr marL="914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739252041"/>
                  </a:ext>
                </a:extLst>
              </a:tr>
              <a:tr h="143405">
                <a:tc>
                  <a:txBody>
                    <a:bodyPr/>
                    <a:lstStyle/>
                    <a:p>
                      <a:pPr algn="l" rtl="0" fontAlgn="b">
                        <a:buNone/>
                      </a:pPr>
                      <a:r>
                        <a:rPr lang="en-US" sz="700" u="none" strike="noStrike">
                          <a:effectLst/>
                          <a:highlight>
                            <a:srgbClr val="FFFF00"/>
                          </a:highlight>
                        </a:rPr>
                        <a:t>Sprint 1</a:t>
                      </a:r>
                      <a:endParaRPr lang="en-US" sz="700" b="0" i="0" u="none" strike="noStrike">
                        <a:solidFill>
                          <a:srgbClr val="0A2F46"/>
                        </a:solidFill>
                        <a:effectLst/>
                        <a:highlight>
                          <a:srgbClr val="FFFF00"/>
                        </a:highligh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700" b="0" i="0" u="none" strike="noStrike">
                        <a:solidFill>
                          <a:srgbClr val="000000"/>
                        </a:solidFill>
                        <a:effectLst/>
                        <a:latin typeface="Aptos Narrow" panose="020B00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38277151"/>
                  </a:ext>
                </a:extLst>
              </a:tr>
              <a:tr h="143405">
                <a:tc>
                  <a:txBody>
                    <a:bodyPr/>
                    <a:lstStyle/>
                    <a:p>
                      <a:pPr algn="l" rtl="0" fontAlgn="b">
                        <a:buNone/>
                      </a:pPr>
                      <a:r>
                        <a:rPr lang="en-US" sz="700" u="none" strike="noStrike">
                          <a:effectLst/>
                          <a:highlight>
                            <a:srgbClr val="FFFF00"/>
                          </a:highlight>
                        </a:rPr>
                        <a:t>Sprint 2</a:t>
                      </a:r>
                      <a:endParaRPr lang="en-US" sz="700" b="0" i="0" u="none" strike="noStrike">
                        <a:solidFill>
                          <a:srgbClr val="0A2F46"/>
                        </a:solidFill>
                        <a:effectLst/>
                        <a:highlight>
                          <a:srgbClr val="FFFF00"/>
                        </a:highligh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246952961"/>
                  </a:ext>
                </a:extLst>
              </a:tr>
              <a:tr h="143405">
                <a:tc>
                  <a:txBody>
                    <a:bodyPr/>
                    <a:lstStyle/>
                    <a:p>
                      <a:pPr algn="l" rtl="0" fontAlgn="b">
                        <a:buNone/>
                      </a:pPr>
                      <a:r>
                        <a:rPr lang="en-US" sz="700" u="none" strike="noStrike">
                          <a:effectLst/>
                          <a:highlight>
                            <a:srgbClr val="FFFF00"/>
                          </a:highlight>
                        </a:rPr>
                        <a:t>Sprint N</a:t>
                      </a:r>
                      <a:endParaRPr lang="en-US" sz="700" b="0" i="0" u="none" strike="noStrike">
                        <a:solidFill>
                          <a:srgbClr val="0A2F46"/>
                        </a:solidFill>
                        <a:effectLst/>
                        <a:highlight>
                          <a:srgbClr val="FFFF00"/>
                        </a:highligh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74209054"/>
                  </a:ext>
                </a:extLst>
              </a:tr>
              <a:tr h="143405">
                <a:tc>
                  <a:txBody>
                    <a:bodyPr/>
                    <a:lstStyle/>
                    <a:p>
                      <a:pPr algn="l" rtl="0" fontAlgn="b">
                        <a:buNone/>
                      </a:pPr>
                      <a:r>
                        <a:rPr lang="en-US" sz="700" u="none" strike="noStrike">
                          <a:effectLst/>
                        </a:rPr>
                        <a:t>Automated Data Loads</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0C7"/>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500" u="none" strike="noStrike">
                          <a:effectLst/>
                        </a:rPr>
                        <a:t> </a:t>
                      </a:r>
                      <a:endParaRPr lang="en-US" sz="5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4414203"/>
                  </a:ext>
                </a:extLst>
              </a:tr>
              <a:tr h="143405">
                <a:tc>
                  <a:txBody>
                    <a:bodyPr/>
                    <a:lstStyle/>
                    <a:p>
                      <a:pPr algn="l" rtl="0" fontAlgn="b">
                        <a:buNone/>
                      </a:pPr>
                      <a:r>
                        <a:rPr lang="en-US" sz="700" b="1" u="none" strike="noStrike">
                          <a:effectLst/>
                        </a:rPr>
                        <a:t>Change Management and Deployment</a:t>
                      </a:r>
                      <a:endParaRPr lang="en-US" sz="700" b="1" i="0" u="none" strike="noStrike">
                        <a:solidFill>
                          <a:srgbClr val="0A2F46"/>
                        </a:solidFill>
                        <a:effectLst/>
                        <a:latin typeface="Arial" panose="020B0604020202020204" pitchFamily="34" charset="0"/>
                      </a:endParaRPr>
                    </a:p>
                  </a:txBody>
                  <a:tcPr marL="914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b">
                        <a:buNone/>
                      </a:pPr>
                      <a:r>
                        <a:rPr lang="en-US" sz="800" u="none" strike="noStrike">
                          <a:effectLst/>
                        </a:rPr>
                        <a:t> </a:t>
                      </a:r>
                      <a:endParaRPr lang="en-US" sz="800" b="0" i="0" u="none" strike="noStrike">
                        <a:solidFill>
                          <a:srgbClr val="000000"/>
                        </a:solidFill>
                        <a:effectLst/>
                        <a:latin typeface="Arial" panose="020B06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02208395"/>
                  </a:ext>
                </a:extLst>
              </a:tr>
              <a:tr h="143405">
                <a:tc>
                  <a:txBody>
                    <a:bodyPr/>
                    <a:lstStyle/>
                    <a:p>
                      <a:pPr algn="l" rtl="0" fontAlgn="b">
                        <a:buNone/>
                      </a:pPr>
                      <a:r>
                        <a:rPr lang="en-US" sz="700" u="none" strike="noStrike">
                          <a:effectLst/>
                        </a:rPr>
                        <a:t>User Adoption and Training</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700" b="0" i="0" u="none" strike="noStrike">
                        <a:solidFill>
                          <a:srgbClr val="000000"/>
                        </a:solidFill>
                        <a:effectLst/>
                        <a:latin typeface="Aptos Narrow" panose="020B0004020202020204" pitchFamily="34" charset="0"/>
                      </a:endParaRPr>
                    </a:p>
                  </a:txBody>
                  <a:tcPr marL="0" marR="0"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99727452"/>
                  </a:ext>
                </a:extLst>
              </a:tr>
              <a:tr h="143405">
                <a:tc>
                  <a:txBody>
                    <a:bodyPr/>
                    <a:lstStyle/>
                    <a:p>
                      <a:pPr algn="l" rtl="0" fontAlgn="b">
                        <a:buNone/>
                      </a:pPr>
                      <a:r>
                        <a:rPr lang="en-US" sz="700" u="none" strike="noStrike">
                          <a:effectLst/>
                        </a:rPr>
                        <a:t>UAT Preparation + SIT</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Times" panose="02020603050405020304" pitchFamily="18"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Times" panose="02020603050405020304" pitchFamily="18"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34295355"/>
                  </a:ext>
                </a:extLst>
              </a:tr>
              <a:tr h="143405">
                <a:tc>
                  <a:txBody>
                    <a:bodyPr/>
                    <a:lstStyle/>
                    <a:p>
                      <a:pPr algn="l" rtl="0" fontAlgn="b">
                        <a:buNone/>
                      </a:pPr>
                      <a:r>
                        <a:rPr lang="en-US" sz="700" u="none" strike="noStrike">
                          <a:effectLst/>
                        </a:rPr>
                        <a:t>UAT</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04467405"/>
                  </a:ext>
                </a:extLst>
              </a:tr>
              <a:tr h="143405">
                <a:tc>
                  <a:txBody>
                    <a:bodyPr/>
                    <a:lstStyle/>
                    <a:p>
                      <a:pPr algn="l" rtl="0" fontAlgn="b">
                        <a:buNone/>
                      </a:pPr>
                      <a:r>
                        <a:rPr lang="en-US" sz="700" u="none" strike="noStrike">
                          <a:effectLst/>
                        </a:rPr>
                        <a:t>Extension Roll out</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5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507955412"/>
                  </a:ext>
                </a:extLst>
              </a:tr>
              <a:tr h="143405">
                <a:tc>
                  <a:txBody>
                    <a:bodyPr/>
                    <a:lstStyle/>
                    <a:p>
                      <a:pPr algn="l" rtl="0" fontAlgn="b">
                        <a:buNone/>
                      </a:pPr>
                      <a:r>
                        <a:rPr lang="en-US" sz="700" u="none" strike="noStrike">
                          <a:effectLst/>
                        </a:rPr>
                        <a:t>Post Go Live support</a:t>
                      </a:r>
                      <a:endParaRPr lang="en-US" sz="700" b="0" i="0" u="none" strike="noStrike">
                        <a:solidFill>
                          <a:srgbClr val="0A2F46"/>
                        </a:solidFill>
                        <a:effectLst/>
                        <a:latin typeface="Arial" panose="020B0604020202020204" pitchFamily="34" charset="0"/>
                      </a:endParaRPr>
                    </a:p>
                  </a:txBody>
                  <a:tcPr marL="54864" marR="0" marT="0" marB="0" anchor="b">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DEFB"/>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b">
                        <a:buNone/>
                      </a:pPr>
                      <a:r>
                        <a:rPr lang="en-US" sz="800" u="none" strike="noStrike">
                          <a:effectLst/>
                        </a:rPr>
                        <a:t> </a:t>
                      </a:r>
                      <a:endParaRPr lang="en-US" sz="800" b="0" i="0" u="none" strike="noStrike">
                        <a:solidFill>
                          <a:srgbClr val="000000"/>
                        </a:solidFill>
                        <a:effectLst/>
                        <a:latin typeface="Aptos Narrow" panose="020B0004020202020204" pitchFamily="34" charset="0"/>
                      </a:endParaRPr>
                    </a:p>
                  </a:txBody>
                  <a:tcPr marL="0" marR="0" marT="0" marB="0" anchor="b">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050716482"/>
                  </a:ext>
                </a:extLst>
              </a:tr>
            </a:tbl>
          </a:graphicData>
        </a:graphic>
      </p:graphicFrame>
      <p:sp>
        <p:nvSpPr>
          <p:cNvPr id="4" name="Pentagon 14">
            <a:extLst>
              <a:ext uri="{FF2B5EF4-FFF2-40B4-BE49-F238E27FC236}">
                <a16:creationId xmlns:a16="http://schemas.microsoft.com/office/drawing/2014/main" id="{840FD1E2-8139-D84D-B223-B4CDDB91658A}"/>
              </a:ext>
              <a:ext uri="{147F2762-F138-4A5C-976F-8EAC2B608ADB}">
                <a16:predDERef xmlns:a16="http://schemas.microsoft.com/office/drawing/2014/main" pred="{709049B7-B2F6-57B0-A494-5FCBA036BE85}"/>
              </a:ext>
            </a:extLst>
          </p:cNvPr>
          <p:cNvSpPr/>
          <p:nvPr/>
        </p:nvSpPr>
        <p:spPr>
          <a:xfrm>
            <a:off x="2289928" y="1094853"/>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7" name="Pentagon 14">
            <a:extLst>
              <a:ext uri="{FF2B5EF4-FFF2-40B4-BE49-F238E27FC236}">
                <a16:creationId xmlns:a16="http://schemas.microsoft.com/office/drawing/2014/main" id="{F1B721AC-7285-3620-C401-863FA86DCF30}"/>
              </a:ext>
              <a:ext uri="{147F2762-F138-4A5C-976F-8EAC2B608ADB}">
                <a16:predDERef xmlns:a16="http://schemas.microsoft.com/office/drawing/2014/main" pred="{709049B7-B2F6-57B0-A494-5FCBA036BE85}"/>
              </a:ext>
            </a:extLst>
          </p:cNvPr>
          <p:cNvSpPr/>
          <p:nvPr/>
        </p:nvSpPr>
        <p:spPr>
          <a:xfrm>
            <a:off x="2289928" y="1235738"/>
            <a:ext cx="48341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0" name="Pentagon 14">
            <a:extLst>
              <a:ext uri="{FF2B5EF4-FFF2-40B4-BE49-F238E27FC236}">
                <a16:creationId xmlns:a16="http://schemas.microsoft.com/office/drawing/2014/main" id="{624A5EBF-4831-33D7-9F6A-CC4C422F706B}"/>
              </a:ext>
              <a:ext uri="{147F2762-F138-4A5C-976F-8EAC2B608ADB}">
                <a16:predDERef xmlns:a16="http://schemas.microsoft.com/office/drawing/2014/main" pred="{709049B7-B2F6-57B0-A494-5FCBA036BE85}"/>
              </a:ext>
            </a:extLst>
          </p:cNvPr>
          <p:cNvSpPr/>
          <p:nvPr/>
        </p:nvSpPr>
        <p:spPr>
          <a:xfrm>
            <a:off x="2807419" y="1522321"/>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1" name="Pentagon 14">
            <a:extLst>
              <a:ext uri="{FF2B5EF4-FFF2-40B4-BE49-F238E27FC236}">
                <a16:creationId xmlns:a16="http://schemas.microsoft.com/office/drawing/2014/main" id="{AD64C554-0732-947F-AE75-5BD38546B860}"/>
              </a:ext>
              <a:ext uri="{147F2762-F138-4A5C-976F-8EAC2B608ADB}">
                <a16:predDERef xmlns:a16="http://schemas.microsoft.com/office/drawing/2014/main" pred="{709049B7-B2F6-57B0-A494-5FCBA036BE85}"/>
              </a:ext>
            </a:extLst>
          </p:cNvPr>
          <p:cNvSpPr/>
          <p:nvPr/>
        </p:nvSpPr>
        <p:spPr>
          <a:xfrm>
            <a:off x="2807419" y="1665294"/>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2" name="Pentagon 14">
            <a:extLst>
              <a:ext uri="{FF2B5EF4-FFF2-40B4-BE49-F238E27FC236}">
                <a16:creationId xmlns:a16="http://schemas.microsoft.com/office/drawing/2014/main" id="{315BAFCE-F4E4-2AD6-E2EB-CF97EDE5F7CC}"/>
              </a:ext>
              <a:ext uri="{147F2762-F138-4A5C-976F-8EAC2B608ADB}">
                <a16:predDERef xmlns:a16="http://schemas.microsoft.com/office/drawing/2014/main" pred="{709049B7-B2F6-57B0-A494-5FCBA036BE85}"/>
              </a:ext>
            </a:extLst>
          </p:cNvPr>
          <p:cNvSpPr/>
          <p:nvPr/>
        </p:nvSpPr>
        <p:spPr>
          <a:xfrm>
            <a:off x="2807419" y="1808267"/>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3" name="Pentagon 14">
            <a:extLst>
              <a:ext uri="{FF2B5EF4-FFF2-40B4-BE49-F238E27FC236}">
                <a16:creationId xmlns:a16="http://schemas.microsoft.com/office/drawing/2014/main" id="{64996724-2214-36F3-54E2-C3E30746541B}"/>
              </a:ext>
              <a:ext uri="{147F2762-F138-4A5C-976F-8EAC2B608ADB}">
                <a16:predDERef xmlns:a16="http://schemas.microsoft.com/office/drawing/2014/main" pred="{709049B7-B2F6-57B0-A494-5FCBA036BE85}"/>
              </a:ext>
            </a:extLst>
          </p:cNvPr>
          <p:cNvSpPr/>
          <p:nvPr/>
        </p:nvSpPr>
        <p:spPr>
          <a:xfrm>
            <a:off x="4627846" y="2961230"/>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4" name="Pentagon 14">
            <a:extLst>
              <a:ext uri="{FF2B5EF4-FFF2-40B4-BE49-F238E27FC236}">
                <a16:creationId xmlns:a16="http://schemas.microsoft.com/office/drawing/2014/main" id="{0B13E4F3-9300-A3E3-7244-6A27DC7109C6}"/>
              </a:ext>
              <a:ext uri="{147F2762-F138-4A5C-976F-8EAC2B608ADB}">
                <a16:predDERef xmlns:a16="http://schemas.microsoft.com/office/drawing/2014/main" pred="{709049B7-B2F6-57B0-A494-5FCBA036BE85}"/>
              </a:ext>
            </a:extLst>
          </p:cNvPr>
          <p:cNvSpPr/>
          <p:nvPr/>
        </p:nvSpPr>
        <p:spPr>
          <a:xfrm>
            <a:off x="3065906" y="2241863"/>
            <a:ext cx="898169"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5" name="Pentagon 14">
            <a:extLst>
              <a:ext uri="{FF2B5EF4-FFF2-40B4-BE49-F238E27FC236}">
                <a16:creationId xmlns:a16="http://schemas.microsoft.com/office/drawing/2014/main" id="{56C3B1E0-061A-3AD4-7EC4-040CAE0DBC51}"/>
              </a:ext>
              <a:ext uri="{147F2762-F138-4A5C-976F-8EAC2B608ADB}">
                <a16:predDERef xmlns:a16="http://schemas.microsoft.com/office/drawing/2014/main" pred="{709049B7-B2F6-57B0-A494-5FCBA036BE85}"/>
              </a:ext>
            </a:extLst>
          </p:cNvPr>
          <p:cNvSpPr/>
          <p:nvPr/>
        </p:nvSpPr>
        <p:spPr>
          <a:xfrm>
            <a:off x="3181429" y="2096862"/>
            <a:ext cx="631920"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6" name="Pentagon 14">
            <a:extLst>
              <a:ext uri="{FF2B5EF4-FFF2-40B4-BE49-F238E27FC236}">
                <a16:creationId xmlns:a16="http://schemas.microsoft.com/office/drawing/2014/main" id="{1FD0A7D1-0982-DE01-221A-9C2809E7B431}"/>
              </a:ext>
              <a:ext uri="{147F2762-F138-4A5C-976F-8EAC2B608ADB}">
                <a16:predDERef xmlns:a16="http://schemas.microsoft.com/office/drawing/2014/main" pred="{709049B7-B2F6-57B0-A494-5FCBA036BE85}"/>
              </a:ext>
            </a:extLst>
          </p:cNvPr>
          <p:cNvSpPr/>
          <p:nvPr/>
        </p:nvSpPr>
        <p:spPr>
          <a:xfrm>
            <a:off x="3331029" y="2386864"/>
            <a:ext cx="482319"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7" name="Pentagon 14">
            <a:extLst>
              <a:ext uri="{FF2B5EF4-FFF2-40B4-BE49-F238E27FC236}">
                <a16:creationId xmlns:a16="http://schemas.microsoft.com/office/drawing/2014/main" id="{1CB85C2D-E9C7-2E70-B3D7-3C5C0501D61C}"/>
              </a:ext>
              <a:ext uri="{147F2762-F138-4A5C-976F-8EAC2B608ADB}">
                <a16:predDERef xmlns:a16="http://schemas.microsoft.com/office/drawing/2014/main" pred="{709049B7-B2F6-57B0-A494-5FCBA036BE85}"/>
              </a:ext>
            </a:extLst>
          </p:cNvPr>
          <p:cNvSpPr/>
          <p:nvPr/>
        </p:nvSpPr>
        <p:spPr>
          <a:xfrm>
            <a:off x="3964074" y="2531558"/>
            <a:ext cx="621792"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18" name="Pentagon 14">
            <a:extLst>
              <a:ext uri="{FF2B5EF4-FFF2-40B4-BE49-F238E27FC236}">
                <a16:creationId xmlns:a16="http://schemas.microsoft.com/office/drawing/2014/main" id="{0A03D341-6B4E-A689-90F6-CD4249A2DEC2}"/>
              </a:ext>
              <a:ext uri="{147F2762-F138-4A5C-976F-8EAC2B608ADB}">
                <a16:predDERef xmlns:a16="http://schemas.microsoft.com/office/drawing/2014/main" pred="{709049B7-B2F6-57B0-A494-5FCBA036BE85}"/>
              </a:ext>
            </a:extLst>
          </p:cNvPr>
          <p:cNvSpPr/>
          <p:nvPr/>
        </p:nvSpPr>
        <p:spPr>
          <a:xfrm>
            <a:off x="3326005" y="2676559"/>
            <a:ext cx="1259861"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1" name="Pentagon 14">
            <a:extLst>
              <a:ext uri="{FF2B5EF4-FFF2-40B4-BE49-F238E27FC236}">
                <a16:creationId xmlns:a16="http://schemas.microsoft.com/office/drawing/2014/main" id="{ABE0B0CA-BB8A-2308-FD6A-0E7D6AD803F6}"/>
              </a:ext>
              <a:ext uri="{147F2762-F138-4A5C-976F-8EAC2B608ADB}">
                <a16:predDERef xmlns:a16="http://schemas.microsoft.com/office/drawing/2014/main" pred="{709049B7-B2F6-57B0-A494-5FCBA036BE85}"/>
              </a:ext>
            </a:extLst>
          </p:cNvPr>
          <p:cNvSpPr/>
          <p:nvPr/>
        </p:nvSpPr>
        <p:spPr>
          <a:xfrm>
            <a:off x="4890778" y="3104942"/>
            <a:ext cx="485090"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2" name="Pentagon 14">
            <a:extLst>
              <a:ext uri="{FF2B5EF4-FFF2-40B4-BE49-F238E27FC236}">
                <a16:creationId xmlns:a16="http://schemas.microsoft.com/office/drawing/2014/main" id="{6BDB9075-22C7-B2F0-F2D0-18C3D582EF5E}"/>
              </a:ext>
              <a:ext uri="{147F2762-F138-4A5C-976F-8EAC2B608ADB}">
                <a16:predDERef xmlns:a16="http://schemas.microsoft.com/office/drawing/2014/main" pred="{709049B7-B2F6-57B0-A494-5FCBA036BE85}"/>
              </a:ext>
            </a:extLst>
          </p:cNvPr>
          <p:cNvSpPr/>
          <p:nvPr/>
        </p:nvSpPr>
        <p:spPr>
          <a:xfrm>
            <a:off x="5408269" y="3391320"/>
            <a:ext cx="485090"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5" name="Pentagon 14">
            <a:extLst>
              <a:ext uri="{FF2B5EF4-FFF2-40B4-BE49-F238E27FC236}">
                <a16:creationId xmlns:a16="http://schemas.microsoft.com/office/drawing/2014/main" id="{6F6AA3CC-E4D9-8BE2-994B-A3866BBEAEAD}"/>
              </a:ext>
              <a:ext uri="{147F2762-F138-4A5C-976F-8EAC2B608ADB}">
                <a16:predDERef xmlns:a16="http://schemas.microsoft.com/office/drawing/2014/main" pred="{709049B7-B2F6-57B0-A494-5FCBA036BE85}"/>
              </a:ext>
            </a:extLst>
          </p:cNvPr>
          <p:cNvSpPr/>
          <p:nvPr/>
        </p:nvSpPr>
        <p:spPr>
          <a:xfrm>
            <a:off x="5922410" y="3538696"/>
            <a:ext cx="485090"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6" name="Pentagon 14">
            <a:extLst>
              <a:ext uri="{FF2B5EF4-FFF2-40B4-BE49-F238E27FC236}">
                <a16:creationId xmlns:a16="http://schemas.microsoft.com/office/drawing/2014/main" id="{329B6D5B-14E7-DFD3-CB81-3C70D42E2FD9}"/>
              </a:ext>
              <a:ext uri="{147F2762-F138-4A5C-976F-8EAC2B608ADB}">
                <a16:predDERef xmlns:a16="http://schemas.microsoft.com/office/drawing/2014/main" pred="{709049B7-B2F6-57B0-A494-5FCBA036BE85}"/>
              </a:ext>
            </a:extLst>
          </p:cNvPr>
          <p:cNvSpPr/>
          <p:nvPr/>
        </p:nvSpPr>
        <p:spPr>
          <a:xfrm>
            <a:off x="6444924" y="3679374"/>
            <a:ext cx="485090"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7" name="Pentagon 14">
            <a:extLst>
              <a:ext uri="{FF2B5EF4-FFF2-40B4-BE49-F238E27FC236}">
                <a16:creationId xmlns:a16="http://schemas.microsoft.com/office/drawing/2014/main" id="{984A8008-BB7E-5D1A-E62E-AD3766DFB81F}"/>
              </a:ext>
              <a:ext uri="{147F2762-F138-4A5C-976F-8EAC2B608ADB}">
                <a16:predDERef xmlns:a16="http://schemas.microsoft.com/office/drawing/2014/main" pred="{709049B7-B2F6-57B0-A494-5FCBA036BE85}"/>
              </a:ext>
            </a:extLst>
          </p:cNvPr>
          <p:cNvSpPr/>
          <p:nvPr/>
        </p:nvSpPr>
        <p:spPr>
          <a:xfrm>
            <a:off x="5408269" y="3826749"/>
            <a:ext cx="1521745" cy="11904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8" name="Pentagon 14">
            <a:extLst>
              <a:ext uri="{FF2B5EF4-FFF2-40B4-BE49-F238E27FC236}">
                <a16:creationId xmlns:a16="http://schemas.microsoft.com/office/drawing/2014/main" id="{8E716D11-BCBE-E127-CF40-225E62151901}"/>
              </a:ext>
              <a:ext uri="{147F2762-F138-4A5C-976F-8EAC2B608ADB}">
                <a16:predDERef xmlns:a16="http://schemas.microsoft.com/office/drawing/2014/main" pred="{709049B7-B2F6-57B0-A494-5FCBA036BE85}"/>
              </a:ext>
            </a:extLst>
          </p:cNvPr>
          <p:cNvSpPr/>
          <p:nvPr/>
        </p:nvSpPr>
        <p:spPr>
          <a:xfrm>
            <a:off x="3326005" y="4110989"/>
            <a:ext cx="5164852"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29" name="Pentagon 14">
            <a:extLst>
              <a:ext uri="{FF2B5EF4-FFF2-40B4-BE49-F238E27FC236}">
                <a16:creationId xmlns:a16="http://schemas.microsoft.com/office/drawing/2014/main" id="{94B78295-3DA9-C029-44DC-AC77B6FF7BA6}"/>
              </a:ext>
              <a:ext uri="{147F2762-F138-4A5C-976F-8EAC2B608ADB}">
                <a16:predDERef xmlns:a16="http://schemas.microsoft.com/office/drawing/2014/main" pred="{709049B7-B2F6-57B0-A494-5FCBA036BE85}"/>
              </a:ext>
            </a:extLst>
          </p:cNvPr>
          <p:cNvSpPr/>
          <p:nvPr/>
        </p:nvSpPr>
        <p:spPr>
          <a:xfrm>
            <a:off x="7084378" y="4395229"/>
            <a:ext cx="627731"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30" name="Pentagon 14">
            <a:extLst>
              <a:ext uri="{FF2B5EF4-FFF2-40B4-BE49-F238E27FC236}">
                <a16:creationId xmlns:a16="http://schemas.microsoft.com/office/drawing/2014/main" id="{4185FD80-17E9-376E-8516-D06D455535A4}"/>
              </a:ext>
              <a:ext uri="{147F2762-F138-4A5C-976F-8EAC2B608ADB}">
                <a16:predDERef xmlns:a16="http://schemas.microsoft.com/office/drawing/2014/main" pred="{709049B7-B2F6-57B0-A494-5FCBA036BE85}"/>
              </a:ext>
            </a:extLst>
          </p:cNvPr>
          <p:cNvSpPr/>
          <p:nvPr/>
        </p:nvSpPr>
        <p:spPr>
          <a:xfrm>
            <a:off x="7749534" y="4541179"/>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31" name="Pentagon 14">
            <a:extLst>
              <a:ext uri="{FF2B5EF4-FFF2-40B4-BE49-F238E27FC236}">
                <a16:creationId xmlns:a16="http://schemas.microsoft.com/office/drawing/2014/main" id="{F1F7BD3C-419F-78A4-B755-FD0F5A5430F3}"/>
              </a:ext>
              <a:ext uri="{147F2762-F138-4A5C-976F-8EAC2B608ADB}">
                <a16:predDERef xmlns:a16="http://schemas.microsoft.com/office/drawing/2014/main" pred="{709049B7-B2F6-57B0-A494-5FCBA036BE85}"/>
              </a:ext>
            </a:extLst>
          </p:cNvPr>
          <p:cNvSpPr/>
          <p:nvPr/>
        </p:nvSpPr>
        <p:spPr>
          <a:xfrm>
            <a:off x="6563539" y="4253340"/>
            <a:ext cx="627731"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32" name="Pentagon 14">
            <a:extLst>
              <a:ext uri="{FF2B5EF4-FFF2-40B4-BE49-F238E27FC236}">
                <a16:creationId xmlns:a16="http://schemas.microsoft.com/office/drawing/2014/main" id="{11D4A441-D108-006A-3EE7-5601D5533AE9}"/>
              </a:ext>
              <a:ext uri="{147F2762-F138-4A5C-976F-8EAC2B608ADB}">
                <a16:predDERef xmlns:a16="http://schemas.microsoft.com/office/drawing/2014/main" pred="{709049B7-B2F6-57B0-A494-5FCBA036BE85}"/>
              </a:ext>
            </a:extLst>
          </p:cNvPr>
          <p:cNvSpPr/>
          <p:nvPr/>
        </p:nvSpPr>
        <p:spPr>
          <a:xfrm>
            <a:off x="8005767" y="4683282"/>
            <a:ext cx="485090" cy="10550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33" name="5-Point Star 17">
            <a:extLst>
              <a:ext uri="{FF2B5EF4-FFF2-40B4-BE49-F238E27FC236}">
                <a16:creationId xmlns:a16="http://schemas.microsoft.com/office/drawing/2014/main" id="{3032BA69-4375-1A4A-AB03-B3FC06F28FCA}"/>
              </a:ext>
              <a:ext uri="{147F2762-F138-4A5C-976F-8EAC2B608ADB}">
                <a16:predDERef xmlns:a16="http://schemas.microsoft.com/office/drawing/2014/main" pred="{75453C1E-80D7-3C42-BFF2-3BCB5842B51D}"/>
              </a:ext>
            </a:extLst>
          </p:cNvPr>
          <p:cNvSpPr/>
          <p:nvPr/>
        </p:nvSpPr>
        <p:spPr>
          <a:xfrm>
            <a:off x="2736608" y="1234063"/>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34" name="Pentagon 14">
            <a:extLst>
              <a:ext uri="{FF2B5EF4-FFF2-40B4-BE49-F238E27FC236}">
                <a16:creationId xmlns:a16="http://schemas.microsoft.com/office/drawing/2014/main" id="{DC725E98-B4CD-D21E-7253-92207078CEEB}"/>
              </a:ext>
              <a:ext uri="{147F2762-F138-4A5C-976F-8EAC2B608ADB}">
                <a16:predDERef xmlns:a16="http://schemas.microsoft.com/office/drawing/2014/main" pred="{709049B7-B2F6-57B0-A494-5FCBA036BE85}"/>
              </a:ext>
            </a:extLst>
          </p:cNvPr>
          <p:cNvSpPr/>
          <p:nvPr/>
        </p:nvSpPr>
        <p:spPr>
          <a:xfrm>
            <a:off x="3070930" y="1951861"/>
            <a:ext cx="222157" cy="11095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p>
        </p:txBody>
      </p:sp>
      <p:sp>
        <p:nvSpPr>
          <p:cNvPr id="35" name="5-Point Star 17">
            <a:extLst>
              <a:ext uri="{FF2B5EF4-FFF2-40B4-BE49-F238E27FC236}">
                <a16:creationId xmlns:a16="http://schemas.microsoft.com/office/drawing/2014/main" id="{54262263-5A8B-5207-9093-A604345A4BCC}"/>
              </a:ext>
              <a:ext uri="{147F2762-F138-4A5C-976F-8EAC2B608ADB}">
                <a16:predDERef xmlns:a16="http://schemas.microsoft.com/office/drawing/2014/main" pred="{75453C1E-80D7-3C42-BFF2-3BCB5842B51D}"/>
              </a:ext>
            </a:extLst>
          </p:cNvPr>
          <p:cNvSpPr/>
          <p:nvPr/>
        </p:nvSpPr>
        <p:spPr>
          <a:xfrm>
            <a:off x="3260218" y="1952645"/>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36" name="5-Point Star 17">
            <a:extLst>
              <a:ext uri="{FF2B5EF4-FFF2-40B4-BE49-F238E27FC236}">
                <a16:creationId xmlns:a16="http://schemas.microsoft.com/office/drawing/2014/main" id="{2FB599D8-D7DF-4D25-6053-249EC7699DCF}"/>
              </a:ext>
              <a:ext uri="{147F2762-F138-4A5C-976F-8EAC2B608ADB}">
                <a16:predDERef xmlns:a16="http://schemas.microsoft.com/office/drawing/2014/main" pred="{75453C1E-80D7-3C42-BFF2-3BCB5842B51D}"/>
              </a:ext>
            </a:extLst>
          </p:cNvPr>
          <p:cNvSpPr/>
          <p:nvPr/>
        </p:nvSpPr>
        <p:spPr>
          <a:xfrm>
            <a:off x="3777705" y="2089535"/>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37" name="5-Point Star 17">
            <a:extLst>
              <a:ext uri="{FF2B5EF4-FFF2-40B4-BE49-F238E27FC236}">
                <a16:creationId xmlns:a16="http://schemas.microsoft.com/office/drawing/2014/main" id="{90399430-9C0D-7B9A-9488-C40EBED514FD}"/>
              </a:ext>
              <a:ext uri="{147F2762-F138-4A5C-976F-8EAC2B608ADB}">
                <a16:predDERef xmlns:a16="http://schemas.microsoft.com/office/drawing/2014/main" pred="{75453C1E-80D7-3C42-BFF2-3BCB5842B51D}"/>
              </a:ext>
            </a:extLst>
          </p:cNvPr>
          <p:cNvSpPr/>
          <p:nvPr/>
        </p:nvSpPr>
        <p:spPr>
          <a:xfrm>
            <a:off x="3516449" y="2382153"/>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38" name="5-Point Star 17">
            <a:extLst>
              <a:ext uri="{FF2B5EF4-FFF2-40B4-BE49-F238E27FC236}">
                <a16:creationId xmlns:a16="http://schemas.microsoft.com/office/drawing/2014/main" id="{4D4E643C-56C7-2F52-CC63-C44104B951E5}"/>
              </a:ext>
              <a:ext uri="{147F2762-F138-4A5C-976F-8EAC2B608ADB}">
                <a16:predDERef xmlns:a16="http://schemas.microsoft.com/office/drawing/2014/main" pred="{75453C1E-80D7-3C42-BFF2-3BCB5842B51D}"/>
              </a:ext>
            </a:extLst>
          </p:cNvPr>
          <p:cNvSpPr/>
          <p:nvPr/>
        </p:nvSpPr>
        <p:spPr>
          <a:xfrm>
            <a:off x="3777705" y="2382153"/>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42" name="Oval 41">
            <a:extLst>
              <a:ext uri="{FF2B5EF4-FFF2-40B4-BE49-F238E27FC236}">
                <a16:creationId xmlns:a16="http://schemas.microsoft.com/office/drawing/2014/main" id="{85EB2780-7CC9-F179-9FC5-73D1303DC917}"/>
              </a:ext>
            </a:extLst>
          </p:cNvPr>
          <p:cNvSpPr/>
          <p:nvPr/>
        </p:nvSpPr>
        <p:spPr>
          <a:xfrm>
            <a:off x="4552483" y="2527008"/>
            <a:ext cx="118872" cy="118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43" name="5-Point Star 17">
            <a:extLst>
              <a:ext uri="{FF2B5EF4-FFF2-40B4-BE49-F238E27FC236}">
                <a16:creationId xmlns:a16="http://schemas.microsoft.com/office/drawing/2014/main" id="{6E9B032F-48AC-95FE-D36A-9CF5FC5A2C7C}"/>
              </a:ext>
              <a:ext uri="{147F2762-F138-4A5C-976F-8EAC2B608ADB}">
                <a16:predDERef xmlns:a16="http://schemas.microsoft.com/office/drawing/2014/main" pred="{75453C1E-80D7-3C42-BFF2-3BCB5842B51D}"/>
              </a:ext>
            </a:extLst>
          </p:cNvPr>
          <p:cNvSpPr/>
          <p:nvPr/>
        </p:nvSpPr>
        <p:spPr>
          <a:xfrm>
            <a:off x="5320129" y="3096149"/>
            <a:ext cx="111478" cy="114300"/>
          </a:xfrm>
          <a:prstGeom prst="flowChartDecision">
            <a:avLst/>
          </a:prstGeom>
          <a:solidFill>
            <a:srgbClr val="FF6100"/>
          </a:solidFill>
          <a:ln>
            <a:solidFill>
              <a:srgbClr val="FF61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solidFill>
                <a:srgbClr val="FF6100"/>
              </a:solidFill>
            </a:endParaRPr>
          </a:p>
        </p:txBody>
      </p:sp>
      <p:sp>
        <p:nvSpPr>
          <p:cNvPr id="47" name="Oval 46">
            <a:extLst>
              <a:ext uri="{FF2B5EF4-FFF2-40B4-BE49-F238E27FC236}">
                <a16:creationId xmlns:a16="http://schemas.microsoft.com/office/drawing/2014/main" id="{908F2BC6-0E37-4F64-939E-5A025440BF80}"/>
              </a:ext>
            </a:extLst>
          </p:cNvPr>
          <p:cNvSpPr/>
          <p:nvPr/>
        </p:nvSpPr>
        <p:spPr>
          <a:xfrm>
            <a:off x="6877404" y="3822834"/>
            <a:ext cx="118872" cy="118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938FF240-3217-6F78-AA13-DA718C2C8078}"/>
              </a:ext>
            </a:extLst>
          </p:cNvPr>
          <p:cNvSpPr/>
          <p:nvPr/>
        </p:nvSpPr>
        <p:spPr>
          <a:xfrm>
            <a:off x="7912255" y="4538633"/>
            <a:ext cx="118872" cy="118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49" name="TextBox 48">
            <a:extLst>
              <a:ext uri="{FF2B5EF4-FFF2-40B4-BE49-F238E27FC236}">
                <a16:creationId xmlns:a16="http://schemas.microsoft.com/office/drawing/2014/main" id="{2212E625-7B70-6B1F-292D-FDCF9DDFF6BD}"/>
              </a:ext>
            </a:extLst>
          </p:cNvPr>
          <p:cNvSpPr txBox="1"/>
          <p:nvPr/>
        </p:nvSpPr>
        <p:spPr>
          <a:xfrm>
            <a:off x="2909023" y="1210541"/>
            <a:ext cx="535375" cy="169277"/>
          </a:xfrm>
          <a:prstGeom prst="rect">
            <a:avLst/>
          </a:prstGeom>
          <a:noFill/>
        </p:spPr>
        <p:txBody>
          <a:bodyPr wrap="square" lIns="0" rtlCol="0">
            <a:spAutoFit/>
          </a:bodyPr>
          <a:lstStyle/>
          <a:p>
            <a:pPr algn="l">
              <a:buClrTx/>
            </a:pPr>
            <a:r>
              <a:rPr lang="en-US" sz="500">
                <a:solidFill>
                  <a:schemeClr val="tx2"/>
                </a:solidFill>
                <a:latin typeface="Arial" panose="020B0604020202020204" pitchFamily="34" charset="0"/>
                <a:ea typeface="Inter Light" panose="02000503000000020004" pitchFamily="2" charset="0"/>
                <a:cs typeface="Arial" panose="020B0604020202020204" pitchFamily="34" charset="0"/>
              </a:rPr>
              <a:t>Official Kickoff</a:t>
            </a:r>
          </a:p>
        </p:txBody>
      </p:sp>
      <p:sp>
        <p:nvSpPr>
          <p:cNvPr id="50" name="TextBox 49">
            <a:extLst>
              <a:ext uri="{FF2B5EF4-FFF2-40B4-BE49-F238E27FC236}">
                <a16:creationId xmlns:a16="http://schemas.microsoft.com/office/drawing/2014/main" id="{EB707130-D94B-AB4B-5A49-5B10AE33A58F}"/>
              </a:ext>
            </a:extLst>
          </p:cNvPr>
          <p:cNvSpPr txBox="1"/>
          <p:nvPr/>
        </p:nvSpPr>
        <p:spPr>
          <a:xfrm>
            <a:off x="4720685" y="2493187"/>
            <a:ext cx="1686815" cy="169277"/>
          </a:xfrm>
          <a:prstGeom prst="rect">
            <a:avLst/>
          </a:prstGeom>
          <a:noFill/>
        </p:spPr>
        <p:txBody>
          <a:bodyPr wrap="square" lIns="0" rtlCol="0">
            <a:spAutoFit/>
          </a:bodyPr>
          <a:lstStyle/>
          <a:p>
            <a:r>
              <a:rPr lang="en-GB" sz="500">
                <a:solidFill>
                  <a:schemeClr val="tx2"/>
                </a:solidFill>
                <a:latin typeface="Arial" panose="020B0604020202020204" pitchFamily="34" charset="0"/>
                <a:ea typeface="Inter Light" panose="02000503000000020004" pitchFamily="2" charset="0"/>
                <a:cs typeface="Arial" panose="020B0604020202020204" pitchFamily="34" charset="0"/>
              </a:rPr>
              <a:t>Base Application Live (if no extensions identified)</a:t>
            </a:r>
          </a:p>
        </p:txBody>
      </p:sp>
      <p:sp>
        <p:nvSpPr>
          <p:cNvPr id="51" name="TextBox 50">
            <a:extLst>
              <a:ext uri="{FF2B5EF4-FFF2-40B4-BE49-F238E27FC236}">
                <a16:creationId xmlns:a16="http://schemas.microsoft.com/office/drawing/2014/main" id="{A10F2132-1005-B0A2-4663-E9A846F48807}"/>
              </a:ext>
            </a:extLst>
          </p:cNvPr>
          <p:cNvSpPr txBox="1"/>
          <p:nvPr/>
        </p:nvSpPr>
        <p:spPr>
          <a:xfrm>
            <a:off x="5493073" y="3069183"/>
            <a:ext cx="585555" cy="169277"/>
          </a:xfrm>
          <a:prstGeom prst="rect">
            <a:avLst/>
          </a:prstGeom>
          <a:noFill/>
        </p:spPr>
        <p:txBody>
          <a:bodyPr wrap="square" lIns="0" rtlCol="0">
            <a:spAutoFit/>
          </a:bodyPr>
          <a:lstStyle/>
          <a:p>
            <a:pPr algn="l">
              <a:buClrTx/>
            </a:pPr>
            <a:r>
              <a:rPr lang="en-US" sz="500">
                <a:solidFill>
                  <a:schemeClr val="tx2"/>
                </a:solidFill>
                <a:latin typeface="Arial" panose="020B0604020202020204" pitchFamily="34" charset="0"/>
                <a:ea typeface="Inter Light" panose="02000503000000020004" pitchFamily="2" charset="0"/>
                <a:cs typeface="Arial" panose="020B0604020202020204" pitchFamily="34" charset="0"/>
              </a:rPr>
              <a:t>Backlog Created</a:t>
            </a:r>
          </a:p>
        </p:txBody>
      </p:sp>
      <p:sp>
        <p:nvSpPr>
          <p:cNvPr id="52" name="TextBox 51">
            <a:extLst>
              <a:ext uri="{FF2B5EF4-FFF2-40B4-BE49-F238E27FC236}">
                <a16:creationId xmlns:a16="http://schemas.microsoft.com/office/drawing/2014/main" id="{ECF5EEAA-E5E4-3FA4-0067-FE8BC04C6AF0}"/>
              </a:ext>
            </a:extLst>
          </p:cNvPr>
          <p:cNvSpPr txBox="1"/>
          <p:nvPr/>
        </p:nvSpPr>
        <p:spPr>
          <a:xfrm>
            <a:off x="7038392" y="3794357"/>
            <a:ext cx="774280" cy="169277"/>
          </a:xfrm>
          <a:prstGeom prst="rect">
            <a:avLst/>
          </a:prstGeom>
          <a:noFill/>
        </p:spPr>
        <p:txBody>
          <a:bodyPr wrap="square" lIns="0" rtlCol="0">
            <a:spAutoFit/>
          </a:bodyPr>
          <a:lstStyle/>
          <a:p>
            <a:pPr algn="l">
              <a:buClrTx/>
            </a:pPr>
            <a:r>
              <a:rPr lang="en-US" sz="500">
                <a:solidFill>
                  <a:schemeClr val="tx2"/>
                </a:solidFill>
                <a:latin typeface="Arial" panose="020B0604020202020204" pitchFamily="34" charset="0"/>
                <a:ea typeface="Inter Light" panose="02000503000000020004" pitchFamily="2" charset="0"/>
                <a:cs typeface="Arial" panose="020B0604020202020204" pitchFamily="34" charset="0"/>
              </a:rPr>
              <a:t>Extensions Completed</a:t>
            </a:r>
          </a:p>
        </p:txBody>
      </p:sp>
      <p:sp>
        <p:nvSpPr>
          <p:cNvPr id="53" name="TextBox 52">
            <a:extLst>
              <a:ext uri="{FF2B5EF4-FFF2-40B4-BE49-F238E27FC236}">
                <a16:creationId xmlns:a16="http://schemas.microsoft.com/office/drawing/2014/main" id="{C3722590-6E15-47FC-CE8A-1168E1B1C2D0}"/>
              </a:ext>
            </a:extLst>
          </p:cNvPr>
          <p:cNvSpPr txBox="1"/>
          <p:nvPr/>
        </p:nvSpPr>
        <p:spPr>
          <a:xfrm>
            <a:off x="8083872" y="4466012"/>
            <a:ext cx="674702" cy="246221"/>
          </a:xfrm>
          <a:prstGeom prst="rect">
            <a:avLst/>
          </a:prstGeom>
          <a:noFill/>
        </p:spPr>
        <p:txBody>
          <a:bodyPr wrap="square" lIns="0" rtlCol="0">
            <a:spAutoFit/>
          </a:bodyPr>
          <a:lstStyle/>
          <a:p>
            <a:r>
              <a:rPr lang="en-GB" sz="500">
                <a:solidFill>
                  <a:schemeClr val="tx2"/>
                </a:solidFill>
                <a:latin typeface="Arial" panose="020B0604020202020204" pitchFamily="34" charset="0"/>
                <a:ea typeface="Inter Light" panose="02000503000000020004" pitchFamily="2" charset="0"/>
                <a:cs typeface="Arial" panose="020B0604020202020204" pitchFamily="34" charset="0"/>
              </a:rPr>
              <a:t>Application is fully operational</a:t>
            </a:r>
          </a:p>
        </p:txBody>
      </p:sp>
      <p:graphicFrame>
        <p:nvGraphicFramePr>
          <p:cNvPr id="54" name="Table 53">
            <a:extLst>
              <a:ext uri="{FF2B5EF4-FFF2-40B4-BE49-F238E27FC236}">
                <a16:creationId xmlns:a16="http://schemas.microsoft.com/office/drawing/2014/main" id="{310FF87E-D7C5-3C26-7448-F0C0E73EC30D}"/>
              </a:ext>
            </a:extLst>
          </p:cNvPr>
          <p:cNvGraphicFramePr>
            <a:graphicFrameLocks noGrp="1"/>
          </p:cNvGraphicFramePr>
          <p:nvPr/>
        </p:nvGraphicFramePr>
        <p:xfrm>
          <a:off x="8137804" y="249407"/>
          <a:ext cx="620770" cy="449391"/>
        </p:xfrm>
        <a:graphic>
          <a:graphicData uri="http://schemas.openxmlformats.org/drawingml/2006/table">
            <a:tbl>
              <a:tblPr>
                <a:tableStyleId>{5C22544A-7EE6-4342-B048-85BDC9FD1C3A}</a:tableStyleId>
              </a:tblPr>
              <a:tblGrid>
                <a:gridCol w="620770">
                  <a:extLst>
                    <a:ext uri="{9D8B030D-6E8A-4147-A177-3AD203B41FA5}">
                      <a16:colId xmlns:a16="http://schemas.microsoft.com/office/drawing/2014/main" val="957519160"/>
                    </a:ext>
                  </a:extLst>
                </a:gridCol>
              </a:tblGrid>
              <a:tr h="149797">
                <a:tc>
                  <a:txBody>
                    <a:bodyPr/>
                    <a:lstStyle/>
                    <a:p>
                      <a:pPr algn="l" fontAlgn="b">
                        <a:buNone/>
                      </a:pPr>
                      <a:r>
                        <a:rPr lang="en-US" sz="800" b="1" u="none" strike="noStrike">
                          <a:solidFill>
                            <a:schemeClr val="bg1"/>
                          </a:solidFill>
                          <a:effectLst/>
                          <a:latin typeface="+mj-lt"/>
                        </a:rPr>
                        <a:t>Legend</a:t>
                      </a:r>
                    </a:p>
                  </a:txBody>
                  <a:tcPr marL="45720" marR="4536" marT="453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920529996"/>
                  </a:ext>
                </a:extLst>
              </a:tr>
              <a:tr h="149797">
                <a:tc>
                  <a:txBody>
                    <a:bodyPr/>
                    <a:lstStyle/>
                    <a:p>
                      <a:pPr algn="l" fontAlgn="b">
                        <a:buNone/>
                      </a:pPr>
                      <a:r>
                        <a:rPr lang="en-US" sz="700" u="none" strike="noStrike">
                          <a:solidFill>
                            <a:schemeClr val="accent1"/>
                          </a:solidFill>
                          <a:effectLst/>
                        </a:rPr>
                        <a:t>◆ </a:t>
                      </a:r>
                      <a:r>
                        <a:rPr lang="en-US" sz="700" u="none" strike="noStrike">
                          <a:solidFill>
                            <a:schemeClr val="tx2"/>
                          </a:solidFill>
                          <a:effectLst/>
                        </a:rPr>
                        <a:t>Milestone</a:t>
                      </a:r>
                    </a:p>
                  </a:txBody>
                  <a:tcPr marL="4536" marR="4536" marT="453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2023706740"/>
                  </a:ext>
                </a:extLst>
              </a:tr>
              <a:tr h="149797">
                <a:tc>
                  <a:txBody>
                    <a:bodyPr/>
                    <a:lstStyle/>
                    <a:p>
                      <a:pPr algn="l" fontAlgn="b">
                        <a:buNone/>
                      </a:pPr>
                      <a:r>
                        <a:rPr lang="en-US" sz="700" u="none" strike="noStrike">
                          <a:solidFill>
                            <a:schemeClr val="accent2"/>
                          </a:solidFill>
                          <a:effectLst/>
                        </a:rPr>
                        <a:t>●  </a:t>
                      </a:r>
                      <a:r>
                        <a:rPr lang="en-US" sz="700" u="none" strike="noStrike">
                          <a:effectLst/>
                        </a:rPr>
                        <a:t>Go-Live</a:t>
                      </a:r>
                      <a:endParaRPr lang="en-US" sz="700" b="0" i="0" u="none" strike="noStrike">
                        <a:solidFill>
                          <a:srgbClr val="000000"/>
                        </a:solidFill>
                        <a:effectLst/>
                        <a:latin typeface="Arial" panose="020B0604020202020204" pitchFamily="34" charset="0"/>
                      </a:endParaRPr>
                    </a:p>
                  </a:txBody>
                  <a:tcPr marL="4536" marR="4536" marT="4536"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77497164"/>
                  </a:ext>
                </a:extLst>
              </a:tr>
            </a:tbl>
          </a:graphicData>
        </a:graphic>
      </p:graphicFrame>
      <p:grpSp>
        <p:nvGrpSpPr>
          <p:cNvPr id="59" name="Group 58">
            <a:extLst>
              <a:ext uri="{FF2B5EF4-FFF2-40B4-BE49-F238E27FC236}">
                <a16:creationId xmlns:a16="http://schemas.microsoft.com/office/drawing/2014/main" id="{5E59B5B4-6DAF-724E-8CC0-5CD680D9457E}"/>
              </a:ext>
            </a:extLst>
          </p:cNvPr>
          <p:cNvGrpSpPr/>
          <p:nvPr/>
        </p:nvGrpSpPr>
        <p:grpSpPr>
          <a:xfrm>
            <a:off x="-2208139" y="0"/>
            <a:ext cx="2338441" cy="5143500"/>
            <a:chOff x="-2208139" y="0"/>
            <a:chExt cx="2338441" cy="5143500"/>
          </a:xfrm>
        </p:grpSpPr>
        <p:sp>
          <p:nvSpPr>
            <p:cNvPr id="60" name="Rectangle: Rounded Corners 59">
              <a:extLst>
                <a:ext uri="{FF2B5EF4-FFF2-40B4-BE49-F238E27FC236}">
                  <a16:creationId xmlns:a16="http://schemas.microsoft.com/office/drawing/2014/main" id="{09E87BA2-1440-2851-E9A4-0910C674CBB3}"/>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48C7F863-A40C-A8C8-7717-AD0E21CFC925}"/>
                </a:ext>
              </a:extLst>
            </p:cNvPr>
            <p:cNvGrpSpPr/>
            <p:nvPr/>
          </p:nvGrpSpPr>
          <p:grpSpPr>
            <a:xfrm>
              <a:off x="-2208139" y="0"/>
              <a:ext cx="2018501" cy="5143500"/>
              <a:chOff x="-2208139" y="0"/>
              <a:chExt cx="2018501" cy="5143500"/>
            </a:xfrm>
          </p:grpSpPr>
          <p:sp>
            <p:nvSpPr>
              <p:cNvPr id="62" name="Rectangle: Rounded Corners 61">
                <a:extLst>
                  <a:ext uri="{FF2B5EF4-FFF2-40B4-BE49-F238E27FC236}">
                    <a16:creationId xmlns:a16="http://schemas.microsoft.com/office/drawing/2014/main" id="{30246B36-0B68-8D22-EEA5-466573AA6971}"/>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63" name="TextBox 62">
                <a:extLst>
                  <a:ext uri="{FF2B5EF4-FFF2-40B4-BE49-F238E27FC236}">
                    <a16:creationId xmlns:a16="http://schemas.microsoft.com/office/drawing/2014/main" id="{6036B6F4-910B-B443-4AF0-8D720443D881}"/>
                  </a:ext>
                </a:extLst>
              </p:cNvPr>
              <p:cNvSpPr txBox="1"/>
              <p:nvPr/>
            </p:nvSpPr>
            <p:spPr>
              <a:xfrm>
                <a:off x="-2081074" y="983848"/>
                <a:ext cx="1764368" cy="2031325"/>
              </a:xfrm>
              <a:prstGeom prst="rect">
                <a:avLst/>
              </a:prstGeom>
              <a:solidFill>
                <a:schemeClr val="bg1"/>
              </a:solidFill>
              <a:ln w="3175">
                <a:solidFill>
                  <a:schemeClr val="accent6">
                    <a:lumMod val="10000"/>
                  </a:schemeClr>
                </a:solidFill>
              </a:ln>
            </p:spPr>
            <p:txBody>
              <a:bodyPr wrap="square" lIns="91440" tIns="45720" rIns="91440" bIns="45720" rtlCol="0" anchor="t">
                <a:spAutoFit/>
              </a:bodyPr>
              <a:lstStyle/>
              <a:p>
                <a:r>
                  <a:rPr lang="en-US" sz="1400"/>
                  <a:t>Adjust the timeline and phasing to reflect the specific customer and application.</a:t>
                </a:r>
                <a:endParaRPr lang="en-US" sz="1400">
                  <a:cs typeface="Arial"/>
                </a:endParaRPr>
              </a:p>
              <a:p>
                <a:endParaRPr lang="en-US" sz="1400">
                  <a:cs typeface="Arial"/>
                </a:endParaRPr>
              </a:p>
              <a:p>
                <a:r>
                  <a:rPr lang="en-US" sz="1400">
                    <a:cs typeface="Arial"/>
                  </a:rPr>
                  <a:t>Only use this slide if it's known that there will be extensions.</a:t>
                </a:r>
                <a:endParaRPr lang="en-US"/>
              </a:p>
            </p:txBody>
          </p:sp>
          <p:sp>
            <p:nvSpPr>
              <p:cNvPr id="64" name="TextBox 63">
                <a:extLst>
                  <a:ext uri="{FF2B5EF4-FFF2-40B4-BE49-F238E27FC236}">
                    <a16:creationId xmlns:a16="http://schemas.microsoft.com/office/drawing/2014/main" id="{4E4C3EA3-557F-B543-485C-6794D8F98CC9}"/>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65" name="Group 64">
                <a:extLst>
                  <a:ext uri="{FF2B5EF4-FFF2-40B4-BE49-F238E27FC236}">
                    <a16:creationId xmlns:a16="http://schemas.microsoft.com/office/drawing/2014/main" id="{117E5604-40DA-398D-5F78-9AD862BDF3F3}"/>
                  </a:ext>
                </a:extLst>
              </p:cNvPr>
              <p:cNvGrpSpPr/>
              <p:nvPr/>
            </p:nvGrpSpPr>
            <p:grpSpPr>
              <a:xfrm>
                <a:off x="-1913726" y="4862278"/>
                <a:ext cx="1537258" cy="215444"/>
                <a:chOff x="-1907058" y="4862278"/>
                <a:chExt cx="1537258" cy="215444"/>
              </a:xfrm>
            </p:grpSpPr>
            <p:sp>
              <p:nvSpPr>
                <p:cNvPr id="69" name="TextBox 68">
                  <a:extLst>
                    <a:ext uri="{FF2B5EF4-FFF2-40B4-BE49-F238E27FC236}">
                      <a16:creationId xmlns:a16="http://schemas.microsoft.com/office/drawing/2014/main" id="{0767E46B-D436-6747-4381-B83007F8CD15}"/>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70" name="Graphic 69" descr="Warning with solid fill">
                  <a:extLst>
                    <a:ext uri="{FF2B5EF4-FFF2-40B4-BE49-F238E27FC236}">
                      <a16:creationId xmlns:a16="http://schemas.microsoft.com/office/drawing/2014/main" id="{BE80B4EE-BDD4-46A0-1264-73D21FBE83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7058" y="4928624"/>
                  <a:ext cx="98429" cy="98429"/>
                </a:xfrm>
                <a:prstGeom prst="rect">
                  <a:avLst/>
                </a:prstGeom>
              </p:spPr>
            </p:pic>
          </p:grpSp>
          <p:grpSp>
            <p:nvGrpSpPr>
              <p:cNvPr id="66" name="Group 65">
                <a:extLst>
                  <a:ext uri="{FF2B5EF4-FFF2-40B4-BE49-F238E27FC236}">
                    <a16:creationId xmlns:a16="http://schemas.microsoft.com/office/drawing/2014/main" id="{5822D9D1-0E8A-A478-3E24-76B9C68FF3D4}"/>
                  </a:ext>
                </a:extLst>
              </p:cNvPr>
              <p:cNvGrpSpPr/>
              <p:nvPr/>
            </p:nvGrpSpPr>
            <p:grpSpPr>
              <a:xfrm>
                <a:off x="-1468837" y="0"/>
                <a:ext cx="539895" cy="539895"/>
                <a:chOff x="-1468837" y="0"/>
                <a:chExt cx="539895" cy="539895"/>
              </a:xfrm>
            </p:grpSpPr>
            <p:sp>
              <p:nvSpPr>
                <p:cNvPr id="67" name="Oval 66">
                  <a:extLst>
                    <a:ext uri="{FF2B5EF4-FFF2-40B4-BE49-F238E27FC236}">
                      <a16:creationId xmlns:a16="http://schemas.microsoft.com/office/drawing/2014/main" id="{3B010CC4-04B9-505B-7D77-90B20965A16D}"/>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68" name="Graphic 67" descr="Target Audience with solid fill">
                  <a:extLst>
                    <a:ext uri="{FF2B5EF4-FFF2-40B4-BE49-F238E27FC236}">
                      <a16:creationId xmlns:a16="http://schemas.microsoft.com/office/drawing/2014/main" id="{BE386A38-ECE1-5DFA-1A34-E1D3DC2E3A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1300154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DCC10-B411-29B0-EE31-81F58BB0A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BA6DC-5C84-69AF-70F6-A0B601FF6197}"/>
              </a:ext>
            </a:extLst>
          </p:cNvPr>
          <p:cNvSpPr>
            <a:spLocks noGrp="1"/>
          </p:cNvSpPr>
          <p:nvPr>
            <p:ph type="title"/>
          </p:nvPr>
        </p:nvSpPr>
        <p:spPr/>
        <p:txBody>
          <a:bodyPr/>
          <a:lstStyle/>
          <a:p>
            <a:r>
              <a:rPr lang="en-US"/>
              <a:t>Application Overview</a:t>
            </a:r>
          </a:p>
        </p:txBody>
      </p:sp>
    </p:spTree>
    <p:custDataLst>
      <p:tags r:id="rId1"/>
    </p:custDataLst>
    <p:extLst>
      <p:ext uri="{BB962C8B-B14F-4D97-AF65-F5344CB8AC3E}">
        <p14:creationId xmlns:p14="http://schemas.microsoft.com/office/powerpoint/2010/main" val="70377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7EA4-665A-1F51-29D8-AE146FB0C9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59DF99-5663-3111-D58A-EFDC43070F7A}"/>
              </a:ext>
            </a:extLst>
          </p:cNvPr>
          <p:cNvSpPr>
            <a:spLocks noGrp="1"/>
          </p:cNvSpPr>
          <p:nvPr>
            <p:ph type="title"/>
          </p:nvPr>
        </p:nvSpPr>
        <p:spPr>
          <a:xfrm>
            <a:off x="419100" y="294640"/>
            <a:ext cx="8153401" cy="338554"/>
          </a:xfrm>
        </p:spPr>
        <p:txBody>
          <a:bodyPr lIns="0" tIns="45720" rIns="0" bIns="45720" anchor="t"/>
          <a:lstStyle/>
          <a:p>
            <a:r>
              <a:rPr lang="en-US">
                <a:latin typeface="Arial"/>
                <a:cs typeface="Arial"/>
              </a:rPr>
              <a:t>Territory &amp; Quota Planning – Application Overview</a:t>
            </a:r>
          </a:p>
        </p:txBody>
      </p:sp>
      <p:sp>
        <p:nvSpPr>
          <p:cNvPr id="21" name="Text Placeholder 20">
            <a:extLst>
              <a:ext uri="{FF2B5EF4-FFF2-40B4-BE49-F238E27FC236}">
                <a16:creationId xmlns:a16="http://schemas.microsoft.com/office/drawing/2014/main" id="{7B75465F-1823-D870-B96C-015A6506B4D5}"/>
              </a:ext>
            </a:extLst>
          </p:cNvPr>
          <p:cNvSpPr>
            <a:spLocks noGrp="1"/>
          </p:cNvSpPr>
          <p:nvPr>
            <p:ph type="body" sz="quarter" idx="43"/>
          </p:nvPr>
        </p:nvSpPr>
        <p:spPr>
          <a:xfrm>
            <a:off x="639763" y="1229342"/>
            <a:ext cx="3389029" cy="207495"/>
          </a:xfrm>
        </p:spPr>
        <p:txBody>
          <a:bodyPr/>
          <a:lstStyle/>
          <a:p>
            <a:r>
              <a:rPr lang="en-US" dirty="0"/>
              <a:t>How Anaplan helps</a:t>
            </a:r>
          </a:p>
        </p:txBody>
      </p:sp>
      <p:sp>
        <p:nvSpPr>
          <p:cNvPr id="5" name="Text Placeholder 4">
            <a:extLst>
              <a:ext uri="{FF2B5EF4-FFF2-40B4-BE49-F238E27FC236}">
                <a16:creationId xmlns:a16="http://schemas.microsoft.com/office/drawing/2014/main" id="{4AD1B287-B85C-99C0-2820-CFA93E550850}"/>
              </a:ext>
            </a:extLst>
          </p:cNvPr>
          <p:cNvSpPr>
            <a:spLocks noGrp="1"/>
          </p:cNvSpPr>
          <p:nvPr>
            <p:ph type="body" sz="quarter" idx="45"/>
          </p:nvPr>
        </p:nvSpPr>
        <p:spPr>
          <a:xfrm>
            <a:off x="4690086" y="1229342"/>
            <a:ext cx="3376552" cy="207489"/>
          </a:xfrm>
        </p:spPr>
        <p:txBody>
          <a:bodyPr/>
          <a:lstStyle/>
          <a:p>
            <a:r>
              <a:rPr lang="en-US"/>
              <a:t>What this enables</a:t>
            </a:r>
          </a:p>
        </p:txBody>
      </p:sp>
      <p:sp>
        <p:nvSpPr>
          <p:cNvPr id="4" name="Text Placeholder 3">
            <a:extLst>
              <a:ext uri="{FF2B5EF4-FFF2-40B4-BE49-F238E27FC236}">
                <a16:creationId xmlns:a16="http://schemas.microsoft.com/office/drawing/2014/main" id="{E16DAAB0-0C11-7824-6E99-20A1C0F9E8D0}"/>
              </a:ext>
            </a:extLst>
          </p:cNvPr>
          <p:cNvSpPr>
            <a:spLocks noGrp="1"/>
          </p:cNvSpPr>
          <p:nvPr>
            <p:ph type="body" sz="quarter" idx="47"/>
          </p:nvPr>
        </p:nvSpPr>
        <p:spPr>
          <a:xfrm>
            <a:off x="656492" y="1498584"/>
            <a:ext cx="3389253" cy="2894117"/>
          </a:xfrm>
        </p:spPr>
        <p:txBody>
          <a:bodyPr lIns="0" tIns="45720" rIns="91440" bIns="45720" anchor="t"/>
          <a:lstStyle/>
          <a:p>
            <a:pPr fontAlgn="base"/>
            <a:r>
              <a:rPr lang="en-US" sz="1150" dirty="0">
                <a:latin typeface="Arial"/>
                <a:ea typeface="Verdana"/>
                <a:cs typeface="Arial"/>
              </a:rPr>
              <a:t>With Anaplan, </a:t>
            </a:r>
            <a:r>
              <a:rPr lang="en-US" sz="1150" i="1" dirty="0">
                <a:highlight>
                  <a:srgbClr val="FFFF00"/>
                </a:highlight>
                <a:latin typeface="Arial"/>
                <a:ea typeface="Verdana"/>
                <a:cs typeface="Arial"/>
              </a:rPr>
              <a:t>CUSTOMER</a:t>
            </a:r>
            <a:r>
              <a:rPr lang="en-US" sz="1150" dirty="0">
                <a:latin typeface="Arial"/>
                <a:ea typeface="Verdana"/>
                <a:cs typeface="Arial"/>
              </a:rPr>
              <a:t> can modernize territory and quota planning on a single connected platform.</a:t>
            </a:r>
          </a:p>
          <a:p>
            <a:pPr marL="285750" indent="-285750" fontAlgn="base">
              <a:buFont typeface="Arial" panose="020B0604020202020204" pitchFamily="34" charset="0"/>
              <a:buChar char="•"/>
            </a:pPr>
            <a:r>
              <a:rPr lang="en-US" sz="1150" dirty="0">
                <a:latin typeface="Arial"/>
                <a:ea typeface="Verdana"/>
                <a:cs typeface="Arial"/>
              </a:rPr>
              <a:t>Connect GTM data, targets, and capacity to create a unified source of planning truth. </a:t>
            </a:r>
          </a:p>
          <a:p>
            <a:pPr marL="285750" indent="-285750" fontAlgn="base">
              <a:buFont typeface="Arial" panose="020B0604020202020204" pitchFamily="34" charset="0"/>
              <a:buChar char="•"/>
            </a:pPr>
            <a:r>
              <a:rPr lang="en-US" sz="1150" dirty="0">
                <a:latin typeface="Arial"/>
                <a:ea typeface="Verdana"/>
                <a:cs typeface="Arial"/>
              </a:rPr>
              <a:t>Design balanced, equitable territories aligned to accounts, segments, and coverage models.</a:t>
            </a:r>
          </a:p>
          <a:p>
            <a:pPr marL="285750" indent="-285750" fontAlgn="base">
              <a:buFont typeface="Arial" panose="020B0604020202020204" pitchFamily="34" charset="0"/>
              <a:buChar char="•"/>
            </a:pPr>
            <a:r>
              <a:rPr lang="en-US" sz="1150" dirty="0">
                <a:latin typeface="Arial"/>
                <a:ea typeface="Verdana"/>
                <a:cs typeface="Arial"/>
              </a:rPr>
              <a:t>Align top-down revenue targets with bottom-up account and pipeline potential.</a:t>
            </a:r>
          </a:p>
          <a:p>
            <a:pPr marL="285750" indent="-285750" fontAlgn="base">
              <a:buFont typeface="Arial" panose="020B0604020202020204" pitchFamily="34" charset="0"/>
              <a:buChar char="•"/>
            </a:pPr>
            <a:r>
              <a:rPr lang="en-US" sz="1150" dirty="0">
                <a:latin typeface="Arial"/>
                <a:ea typeface="Verdana"/>
                <a:cs typeface="Arial"/>
              </a:rPr>
              <a:t>Manage complex roles, overlays, and account hierarchies with built in governance and workflows.</a:t>
            </a:r>
          </a:p>
          <a:p>
            <a:pPr marL="285750" indent="-285750" fontAlgn="base">
              <a:buFont typeface="Arial" panose="020B0604020202020204" pitchFamily="34" charset="0"/>
              <a:buChar char="•"/>
            </a:pPr>
            <a:r>
              <a:rPr lang="en-US" sz="1150" dirty="0">
                <a:latin typeface="Arial"/>
                <a:ea typeface="Verdana"/>
                <a:cs typeface="Arial"/>
              </a:rPr>
              <a:t>Apply proven best practices to maintain consistency and accuracy as plans evolve.</a:t>
            </a:r>
          </a:p>
          <a:p>
            <a:pPr fontAlgn="base"/>
            <a:endParaRPr lang="en-US" sz="1150" dirty="0">
              <a:latin typeface="Arial"/>
              <a:ea typeface="Verdana"/>
              <a:cs typeface="Arial"/>
            </a:endParaRPr>
          </a:p>
          <a:p>
            <a:pPr marL="285750" indent="-285750" fontAlgn="base">
              <a:buFont typeface="Arial" panose="020B0604020202020204" pitchFamily="34" charset="0"/>
              <a:buChar char="•"/>
            </a:pPr>
            <a:endParaRPr lang="en-US" sz="1200" dirty="0">
              <a:cs typeface="Arial"/>
            </a:endParaRPr>
          </a:p>
          <a:p>
            <a:endParaRPr lang="en-US" sz="1200" dirty="0"/>
          </a:p>
        </p:txBody>
      </p:sp>
      <p:grpSp>
        <p:nvGrpSpPr>
          <p:cNvPr id="23" name="Group 22">
            <a:extLst>
              <a:ext uri="{FF2B5EF4-FFF2-40B4-BE49-F238E27FC236}">
                <a16:creationId xmlns:a16="http://schemas.microsoft.com/office/drawing/2014/main" id="{459B103F-1455-9BF8-F9C0-3488778F00E2}"/>
              </a:ext>
            </a:extLst>
          </p:cNvPr>
          <p:cNvGrpSpPr/>
          <p:nvPr/>
        </p:nvGrpSpPr>
        <p:grpSpPr>
          <a:xfrm>
            <a:off x="-2187969" y="0"/>
            <a:ext cx="2318271" cy="5143500"/>
            <a:chOff x="-2187969" y="0"/>
            <a:chExt cx="2318271" cy="5143500"/>
          </a:xfrm>
        </p:grpSpPr>
        <p:sp>
          <p:nvSpPr>
            <p:cNvPr id="24" name="Rectangle: Rounded Corners 23">
              <a:extLst>
                <a:ext uri="{FF2B5EF4-FFF2-40B4-BE49-F238E27FC236}">
                  <a16:creationId xmlns:a16="http://schemas.microsoft.com/office/drawing/2014/main" id="{70DFAC3F-E7E5-16F0-E31C-528DD35A98A6}"/>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9C25F9FE-B55E-34BD-D318-9F636FC789AD}"/>
                </a:ext>
              </a:extLst>
            </p:cNvPr>
            <p:cNvGrpSpPr/>
            <p:nvPr/>
          </p:nvGrpSpPr>
          <p:grpSpPr>
            <a:xfrm>
              <a:off x="-2187969" y="0"/>
              <a:ext cx="2018501" cy="5143500"/>
              <a:chOff x="-2187969" y="0"/>
              <a:chExt cx="2018501" cy="5143500"/>
            </a:xfrm>
          </p:grpSpPr>
          <p:sp>
            <p:nvSpPr>
              <p:cNvPr id="26" name="Rectangle: Rounded Corners 25">
                <a:extLst>
                  <a:ext uri="{FF2B5EF4-FFF2-40B4-BE49-F238E27FC236}">
                    <a16:creationId xmlns:a16="http://schemas.microsoft.com/office/drawing/2014/main" id="{9E8C2E21-A76B-FB3B-A3EC-F1EBEFE7F278}"/>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7" name="TextBox 26">
                <a:extLst>
                  <a:ext uri="{FF2B5EF4-FFF2-40B4-BE49-F238E27FC236}">
                    <a16:creationId xmlns:a16="http://schemas.microsoft.com/office/drawing/2014/main" id="{3388EA75-FA0B-1724-E9F1-720F39B33201}"/>
                  </a:ext>
                </a:extLst>
              </p:cNvPr>
              <p:cNvSpPr txBox="1"/>
              <p:nvPr/>
            </p:nvSpPr>
            <p:spPr>
              <a:xfrm>
                <a:off x="-2060903" y="983848"/>
                <a:ext cx="1774054" cy="2677656"/>
              </a:xfrm>
              <a:prstGeom prst="rect">
                <a:avLst/>
              </a:prstGeom>
              <a:solidFill>
                <a:schemeClr val="bg1"/>
              </a:solidFill>
              <a:ln w="3175">
                <a:solidFill>
                  <a:schemeClr val="accent6">
                    <a:lumMod val="10000"/>
                  </a:schemeClr>
                </a:solidFill>
              </a:ln>
            </p:spPr>
            <p:txBody>
              <a:bodyPr wrap="square" lIns="91440" rtlCol="0">
                <a:spAutoFit/>
              </a:bodyPr>
              <a:lstStyle/>
              <a:p>
                <a:r>
                  <a:rPr lang="en-US" sz="1400"/>
                  <a:t>Explain how the application supports the customer’s planning processes and the business outcomes it enables. Keep content high-level and outcome-focused, and tailor language to the customer context.</a:t>
                </a:r>
                <a:endParaRPr lang="en-US" sz="1400">
                  <a:solidFill>
                    <a:schemeClr val="tx2"/>
                  </a:solidFill>
                  <a:ea typeface="Inter Light" panose="02000503000000020004" pitchFamily="2" charset="0"/>
                  <a:cs typeface="Arial"/>
                </a:endParaRPr>
              </a:p>
            </p:txBody>
          </p:sp>
          <p:sp>
            <p:nvSpPr>
              <p:cNvPr id="28" name="TextBox 27">
                <a:extLst>
                  <a:ext uri="{FF2B5EF4-FFF2-40B4-BE49-F238E27FC236}">
                    <a16:creationId xmlns:a16="http://schemas.microsoft.com/office/drawing/2014/main" id="{16F08723-F405-8E5D-A101-9DED907898FD}"/>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9" name="Group 28">
                <a:extLst>
                  <a:ext uri="{FF2B5EF4-FFF2-40B4-BE49-F238E27FC236}">
                    <a16:creationId xmlns:a16="http://schemas.microsoft.com/office/drawing/2014/main" id="{1F706DC0-06E4-4D09-CDF7-1815F918EB62}"/>
                  </a:ext>
                </a:extLst>
              </p:cNvPr>
              <p:cNvGrpSpPr/>
              <p:nvPr/>
            </p:nvGrpSpPr>
            <p:grpSpPr>
              <a:xfrm>
                <a:off x="-1448666" y="0"/>
                <a:ext cx="539895" cy="539895"/>
                <a:chOff x="-1468837" y="0"/>
                <a:chExt cx="539895" cy="539895"/>
              </a:xfrm>
            </p:grpSpPr>
            <p:sp>
              <p:nvSpPr>
                <p:cNvPr id="33" name="Oval 32">
                  <a:extLst>
                    <a:ext uri="{FF2B5EF4-FFF2-40B4-BE49-F238E27FC236}">
                      <a16:creationId xmlns:a16="http://schemas.microsoft.com/office/drawing/2014/main" id="{BE93CD08-CC82-2451-0EF8-AA842A4DB054}"/>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4" name="Graphic 33" descr="Single gear with solid fill">
                  <a:extLst>
                    <a:ext uri="{FF2B5EF4-FFF2-40B4-BE49-F238E27FC236}">
                      <a16:creationId xmlns:a16="http://schemas.microsoft.com/office/drawing/2014/main" id="{5AE96B34-37D2-20C6-7864-55DDECB7025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79641" y="89196"/>
                  <a:ext cx="361503" cy="361503"/>
                </a:xfrm>
                <a:prstGeom prst="rect">
                  <a:avLst/>
                </a:prstGeom>
              </p:spPr>
            </p:pic>
          </p:grpSp>
          <p:grpSp>
            <p:nvGrpSpPr>
              <p:cNvPr id="30" name="Group 29">
                <a:extLst>
                  <a:ext uri="{FF2B5EF4-FFF2-40B4-BE49-F238E27FC236}">
                    <a16:creationId xmlns:a16="http://schemas.microsoft.com/office/drawing/2014/main" id="{3244DC9C-C5A7-ADE2-10DC-84A75C6A1035}"/>
                  </a:ext>
                </a:extLst>
              </p:cNvPr>
              <p:cNvGrpSpPr/>
              <p:nvPr/>
            </p:nvGrpSpPr>
            <p:grpSpPr>
              <a:xfrm>
                <a:off x="-1913726" y="4862278"/>
                <a:ext cx="1537258" cy="215444"/>
                <a:chOff x="-1907058" y="4862278"/>
                <a:chExt cx="1537258" cy="215444"/>
              </a:xfrm>
            </p:grpSpPr>
            <p:sp>
              <p:nvSpPr>
                <p:cNvPr id="31" name="TextBox 30">
                  <a:extLst>
                    <a:ext uri="{FF2B5EF4-FFF2-40B4-BE49-F238E27FC236}">
                      <a16:creationId xmlns:a16="http://schemas.microsoft.com/office/drawing/2014/main" id="{7E86BA25-D41A-A4F8-FCF9-D49DB5DE42B1}"/>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2" name="Graphic 31" descr="Warning with solid fill">
                  <a:extLst>
                    <a:ext uri="{FF2B5EF4-FFF2-40B4-BE49-F238E27FC236}">
                      <a16:creationId xmlns:a16="http://schemas.microsoft.com/office/drawing/2014/main" id="{393C1931-6450-2062-A454-9DCD6BE124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grpSp>
      <p:sp>
        <p:nvSpPr>
          <p:cNvPr id="8" name="Text Placeholder 3">
            <a:extLst>
              <a:ext uri="{FF2B5EF4-FFF2-40B4-BE49-F238E27FC236}">
                <a16:creationId xmlns:a16="http://schemas.microsoft.com/office/drawing/2014/main" id="{1FFA2821-BC20-2FF3-5C02-D6BD9D9162D6}"/>
              </a:ext>
            </a:extLst>
          </p:cNvPr>
          <p:cNvSpPr txBox="1">
            <a:spLocks/>
          </p:cNvSpPr>
          <p:nvPr/>
        </p:nvSpPr>
        <p:spPr>
          <a:xfrm>
            <a:off x="4690086" y="1498584"/>
            <a:ext cx="3389253" cy="2894117"/>
          </a:xfrm>
          <a:prstGeom prst="rect">
            <a:avLst/>
          </a:prstGeom>
        </p:spPr>
        <p:txBody>
          <a:bodyPr lIns="0" tIns="45720" rIns="91440" bIns="45720" anchor="t"/>
          <a:lstStyle>
            <a:lvl1pPr marL="0" indent="0" algn="l" defTabSz="914400" rtl="0" eaLnBrk="1" latinLnBrk="0" hangingPunct="1">
              <a:spcBef>
                <a:spcPct val="20000"/>
              </a:spcBef>
              <a:buClr>
                <a:schemeClr val="accent1"/>
              </a:buClr>
              <a:buFont typeface="Arial" panose="020B0604020202020204" pitchFamily="34" charset="0"/>
              <a:buNone/>
              <a:defRPr sz="1400" b="0" i="0" kern="1200">
                <a:solidFill>
                  <a:schemeClr val="tx1"/>
                </a:solidFill>
                <a:latin typeface="Arial" panose="020B0604020202020204" pitchFamily="34" charset="0"/>
                <a:ea typeface="Verdana" charset="0"/>
                <a:cs typeface="Arial" panose="020B0604020202020204" pitchFamily="34" charset="0"/>
              </a:defRPr>
            </a:lvl1pPr>
            <a:lvl2pPr marL="457200" indent="0" algn="l" defTabSz="914400" rtl="0" eaLnBrk="1" latinLnBrk="0" hangingPunct="1">
              <a:spcBef>
                <a:spcPct val="20000"/>
              </a:spcBef>
              <a:buClr>
                <a:schemeClr val="tx2"/>
              </a:buClr>
              <a:buFont typeface="Arial"/>
              <a:buNone/>
              <a:defRPr sz="1400" b="0" i="0" kern="1200">
                <a:solidFill>
                  <a:schemeClr val="tx1"/>
                </a:solidFill>
                <a:latin typeface="Arial" panose="020B0604020202020204" pitchFamily="34" charset="0"/>
                <a:ea typeface="Verdana" charset="0"/>
                <a:cs typeface="Arial" panose="020B0604020202020204" pitchFamily="34" charset="0"/>
              </a:defRPr>
            </a:lvl2pPr>
            <a:lvl3pPr marL="914400" indent="0" algn="l" defTabSz="914400" rtl="0" eaLnBrk="1" latinLnBrk="0" hangingPunct="1">
              <a:spcBef>
                <a:spcPct val="20000"/>
              </a:spcBef>
              <a:buClr>
                <a:schemeClr val="tx2"/>
              </a:buClr>
              <a:buFont typeface="Arial"/>
              <a:buNone/>
              <a:defRPr sz="1400" b="0" i="0" kern="1200">
                <a:solidFill>
                  <a:schemeClr val="tx1"/>
                </a:solidFill>
                <a:latin typeface="Arial" panose="020B0604020202020204" pitchFamily="34" charset="0"/>
                <a:ea typeface="Verdana" charset="0"/>
                <a:cs typeface="Arial" panose="020B0604020202020204" pitchFamily="34" charset="0"/>
              </a:defRPr>
            </a:lvl3pPr>
            <a:lvl4pPr marL="1371600" indent="0" algn="l" defTabSz="914400" rtl="0" eaLnBrk="1" latinLnBrk="0" hangingPunct="1">
              <a:spcBef>
                <a:spcPct val="20000"/>
              </a:spcBef>
              <a:buFont typeface="Arial" pitchFamily="34" charset="0"/>
              <a:buNone/>
              <a:defRPr sz="14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itchFamily="34" charset="0"/>
              <a:buNone/>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r>
              <a:rPr lang="en-US" sz="1200" dirty="0">
                <a:latin typeface="Arial"/>
                <a:ea typeface="Verdana"/>
                <a:cs typeface="Arial"/>
              </a:rPr>
              <a:t>This enables </a:t>
            </a:r>
            <a:r>
              <a:rPr lang="en-US" sz="1200" i="1" dirty="0">
                <a:highlight>
                  <a:srgbClr val="FFFF00"/>
                </a:highlight>
                <a:latin typeface="Arial"/>
                <a:ea typeface="Verdana"/>
                <a:cs typeface="Arial"/>
              </a:rPr>
              <a:t>CUSTOMER</a:t>
            </a:r>
            <a:r>
              <a:rPr lang="en-US" sz="1200" dirty="0">
                <a:latin typeface="Arial"/>
                <a:ea typeface="Verdana"/>
                <a:cs typeface="Arial"/>
              </a:rPr>
              <a:t> to plan faster, with greater confidence and alignment.</a:t>
            </a:r>
          </a:p>
          <a:p>
            <a:pPr marL="285750" indent="-285750" fontAlgn="base">
              <a:buFont typeface="Arial" panose="020B0604020202020204" pitchFamily="34" charset="0"/>
              <a:buChar char="•"/>
            </a:pPr>
            <a:r>
              <a:rPr lang="en-US" sz="1200" dirty="0">
                <a:latin typeface="Arial"/>
                <a:ea typeface="Verdana"/>
                <a:cs typeface="Arial"/>
              </a:rPr>
              <a:t>Reduce manual, spreadsheet driven effort and shorten planning cycles.</a:t>
            </a:r>
          </a:p>
          <a:p>
            <a:pPr marL="285750" indent="-285750" fontAlgn="base">
              <a:buFont typeface="Arial" panose="020B0604020202020204" pitchFamily="34" charset="0"/>
              <a:buChar char="•"/>
            </a:pPr>
            <a:r>
              <a:rPr lang="en-US" sz="1200" dirty="0">
                <a:latin typeface="Arial"/>
                <a:ea typeface="Verdana"/>
                <a:cs typeface="Arial"/>
              </a:rPr>
              <a:t>Deliver fair, motivating quotas that support GTM and corporate strategy.</a:t>
            </a:r>
          </a:p>
          <a:p>
            <a:pPr marL="285750" indent="-285750" fontAlgn="base">
              <a:buFont typeface="Arial" panose="020B0604020202020204" pitchFamily="34" charset="0"/>
              <a:buChar char="•"/>
            </a:pPr>
            <a:r>
              <a:rPr lang="en-US" sz="1200" dirty="0">
                <a:latin typeface="Arial"/>
                <a:ea typeface="Verdana"/>
                <a:cs typeface="Arial"/>
              </a:rPr>
              <a:t>Improve visibility and accountability through streamlined approvals.</a:t>
            </a:r>
          </a:p>
          <a:p>
            <a:pPr marL="285750" indent="-285750" fontAlgn="base">
              <a:buFont typeface="Arial" panose="020B0604020202020204" pitchFamily="34" charset="0"/>
              <a:buChar char="•"/>
            </a:pPr>
            <a:r>
              <a:rPr lang="en-US" sz="1200" dirty="0">
                <a:latin typeface="Arial"/>
                <a:ea typeface="Verdana"/>
                <a:cs typeface="Arial"/>
              </a:rPr>
              <a:t>Focus sales teams on highest potential accounts and territories.</a:t>
            </a:r>
          </a:p>
          <a:p>
            <a:pPr marL="285750" indent="-285750" fontAlgn="base">
              <a:buFont typeface="Arial" panose="020B0604020202020204" pitchFamily="34" charset="0"/>
              <a:buChar char="•"/>
            </a:pPr>
            <a:r>
              <a:rPr lang="en-US" sz="1200" dirty="0">
                <a:latin typeface="Arial"/>
                <a:ea typeface="Verdana"/>
                <a:cs typeface="Arial"/>
              </a:rPr>
              <a:t>Drive stronger cross functional alignment and better revenue decisions.</a:t>
            </a:r>
          </a:p>
          <a:p>
            <a:pPr marL="285750" indent="-285750" fontAlgn="base">
              <a:buFont typeface="Arial" panose="020B0604020202020204" pitchFamily="34" charset="0"/>
              <a:buChar char="•"/>
            </a:pPr>
            <a:endParaRPr lang="en-US" sz="1200" dirty="0">
              <a:cs typeface="Arial"/>
            </a:endParaRPr>
          </a:p>
          <a:p>
            <a:endParaRPr lang="en-US" sz="1200" dirty="0"/>
          </a:p>
        </p:txBody>
      </p:sp>
    </p:spTree>
    <p:custDataLst>
      <p:tags r:id="rId1"/>
    </p:custDataLst>
    <p:extLst>
      <p:ext uri="{BB962C8B-B14F-4D97-AF65-F5344CB8AC3E}">
        <p14:creationId xmlns:p14="http://schemas.microsoft.com/office/powerpoint/2010/main" val="3941614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AA27BB-823A-13FA-C257-AFA290C6B470}"/>
              </a:ext>
            </a:extLst>
          </p:cNvPr>
          <p:cNvSpPr>
            <a:spLocks noGrp="1"/>
          </p:cNvSpPr>
          <p:nvPr>
            <p:ph type="title"/>
          </p:nvPr>
        </p:nvSpPr>
        <p:spPr/>
        <p:txBody>
          <a:bodyPr lIns="0" tIns="45720" rIns="0" bIns="45720" anchor="t"/>
          <a:lstStyle/>
          <a:p>
            <a:r>
              <a:rPr lang="en-US">
                <a:latin typeface="Arial"/>
                <a:cs typeface="Arial"/>
              </a:rPr>
              <a:t>Territory &amp; Quota Planning – Application Overview</a:t>
            </a:r>
          </a:p>
        </p:txBody>
      </p:sp>
      <p:sp>
        <p:nvSpPr>
          <p:cNvPr id="4" name="Content Placeholder 3">
            <a:extLst>
              <a:ext uri="{FF2B5EF4-FFF2-40B4-BE49-F238E27FC236}">
                <a16:creationId xmlns:a16="http://schemas.microsoft.com/office/drawing/2014/main" id="{DC2F8193-3F74-5083-DE31-2B27F1FF8C06}"/>
              </a:ext>
            </a:extLst>
          </p:cNvPr>
          <p:cNvSpPr>
            <a:spLocks noGrp="1"/>
          </p:cNvSpPr>
          <p:nvPr>
            <p:ph idx="1"/>
          </p:nvPr>
        </p:nvSpPr>
        <p:spPr>
          <a:xfrm>
            <a:off x="4495805" y="1084332"/>
            <a:ext cx="4076694" cy="3735318"/>
          </a:xfrm>
        </p:spPr>
        <p:txBody>
          <a:bodyPr lIns="0" tIns="45720" rIns="0" bIns="45720" anchor="t"/>
          <a:lstStyle/>
          <a:p>
            <a:pPr marL="0" indent="0" defTabSz="685783">
              <a:lnSpc>
                <a:spcPct val="150000"/>
              </a:lnSpc>
              <a:buNone/>
              <a:defRPr/>
            </a:pPr>
            <a:r>
              <a:rPr lang="en-US" b="1">
                <a:solidFill>
                  <a:schemeClr val="tx1"/>
                </a:solidFill>
                <a:latin typeface="Arial"/>
                <a:ea typeface="Verdana"/>
                <a:cs typeface="Verdana" panose="020B0604030504040204" pitchFamily="34" charset="0"/>
              </a:rPr>
              <a:t>What’s included?</a:t>
            </a:r>
          </a:p>
          <a:p>
            <a:pPr marL="285115" indent="-285115" defTabSz="685783">
              <a:lnSpc>
                <a:spcPct val="150000"/>
              </a:lnSpc>
              <a:defRPr/>
            </a:pPr>
            <a:r>
              <a:rPr lang="en-US">
                <a:solidFill>
                  <a:schemeClr val="tx1"/>
                </a:solidFill>
                <a:latin typeface="Arial"/>
                <a:ea typeface="Verdana"/>
                <a:cs typeface="Verdana" panose="020B0604030504040204" pitchFamily="34" charset="0"/>
              </a:rPr>
              <a:t>Fully functional Planning model + UX app</a:t>
            </a:r>
          </a:p>
          <a:p>
            <a:pPr marL="285115" indent="-285115" defTabSz="685783">
              <a:lnSpc>
                <a:spcPct val="150000"/>
              </a:lnSpc>
              <a:defRPr/>
            </a:pPr>
            <a:r>
              <a:rPr lang="en-US">
                <a:solidFill>
                  <a:schemeClr val="tx1"/>
                </a:solidFill>
                <a:latin typeface="Arial"/>
                <a:ea typeface="Verdana"/>
                <a:cs typeface="Verdana" panose="020B0604030504040204" pitchFamily="34" charset="0"/>
              </a:rPr>
              <a:t>Prebuilt Data Hub/ADO</a:t>
            </a:r>
          </a:p>
          <a:p>
            <a:pPr marL="285115" indent="-285115" defTabSz="685783">
              <a:lnSpc>
                <a:spcPct val="150000"/>
              </a:lnSpc>
              <a:defRPr/>
            </a:pPr>
            <a:r>
              <a:rPr lang="en-US">
                <a:solidFill>
                  <a:schemeClr val="tx1"/>
                </a:solidFill>
                <a:latin typeface="Arial"/>
                <a:ea typeface="Verdana"/>
                <a:cs typeface="Verdana" panose="020B0604030504040204" pitchFamily="34" charset="0"/>
              </a:rPr>
              <a:t>Architectural Best Practices</a:t>
            </a:r>
          </a:p>
          <a:p>
            <a:pPr marL="285115" indent="-285115" defTabSz="685783">
              <a:lnSpc>
                <a:spcPct val="150000"/>
              </a:lnSpc>
              <a:defRPr/>
            </a:pPr>
            <a:r>
              <a:rPr lang="en-US">
                <a:solidFill>
                  <a:schemeClr val="tx1"/>
                </a:solidFill>
                <a:latin typeface="Arial"/>
                <a:ea typeface="Verdana"/>
                <a:cs typeface="Verdana" panose="020B0604030504040204" pitchFamily="34" charset="0"/>
              </a:rPr>
              <a:t>Structured Business Planning Processes</a:t>
            </a:r>
          </a:p>
          <a:p>
            <a:pPr marL="285115" indent="-285115" defTabSz="685783">
              <a:lnSpc>
                <a:spcPct val="150000"/>
              </a:lnSpc>
              <a:defRPr/>
            </a:pPr>
            <a:r>
              <a:rPr lang="en-US">
                <a:solidFill>
                  <a:schemeClr val="tx1"/>
                </a:solidFill>
                <a:latin typeface="Arial"/>
                <a:ea typeface="Verdana"/>
                <a:cs typeface="Verdana" panose="020B0604030504040204" pitchFamily="34" charset="0"/>
              </a:rPr>
              <a:t>Novel Guided Setup System</a:t>
            </a:r>
          </a:p>
          <a:p>
            <a:endParaRPr lang="en-US"/>
          </a:p>
        </p:txBody>
      </p:sp>
      <p:grpSp>
        <p:nvGrpSpPr>
          <p:cNvPr id="5" name="Group 4">
            <a:extLst>
              <a:ext uri="{FF2B5EF4-FFF2-40B4-BE49-F238E27FC236}">
                <a16:creationId xmlns:a16="http://schemas.microsoft.com/office/drawing/2014/main" id="{C6529EE6-061A-D64B-65BE-4E360A2EE962}"/>
              </a:ext>
            </a:extLst>
          </p:cNvPr>
          <p:cNvGrpSpPr/>
          <p:nvPr/>
        </p:nvGrpSpPr>
        <p:grpSpPr>
          <a:xfrm>
            <a:off x="419101" y="1084332"/>
            <a:ext cx="3709761" cy="3098164"/>
            <a:chOff x="1591136" y="1637441"/>
            <a:chExt cx="2557838" cy="2136149"/>
          </a:xfrm>
        </p:grpSpPr>
        <p:sp>
          <p:nvSpPr>
            <p:cNvPr id="6" name="Freeform 42">
              <a:extLst>
                <a:ext uri="{FF2B5EF4-FFF2-40B4-BE49-F238E27FC236}">
                  <a16:creationId xmlns:a16="http://schemas.microsoft.com/office/drawing/2014/main" id="{376636E4-C40F-DA14-F92C-0ED4E4C9369C}"/>
                </a:ext>
              </a:extLst>
            </p:cNvPr>
            <p:cNvSpPr>
              <a:spLocks noChangeAspect="1"/>
            </p:cNvSpPr>
            <p:nvPr/>
          </p:nvSpPr>
          <p:spPr>
            <a:xfrm>
              <a:off x="2383232" y="2510556"/>
              <a:ext cx="971995" cy="82296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noFill/>
            <a:ln w="28575" cap="flat">
              <a:solidFill>
                <a:schemeClr val="tx2"/>
              </a:solidFill>
              <a:prstDash val="solid"/>
              <a:miter/>
            </a:ln>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en-US" sz="800"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3566E5C0-36C0-4755-B7AD-38A97192314D}"/>
                </a:ext>
              </a:extLst>
            </p:cNvPr>
            <p:cNvGrpSpPr/>
            <p:nvPr/>
          </p:nvGrpSpPr>
          <p:grpSpPr>
            <a:xfrm>
              <a:off x="3176979" y="2938665"/>
              <a:ext cx="971995" cy="822960"/>
              <a:chOff x="3109207" y="1079410"/>
              <a:chExt cx="971995" cy="822960"/>
            </a:xfrm>
          </p:grpSpPr>
          <p:sp>
            <p:nvSpPr>
              <p:cNvPr id="21" name="Freeform 57">
                <a:extLst>
                  <a:ext uri="{FF2B5EF4-FFF2-40B4-BE49-F238E27FC236}">
                    <a16:creationId xmlns:a16="http://schemas.microsoft.com/office/drawing/2014/main" id="{A0BD8548-C588-92BF-ABFE-223A806C8E85}"/>
                  </a:ext>
                </a:extLst>
              </p:cNvPr>
              <p:cNvSpPr>
                <a:spLocks noChangeAspect="1"/>
              </p:cNvSpPr>
              <p:nvPr/>
            </p:nvSpPr>
            <p:spPr>
              <a:xfrm>
                <a:off x="3109207" y="1079410"/>
                <a:ext cx="971995" cy="82296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accent1"/>
              </a:solidFill>
              <a:ln w="13066" cap="flat">
                <a:noFill/>
                <a:prstDash val="solid"/>
                <a:miter/>
              </a:ln>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AE8E9087-B326-BA5D-E0D5-F133D3F45F4E}"/>
                  </a:ext>
                </a:extLst>
              </p:cNvPr>
              <p:cNvSpPr txBox="1"/>
              <p:nvPr/>
            </p:nvSpPr>
            <p:spPr>
              <a:xfrm>
                <a:off x="3268349" y="1352954"/>
                <a:ext cx="653711" cy="275871"/>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685783" rtl="0" eaLnBrk="1" fontAlgn="auto" latinLnBrk="0" hangingPunct="1">
                  <a:lnSpc>
                    <a:spcPct val="100000"/>
                  </a:lnSpc>
                  <a:spcBef>
                    <a:spcPts val="0"/>
                  </a:spcBef>
                  <a:spcAft>
                    <a:spcPts val="0"/>
                  </a:spcAft>
                  <a:buClr>
                    <a:srgbClr val="14A687"/>
                  </a:buClr>
                  <a:buSzTx/>
                  <a:buFontTx/>
                  <a:buNone/>
                  <a:tabLst/>
                  <a:defRPr/>
                </a:pPr>
                <a:r>
                  <a:rPr kumimoji="0" lang="en-US" sz="1000" b="1" i="0" u="none" strike="noStrike" kern="1200" cap="none" spc="0" normalizeH="0" baseline="0" noProof="0">
                    <a:ln>
                      <a:noFill/>
                    </a:ln>
                    <a:solidFill>
                      <a:srgbClr val="FFFFFF"/>
                    </a:solidFill>
                    <a:effectLst/>
                    <a:uLnTx/>
                    <a:uFillTx/>
                    <a:latin typeface="+mj-lt"/>
                    <a:ea typeface="Verdana" panose="020B0604030504040204" pitchFamily="34" charset="0"/>
                    <a:cs typeface="Verdana" panose="020B0604030504040204" pitchFamily="34" charset="0"/>
                  </a:rPr>
                  <a:t>Approvals &amp; Governance</a:t>
                </a:r>
              </a:p>
            </p:txBody>
          </p:sp>
        </p:grpSp>
        <p:grpSp>
          <p:nvGrpSpPr>
            <p:cNvPr id="8" name="Group 7">
              <a:extLst>
                <a:ext uri="{FF2B5EF4-FFF2-40B4-BE49-F238E27FC236}">
                  <a16:creationId xmlns:a16="http://schemas.microsoft.com/office/drawing/2014/main" id="{8DD80EEE-58C7-CE06-8892-4DED22EF6460}"/>
                </a:ext>
              </a:extLst>
            </p:cNvPr>
            <p:cNvGrpSpPr/>
            <p:nvPr/>
          </p:nvGrpSpPr>
          <p:grpSpPr>
            <a:xfrm>
              <a:off x="3167702" y="2067271"/>
              <a:ext cx="971996" cy="822960"/>
              <a:chOff x="4157690" y="1665315"/>
              <a:chExt cx="971996" cy="822960"/>
            </a:xfrm>
          </p:grpSpPr>
          <p:sp>
            <p:nvSpPr>
              <p:cNvPr id="19" name="Freeform 55">
                <a:extLst>
                  <a:ext uri="{FF2B5EF4-FFF2-40B4-BE49-F238E27FC236}">
                    <a16:creationId xmlns:a16="http://schemas.microsoft.com/office/drawing/2014/main" id="{DEE65C7F-C7B9-60C6-0B6A-21267B7096BA}"/>
                  </a:ext>
                </a:extLst>
              </p:cNvPr>
              <p:cNvSpPr>
                <a:spLocks noChangeAspect="1"/>
              </p:cNvSpPr>
              <p:nvPr/>
            </p:nvSpPr>
            <p:spPr>
              <a:xfrm>
                <a:off x="4157691" y="1665315"/>
                <a:ext cx="971995" cy="82296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accent1"/>
              </a:solidFill>
              <a:ln w="13066" cap="flat">
                <a:noFill/>
                <a:prstDash val="solid"/>
                <a:miter/>
              </a:ln>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en-US" sz="800"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A092555D-BDE6-1822-462F-9DAF7E8537EB}"/>
                  </a:ext>
                </a:extLst>
              </p:cNvPr>
              <p:cNvSpPr txBox="1"/>
              <p:nvPr/>
            </p:nvSpPr>
            <p:spPr>
              <a:xfrm>
                <a:off x="4157690" y="1991911"/>
                <a:ext cx="971994" cy="275871"/>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685783" rtl="0" eaLnBrk="1" fontAlgn="auto" latinLnBrk="0" hangingPunct="1">
                  <a:lnSpc>
                    <a:spcPct val="100000"/>
                  </a:lnSpc>
                  <a:spcBef>
                    <a:spcPts val="0"/>
                  </a:spcBef>
                  <a:spcAft>
                    <a:spcPts val="0"/>
                  </a:spcAft>
                  <a:buClr>
                    <a:srgbClr val="14A687"/>
                  </a:buClr>
                  <a:buSzTx/>
                  <a:buFontTx/>
                  <a:buNone/>
                  <a:tabLst/>
                  <a:defRPr/>
                </a:pPr>
                <a:r>
                  <a:rPr kumimoji="0" lang="en-US" sz="1000" b="1" i="0" u="none" strike="noStrike" kern="1200" cap="none" spc="0" normalizeH="0" baseline="0" noProof="0">
                    <a:ln>
                      <a:noFill/>
                    </a:ln>
                    <a:solidFill>
                      <a:srgbClr val="FFFFFF"/>
                    </a:solidFill>
                    <a:effectLst/>
                    <a:uLnTx/>
                    <a:uFillTx/>
                    <a:latin typeface="+mj-lt"/>
                    <a:ea typeface="Verdana" panose="020B0604030504040204" pitchFamily="34" charset="0"/>
                    <a:cs typeface="Verdana" panose="020B0604030504040204" pitchFamily="34" charset="0"/>
                  </a:rPr>
                  <a:t>Coverage &amp; Capacity Planning</a:t>
                </a:r>
              </a:p>
            </p:txBody>
          </p:sp>
        </p:grpSp>
        <p:grpSp>
          <p:nvGrpSpPr>
            <p:cNvPr id="9" name="Group 8">
              <a:extLst>
                <a:ext uri="{FF2B5EF4-FFF2-40B4-BE49-F238E27FC236}">
                  <a16:creationId xmlns:a16="http://schemas.microsoft.com/office/drawing/2014/main" id="{7E3F757B-10FD-6E65-52A8-AC2B1C507180}"/>
                </a:ext>
              </a:extLst>
            </p:cNvPr>
            <p:cNvGrpSpPr/>
            <p:nvPr/>
          </p:nvGrpSpPr>
          <p:grpSpPr>
            <a:xfrm>
              <a:off x="2379421" y="1637441"/>
              <a:ext cx="971995" cy="822960"/>
              <a:chOff x="1786208" y="1368550"/>
              <a:chExt cx="971995" cy="822960"/>
            </a:xfrm>
          </p:grpSpPr>
          <p:sp>
            <p:nvSpPr>
              <p:cNvPr id="17" name="Freeform 53">
                <a:extLst>
                  <a:ext uri="{FF2B5EF4-FFF2-40B4-BE49-F238E27FC236}">
                    <a16:creationId xmlns:a16="http://schemas.microsoft.com/office/drawing/2014/main" id="{5BA5CCAB-A659-DA51-802D-8A20AF698E60}"/>
                  </a:ext>
                </a:extLst>
              </p:cNvPr>
              <p:cNvSpPr>
                <a:spLocks noChangeAspect="1"/>
              </p:cNvSpPr>
              <p:nvPr/>
            </p:nvSpPr>
            <p:spPr>
              <a:xfrm>
                <a:off x="1786208" y="1368550"/>
                <a:ext cx="971995" cy="82296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accent1"/>
              </a:solidFill>
              <a:ln w="13066" cap="flat">
                <a:noFill/>
                <a:prstDash val="solid"/>
                <a:miter/>
              </a:ln>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en-US" sz="800" b="1" i="1"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01EC8455-42D7-243A-EBD8-8A1340687955}"/>
                  </a:ext>
                </a:extLst>
              </p:cNvPr>
              <p:cNvSpPr txBox="1"/>
              <p:nvPr/>
            </p:nvSpPr>
            <p:spPr>
              <a:xfrm>
                <a:off x="1894207" y="1535353"/>
                <a:ext cx="755996" cy="488079"/>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685783" rtl="0" eaLnBrk="1" fontAlgn="auto" latinLnBrk="0" hangingPunct="1">
                  <a:lnSpc>
                    <a:spcPct val="100000"/>
                  </a:lnSpc>
                  <a:spcBef>
                    <a:spcPts val="0"/>
                  </a:spcBef>
                  <a:spcAft>
                    <a:spcPts val="0"/>
                  </a:spcAft>
                  <a:buClr>
                    <a:srgbClr val="14A687"/>
                  </a:buClr>
                  <a:buSzTx/>
                  <a:buFontTx/>
                  <a:buNone/>
                  <a:tabLst/>
                  <a:defRPr/>
                </a:pPr>
                <a:r>
                  <a:rPr kumimoji="0" lang="en-US" sz="1000" b="1" i="0" u="none" strike="noStrike" kern="1200" cap="none" spc="0" normalizeH="0" baseline="0" noProof="0">
                    <a:ln>
                      <a:noFill/>
                    </a:ln>
                    <a:solidFill>
                      <a:srgbClr val="FFFFFF"/>
                    </a:solidFill>
                    <a:effectLst/>
                    <a:uLnTx/>
                    <a:uFillTx/>
                    <a:latin typeface="+mj-lt"/>
                    <a:ea typeface="Verdana" panose="020B0604030504040204" pitchFamily="34" charset="0"/>
                    <a:cs typeface="Verdana" panose="020B0604030504040204" pitchFamily="34" charset="0"/>
                  </a:rPr>
                  <a:t>Target Allocation (Top-Down &amp; Bottom-Up)</a:t>
                </a:r>
              </a:p>
            </p:txBody>
          </p:sp>
        </p:grpSp>
        <p:grpSp>
          <p:nvGrpSpPr>
            <p:cNvPr id="10" name="Group 9">
              <a:extLst>
                <a:ext uri="{FF2B5EF4-FFF2-40B4-BE49-F238E27FC236}">
                  <a16:creationId xmlns:a16="http://schemas.microsoft.com/office/drawing/2014/main" id="{A3B519B7-00C5-438F-5689-FF9A68BA43C8}"/>
                </a:ext>
              </a:extLst>
            </p:cNvPr>
            <p:cNvGrpSpPr/>
            <p:nvPr/>
          </p:nvGrpSpPr>
          <p:grpSpPr>
            <a:xfrm>
              <a:off x="1591139" y="2067271"/>
              <a:ext cx="971995" cy="822960"/>
              <a:chOff x="694916" y="1988865"/>
              <a:chExt cx="971995" cy="822960"/>
            </a:xfrm>
          </p:grpSpPr>
          <p:sp>
            <p:nvSpPr>
              <p:cNvPr id="15" name="Freeform 51">
                <a:extLst>
                  <a:ext uri="{FF2B5EF4-FFF2-40B4-BE49-F238E27FC236}">
                    <a16:creationId xmlns:a16="http://schemas.microsoft.com/office/drawing/2014/main" id="{F9DC5D0F-D53D-56FA-42F9-9F74F0B5ABF8}"/>
                  </a:ext>
                </a:extLst>
              </p:cNvPr>
              <p:cNvSpPr>
                <a:spLocks noChangeAspect="1"/>
              </p:cNvSpPr>
              <p:nvPr/>
            </p:nvSpPr>
            <p:spPr>
              <a:xfrm>
                <a:off x="694916" y="1988865"/>
                <a:ext cx="971995" cy="82296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accent1"/>
              </a:solidFill>
              <a:ln w="13066" cap="flat">
                <a:noFill/>
                <a:prstDash val="solid"/>
                <a:miter/>
              </a:ln>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7C078D25-E6EA-F15B-D5ED-FED202179398}"/>
                  </a:ext>
                </a:extLst>
              </p:cNvPr>
              <p:cNvSpPr txBox="1"/>
              <p:nvPr/>
            </p:nvSpPr>
            <p:spPr>
              <a:xfrm>
                <a:off x="809612" y="2231068"/>
                <a:ext cx="742603" cy="338555"/>
              </a:xfrm>
              <a:prstGeom prst="rect">
                <a:avLst/>
              </a:prstGeom>
              <a:noFill/>
              <a:ln w="13066" cap="flat">
                <a:noFill/>
                <a:prstDash val="solid"/>
                <a:miter/>
              </a:ln>
            </p:spPr>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00" b="1">
                    <a:solidFill>
                      <a:srgbClr val="FFFFFF"/>
                    </a:solidFill>
                    <a:latin typeface="+mj-lt"/>
                  </a:rPr>
                  <a:t>Quota Setting &amp; Allocation</a:t>
                </a:r>
              </a:p>
            </p:txBody>
          </p:sp>
        </p:grpSp>
        <p:grpSp>
          <p:nvGrpSpPr>
            <p:cNvPr id="11" name="Group 10">
              <a:extLst>
                <a:ext uri="{FF2B5EF4-FFF2-40B4-BE49-F238E27FC236}">
                  <a16:creationId xmlns:a16="http://schemas.microsoft.com/office/drawing/2014/main" id="{D38348A9-CE7E-A2E7-7A4C-CB7B0C51B72A}"/>
                </a:ext>
              </a:extLst>
            </p:cNvPr>
            <p:cNvGrpSpPr/>
            <p:nvPr/>
          </p:nvGrpSpPr>
          <p:grpSpPr>
            <a:xfrm>
              <a:off x="1591136" y="2950630"/>
              <a:ext cx="971995" cy="822960"/>
              <a:chOff x="651845" y="3337421"/>
              <a:chExt cx="971995" cy="822960"/>
            </a:xfrm>
          </p:grpSpPr>
          <p:sp>
            <p:nvSpPr>
              <p:cNvPr id="13" name="Freeform 49">
                <a:extLst>
                  <a:ext uri="{FF2B5EF4-FFF2-40B4-BE49-F238E27FC236}">
                    <a16:creationId xmlns:a16="http://schemas.microsoft.com/office/drawing/2014/main" id="{2DED6BFE-7A10-25B6-F61F-6F00003D3964}"/>
                  </a:ext>
                </a:extLst>
              </p:cNvPr>
              <p:cNvSpPr>
                <a:spLocks noChangeAspect="1"/>
              </p:cNvSpPr>
              <p:nvPr/>
            </p:nvSpPr>
            <p:spPr>
              <a:xfrm>
                <a:off x="651845" y="3337421"/>
                <a:ext cx="971995" cy="82296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accent1"/>
              </a:solidFill>
              <a:ln w="13066" cap="flat">
                <a:noFill/>
                <a:prstDash val="solid"/>
                <a:miter/>
              </a:ln>
            </p:spPr>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55"/>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2EC34FE-471D-BA7A-DED3-5FB437077BFB}"/>
                  </a:ext>
                </a:extLst>
              </p:cNvPr>
              <p:cNvSpPr txBox="1"/>
              <p:nvPr/>
            </p:nvSpPr>
            <p:spPr>
              <a:xfrm>
                <a:off x="822445" y="3610966"/>
                <a:ext cx="630795" cy="381975"/>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685783" rtl="0" eaLnBrk="1" fontAlgn="auto" latinLnBrk="0" hangingPunct="1">
                  <a:lnSpc>
                    <a:spcPct val="100000"/>
                  </a:lnSpc>
                  <a:spcBef>
                    <a:spcPts val="0"/>
                  </a:spcBef>
                  <a:spcAft>
                    <a:spcPts val="0"/>
                  </a:spcAft>
                  <a:buClr>
                    <a:srgbClr val="14A687"/>
                  </a:buClr>
                  <a:buSzTx/>
                  <a:buFontTx/>
                  <a:buNone/>
                  <a:tabLst/>
                  <a:defRPr/>
                </a:pPr>
                <a:r>
                  <a:rPr kumimoji="0" lang="en-US" sz="1000" b="1" i="0" u="none" strike="noStrike" kern="1200" cap="none" spc="0" normalizeH="0" baseline="0" noProof="0">
                    <a:ln>
                      <a:noFill/>
                    </a:ln>
                    <a:solidFill>
                      <a:srgbClr val="FFFFFF"/>
                    </a:solidFill>
                    <a:effectLst/>
                    <a:uLnTx/>
                    <a:uFillTx/>
                    <a:latin typeface="+mj-lt"/>
                    <a:ea typeface="Verdana" panose="020B0604030504040204" pitchFamily="34" charset="0"/>
                    <a:cs typeface="Verdana" panose="020B0604030504040204" pitchFamily="34" charset="0"/>
                  </a:rPr>
                  <a:t>Territory Design &amp; Balancing</a:t>
                </a:r>
              </a:p>
            </p:txBody>
          </p:sp>
        </p:grpSp>
        <p:pic>
          <p:nvPicPr>
            <p:cNvPr id="12" name="Picture 2" descr="Anaplan · GitHub">
              <a:extLst>
                <a:ext uri="{FF2B5EF4-FFF2-40B4-BE49-F238E27FC236}">
                  <a16:creationId xmlns:a16="http://schemas.microsoft.com/office/drawing/2014/main" id="{9CB8D886-3C9D-8910-77A4-039D94D526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3135" y="2610866"/>
              <a:ext cx="621105" cy="62110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a:extLst>
              <a:ext uri="{FF2B5EF4-FFF2-40B4-BE49-F238E27FC236}">
                <a16:creationId xmlns:a16="http://schemas.microsoft.com/office/drawing/2014/main" id="{2F0556E1-CE2B-4FED-6874-4204B7B3CF09}"/>
              </a:ext>
            </a:extLst>
          </p:cNvPr>
          <p:cNvGrpSpPr/>
          <p:nvPr/>
        </p:nvGrpSpPr>
        <p:grpSpPr>
          <a:xfrm>
            <a:off x="-2196749" y="0"/>
            <a:ext cx="2318271" cy="5143500"/>
            <a:chOff x="-2187969" y="0"/>
            <a:chExt cx="2318271" cy="5143500"/>
          </a:xfrm>
        </p:grpSpPr>
        <p:sp>
          <p:nvSpPr>
            <p:cNvPr id="24" name="Rectangle: Rounded Corners 23">
              <a:extLst>
                <a:ext uri="{FF2B5EF4-FFF2-40B4-BE49-F238E27FC236}">
                  <a16:creationId xmlns:a16="http://schemas.microsoft.com/office/drawing/2014/main" id="{2420AE96-3DC0-A09B-73D7-E6EBC9C77DE3}"/>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137F3AE2-CF7D-0A14-C7E2-89C318E76B7C}"/>
                </a:ext>
              </a:extLst>
            </p:cNvPr>
            <p:cNvGrpSpPr/>
            <p:nvPr/>
          </p:nvGrpSpPr>
          <p:grpSpPr>
            <a:xfrm>
              <a:off x="-2187969" y="0"/>
              <a:ext cx="2018501" cy="5143500"/>
              <a:chOff x="-2187969" y="0"/>
              <a:chExt cx="2018501" cy="5143500"/>
            </a:xfrm>
          </p:grpSpPr>
          <p:sp>
            <p:nvSpPr>
              <p:cNvPr id="26" name="Rectangle: Rounded Corners 25">
                <a:extLst>
                  <a:ext uri="{FF2B5EF4-FFF2-40B4-BE49-F238E27FC236}">
                    <a16:creationId xmlns:a16="http://schemas.microsoft.com/office/drawing/2014/main" id="{106061D2-D564-F6F5-8E11-6BC7BD80B305}"/>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7" name="TextBox 26">
                <a:extLst>
                  <a:ext uri="{FF2B5EF4-FFF2-40B4-BE49-F238E27FC236}">
                    <a16:creationId xmlns:a16="http://schemas.microsoft.com/office/drawing/2014/main" id="{76C5411A-E0DD-900D-A7BD-0EB2E4D08BCB}"/>
                  </a:ext>
                </a:extLst>
              </p:cNvPr>
              <p:cNvSpPr txBox="1"/>
              <p:nvPr/>
            </p:nvSpPr>
            <p:spPr>
              <a:xfrm>
                <a:off x="-2060903" y="983848"/>
                <a:ext cx="1764368" cy="3600986"/>
              </a:xfrm>
              <a:prstGeom prst="rect">
                <a:avLst/>
              </a:prstGeom>
              <a:solidFill>
                <a:schemeClr val="bg1"/>
              </a:solidFill>
              <a:ln w="3175">
                <a:solidFill>
                  <a:schemeClr val="accent6">
                    <a:lumMod val="10000"/>
                  </a:schemeClr>
                </a:solidFill>
              </a:ln>
            </p:spPr>
            <p:txBody>
              <a:bodyPr wrap="square" lIns="91440" rtlCol="0">
                <a:spAutoFit/>
              </a:bodyPr>
              <a:lstStyle/>
              <a:p>
                <a:r>
                  <a:rPr lang="en-US" sz="1200" dirty="0"/>
                  <a:t>Replace the orange content with the planning areas included in the application being deployed for this project. </a:t>
                </a:r>
              </a:p>
              <a:p>
                <a:endParaRPr lang="en-US" sz="1200" dirty="0"/>
              </a:p>
              <a:p>
                <a:r>
                  <a:rPr lang="en-US" sz="1200" dirty="0"/>
                  <a:t>Use the hex visual to represent the scope of planning supported and confirm included areas with Sales before finalizing.</a:t>
                </a:r>
              </a:p>
              <a:p>
                <a:endParaRPr lang="en-US" sz="1200" dirty="0">
                  <a:solidFill>
                    <a:schemeClr val="tx2"/>
                  </a:solidFill>
                  <a:ea typeface="Inter Light" panose="02000503000000020004" pitchFamily="2" charset="0"/>
                  <a:cs typeface="Arial"/>
                </a:endParaRPr>
              </a:p>
              <a:p>
                <a:r>
                  <a:rPr lang="en-US" sz="1200" dirty="0">
                    <a:solidFill>
                      <a:schemeClr val="tx2"/>
                    </a:solidFill>
                    <a:ea typeface="Inter Light" panose="02000503000000020004" pitchFamily="2" charset="0"/>
                    <a:cs typeface="Arial"/>
                  </a:rPr>
                  <a:t>Please see any material provided by Anaplan Product teams.</a:t>
                </a:r>
              </a:p>
            </p:txBody>
          </p:sp>
          <p:sp>
            <p:nvSpPr>
              <p:cNvPr id="28" name="TextBox 27">
                <a:extLst>
                  <a:ext uri="{FF2B5EF4-FFF2-40B4-BE49-F238E27FC236}">
                    <a16:creationId xmlns:a16="http://schemas.microsoft.com/office/drawing/2014/main" id="{606341A3-DA8C-52B8-EAB0-CD30811CE413}"/>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9" name="Group 28">
                <a:extLst>
                  <a:ext uri="{FF2B5EF4-FFF2-40B4-BE49-F238E27FC236}">
                    <a16:creationId xmlns:a16="http://schemas.microsoft.com/office/drawing/2014/main" id="{6968B3D6-5E3E-8695-A343-3839BC6FFE6F}"/>
                  </a:ext>
                </a:extLst>
              </p:cNvPr>
              <p:cNvGrpSpPr/>
              <p:nvPr/>
            </p:nvGrpSpPr>
            <p:grpSpPr>
              <a:xfrm>
                <a:off x="-1448666" y="0"/>
                <a:ext cx="539895" cy="539895"/>
                <a:chOff x="-1468837" y="0"/>
                <a:chExt cx="539895" cy="539895"/>
              </a:xfrm>
            </p:grpSpPr>
            <p:sp>
              <p:nvSpPr>
                <p:cNvPr id="33" name="Oval 32">
                  <a:extLst>
                    <a:ext uri="{FF2B5EF4-FFF2-40B4-BE49-F238E27FC236}">
                      <a16:creationId xmlns:a16="http://schemas.microsoft.com/office/drawing/2014/main" id="{2905AC29-46B1-D453-372C-FBE5F5316BF8}"/>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4" name="Graphic 33" descr="Single gear with solid fill">
                  <a:extLst>
                    <a:ext uri="{FF2B5EF4-FFF2-40B4-BE49-F238E27FC236}">
                      <a16:creationId xmlns:a16="http://schemas.microsoft.com/office/drawing/2014/main" id="{219299AB-D0C1-1B1A-334E-D65E43C5690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379641" y="89196"/>
                  <a:ext cx="361503" cy="361503"/>
                </a:xfrm>
                <a:prstGeom prst="rect">
                  <a:avLst/>
                </a:prstGeom>
              </p:spPr>
            </p:pic>
          </p:grpSp>
          <p:grpSp>
            <p:nvGrpSpPr>
              <p:cNvPr id="30" name="Group 29">
                <a:extLst>
                  <a:ext uri="{FF2B5EF4-FFF2-40B4-BE49-F238E27FC236}">
                    <a16:creationId xmlns:a16="http://schemas.microsoft.com/office/drawing/2014/main" id="{862D4226-9628-E76E-8FC4-30FA28540AB8}"/>
                  </a:ext>
                </a:extLst>
              </p:cNvPr>
              <p:cNvGrpSpPr/>
              <p:nvPr/>
            </p:nvGrpSpPr>
            <p:grpSpPr>
              <a:xfrm>
                <a:off x="-1913726" y="4862278"/>
                <a:ext cx="1537258" cy="215444"/>
                <a:chOff x="-1907058" y="4862278"/>
                <a:chExt cx="1537258" cy="215444"/>
              </a:xfrm>
            </p:grpSpPr>
            <p:sp>
              <p:nvSpPr>
                <p:cNvPr id="31" name="TextBox 30">
                  <a:extLst>
                    <a:ext uri="{FF2B5EF4-FFF2-40B4-BE49-F238E27FC236}">
                      <a16:creationId xmlns:a16="http://schemas.microsoft.com/office/drawing/2014/main" id="{DC1F0B59-C6CA-907B-28A0-43157DE67E55}"/>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2" name="Graphic 31" descr="Warning with solid fill">
                  <a:extLst>
                    <a:ext uri="{FF2B5EF4-FFF2-40B4-BE49-F238E27FC236}">
                      <a16:creationId xmlns:a16="http://schemas.microsoft.com/office/drawing/2014/main" id="{F4734976-A858-1797-CCA7-EBC8A1A361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3185002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7F38408-C7E4-834C-8174-1DABBCE8B0B8}"/>
              </a:ext>
            </a:extLst>
          </p:cNvPr>
          <p:cNvSpPr>
            <a:spLocks noGrp="1"/>
          </p:cNvSpPr>
          <p:nvPr>
            <p:ph type="body" sz="quarter" idx="47"/>
          </p:nvPr>
        </p:nvSpPr>
        <p:spPr>
          <a:xfrm>
            <a:off x="4788600" y="2092793"/>
            <a:ext cx="1663931" cy="2343150"/>
          </a:xfrm>
        </p:spPr>
        <p:txBody>
          <a:bodyPr lIns="0" tIns="45720" rIns="91440" bIns="45720" anchor="t"/>
          <a:lstStyle/>
          <a:p>
            <a:r>
              <a:rPr lang="en-US" sz="1000" dirty="0">
                <a:latin typeface="Arial"/>
                <a:ea typeface="Verdana"/>
                <a:cs typeface="Arial"/>
              </a:rPr>
              <a:t>Selected to replace manual, spreadsheet based T&amp;Q planning with a governed, scalable GTM planning process.</a:t>
            </a:r>
          </a:p>
          <a:p>
            <a:pPr marL="171450" indent="-171450">
              <a:buFont typeface="Arial" panose="020B0604020202020204" pitchFamily="34" charset="0"/>
              <a:buChar char="•"/>
            </a:pPr>
            <a:r>
              <a:rPr lang="en-US" sz="1000" dirty="0">
                <a:latin typeface="Arial"/>
                <a:ea typeface="Verdana"/>
                <a:cs typeface="Arial"/>
              </a:rPr>
              <a:t>Balance territories aligned to GTM strategy and account potential.</a:t>
            </a:r>
          </a:p>
          <a:p>
            <a:pPr marL="171450" indent="-171450">
              <a:buFont typeface="Arial" panose="020B0604020202020204" pitchFamily="34" charset="0"/>
              <a:buChar char="•"/>
            </a:pPr>
            <a:r>
              <a:rPr lang="en-US" sz="1000" dirty="0">
                <a:latin typeface="Arial"/>
                <a:ea typeface="Verdana"/>
                <a:cs typeface="Arial"/>
              </a:rPr>
              <a:t>Align top-down targets with bottom-up quotas and capacity.</a:t>
            </a:r>
          </a:p>
          <a:p>
            <a:pPr marL="171450" indent="-171450">
              <a:buFont typeface="Arial" panose="020B0604020202020204" pitchFamily="34" charset="0"/>
              <a:buChar char="•"/>
            </a:pPr>
            <a:r>
              <a:rPr lang="en-US" sz="1000" dirty="0">
                <a:latin typeface="Arial"/>
                <a:ea typeface="Verdana"/>
                <a:cs typeface="Arial"/>
              </a:rPr>
              <a:t>Support faster coverage and quota decisions.</a:t>
            </a:r>
          </a:p>
          <a:p>
            <a:endParaRPr lang="en-US" sz="1000"/>
          </a:p>
          <a:p>
            <a:endParaRPr lang="en-US" sz="1000"/>
          </a:p>
        </p:txBody>
      </p:sp>
      <p:sp>
        <p:nvSpPr>
          <p:cNvPr id="20" name="Title 19">
            <a:extLst>
              <a:ext uri="{FF2B5EF4-FFF2-40B4-BE49-F238E27FC236}">
                <a16:creationId xmlns:a16="http://schemas.microsoft.com/office/drawing/2014/main" id="{0E87C77D-5134-763D-3AF9-4283C5FFCEAD}"/>
              </a:ext>
            </a:extLst>
          </p:cNvPr>
          <p:cNvSpPr>
            <a:spLocks noGrp="1"/>
          </p:cNvSpPr>
          <p:nvPr>
            <p:ph type="title"/>
          </p:nvPr>
        </p:nvSpPr>
        <p:spPr>
          <a:xfrm>
            <a:off x="419100" y="294640"/>
            <a:ext cx="8153401" cy="338554"/>
          </a:xfrm>
        </p:spPr>
        <p:txBody>
          <a:bodyPr/>
          <a:lstStyle/>
          <a:p>
            <a:r>
              <a:rPr lang="en-US"/>
              <a:t>Anaplan Application: Territory &amp; Quota Planning </a:t>
            </a:r>
          </a:p>
        </p:txBody>
      </p:sp>
      <p:sp>
        <p:nvSpPr>
          <p:cNvPr id="21" name="Content Placeholder 20">
            <a:extLst>
              <a:ext uri="{FF2B5EF4-FFF2-40B4-BE49-F238E27FC236}">
                <a16:creationId xmlns:a16="http://schemas.microsoft.com/office/drawing/2014/main" id="{68B59152-01E4-9B3E-A593-C5889E6C2E94}"/>
              </a:ext>
            </a:extLst>
          </p:cNvPr>
          <p:cNvSpPr>
            <a:spLocks noGrp="1"/>
          </p:cNvSpPr>
          <p:nvPr>
            <p:ph idx="14"/>
          </p:nvPr>
        </p:nvSpPr>
        <p:spPr>
          <a:xfrm>
            <a:off x="406814" y="834850"/>
            <a:ext cx="4088985" cy="3984800"/>
          </a:xfrm>
        </p:spPr>
        <p:txBody>
          <a:bodyPr/>
          <a:lstStyle/>
          <a:p>
            <a:pPr marL="0" indent="0">
              <a:buNone/>
            </a:pPr>
            <a:r>
              <a:rPr lang="en-US"/>
              <a:t>Why this application was selected and the outcomes it supports</a:t>
            </a:r>
          </a:p>
        </p:txBody>
      </p:sp>
      <p:pic>
        <p:nvPicPr>
          <p:cNvPr id="31" name="Picture Placeholder 30">
            <a:extLst>
              <a:ext uri="{FF2B5EF4-FFF2-40B4-BE49-F238E27FC236}">
                <a16:creationId xmlns:a16="http://schemas.microsoft.com/office/drawing/2014/main" id="{884279E2-EA0E-3F4D-92F9-C662467024E0}"/>
              </a:ext>
            </a:extLst>
          </p:cNvPr>
          <p:cNvPicPr>
            <a:picLocks noGrp="1" noChangeAspect="1"/>
          </p:cNvPicPr>
          <p:nvPr>
            <p:ph type="pic" sz="quarter" idx="37"/>
          </p:nvPr>
        </p:nvPicPr>
        <p:blipFill>
          <a:blip r:embed="rId3"/>
          <a:srcRect t="4667" b="4667"/>
          <a:stretch>
            <a:fillRect/>
          </a:stretch>
        </p:blipFill>
        <p:spPr>
          <a:prstGeom prst="rect">
            <a:avLst/>
          </a:prstGeom>
        </p:spPr>
      </p:pic>
      <p:sp>
        <p:nvSpPr>
          <p:cNvPr id="23" name="Text Placeholder 22">
            <a:extLst>
              <a:ext uri="{FF2B5EF4-FFF2-40B4-BE49-F238E27FC236}">
                <a16:creationId xmlns:a16="http://schemas.microsoft.com/office/drawing/2014/main" id="{B2449A69-0835-89E8-B8EA-19C6BC4D9D65}"/>
              </a:ext>
            </a:extLst>
          </p:cNvPr>
          <p:cNvSpPr>
            <a:spLocks noGrp="1"/>
          </p:cNvSpPr>
          <p:nvPr>
            <p:ph type="body" sz="quarter" idx="43"/>
          </p:nvPr>
        </p:nvSpPr>
        <p:spPr>
          <a:xfrm>
            <a:off x="4819053" y="1491522"/>
            <a:ext cx="1516255" cy="431793"/>
          </a:xfrm>
        </p:spPr>
        <p:txBody>
          <a:bodyPr/>
          <a:lstStyle/>
          <a:p>
            <a:r>
              <a:rPr lang="en-US"/>
              <a:t>Business purpose</a:t>
            </a:r>
          </a:p>
        </p:txBody>
      </p:sp>
      <p:pic>
        <p:nvPicPr>
          <p:cNvPr id="30" name="Picture Placeholder 29" descr="Receipt with solid fill">
            <a:extLst>
              <a:ext uri="{FF2B5EF4-FFF2-40B4-BE49-F238E27FC236}">
                <a16:creationId xmlns:a16="http://schemas.microsoft.com/office/drawing/2014/main" id="{61606081-DC59-2913-5139-174B5343F5EE}"/>
              </a:ext>
            </a:extLst>
          </p:cNvPr>
          <p:cNvPicPr>
            <a:picLocks noGrp="1" noChangeAspect="1"/>
          </p:cNvPicPr>
          <p:nvPr>
            <p:ph type="pic" sz="quarter" idx="45"/>
          </p:nvPr>
        </p:nvPicPr>
        <p:blipFill>
          <a:blip>
            <a:extLst>
              <a:ext uri="{96DAC541-7B7A-43D3-8B79-37D633B846F1}">
                <asvg:svgBlip xmlns:asvg="http://schemas.microsoft.com/office/drawing/2016/SVG/main" r:embed="rId4"/>
              </a:ext>
            </a:extLst>
          </a:blip>
          <a:srcRect t="4515" b="4515"/>
          <a:stretch>
            <a:fillRect/>
          </a:stretch>
        </p:blipFill>
        <p:spPr/>
      </p:pic>
      <p:sp>
        <p:nvSpPr>
          <p:cNvPr id="8" name="Text Placeholder 7">
            <a:extLst>
              <a:ext uri="{FF2B5EF4-FFF2-40B4-BE49-F238E27FC236}">
                <a16:creationId xmlns:a16="http://schemas.microsoft.com/office/drawing/2014/main" id="{BCB42421-C67E-304B-F765-87038433C17B}"/>
              </a:ext>
            </a:extLst>
          </p:cNvPr>
          <p:cNvSpPr>
            <a:spLocks noGrp="1"/>
          </p:cNvSpPr>
          <p:nvPr>
            <p:ph type="body" sz="quarter" idx="46"/>
          </p:nvPr>
        </p:nvSpPr>
        <p:spPr>
          <a:xfrm>
            <a:off x="6878673" y="1491522"/>
            <a:ext cx="1520609" cy="431793"/>
          </a:xfrm>
        </p:spPr>
        <p:txBody>
          <a:bodyPr/>
          <a:lstStyle/>
          <a:p>
            <a:r>
              <a:rPr lang="en-US"/>
              <a:t>Key outcomes</a:t>
            </a:r>
          </a:p>
        </p:txBody>
      </p:sp>
      <p:grpSp>
        <p:nvGrpSpPr>
          <p:cNvPr id="4" name="Google Shape;1942;p242">
            <a:extLst>
              <a:ext uri="{FF2B5EF4-FFF2-40B4-BE49-F238E27FC236}">
                <a16:creationId xmlns:a16="http://schemas.microsoft.com/office/drawing/2014/main" id="{13875C11-27AC-092F-D64B-4EA3D3AD9E70}"/>
              </a:ext>
            </a:extLst>
          </p:cNvPr>
          <p:cNvGrpSpPr/>
          <p:nvPr/>
        </p:nvGrpSpPr>
        <p:grpSpPr>
          <a:xfrm>
            <a:off x="419100" y="1707419"/>
            <a:ext cx="3891836" cy="2728524"/>
            <a:chOff x="4762783" y="2802812"/>
            <a:chExt cx="2460572" cy="1725080"/>
          </a:xfrm>
        </p:grpSpPr>
        <p:grpSp>
          <p:nvGrpSpPr>
            <p:cNvPr id="5" name="Google Shape;1943;p242">
              <a:extLst>
                <a:ext uri="{FF2B5EF4-FFF2-40B4-BE49-F238E27FC236}">
                  <a16:creationId xmlns:a16="http://schemas.microsoft.com/office/drawing/2014/main" id="{B8917395-C780-80CF-4714-1455AC408334}"/>
                </a:ext>
              </a:extLst>
            </p:cNvPr>
            <p:cNvGrpSpPr/>
            <p:nvPr/>
          </p:nvGrpSpPr>
          <p:grpSpPr>
            <a:xfrm>
              <a:off x="4762783" y="2802812"/>
              <a:ext cx="1990468" cy="1328111"/>
              <a:chOff x="4762783" y="2802812"/>
              <a:chExt cx="1990468" cy="1328111"/>
            </a:xfrm>
          </p:grpSpPr>
          <p:pic>
            <p:nvPicPr>
              <p:cNvPr id="10" name="Google Shape;1944;p242" descr="Graphical user interface, application, Teams&#10;&#10;Description automatically generated">
                <a:extLst>
                  <a:ext uri="{FF2B5EF4-FFF2-40B4-BE49-F238E27FC236}">
                    <a16:creationId xmlns:a16="http://schemas.microsoft.com/office/drawing/2014/main" id="{213CB966-3EE4-4BEE-1D01-A23BB0FE6D11}"/>
                  </a:ext>
                </a:extLst>
              </p:cNvPr>
              <p:cNvPicPr preferRelativeResize="0"/>
              <p:nvPr/>
            </p:nvPicPr>
            <p:blipFill rotWithShape="1">
              <a:blip r:embed="rId5">
                <a:alphaModFix/>
              </a:blip>
              <a:srcRect/>
              <a:stretch/>
            </p:blipFill>
            <p:spPr>
              <a:xfrm>
                <a:off x="4762783" y="2802812"/>
                <a:ext cx="1640613" cy="1024434"/>
              </a:xfrm>
              <a:prstGeom prst="rect">
                <a:avLst/>
              </a:prstGeom>
              <a:noFill/>
              <a:ln w="9525" cap="flat" cmpd="sng">
                <a:solidFill>
                  <a:schemeClr val="dk1"/>
                </a:solidFill>
                <a:prstDash val="solid"/>
                <a:round/>
                <a:headEnd type="none" w="sm" len="sm"/>
                <a:tailEnd type="none" w="sm" len="sm"/>
              </a:ln>
            </p:spPr>
          </p:pic>
          <p:pic>
            <p:nvPicPr>
              <p:cNvPr id="11" name="Google Shape;1945;p242" descr="Graphical user interface, application, table, Excel&#10;&#10;Description automatically generated">
                <a:extLst>
                  <a:ext uri="{FF2B5EF4-FFF2-40B4-BE49-F238E27FC236}">
                    <a16:creationId xmlns:a16="http://schemas.microsoft.com/office/drawing/2014/main" id="{D9975308-10B8-A3B6-4F05-EA22E42ED2CF}"/>
                  </a:ext>
                </a:extLst>
              </p:cNvPr>
              <p:cNvPicPr preferRelativeResize="0"/>
              <p:nvPr/>
            </p:nvPicPr>
            <p:blipFill rotWithShape="1">
              <a:blip r:embed="rId6">
                <a:alphaModFix/>
              </a:blip>
              <a:srcRect/>
              <a:stretch/>
            </p:blipFill>
            <p:spPr>
              <a:xfrm>
                <a:off x="5149182" y="3128381"/>
                <a:ext cx="1604069" cy="1002542"/>
              </a:xfrm>
              <a:prstGeom prst="rect">
                <a:avLst/>
              </a:prstGeom>
              <a:noFill/>
              <a:ln w="9525" cap="flat" cmpd="sng">
                <a:solidFill>
                  <a:schemeClr val="dk1"/>
                </a:solidFill>
                <a:prstDash val="solid"/>
                <a:round/>
                <a:headEnd type="none" w="sm" len="sm"/>
                <a:tailEnd type="none" w="sm" len="sm"/>
              </a:ln>
            </p:spPr>
          </p:pic>
        </p:grpSp>
        <p:grpSp>
          <p:nvGrpSpPr>
            <p:cNvPr id="6" name="Google Shape;1946;p242">
              <a:extLst>
                <a:ext uri="{FF2B5EF4-FFF2-40B4-BE49-F238E27FC236}">
                  <a16:creationId xmlns:a16="http://schemas.microsoft.com/office/drawing/2014/main" id="{FC3E06BB-5351-4FE7-06F1-6B7EFFFC1AF7}"/>
                </a:ext>
              </a:extLst>
            </p:cNvPr>
            <p:cNvGrpSpPr/>
            <p:nvPr/>
          </p:nvGrpSpPr>
          <p:grpSpPr>
            <a:xfrm>
              <a:off x="5583015" y="3525248"/>
              <a:ext cx="1640340" cy="1002644"/>
              <a:chOff x="1612761" y="580371"/>
              <a:chExt cx="6028444" cy="3753815"/>
            </a:xfrm>
          </p:grpSpPr>
          <p:pic>
            <p:nvPicPr>
              <p:cNvPr id="7" name="Google Shape;1947;p242" descr="Graphical user interface, application, Teams&#10;&#10;Description automatically generated">
                <a:extLst>
                  <a:ext uri="{FF2B5EF4-FFF2-40B4-BE49-F238E27FC236}">
                    <a16:creationId xmlns:a16="http://schemas.microsoft.com/office/drawing/2014/main" id="{97F9F1FB-0B03-E9A1-C966-FEFD82FBFAB4}"/>
                  </a:ext>
                </a:extLst>
              </p:cNvPr>
              <p:cNvPicPr preferRelativeResize="0"/>
              <p:nvPr/>
            </p:nvPicPr>
            <p:blipFill rotWithShape="1">
              <a:blip r:embed="rId7">
                <a:alphaModFix/>
              </a:blip>
              <a:srcRect/>
              <a:stretch/>
            </p:blipFill>
            <p:spPr>
              <a:xfrm>
                <a:off x="1612761" y="580371"/>
                <a:ext cx="6028444" cy="3753815"/>
              </a:xfrm>
              <a:prstGeom prst="rect">
                <a:avLst/>
              </a:prstGeom>
              <a:noFill/>
              <a:ln w="9525" cap="flat" cmpd="sng">
                <a:solidFill>
                  <a:schemeClr val="dk1"/>
                </a:solidFill>
                <a:prstDash val="solid"/>
                <a:round/>
                <a:headEnd type="none" w="sm" len="sm"/>
                <a:tailEnd type="none" w="sm" len="sm"/>
              </a:ln>
              <a:effectLst>
                <a:outerShdw blurRad="63500" algn="ctr" rotWithShape="0">
                  <a:srgbClr val="000000">
                    <a:alpha val="20000"/>
                  </a:srgbClr>
                </a:outerShdw>
              </a:effectLst>
            </p:spPr>
          </p:pic>
          <p:pic>
            <p:nvPicPr>
              <p:cNvPr id="9" name="Google Shape;1948;p242" descr="A map of the united states&#10;&#10;Description automatically generated">
                <a:extLst>
                  <a:ext uri="{FF2B5EF4-FFF2-40B4-BE49-F238E27FC236}">
                    <a16:creationId xmlns:a16="http://schemas.microsoft.com/office/drawing/2014/main" id="{ECE19729-E8F6-FE3B-F327-86EF1908922D}"/>
                  </a:ext>
                </a:extLst>
              </p:cNvPr>
              <p:cNvPicPr preferRelativeResize="0"/>
              <p:nvPr/>
            </p:nvPicPr>
            <p:blipFill rotWithShape="1">
              <a:blip r:embed="rId8">
                <a:alphaModFix/>
              </a:blip>
              <a:srcRect l="8702" r="7859"/>
              <a:stretch/>
            </p:blipFill>
            <p:spPr>
              <a:xfrm>
                <a:off x="1685677" y="1307224"/>
                <a:ext cx="2401294" cy="1722224"/>
              </a:xfrm>
              <a:prstGeom prst="rect">
                <a:avLst/>
              </a:prstGeom>
              <a:noFill/>
              <a:ln w="9525" cap="flat" cmpd="sng">
                <a:solidFill>
                  <a:schemeClr val="dk1"/>
                </a:solidFill>
                <a:prstDash val="solid"/>
                <a:round/>
                <a:headEnd type="none" w="sm" len="sm"/>
                <a:tailEnd type="none" w="sm" len="sm"/>
              </a:ln>
            </p:spPr>
          </p:pic>
        </p:grpSp>
      </p:grpSp>
      <p:grpSp>
        <p:nvGrpSpPr>
          <p:cNvPr id="12" name="Group 11">
            <a:extLst>
              <a:ext uri="{FF2B5EF4-FFF2-40B4-BE49-F238E27FC236}">
                <a16:creationId xmlns:a16="http://schemas.microsoft.com/office/drawing/2014/main" id="{CB066724-FDF8-720E-6D00-C13EED2B7FC3}"/>
              </a:ext>
            </a:extLst>
          </p:cNvPr>
          <p:cNvGrpSpPr/>
          <p:nvPr/>
        </p:nvGrpSpPr>
        <p:grpSpPr>
          <a:xfrm>
            <a:off x="-2187969" y="0"/>
            <a:ext cx="2318271" cy="5143500"/>
            <a:chOff x="-2187969" y="0"/>
            <a:chExt cx="2318271" cy="5143500"/>
          </a:xfrm>
        </p:grpSpPr>
        <p:sp>
          <p:nvSpPr>
            <p:cNvPr id="13" name="Rectangle: Rounded Corners 12">
              <a:extLst>
                <a:ext uri="{FF2B5EF4-FFF2-40B4-BE49-F238E27FC236}">
                  <a16:creationId xmlns:a16="http://schemas.microsoft.com/office/drawing/2014/main" id="{A827DC94-F8B1-EAC2-985A-193040E25AC5}"/>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678C612-6068-629D-A164-95DABB05F9B0}"/>
                </a:ext>
              </a:extLst>
            </p:cNvPr>
            <p:cNvGrpSpPr/>
            <p:nvPr/>
          </p:nvGrpSpPr>
          <p:grpSpPr>
            <a:xfrm>
              <a:off x="-2187969" y="0"/>
              <a:ext cx="2018501" cy="5143500"/>
              <a:chOff x="-2187969" y="0"/>
              <a:chExt cx="2018501" cy="5143500"/>
            </a:xfrm>
          </p:grpSpPr>
          <p:sp>
            <p:nvSpPr>
              <p:cNvPr id="16" name="Rectangle: Rounded Corners 15">
                <a:extLst>
                  <a:ext uri="{FF2B5EF4-FFF2-40B4-BE49-F238E27FC236}">
                    <a16:creationId xmlns:a16="http://schemas.microsoft.com/office/drawing/2014/main" id="{711FA2BB-DAAF-FC6B-1109-A24561B0A3F1}"/>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8" name="TextBox 17">
                <a:extLst>
                  <a:ext uri="{FF2B5EF4-FFF2-40B4-BE49-F238E27FC236}">
                    <a16:creationId xmlns:a16="http://schemas.microsoft.com/office/drawing/2014/main" id="{6CEDC71B-4655-0356-C012-B43E195B74BB}"/>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r>
                  <a:rPr lang="en-US" sz="1400"/>
                  <a:t>Use content from the Sales handoff or pre-sales materials to explain why this application was selected and the outcomes it supports. Ensure continuity with the solution sold. Where possible, have the sponsor briefly reinforce the business rationale during delivery.</a:t>
                </a:r>
                <a:endParaRPr lang="en-US" sz="1400">
                  <a:solidFill>
                    <a:schemeClr val="tx2"/>
                  </a:solidFill>
                  <a:ea typeface="Inter Light" panose="02000503000000020004" pitchFamily="2" charset="0"/>
                  <a:cs typeface="Arial"/>
                </a:endParaRPr>
              </a:p>
            </p:txBody>
          </p:sp>
          <p:sp>
            <p:nvSpPr>
              <p:cNvPr id="19" name="TextBox 18">
                <a:extLst>
                  <a:ext uri="{FF2B5EF4-FFF2-40B4-BE49-F238E27FC236}">
                    <a16:creationId xmlns:a16="http://schemas.microsoft.com/office/drawing/2014/main" id="{42A09453-88B8-7757-B517-0ECA248631A7}"/>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2" name="Group 21">
                <a:extLst>
                  <a:ext uri="{FF2B5EF4-FFF2-40B4-BE49-F238E27FC236}">
                    <a16:creationId xmlns:a16="http://schemas.microsoft.com/office/drawing/2014/main" id="{5CD775EC-5163-5582-DB61-6503B18A5884}"/>
                  </a:ext>
                </a:extLst>
              </p:cNvPr>
              <p:cNvGrpSpPr/>
              <p:nvPr/>
            </p:nvGrpSpPr>
            <p:grpSpPr>
              <a:xfrm>
                <a:off x="-1448666" y="0"/>
                <a:ext cx="539895" cy="539895"/>
                <a:chOff x="-1468837" y="0"/>
                <a:chExt cx="539895" cy="539895"/>
              </a:xfrm>
            </p:grpSpPr>
            <p:sp>
              <p:nvSpPr>
                <p:cNvPr id="27" name="Oval 26">
                  <a:extLst>
                    <a:ext uri="{FF2B5EF4-FFF2-40B4-BE49-F238E27FC236}">
                      <a16:creationId xmlns:a16="http://schemas.microsoft.com/office/drawing/2014/main" id="{65FCE245-2A11-8C01-6764-63164D525696}"/>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28" name="Graphic 27" descr="Single gear with solid fill">
                  <a:extLst>
                    <a:ext uri="{FF2B5EF4-FFF2-40B4-BE49-F238E27FC236}">
                      <a16:creationId xmlns:a16="http://schemas.microsoft.com/office/drawing/2014/main" id="{59F99C43-6BCB-5CC0-E5C3-4B57ACE60A0F}"/>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379641" y="89196"/>
                  <a:ext cx="361503" cy="361503"/>
                </a:xfrm>
                <a:prstGeom prst="rect">
                  <a:avLst/>
                </a:prstGeom>
              </p:spPr>
            </p:pic>
          </p:grpSp>
          <p:grpSp>
            <p:nvGrpSpPr>
              <p:cNvPr id="24" name="Group 23">
                <a:extLst>
                  <a:ext uri="{FF2B5EF4-FFF2-40B4-BE49-F238E27FC236}">
                    <a16:creationId xmlns:a16="http://schemas.microsoft.com/office/drawing/2014/main" id="{CD7F5556-4C66-248A-17A7-3F50D9EFC4D2}"/>
                  </a:ext>
                </a:extLst>
              </p:cNvPr>
              <p:cNvGrpSpPr/>
              <p:nvPr/>
            </p:nvGrpSpPr>
            <p:grpSpPr>
              <a:xfrm>
                <a:off x="-1913726" y="4862278"/>
                <a:ext cx="1537258" cy="215444"/>
                <a:chOff x="-1907058" y="4862278"/>
                <a:chExt cx="1537258" cy="215444"/>
              </a:xfrm>
            </p:grpSpPr>
            <p:sp>
              <p:nvSpPr>
                <p:cNvPr id="25" name="TextBox 24">
                  <a:extLst>
                    <a:ext uri="{FF2B5EF4-FFF2-40B4-BE49-F238E27FC236}">
                      <a16:creationId xmlns:a16="http://schemas.microsoft.com/office/drawing/2014/main" id="{8CCD2528-DB22-5227-E1CE-266426364DA0}"/>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26" name="Graphic 25" descr="Warning with solid fill">
                  <a:extLst>
                    <a:ext uri="{FF2B5EF4-FFF2-40B4-BE49-F238E27FC236}">
                      <a16:creationId xmlns:a16="http://schemas.microsoft.com/office/drawing/2014/main" id="{A9B4FE62-03BC-0334-5095-1E0BC2D1111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7058" y="4928624"/>
                  <a:ext cx="98429" cy="98429"/>
                </a:xfrm>
                <a:prstGeom prst="rect">
                  <a:avLst/>
                </a:prstGeom>
              </p:spPr>
            </p:pic>
          </p:grpSp>
        </p:grpSp>
      </p:grpSp>
      <p:sp>
        <p:nvSpPr>
          <p:cNvPr id="29" name="Text Placeholder 14">
            <a:extLst>
              <a:ext uri="{FF2B5EF4-FFF2-40B4-BE49-F238E27FC236}">
                <a16:creationId xmlns:a16="http://schemas.microsoft.com/office/drawing/2014/main" id="{E079BA54-4D43-4CCE-505D-CDB300756789}"/>
              </a:ext>
            </a:extLst>
          </p:cNvPr>
          <p:cNvSpPr txBox="1">
            <a:spLocks/>
          </p:cNvSpPr>
          <p:nvPr/>
        </p:nvSpPr>
        <p:spPr>
          <a:xfrm>
            <a:off x="6807011" y="2092793"/>
            <a:ext cx="1663931" cy="2343150"/>
          </a:xfrm>
          <a:prstGeom prst="rect">
            <a:avLst/>
          </a:prstGeom>
        </p:spPr>
        <p:txBody>
          <a:bodyPr lIns="0"/>
          <a:lstStyle>
            <a:lvl1pPr marL="0" indent="0" algn="l" defTabSz="914400" rtl="0" eaLnBrk="1" latinLnBrk="0" hangingPunct="1">
              <a:spcBef>
                <a:spcPct val="20000"/>
              </a:spcBef>
              <a:buClr>
                <a:schemeClr val="accent1"/>
              </a:buClr>
              <a:buFont typeface="Arial" panose="020B0604020202020204" pitchFamily="34" charset="0"/>
              <a:buNone/>
              <a:defRPr sz="1200" b="0" i="0" kern="1200">
                <a:solidFill>
                  <a:schemeClr val="tx2"/>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2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2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2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12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a:t>Delivers faster planning cycles and more equitable, actionable plans.</a:t>
            </a:r>
          </a:p>
          <a:p>
            <a:pPr marL="171450" indent="-171450">
              <a:buFont typeface="Arial" panose="020B0604020202020204" pitchFamily="34" charset="0"/>
              <a:buChar char="•"/>
            </a:pPr>
            <a:r>
              <a:rPr lang="en-US" sz="1000"/>
              <a:t>Eliminates manual spreadsheets and fragmented approvals.</a:t>
            </a:r>
          </a:p>
          <a:p>
            <a:pPr marL="171450" indent="-171450">
              <a:buFont typeface="Arial" panose="020B0604020202020204" pitchFamily="34" charset="0"/>
              <a:buChar char="•"/>
            </a:pPr>
            <a:r>
              <a:rPr lang="en-US" sz="1000"/>
              <a:t>Accelerates quota delivery to the field.</a:t>
            </a:r>
          </a:p>
          <a:p>
            <a:pPr marL="171450" indent="-171450">
              <a:buFont typeface="Arial" panose="020B0604020202020204" pitchFamily="34" charset="0"/>
              <a:buChar char="•"/>
            </a:pPr>
            <a:r>
              <a:rPr lang="en-US" sz="1000"/>
              <a:t>Improves visibility, alignment, and seller confidence.</a:t>
            </a:r>
          </a:p>
          <a:p>
            <a:endParaRPr lang="en-US" sz="1000"/>
          </a:p>
          <a:p>
            <a:endParaRPr lang="en-US" sz="1000"/>
          </a:p>
        </p:txBody>
      </p:sp>
    </p:spTree>
    <p:custDataLst>
      <p:tags r:id="rId1"/>
    </p:custDataLst>
    <p:extLst>
      <p:ext uri="{BB962C8B-B14F-4D97-AF65-F5344CB8AC3E}">
        <p14:creationId xmlns:p14="http://schemas.microsoft.com/office/powerpoint/2010/main" val="88168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E5A5B8-ADF9-AA13-2D92-D9C63A581E99}"/>
              </a:ext>
            </a:extLst>
          </p:cNvPr>
          <p:cNvSpPr>
            <a:spLocks noGrp="1"/>
          </p:cNvSpPr>
          <p:nvPr>
            <p:ph type="title"/>
          </p:nvPr>
        </p:nvSpPr>
        <p:spPr>
          <a:xfrm>
            <a:off x="256068" y="299531"/>
            <a:ext cx="8051504" cy="338554"/>
          </a:xfrm>
        </p:spPr>
        <p:txBody>
          <a:bodyPr/>
          <a:lstStyle/>
          <a:p>
            <a:r>
              <a:rPr kumimoji="0" lang="en-US" sz="1800" b="0" i="0" u="none" strike="noStrike" kern="1200" cap="none" spc="0" normalizeH="0" baseline="0" noProof="0">
                <a:ln>
                  <a:noFill/>
                </a:ln>
                <a:solidFill>
                  <a:srgbClr val="0A2F46"/>
                </a:solidFill>
                <a:effectLst/>
                <a:uLnTx/>
                <a:uFillTx/>
                <a:latin typeface="Arial" panose="020B0604020202020204" pitchFamily="34" charset="0"/>
                <a:cs typeface="Arial" panose="020B0604020202020204" pitchFamily="34" charset="0"/>
              </a:rPr>
              <a:t>Territory &amp; Quota Planning</a:t>
            </a:r>
            <a:r>
              <a:rPr lang="en-US"/>
              <a:t> – Supported Planning Processes</a:t>
            </a:r>
          </a:p>
        </p:txBody>
      </p:sp>
      <p:sp>
        <p:nvSpPr>
          <p:cNvPr id="7" name="Content Placeholder 6">
            <a:extLst>
              <a:ext uri="{FF2B5EF4-FFF2-40B4-BE49-F238E27FC236}">
                <a16:creationId xmlns:a16="http://schemas.microsoft.com/office/drawing/2014/main" id="{88B4F85B-8E7D-7F6E-50E1-D4256735F3AA}"/>
              </a:ext>
            </a:extLst>
          </p:cNvPr>
          <p:cNvSpPr>
            <a:spLocks noGrp="1"/>
          </p:cNvSpPr>
          <p:nvPr>
            <p:ph idx="1"/>
          </p:nvPr>
        </p:nvSpPr>
        <p:spPr/>
        <p:txBody>
          <a:bodyPr lIns="0" tIns="45720" rIns="0" bIns="45720" anchor="t"/>
          <a:lstStyle/>
          <a:p>
            <a:pPr marL="0" indent="0">
              <a:buNone/>
            </a:pPr>
            <a:r>
              <a:rPr lang="en-US" b="1" dirty="0"/>
              <a:t>Core Processes Supported</a:t>
            </a:r>
          </a:p>
          <a:p>
            <a:r>
              <a:rPr lang="en-US" dirty="0">
                <a:latin typeface="Arial"/>
                <a:cs typeface="Arial"/>
              </a:rPr>
              <a:t>Design and maintain balanced sales territories aligned to GTM strategy.</a:t>
            </a:r>
          </a:p>
          <a:p>
            <a:r>
              <a:rPr lang="en-US" dirty="0"/>
              <a:t>Assign and reassign accounts to territories at scale using rules and governance.</a:t>
            </a:r>
          </a:p>
          <a:p>
            <a:r>
              <a:rPr lang="en-US" dirty="0"/>
              <a:t>Allocate revenue targets top down and distribute quotas bottom up.</a:t>
            </a:r>
          </a:p>
          <a:p>
            <a:r>
              <a:rPr lang="en-US" dirty="0"/>
              <a:t>Align coverage, capacity, and roles across sellers, overlays, and managers.</a:t>
            </a:r>
          </a:p>
          <a:p>
            <a:r>
              <a:rPr lang="en-US" dirty="0">
                <a:latin typeface="Arial"/>
                <a:cs typeface="Arial"/>
              </a:rPr>
              <a:t>Review, approve, and finalize territory and </a:t>
            </a:r>
            <a:r>
              <a:rPr lang="en-US">
                <a:latin typeface="Arial"/>
                <a:cs typeface="Arial"/>
              </a:rPr>
              <a:t>quota plans with structured workflows.</a:t>
            </a:r>
          </a:p>
        </p:txBody>
      </p:sp>
      <p:pic>
        <p:nvPicPr>
          <p:cNvPr id="11" name="Google Shape;1970;p243" descr="Graphical user interface, application, Teams&#10;&#10;Description automatically generated">
            <a:extLst>
              <a:ext uri="{FF2B5EF4-FFF2-40B4-BE49-F238E27FC236}">
                <a16:creationId xmlns:a16="http://schemas.microsoft.com/office/drawing/2014/main" id="{6AA11DCC-D397-0AA3-E2E3-6E0F391CD53C}"/>
              </a:ext>
            </a:extLst>
          </p:cNvPr>
          <p:cNvPicPr preferRelativeResize="0"/>
          <p:nvPr/>
        </p:nvPicPr>
        <p:blipFill rotWithShape="1">
          <a:blip r:embed="rId3">
            <a:alphaModFix/>
          </a:blip>
          <a:srcRect/>
          <a:stretch/>
        </p:blipFill>
        <p:spPr>
          <a:xfrm>
            <a:off x="4803753" y="1278801"/>
            <a:ext cx="3249488" cy="2029050"/>
          </a:xfrm>
          <a:prstGeom prst="rect">
            <a:avLst/>
          </a:prstGeom>
          <a:noFill/>
          <a:ln w="9525" cap="flat" cmpd="sng">
            <a:solidFill>
              <a:schemeClr val="dk1"/>
            </a:solidFill>
            <a:prstDash val="solid"/>
            <a:round/>
            <a:headEnd type="none" w="sm" len="sm"/>
            <a:tailEnd type="none" w="sm" len="sm"/>
          </a:ln>
        </p:spPr>
      </p:pic>
      <p:pic>
        <p:nvPicPr>
          <p:cNvPr id="12" name="Google Shape;1973;p243" descr="Graphical user interface, application, table, Excel&#10;&#10;Description automatically generated">
            <a:extLst>
              <a:ext uri="{FF2B5EF4-FFF2-40B4-BE49-F238E27FC236}">
                <a16:creationId xmlns:a16="http://schemas.microsoft.com/office/drawing/2014/main" id="{95E17D11-CF6F-0E7C-D38F-398139DAF2D7}"/>
              </a:ext>
            </a:extLst>
          </p:cNvPr>
          <p:cNvPicPr preferRelativeResize="0"/>
          <p:nvPr/>
        </p:nvPicPr>
        <p:blipFill rotWithShape="1">
          <a:blip r:embed="rId4">
            <a:alphaModFix/>
          </a:blip>
          <a:srcRect/>
          <a:stretch/>
        </p:blipFill>
        <p:spPr>
          <a:xfrm>
            <a:off x="5394473" y="2086914"/>
            <a:ext cx="3249488" cy="2030930"/>
          </a:xfrm>
          <a:prstGeom prst="rect">
            <a:avLst/>
          </a:prstGeom>
          <a:noFill/>
          <a:ln w="9525" cap="flat" cmpd="sng">
            <a:solidFill>
              <a:schemeClr val="dk1"/>
            </a:solidFill>
            <a:prstDash val="solid"/>
            <a:round/>
            <a:headEnd type="none" w="sm" len="sm"/>
            <a:tailEnd type="none" w="sm" len="sm"/>
          </a:ln>
        </p:spPr>
      </p:pic>
      <p:grpSp>
        <p:nvGrpSpPr>
          <p:cNvPr id="13" name="Group 12">
            <a:extLst>
              <a:ext uri="{FF2B5EF4-FFF2-40B4-BE49-F238E27FC236}">
                <a16:creationId xmlns:a16="http://schemas.microsoft.com/office/drawing/2014/main" id="{4C2E9B23-22B5-2BE8-8608-AB8AA3285DA7}"/>
              </a:ext>
            </a:extLst>
          </p:cNvPr>
          <p:cNvGrpSpPr/>
          <p:nvPr/>
        </p:nvGrpSpPr>
        <p:grpSpPr>
          <a:xfrm>
            <a:off x="-2187969" y="0"/>
            <a:ext cx="2318271" cy="5143500"/>
            <a:chOff x="-2187969" y="0"/>
            <a:chExt cx="2318271" cy="5143500"/>
          </a:xfrm>
        </p:grpSpPr>
        <p:sp>
          <p:nvSpPr>
            <p:cNvPr id="14" name="Rectangle: Rounded Corners 13">
              <a:extLst>
                <a:ext uri="{FF2B5EF4-FFF2-40B4-BE49-F238E27FC236}">
                  <a16:creationId xmlns:a16="http://schemas.microsoft.com/office/drawing/2014/main" id="{8199A3F0-89B6-78C8-C8AD-01A4AED16417}"/>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A0CD987-1CC4-BB38-FABF-402AE5FB9ABC}"/>
                </a:ext>
              </a:extLst>
            </p:cNvPr>
            <p:cNvGrpSpPr/>
            <p:nvPr/>
          </p:nvGrpSpPr>
          <p:grpSpPr>
            <a:xfrm>
              <a:off x="-2187969" y="0"/>
              <a:ext cx="2018501" cy="5143500"/>
              <a:chOff x="-2187969" y="0"/>
              <a:chExt cx="2018501" cy="5143500"/>
            </a:xfrm>
          </p:grpSpPr>
          <p:sp>
            <p:nvSpPr>
              <p:cNvPr id="16" name="Rectangle: Rounded Corners 15">
                <a:extLst>
                  <a:ext uri="{FF2B5EF4-FFF2-40B4-BE49-F238E27FC236}">
                    <a16:creationId xmlns:a16="http://schemas.microsoft.com/office/drawing/2014/main" id="{67AF1C53-8F78-07CA-E502-9064A17ABD07}"/>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7" name="TextBox 16">
                <a:extLst>
                  <a:ext uri="{FF2B5EF4-FFF2-40B4-BE49-F238E27FC236}">
                    <a16:creationId xmlns:a16="http://schemas.microsoft.com/office/drawing/2014/main" id="{7A13F007-3FEE-A390-8B1A-C0C85F2B48C0}"/>
                  </a:ext>
                </a:extLst>
              </p:cNvPr>
              <p:cNvSpPr txBox="1"/>
              <p:nvPr/>
            </p:nvSpPr>
            <p:spPr>
              <a:xfrm>
                <a:off x="-2060903" y="983848"/>
                <a:ext cx="1764368" cy="1815882"/>
              </a:xfrm>
              <a:prstGeom prst="rect">
                <a:avLst/>
              </a:prstGeom>
              <a:solidFill>
                <a:schemeClr val="bg1"/>
              </a:solidFill>
              <a:ln w="3175">
                <a:solidFill>
                  <a:schemeClr val="accent6">
                    <a:lumMod val="10000"/>
                  </a:schemeClr>
                </a:solidFill>
              </a:ln>
            </p:spPr>
            <p:txBody>
              <a:bodyPr wrap="square" lIns="91440" rtlCol="0">
                <a:spAutoFit/>
              </a:bodyPr>
              <a:lstStyle/>
              <a:p>
                <a:r>
                  <a:rPr lang="en-US" sz="1400"/>
                  <a:t>Summarize the main business processes supported by the application. Keep content process-focused and high-level. </a:t>
                </a:r>
                <a:endParaRPr lang="en-US" sz="1400">
                  <a:solidFill>
                    <a:schemeClr val="tx2"/>
                  </a:solidFill>
                  <a:ea typeface="Inter Light" panose="02000503000000020004" pitchFamily="2" charset="0"/>
                  <a:cs typeface="Arial"/>
                </a:endParaRPr>
              </a:p>
            </p:txBody>
          </p:sp>
          <p:sp>
            <p:nvSpPr>
              <p:cNvPr id="18" name="TextBox 17">
                <a:extLst>
                  <a:ext uri="{FF2B5EF4-FFF2-40B4-BE49-F238E27FC236}">
                    <a16:creationId xmlns:a16="http://schemas.microsoft.com/office/drawing/2014/main" id="{895DC769-CBB8-DA0E-38E8-99B5FA5C833B}"/>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9" name="Group 18">
                <a:extLst>
                  <a:ext uri="{FF2B5EF4-FFF2-40B4-BE49-F238E27FC236}">
                    <a16:creationId xmlns:a16="http://schemas.microsoft.com/office/drawing/2014/main" id="{30118535-CC03-5795-166C-900C5B857FDC}"/>
                  </a:ext>
                </a:extLst>
              </p:cNvPr>
              <p:cNvGrpSpPr/>
              <p:nvPr/>
            </p:nvGrpSpPr>
            <p:grpSpPr>
              <a:xfrm>
                <a:off x="-1448666" y="0"/>
                <a:ext cx="539895" cy="539895"/>
                <a:chOff x="-1468837" y="0"/>
                <a:chExt cx="539895" cy="539895"/>
              </a:xfrm>
            </p:grpSpPr>
            <p:sp>
              <p:nvSpPr>
                <p:cNvPr id="23" name="Oval 22">
                  <a:extLst>
                    <a:ext uri="{FF2B5EF4-FFF2-40B4-BE49-F238E27FC236}">
                      <a16:creationId xmlns:a16="http://schemas.microsoft.com/office/drawing/2014/main" id="{66C8E40D-0AB1-D866-211D-994CB2579DBE}"/>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24" name="Graphic 23" descr="Single gear with solid fill">
                  <a:extLst>
                    <a:ext uri="{FF2B5EF4-FFF2-40B4-BE49-F238E27FC236}">
                      <a16:creationId xmlns:a16="http://schemas.microsoft.com/office/drawing/2014/main" id="{B26F23AD-E063-5741-687D-FC78DB77F5E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379641" y="89196"/>
                  <a:ext cx="361503" cy="361503"/>
                </a:xfrm>
                <a:prstGeom prst="rect">
                  <a:avLst/>
                </a:prstGeom>
              </p:spPr>
            </p:pic>
          </p:grpSp>
          <p:grpSp>
            <p:nvGrpSpPr>
              <p:cNvPr id="20" name="Group 19">
                <a:extLst>
                  <a:ext uri="{FF2B5EF4-FFF2-40B4-BE49-F238E27FC236}">
                    <a16:creationId xmlns:a16="http://schemas.microsoft.com/office/drawing/2014/main" id="{E4E3BC26-1E5C-4976-476A-A120501341A6}"/>
                  </a:ext>
                </a:extLst>
              </p:cNvPr>
              <p:cNvGrpSpPr/>
              <p:nvPr/>
            </p:nvGrpSpPr>
            <p:grpSpPr>
              <a:xfrm>
                <a:off x="-1913726" y="4862278"/>
                <a:ext cx="1537258" cy="215444"/>
                <a:chOff x="-1907058" y="4862278"/>
                <a:chExt cx="1537258" cy="215444"/>
              </a:xfrm>
            </p:grpSpPr>
            <p:sp>
              <p:nvSpPr>
                <p:cNvPr id="21" name="TextBox 20">
                  <a:extLst>
                    <a:ext uri="{FF2B5EF4-FFF2-40B4-BE49-F238E27FC236}">
                      <a16:creationId xmlns:a16="http://schemas.microsoft.com/office/drawing/2014/main" id="{32D5153F-9A97-EC20-73EB-D329DB557CFA}"/>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22" name="Graphic 21" descr="Warning with solid fill">
                  <a:extLst>
                    <a:ext uri="{FF2B5EF4-FFF2-40B4-BE49-F238E27FC236}">
                      <a16:creationId xmlns:a16="http://schemas.microsoft.com/office/drawing/2014/main" id="{4A48A020-2C7E-F498-8150-7404A0AA749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49039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714C-0DCC-4184-231E-950A3F14A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EEDA0-796B-082B-D0B4-CF224EF85F1E}"/>
              </a:ext>
            </a:extLst>
          </p:cNvPr>
          <p:cNvSpPr>
            <a:spLocks noGrp="1"/>
          </p:cNvSpPr>
          <p:nvPr>
            <p:ph type="title"/>
          </p:nvPr>
        </p:nvSpPr>
        <p:spPr/>
        <p:txBody>
          <a:bodyPr/>
          <a:lstStyle/>
          <a:p>
            <a:r>
              <a:rPr lang="en-US"/>
              <a:t>How we deliver: Our Ethos </a:t>
            </a:r>
            <a:br>
              <a:rPr lang="en-US"/>
            </a:br>
            <a:r>
              <a:rPr lang="en-US"/>
              <a:t>and Methodology</a:t>
            </a:r>
          </a:p>
        </p:txBody>
      </p:sp>
    </p:spTree>
    <p:custDataLst>
      <p:tags r:id="rId1"/>
    </p:custDataLst>
    <p:extLst>
      <p:ext uri="{BB962C8B-B14F-4D97-AF65-F5344CB8AC3E}">
        <p14:creationId xmlns:p14="http://schemas.microsoft.com/office/powerpoint/2010/main" val="330735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DC89-FDB8-CC27-38FC-683D14D2EF09}"/>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E9A7BC9-D3F5-CB6E-4425-194B02C216DC}"/>
              </a:ext>
            </a:extLst>
          </p:cNvPr>
          <p:cNvSpPr>
            <a:spLocks noGrp="1"/>
          </p:cNvSpPr>
          <p:nvPr>
            <p:ph type="title"/>
          </p:nvPr>
        </p:nvSpPr>
        <p:spPr>
          <a:xfrm>
            <a:off x="233892" y="231141"/>
            <a:ext cx="8153400" cy="338554"/>
          </a:xfrm>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00">
                <a:latin typeface="Arial"/>
                <a:cs typeface="Arial"/>
              </a:rPr>
              <a:t>Applications – w/ Extension</a:t>
            </a:r>
            <a:endParaRPr lang="en-US" sz="1800"/>
          </a:p>
        </p:txBody>
      </p:sp>
      <p:sp>
        <p:nvSpPr>
          <p:cNvPr id="9" name="Pentagon 23">
            <a:extLst>
              <a:ext uri="{FF2B5EF4-FFF2-40B4-BE49-F238E27FC236}">
                <a16:creationId xmlns:a16="http://schemas.microsoft.com/office/drawing/2014/main" id="{A1964BCB-A92F-8BF8-0DEC-B308AE521337}"/>
              </a:ext>
            </a:extLst>
          </p:cNvPr>
          <p:cNvSpPr/>
          <p:nvPr/>
        </p:nvSpPr>
        <p:spPr>
          <a:xfrm>
            <a:off x="4089807" y="6314800"/>
            <a:ext cx="4725892" cy="210010"/>
          </a:xfrm>
          <a:prstGeom prst="homePlate">
            <a:avLst/>
          </a:prstGeom>
          <a:solidFill>
            <a:srgbClr val="BCBD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panose="020B0604020202020204" pitchFamily="34" charset="0"/>
                <a:ea typeface="Verdana" charset="0"/>
                <a:cs typeface="Arial" panose="020B0604020202020204" pitchFamily="34" charset="0"/>
              </a:rPr>
              <a:t>Automated Data Integration</a:t>
            </a:r>
          </a:p>
        </p:txBody>
      </p:sp>
      <p:sp>
        <p:nvSpPr>
          <p:cNvPr id="17" name="Pentagon 23">
            <a:extLst>
              <a:ext uri="{FF2B5EF4-FFF2-40B4-BE49-F238E27FC236}">
                <a16:creationId xmlns:a16="http://schemas.microsoft.com/office/drawing/2014/main" id="{4BFD2657-E128-3806-59C9-784D98EC5F3E}"/>
              </a:ext>
            </a:extLst>
          </p:cNvPr>
          <p:cNvSpPr/>
          <p:nvPr/>
        </p:nvSpPr>
        <p:spPr>
          <a:xfrm>
            <a:off x="1225379" y="6307378"/>
            <a:ext cx="2792097" cy="211747"/>
          </a:xfrm>
          <a:prstGeom prst="homePlate">
            <a:avLst/>
          </a:prstGeom>
          <a:solidFill>
            <a:srgbClr val="BCBD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a:ea typeface="Verdana"/>
                <a:cs typeface="Arial"/>
              </a:rPr>
              <a:t>Manual Data Load (Flat File)</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59" name="Chevron 32">
            <a:extLst>
              <a:ext uri="{FF2B5EF4-FFF2-40B4-BE49-F238E27FC236}">
                <a16:creationId xmlns:a16="http://schemas.microsoft.com/office/drawing/2014/main" id="{3CA3F615-A4C4-7B16-EF32-D8CB9D77F055}"/>
              </a:ext>
            </a:extLst>
          </p:cNvPr>
          <p:cNvSpPr/>
          <p:nvPr/>
        </p:nvSpPr>
        <p:spPr>
          <a:xfrm>
            <a:off x="1236480" y="6621330"/>
            <a:ext cx="7580656" cy="294968"/>
          </a:xfrm>
          <a:prstGeom prst="chevron">
            <a:avLst/>
          </a:prstGeom>
          <a:solidFill>
            <a:srgbClr val="BCBD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a:ea typeface="Verdana"/>
                <a:cs typeface="Arial"/>
              </a:rPr>
              <a:t>Change Management / User Adoption</a:t>
            </a:r>
            <a:endParaRPr lang="en-US">
              <a:solidFill>
                <a:srgbClr val="000000"/>
              </a:solidFill>
              <a:latin typeface="Arial" panose="020B0604020202020204"/>
            </a:endParaRPr>
          </a:p>
        </p:txBody>
      </p:sp>
      <p:grpSp>
        <p:nvGrpSpPr>
          <p:cNvPr id="57" name="Group 56">
            <a:extLst>
              <a:ext uri="{FF2B5EF4-FFF2-40B4-BE49-F238E27FC236}">
                <a16:creationId xmlns:a16="http://schemas.microsoft.com/office/drawing/2014/main" id="{5CB37741-E15B-7A58-8589-CE87BDBF5949}"/>
              </a:ext>
            </a:extLst>
          </p:cNvPr>
          <p:cNvGrpSpPr/>
          <p:nvPr/>
        </p:nvGrpSpPr>
        <p:grpSpPr>
          <a:xfrm>
            <a:off x="130905" y="1310661"/>
            <a:ext cx="1454776" cy="1815568"/>
            <a:chOff x="130905" y="1818662"/>
            <a:chExt cx="1454776" cy="1815568"/>
          </a:xfrm>
        </p:grpSpPr>
        <p:sp>
          <p:nvSpPr>
            <p:cNvPr id="51" name="Pentagon 2">
              <a:extLst>
                <a:ext uri="{FF2B5EF4-FFF2-40B4-BE49-F238E27FC236}">
                  <a16:creationId xmlns:a16="http://schemas.microsoft.com/office/drawing/2014/main" id="{E3E925A3-8053-4776-BEF3-F90F7F609F0E}"/>
                </a:ext>
              </a:extLst>
            </p:cNvPr>
            <p:cNvSpPr/>
            <p:nvPr/>
          </p:nvSpPr>
          <p:spPr>
            <a:xfrm>
              <a:off x="131082" y="2873935"/>
              <a:ext cx="1120600" cy="285784"/>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panose="020B0604020202020204" pitchFamily="34" charset="0"/>
                  <a:ea typeface="Verdana" charset="0"/>
                  <a:cs typeface="Arial" panose="020B0604020202020204" pitchFamily="34" charset="0"/>
                </a:rPr>
                <a:t>Pre-Project</a:t>
              </a:r>
            </a:p>
          </p:txBody>
        </p:sp>
        <p:sp>
          <p:nvSpPr>
            <p:cNvPr id="53" name="Rounded Rectangle 7">
              <a:extLst>
                <a:ext uri="{FF2B5EF4-FFF2-40B4-BE49-F238E27FC236}">
                  <a16:creationId xmlns:a16="http://schemas.microsoft.com/office/drawing/2014/main" id="{25A7F48D-FBA2-7ADA-7A64-919FD76B3117}"/>
                </a:ext>
              </a:extLst>
            </p:cNvPr>
            <p:cNvSpPr/>
            <p:nvPr/>
          </p:nvSpPr>
          <p:spPr>
            <a:xfrm>
              <a:off x="130905" y="3248960"/>
              <a:ext cx="465604" cy="385270"/>
            </a:xfrm>
            <a:prstGeom prst="roundRect">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500">
                  <a:solidFill>
                    <a:srgbClr val="FFFFFF"/>
                  </a:solidFill>
                  <a:latin typeface="Arial" panose="020B0604020202020204" pitchFamily="34" charset="0"/>
                  <a:ea typeface="Verdana" charset="0"/>
                  <a:cs typeface="Arial" panose="020B0604020202020204" pitchFamily="34" charset="0"/>
                </a:rPr>
                <a:t>Scoping</a:t>
              </a:r>
            </a:p>
          </p:txBody>
        </p:sp>
        <p:sp>
          <p:nvSpPr>
            <p:cNvPr id="55" name="Rounded Rectangle 8">
              <a:extLst>
                <a:ext uri="{FF2B5EF4-FFF2-40B4-BE49-F238E27FC236}">
                  <a16:creationId xmlns:a16="http://schemas.microsoft.com/office/drawing/2014/main" id="{9527F68F-0219-F2D0-96FA-C3254C306239}"/>
                </a:ext>
              </a:extLst>
            </p:cNvPr>
            <p:cNvSpPr/>
            <p:nvPr/>
          </p:nvSpPr>
          <p:spPr>
            <a:xfrm>
              <a:off x="666049" y="3246874"/>
              <a:ext cx="465605" cy="387085"/>
            </a:xfrm>
            <a:prstGeom prst="roundRect">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panose="020B0604020202020204" pitchFamily="34" charset="0"/>
                  <a:ea typeface="Verdana" charset="0"/>
                  <a:cs typeface="Arial" panose="020B0604020202020204" pitchFamily="34" charset="0"/>
                </a:rPr>
                <a:t>SOW</a:t>
              </a:r>
            </a:p>
          </p:txBody>
        </p:sp>
        <p:cxnSp>
          <p:nvCxnSpPr>
            <p:cNvPr id="67" name="Straight Arrow Connector 66">
              <a:extLst>
                <a:ext uri="{FF2B5EF4-FFF2-40B4-BE49-F238E27FC236}">
                  <a16:creationId xmlns:a16="http://schemas.microsoft.com/office/drawing/2014/main" id="{26C4B5F1-ECDC-D709-E689-EC8120A32039}"/>
                </a:ext>
              </a:extLst>
            </p:cNvPr>
            <p:cNvCxnSpPr/>
            <p:nvPr/>
          </p:nvCxnSpPr>
          <p:spPr>
            <a:xfrm>
              <a:off x="1088086" y="2486624"/>
              <a:ext cx="835" cy="493076"/>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69" name="Flowchart: Connector 68">
              <a:extLst>
                <a:ext uri="{FF2B5EF4-FFF2-40B4-BE49-F238E27FC236}">
                  <a16:creationId xmlns:a16="http://schemas.microsoft.com/office/drawing/2014/main" id="{C1BF3522-6CE7-10E3-AA10-ED3DD11C0D25}"/>
                </a:ext>
              </a:extLst>
            </p:cNvPr>
            <p:cNvSpPr/>
            <p:nvPr/>
          </p:nvSpPr>
          <p:spPr>
            <a:xfrm>
              <a:off x="859774" y="2051274"/>
              <a:ext cx="457200" cy="457200"/>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pic>
          <p:nvPicPr>
            <p:cNvPr id="71" name="Picture 70" descr="A white and black logo&#10;&#10;AI-generated content may be incorrect.">
              <a:extLst>
                <a:ext uri="{FF2B5EF4-FFF2-40B4-BE49-F238E27FC236}">
                  <a16:creationId xmlns:a16="http://schemas.microsoft.com/office/drawing/2014/main" id="{8592DC55-5150-C093-229E-E57E98986B8F}"/>
                </a:ext>
              </a:extLst>
            </p:cNvPr>
            <p:cNvPicPr>
              <a:picLocks noChangeAspect="1"/>
            </p:cNvPicPr>
            <p:nvPr/>
          </p:nvPicPr>
          <p:blipFill>
            <a:blip r:embed="rId5"/>
            <a:stretch>
              <a:fillRect/>
            </a:stretch>
          </p:blipFill>
          <p:spPr>
            <a:xfrm>
              <a:off x="907399" y="2094137"/>
              <a:ext cx="361950" cy="371475"/>
            </a:xfrm>
            <a:prstGeom prst="rect">
              <a:avLst/>
            </a:prstGeom>
          </p:spPr>
        </p:pic>
        <p:sp>
          <p:nvSpPr>
            <p:cNvPr id="73" name="TextBox 72">
              <a:extLst>
                <a:ext uri="{FF2B5EF4-FFF2-40B4-BE49-F238E27FC236}">
                  <a16:creationId xmlns:a16="http://schemas.microsoft.com/office/drawing/2014/main" id="{139257DF-960A-B0AC-1004-4A9298F94023}"/>
                </a:ext>
              </a:extLst>
            </p:cNvPr>
            <p:cNvSpPr txBox="1"/>
            <p:nvPr/>
          </p:nvSpPr>
          <p:spPr>
            <a:xfrm>
              <a:off x="642204" y="1818662"/>
              <a:ext cx="943477"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GB" sz="900">
                  <a:solidFill>
                    <a:schemeClr val="tx2"/>
                  </a:solidFill>
                  <a:latin typeface="Arial"/>
                  <a:ea typeface="Inter Light" panose="02000503000000020004" pitchFamily="2" charset="0"/>
                  <a:cs typeface="Arial"/>
                </a:rPr>
                <a:t>Project Kick-Off</a:t>
              </a:r>
              <a:endParaRPr lang="en-US" sz="1800"/>
            </a:p>
          </p:txBody>
        </p:sp>
      </p:grpSp>
      <p:sp>
        <p:nvSpPr>
          <p:cNvPr id="2" name="Pentagon 23">
            <a:extLst>
              <a:ext uri="{FF2B5EF4-FFF2-40B4-BE49-F238E27FC236}">
                <a16:creationId xmlns:a16="http://schemas.microsoft.com/office/drawing/2014/main" id="{D8A39427-0229-D8C6-7105-432041654E70}"/>
              </a:ext>
            </a:extLst>
          </p:cNvPr>
          <p:cNvSpPr/>
          <p:nvPr/>
        </p:nvSpPr>
        <p:spPr>
          <a:xfrm>
            <a:off x="197422" y="5928852"/>
            <a:ext cx="3883142" cy="215458"/>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a:ea typeface="Verdana"/>
                <a:cs typeface="Arial"/>
              </a:rPr>
              <a:t>Collection of Gap Items / Parking Lot / Backlog</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4" name="Pentagon 23">
            <a:extLst>
              <a:ext uri="{FF2B5EF4-FFF2-40B4-BE49-F238E27FC236}">
                <a16:creationId xmlns:a16="http://schemas.microsoft.com/office/drawing/2014/main" id="{B25F7AE7-AC30-B5E4-2439-AB35EC52D35F}"/>
              </a:ext>
            </a:extLst>
          </p:cNvPr>
          <p:cNvSpPr/>
          <p:nvPr/>
        </p:nvSpPr>
        <p:spPr>
          <a:xfrm>
            <a:off x="345862" y="6311089"/>
            <a:ext cx="817826" cy="200614"/>
          </a:xfrm>
          <a:prstGeom prst="homePlate">
            <a:avLst/>
          </a:prstGeom>
          <a:solidFill>
            <a:srgbClr val="BCBD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700">
                <a:solidFill>
                  <a:srgbClr val="FFFFFF"/>
                </a:solidFill>
                <a:latin typeface="Arial"/>
                <a:ea typeface="Verdana"/>
                <a:cs typeface="Arial"/>
              </a:rPr>
              <a:t>Data Readiness</a:t>
            </a:r>
            <a:endParaRPr lang="en-US" sz="600">
              <a:solidFill>
                <a:srgbClr val="FFFFFF"/>
              </a:solidFill>
              <a:latin typeface="Arial" panose="020B0604020202020204" pitchFamily="34" charset="0"/>
              <a:ea typeface="Verdana" charset="0"/>
              <a:cs typeface="Arial" panose="020B0604020202020204" pitchFamily="34" charset="0"/>
            </a:endParaRPr>
          </a:p>
        </p:txBody>
      </p:sp>
      <p:sp>
        <p:nvSpPr>
          <p:cNvPr id="8" name="Flowchart: Connector 7">
            <a:extLst>
              <a:ext uri="{FF2B5EF4-FFF2-40B4-BE49-F238E27FC236}">
                <a16:creationId xmlns:a16="http://schemas.microsoft.com/office/drawing/2014/main" id="{B7BBA474-6696-133E-936A-98405F838F55}"/>
              </a:ext>
            </a:extLst>
          </p:cNvPr>
          <p:cNvSpPr/>
          <p:nvPr/>
        </p:nvSpPr>
        <p:spPr>
          <a:xfrm>
            <a:off x="2484409" y="1543273"/>
            <a:ext cx="457200" cy="4572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grpSp>
        <p:nvGrpSpPr>
          <p:cNvPr id="21" name="Group 20">
            <a:extLst>
              <a:ext uri="{FF2B5EF4-FFF2-40B4-BE49-F238E27FC236}">
                <a16:creationId xmlns:a16="http://schemas.microsoft.com/office/drawing/2014/main" id="{44139697-2BF6-7F08-9877-95B00B9433AD}"/>
              </a:ext>
            </a:extLst>
          </p:cNvPr>
          <p:cNvGrpSpPr/>
          <p:nvPr/>
        </p:nvGrpSpPr>
        <p:grpSpPr>
          <a:xfrm>
            <a:off x="1184190" y="1279284"/>
            <a:ext cx="2462158" cy="1859615"/>
            <a:chOff x="1184190" y="1279284"/>
            <a:chExt cx="2462158" cy="1859615"/>
          </a:xfrm>
        </p:grpSpPr>
        <p:sp>
          <p:nvSpPr>
            <p:cNvPr id="31" name="Rounded Rectangle 9">
              <a:extLst>
                <a:ext uri="{FF2B5EF4-FFF2-40B4-BE49-F238E27FC236}">
                  <a16:creationId xmlns:a16="http://schemas.microsoft.com/office/drawing/2014/main" id="{11AAD712-DA01-40BE-95C6-B601E393A3AE}"/>
                </a:ext>
              </a:extLst>
            </p:cNvPr>
            <p:cNvSpPr/>
            <p:nvPr/>
          </p:nvSpPr>
          <p:spPr>
            <a:xfrm>
              <a:off x="2810896" y="2739400"/>
              <a:ext cx="734843" cy="39376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750">
                  <a:solidFill>
                    <a:srgbClr val="FFFFFF"/>
                  </a:solidFill>
                  <a:latin typeface="Arial"/>
                  <a:ea typeface="Verdana"/>
                  <a:cs typeface="Arial"/>
                </a:rPr>
                <a:t>Application Led Design</a:t>
              </a:r>
              <a:endParaRPr lang="en-US" sz="788">
                <a:solidFill>
                  <a:srgbClr val="FFFFFF"/>
                </a:solidFill>
                <a:latin typeface="Arial"/>
                <a:ea typeface="Verdana"/>
                <a:cs typeface="Arial"/>
              </a:endParaRPr>
            </a:p>
          </p:txBody>
        </p:sp>
        <p:sp>
          <p:nvSpPr>
            <p:cNvPr id="3" name="Rounded Rectangle 9">
              <a:extLst>
                <a:ext uri="{FF2B5EF4-FFF2-40B4-BE49-F238E27FC236}">
                  <a16:creationId xmlns:a16="http://schemas.microsoft.com/office/drawing/2014/main" id="{57FE355D-6A46-B20A-3C50-7B33892E8A91}"/>
                </a:ext>
              </a:extLst>
            </p:cNvPr>
            <p:cNvSpPr/>
            <p:nvPr/>
          </p:nvSpPr>
          <p:spPr>
            <a:xfrm>
              <a:off x="1987715" y="2745132"/>
              <a:ext cx="752461" cy="39376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 Iterative App Configuration</a:t>
              </a:r>
            </a:p>
          </p:txBody>
        </p:sp>
        <p:sp>
          <p:nvSpPr>
            <p:cNvPr id="5" name="Rounded Rectangle 11">
              <a:extLst>
                <a:ext uri="{FF2B5EF4-FFF2-40B4-BE49-F238E27FC236}">
                  <a16:creationId xmlns:a16="http://schemas.microsoft.com/office/drawing/2014/main" id="{25AA093E-C29A-0F9B-9673-72969A99CA0A}"/>
                </a:ext>
              </a:extLst>
            </p:cNvPr>
            <p:cNvSpPr/>
            <p:nvPr/>
          </p:nvSpPr>
          <p:spPr>
            <a:xfrm>
              <a:off x="1201092" y="2745131"/>
              <a:ext cx="714917" cy="3937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Data Management</a:t>
              </a:r>
              <a:endParaRPr lang="en-US" sz="800">
                <a:solidFill>
                  <a:srgbClr val="FFFFFF"/>
                </a:solidFill>
                <a:latin typeface="Arial" panose="020B0604020202020204" pitchFamily="34" charset="0"/>
                <a:ea typeface="Verdana" charset="0"/>
                <a:cs typeface="Arial" panose="020B0604020202020204" pitchFamily="34" charset="0"/>
              </a:endParaRPr>
            </a:p>
          </p:txBody>
        </p:sp>
        <p:sp>
          <p:nvSpPr>
            <p:cNvPr id="13" name="Chevron 3">
              <a:extLst>
                <a:ext uri="{FF2B5EF4-FFF2-40B4-BE49-F238E27FC236}">
                  <a16:creationId xmlns:a16="http://schemas.microsoft.com/office/drawing/2014/main" id="{FF9D3567-94CB-4511-F001-84B391928384}"/>
                </a:ext>
              </a:extLst>
            </p:cNvPr>
            <p:cNvSpPr/>
            <p:nvPr/>
          </p:nvSpPr>
          <p:spPr>
            <a:xfrm>
              <a:off x="1184190" y="2368022"/>
              <a:ext cx="2462158" cy="28812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975">
                  <a:solidFill>
                    <a:srgbClr val="FFFFFF"/>
                  </a:solidFill>
                  <a:latin typeface="Arial" panose="020B0604020202020204"/>
                  <a:ea typeface="Verdana"/>
                  <a:cs typeface="Arial"/>
                </a:rPr>
                <a:t>Configuration</a:t>
              </a:r>
              <a:endParaRPr lang="en-US" sz="1000">
                <a:solidFill>
                  <a:srgbClr val="FFFFFF"/>
                </a:solidFill>
                <a:latin typeface="Arial" panose="020B0604020202020204"/>
                <a:ea typeface="Verdana"/>
                <a:cs typeface="Arial"/>
              </a:endParaRPr>
            </a:p>
          </p:txBody>
        </p:sp>
        <p:grpSp>
          <p:nvGrpSpPr>
            <p:cNvPr id="20" name="Group 19">
              <a:extLst>
                <a:ext uri="{FF2B5EF4-FFF2-40B4-BE49-F238E27FC236}">
                  <a16:creationId xmlns:a16="http://schemas.microsoft.com/office/drawing/2014/main" id="{63BFCBBD-8164-229E-BB70-207B575DB74C}"/>
                </a:ext>
              </a:extLst>
            </p:cNvPr>
            <p:cNvGrpSpPr/>
            <p:nvPr/>
          </p:nvGrpSpPr>
          <p:grpSpPr>
            <a:xfrm>
              <a:off x="2178575" y="1279284"/>
              <a:ext cx="1123201" cy="1130078"/>
              <a:chOff x="2178575" y="1279284"/>
              <a:chExt cx="1123201" cy="1130078"/>
            </a:xfrm>
          </p:grpSpPr>
          <p:cxnSp>
            <p:nvCxnSpPr>
              <p:cNvPr id="12" name="Straight Arrow Connector 11">
                <a:extLst>
                  <a:ext uri="{FF2B5EF4-FFF2-40B4-BE49-F238E27FC236}">
                    <a16:creationId xmlns:a16="http://schemas.microsoft.com/office/drawing/2014/main" id="{A9487A6C-9D2B-0BE8-9D22-2F7C3A3030AE}"/>
                  </a:ext>
                </a:extLst>
              </p:cNvPr>
              <p:cNvCxnSpPr/>
              <p:nvPr/>
            </p:nvCxnSpPr>
            <p:spPr>
              <a:xfrm>
                <a:off x="2708105" y="1916286"/>
                <a:ext cx="835" cy="493076"/>
              </a:xfrm>
              <a:prstGeom prst="straightConnector1">
                <a:avLst/>
              </a:prstGeom>
              <a:ln w="25400" cap="rnd">
                <a:solidFill>
                  <a:schemeClr val="accent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5F853ED4-C5B1-3382-7D12-C6E778DB349F}"/>
                  </a:ext>
                </a:extLst>
              </p:cNvPr>
              <p:cNvGrpSpPr/>
              <p:nvPr/>
            </p:nvGrpSpPr>
            <p:grpSpPr>
              <a:xfrm>
                <a:off x="2178575" y="1279284"/>
                <a:ext cx="1123201" cy="666568"/>
                <a:chOff x="2178575" y="1279284"/>
                <a:chExt cx="1123201" cy="666568"/>
              </a:xfrm>
            </p:grpSpPr>
            <p:pic>
              <p:nvPicPr>
                <p:cNvPr id="16" name="Graphic 4">
                  <a:extLst>
                    <a:ext uri="{FF2B5EF4-FFF2-40B4-BE49-F238E27FC236}">
                      <a16:creationId xmlns:a16="http://schemas.microsoft.com/office/drawing/2014/main" id="{742DD62E-0FCD-D164-CE67-55F955866542}"/>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2524421" y="1584291"/>
                  <a:ext cx="361561" cy="361561"/>
                </a:xfrm>
                <a:prstGeom prst="rect">
                  <a:avLst/>
                </a:prstGeom>
              </p:spPr>
            </p:pic>
            <p:sp>
              <p:nvSpPr>
                <p:cNvPr id="18" name="TextBox 17">
                  <a:extLst>
                    <a:ext uri="{FF2B5EF4-FFF2-40B4-BE49-F238E27FC236}">
                      <a16:creationId xmlns:a16="http://schemas.microsoft.com/office/drawing/2014/main" id="{46465A18-0176-421A-FF9B-E5E0FCFEE5D0}"/>
                    </a:ext>
                  </a:extLst>
                </p:cNvPr>
                <p:cNvSpPr txBox="1"/>
                <p:nvPr/>
              </p:nvSpPr>
              <p:spPr>
                <a:xfrm>
                  <a:off x="2178575" y="1279284"/>
                  <a:ext cx="1123201"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GB" sz="900">
                      <a:solidFill>
                        <a:schemeClr val="tx2"/>
                      </a:solidFill>
                      <a:latin typeface="Arial"/>
                      <a:ea typeface="Inter Light" panose="02000503000000020004" pitchFamily="2" charset="0"/>
                      <a:cs typeface="Arial"/>
                    </a:rPr>
                    <a:t>Baseline Application</a:t>
                  </a:r>
                  <a:endParaRPr lang="en-US" sz="1800"/>
                </a:p>
              </p:txBody>
            </p:sp>
          </p:grpSp>
        </p:grpSp>
      </p:grpSp>
      <p:grpSp>
        <p:nvGrpSpPr>
          <p:cNvPr id="82" name="Group 81">
            <a:extLst>
              <a:ext uri="{FF2B5EF4-FFF2-40B4-BE49-F238E27FC236}">
                <a16:creationId xmlns:a16="http://schemas.microsoft.com/office/drawing/2014/main" id="{B81BF7D1-E845-9651-E028-E65DDC42D100}"/>
              </a:ext>
            </a:extLst>
          </p:cNvPr>
          <p:cNvGrpSpPr/>
          <p:nvPr/>
        </p:nvGrpSpPr>
        <p:grpSpPr>
          <a:xfrm>
            <a:off x="3694807" y="2165968"/>
            <a:ext cx="4560747" cy="1873944"/>
            <a:chOff x="3694806" y="2673967"/>
            <a:chExt cx="4560747" cy="1873944"/>
          </a:xfrm>
        </p:grpSpPr>
        <p:cxnSp>
          <p:nvCxnSpPr>
            <p:cNvPr id="83" name="Straight Arrow Connector 82">
              <a:extLst>
                <a:ext uri="{FF2B5EF4-FFF2-40B4-BE49-F238E27FC236}">
                  <a16:creationId xmlns:a16="http://schemas.microsoft.com/office/drawing/2014/main" id="{9A0C76CF-55CD-42C9-4D75-1184A2A88DBA}"/>
                </a:ext>
              </a:extLst>
            </p:cNvPr>
            <p:cNvCxnSpPr/>
            <p:nvPr/>
          </p:nvCxnSpPr>
          <p:spPr>
            <a:xfrm flipH="1">
              <a:off x="7334401" y="3369516"/>
              <a:ext cx="1037" cy="468047"/>
            </a:xfrm>
            <a:prstGeom prst="straightConnector1">
              <a:avLst/>
            </a:prstGeom>
            <a:ln w="25400" cap="rnd">
              <a:solidFill>
                <a:srgbClr val="5B59C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85" name="Flowchart: Connector 84">
              <a:extLst>
                <a:ext uri="{FF2B5EF4-FFF2-40B4-BE49-F238E27FC236}">
                  <a16:creationId xmlns:a16="http://schemas.microsoft.com/office/drawing/2014/main" id="{BB31D22E-F5E6-C2E9-3657-7E7D60A7863E}"/>
                </a:ext>
              </a:extLst>
            </p:cNvPr>
            <p:cNvSpPr/>
            <p:nvPr/>
          </p:nvSpPr>
          <p:spPr>
            <a:xfrm>
              <a:off x="7101759" y="2903688"/>
              <a:ext cx="457200" cy="457200"/>
            </a:xfrm>
            <a:prstGeom prst="flowChartConnector">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grpSp>
          <p:nvGrpSpPr>
            <p:cNvPr id="76" name="Group 75">
              <a:extLst>
                <a:ext uri="{FF2B5EF4-FFF2-40B4-BE49-F238E27FC236}">
                  <a16:creationId xmlns:a16="http://schemas.microsoft.com/office/drawing/2014/main" id="{F9A05058-A833-C44A-2660-83E8274AE806}"/>
                </a:ext>
              </a:extLst>
            </p:cNvPr>
            <p:cNvGrpSpPr/>
            <p:nvPr/>
          </p:nvGrpSpPr>
          <p:grpSpPr>
            <a:xfrm>
              <a:off x="3694806" y="2673967"/>
              <a:ext cx="4560747" cy="1873944"/>
              <a:chOff x="3694806" y="2673967"/>
              <a:chExt cx="4560747" cy="1873944"/>
            </a:xfrm>
          </p:grpSpPr>
          <p:cxnSp>
            <p:nvCxnSpPr>
              <p:cNvPr id="42" name="Connector: Elbow 41">
                <a:extLst>
                  <a:ext uri="{FF2B5EF4-FFF2-40B4-BE49-F238E27FC236}">
                    <a16:creationId xmlns:a16="http://schemas.microsoft.com/office/drawing/2014/main" id="{57212FF8-6722-921D-9D78-1A104F71B398}"/>
                  </a:ext>
                </a:extLst>
              </p:cNvPr>
              <p:cNvCxnSpPr>
                <a:cxnSpLocks/>
                <a:endCxn id="35" idx="1"/>
              </p:cNvCxnSpPr>
              <p:nvPr/>
            </p:nvCxnSpPr>
            <p:spPr>
              <a:xfrm>
                <a:off x="3694806" y="3017918"/>
                <a:ext cx="262366" cy="906461"/>
              </a:xfrm>
              <a:prstGeom prst="bentConnector3">
                <a:avLst>
                  <a:gd name="adj1" fmla="val 11926"/>
                </a:avLst>
              </a:prstGeom>
              <a:ln w="25400" cap="rnd">
                <a:solidFill>
                  <a:schemeClr val="accent2">
                    <a:lumMod val="20000"/>
                    <a:lumOff val="80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72E6FBC7-14B3-F387-CF00-8AE3E65B11B6}"/>
                  </a:ext>
                </a:extLst>
              </p:cNvPr>
              <p:cNvSpPr txBox="1"/>
              <p:nvPr/>
            </p:nvSpPr>
            <p:spPr>
              <a:xfrm>
                <a:off x="4366163" y="3574818"/>
                <a:ext cx="1355628"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r>
                  <a:rPr lang="en-US" sz="900">
                    <a:solidFill>
                      <a:srgbClr val="000000"/>
                    </a:solidFill>
                    <a:latin typeface="Arial" panose="020B0604020202020204"/>
                    <a:ea typeface="Verdana"/>
                    <a:cs typeface="Arial"/>
                  </a:rPr>
                  <a:t>Iterative Extension</a:t>
                </a:r>
                <a:endParaRPr lang="en-US" sz="900">
                  <a:solidFill>
                    <a:srgbClr val="000000"/>
                  </a:solidFill>
                  <a:latin typeface="Arial" panose="020B0604020202020204"/>
                  <a:cs typeface="Arial" panose="020B0604020202020204"/>
                </a:endParaRPr>
              </a:p>
            </p:txBody>
          </p:sp>
          <p:cxnSp>
            <p:nvCxnSpPr>
              <p:cNvPr id="90" name="Straight Arrow Connector 89">
                <a:extLst>
                  <a:ext uri="{FF2B5EF4-FFF2-40B4-BE49-F238E27FC236}">
                    <a16:creationId xmlns:a16="http://schemas.microsoft.com/office/drawing/2014/main" id="{9FE57EDE-E07F-0067-D8F8-DA9AFF1FFE65}"/>
                  </a:ext>
                </a:extLst>
              </p:cNvPr>
              <p:cNvCxnSpPr>
                <a:cxnSpLocks/>
              </p:cNvCxnSpPr>
              <p:nvPr/>
            </p:nvCxnSpPr>
            <p:spPr>
              <a:xfrm flipH="1">
                <a:off x="5280913" y="4044393"/>
                <a:ext cx="1037" cy="468047"/>
              </a:xfrm>
              <a:prstGeom prst="straightConnector1">
                <a:avLst/>
              </a:prstGeom>
              <a:ln w="25400" cap="rnd">
                <a:solidFill>
                  <a:srgbClr val="BCBDF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13">
                <a:extLst>
                  <a:ext uri="{FF2B5EF4-FFF2-40B4-BE49-F238E27FC236}">
                    <a16:creationId xmlns:a16="http://schemas.microsoft.com/office/drawing/2014/main" id="{9F3ED861-85C7-7B7A-5B89-22B69B6BAFDB}"/>
                  </a:ext>
                </a:extLst>
              </p:cNvPr>
              <p:cNvSpPr/>
              <p:nvPr/>
            </p:nvSpPr>
            <p:spPr>
              <a:xfrm>
                <a:off x="5471220" y="4151773"/>
                <a:ext cx="616804" cy="396138"/>
              </a:xfrm>
              <a:prstGeom prst="roundRect">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Training</a:t>
                </a:r>
                <a:endParaRPr lang="en-US" sz="800">
                  <a:solidFill>
                    <a:srgbClr val="FFFFFF"/>
                  </a:solidFill>
                  <a:latin typeface="Arial" panose="020B0604020202020204" pitchFamily="34" charset="0"/>
                  <a:ea typeface="Verdana" charset="0"/>
                  <a:cs typeface="Arial" panose="020B0604020202020204" pitchFamily="34" charset="0"/>
                </a:endParaRPr>
              </a:p>
            </p:txBody>
          </p:sp>
          <p:sp>
            <p:nvSpPr>
              <p:cNvPr id="35" name="Chevron 3">
                <a:extLst>
                  <a:ext uri="{FF2B5EF4-FFF2-40B4-BE49-F238E27FC236}">
                    <a16:creationId xmlns:a16="http://schemas.microsoft.com/office/drawing/2014/main" id="{6C1B4978-A682-58E7-0A3B-86D528016E49}"/>
                  </a:ext>
                </a:extLst>
              </p:cNvPr>
              <p:cNvSpPr/>
              <p:nvPr/>
            </p:nvSpPr>
            <p:spPr>
              <a:xfrm>
                <a:off x="3815195" y="3782402"/>
                <a:ext cx="867990" cy="283953"/>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975">
                    <a:solidFill>
                      <a:srgbClr val="FFFFFF"/>
                    </a:solidFill>
                    <a:latin typeface="Arial" panose="020B0604020202020204"/>
                    <a:ea typeface="Verdana"/>
                    <a:cs typeface="Arial"/>
                  </a:rPr>
                  <a:t>Ext. Design</a:t>
                </a:r>
              </a:p>
            </p:txBody>
          </p:sp>
          <p:sp>
            <p:nvSpPr>
              <p:cNvPr id="37" name="Chevron 32">
                <a:extLst>
                  <a:ext uri="{FF2B5EF4-FFF2-40B4-BE49-F238E27FC236}">
                    <a16:creationId xmlns:a16="http://schemas.microsoft.com/office/drawing/2014/main" id="{61E78F10-6B89-61AE-BDFA-AAAAD39E0912}"/>
                  </a:ext>
                </a:extLst>
              </p:cNvPr>
              <p:cNvSpPr/>
              <p:nvPr/>
            </p:nvSpPr>
            <p:spPr>
              <a:xfrm>
                <a:off x="5491265" y="3778231"/>
                <a:ext cx="1373417" cy="294968"/>
              </a:xfrm>
              <a:prstGeom prst="chevron">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a:ea typeface="Verdana"/>
                    <a:cs typeface="Arial"/>
                  </a:rPr>
                  <a:t>Testing</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39" name="Rounded Rectangle 13">
                <a:extLst>
                  <a:ext uri="{FF2B5EF4-FFF2-40B4-BE49-F238E27FC236}">
                    <a16:creationId xmlns:a16="http://schemas.microsoft.com/office/drawing/2014/main" id="{E708D4CB-E9B3-6E71-DB9A-3C538EDCB059}"/>
                  </a:ext>
                </a:extLst>
              </p:cNvPr>
              <p:cNvSpPr/>
              <p:nvPr/>
            </p:nvSpPr>
            <p:spPr>
              <a:xfrm>
                <a:off x="6131703" y="4151773"/>
                <a:ext cx="591775" cy="396138"/>
              </a:xfrm>
              <a:prstGeom prst="roundRect">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UAT</a:t>
                </a:r>
                <a:endParaRPr lang="en-US" sz="800">
                  <a:solidFill>
                    <a:srgbClr val="FFFFFF"/>
                  </a:solidFill>
                  <a:latin typeface="Arial" panose="020B0604020202020204" pitchFamily="34" charset="0"/>
                  <a:ea typeface="Verdana" charset="0"/>
                  <a:cs typeface="Arial" panose="020B0604020202020204" pitchFamily="34" charset="0"/>
                </a:endParaRPr>
              </a:p>
            </p:txBody>
          </p:sp>
          <p:sp>
            <p:nvSpPr>
              <p:cNvPr id="41" name="Chevron 6">
                <a:extLst>
                  <a:ext uri="{FF2B5EF4-FFF2-40B4-BE49-F238E27FC236}">
                    <a16:creationId xmlns:a16="http://schemas.microsoft.com/office/drawing/2014/main" id="{CFF6AEFD-14E4-2340-24C6-BA3B4EA89915}"/>
                  </a:ext>
                </a:extLst>
              </p:cNvPr>
              <p:cNvSpPr/>
              <p:nvPr/>
            </p:nvSpPr>
            <p:spPr>
              <a:xfrm>
                <a:off x="6793546" y="3773218"/>
                <a:ext cx="873282" cy="289005"/>
              </a:xfrm>
              <a:prstGeom prst="chevron">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079"/>
                <a:r>
                  <a:rPr lang="en-US" sz="1000">
                    <a:solidFill>
                      <a:srgbClr val="FFFFFF"/>
                    </a:solidFill>
                    <a:latin typeface="Arial"/>
                    <a:ea typeface="Verdana"/>
                    <a:cs typeface="Arial"/>
                  </a:rPr>
                  <a:t>Deploy</a:t>
                </a:r>
              </a:p>
            </p:txBody>
          </p:sp>
          <p:sp>
            <p:nvSpPr>
              <p:cNvPr id="43" name="Rounded Rectangle 13">
                <a:extLst>
                  <a:ext uri="{FF2B5EF4-FFF2-40B4-BE49-F238E27FC236}">
                    <a16:creationId xmlns:a16="http://schemas.microsoft.com/office/drawing/2014/main" id="{64AA6E0B-88BE-4990-C28E-36A7875DD4FF}"/>
                  </a:ext>
                </a:extLst>
              </p:cNvPr>
              <p:cNvSpPr/>
              <p:nvPr/>
            </p:nvSpPr>
            <p:spPr>
              <a:xfrm>
                <a:off x="6808872" y="4151773"/>
                <a:ext cx="769147" cy="396138"/>
              </a:xfrm>
              <a:prstGeom prst="roundRect">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Post Deploy Support</a:t>
                </a:r>
                <a:endParaRPr lang="en-US" sz="800">
                  <a:solidFill>
                    <a:srgbClr val="FFFFFF"/>
                  </a:solidFill>
                  <a:latin typeface="Arial" panose="020B0604020202020204" pitchFamily="34" charset="0"/>
                  <a:ea typeface="Verdana" charset="0"/>
                  <a:cs typeface="Arial" panose="020B0604020202020204" pitchFamily="34" charset="0"/>
                </a:endParaRPr>
              </a:p>
            </p:txBody>
          </p:sp>
          <p:sp>
            <p:nvSpPr>
              <p:cNvPr id="45" name="Rounded Rectangle 9">
                <a:extLst>
                  <a:ext uri="{FF2B5EF4-FFF2-40B4-BE49-F238E27FC236}">
                    <a16:creationId xmlns:a16="http://schemas.microsoft.com/office/drawing/2014/main" id="{425CB329-3494-A4E9-941F-E2708E0FFBBA}"/>
                  </a:ext>
                </a:extLst>
              </p:cNvPr>
              <p:cNvSpPr/>
              <p:nvPr/>
            </p:nvSpPr>
            <p:spPr>
              <a:xfrm>
                <a:off x="3791503" y="4153860"/>
                <a:ext cx="750457" cy="39376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User</a:t>
                </a:r>
                <a:endParaRPr lang="en-US">
                  <a:solidFill>
                    <a:srgbClr val="000000"/>
                  </a:solidFill>
                  <a:latin typeface="Arial"/>
                  <a:ea typeface="Verdana"/>
                  <a:cs typeface="Arial"/>
                </a:endParaRPr>
              </a:p>
              <a:p>
                <a:pPr algn="ctr" defTabSz="914310">
                  <a:defRPr/>
                </a:pPr>
                <a:r>
                  <a:rPr lang="en-US" sz="800">
                    <a:solidFill>
                      <a:srgbClr val="FFFFFF"/>
                    </a:solidFill>
                    <a:latin typeface="Arial"/>
                    <a:ea typeface="Verdana"/>
                    <a:cs typeface="Arial"/>
                  </a:rPr>
                  <a:t>Stories</a:t>
                </a:r>
                <a:endParaRPr lang="en-US">
                  <a:solidFill>
                    <a:srgbClr val="000000"/>
                  </a:solidFill>
                  <a:latin typeface="Arial" panose="020B0604020202020204"/>
                  <a:cs typeface="Arial"/>
                </a:endParaRPr>
              </a:p>
            </p:txBody>
          </p:sp>
          <p:sp>
            <p:nvSpPr>
              <p:cNvPr id="47" name="Rounded Rectangle 13">
                <a:extLst>
                  <a:ext uri="{FF2B5EF4-FFF2-40B4-BE49-F238E27FC236}">
                    <a16:creationId xmlns:a16="http://schemas.microsoft.com/office/drawing/2014/main" id="{F319133B-E166-EC7A-5E39-ACE9BD12B6E7}"/>
                  </a:ext>
                </a:extLst>
              </p:cNvPr>
              <p:cNvSpPr/>
              <p:nvPr/>
            </p:nvSpPr>
            <p:spPr>
              <a:xfrm>
                <a:off x="4627190" y="4151773"/>
                <a:ext cx="744519" cy="396138"/>
              </a:xfrm>
              <a:prstGeom prst="roundRect">
                <a:avLst/>
              </a:prstGeom>
              <a:solidFill>
                <a:srgbClr val="BCBD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Sprint(s)</a:t>
                </a:r>
              </a:p>
            </p:txBody>
          </p:sp>
          <p:sp>
            <p:nvSpPr>
              <p:cNvPr id="49" name="Chevron 32">
                <a:extLst>
                  <a:ext uri="{FF2B5EF4-FFF2-40B4-BE49-F238E27FC236}">
                    <a16:creationId xmlns:a16="http://schemas.microsoft.com/office/drawing/2014/main" id="{4BB7D2EE-C9CC-2D66-3356-61EAA826A70C}"/>
                  </a:ext>
                </a:extLst>
              </p:cNvPr>
              <p:cNvSpPr/>
              <p:nvPr/>
            </p:nvSpPr>
            <p:spPr>
              <a:xfrm>
                <a:off x="4642802" y="3778231"/>
                <a:ext cx="889519" cy="294968"/>
              </a:xfrm>
              <a:prstGeom prst="chevron">
                <a:avLst/>
              </a:prstGeom>
              <a:solidFill>
                <a:srgbClr val="BCBDF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975">
                    <a:solidFill>
                      <a:srgbClr val="FFFFFF"/>
                    </a:solidFill>
                    <a:latin typeface="Arial"/>
                    <a:ea typeface="Verdana"/>
                    <a:cs typeface="Arial"/>
                  </a:rPr>
                  <a:t>Etx. Build</a:t>
                </a:r>
                <a:endParaRPr lang="en-US" sz="975">
                  <a:solidFill>
                    <a:srgbClr val="FFFFFF"/>
                  </a:solidFill>
                  <a:latin typeface="Arial" panose="020B0604020202020204" pitchFamily="34" charset="0"/>
                  <a:ea typeface="Verdana" charset="0"/>
                  <a:cs typeface="Arial" panose="020B0604020202020204" pitchFamily="34" charset="0"/>
                </a:endParaRPr>
              </a:p>
            </p:txBody>
          </p:sp>
          <p:pic>
            <p:nvPicPr>
              <p:cNvPr id="87" name="Picture 86" descr="A white logo with a black background&#10;&#10;AI-generated content may be incorrect.">
                <a:extLst>
                  <a:ext uri="{FF2B5EF4-FFF2-40B4-BE49-F238E27FC236}">
                    <a16:creationId xmlns:a16="http://schemas.microsoft.com/office/drawing/2014/main" id="{9674093C-B6CD-6801-F996-B436D5471D0C}"/>
                  </a:ext>
                </a:extLst>
              </p:cNvPr>
              <p:cNvPicPr>
                <a:picLocks noChangeAspect="1"/>
              </p:cNvPicPr>
              <p:nvPr/>
            </p:nvPicPr>
            <p:blipFill>
              <a:blip r:embed="rId7"/>
              <a:stretch>
                <a:fillRect/>
              </a:stretch>
            </p:blipFill>
            <p:spPr>
              <a:xfrm>
                <a:off x="7149386" y="2946302"/>
                <a:ext cx="361950" cy="361950"/>
              </a:xfrm>
              <a:prstGeom prst="rect">
                <a:avLst/>
              </a:prstGeom>
            </p:spPr>
          </p:pic>
          <p:sp>
            <p:nvSpPr>
              <p:cNvPr id="89" name="TextBox 88">
                <a:extLst>
                  <a:ext uri="{FF2B5EF4-FFF2-40B4-BE49-F238E27FC236}">
                    <a16:creationId xmlns:a16="http://schemas.microsoft.com/office/drawing/2014/main" id="{4FCC5E81-F259-BDEC-35CE-D58BA529A65E}"/>
                  </a:ext>
                </a:extLst>
              </p:cNvPr>
              <p:cNvSpPr txBox="1"/>
              <p:nvPr/>
            </p:nvSpPr>
            <p:spPr>
              <a:xfrm>
                <a:off x="6550759" y="2673967"/>
                <a:ext cx="1704794"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GB" sz="900">
                    <a:solidFill>
                      <a:schemeClr val="tx2"/>
                    </a:solidFill>
                    <a:latin typeface="Arial"/>
                    <a:cs typeface="Arial"/>
                  </a:rPr>
                  <a:t>Extended Application Go-Live</a:t>
                </a:r>
                <a:endParaRPr lang="en-GB" sz="900">
                  <a:solidFill>
                    <a:schemeClr val="tx2"/>
                  </a:solidFill>
                  <a:cs typeface="Arial"/>
                </a:endParaRPr>
              </a:p>
            </p:txBody>
          </p:sp>
          <p:sp>
            <p:nvSpPr>
              <p:cNvPr id="91" name="Flowchart: Connector 90">
                <a:extLst>
                  <a:ext uri="{FF2B5EF4-FFF2-40B4-BE49-F238E27FC236}">
                    <a16:creationId xmlns:a16="http://schemas.microsoft.com/office/drawing/2014/main" id="{B59E2629-18C4-8902-C8FC-3B7A4DF0260F}"/>
                  </a:ext>
                </a:extLst>
              </p:cNvPr>
              <p:cNvSpPr/>
              <p:nvPr/>
            </p:nvSpPr>
            <p:spPr>
              <a:xfrm>
                <a:off x="4790511" y="3157685"/>
                <a:ext cx="457200" cy="457200"/>
              </a:xfrm>
              <a:prstGeom prst="flowChartConnector">
                <a:avLst/>
              </a:prstGeom>
              <a:solidFill>
                <a:srgbClr val="BCBDF6"/>
              </a:solidFill>
              <a:ln>
                <a:solidFill>
                  <a:srgbClr val="BCBD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pic>
            <p:nvPicPr>
              <p:cNvPr id="93" name="Picture 92" descr="A white arrows in a circle&#10;&#10;AI-generated content may be incorrect.">
                <a:extLst>
                  <a:ext uri="{FF2B5EF4-FFF2-40B4-BE49-F238E27FC236}">
                    <a16:creationId xmlns:a16="http://schemas.microsoft.com/office/drawing/2014/main" id="{584C8BDB-F82F-9BED-23E3-006A5AB9BA58}"/>
                  </a:ext>
                </a:extLst>
              </p:cNvPr>
              <p:cNvPicPr>
                <a:picLocks noChangeAspect="1"/>
              </p:cNvPicPr>
              <p:nvPr/>
            </p:nvPicPr>
            <p:blipFill>
              <a:blip r:embed="rId8"/>
              <a:stretch>
                <a:fillRect/>
              </a:stretch>
            </p:blipFill>
            <p:spPr>
              <a:xfrm>
                <a:off x="4856955" y="3224127"/>
                <a:ext cx="375829" cy="371475"/>
              </a:xfrm>
              <a:prstGeom prst="rect">
                <a:avLst/>
              </a:prstGeom>
            </p:spPr>
          </p:pic>
        </p:grpSp>
        <p:sp>
          <p:nvSpPr>
            <p:cNvPr id="54" name="TextBox 53">
              <a:extLst>
                <a:ext uri="{FF2B5EF4-FFF2-40B4-BE49-F238E27FC236}">
                  <a16:creationId xmlns:a16="http://schemas.microsoft.com/office/drawing/2014/main" id="{07A6BD8D-0894-E5B9-B57A-CC4EDCC94FB3}"/>
                </a:ext>
              </a:extLst>
            </p:cNvPr>
            <p:cNvSpPr txBox="1"/>
            <p:nvPr/>
          </p:nvSpPr>
          <p:spPr>
            <a:xfrm>
              <a:off x="3816170" y="3400348"/>
              <a:ext cx="975316" cy="200055"/>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700">
                  <a:solidFill>
                    <a:schemeClr val="tx2"/>
                  </a:solidFill>
                  <a:latin typeface="Arial" panose="020B0604020202020204" pitchFamily="34" charset="0"/>
                  <a:ea typeface="Inter Light" panose="02000503000000020004" pitchFamily="2" charset="0"/>
                  <a:cs typeface="Arial" panose="020B0604020202020204" pitchFamily="34" charset="0"/>
                </a:rPr>
                <a:t>Extensions Identified</a:t>
              </a:r>
            </a:p>
          </p:txBody>
        </p:sp>
      </p:grpSp>
      <p:grpSp>
        <p:nvGrpSpPr>
          <p:cNvPr id="74" name="Group 73">
            <a:extLst>
              <a:ext uri="{FF2B5EF4-FFF2-40B4-BE49-F238E27FC236}">
                <a16:creationId xmlns:a16="http://schemas.microsoft.com/office/drawing/2014/main" id="{5F63A952-D98A-98EC-6EBF-6BD629201380}"/>
              </a:ext>
            </a:extLst>
          </p:cNvPr>
          <p:cNvGrpSpPr/>
          <p:nvPr/>
        </p:nvGrpSpPr>
        <p:grpSpPr>
          <a:xfrm>
            <a:off x="3705922" y="250094"/>
            <a:ext cx="2863406" cy="2258990"/>
            <a:chOff x="3694806" y="758928"/>
            <a:chExt cx="2863406" cy="2258990"/>
          </a:xfrm>
        </p:grpSpPr>
        <p:cxnSp>
          <p:nvCxnSpPr>
            <p:cNvPr id="22" name="Connector: Elbow 21">
              <a:extLst>
                <a:ext uri="{FF2B5EF4-FFF2-40B4-BE49-F238E27FC236}">
                  <a16:creationId xmlns:a16="http://schemas.microsoft.com/office/drawing/2014/main" id="{10F08DF5-7F53-E764-F863-EC7EE4284AB8}"/>
                </a:ext>
              </a:extLst>
            </p:cNvPr>
            <p:cNvCxnSpPr>
              <a:cxnSpLocks/>
              <a:endCxn id="15" idx="1"/>
            </p:cNvCxnSpPr>
            <p:nvPr/>
          </p:nvCxnSpPr>
          <p:spPr>
            <a:xfrm flipV="1">
              <a:off x="3694806" y="1949587"/>
              <a:ext cx="209870" cy="1068331"/>
            </a:xfrm>
            <a:prstGeom prst="bentConnector3">
              <a:avLst>
                <a:gd name="adj1" fmla="val 13386"/>
              </a:avLst>
            </a:prstGeom>
            <a:ln w="25400" cap="rnd">
              <a:solidFill>
                <a:schemeClr val="accent2">
                  <a:lumMod val="20000"/>
                  <a:lumOff val="80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9" name="Group 28">
              <a:extLst>
                <a:ext uri="{FF2B5EF4-FFF2-40B4-BE49-F238E27FC236}">
                  <a16:creationId xmlns:a16="http://schemas.microsoft.com/office/drawing/2014/main" id="{EB8E8DFA-6BBE-D35F-2710-01F9223C8D6D}"/>
                </a:ext>
              </a:extLst>
            </p:cNvPr>
            <p:cNvGrpSpPr/>
            <p:nvPr/>
          </p:nvGrpSpPr>
          <p:grpSpPr>
            <a:xfrm>
              <a:off x="3757192" y="983613"/>
              <a:ext cx="2224108" cy="1595450"/>
              <a:chOff x="3286161" y="820477"/>
              <a:chExt cx="2224108" cy="1595450"/>
            </a:xfrm>
          </p:grpSpPr>
          <p:sp>
            <p:nvSpPr>
              <p:cNvPr id="7" name="Rounded Rectangle 13">
                <a:extLst>
                  <a:ext uri="{FF2B5EF4-FFF2-40B4-BE49-F238E27FC236}">
                    <a16:creationId xmlns:a16="http://schemas.microsoft.com/office/drawing/2014/main" id="{123ABB27-5C3E-1BCF-60D9-8D5FD07F9DD8}"/>
                  </a:ext>
                </a:extLst>
              </p:cNvPr>
              <p:cNvSpPr/>
              <p:nvPr/>
            </p:nvSpPr>
            <p:spPr>
              <a:xfrm>
                <a:off x="3936293" y="2016078"/>
                <a:ext cx="593943" cy="396138"/>
              </a:xfrm>
              <a:prstGeom prst="roundRect">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Training</a:t>
                </a:r>
                <a:endParaRPr lang="en-US" sz="800">
                  <a:solidFill>
                    <a:srgbClr val="FFFFFF"/>
                  </a:solidFill>
                  <a:latin typeface="Arial" panose="020B0604020202020204" pitchFamily="34" charset="0"/>
                  <a:ea typeface="Verdana" charset="0"/>
                  <a:cs typeface="Arial" panose="020B0604020202020204" pitchFamily="34" charset="0"/>
                </a:endParaRPr>
              </a:p>
            </p:txBody>
          </p:sp>
          <p:sp>
            <p:nvSpPr>
              <p:cNvPr id="15" name="Chevron 32">
                <a:extLst>
                  <a:ext uri="{FF2B5EF4-FFF2-40B4-BE49-F238E27FC236}">
                    <a16:creationId xmlns:a16="http://schemas.microsoft.com/office/drawing/2014/main" id="{78E7D7AE-8480-21EE-2FCA-6C956E180A11}"/>
                  </a:ext>
                </a:extLst>
              </p:cNvPr>
              <p:cNvSpPr/>
              <p:nvPr/>
            </p:nvSpPr>
            <p:spPr>
              <a:xfrm>
                <a:off x="3286161" y="1638967"/>
                <a:ext cx="1381760" cy="294968"/>
              </a:xfrm>
              <a:prstGeom prst="chevron">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1000">
                    <a:solidFill>
                      <a:srgbClr val="FFFFFF"/>
                    </a:solidFill>
                    <a:latin typeface="Arial"/>
                    <a:ea typeface="Verdana"/>
                    <a:cs typeface="Arial"/>
                  </a:rPr>
                  <a:t>Testing</a:t>
                </a:r>
                <a:endParaRPr lang="en-US" sz="1000">
                  <a:solidFill>
                    <a:srgbClr val="FFFFFF"/>
                  </a:solidFill>
                  <a:latin typeface="Arial" panose="020B0604020202020204" pitchFamily="34" charset="0"/>
                  <a:ea typeface="Verdana" charset="0"/>
                  <a:cs typeface="Arial" panose="020B0604020202020204" pitchFamily="34" charset="0"/>
                </a:endParaRPr>
              </a:p>
            </p:txBody>
          </p:sp>
          <p:sp>
            <p:nvSpPr>
              <p:cNvPr id="23" name="Rounded Rectangle 13">
                <a:extLst>
                  <a:ext uri="{FF2B5EF4-FFF2-40B4-BE49-F238E27FC236}">
                    <a16:creationId xmlns:a16="http://schemas.microsoft.com/office/drawing/2014/main" id="{5E032BC4-7E7D-35D5-8971-EB39F8040103}"/>
                  </a:ext>
                </a:extLst>
              </p:cNvPr>
              <p:cNvSpPr/>
              <p:nvPr/>
            </p:nvSpPr>
            <p:spPr>
              <a:xfrm>
                <a:off x="3286654" y="2019789"/>
                <a:ext cx="591775" cy="396138"/>
              </a:xfrm>
              <a:prstGeom prst="roundRect">
                <a:avLst/>
              </a:prstGeom>
              <a:solidFill>
                <a:srgbClr val="FF620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UAT</a:t>
                </a:r>
                <a:endParaRPr lang="en-US" sz="800">
                  <a:solidFill>
                    <a:srgbClr val="FFFFFF"/>
                  </a:solidFill>
                  <a:latin typeface="Arial" panose="020B0604020202020204" pitchFamily="34" charset="0"/>
                  <a:ea typeface="Verdana" charset="0"/>
                  <a:cs typeface="Arial" panose="020B0604020202020204" pitchFamily="34" charset="0"/>
                </a:endParaRPr>
              </a:p>
            </p:txBody>
          </p:sp>
          <p:sp>
            <p:nvSpPr>
              <p:cNvPr id="25" name="Chevron 6">
                <a:extLst>
                  <a:ext uri="{FF2B5EF4-FFF2-40B4-BE49-F238E27FC236}">
                    <a16:creationId xmlns:a16="http://schemas.microsoft.com/office/drawing/2014/main" id="{5D817419-3C51-2FEE-BA44-B1D6B8221A6D}"/>
                  </a:ext>
                </a:extLst>
              </p:cNvPr>
              <p:cNvSpPr/>
              <p:nvPr/>
            </p:nvSpPr>
            <p:spPr>
              <a:xfrm>
                <a:off x="4603469" y="1638968"/>
                <a:ext cx="906800" cy="296506"/>
              </a:xfrm>
              <a:prstGeom prst="chevron">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079"/>
                <a:r>
                  <a:rPr lang="en-US" sz="800">
                    <a:solidFill>
                      <a:srgbClr val="FFFFFF"/>
                    </a:solidFill>
                    <a:latin typeface="Arial"/>
                    <a:ea typeface="Verdana"/>
                    <a:cs typeface="Arial"/>
                  </a:rPr>
                  <a:t>Deploy</a:t>
                </a:r>
              </a:p>
            </p:txBody>
          </p:sp>
          <p:sp>
            <p:nvSpPr>
              <p:cNvPr id="27" name="Rounded Rectangle 13">
                <a:extLst>
                  <a:ext uri="{FF2B5EF4-FFF2-40B4-BE49-F238E27FC236}">
                    <a16:creationId xmlns:a16="http://schemas.microsoft.com/office/drawing/2014/main" id="{A36891C1-AD2B-8EAA-E595-86D3C2BE8AAE}"/>
                  </a:ext>
                </a:extLst>
              </p:cNvPr>
              <p:cNvSpPr/>
              <p:nvPr/>
            </p:nvSpPr>
            <p:spPr>
              <a:xfrm>
                <a:off x="4641092" y="2010160"/>
                <a:ext cx="769147" cy="396138"/>
              </a:xfrm>
              <a:prstGeom prst="roundRect">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10">
                  <a:defRPr/>
                </a:pPr>
                <a:r>
                  <a:rPr lang="en-US" sz="800">
                    <a:solidFill>
                      <a:srgbClr val="FFFFFF"/>
                    </a:solidFill>
                    <a:latin typeface="Arial"/>
                    <a:ea typeface="Verdana"/>
                    <a:cs typeface="Arial"/>
                  </a:rPr>
                  <a:t>Post Deploy Support</a:t>
                </a:r>
                <a:endParaRPr lang="en-US" sz="800">
                  <a:solidFill>
                    <a:srgbClr val="FFFFFF"/>
                  </a:solidFill>
                  <a:latin typeface="Arial" panose="020B0604020202020204" pitchFamily="34" charset="0"/>
                  <a:ea typeface="Verdana" charset="0"/>
                  <a:cs typeface="Arial" panose="020B0604020202020204" pitchFamily="34" charset="0"/>
                </a:endParaRPr>
              </a:p>
            </p:txBody>
          </p:sp>
          <p:cxnSp>
            <p:nvCxnSpPr>
              <p:cNvPr id="75" name="Straight Arrow Connector 74">
                <a:extLst>
                  <a:ext uri="{FF2B5EF4-FFF2-40B4-BE49-F238E27FC236}">
                    <a16:creationId xmlns:a16="http://schemas.microsoft.com/office/drawing/2014/main" id="{A5A51977-7189-AA77-F9A4-2B08ECABD5E4}"/>
                  </a:ext>
                </a:extLst>
              </p:cNvPr>
              <p:cNvCxnSpPr/>
              <p:nvPr/>
            </p:nvCxnSpPr>
            <p:spPr>
              <a:xfrm flipH="1">
                <a:off x="5241037" y="1277729"/>
                <a:ext cx="3336" cy="463875"/>
              </a:xfrm>
              <a:prstGeom prst="straightConnector1">
                <a:avLst/>
              </a:prstGeom>
              <a:ln w="25400" cap="rnd">
                <a:solidFill>
                  <a:srgbClr val="5B59C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7" name="Flowchart: Connector 76">
                <a:extLst>
                  <a:ext uri="{FF2B5EF4-FFF2-40B4-BE49-F238E27FC236}">
                    <a16:creationId xmlns:a16="http://schemas.microsoft.com/office/drawing/2014/main" id="{A891DA61-022F-74AC-367D-72E054B6D9DF}"/>
                  </a:ext>
                </a:extLst>
              </p:cNvPr>
              <p:cNvSpPr/>
              <p:nvPr/>
            </p:nvSpPr>
            <p:spPr>
              <a:xfrm>
                <a:off x="5015640" y="820477"/>
                <a:ext cx="457200" cy="457200"/>
              </a:xfrm>
              <a:prstGeom prst="flowChartConnector">
                <a:avLst/>
              </a:prstGeom>
              <a:solidFill>
                <a:srgbClr val="5B59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pic>
            <p:nvPicPr>
              <p:cNvPr id="79" name="Picture 78" descr="A white gear with a check mark&#10;&#10;AI-generated content may be incorrect.">
                <a:extLst>
                  <a:ext uri="{FF2B5EF4-FFF2-40B4-BE49-F238E27FC236}">
                    <a16:creationId xmlns:a16="http://schemas.microsoft.com/office/drawing/2014/main" id="{FE0B4F0F-64C6-7D78-60A3-E195105FC86F}"/>
                  </a:ext>
                </a:extLst>
              </p:cNvPr>
              <p:cNvPicPr>
                <a:picLocks noChangeAspect="1"/>
              </p:cNvPicPr>
              <p:nvPr/>
            </p:nvPicPr>
            <p:blipFill>
              <a:blip r:embed="rId9"/>
              <a:stretch>
                <a:fillRect/>
              </a:stretch>
            </p:blipFill>
            <p:spPr>
              <a:xfrm>
                <a:off x="5064108" y="863341"/>
                <a:ext cx="361950" cy="371475"/>
              </a:xfrm>
              <a:prstGeom prst="rect">
                <a:avLst/>
              </a:prstGeom>
            </p:spPr>
          </p:pic>
        </p:grpSp>
        <p:sp>
          <p:nvSpPr>
            <p:cNvPr id="81" name="TextBox 80">
              <a:extLst>
                <a:ext uri="{FF2B5EF4-FFF2-40B4-BE49-F238E27FC236}">
                  <a16:creationId xmlns:a16="http://schemas.microsoft.com/office/drawing/2014/main" id="{589904EE-B594-E5CD-EE3A-BC5A407D9EBA}"/>
                </a:ext>
              </a:extLst>
            </p:cNvPr>
            <p:cNvSpPr txBox="1"/>
            <p:nvPr/>
          </p:nvSpPr>
          <p:spPr>
            <a:xfrm>
              <a:off x="5074500" y="758928"/>
              <a:ext cx="1483712" cy="230832"/>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GB" sz="900">
                  <a:solidFill>
                    <a:schemeClr val="tx2"/>
                  </a:solidFill>
                  <a:latin typeface="Arial"/>
                  <a:cs typeface="Arial"/>
                </a:rPr>
                <a:t>Base Application Go-Live</a:t>
              </a:r>
              <a:endParaRPr lang="en-US" sz="1800"/>
            </a:p>
          </p:txBody>
        </p:sp>
        <p:sp>
          <p:nvSpPr>
            <p:cNvPr id="56" name="TextBox 55">
              <a:extLst>
                <a:ext uri="{FF2B5EF4-FFF2-40B4-BE49-F238E27FC236}">
                  <a16:creationId xmlns:a16="http://schemas.microsoft.com/office/drawing/2014/main" id="{4727FB18-14A8-5242-2B78-26673BC6D401}"/>
                </a:ext>
              </a:extLst>
            </p:cNvPr>
            <p:cNvSpPr txBox="1"/>
            <p:nvPr/>
          </p:nvSpPr>
          <p:spPr>
            <a:xfrm>
              <a:off x="3814874" y="2654503"/>
              <a:ext cx="761144" cy="200055"/>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700">
                  <a:solidFill>
                    <a:schemeClr val="tx2"/>
                  </a:solidFill>
                  <a:latin typeface="Arial" panose="020B0604020202020204" pitchFamily="34" charset="0"/>
                  <a:ea typeface="Inter Light" panose="02000503000000020004" pitchFamily="2" charset="0"/>
                  <a:cs typeface="Arial" panose="020B0604020202020204" pitchFamily="34" charset="0"/>
                </a:rPr>
                <a:t>No Extensions</a:t>
              </a:r>
            </a:p>
          </p:txBody>
        </p:sp>
      </p:grpSp>
      <p:sp>
        <p:nvSpPr>
          <p:cNvPr id="84" name="Rectangle: Rounded Corners 83">
            <a:extLst>
              <a:ext uri="{FF2B5EF4-FFF2-40B4-BE49-F238E27FC236}">
                <a16:creationId xmlns:a16="http://schemas.microsoft.com/office/drawing/2014/main" id="{9F04A1FE-FB14-3432-2B78-804C4F57711B}"/>
              </a:ext>
            </a:extLst>
          </p:cNvPr>
          <p:cNvSpPr/>
          <p:nvPr/>
        </p:nvSpPr>
        <p:spPr>
          <a:xfrm>
            <a:off x="71440" y="4798018"/>
            <a:ext cx="3560659" cy="27928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050">
                <a:solidFill>
                  <a:schemeClr val="bg1"/>
                </a:solidFill>
                <a:latin typeface="+mj-lt"/>
                <a:ea typeface="Verdana" charset="0"/>
                <a:cs typeface="Arial" panose="020B0604020202020204" pitchFamily="34" charset="0"/>
              </a:rPr>
              <a:t>Fixed (X weeks)</a:t>
            </a:r>
          </a:p>
        </p:txBody>
      </p:sp>
      <p:sp>
        <p:nvSpPr>
          <p:cNvPr id="86" name="Rectangle: Rounded Corners 85">
            <a:extLst>
              <a:ext uri="{FF2B5EF4-FFF2-40B4-BE49-F238E27FC236}">
                <a16:creationId xmlns:a16="http://schemas.microsoft.com/office/drawing/2014/main" id="{0398BAC7-0518-AAE9-0019-AF0B9C33BB1C}"/>
              </a:ext>
            </a:extLst>
          </p:cNvPr>
          <p:cNvSpPr/>
          <p:nvPr/>
        </p:nvSpPr>
        <p:spPr>
          <a:xfrm>
            <a:off x="3758687" y="4790672"/>
            <a:ext cx="3908143" cy="27928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050">
                <a:solidFill>
                  <a:schemeClr val="bg1"/>
                </a:solidFill>
                <a:latin typeface="+mj-lt"/>
                <a:ea typeface="Verdana" charset="0"/>
                <a:cs typeface="Arial" panose="020B0604020202020204" pitchFamily="34" charset="0"/>
              </a:rPr>
              <a:t>Variable (Y-Z weeks)</a:t>
            </a:r>
          </a:p>
        </p:txBody>
      </p:sp>
      <p:sp>
        <p:nvSpPr>
          <p:cNvPr id="10" name="Pentagon 9">
            <a:extLst>
              <a:ext uri="{FF2B5EF4-FFF2-40B4-BE49-F238E27FC236}">
                <a16:creationId xmlns:a16="http://schemas.microsoft.com/office/drawing/2014/main" id="{808A71DC-8681-CB12-85AE-7CE8D86DDC48}"/>
              </a:ext>
            </a:extLst>
          </p:cNvPr>
          <p:cNvSpPr/>
          <p:nvPr/>
        </p:nvSpPr>
        <p:spPr>
          <a:xfrm>
            <a:off x="3812898" y="4241678"/>
            <a:ext cx="3853930" cy="227394"/>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000">
                <a:solidFill>
                  <a:schemeClr val="bg1"/>
                </a:solidFill>
                <a:ea typeface="Verdana" charset="0"/>
                <a:cs typeface="Arial" panose="020B0604020202020204" pitchFamily="34" charset="0"/>
              </a:rPr>
              <a:t>Automated Data Loads</a:t>
            </a:r>
          </a:p>
        </p:txBody>
      </p:sp>
      <p:sp>
        <p:nvSpPr>
          <p:cNvPr id="14" name="Pentagon 13">
            <a:extLst>
              <a:ext uri="{FF2B5EF4-FFF2-40B4-BE49-F238E27FC236}">
                <a16:creationId xmlns:a16="http://schemas.microsoft.com/office/drawing/2014/main" id="{9CCF14CE-939E-A262-6A6D-1AB141CD02EB}"/>
              </a:ext>
            </a:extLst>
          </p:cNvPr>
          <p:cNvSpPr/>
          <p:nvPr/>
        </p:nvSpPr>
        <p:spPr>
          <a:xfrm>
            <a:off x="233892" y="4495557"/>
            <a:ext cx="7432936" cy="227394"/>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000">
                <a:solidFill>
                  <a:schemeClr val="bg1"/>
                </a:solidFill>
                <a:ea typeface="Verdana" charset="0"/>
                <a:cs typeface="Arial" panose="020B0604020202020204" pitchFamily="34" charset="0"/>
              </a:rPr>
              <a:t>Change Management / User Adoption</a:t>
            </a:r>
          </a:p>
        </p:txBody>
      </p:sp>
    </p:spTree>
    <p:custDataLst>
      <p:tags r:id="rId1"/>
    </p:custDataLst>
    <p:extLst>
      <p:ext uri="{BB962C8B-B14F-4D97-AF65-F5344CB8AC3E}">
        <p14:creationId xmlns:p14="http://schemas.microsoft.com/office/powerpoint/2010/main" val="81183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FC17-BAA7-8F58-C17C-9077796BF5A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AD1A276-F8F6-1E01-1318-A0FAB7964573}"/>
              </a:ext>
            </a:extLst>
          </p:cNvPr>
          <p:cNvSpPr/>
          <p:nvPr/>
        </p:nvSpPr>
        <p:spPr>
          <a:xfrm>
            <a:off x="586052" y="1010005"/>
            <a:ext cx="1278468" cy="4131182"/>
          </a:xfrm>
          <a:prstGeom prst="rect">
            <a:avLst/>
          </a:prstGeom>
          <a:gradFill flip="none" rotWithShape="1">
            <a:gsLst>
              <a:gs pos="0">
                <a:schemeClr val="tx2">
                  <a:tint val="66000"/>
                  <a:satMod val="160000"/>
                </a:schemeClr>
              </a:gs>
              <a:gs pos="0">
                <a:schemeClr val="tx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68580" bIns="34290" rtlCol="0" anchor="t"/>
          <a:lstStyle/>
          <a:p>
            <a:endParaRPr lang="en-US" sz="825">
              <a:solidFill>
                <a:schemeClr val="tx1"/>
              </a:solidFill>
              <a:cs typeface="Arial" panose="020B0604020202020204"/>
            </a:endParaRPr>
          </a:p>
          <a:p>
            <a:endParaRPr lang="en-US" sz="825">
              <a:solidFill>
                <a:schemeClr val="tx1"/>
              </a:solidFill>
              <a:cs typeface="Arial" panose="020B0604020202020204"/>
            </a:endParaRPr>
          </a:p>
        </p:txBody>
      </p:sp>
      <p:sp>
        <p:nvSpPr>
          <p:cNvPr id="34" name="Rectangle 33">
            <a:extLst>
              <a:ext uri="{FF2B5EF4-FFF2-40B4-BE49-F238E27FC236}">
                <a16:creationId xmlns:a16="http://schemas.microsoft.com/office/drawing/2014/main" id="{85BF851F-61C3-8721-A615-4A0D0FAFFA89}"/>
              </a:ext>
            </a:extLst>
          </p:cNvPr>
          <p:cNvSpPr/>
          <p:nvPr/>
        </p:nvSpPr>
        <p:spPr>
          <a:xfrm>
            <a:off x="1896400" y="993884"/>
            <a:ext cx="1263720" cy="4149617"/>
          </a:xfrm>
          <a:prstGeom prst="rect">
            <a:avLst/>
          </a:prstGeom>
          <a:gradFill flip="none" rotWithShape="1">
            <a:gsLst>
              <a:gs pos="0">
                <a:schemeClr val="tx2">
                  <a:tint val="66000"/>
                  <a:satMod val="160000"/>
                </a:schemeClr>
              </a:gs>
              <a:gs pos="0">
                <a:schemeClr val="accent3">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68580" bIns="34290" rtlCol="0" anchor="t"/>
          <a:lstStyle/>
          <a:p>
            <a:endParaRPr lang="en-US" sz="900">
              <a:solidFill>
                <a:schemeClr val="tx1"/>
              </a:solidFill>
              <a:latin typeface="Arial" panose="020B0604020202020204" pitchFamily="34" charset="0"/>
              <a:ea typeface="Verdana" charset="0"/>
              <a:cs typeface="Arial" panose="020B0604020202020204" pitchFamily="34" charset="0"/>
            </a:endParaRPr>
          </a:p>
          <a:p>
            <a:pPr marL="128588" indent="-128588">
              <a:buFont typeface="Arial,Sans-Serif"/>
              <a:buChar char="•"/>
            </a:pPr>
            <a:endParaRPr lang="en-US" sz="900">
              <a:solidFill>
                <a:schemeClr val="tx1"/>
              </a:solidFill>
              <a:latin typeface="Arial" panose="020B0604020202020204" pitchFamily="34" charset="0"/>
              <a:ea typeface="Verdana" charset="0"/>
              <a:cs typeface="Arial" panose="020B0604020202020204" pitchFamily="34" charset="0"/>
            </a:endParaRPr>
          </a:p>
          <a:p>
            <a:endParaRPr lang="en-US" sz="900" b="1">
              <a:solidFill>
                <a:schemeClr val="tx1"/>
              </a:solidFill>
              <a:latin typeface="Arial" panose="020B0604020202020204" pitchFamily="34" charset="0"/>
              <a:ea typeface="Verdana" charset="0"/>
              <a:cs typeface="Arial" panose="020B0604020202020204" pitchFamily="34" charset="0"/>
            </a:endParaRPr>
          </a:p>
          <a:p>
            <a:endParaRPr lang="en-US" sz="750">
              <a:solidFill>
                <a:schemeClr val="tx1"/>
              </a:solidFill>
              <a:latin typeface="Arial" panose="020B0604020202020204" pitchFamily="34" charset="0"/>
              <a:ea typeface="Verdana" charset="0"/>
              <a:cs typeface="Arial" panose="020B0604020202020204" pitchFamily="34" charset="0"/>
            </a:endParaRPr>
          </a:p>
          <a:p>
            <a:pPr>
              <a:spcAft>
                <a:spcPts val="450"/>
              </a:spcAft>
            </a:pPr>
            <a:endParaRPr lang="en-US" sz="900">
              <a:solidFill>
                <a:schemeClr val="tx1"/>
              </a:solidFill>
              <a:latin typeface="Arial" panose="020B0604020202020204" pitchFamily="34" charset="0"/>
              <a:ea typeface="Verdana" charset="0"/>
              <a:cs typeface="Arial" panose="020B0604020202020204" pitchFamily="34" charset="0"/>
            </a:endParaRPr>
          </a:p>
        </p:txBody>
      </p:sp>
      <p:sp>
        <p:nvSpPr>
          <p:cNvPr id="37" name="Rectangle 36">
            <a:extLst>
              <a:ext uri="{FF2B5EF4-FFF2-40B4-BE49-F238E27FC236}">
                <a16:creationId xmlns:a16="http://schemas.microsoft.com/office/drawing/2014/main" id="{3BF4A099-B0B3-FB43-992F-4C16C1F3FF79}"/>
              </a:ext>
            </a:extLst>
          </p:cNvPr>
          <p:cNvSpPr/>
          <p:nvPr/>
        </p:nvSpPr>
        <p:spPr>
          <a:xfrm>
            <a:off x="3194127"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68580" bIns="34290" rtlCol="0" anchor="t"/>
          <a:lstStyle/>
          <a:p>
            <a:pPr algn="ctr">
              <a:defRPr/>
            </a:pPr>
            <a:endParaRPr lang="en-US" sz="900">
              <a:solidFill>
                <a:schemeClr val="tx1"/>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7D81A634-DC92-8AF5-34E0-11D13BB49AF9}"/>
              </a:ext>
            </a:extLst>
          </p:cNvPr>
          <p:cNvSpPr/>
          <p:nvPr/>
        </p:nvSpPr>
        <p:spPr>
          <a:xfrm>
            <a:off x="4491854"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68580" bIns="34290" rtlCol="0" anchor="t"/>
          <a:lstStyle/>
          <a:p>
            <a:pPr algn="ctr"/>
            <a:endParaRPr lang="en-US" sz="900">
              <a:solidFill>
                <a:schemeClr val="tx1"/>
              </a:solidFill>
              <a:latin typeface="Arial" panose="020B0604020202020204" pitchFamily="34" charset="0"/>
              <a:ea typeface="Verdana" charset="0"/>
              <a:cs typeface="Arial" panose="020B0604020202020204" pitchFamily="34" charset="0"/>
            </a:endParaRPr>
          </a:p>
        </p:txBody>
      </p:sp>
      <p:sp>
        <p:nvSpPr>
          <p:cNvPr id="41" name="Rectangle 40">
            <a:extLst>
              <a:ext uri="{FF2B5EF4-FFF2-40B4-BE49-F238E27FC236}">
                <a16:creationId xmlns:a16="http://schemas.microsoft.com/office/drawing/2014/main" id="{28ED85A5-137D-CCCC-B9BE-FFEED78E4C9D}"/>
              </a:ext>
            </a:extLst>
          </p:cNvPr>
          <p:cNvSpPr/>
          <p:nvPr/>
        </p:nvSpPr>
        <p:spPr>
          <a:xfrm>
            <a:off x="5789582"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68580" bIns="34290" rtlCol="0" anchor="t"/>
          <a:lstStyle/>
          <a:p>
            <a:pPr algn="ctr"/>
            <a:endParaRPr lang="en-US" sz="900">
              <a:solidFill>
                <a:schemeClr val="tx1"/>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31093B29-CA9E-0E9A-02BB-D4EC12E98354}"/>
              </a:ext>
            </a:extLst>
          </p:cNvPr>
          <p:cNvSpPr/>
          <p:nvPr/>
        </p:nvSpPr>
        <p:spPr>
          <a:xfrm>
            <a:off x="7093601"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68580" bIns="34290" rtlCol="0" anchor="t"/>
          <a:lstStyle/>
          <a:p>
            <a:pPr algn="ctr">
              <a:defRPr/>
            </a:pPr>
            <a:endParaRPr lang="en-US" sz="900">
              <a:solidFill>
                <a:schemeClr val="tx1"/>
              </a:solidFill>
              <a:latin typeface="Arial" panose="020B0604020202020204" pitchFamily="34" charset="0"/>
              <a:ea typeface="Verdana" charset="0"/>
              <a:cs typeface="Arial" panose="020B0604020202020204" pitchFamily="34" charset="0"/>
            </a:endParaRPr>
          </a:p>
        </p:txBody>
      </p:sp>
      <p:sp>
        <p:nvSpPr>
          <p:cNvPr id="18" name="Title 17">
            <a:extLst>
              <a:ext uri="{FF2B5EF4-FFF2-40B4-BE49-F238E27FC236}">
                <a16:creationId xmlns:a16="http://schemas.microsoft.com/office/drawing/2014/main" id="{DECCD03C-0339-7DF2-2CAE-B93CEE7E9F37}"/>
              </a:ext>
            </a:extLst>
          </p:cNvPr>
          <p:cNvSpPr>
            <a:spLocks noGrp="1"/>
          </p:cNvSpPr>
          <p:nvPr>
            <p:ph type="title"/>
          </p:nvPr>
        </p:nvSpPr>
        <p:spPr>
          <a:xfrm>
            <a:off x="517065" y="140722"/>
            <a:ext cx="3574345" cy="331499"/>
          </a:xfrm>
        </p:spPr>
        <p:txBody>
          <a:bodyPr lIns="0" tIns="34290" rIns="0" bIns="34290" anchor="t"/>
          <a:lstStyle/>
          <a:p>
            <a:r>
              <a:rPr lang="en-US">
                <a:solidFill>
                  <a:srgbClr val="0A2F46"/>
                </a:solidFill>
                <a:latin typeface="Arial"/>
                <a:cs typeface="Arial"/>
              </a:rPr>
              <a:t>T</a:t>
            </a:r>
            <a:r>
              <a:rPr lang="en-US">
                <a:latin typeface="Arial"/>
                <a:cs typeface="Arial"/>
              </a:rPr>
              <a:t>he </a:t>
            </a:r>
            <a:r>
              <a:rPr lang="en-US">
                <a:solidFill>
                  <a:srgbClr val="0A2F46"/>
                </a:solidFill>
                <a:latin typeface="Arial"/>
                <a:cs typeface="Arial"/>
              </a:rPr>
              <a:t>A</a:t>
            </a:r>
            <a:r>
              <a:rPr lang="en-US">
                <a:latin typeface="Arial"/>
                <a:cs typeface="Arial"/>
              </a:rPr>
              <a:t>naplan </a:t>
            </a:r>
            <a:r>
              <a:rPr lang="en-US">
                <a:solidFill>
                  <a:srgbClr val="0A2F46"/>
                </a:solidFill>
                <a:latin typeface="Arial"/>
                <a:cs typeface="Arial"/>
              </a:rPr>
              <a:t>W</a:t>
            </a:r>
            <a:r>
              <a:rPr lang="en-US">
                <a:latin typeface="Arial"/>
                <a:cs typeface="Arial"/>
              </a:rPr>
              <a:t>ay for </a:t>
            </a:r>
            <a:r>
              <a:rPr lang="en-US">
                <a:solidFill>
                  <a:srgbClr val="0A2F46"/>
                </a:solidFill>
                <a:latin typeface="Arial"/>
                <a:cs typeface="Arial"/>
              </a:rPr>
              <a:t>A</a:t>
            </a:r>
            <a:r>
              <a:rPr lang="en-US">
                <a:latin typeface="Arial"/>
                <a:cs typeface="Arial"/>
              </a:rPr>
              <a:t>pplications</a:t>
            </a:r>
            <a:endParaRPr lang="en-US"/>
          </a:p>
        </p:txBody>
      </p:sp>
      <p:sp>
        <p:nvSpPr>
          <p:cNvPr id="3" name="Pentagon 2">
            <a:extLst>
              <a:ext uri="{FF2B5EF4-FFF2-40B4-BE49-F238E27FC236}">
                <a16:creationId xmlns:a16="http://schemas.microsoft.com/office/drawing/2014/main" id="{AF712F77-5BBB-64C1-1979-40FE029B31B2}"/>
              </a:ext>
            </a:extLst>
          </p:cNvPr>
          <p:cNvSpPr/>
          <p:nvPr/>
        </p:nvSpPr>
        <p:spPr>
          <a:xfrm>
            <a:off x="586089" y="767460"/>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33" name="Chevron 3">
            <a:extLst>
              <a:ext uri="{FF2B5EF4-FFF2-40B4-BE49-F238E27FC236}">
                <a16:creationId xmlns:a16="http://schemas.microsoft.com/office/drawing/2014/main" id="{2D3BB2A9-FD15-72CD-E20D-F2042D530D61}"/>
              </a:ext>
            </a:extLst>
          </p:cNvPr>
          <p:cNvSpPr/>
          <p:nvPr/>
        </p:nvSpPr>
        <p:spPr>
          <a:xfrm>
            <a:off x="1890108" y="767246"/>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6" name="Chevron 3">
            <a:extLst>
              <a:ext uri="{FF2B5EF4-FFF2-40B4-BE49-F238E27FC236}">
                <a16:creationId xmlns:a16="http://schemas.microsoft.com/office/drawing/2014/main" id="{821C853A-4771-27E8-58A5-4CCDD240A553}"/>
              </a:ext>
            </a:extLst>
          </p:cNvPr>
          <p:cNvSpPr/>
          <p:nvPr/>
        </p:nvSpPr>
        <p:spPr>
          <a:xfrm>
            <a:off x="3187836"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Test &amp; Deploy</a:t>
            </a:r>
          </a:p>
        </p:txBody>
      </p:sp>
      <p:sp>
        <p:nvSpPr>
          <p:cNvPr id="38" name="Chevron 3">
            <a:extLst>
              <a:ext uri="{FF2B5EF4-FFF2-40B4-BE49-F238E27FC236}">
                <a16:creationId xmlns:a16="http://schemas.microsoft.com/office/drawing/2014/main" id="{960A7036-AA87-7342-5B99-ECA503F47AD2}"/>
              </a:ext>
            </a:extLst>
          </p:cNvPr>
          <p:cNvSpPr/>
          <p:nvPr/>
        </p:nvSpPr>
        <p:spPr>
          <a:xfrm>
            <a:off x="4485563"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ea typeface="Verdana"/>
                <a:cs typeface="Arial"/>
              </a:rPr>
              <a:t>Extension Design</a:t>
            </a:r>
          </a:p>
        </p:txBody>
      </p:sp>
      <p:sp>
        <p:nvSpPr>
          <p:cNvPr id="40" name="Chevron 3">
            <a:extLst>
              <a:ext uri="{FF2B5EF4-FFF2-40B4-BE49-F238E27FC236}">
                <a16:creationId xmlns:a16="http://schemas.microsoft.com/office/drawing/2014/main" id="{BEC1DEAB-0D99-86E3-A1DE-F02AD9FF90B4}"/>
              </a:ext>
            </a:extLst>
          </p:cNvPr>
          <p:cNvSpPr/>
          <p:nvPr/>
        </p:nvSpPr>
        <p:spPr>
          <a:xfrm>
            <a:off x="5783290"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ea typeface="Verdana"/>
                <a:cs typeface="Arial"/>
              </a:rPr>
              <a:t>Extension Build</a:t>
            </a:r>
          </a:p>
        </p:txBody>
      </p:sp>
      <p:sp>
        <p:nvSpPr>
          <p:cNvPr id="43" name="Chevron 3">
            <a:extLst>
              <a:ext uri="{FF2B5EF4-FFF2-40B4-BE49-F238E27FC236}">
                <a16:creationId xmlns:a16="http://schemas.microsoft.com/office/drawing/2014/main" id="{8791233E-8D57-C8CF-61A5-D97AE2AEDDE2}"/>
              </a:ext>
            </a:extLst>
          </p:cNvPr>
          <p:cNvSpPr/>
          <p:nvPr/>
        </p:nvSpPr>
        <p:spPr>
          <a:xfrm>
            <a:off x="7087309"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ea typeface="+mn-lt"/>
                <a:cs typeface="+mn-lt"/>
              </a:rPr>
              <a:t>Ext Test &amp; Deploy</a:t>
            </a:r>
          </a:p>
        </p:txBody>
      </p:sp>
      <p:sp>
        <p:nvSpPr>
          <p:cNvPr id="46" name="Right Bracket 45">
            <a:extLst>
              <a:ext uri="{FF2B5EF4-FFF2-40B4-BE49-F238E27FC236}">
                <a16:creationId xmlns:a16="http://schemas.microsoft.com/office/drawing/2014/main" id="{810A02B6-6EC8-38CB-D4FA-EB055CAFCBF7}"/>
              </a:ext>
            </a:extLst>
          </p:cNvPr>
          <p:cNvSpPr/>
          <p:nvPr/>
        </p:nvSpPr>
        <p:spPr>
          <a:xfrm rot="16200000">
            <a:off x="6405769" y="-1269148"/>
            <a:ext cx="37637" cy="3865468"/>
          </a:xfrm>
          <a:prstGeom prst="rightBracket">
            <a:avLst/>
          </a:prstGeom>
          <a:ln w="127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47" name="TextBox 46">
            <a:extLst>
              <a:ext uri="{FF2B5EF4-FFF2-40B4-BE49-F238E27FC236}">
                <a16:creationId xmlns:a16="http://schemas.microsoft.com/office/drawing/2014/main" id="{6CB9CAB0-E1AB-4832-B269-9349B02276FD}"/>
              </a:ext>
            </a:extLst>
          </p:cNvPr>
          <p:cNvSpPr txBox="1"/>
          <p:nvPr/>
        </p:nvSpPr>
        <p:spPr>
          <a:xfrm>
            <a:off x="6017535" y="591345"/>
            <a:ext cx="904097" cy="93535"/>
          </a:xfrm>
          <a:prstGeom prst="rect">
            <a:avLst/>
          </a:prstGeom>
          <a:solidFill>
            <a:schemeClr val="bg2"/>
          </a:solidFill>
        </p:spPr>
        <p:txBody>
          <a:bodyPr wrap="square" lIns="0" tIns="0" rIns="0" bIns="0" anchor="t">
            <a:noAutofit/>
          </a:bodyPr>
          <a:lstStyle/>
          <a:p>
            <a:pPr algn="ctr" defTabSz="914333">
              <a:defRPr/>
            </a:pPr>
            <a:r>
              <a:rPr lang="en-US" sz="675" i="1">
                <a:highlight>
                  <a:srgbClr val="F2F1EE"/>
                </a:highlight>
                <a:latin typeface="Arial" panose="020B0604020202020204"/>
                <a:ea typeface="Verdana"/>
                <a:cs typeface="Arial"/>
              </a:rPr>
              <a:t>  OPTIONAL PHASES  </a:t>
            </a:r>
            <a:endParaRPr lang="en-US" sz="675" i="1">
              <a:highlight>
                <a:srgbClr val="F2F1EE"/>
              </a:highlight>
              <a:latin typeface="Arial" panose="020B0604020202020204"/>
              <a:cs typeface="Arial"/>
            </a:endParaRPr>
          </a:p>
        </p:txBody>
      </p:sp>
      <p:sp>
        <p:nvSpPr>
          <p:cNvPr id="9" name="Rectangle 8">
            <a:extLst>
              <a:ext uri="{FF2B5EF4-FFF2-40B4-BE49-F238E27FC236}">
                <a16:creationId xmlns:a16="http://schemas.microsoft.com/office/drawing/2014/main" id="{1CB428C2-5C9F-CE11-8CE6-1CA248D9791A}"/>
              </a:ext>
            </a:extLst>
          </p:cNvPr>
          <p:cNvSpPr/>
          <p:nvPr/>
        </p:nvSpPr>
        <p:spPr>
          <a:xfrm>
            <a:off x="586052" y="2112447"/>
            <a:ext cx="1263720" cy="250885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34290" bIns="3429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450"/>
              </a:spcAft>
            </a:pPr>
            <a:endParaRPr lang="en-US" sz="825" b="1">
              <a:solidFill>
                <a:schemeClr val="tx1"/>
              </a:solidFill>
              <a:cs typeface="Arial" panose="020B0604020202020204"/>
            </a:endParaRPr>
          </a:p>
          <a:p>
            <a:pPr marL="342900"/>
            <a:r>
              <a:rPr lang="en-US" sz="800">
                <a:solidFill>
                  <a:schemeClr val="tx1"/>
                </a:solidFill>
                <a:cs typeface="Arial" panose="020B0604020202020204"/>
              </a:rPr>
              <a:t>Holding the Discovery Workshop</a:t>
            </a:r>
          </a:p>
          <a:p>
            <a:pPr marL="342900"/>
            <a:endParaRPr lang="en-US" sz="800">
              <a:solidFill>
                <a:schemeClr val="tx1"/>
              </a:solidFill>
              <a:cs typeface="Arial" panose="020B0604020202020204"/>
            </a:endParaRPr>
          </a:p>
          <a:p>
            <a:pPr marL="342900"/>
            <a:r>
              <a:rPr lang="en-US" sz="800">
                <a:solidFill>
                  <a:schemeClr val="tx1"/>
                </a:solidFill>
                <a:cs typeface="Arial" panose="020B0604020202020204"/>
              </a:rPr>
              <a:t>Reviewing scope, business processes, planning metrics, etc. </a:t>
            </a:r>
          </a:p>
          <a:p>
            <a:pPr marL="342900"/>
            <a:endParaRPr lang="en-US" sz="800">
              <a:solidFill>
                <a:schemeClr val="tx1"/>
              </a:solidFill>
              <a:cs typeface="Arial" panose="020B0604020202020204"/>
            </a:endParaRPr>
          </a:p>
          <a:p>
            <a:pPr marL="342900"/>
            <a:r>
              <a:rPr lang="en-US" sz="800">
                <a:solidFill>
                  <a:schemeClr val="tx1"/>
                </a:solidFill>
                <a:cs typeface="Arial" panose="020B0604020202020204"/>
              </a:rPr>
              <a:t>Signing the SOW</a:t>
            </a:r>
          </a:p>
          <a:p>
            <a:endParaRPr lang="en-US" sz="825">
              <a:solidFill>
                <a:schemeClr val="tx1"/>
              </a:solidFill>
              <a:cs typeface="Arial" panose="020B0604020202020204"/>
            </a:endParaRPr>
          </a:p>
        </p:txBody>
      </p:sp>
      <p:sp>
        <p:nvSpPr>
          <p:cNvPr id="10" name="Rectangle 9">
            <a:extLst>
              <a:ext uri="{FF2B5EF4-FFF2-40B4-BE49-F238E27FC236}">
                <a16:creationId xmlns:a16="http://schemas.microsoft.com/office/drawing/2014/main" id="{C1B68B15-F7A1-89C5-6789-61F7531FF44A}"/>
              </a:ext>
            </a:extLst>
          </p:cNvPr>
          <p:cNvSpPr/>
          <p:nvPr/>
        </p:nvSpPr>
        <p:spPr>
          <a:xfrm>
            <a:off x="1896400" y="2111074"/>
            <a:ext cx="1263720" cy="250885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34290" bIns="3429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450"/>
              </a:spcAft>
            </a:pPr>
            <a:endParaRPr lang="en-US" sz="825" b="1">
              <a:solidFill>
                <a:schemeClr val="tx1"/>
              </a:solidFill>
              <a:ea typeface="Verdana"/>
              <a:cs typeface="Arial"/>
            </a:endParaRPr>
          </a:p>
          <a:p>
            <a:pPr marL="342900"/>
            <a:r>
              <a:rPr lang="en-US" sz="800">
                <a:solidFill>
                  <a:schemeClr val="tx1"/>
                </a:solidFill>
                <a:ea typeface="Verdana"/>
                <a:cs typeface="Arial"/>
              </a:rPr>
              <a:t>Conducting </a:t>
            </a:r>
            <a:br>
              <a:rPr lang="en-US" sz="800">
                <a:ea typeface="Verdana"/>
                <a:cs typeface="Arial"/>
              </a:rPr>
            </a:br>
            <a:r>
              <a:rPr lang="en-US" sz="800" b="1">
                <a:solidFill>
                  <a:schemeClr val="tx1"/>
                </a:solidFill>
                <a:ea typeface="Verdana"/>
                <a:cs typeface="Arial"/>
              </a:rPr>
              <a:t>App-Led Design Workshops </a:t>
            </a:r>
          </a:p>
          <a:p>
            <a:pPr marL="342900"/>
            <a:endParaRPr lang="en-US" sz="800" b="1">
              <a:solidFill>
                <a:schemeClr val="tx1"/>
              </a:solidFill>
              <a:ea typeface="Verdana"/>
              <a:cs typeface="Arial"/>
            </a:endParaRPr>
          </a:p>
          <a:p>
            <a:pPr marL="342900"/>
            <a:r>
              <a:rPr lang="en-US" sz="800">
                <a:solidFill>
                  <a:schemeClr val="tx1"/>
                </a:solidFill>
                <a:ea typeface="Verdana"/>
                <a:cs typeface="Arial"/>
              </a:rPr>
              <a:t>Analyzing, reviewing, and connecting customer data</a:t>
            </a:r>
            <a:endParaRPr lang="en-US" sz="800">
              <a:solidFill>
                <a:schemeClr val="tx1"/>
              </a:solidFill>
              <a:cs typeface="Arial"/>
            </a:endParaRPr>
          </a:p>
          <a:p>
            <a:pPr marL="342900"/>
            <a:endParaRPr lang="en-US" sz="800">
              <a:solidFill>
                <a:schemeClr val="tx1"/>
              </a:solidFill>
              <a:ea typeface="Verdana"/>
              <a:cs typeface="Arial"/>
            </a:endParaRPr>
          </a:p>
          <a:p>
            <a:pPr marL="342900"/>
            <a:r>
              <a:rPr lang="en-US" sz="800">
                <a:solidFill>
                  <a:schemeClr val="tx1"/>
                </a:solidFill>
                <a:ea typeface="Verdana"/>
                <a:cs typeface="Arial"/>
              </a:rPr>
              <a:t>Configuring the base application</a:t>
            </a:r>
            <a:endParaRPr lang="en-US" sz="800">
              <a:solidFill>
                <a:schemeClr val="tx1"/>
              </a:solidFill>
              <a:ea typeface="Verdana" charset="0"/>
              <a:cs typeface="Arial" panose="020B0604020202020204" pitchFamily="34" charset="0"/>
            </a:endParaRPr>
          </a:p>
          <a:p>
            <a:pPr marL="128588" indent="-128588">
              <a:buFont typeface="Arial,Sans-Serif"/>
              <a:buChar char="•"/>
            </a:pPr>
            <a:endParaRPr lang="en-US" sz="825">
              <a:solidFill>
                <a:schemeClr val="tx1"/>
              </a:solidFill>
              <a:latin typeface="Arial" panose="020B0604020202020204" pitchFamily="34" charset="0"/>
              <a:ea typeface="Verdana" charset="0"/>
              <a:cs typeface="Arial" panose="020B0604020202020204" pitchFamily="34" charset="0"/>
            </a:endParaRPr>
          </a:p>
          <a:p>
            <a:pPr marL="128588" indent="-128588">
              <a:buFont typeface="Arial,Sans-Serif"/>
              <a:buChar char="•"/>
            </a:pPr>
            <a:endParaRPr lang="en-US" sz="825">
              <a:solidFill>
                <a:srgbClr val="0A2F46"/>
              </a:solidFill>
              <a:latin typeface="Arial" panose="020B0604020202020204" pitchFamily="34" charset="0"/>
              <a:ea typeface="Verdana" charset="0"/>
              <a:cs typeface="Arial" panose="020B0604020202020204" pitchFamily="34" charset="0"/>
            </a:endParaRPr>
          </a:p>
          <a:p>
            <a:pPr marL="128588" indent="-128588">
              <a:buFont typeface="Arial,Sans-Serif"/>
              <a:buChar char="•"/>
            </a:pPr>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b="1">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2B50B266-3166-26EC-9CED-2A6F03E18400}"/>
              </a:ext>
            </a:extLst>
          </p:cNvPr>
          <p:cNvSpPr/>
          <p:nvPr/>
        </p:nvSpPr>
        <p:spPr>
          <a:xfrm>
            <a:off x="3194127" y="2111074"/>
            <a:ext cx="1263720" cy="250885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34290" bIns="3429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450"/>
              </a:spcAft>
              <a:defRPr/>
            </a:pPr>
            <a:endParaRPr lang="en-US" sz="825" b="1">
              <a:solidFill>
                <a:schemeClr val="tx1"/>
              </a:solidFill>
              <a:latin typeface="Arial"/>
              <a:ea typeface="Verdana"/>
              <a:cs typeface="Arial"/>
            </a:endParaRPr>
          </a:p>
          <a:p>
            <a:pPr marL="385763"/>
            <a:r>
              <a:rPr lang="en-US" sz="800">
                <a:solidFill>
                  <a:schemeClr val="tx1"/>
                </a:solidFill>
                <a:ea typeface="Verdana"/>
                <a:cs typeface="Arial"/>
              </a:rPr>
              <a:t>Validating Customer Data, Lists, and Hierarchies </a:t>
            </a:r>
          </a:p>
          <a:p>
            <a:pPr marL="385763"/>
            <a:endParaRPr lang="en-US" sz="800">
              <a:solidFill>
                <a:schemeClr val="tx1"/>
              </a:solidFill>
              <a:ea typeface="Verdana"/>
              <a:cs typeface="Arial"/>
            </a:endParaRPr>
          </a:p>
          <a:p>
            <a:pPr marL="385763"/>
            <a:r>
              <a:rPr lang="en-US" sz="800">
                <a:solidFill>
                  <a:schemeClr val="tx1"/>
                </a:solidFill>
                <a:ea typeface="Verdana"/>
                <a:cs typeface="Arial"/>
              </a:rPr>
              <a:t>Identifying and documenting extensions</a:t>
            </a:r>
            <a:endParaRPr lang="en-US" sz="800">
              <a:solidFill>
                <a:schemeClr val="tx1"/>
              </a:solidFill>
              <a:ea typeface="Verdana" charset="0"/>
              <a:cs typeface="Arial" panose="020B0604020202020204" pitchFamily="34" charset="0"/>
            </a:endParaRPr>
          </a:p>
          <a:p>
            <a:pPr marL="385763"/>
            <a:endParaRPr lang="en-US" sz="800">
              <a:solidFill>
                <a:schemeClr val="tx1"/>
              </a:solidFill>
              <a:ea typeface="Verdana"/>
              <a:cs typeface="Arial"/>
            </a:endParaRPr>
          </a:p>
          <a:p>
            <a:pPr marL="385763"/>
            <a:r>
              <a:rPr lang="en-US" sz="800">
                <a:solidFill>
                  <a:schemeClr val="tx1"/>
                </a:solidFill>
                <a:ea typeface="Verdana"/>
                <a:cs typeface="Arial"/>
              </a:rPr>
              <a:t>Completing UAT on the base application</a:t>
            </a:r>
            <a:endParaRPr lang="en-US" sz="800">
              <a:solidFill>
                <a:schemeClr val="tx1"/>
              </a:solidFill>
              <a:ea typeface="Verdana" charset="0"/>
              <a:cs typeface="Arial" panose="020B0604020202020204" pitchFamily="34" charset="0"/>
            </a:endParaRPr>
          </a:p>
          <a:p>
            <a:pPr marL="385763"/>
            <a:endParaRPr lang="en-US" sz="800">
              <a:solidFill>
                <a:schemeClr val="tx1"/>
              </a:solidFill>
              <a:ea typeface="Verdana"/>
              <a:cs typeface="Arial"/>
            </a:endParaRPr>
          </a:p>
          <a:p>
            <a:pPr marL="385763"/>
            <a:r>
              <a:rPr lang="en-US" sz="800">
                <a:solidFill>
                  <a:schemeClr val="tx1"/>
                </a:solidFill>
                <a:ea typeface="Verdana"/>
                <a:cs typeface="Arial"/>
              </a:rPr>
              <a:t>Going live with the base application</a:t>
            </a:r>
            <a:endParaRPr lang="en-US" sz="800">
              <a:solidFill>
                <a:schemeClr val="tx1"/>
              </a:solidFill>
              <a:ea typeface="Verdana" charset="0"/>
              <a:cs typeface="Arial" panose="020B0604020202020204" pitchFamily="34" charset="0"/>
            </a:endParaRPr>
          </a:p>
          <a:p>
            <a:endParaRPr lang="en-US" sz="825" b="1">
              <a:solidFill>
                <a:schemeClr val="tx1"/>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b="1">
              <a:solidFill>
                <a:srgbClr val="0A2F46"/>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74B365D7-F102-1E4E-7BE0-7D1E960C2A04}"/>
              </a:ext>
            </a:extLst>
          </p:cNvPr>
          <p:cNvSpPr/>
          <p:nvPr/>
        </p:nvSpPr>
        <p:spPr>
          <a:xfrm>
            <a:off x="4491854" y="2111074"/>
            <a:ext cx="1263720" cy="250885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34290" bIns="3429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450"/>
              </a:spcAft>
            </a:pPr>
            <a:endParaRPr lang="en-US" sz="825" b="1">
              <a:solidFill>
                <a:schemeClr val="tx1"/>
              </a:solidFill>
              <a:latin typeface="Arial"/>
              <a:ea typeface="Verdana"/>
              <a:cs typeface="Arial"/>
            </a:endParaRPr>
          </a:p>
          <a:p>
            <a:pPr marL="342900">
              <a:defRPr/>
            </a:pPr>
            <a:r>
              <a:rPr lang="en-US" sz="800">
                <a:solidFill>
                  <a:schemeClr val="tx1"/>
                </a:solidFill>
                <a:latin typeface="+mj-lt"/>
                <a:ea typeface="Verdana"/>
                <a:cs typeface="Arial"/>
              </a:rPr>
              <a:t>Reviewing business needs from the </a:t>
            </a:r>
            <a:r>
              <a:rPr lang="en-US" sz="800" b="1">
                <a:solidFill>
                  <a:schemeClr val="tx1"/>
                </a:solidFill>
                <a:latin typeface="+mj-lt"/>
                <a:ea typeface="Verdana"/>
                <a:cs typeface="Arial"/>
              </a:rPr>
              <a:t>App-Led Design Workshops</a:t>
            </a:r>
            <a:r>
              <a:rPr lang="en-US" sz="800">
                <a:solidFill>
                  <a:schemeClr val="tx1"/>
                </a:solidFill>
                <a:latin typeface="+mj-lt"/>
                <a:ea typeface="Verdana"/>
                <a:cs typeface="Arial"/>
              </a:rPr>
              <a:t> and </a:t>
            </a:r>
            <a:r>
              <a:rPr lang="en-US" sz="800" b="1">
                <a:solidFill>
                  <a:schemeClr val="tx1"/>
                </a:solidFill>
                <a:latin typeface="+mj-lt"/>
                <a:ea typeface="Verdana"/>
                <a:cs typeface="Arial"/>
              </a:rPr>
              <a:t>Interactive Walkthrough Sessions</a:t>
            </a:r>
            <a:endParaRPr lang="en-US" sz="800" b="1">
              <a:solidFill>
                <a:schemeClr val="tx1"/>
              </a:solidFill>
              <a:latin typeface="+mj-lt"/>
              <a:ea typeface="Verdana" charset="0"/>
              <a:cs typeface="Arial" panose="020B0604020202020204" pitchFamily="34" charset="0"/>
            </a:endParaRPr>
          </a:p>
          <a:p>
            <a:pPr marL="342900">
              <a:defRPr/>
            </a:pPr>
            <a:endParaRPr lang="en-US" sz="800" b="1">
              <a:solidFill>
                <a:schemeClr val="tx1"/>
              </a:solidFill>
              <a:latin typeface="+mj-lt"/>
              <a:ea typeface="Verdana"/>
              <a:cs typeface="Arial"/>
            </a:endParaRPr>
          </a:p>
          <a:p>
            <a:pPr marL="342900">
              <a:defRPr/>
            </a:pPr>
            <a:r>
              <a:rPr lang="en-US" sz="800">
                <a:solidFill>
                  <a:schemeClr val="tx1"/>
                </a:solidFill>
                <a:latin typeface="+mj-lt"/>
                <a:ea typeface="Verdana"/>
                <a:cs typeface="Arial"/>
              </a:rPr>
              <a:t>Designing and </a:t>
            </a:r>
            <a:br>
              <a:rPr lang="en-US" sz="800">
                <a:solidFill>
                  <a:schemeClr val="tx1"/>
                </a:solidFill>
                <a:latin typeface="+mj-lt"/>
                <a:ea typeface="Verdana"/>
                <a:cs typeface="Arial"/>
              </a:rPr>
            </a:br>
            <a:r>
              <a:rPr lang="en-US" sz="800">
                <a:solidFill>
                  <a:schemeClr val="tx1"/>
                </a:solidFill>
                <a:latin typeface="+mj-lt"/>
                <a:ea typeface="Verdana"/>
                <a:cs typeface="Arial"/>
              </a:rPr>
              <a:t>Planning Implementation for  additional  functionality</a:t>
            </a:r>
            <a:endParaRPr lang="en-US" sz="800">
              <a:solidFill>
                <a:schemeClr val="tx1"/>
              </a:solidFill>
              <a:latin typeface="+mj-lt"/>
              <a:ea typeface="Verdana" charset="0"/>
              <a:cs typeface="Arial" panose="020B0604020202020204" pitchFamily="34" charset="0"/>
            </a:endParaRPr>
          </a:p>
          <a:p>
            <a:pPr>
              <a:defRPr/>
            </a:pPr>
            <a:endParaRPr lang="en-US" sz="825">
              <a:solidFill>
                <a:schemeClr val="tx1"/>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p:txBody>
      </p:sp>
      <p:sp>
        <p:nvSpPr>
          <p:cNvPr id="14" name="Rectangle 13">
            <a:extLst>
              <a:ext uri="{FF2B5EF4-FFF2-40B4-BE49-F238E27FC236}">
                <a16:creationId xmlns:a16="http://schemas.microsoft.com/office/drawing/2014/main" id="{C14538D5-B2A0-6097-D52C-001FD259182C}"/>
              </a:ext>
            </a:extLst>
          </p:cNvPr>
          <p:cNvSpPr/>
          <p:nvPr/>
        </p:nvSpPr>
        <p:spPr>
          <a:xfrm>
            <a:off x="5789582" y="2111074"/>
            <a:ext cx="1263720" cy="250885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34290" bIns="3429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450"/>
              </a:spcAft>
            </a:pPr>
            <a:endParaRPr lang="en-US" sz="825" b="1">
              <a:solidFill>
                <a:schemeClr val="tx1"/>
              </a:solidFill>
              <a:latin typeface="Arial"/>
              <a:ea typeface="Verdana"/>
              <a:cs typeface="Arial"/>
            </a:endParaRPr>
          </a:p>
          <a:p>
            <a:pPr marL="342900">
              <a:defRPr/>
            </a:pPr>
            <a:r>
              <a:rPr lang="en-US" sz="800">
                <a:solidFill>
                  <a:schemeClr val="tx1"/>
                </a:solidFill>
                <a:latin typeface="+mj-lt"/>
                <a:ea typeface="Verdana"/>
                <a:cs typeface="Arial"/>
              </a:rPr>
              <a:t>Executing on the sprint plan</a:t>
            </a:r>
            <a:endParaRPr lang="en-US" sz="800">
              <a:solidFill>
                <a:schemeClr val="tx1"/>
              </a:solidFill>
              <a:latin typeface="+mj-lt"/>
              <a:cs typeface="Arial" panose="020B0604020202020204"/>
            </a:endParaRPr>
          </a:p>
          <a:p>
            <a:pPr marL="342900">
              <a:defRPr/>
            </a:pPr>
            <a:endParaRPr lang="en-US" sz="800">
              <a:solidFill>
                <a:schemeClr val="tx1"/>
              </a:solidFill>
              <a:latin typeface="+mj-lt"/>
              <a:ea typeface="Verdana"/>
              <a:cs typeface="Arial"/>
            </a:endParaRPr>
          </a:p>
          <a:p>
            <a:pPr marL="342900">
              <a:defRPr/>
            </a:pPr>
            <a:r>
              <a:rPr lang="en-US" sz="800">
                <a:solidFill>
                  <a:schemeClr val="tx1"/>
                </a:solidFill>
                <a:latin typeface="+mj-lt"/>
                <a:ea typeface="Verdana"/>
                <a:cs typeface="Arial"/>
              </a:rPr>
              <a:t>Updating documentation</a:t>
            </a:r>
            <a:endParaRPr lang="en-US" sz="800">
              <a:solidFill>
                <a:schemeClr val="tx1"/>
              </a:solidFill>
              <a:latin typeface="+mj-lt"/>
              <a:ea typeface="Verdana" charset="0"/>
              <a:cs typeface="Arial" panose="020B0604020202020204" pitchFamily="34" charset="0"/>
            </a:endParaRPr>
          </a:p>
          <a:p>
            <a:pPr marL="342900">
              <a:defRPr/>
            </a:pPr>
            <a:endParaRPr lang="en-US" sz="800">
              <a:solidFill>
                <a:schemeClr val="tx1"/>
              </a:solidFill>
              <a:latin typeface="+mj-lt"/>
              <a:ea typeface="Verdana"/>
              <a:cs typeface="Arial"/>
            </a:endParaRPr>
          </a:p>
          <a:p>
            <a:pPr marL="342900">
              <a:defRPr/>
            </a:pPr>
            <a:r>
              <a:rPr lang="en-US" sz="800">
                <a:solidFill>
                  <a:schemeClr val="tx1"/>
                </a:solidFill>
                <a:latin typeface="+mj-lt"/>
                <a:ea typeface="Verdana"/>
                <a:cs typeface="Arial"/>
              </a:rPr>
              <a:t>Loading production data</a:t>
            </a:r>
            <a:endParaRPr lang="en-US" sz="800">
              <a:solidFill>
                <a:schemeClr val="tx1"/>
              </a:solidFill>
              <a:latin typeface="+mj-lt"/>
              <a:ea typeface="Verdana" charset="0"/>
              <a:cs typeface="Arial" panose="020B0604020202020204" pitchFamily="34" charset="0"/>
            </a:endParaRPr>
          </a:p>
          <a:p>
            <a:pPr marL="342900">
              <a:defRPr/>
            </a:pPr>
            <a:endParaRPr lang="en-US" sz="800">
              <a:solidFill>
                <a:schemeClr val="tx1"/>
              </a:solidFill>
              <a:latin typeface="+mj-lt"/>
              <a:ea typeface="Verdana"/>
              <a:cs typeface="Arial"/>
            </a:endParaRPr>
          </a:p>
          <a:p>
            <a:pPr marL="342900">
              <a:defRPr/>
            </a:pPr>
            <a:r>
              <a:rPr lang="en-US" sz="800">
                <a:solidFill>
                  <a:schemeClr val="tx1"/>
                </a:solidFill>
                <a:latin typeface="+mj-lt"/>
                <a:ea typeface="Verdana"/>
                <a:cs typeface="Arial"/>
              </a:rPr>
              <a:t>Preparing for </a:t>
            </a:r>
            <a:br>
              <a:rPr lang="en-US" sz="800">
                <a:solidFill>
                  <a:schemeClr val="tx1"/>
                </a:solidFill>
                <a:latin typeface="+mj-lt"/>
                <a:ea typeface="Verdana"/>
                <a:cs typeface="Arial"/>
              </a:rPr>
            </a:br>
            <a:r>
              <a:rPr lang="en-US" sz="800">
                <a:solidFill>
                  <a:schemeClr val="tx1"/>
                </a:solidFill>
                <a:latin typeface="+mj-lt"/>
                <a:ea typeface="Verdana"/>
                <a:cs typeface="Arial"/>
              </a:rPr>
              <a:t>SIT and UAT</a:t>
            </a:r>
            <a:endParaRPr lang="en-US" sz="800">
              <a:solidFill>
                <a:schemeClr val="tx1"/>
              </a:solidFill>
              <a:latin typeface="+mj-lt"/>
              <a:ea typeface="Verdana" charset="0"/>
              <a:cs typeface="Arial" panose="020B0604020202020204" pitchFamily="34" charset="0"/>
            </a:endParaRPr>
          </a:p>
          <a:p>
            <a:pPr marL="471488">
              <a:defRPr/>
            </a:pPr>
            <a:endParaRPr lang="en-US" sz="825">
              <a:solidFill>
                <a:srgbClr val="0A2F46"/>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a:p>
            <a:pPr>
              <a:defRPr/>
            </a:pPr>
            <a:endParaRPr lang="en-US" sz="825">
              <a:solidFill>
                <a:srgbClr val="0A2F46"/>
              </a:solidFill>
              <a:latin typeface="Arial" panose="020B0604020202020204" pitchFamily="34" charset="0"/>
              <a:ea typeface="Verdana" charset="0"/>
              <a:cs typeface="Arial" panose="020B0604020202020204" pitchFamily="34" charset="0"/>
            </a:endParaRPr>
          </a:p>
        </p:txBody>
      </p:sp>
      <p:sp>
        <p:nvSpPr>
          <p:cNvPr id="15" name="Rectangle 14">
            <a:extLst>
              <a:ext uri="{FF2B5EF4-FFF2-40B4-BE49-F238E27FC236}">
                <a16:creationId xmlns:a16="http://schemas.microsoft.com/office/drawing/2014/main" id="{6E456CC3-D5F8-47FC-BFC1-C54246AAD2A1}"/>
              </a:ext>
            </a:extLst>
          </p:cNvPr>
          <p:cNvSpPr/>
          <p:nvPr/>
        </p:nvSpPr>
        <p:spPr>
          <a:xfrm>
            <a:off x="7093601" y="2111074"/>
            <a:ext cx="1263720" cy="2508859"/>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171450" rIns="34290" bIns="3429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450"/>
              </a:spcAft>
              <a:defRPr/>
            </a:pPr>
            <a:endParaRPr lang="en-US" sz="825" b="1">
              <a:solidFill>
                <a:schemeClr val="tx1"/>
              </a:solidFill>
              <a:latin typeface="Arial"/>
              <a:ea typeface="Verdana"/>
              <a:cs typeface="Arial"/>
            </a:endParaRPr>
          </a:p>
          <a:p>
            <a:pPr marL="385763"/>
            <a:r>
              <a:rPr lang="en-US" sz="800">
                <a:solidFill>
                  <a:schemeClr val="tx1"/>
                </a:solidFill>
                <a:latin typeface="+mj-lt"/>
                <a:ea typeface="Verdana"/>
                <a:cs typeface="Arial"/>
              </a:rPr>
              <a:t>Training key users</a:t>
            </a:r>
          </a:p>
          <a:p>
            <a:pPr marL="385763"/>
            <a:endParaRPr lang="en-US" sz="800">
              <a:solidFill>
                <a:schemeClr val="tx1"/>
              </a:solidFill>
              <a:latin typeface="+mj-lt"/>
              <a:ea typeface="Verdana"/>
              <a:cs typeface="Arial"/>
            </a:endParaRPr>
          </a:p>
          <a:p>
            <a:pPr marL="385763"/>
            <a:r>
              <a:rPr lang="en-US" sz="800">
                <a:solidFill>
                  <a:schemeClr val="tx1"/>
                </a:solidFill>
                <a:latin typeface="+mj-lt"/>
                <a:ea typeface="Verdana"/>
                <a:cs typeface="Arial"/>
              </a:rPr>
              <a:t>Performing and signing off on testing</a:t>
            </a:r>
            <a:endParaRPr lang="en-US" sz="800">
              <a:solidFill>
                <a:schemeClr val="tx1"/>
              </a:solidFill>
              <a:latin typeface="+mj-lt"/>
              <a:ea typeface="Verdana" charset="0"/>
              <a:cs typeface="Arial" panose="020B0604020202020204" pitchFamily="34" charset="0"/>
            </a:endParaRPr>
          </a:p>
          <a:p>
            <a:pPr marL="385763"/>
            <a:endParaRPr lang="en-US" sz="800">
              <a:solidFill>
                <a:schemeClr val="tx1"/>
              </a:solidFill>
              <a:latin typeface="+mj-lt"/>
              <a:ea typeface="Verdana"/>
              <a:cs typeface="Arial"/>
            </a:endParaRPr>
          </a:p>
          <a:p>
            <a:pPr marL="385763"/>
            <a:r>
              <a:rPr lang="en-US" sz="800">
                <a:solidFill>
                  <a:schemeClr val="tx1"/>
                </a:solidFill>
                <a:latin typeface="+mj-lt"/>
                <a:ea typeface="Verdana"/>
                <a:cs typeface="Arial"/>
              </a:rPr>
              <a:t>Providing support through an agreed number of cycles</a:t>
            </a:r>
            <a:endParaRPr lang="en-US" sz="800">
              <a:solidFill>
                <a:schemeClr val="tx1"/>
              </a:solidFill>
              <a:latin typeface="+mj-lt"/>
              <a:ea typeface="Verdana" charset="0"/>
              <a:cs typeface="Arial" panose="020B0604020202020204" pitchFamily="34" charset="0"/>
            </a:endParaRPr>
          </a:p>
          <a:p>
            <a:pPr marL="385763"/>
            <a:endParaRPr lang="en-US" sz="800">
              <a:solidFill>
                <a:schemeClr val="tx1"/>
              </a:solidFill>
              <a:latin typeface="+mj-lt"/>
              <a:ea typeface="Verdana"/>
              <a:cs typeface="Arial"/>
            </a:endParaRPr>
          </a:p>
          <a:p>
            <a:pPr marL="385763"/>
            <a:r>
              <a:rPr lang="en-US" sz="800">
                <a:solidFill>
                  <a:schemeClr val="tx1"/>
                </a:solidFill>
                <a:latin typeface="+mj-lt"/>
                <a:ea typeface="Verdana"/>
                <a:cs typeface="Arial"/>
              </a:rPr>
              <a:t>Going live with the </a:t>
            </a:r>
            <a:br>
              <a:rPr lang="en-US" sz="800">
                <a:solidFill>
                  <a:schemeClr val="tx1"/>
                </a:solidFill>
                <a:latin typeface="+mj-lt"/>
                <a:ea typeface="Verdana"/>
                <a:cs typeface="Arial"/>
              </a:rPr>
            </a:br>
            <a:r>
              <a:rPr lang="en-US" sz="800">
                <a:solidFill>
                  <a:schemeClr val="tx1"/>
                </a:solidFill>
                <a:latin typeface="+mj-lt"/>
                <a:ea typeface="Verdana"/>
                <a:cs typeface="Arial"/>
              </a:rPr>
              <a:t>application with extensions</a:t>
            </a:r>
            <a:endParaRPr lang="en-US" sz="800">
              <a:solidFill>
                <a:schemeClr val="tx1"/>
              </a:solidFill>
              <a:latin typeface="+mj-lt"/>
              <a:ea typeface="Verdana" charset="0"/>
              <a:cs typeface="Arial" panose="020B0604020202020204" pitchFamily="34" charset="0"/>
            </a:endParaRPr>
          </a:p>
          <a:p>
            <a:pPr marL="128588" indent="-128588">
              <a:buFont typeface="Arial,Sans-Serif"/>
              <a:buChar char="•"/>
            </a:pPr>
            <a:endParaRPr lang="en-US" sz="825">
              <a:solidFill>
                <a:srgbClr val="0A2F46"/>
              </a:solidFill>
              <a:latin typeface="Arial" panose="020B0604020202020204" pitchFamily="34" charset="0"/>
              <a:ea typeface="Verdana" charset="0"/>
              <a:cs typeface="Arial" panose="020B0604020202020204" pitchFamily="34" charset="0"/>
            </a:endParaRPr>
          </a:p>
          <a:p>
            <a:pPr marL="128588" indent="-128588">
              <a:buFont typeface="Arial,Sans-Serif"/>
              <a:buChar char="•"/>
            </a:pPr>
            <a:endParaRPr lang="en-US" sz="825">
              <a:solidFill>
                <a:srgbClr val="0A2F46"/>
              </a:solidFill>
              <a:latin typeface="Arial" panose="020B0604020202020204" pitchFamily="34" charset="0"/>
              <a:ea typeface="Verdana" charset="0"/>
              <a:cs typeface="Arial" panose="020B0604020202020204" pitchFamily="34" charset="0"/>
            </a:endParaRPr>
          </a:p>
          <a:p>
            <a:pPr marL="128588" indent="-128588">
              <a:buFont typeface="Arial,Sans-Serif"/>
              <a:buChar char="•"/>
            </a:pPr>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b="1">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a:solidFill>
                <a:srgbClr val="0A2F46"/>
              </a:solidFill>
              <a:latin typeface="Arial" panose="020B0604020202020204" pitchFamily="34" charset="0"/>
              <a:ea typeface="Verdana" charset="0"/>
              <a:cs typeface="Arial" panose="020B0604020202020204" pitchFamily="34" charset="0"/>
            </a:endParaRPr>
          </a:p>
          <a:p>
            <a:endParaRPr lang="en-US" sz="825" b="1">
              <a:solidFill>
                <a:srgbClr val="0A2F46"/>
              </a:solidFill>
              <a:latin typeface="Arial" panose="020B0604020202020204" pitchFamily="34" charset="0"/>
              <a:ea typeface="Verdana" charset="0"/>
              <a:cs typeface="Arial" panose="020B0604020202020204" pitchFamily="34" charset="0"/>
            </a:endParaRPr>
          </a:p>
        </p:txBody>
      </p:sp>
      <p:pic>
        <p:nvPicPr>
          <p:cNvPr id="4" name="Picture 3" descr="A group of people with blue circles&#10;&#10;AI-generated content may be incorrect.">
            <a:extLst>
              <a:ext uri="{FF2B5EF4-FFF2-40B4-BE49-F238E27FC236}">
                <a16:creationId xmlns:a16="http://schemas.microsoft.com/office/drawing/2014/main" id="{6622C746-7D09-F3D4-7728-BC4F2FD417B2}"/>
              </a:ext>
            </a:extLst>
          </p:cNvPr>
          <p:cNvPicPr>
            <a:picLocks noChangeAspect="1"/>
          </p:cNvPicPr>
          <p:nvPr/>
        </p:nvPicPr>
        <p:blipFill>
          <a:blip r:embed="rId5"/>
          <a:stretch>
            <a:fillRect/>
          </a:stretch>
        </p:blipFill>
        <p:spPr>
          <a:xfrm>
            <a:off x="1989228" y="2486081"/>
            <a:ext cx="195681" cy="195681"/>
          </a:xfrm>
          <a:prstGeom prst="rect">
            <a:avLst/>
          </a:prstGeom>
        </p:spPr>
      </p:pic>
      <p:pic>
        <p:nvPicPr>
          <p:cNvPr id="6" name="Picture 5" descr="A blue outline of a magnifying glass&#10;&#10;AI-generated content may be incorrect.">
            <a:extLst>
              <a:ext uri="{FF2B5EF4-FFF2-40B4-BE49-F238E27FC236}">
                <a16:creationId xmlns:a16="http://schemas.microsoft.com/office/drawing/2014/main" id="{883F0F45-F1FD-B856-1F36-2397888E628D}"/>
              </a:ext>
            </a:extLst>
          </p:cNvPr>
          <p:cNvPicPr>
            <a:picLocks noChangeAspect="1"/>
          </p:cNvPicPr>
          <p:nvPr/>
        </p:nvPicPr>
        <p:blipFill>
          <a:blip r:embed="rId6"/>
          <a:stretch>
            <a:fillRect/>
          </a:stretch>
        </p:blipFill>
        <p:spPr>
          <a:xfrm>
            <a:off x="688838" y="2950691"/>
            <a:ext cx="195681" cy="195681"/>
          </a:xfrm>
          <a:prstGeom prst="rect">
            <a:avLst/>
          </a:prstGeom>
        </p:spPr>
      </p:pic>
      <p:pic>
        <p:nvPicPr>
          <p:cNvPr id="7" name="Picture 6" descr="A blue outline of a hand shaking&#10;&#10;AI-generated content may be incorrect.">
            <a:extLst>
              <a:ext uri="{FF2B5EF4-FFF2-40B4-BE49-F238E27FC236}">
                <a16:creationId xmlns:a16="http://schemas.microsoft.com/office/drawing/2014/main" id="{F250D7F3-4986-5A4F-56C3-58B56D2FFFCC}"/>
              </a:ext>
            </a:extLst>
          </p:cNvPr>
          <p:cNvPicPr>
            <a:picLocks noChangeAspect="1"/>
          </p:cNvPicPr>
          <p:nvPr/>
        </p:nvPicPr>
        <p:blipFill>
          <a:blip r:embed="rId7"/>
          <a:stretch>
            <a:fillRect/>
          </a:stretch>
        </p:blipFill>
        <p:spPr>
          <a:xfrm>
            <a:off x="688838" y="3701783"/>
            <a:ext cx="195682" cy="200831"/>
          </a:xfrm>
          <a:prstGeom prst="rect">
            <a:avLst/>
          </a:prstGeom>
        </p:spPr>
      </p:pic>
      <p:pic>
        <p:nvPicPr>
          <p:cNvPr id="8" name="Picture 7" descr="A blue and black logo&#10;&#10;AI-generated content may be incorrect.">
            <a:extLst>
              <a:ext uri="{FF2B5EF4-FFF2-40B4-BE49-F238E27FC236}">
                <a16:creationId xmlns:a16="http://schemas.microsoft.com/office/drawing/2014/main" id="{29410CBA-663C-EC2C-82C8-B1FAD3EC3AB9}"/>
              </a:ext>
            </a:extLst>
          </p:cNvPr>
          <p:cNvPicPr>
            <a:picLocks noChangeAspect="1"/>
          </p:cNvPicPr>
          <p:nvPr/>
        </p:nvPicPr>
        <p:blipFill>
          <a:blip r:embed="rId8"/>
          <a:stretch>
            <a:fillRect/>
          </a:stretch>
        </p:blipFill>
        <p:spPr>
          <a:xfrm>
            <a:off x="1989227" y="2978807"/>
            <a:ext cx="195682" cy="195682"/>
          </a:xfrm>
          <a:prstGeom prst="rect">
            <a:avLst/>
          </a:prstGeom>
        </p:spPr>
      </p:pic>
      <p:pic>
        <p:nvPicPr>
          <p:cNvPr id="16" name="Picture 15" descr="A blue and black logo&#10;&#10;AI-generated content may be incorrect.">
            <a:extLst>
              <a:ext uri="{FF2B5EF4-FFF2-40B4-BE49-F238E27FC236}">
                <a16:creationId xmlns:a16="http://schemas.microsoft.com/office/drawing/2014/main" id="{597ADCF9-28AE-4121-E2CF-FBFFD506263E}"/>
              </a:ext>
            </a:extLst>
          </p:cNvPr>
          <p:cNvPicPr>
            <a:picLocks noChangeAspect="1"/>
          </p:cNvPicPr>
          <p:nvPr/>
        </p:nvPicPr>
        <p:blipFill>
          <a:blip r:embed="rId9"/>
          <a:stretch>
            <a:fillRect/>
          </a:stretch>
        </p:blipFill>
        <p:spPr>
          <a:xfrm>
            <a:off x="1989227" y="3590524"/>
            <a:ext cx="195681" cy="195681"/>
          </a:xfrm>
          <a:prstGeom prst="rect">
            <a:avLst/>
          </a:prstGeom>
        </p:spPr>
      </p:pic>
      <p:pic>
        <p:nvPicPr>
          <p:cNvPr id="17" name="Picture 16" descr="A blue and black cube&#10;&#10;AI-generated content may be incorrect.">
            <a:extLst>
              <a:ext uri="{FF2B5EF4-FFF2-40B4-BE49-F238E27FC236}">
                <a16:creationId xmlns:a16="http://schemas.microsoft.com/office/drawing/2014/main" id="{DA60128C-37C3-D22C-57FC-EF0E33532FFE}"/>
              </a:ext>
            </a:extLst>
          </p:cNvPr>
          <p:cNvPicPr>
            <a:picLocks noChangeAspect="1"/>
          </p:cNvPicPr>
          <p:nvPr/>
        </p:nvPicPr>
        <p:blipFill>
          <a:blip r:embed="rId10"/>
          <a:stretch>
            <a:fillRect/>
          </a:stretch>
        </p:blipFill>
        <p:spPr>
          <a:xfrm>
            <a:off x="3270641" y="2486080"/>
            <a:ext cx="195682" cy="195682"/>
          </a:xfrm>
          <a:prstGeom prst="rect">
            <a:avLst/>
          </a:prstGeom>
        </p:spPr>
      </p:pic>
      <p:pic>
        <p:nvPicPr>
          <p:cNvPr id="19" name="Picture 18">
            <a:extLst>
              <a:ext uri="{FF2B5EF4-FFF2-40B4-BE49-F238E27FC236}">
                <a16:creationId xmlns:a16="http://schemas.microsoft.com/office/drawing/2014/main" id="{E5ADFF6E-5CFE-00B5-B67C-2046CB514A07}"/>
              </a:ext>
            </a:extLst>
          </p:cNvPr>
          <p:cNvPicPr>
            <a:picLocks noChangeAspect="1"/>
          </p:cNvPicPr>
          <p:nvPr/>
        </p:nvPicPr>
        <p:blipFill>
          <a:blip r:embed="rId11"/>
          <a:stretch>
            <a:fillRect/>
          </a:stretch>
        </p:blipFill>
        <p:spPr>
          <a:xfrm>
            <a:off x="3270641" y="3093269"/>
            <a:ext cx="195683" cy="195683"/>
          </a:xfrm>
          <a:prstGeom prst="rect">
            <a:avLst/>
          </a:prstGeom>
        </p:spPr>
      </p:pic>
      <p:pic>
        <p:nvPicPr>
          <p:cNvPr id="20" name="Picture 19" descr="A blue check mark in a circle&#10;&#10;AI-generated content may be incorrect.">
            <a:extLst>
              <a:ext uri="{FF2B5EF4-FFF2-40B4-BE49-F238E27FC236}">
                <a16:creationId xmlns:a16="http://schemas.microsoft.com/office/drawing/2014/main" id="{5007A83A-5734-32C1-FFBD-D3C954D54393}"/>
              </a:ext>
            </a:extLst>
          </p:cNvPr>
          <p:cNvPicPr>
            <a:picLocks noChangeAspect="1"/>
          </p:cNvPicPr>
          <p:nvPr/>
        </p:nvPicPr>
        <p:blipFill>
          <a:blip r:embed="rId12"/>
          <a:stretch>
            <a:fillRect/>
          </a:stretch>
        </p:blipFill>
        <p:spPr>
          <a:xfrm>
            <a:off x="3270641" y="3590144"/>
            <a:ext cx="195683" cy="195683"/>
          </a:xfrm>
          <a:prstGeom prst="rect">
            <a:avLst/>
          </a:prstGeom>
        </p:spPr>
      </p:pic>
      <p:pic>
        <p:nvPicPr>
          <p:cNvPr id="22" name="Picture 21" descr="A blue and black logo&#10;&#10;AI-generated content may be incorrect.">
            <a:extLst>
              <a:ext uri="{FF2B5EF4-FFF2-40B4-BE49-F238E27FC236}">
                <a16:creationId xmlns:a16="http://schemas.microsoft.com/office/drawing/2014/main" id="{FC7D9782-F4DC-18DA-3B4B-25E5E05F0104}"/>
              </a:ext>
            </a:extLst>
          </p:cNvPr>
          <p:cNvPicPr>
            <a:picLocks noChangeAspect="1"/>
          </p:cNvPicPr>
          <p:nvPr/>
        </p:nvPicPr>
        <p:blipFill>
          <a:blip r:embed="rId13"/>
          <a:stretch>
            <a:fillRect/>
          </a:stretch>
        </p:blipFill>
        <p:spPr>
          <a:xfrm>
            <a:off x="3272228" y="4098500"/>
            <a:ext cx="195683" cy="195683"/>
          </a:xfrm>
          <a:prstGeom prst="rect">
            <a:avLst/>
          </a:prstGeom>
        </p:spPr>
      </p:pic>
      <p:pic>
        <p:nvPicPr>
          <p:cNvPr id="23" name="Picture 22" descr="A blue and black logo&#10;&#10;AI-generated content may be incorrect.">
            <a:extLst>
              <a:ext uri="{FF2B5EF4-FFF2-40B4-BE49-F238E27FC236}">
                <a16:creationId xmlns:a16="http://schemas.microsoft.com/office/drawing/2014/main" id="{4F6F0A04-8465-D71C-CF10-25F33B144448}"/>
              </a:ext>
            </a:extLst>
          </p:cNvPr>
          <p:cNvPicPr>
            <a:picLocks noChangeAspect="1"/>
          </p:cNvPicPr>
          <p:nvPr/>
        </p:nvPicPr>
        <p:blipFill>
          <a:blip r:embed="rId13"/>
          <a:stretch>
            <a:fillRect/>
          </a:stretch>
        </p:blipFill>
        <p:spPr>
          <a:xfrm>
            <a:off x="7201368" y="3986290"/>
            <a:ext cx="197636" cy="197636"/>
          </a:xfrm>
          <a:prstGeom prst="rect">
            <a:avLst/>
          </a:prstGeom>
        </p:spPr>
      </p:pic>
      <p:pic>
        <p:nvPicPr>
          <p:cNvPr id="25" name="Picture 24">
            <a:extLst>
              <a:ext uri="{FF2B5EF4-FFF2-40B4-BE49-F238E27FC236}">
                <a16:creationId xmlns:a16="http://schemas.microsoft.com/office/drawing/2014/main" id="{B3DAE208-DEA8-1311-7170-59EEDDC9FDDD}"/>
              </a:ext>
            </a:extLst>
          </p:cNvPr>
          <p:cNvPicPr>
            <a:picLocks noChangeAspect="1"/>
          </p:cNvPicPr>
          <p:nvPr/>
        </p:nvPicPr>
        <p:blipFill>
          <a:blip r:embed="rId14"/>
          <a:stretch>
            <a:fillRect/>
          </a:stretch>
        </p:blipFill>
        <p:spPr>
          <a:xfrm>
            <a:off x="4568368" y="2473083"/>
            <a:ext cx="195682" cy="195682"/>
          </a:xfrm>
          <a:prstGeom prst="rect">
            <a:avLst/>
          </a:prstGeom>
        </p:spPr>
      </p:pic>
      <p:pic>
        <p:nvPicPr>
          <p:cNvPr id="26" name="Picture 25" descr="A blue and black logo&#10;&#10;AI-generated content may be incorrect.">
            <a:extLst>
              <a:ext uri="{FF2B5EF4-FFF2-40B4-BE49-F238E27FC236}">
                <a16:creationId xmlns:a16="http://schemas.microsoft.com/office/drawing/2014/main" id="{29B852A4-6B17-E629-C5F5-A417C881E358}"/>
              </a:ext>
            </a:extLst>
          </p:cNvPr>
          <p:cNvPicPr>
            <a:picLocks noChangeAspect="1"/>
          </p:cNvPicPr>
          <p:nvPr/>
        </p:nvPicPr>
        <p:blipFill>
          <a:blip r:embed="rId15"/>
          <a:stretch>
            <a:fillRect/>
          </a:stretch>
        </p:blipFill>
        <p:spPr>
          <a:xfrm>
            <a:off x="4568368" y="3603942"/>
            <a:ext cx="195682" cy="195682"/>
          </a:xfrm>
          <a:prstGeom prst="rect">
            <a:avLst/>
          </a:prstGeom>
        </p:spPr>
      </p:pic>
      <p:pic>
        <p:nvPicPr>
          <p:cNvPr id="27" name="Picture 26" descr="A blue line icon with black background&#10;&#10;AI-generated content may be incorrect.">
            <a:extLst>
              <a:ext uri="{FF2B5EF4-FFF2-40B4-BE49-F238E27FC236}">
                <a16:creationId xmlns:a16="http://schemas.microsoft.com/office/drawing/2014/main" id="{A12015C3-C9C1-2358-8AAC-B4C8EE20A290}"/>
              </a:ext>
            </a:extLst>
          </p:cNvPr>
          <p:cNvPicPr>
            <a:picLocks noChangeAspect="1"/>
          </p:cNvPicPr>
          <p:nvPr/>
        </p:nvPicPr>
        <p:blipFill>
          <a:blip r:embed="rId16"/>
          <a:stretch>
            <a:fillRect/>
          </a:stretch>
        </p:blipFill>
        <p:spPr>
          <a:xfrm>
            <a:off x="5874523" y="2487712"/>
            <a:ext cx="195682" cy="200831"/>
          </a:xfrm>
          <a:prstGeom prst="rect">
            <a:avLst/>
          </a:prstGeom>
        </p:spPr>
      </p:pic>
      <p:pic>
        <p:nvPicPr>
          <p:cNvPr id="28" name="Picture 27" descr="A blue pencil with a black background&#10;&#10;AI-generated content may be incorrect.">
            <a:extLst>
              <a:ext uri="{FF2B5EF4-FFF2-40B4-BE49-F238E27FC236}">
                <a16:creationId xmlns:a16="http://schemas.microsoft.com/office/drawing/2014/main" id="{5C1A05B7-ABE0-77C6-C2EB-9F77D0C1E317}"/>
              </a:ext>
            </a:extLst>
          </p:cNvPr>
          <p:cNvPicPr>
            <a:picLocks noChangeAspect="1"/>
          </p:cNvPicPr>
          <p:nvPr/>
        </p:nvPicPr>
        <p:blipFill>
          <a:blip r:embed="rId17"/>
          <a:stretch>
            <a:fillRect/>
          </a:stretch>
        </p:blipFill>
        <p:spPr>
          <a:xfrm>
            <a:off x="5866987" y="2850275"/>
            <a:ext cx="195682" cy="200831"/>
          </a:xfrm>
          <a:prstGeom prst="rect">
            <a:avLst/>
          </a:prstGeom>
        </p:spPr>
      </p:pic>
      <p:pic>
        <p:nvPicPr>
          <p:cNvPr id="29" name="Picture 28" descr="A blue arrow in a circle&#10;&#10;AI-generated content may be incorrect.">
            <a:extLst>
              <a:ext uri="{FF2B5EF4-FFF2-40B4-BE49-F238E27FC236}">
                <a16:creationId xmlns:a16="http://schemas.microsoft.com/office/drawing/2014/main" id="{0DDD3235-2449-39B9-4C39-4883673507EA}"/>
              </a:ext>
            </a:extLst>
          </p:cNvPr>
          <p:cNvPicPr>
            <a:picLocks noChangeAspect="1"/>
          </p:cNvPicPr>
          <p:nvPr/>
        </p:nvPicPr>
        <p:blipFill>
          <a:blip r:embed="rId18"/>
          <a:stretch>
            <a:fillRect/>
          </a:stretch>
        </p:blipFill>
        <p:spPr>
          <a:xfrm>
            <a:off x="5869373" y="3212111"/>
            <a:ext cx="200832" cy="200832"/>
          </a:xfrm>
          <a:prstGeom prst="rect">
            <a:avLst/>
          </a:prstGeom>
        </p:spPr>
      </p:pic>
      <p:pic>
        <p:nvPicPr>
          <p:cNvPr id="30" name="Picture 29">
            <a:extLst>
              <a:ext uri="{FF2B5EF4-FFF2-40B4-BE49-F238E27FC236}">
                <a16:creationId xmlns:a16="http://schemas.microsoft.com/office/drawing/2014/main" id="{D797BC88-B28F-59ED-7329-4C7DAEA4F53C}"/>
              </a:ext>
            </a:extLst>
          </p:cNvPr>
          <p:cNvPicPr>
            <a:picLocks noChangeAspect="1"/>
          </p:cNvPicPr>
          <p:nvPr/>
        </p:nvPicPr>
        <p:blipFill>
          <a:blip r:embed="rId19"/>
          <a:stretch>
            <a:fillRect/>
          </a:stretch>
        </p:blipFill>
        <p:spPr>
          <a:xfrm>
            <a:off x="5869373" y="3584995"/>
            <a:ext cx="200832" cy="200832"/>
          </a:xfrm>
          <a:prstGeom prst="rect">
            <a:avLst/>
          </a:prstGeom>
        </p:spPr>
      </p:pic>
      <p:pic>
        <p:nvPicPr>
          <p:cNvPr id="31" name="Picture 30" descr="A blue check marks in a box&#10;&#10;AI-generated content may be incorrect.">
            <a:extLst>
              <a:ext uri="{FF2B5EF4-FFF2-40B4-BE49-F238E27FC236}">
                <a16:creationId xmlns:a16="http://schemas.microsoft.com/office/drawing/2014/main" id="{13C1E995-E1D6-6BAD-3E12-5D251E0E1D79}"/>
              </a:ext>
            </a:extLst>
          </p:cNvPr>
          <p:cNvPicPr>
            <a:picLocks noChangeAspect="1"/>
          </p:cNvPicPr>
          <p:nvPr/>
        </p:nvPicPr>
        <p:blipFill>
          <a:blip r:embed="rId20"/>
          <a:stretch>
            <a:fillRect/>
          </a:stretch>
        </p:blipFill>
        <p:spPr>
          <a:xfrm>
            <a:off x="7201368" y="2837769"/>
            <a:ext cx="197635" cy="197635"/>
          </a:xfrm>
          <a:prstGeom prst="rect">
            <a:avLst/>
          </a:prstGeom>
        </p:spPr>
      </p:pic>
      <p:pic>
        <p:nvPicPr>
          <p:cNvPr id="35" name="Picture 34" descr="A blue outline of a graduation cap&#10;&#10;AI-generated content may be incorrect.">
            <a:extLst>
              <a:ext uri="{FF2B5EF4-FFF2-40B4-BE49-F238E27FC236}">
                <a16:creationId xmlns:a16="http://schemas.microsoft.com/office/drawing/2014/main" id="{37405272-3F0D-F915-0CAB-3CA81C57E6CC}"/>
              </a:ext>
            </a:extLst>
          </p:cNvPr>
          <p:cNvPicPr>
            <a:picLocks noChangeAspect="1"/>
          </p:cNvPicPr>
          <p:nvPr/>
        </p:nvPicPr>
        <p:blipFill>
          <a:blip r:embed="rId21"/>
          <a:stretch>
            <a:fillRect/>
          </a:stretch>
        </p:blipFill>
        <p:spPr>
          <a:xfrm>
            <a:off x="7201369" y="2486080"/>
            <a:ext cx="197635" cy="197635"/>
          </a:xfrm>
          <a:prstGeom prst="rect">
            <a:avLst/>
          </a:prstGeom>
        </p:spPr>
      </p:pic>
      <p:pic>
        <p:nvPicPr>
          <p:cNvPr id="42" name="Picture 41" descr="A blue circular arrows in a circle&#10;&#10;AI-generated content may be incorrect.">
            <a:extLst>
              <a:ext uri="{FF2B5EF4-FFF2-40B4-BE49-F238E27FC236}">
                <a16:creationId xmlns:a16="http://schemas.microsoft.com/office/drawing/2014/main" id="{FACC2A2F-B7F4-63EF-7426-6D000758A307}"/>
              </a:ext>
            </a:extLst>
          </p:cNvPr>
          <p:cNvPicPr>
            <a:picLocks noChangeAspect="1"/>
          </p:cNvPicPr>
          <p:nvPr/>
        </p:nvPicPr>
        <p:blipFill>
          <a:blip r:embed="rId22"/>
          <a:stretch>
            <a:fillRect/>
          </a:stretch>
        </p:blipFill>
        <p:spPr>
          <a:xfrm>
            <a:off x="7201368" y="3355371"/>
            <a:ext cx="197635" cy="197635"/>
          </a:xfrm>
          <a:prstGeom prst="rect">
            <a:avLst/>
          </a:prstGeom>
        </p:spPr>
      </p:pic>
      <p:sp>
        <p:nvSpPr>
          <p:cNvPr id="45" name="Rectangle 44">
            <a:extLst>
              <a:ext uri="{FF2B5EF4-FFF2-40B4-BE49-F238E27FC236}">
                <a16:creationId xmlns:a16="http://schemas.microsoft.com/office/drawing/2014/main" id="{44F56F52-5DC8-0DA1-87B4-C408BEC1541B}"/>
              </a:ext>
            </a:extLst>
          </p:cNvPr>
          <p:cNvSpPr/>
          <p:nvPr/>
        </p:nvSpPr>
        <p:spPr>
          <a:xfrm>
            <a:off x="589787" y="1008530"/>
            <a:ext cx="1278468" cy="136706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34290" rIns="34290" bIns="34290" rtlCol="0" anchor="ctr"/>
          <a:lstStyle/>
          <a:p>
            <a:r>
              <a:rPr lang="en-US" sz="1000">
                <a:solidFill>
                  <a:schemeClr val="tx1"/>
                </a:solidFill>
                <a:cs typeface="Arial" panose="020B0604020202020204"/>
              </a:rPr>
              <a:t>Laying the groundwork through discovery, assessment, and </a:t>
            </a:r>
            <a:br>
              <a:rPr lang="en-US" sz="1000">
                <a:cs typeface="Arial" panose="020B0604020202020204"/>
              </a:rPr>
            </a:br>
            <a:r>
              <a:rPr lang="en-US" sz="1000">
                <a:solidFill>
                  <a:schemeClr val="tx1"/>
                </a:solidFill>
                <a:cs typeface="Arial" panose="020B0604020202020204"/>
              </a:rPr>
              <a:t>strategic planning</a:t>
            </a:r>
          </a:p>
        </p:txBody>
      </p:sp>
      <p:sp>
        <p:nvSpPr>
          <p:cNvPr id="48" name="Rectangle 47">
            <a:extLst>
              <a:ext uri="{FF2B5EF4-FFF2-40B4-BE49-F238E27FC236}">
                <a16:creationId xmlns:a16="http://schemas.microsoft.com/office/drawing/2014/main" id="{E0DEF87F-F917-EBDB-8C83-A33360813F7E}"/>
              </a:ext>
            </a:extLst>
          </p:cNvPr>
          <p:cNvSpPr/>
          <p:nvPr/>
        </p:nvSpPr>
        <p:spPr>
          <a:xfrm>
            <a:off x="1900135" y="1008530"/>
            <a:ext cx="1263720" cy="137429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34290" rIns="34290" bIns="34290" rtlCol="0" anchor="ctr"/>
          <a:lstStyle/>
          <a:p>
            <a:r>
              <a:rPr lang="en-US" sz="1000">
                <a:solidFill>
                  <a:schemeClr val="tx1"/>
                </a:solidFill>
                <a:ea typeface="Verdana"/>
                <a:cs typeface="Arial"/>
              </a:rPr>
              <a:t>Building</a:t>
            </a:r>
            <a:r>
              <a:rPr lang="en-US" sz="1000">
                <a:solidFill>
                  <a:schemeClr val="tx1"/>
                </a:solidFill>
                <a:ea typeface="+mn-lt"/>
                <a:cs typeface="Arial" panose="020B0604020202020204"/>
              </a:rPr>
              <a:t> the </a:t>
            </a:r>
            <a:br>
              <a:rPr lang="en-US" sz="1000">
                <a:ea typeface="+mn-lt"/>
                <a:cs typeface="Arial" panose="020B0604020202020204"/>
              </a:rPr>
            </a:br>
            <a:r>
              <a:rPr lang="en-US" sz="1000">
                <a:solidFill>
                  <a:schemeClr val="tx1"/>
                </a:solidFill>
                <a:ea typeface="+mn-lt"/>
                <a:cs typeface="Arial" panose="020B0604020202020204"/>
              </a:rPr>
              <a:t>core solution by configuring </a:t>
            </a:r>
            <a:r>
              <a:rPr lang="en-US" sz="1000">
                <a:solidFill>
                  <a:schemeClr val="tx1"/>
                </a:solidFill>
                <a:cs typeface="Arial" panose="020B0604020202020204"/>
              </a:rPr>
              <a:t>the base application</a:t>
            </a:r>
            <a:endParaRPr lang="en-US" sz="1000">
              <a:solidFill>
                <a:schemeClr val="tx1"/>
              </a:solidFill>
            </a:endParaRPr>
          </a:p>
        </p:txBody>
      </p:sp>
      <p:sp>
        <p:nvSpPr>
          <p:cNvPr id="49" name="Rectangle 48">
            <a:extLst>
              <a:ext uri="{FF2B5EF4-FFF2-40B4-BE49-F238E27FC236}">
                <a16:creationId xmlns:a16="http://schemas.microsoft.com/office/drawing/2014/main" id="{96F4C8EE-0692-4FB7-7E61-99DCFFAF7154}"/>
              </a:ext>
            </a:extLst>
          </p:cNvPr>
          <p:cNvSpPr/>
          <p:nvPr/>
        </p:nvSpPr>
        <p:spPr>
          <a:xfrm>
            <a:off x="3197862" y="1008530"/>
            <a:ext cx="1263720" cy="137429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34290" rIns="34290" bIns="34290" rtlCol="0" anchor="ctr"/>
          <a:lstStyle/>
          <a:p>
            <a:pPr>
              <a:defRPr/>
            </a:pPr>
            <a:r>
              <a:rPr lang="en-US" sz="1000">
                <a:solidFill>
                  <a:schemeClr val="tx1"/>
                </a:solidFill>
                <a:cs typeface="Arial" panose="020B0604020202020204"/>
              </a:rPr>
              <a:t>Preparing</a:t>
            </a:r>
            <a:r>
              <a:rPr lang="en-US" sz="1000">
                <a:solidFill>
                  <a:schemeClr val="tx1"/>
                </a:solidFill>
                <a:ea typeface="+mn-lt"/>
                <a:cs typeface="Arial" panose="020B0604020202020204"/>
              </a:rPr>
              <a:t> the </a:t>
            </a:r>
            <a:br>
              <a:rPr lang="en-US" sz="1000">
                <a:ea typeface="+mn-lt"/>
                <a:cs typeface="Arial" panose="020B0604020202020204"/>
              </a:rPr>
            </a:br>
            <a:r>
              <a:rPr lang="en-US" sz="1000">
                <a:solidFill>
                  <a:schemeClr val="tx1"/>
                </a:solidFill>
                <a:ea typeface="+mn-lt"/>
                <a:cs typeface="Arial" panose="020B0604020202020204"/>
              </a:rPr>
              <a:t>base application </a:t>
            </a:r>
            <a:r>
              <a:rPr lang="en-US" sz="1000">
                <a:solidFill>
                  <a:schemeClr val="tx1"/>
                </a:solidFill>
                <a:cs typeface="Arial" panose="020B0604020202020204"/>
              </a:rPr>
              <a:t>for production</a:t>
            </a:r>
            <a:r>
              <a:rPr lang="en-US" sz="1000">
                <a:solidFill>
                  <a:schemeClr val="tx1"/>
                </a:solidFill>
                <a:ea typeface="+mn-lt"/>
                <a:cs typeface="Arial" panose="020B0604020202020204"/>
              </a:rPr>
              <a:t> with customer data </a:t>
            </a:r>
            <a:endParaRPr lang="en-US" sz="1000">
              <a:solidFill>
                <a:schemeClr val="tx1"/>
              </a:solidFill>
              <a:cs typeface="Arial"/>
            </a:endParaRPr>
          </a:p>
        </p:txBody>
      </p:sp>
      <p:sp>
        <p:nvSpPr>
          <p:cNvPr id="50" name="Rectangle 49">
            <a:extLst>
              <a:ext uri="{FF2B5EF4-FFF2-40B4-BE49-F238E27FC236}">
                <a16:creationId xmlns:a16="http://schemas.microsoft.com/office/drawing/2014/main" id="{57E0D78E-8087-9BD5-9849-34A628F22583}"/>
              </a:ext>
            </a:extLst>
          </p:cNvPr>
          <p:cNvSpPr/>
          <p:nvPr/>
        </p:nvSpPr>
        <p:spPr>
          <a:xfrm>
            <a:off x="4495589" y="1008530"/>
            <a:ext cx="1263720" cy="137429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34290" rIns="34290" bIns="34290" rtlCol="0" anchor="ctr"/>
          <a:lstStyle/>
          <a:p>
            <a:r>
              <a:rPr lang="en-US" sz="1000">
                <a:solidFill>
                  <a:schemeClr val="tx1"/>
                </a:solidFill>
                <a:ea typeface="Verdana"/>
                <a:cs typeface="Arial"/>
              </a:rPr>
              <a:t>Designing enhancements and</a:t>
            </a:r>
            <a:r>
              <a:rPr lang="en-US" sz="1000">
                <a:solidFill>
                  <a:schemeClr val="tx1"/>
                </a:solidFill>
                <a:cs typeface="Arial"/>
              </a:rPr>
              <a:t> custom functionality </a:t>
            </a:r>
            <a:r>
              <a:rPr lang="en-US" sz="1000">
                <a:solidFill>
                  <a:schemeClr val="tx1"/>
                </a:solidFill>
                <a:ea typeface="Verdana"/>
                <a:cs typeface="Arial"/>
              </a:rPr>
              <a:t>based on </a:t>
            </a:r>
            <a:r>
              <a:rPr lang="en-US" sz="1000">
                <a:solidFill>
                  <a:schemeClr val="tx1"/>
                </a:solidFill>
                <a:ea typeface="+mn-lt"/>
                <a:cs typeface="Arial" panose="020B0604020202020204"/>
              </a:rPr>
              <a:t>identified business </a:t>
            </a:r>
            <a:r>
              <a:rPr lang="en-US" sz="1000">
                <a:solidFill>
                  <a:schemeClr val="tx1"/>
                </a:solidFill>
                <a:cs typeface="Arial"/>
              </a:rPr>
              <a:t>needs</a:t>
            </a:r>
            <a:endParaRPr lang="en-US" sz="1000">
              <a:solidFill>
                <a:schemeClr val="tx1"/>
              </a:solidFill>
              <a:ea typeface="Verdana" charset="0"/>
              <a:cs typeface="Arial" panose="020B0604020202020204" pitchFamily="34" charset="0"/>
            </a:endParaRPr>
          </a:p>
        </p:txBody>
      </p:sp>
      <p:sp>
        <p:nvSpPr>
          <p:cNvPr id="51" name="Rectangle 50">
            <a:extLst>
              <a:ext uri="{FF2B5EF4-FFF2-40B4-BE49-F238E27FC236}">
                <a16:creationId xmlns:a16="http://schemas.microsoft.com/office/drawing/2014/main" id="{8C072441-D0BE-7E88-8B05-F6A2055BA72F}"/>
              </a:ext>
            </a:extLst>
          </p:cNvPr>
          <p:cNvSpPr/>
          <p:nvPr/>
        </p:nvSpPr>
        <p:spPr>
          <a:xfrm>
            <a:off x="5793317" y="1008530"/>
            <a:ext cx="1263720" cy="137429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34290" rIns="34290" bIns="34290" rtlCol="0" anchor="ctr"/>
          <a:lstStyle/>
          <a:p>
            <a:r>
              <a:rPr lang="en-US" sz="1000">
                <a:solidFill>
                  <a:schemeClr val="tx1"/>
                </a:solidFill>
                <a:ea typeface="Verdana"/>
                <a:cs typeface="Arial"/>
              </a:rPr>
              <a:t>Enhancing</a:t>
            </a:r>
            <a:r>
              <a:rPr lang="en-US" sz="1000">
                <a:solidFill>
                  <a:schemeClr val="tx1"/>
                </a:solidFill>
                <a:ea typeface="+mn-lt"/>
                <a:cs typeface="Arial" panose="020B0604020202020204"/>
              </a:rPr>
              <a:t> </a:t>
            </a:r>
            <a:r>
              <a:rPr lang="en-US" sz="1000">
                <a:solidFill>
                  <a:schemeClr val="tx1"/>
                </a:solidFill>
                <a:ea typeface="+mn-lt"/>
                <a:cs typeface="+mn-lt"/>
              </a:rPr>
              <a:t>the application </a:t>
            </a:r>
            <a:r>
              <a:rPr lang="en-US" sz="1000">
                <a:solidFill>
                  <a:schemeClr val="tx1"/>
                </a:solidFill>
                <a:ea typeface="Verdana"/>
                <a:cs typeface="Arial"/>
              </a:rPr>
              <a:t>with customer-specific features</a:t>
            </a:r>
            <a:endParaRPr lang="en-US" sz="1000">
              <a:solidFill>
                <a:schemeClr val="tx1"/>
              </a:solidFill>
              <a:cs typeface="Arial" panose="020B0604020202020204"/>
            </a:endParaRPr>
          </a:p>
        </p:txBody>
      </p:sp>
      <p:sp>
        <p:nvSpPr>
          <p:cNvPr id="52" name="Rectangle 51">
            <a:extLst>
              <a:ext uri="{FF2B5EF4-FFF2-40B4-BE49-F238E27FC236}">
                <a16:creationId xmlns:a16="http://schemas.microsoft.com/office/drawing/2014/main" id="{00E28D0C-29B9-A7A7-D9F1-B28175C99C45}"/>
              </a:ext>
            </a:extLst>
          </p:cNvPr>
          <p:cNvSpPr/>
          <p:nvPr/>
        </p:nvSpPr>
        <p:spPr>
          <a:xfrm>
            <a:off x="7097336" y="1008530"/>
            <a:ext cx="1263720" cy="137429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34290" rIns="34290" bIns="34290" rtlCol="0" anchor="ctr"/>
          <a:lstStyle/>
          <a:p>
            <a:pPr>
              <a:defRPr/>
            </a:pPr>
            <a:r>
              <a:rPr lang="en-US" sz="1000">
                <a:solidFill>
                  <a:schemeClr val="tx1"/>
                </a:solidFill>
                <a:ea typeface="+mn-lt"/>
                <a:cs typeface="Arial" panose="020B0604020202020204"/>
              </a:rPr>
              <a:t>Validating</a:t>
            </a:r>
            <a:r>
              <a:rPr lang="en-US" sz="1000">
                <a:solidFill>
                  <a:schemeClr val="tx1"/>
                </a:solidFill>
                <a:ea typeface="Verdana"/>
                <a:cs typeface="Arial"/>
              </a:rPr>
              <a:t> </a:t>
            </a:r>
            <a:r>
              <a:rPr lang="en-US" sz="1000">
                <a:solidFill>
                  <a:schemeClr val="tx1"/>
                </a:solidFill>
                <a:cs typeface="Arial"/>
              </a:rPr>
              <a:t>the solution and providing </a:t>
            </a:r>
            <a:br>
              <a:rPr lang="en-US" sz="1000">
                <a:cs typeface="Arial"/>
              </a:rPr>
            </a:br>
            <a:r>
              <a:rPr lang="en-US" sz="1000">
                <a:solidFill>
                  <a:schemeClr val="tx1"/>
                </a:solidFill>
                <a:cs typeface="Arial"/>
              </a:rPr>
              <a:t>launch support</a:t>
            </a:r>
            <a:endParaRPr lang="en-US" sz="1000">
              <a:solidFill>
                <a:schemeClr val="tx1"/>
              </a:solidFill>
              <a:ea typeface="+mn-lt"/>
              <a:cs typeface="+mn-lt"/>
            </a:endParaRPr>
          </a:p>
        </p:txBody>
      </p:sp>
      <p:pic>
        <p:nvPicPr>
          <p:cNvPr id="53" name="Picture 52" descr="A light bulb with a letter y&#10;&#10;AI-generated content may be incorrect.">
            <a:extLst>
              <a:ext uri="{FF2B5EF4-FFF2-40B4-BE49-F238E27FC236}">
                <a16:creationId xmlns:a16="http://schemas.microsoft.com/office/drawing/2014/main" id="{E07A867A-A8BB-0134-2926-B06EF14B7BD7}"/>
              </a:ext>
            </a:extLst>
          </p:cNvPr>
          <p:cNvPicPr>
            <a:picLocks noChangeAspect="1"/>
          </p:cNvPicPr>
          <p:nvPr/>
        </p:nvPicPr>
        <p:blipFill>
          <a:blip r:embed="rId23"/>
          <a:stretch>
            <a:fillRect/>
          </a:stretch>
        </p:blipFill>
        <p:spPr>
          <a:xfrm>
            <a:off x="688839" y="2473083"/>
            <a:ext cx="195681" cy="190664"/>
          </a:xfrm>
          <a:prstGeom prst="rect">
            <a:avLst/>
          </a:prstGeom>
        </p:spPr>
      </p:pic>
      <p:grpSp>
        <p:nvGrpSpPr>
          <p:cNvPr id="2" name="Group 1">
            <a:extLst>
              <a:ext uri="{FF2B5EF4-FFF2-40B4-BE49-F238E27FC236}">
                <a16:creationId xmlns:a16="http://schemas.microsoft.com/office/drawing/2014/main" id="{87F6D027-C96D-ED8D-864A-7A378B221045}"/>
              </a:ext>
            </a:extLst>
          </p:cNvPr>
          <p:cNvGrpSpPr/>
          <p:nvPr/>
        </p:nvGrpSpPr>
        <p:grpSpPr>
          <a:xfrm>
            <a:off x="-2208139" y="0"/>
            <a:ext cx="2338441" cy="5143500"/>
            <a:chOff x="-2208139" y="0"/>
            <a:chExt cx="2338441" cy="5143500"/>
          </a:xfrm>
        </p:grpSpPr>
        <p:sp>
          <p:nvSpPr>
            <p:cNvPr id="5" name="Rectangle: Rounded Corners 9">
              <a:extLst>
                <a:ext uri="{FF2B5EF4-FFF2-40B4-BE49-F238E27FC236}">
                  <a16:creationId xmlns:a16="http://schemas.microsoft.com/office/drawing/2014/main" id="{5E41FA5B-BD3F-B87C-9090-C0B1C5284A6E}"/>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E5AEF7AF-6C1B-576B-F8DE-0A278606EFB6}"/>
                </a:ext>
              </a:extLst>
            </p:cNvPr>
            <p:cNvGrpSpPr/>
            <p:nvPr/>
          </p:nvGrpSpPr>
          <p:grpSpPr>
            <a:xfrm>
              <a:off x="-2208139" y="0"/>
              <a:ext cx="2018501" cy="5143500"/>
              <a:chOff x="-2208139" y="0"/>
              <a:chExt cx="2018501" cy="5143500"/>
            </a:xfrm>
          </p:grpSpPr>
          <p:sp>
            <p:nvSpPr>
              <p:cNvPr id="24" name="Rectangle: Rounded Corners 11">
                <a:extLst>
                  <a:ext uri="{FF2B5EF4-FFF2-40B4-BE49-F238E27FC236}">
                    <a16:creationId xmlns:a16="http://schemas.microsoft.com/office/drawing/2014/main" id="{197173B3-55FD-2B41-1568-4C4E727C7032}"/>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32" name="TextBox 31">
                <a:extLst>
                  <a:ext uri="{FF2B5EF4-FFF2-40B4-BE49-F238E27FC236}">
                    <a16:creationId xmlns:a16="http://schemas.microsoft.com/office/drawing/2014/main" id="{06D79DF2-B6C1-8936-DB89-91B54519B1C7}"/>
                  </a:ext>
                </a:extLst>
              </p:cNvPr>
              <p:cNvSpPr txBox="1"/>
              <p:nvPr/>
            </p:nvSpPr>
            <p:spPr>
              <a:xfrm>
                <a:off x="-2081074" y="983848"/>
                <a:ext cx="1764368" cy="1384995"/>
              </a:xfrm>
              <a:prstGeom prst="rect">
                <a:avLst/>
              </a:prstGeom>
              <a:solidFill>
                <a:schemeClr val="bg1"/>
              </a:solidFill>
              <a:ln w="3175">
                <a:solidFill>
                  <a:schemeClr val="accent6">
                    <a:lumMod val="10000"/>
                  </a:schemeClr>
                </a:solidFill>
              </a:ln>
            </p:spPr>
            <p:txBody>
              <a:bodyPr wrap="square" lIns="91440" rtlCol="0">
                <a:spAutoFit/>
              </a:bodyPr>
              <a:lstStyle/>
              <a:p>
                <a:r>
                  <a:rPr lang="en-US" sz="1400"/>
                  <a:t>This slide is an alternative to slide 18. Only one version will need to be used in the kick-off meeting.</a:t>
                </a:r>
                <a:endPar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endParaRPr>
              </a:p>
            </p:txBody>
          </p:sp>
          <p:sp>
            <p:nvSpPr>
              <p:cNvPr id="54" name="TextBox 53">
                <a:extLst>
                  <a:ext uri="{FF2B5EF4-FFF2-40B4-BE49-F238E27FC236}">
                    <a16:creationId xmlns:a16="http://schemas.microsoft.com/office/drawing/2014/main" id="{F368BB96-39AF-08D7-5BCC-F251EB780622}"/>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55" name="Group 54">
                <a:extLst>
                  <a:ext uri="{FF2B5EF4-FFF2-40B4-BE49-F238E27FC236}">
                    <a16:creationId xmlns:a16="http://schemas.microsoft.com/office/drawing/2014/main" id="{88772F03-C8A9-08F2-CA76-7E87F6B4D903}"/>
                  </a:ext>
                </a:extLst>
              </p:cNvPr>
              <p:cNvGrpSpPr/>
              <p:nvPr/>
            </p:nvGrpSpPr>
            <p:grpSpPr>
              <a:xfrm>
                <a:off x="-1913726" y="4862278"/>
                <a:ext cx="1537258" cy="215444"/>
                <a:chOff x="-1907058" y="4862278"/>
                <a:chExt cx="1537258" cy="215444"/>
              </a:xfrm>
            </p:grpSpPr>
            <p:sp>
              <p:nvSpPr>
                <p:cNvPr id="59" name="TextBox 58">
                  <a:extLst>
                    <a:ext uri="{FF2B5EF4-FFF2-40B4-BE49-F238E27FC236}">
                      <a16:creationId xmlns:a16="http://schemas.microsoft.com/office/drawing/2014/main" id="{5486B667-6EAF-574A-73F7-5E365144A4D0}"/>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60" name="Graphic 59" descr="Warning with solid fill">
                  <a:extLst>
                    <a:ext uri="{FF2B5EF4-FFF2-40B4-BE49-F238E27FC236}">
                      <a16:creationId xmlns:a16="http://schemas.microsoft.com/office/drawing/2014/main" id="{81552D06-362A-4EF6-17A7-4FA6AF784CAB}"/>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907058" y="4928624"/>
                  <a:ext cx="98429" cy="98429"/>
                </a:xfrm>
                <a:prstGeom prst="rect">
                  <a:avLst/>
                </a:prstGeom>
              </p:spPr>
            </p:pic>
          </p:grpSp>
          <p:grpSp>
            <p:nvGrpSpPr>
              <p:cNvPr id="56" name="Group 55">
                <a:extLst>
                  <a:ext uri="{FF2B5EF4-FFF2-40B4-BE49-F238E27FC236}">
                    <a16:creationId xmlns:a16="http://schemas.microsoft.com/office/drawing/2014/main" id="{F42A1A5C-7BAB-E838-FED7-8C97DE478F68}"/>
                  </a:ext>
                </a:extLst>
              </p:cNvPr>
              <p:cNvGrpSpPr/>
              <p:nvPr/>
            </p:nvGrpSpPr>
            <p:grpSpPr>
              <a:xfrm>
                <a:off x="-1468837" y="0"/>
                <a:ext cx="539895" cy="539895"/>
                <a:chOff x="-1468837" y="0"/>
                <a:chExt cx="539895" cy="539895"/>
              </a:xfrm>
            </p:grpSpPr>
            <p:sp>
              <p:nvSpPr>
                <p:cNvPr id="57" name="Oval 56">
                  <a:extLst>
                    <a:ext uri="{FF2B5EF4-FFF2-40B4-BE49-F238E27FC236}">
                      <a16:creationId xmlns:a16="http://schemas.microsoft.com/office/drawing/2014/main" id="{74F99FDE-A442-4CBE-8BFE-159F64D7872D}"/>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58" name="Graphic 57" descr="Target Audience with solid fill">
                  <a:extLst>
                    <a:ext uri="{FF2B5EF4-FFF2-40B4-BE49-F238E27FC236}">
                      <a16:creationId xmlns:a16="http://schemas.microsoft.com/office/drawing/2014/main" id="{B8AF1F7F-F53F-CB91-FE17-274C0CE8B51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230428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7F78-0F81-C635-AAD2-A53E89299F7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437ACA7-E958-669A-4369-8A3DA49E9BA2}"/>
              </a:ext>
            </a:extLst>
          </p:cNvPr>
          <p:cNvSpPr/>
          <p:nvPr/>
        </p:nvSpPr>
        <p:spPr>
          <a:xfrm>
            <a:off x="586052" y="1010005"/>
            <a:ext cx="1263720" cy="4133495"/>
          </a:xfrm>
          <a:prstGeom prst="rect">
            <a:avLst/>
          </a:prstGeom>
          <a:gradFill>
            <a:gsLst>
              <a:gs pos="0">
                <a:schemeClr val="tx2">
                  <a:tint val="66000"/>
                  <a:satMod val="160000"/>
                </a:schemeClr>
              </a:gs>
              <a:gs pos="0">
                <a:schemeClr val="tx2">
                  <a:alpha val="20000"/>
                </a:schemeClr>
              </a:gs>
              <a:gs pos="100000">
                <a:srgbClr val="F2F2EF"/>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a:buChar char="•"/>
            </a:pPr>
            <a:endParaRPr lang="en-US" sz="750">
              <a:solidFill>
                <a:srgbClr val="0A2F46"/>
              </a:solidFill>
              <a:ea typeface="+mn-lt"/>
              <a:cs typeface="+mn-lt"/>
            </a:endParaRPr>
          </a:p>
          <a:p>
            <a:pPr marL="85725" indent="-85725">
              <a:buFont typeface="Arial"/>
              <a:buChar char="•"/>
            </a:pPr>
            <a:r>
              <a:rPr lang="en-US" sz="750">
                <a:solidFill>
                  <a:srgbClr val="0A2F46"/>
                </a:solidFill>
                <a:ea typeface="+mn-lt"/>
                <a:cs typeface="+mn-lt"/>
              </a:rPr>
              <a:t>Discovery workshop </a:t>
            </a:r>
          </a:p>
          <a:p>
            <a:pPr marL="85725" indent="-85725">
              <a:buFont typeface="Arial"/>
              <a:buChar char="•"/>
            </a:pPr>
            <a:r>
              <a:rPr lang="en-US" sz="750">
                <a:solidFill>
                  <a:srgbClr val="0A2F46"/>
                </a:solidFill>
                <a:ea typeface="+mn-lt"/>
                <a:cs typeface="+mn-lt"/>
              </a:rPr>
              <a:t>Project success drivers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planning metrics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functional scope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business processes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Application mapping (business need vs application coverage)</a:t>
            </a:r>
          </a:p>
          <a:p>
            <a:pPr marL="85725" indent="-85725">
              <a:buFont typeface="Arial"/>
              <a:buChar char="•"/>
            </a:pPr>
            <a:r>
              <a:rPr lang="en-US" sz="750">
                <a:solidFill>
                  <a:srgbClr val="0A2F46"/>
                </a:solidFill>
                <a:ea typeface="+mn-lt"/>
                <a:cs typeface="+mn-lt"/>
              </a:rPr>
              <a:t>Data readiness &amp; template review </a:t>
            </a:r>
            <a:endParaRPr lang="en-US" sz="750">
              <a:solidFill>
                <a:srgbClr val="0A2F46"/>
              </a:solidFill>
              <a:cs typeface="Arial"/>
            </a:endParaRPr>
          </a:p>
          <a:p>
            <a:pPr marL="85725" indent="-85725">
              <a:buFont typeface="Arial"/>
              <a:buChar char="•"/>
            </a:pPr>
            <a:r>
              <a:rPr lang="en-US" sz="750">
                <a:solidFill>
                  <a:srgbClr val="0A2F46"/>
                </a:solidFill>
                <a:ea typeface="+mn-lt"/>
                <a:cs typeface="+mn-lt"/>
              </a:rPr>
              <a:t>Training of key users</a:t>
            </a: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128588" indent="-128588">
              <a:buFont typeface="Wingdings"/>
              <a:buChar char="ü"/>
            </a:pPr>
            <a:r>
              <a:rPr lang="en-US" sz="750">
                <a:solidFill>
                  <a:srgbClr val="0A2F46"/>
                </a:solidFill>
                <a:ea typeface="+mn-lt"/>
                <a:cs typeface="+mn-lt"/>
              </a:rPr>
              <a:t>Signed SOW</a:t>
            </a:r>
          </a:p>
          <a:p>
            <a:pPr marL="128588" indent="-128588">
              <a:buFont typeface="Wingdings"/>
              <a:buChar char="ü"/>
            </a:pPr>
            <a:r>
              <a:rPr lang="en-US" sz="750">
                <a:solidFill>
                  <a:srgbClr val="0A2F46"/>
                </a:solidFill>
                <a:ea typeface="+mn-lt"/>
                <a:cs typeface="+mn-lt"/>
              </a:rPr>
              <a:t>Sales Assets</a:t>
            </a:r>
          </a:p>
          <a:p>
            <a:pPr marL="128588" indent="-128588">
              <a:buFont typeface="Wingdings"/>
              <a:buChar char="ü"/>
            </a:pPr>
            <a:r>
              <a:rPr lang="en-US" sz="750">
                <a:solidFill>
                  <a:srgbClr val="0A2F46"/>
                </a:solidFill>
                <a:ea typeface="+mn-lt"/>
                <a:cs typeface="+mn-lt"/>
              </a:rPr>
              <a:t>Sales to Delivery Handoff</a:t>
            </a:r>
            <a:endParaRPr lang="en-US" sz="750">
              <a:solidFill>
                <a:srgbClr val="0A2F46"/>
              </a:solidFill>
              <a:cs typeface="Arial" panose="020B0604020202020204"/>
            </a:endParaRPr>
          </a:p>
        </p:txBody>
      </p:sp>
      <p:sp>
        <p:nvSpPr>
          <p:cNvPr id="34" name="Rectangle 33">
            <a:extLst>
              <a:ext uri="{FF2B5EF4-FFF2-40B4-BE49-F238E27FC236}">
                <a16:creationId xmlns:a16="http://schemas.microsoft.com/office/drawing/2014/main" id="{A9907059-25A5-EC64-C613-43FB6F919DB7}"/>
              </a:ext>
            </a:extLst>
          </p:cNvPr>
          <p:cNvSpPr/>
          <p:nvPr/>
        </p:nvSpPr>
        <p:spPr>
          <a:xfrm>
            <a:off x="1896400" y="993884"/>
            <a:ext cx="1263720" cy="4149617"/>
          </a:xfrm>
          <a:prstGeom prst="rect">
            <a:avLst/>
          </a:prstGeom>
          <a:gradFill>
            <a:gsLst>
              <a:gs pos="0">
                <a:schemeClr val="tx2">
                  <a:tint val="66000"/>
                  <a:satMod val="160000"/>
                </a:schemeClr>
              </a:gs>
              <a:gs pos="0">
                <a:schemeClr val="accent3">
                  <a:alpha val="20000"/>
                </a:schemeClr>
              </a:gs>
              <a:gs pos="100000">
                <a:srgbClr val="F2F2EF"/>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cs typeface="Arial" panose="020B0604020202020204"/>
              </a:rPr>
              <a:t>Data</a:t>
            </a:r>
          </a:p>
          <a:p>
            <a:pPr marL="85725" indent="-85725">
              <a:buFont typeface="Arial"/>
              <a:buChar char="•"/>
            </a:pPr>
            <a:r>
              <a:rPr lang="en-US" sz="750">
                <a:solidFill>
                  <a:srgbClr val="0A2F46"/>
                </a:solidFill>
                <a:ea typeface="+mn-lt"/>
                <a:cs typeface="+mn-lt"/>
              </a:rPr>
              <a:t>Analyze customer data </a:t>
            </a:r>
          </a:p>
          <a:p>
            <a:pPr marL="85725" indent="-85725">
              <a:buFont typeface="Arial"/>
              <a:buChar char="•"/>
            </a:pPr>
            <a:r>
              <a:rPr lang="en-US" sz="750">
                <a:solidFill>
                  <a:srgbClr val="0A2F46"/>
                </a:solidFill>
                <a:ea typeface="+mn-lt"/>
                <a:cs typeface="+mn-lt"/>
              </a:rPr>
              <a:t>Data strategy and mapping</a:t>
            </a:r>
          </a:p>
          <a:p>
            <a:endParaRPr lang="en-US" sz="750" b="1">
              <a:solidFill>
                <a:srgbClr val="0A2F46"/>
              </a:solidFill>
              <a:cs typeface="Arial" panose="020B0604020202020204"/>
            </a:endParaRPr>
          </a:p>
          <a:p>
            <a:r>
              <a:rPr lang="en-US" sz="750" b="1">
                <a:solidFill>
                  <a:srgbClr val="0A2F46"/>
                </a:solidFill>
                <a:cs typeface="Arial" panose="020B0604020202020204"/>
              </a:rPr>
              <a:t>Application Config &amp; Design</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Conduct App-Led Design Workshops </a:t>
            </a:r>
          </a:p>
          <a:p>
            <a:pPr marL="85725" indent="-85725">
              <a:buFont typeface="Arial"/>
              <a:buChar char="•"/>
            </a:pPr>
            <a:r>
              <a:rPr lang="en-US" sz="750">
                <a:solidFill>
                  <a:srgbClr val="0A2F46"/>
                </a:solidFill>
                <a:cs typeface="Arial" panose="020B0604020202020204"/>
              </a:rPr>
              <a:t>Upload customer data into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Review data / planning granularity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Manage security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Configure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Extension / additional use-case design and prioritization</a:t>
            </a:r>
          </a:p>
          <a:p>
            <a:pPr marL="85725" indent="-85725">
              <a:buFont typeface="Arial"/>
              <a:buChar char="•"/>
            </a:pPr>
            <a:r>
              <a:rPr lang="en-US" sz="750">
                <a:solidFill>
                  <a:srgbClr val="0A2F46"/>
                </a:solidFill>
                <a:cs typeface="Arial" panose="020B0604020202020204"/>
              </a:rPr>
              <a:t>Interactive walk-through session of the base application with customer</a:t>
            </a:r>
          </a:p>
          <a:p>
            <a:pPr marL="85725" indent="-85725">
              <a:buFont typeface="Arial"/>
              <a:buChar char="•"/>
            </a:pPr>
            <a:endParaRPr lang="en-US" sz="750">
              <a:solidFill>
                <a:srgbClr val="0A2F46"/>
              </a:solidFill>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Validation</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Configurations Close Checklist Completed</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 Phase Project Plan Signed Off</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pP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7" name="Rectangle 36">
            <a:extLst>
              <a:ext uri="{FF2B5EF4-FFF2-40B4-BE49-F238E27FC236}">
                <a16:creationId xmlns:a16="http://schemas.microsoft.com/office/drawing/2014/main" id="{B998445D-55E1-6EF3-E276-186C0E7111FA}"/>
              </a:ext>
            </a:extLst>
          </p:cNvPr>
          <p:cNvSpPr/>
          <p:nvPr/>
        </p:nvSpPr>
        <p:spPr>
          <a:xfrm>
            <a:off x="3194127"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ea"/>
                <a:cs typeface="Arial" panose="020B0604020202020204"/>
              </a:rPr>
              <a:t>Application ready for production</a:t>
            </a:r>
            <a:endParaRPr lang="en-US" sz="750" b="1"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Application guide review</a:t>
            </a: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validation</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List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and </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hierarchy validation</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lang="en-US" sz="750">
                <a:solidFill>
                  <a:srgbClr val="0A2F46"/>
                </a:solidFill>
                <a:latin typeface="Arial" panose="020B0604020202020204"/>
                <a:cs typeface="Arial" panose="020B0604020202020204"/>
              </a:rPr>
              <a:t>End-to-end</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 data flow testing</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User Acceptance Testing (UAT)</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Preparation for go-Live</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Extensions </a:t>
            </a:r>
            <a:br>
              <a:rPr lang="en-US" sz="750" b="0" i="0" u="none" strike="noStrike" kern="1200" cap="none" spc="0" normalizeH="0" baseline="0" noProof="0">
                <a:ln>
                  <a:noFill/>
                </a:ln>
                <a:effectLst/>
                <a:uLnTx/>
                <a:uFillTx/>
                <a:latin typeface="Arial" panose="020B0604020202020204"/>
                <a:ea typeface="+mn-lt"/>
                <a:cs typeface="Arial" panose="020B0604020202020204"/>
              </a:rPr>
            </a:b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identified and documented </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Base app </a:t>
            </a:r>
            <a:r>
              <a:rPr lang="en-US" sz="750">
                <a:solidFill>
                  <a:srgbClr val="0A2F46"/>
                </a:solidFill>
                <a:latin typeface="Arial" panose="020B0604020202020204"/>
                <a:ea typeface="+mn-lt"/>
                <a:cs typeface="Arial" panose="020B0604020202020204"/>
              </a:rPr>
              <a:t>UAT Signed Off </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Base </a:t>
            </a:r>
            <a:r>
              <a:rPr lang="en-US" sz="750">
                <a:solidFill>
                  <a:srgbClr val="0A2F46"/>
                </a:solidFill>
                <a:latin typeface="Arial" panose="020B0604020202020204"/>
                <a:ea typeface="+mn-lt"/>
                <a:cs typeface="Arial" panose="020B0604020202020204"/>
              </a:rPr>
              <a:t>App</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Go-Live</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AFBDA0F0-5C22-7CDC-924C-D9F0EBE85982}"/>
              </a:ext>
            </a:extLst>
          </p:cNvPr>
          <p:cNvSpPr/>
          <p:nvPr/>
        </p:nvSpPr>
        <p:spPr>
          <a:xfrm>
            <a:off x="4491854"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ea typeface="+mn-lt"/>
                <a:cs typeface="+mn-lt"/>
              </a:rPr>
              <a:t>Extension Design</a:t>
            </a:r>
          </a:p>
          <a:p>
            <a:pPr marL="85725" indent="-85725">
              <a:buFont typeface="Arial"/>
              <a:buChar char="•"/>
            </a:pPr>
            <a:r>
              <a:rPr lang="en-US" sz="750">
                <a:solidFill>
                  <a:srgbClr val="0A2F46"/>
                </a:solidFill>
                <a:ea typeface="+mn-lt"/>
                <a:cs typeface="+mn-lt"/>
              </a:rPr>
              <a:t>Extension Design Kick-off</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Detailed review of business needs from App-Led Design Workshops </a:t>
            </a:r>
          </a:p>
          <a:p>
            <a:pPr marL="85725" indent="-85725">
              <a:buFont typeface="Arial"/>
              <a:buChar char="•"/>
            </a:pPr>
            <a:r>
              <a:rPr lang="en-US" sz="750">
                <a:solidFill>
                  <a:srgbClr val="0A2F46"/>
                </a:solidFill>
                <a:ea typeface="+mn-lt"/>
                <a:cs typeface="+mn-lt"/>
              </a:rPr>
              <a:t>Design and Implementation Plan for Additional Functionality</a:t>
            </a:r>
          </a:p>
          <a:p>
            <a:pPr marL="85725" indent="-85725">
              <a:buFont typeface="Arial"/>
              <a:buChar char="•"/>
            </a:pPr>
            <a:r>
              <a:rPr lang="en-US" sz="750">
                <a:solidFill>
                  <a:srgbClr val="0A2F46"/>
                </a:solidFill>
                <a:cs typeface="Arial"/>
              </a:rPr>
              <a:t>Create user stories</a:t>
            </a: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SOW/Change Order Signed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p:txBody>
      </p:sp>
      <p:sp>
        <p:nvSpPr>
          <p:cNvPr id="41" name="Rectangle 40">
            <a:extLst>
              <a:ext uri="{FF2B5EF4-FFF2-40B4-BE49-F238E27FC236}">
                <a16:creationId xmlns:a16="http://schemas.microsoft.com/office/drawing/2014/main" id="{205C259E-09EE-0961-C5EF-0516AE85E31E}"/>
              </a:ext>
            </a:extLst>
          </p:cNvPr>
          <p:cNvSpPr/>
          <p:nvPr/>
        </p:nvSpPr>
        <p:spPr>
          <a:xfrm>
            <a:off x="5789582"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Build</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Sprint plan execution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SIT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UAT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admin training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user guide to include extensions</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Functional Unit Testing Passed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ea typeface="+mn-lt"/>
                <a:cs typeface="+mn-lt"/>
              </a:rPr>
              <a:t>Customer Approval to </a:t>
            </a:r>
            <a:r>
              <a:rPr lang="en-US" sz="750">
                <a:solidFill>
                  <a:srgbClr val="0A2F46"/>
                </a:solidFill>
                <a:ea typeface="+mn-lt"/>
                <a:cs typeface="+mn-lt"/>
              </a:rPr>
              <a:t>move </a:t>
            </a:r>
            <a:r>
              <a:rPr kumimoji="0" lang="en-US" sz="750" b="0" i="0" u="none" strike="noStrike" kern="1200" cap="none" spc="0" normalizeH="0" baseline="0" noProof="0">
                <a:ln>
                  <a:noFill/>
                </a:ln>
                <a:solidFill>
                  <a:srgbClr val="0A2F46"/>
                </a:solidFill>
                <a:effectLst/>
                <a:uLnTx/>
                <a:uFillTx/>
                <a:ea typeface="+mn-lt"/>
                <a:cs typeface="+mn-lt"/>
              </a:rPr>
              <a:t>to</a:t>
            </a:r>
            <a:r>
              <a:rPr lang="en-US" sz="750">
                <a:solidFill>
                  <a:srgbClr val="0A2F46"/>
                </a:solidFill>
                <a:ea typeface="+mn-lt"/>
                <a:cs typeface="+mn-lt"/>
              </a:rPr>
              <a:t> SIT and UAT</a:t>
            </a:r>
            <a:endParaRPr lang="en-US" sz="750" i="0" u="none" strike="noStrike" kern="1200" cap="none" spc="0" normalizeH="0" baseline="0" noProof="0">
              <a:ln>
                <a:noFill/>
              </a:ln>
              <a:solidFill>
                <a:srgbClr val="0A2F46"/>
              </a:solidFill>
              <a:effectLst/>
              <a:uLnTx/>
              <a:uFillTx/>
              <a:ea typeface="+mn-lt"/>
              <a:cs typeface="+mn-lt"/>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52D34860-EBE6-98DB-0A0F-48CD9846CB72}"/>
              </a:ext>
            </a:extLst>
          </p:cNvPr>
          <p:cNvSpPr/>
          <p:nvPr/>
        </p:nvSpPr>
        <p:spPr>
          <a:xfrm>
            <a:off x="7093601"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ready for production</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Test Scripts Created</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Superuser train the trainer sessions</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Systems integration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User Acceptance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UAT resolution and backlog management</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Preparation for go-Live</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Support through agreed number of cycle</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pPr>
            <a:r>
              <a:rPr lang="en-US" sz="750">
                <a:solidFill>
                  <a:srgbClr val="0A2F46"/>
                </a:solidFill>
                <a:ea typeface="+mn-lt"/>
                <a:cs typeface="+mn-lt"/>
              </a:rPr>
              <a:t>SIT Signed Off </a:t>
            </a:r>
          </a:p>
          <a:p>
            <a:pPr marL="128588" indent="-128588">
              <a:buFont typeface="Wingdings"/>
              <a:buChar char="ü"/>
            </a:pPr>
            <a:r>
              <a:rPr lang="en-US" sz="750">
                <a:solidFill>
                  <a:srgbClr val="0A2F46"/>
                </a:solidFill>
                <a:ea typeface="+mn-lt"/>
                <a:cs typeface="+mn-lt"/>
              </a:rPr>
              <a:t>UAT Signed Off</a:t>
            </a:r>
          </a:p>
          <a:p>
            <a:pPr marL="128588" indent="-128588">
              <a:buFont typeface="Wingdings"/>
              <a:buChar char="ü"/>
            </a:pPr>
            <a:r>
              <a:rPr lang="en-US" sz="750">
                <a:solidFill>
                  <a:srgbClr val="0A2F46"/>
                </a:solidFill>
                <a:ea typeface="+mn-lt"/>
                <a:cs typeface="+mn-lt"/>
              </a:rPr>
              <a:t>App Go-Live!</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18" name="Title 17">
            <a:extLst>
              <a:ext uri="{FF2B5EF4-FFF2-40B4-BE49-F238E27FC236}">
                <a16:creationId xmlns:a16="http://schemas.microsoft.com/office/drawing/2014/main" id="{10FC098D-BF06-0B5D-0505-C15A5CD1F526}"/>
              </a:ext>
            </a:extLst>
          </p:cNvPr>
          <p:cNvSpPr>
            <a:spLocks noGrp="1"/>
          </p:cNvSpPr>
          <p:nvPr>
            <p:ph type="title"/>
          </p:nvPr>
        </p:nvSpPr>
        <p:spPr>
          <a:xfrm>
            <a:off x="517065" y="140722"/>
            <a:ext cx="7201830" cy="331499"/>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a:solidFill>
                  <a:srgbClr val="0A2F46"/>
                </a:solidFill>
                <a:latin typeface="Arial"/>
                <a:cs typeface="Arial"/>
              </a:rPr>
              <a:t>T</a:t>
            </a:r>
            <a:r>
              <a:rPr lang="en-US" sz="1800">
                <a:latin typeface="Arial"/>
                <a:cs typeface="Arial"/>
              </a:rPr>
              <a:t>he </a:t>
            </a:r>
            <a:r>
              <a:rPr lang="en-US" sz="1800">
                <a:solidFill>
                  <a:srgbClr val="0A2F46"/>
                </a:solidFill>
                <a:latin typeface="Arial"/>
                <a:cs typeface="Arial"/>
              </a:rPr>
              <a:t>A</a:t>
            </a:r>
            <a:r>
              <a:rPr lang="en-US" sz="1800">
                <a:latin typeface="Arial"/>
                <a:cs typeface="Arial"/>
              </a:rPr>
              <a:t>naplan </a:t>
            </a:r>
            <a:r>
              <a:rPr lang="en-US" sz="1800">
                <a:solidFill>
                  <a:srgbClr val="0A2F46"/>
                </a:solidFill>
                <a:latin typeface="Arial"/>
                <a:cs typeface="Arial"/>
              </a:rPr>
              <a:t>W</a:t>
            </a:r>
            <a:r>
              <a:rPr lang="en-US" sz="1800">
                <a:latin typeface="Arial"/>
                <a:cs typeface="Arial"/>
              </a:rPr>
              <a:t>ay for </a:t>
            </a:r>
            <a:r>
              <a:rPr lang="en-US" sz="1800">
                <a:solidFill>
                  <a:srgbClr val="0A2F46"/>
                </a:solidFill>
                <a:latin typeface="Arial"/>
                <a:cs typeface="Arial"/>
              </a:rPr>
              <a:t>A</a:t>
            </a:r>
            <a:r>
              <a:rPr lang="en-US" sz="1800">
                <a:latin typeface="Arial"/>
                <a:cs typeface="Arial"/>
              </a:rPr>
              <a:t>pplications </a:t>
            </a:r>
            <a:r>
              <a:rPr lang="en-US" sz="1800">
                <a:cs typeface="Arial"/>
              </a:rPr>
              <a:t>– </a:t>
            </a:r>
            <a:r>
              <a:rPr lang="en-US" sz="1800">
                <a:latin typeface="Arial"/>
                <a:cs typeface="Arial"/>
              </a:rPr>
              <a:t>Base Application Deployment</a:t>
            </a:r>
            <a:endParaRPr lang="en-US" sz="1800"/>
          </a:p>
        </p:txBody>
      </p:sp>
      <p:sp>
        <p:nvSpPr>
          <p:cNvPr id="3" name="Pentagon 2">
            <a:extLst>
              <a:ext uri="{FF2B5EF4-FFF2-40B4-BE49-F238E27FC236}">
                <a16:creationId xmlns:a16="http://schemas.microsoft.com/office/drawing/2014/main" id="{1BA6F4A9-95E5-EEAC-8A35-1FE0204038B3}"/>
              </a:ext>
            </a:extLst>
          </p:cNvPr>
          <p:cNvSpPr/>
          <p:nvPr/>
        </p:nvSpPr>
        <p:spPr>
          <a:xfrm>
            <a:off x="586089" y="767460"/>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5" name="Rounded Rectangle 8">
            <a:extLst>
              <a:ext uri="{FF2B5EF4-FFF2-40B4-BE49-F238E27FC236}">
                <a16:creationId xmlns:a16="http://schemas.microsoft.com/office/drawing/2014/main" id="{7EB95BFC-0004-0C25-EAF0-3E3339548B72}"/>
              </a:ext>
            </a:extLst>
          </p:cNvPr>
          <p:cNvSpPr/>
          <p:nvPr/>
        </p:nvSpPr>
        <p:spPr>
          <a:xfrm>
            <a:off x="292420" y="1075355"/>
            <a:ext cx="8182262" cy="2686207"/>
          </a:xfrm>
          <a:prstGeom prst="roundRect">
            <a:avLst>
              <a:gd name="adj" fmla="val 6361"/>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45" name="Rectangle: Top Corners Rounded 44">
            <a:extLst>
              <a:ext uri="{FF2B5EF4-FFF2-40B4-BE49-F238E27FC236}">
                <a16:creationId xmlns:a16="http://schemas.microsoft.com/office/drawing/2014/main" id="{3309BB61-A2A9-789A-15B6-CB725427B814}"/>
              </a:ext>
            </a:extLst>
          </p:cNvPr>
          <p:cNvSpPr/>
          <p:nvPr/>
        </p:nvSpPr>
        <p:spPr>
          <a:xfrm rot="16200000">
            <a:off x="-912630" y="2274333"/>
            <a:ext cx="2686207" cy="28153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1"/>
                </a:solidFill>
                <a:latin typeface="+mj-lt"/>
                <a:ea typeface="Verdana"/>
                <a:cs typeface="Arial"/>
              </a:rPr>
              <a:t>Activities</a:t>
            </a:r>
            <a:endParaRPr lang="en-US" sz="900">
              <a:solidFill>
                <a:schemeClr val="bg1"/>
              </a:solidFill>
              <a:latin typeface="+mj-lt"/>
            </a:endParaRPr>
          </a:p>
        </p:txBody>
      </p:sp>
      <p:sp>
        <p:nvSpPr>
          <p:cNvPr id="65" name="Rounded Rectangle 8">
            <a:extLst>
              <a:ext uri="{FF2B5EF4-FFF2-40B4-BE49-F238E27FC236}">
                <a16:creationId xmlns:a16="http://schemas.microsoft.com/office/drawing/2014/main" id="{27E7A92D-8F00-7C9F-4C72-21B3DC8B3DB7}"/>
              </a:ext>
            </a:extLst>
          </p:cNvPr>
          <p:cNvSpPr/>
          <p:nvPr/>
        </p:nvSpPr>
        <p:spPr>
          <a:xfrm>
            <a:off x="289706" y="3829624"/>
            <a:ext cx="8188972" cy="985127"/>
          </a:xfrm>
          <a:prstGeom prst="roundRect">
            <a:avLst>
              <a:gd name="adj" fmla="val 12160"/>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75" name="Rectangle: Top Corners Rounded 48">
            <a:extLst>
              <a:ext uri="{FF2B5EF4-FFF2-40B4-BE49-F238E27FC236}">
                <a16:creationId xmlns:a16="http://schemas.microsoft.com/office/drawing/2014/main" id="{2F78CF9F-3293-9E25-24C2-98D55AA5B4FE}"/>
              </a:ext>
            </a:extLst>
          </p:cNvPr>
          <p:cNvSpPr/>
          <p:nvPr/>
        </p:nvSpPr>
        <p:spPr>
          <a:xfrm rot="16200000">
            <a:off x="-56316" y="4178795"/>
            <a:ext cx="975490" cy="28219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latin typeface="+mj-lt"/>
                <a:ea typeface="+mn-lt"/>
                <a:cs typeface="+mn-lt"/>
              </a:rPr>
              <a:t>Control Gates</a:t>
            </a:r>
            <a:endParaRPr lang="en-US" sz="900">
              <a:solidFill>
                <a:schemeClr val="bg2"/>
              </a:solidFill>
              <a:latin typeface="+mj-lt"/>
            </a:endParaRPr>
          </a:p>
        </p:txBody>
      </p:sp>
      <p:sp>
        <p:nvSpPr>
          <p:cNvPr id="33" name="Chevron 3">
            <a:extLst>
              <a:ext uri="{FF2B5EF4-FFF2-40B4-BE49-F238E27FC236}">
                <a16:creationId xmlns:a16="http://schemas.microsoft.com/office/drawing/2014/main" id="{4D39F9CB-623C-46D6-6F5B-B662C61AFD1C}"/>
              </a:ext>
            </a:extLst>
          </p:cNvPr>
          <p:cNvSpPr/>
          <p:nvPr/>
        </p:nvSpPr>
        <p:spPr>
          <a:xfrm>
            <a:off x="1890108" y="767246"/>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6" name="Chevron 3">
            <a:extLst>
              <a:ext uri="{FF2B5EF4-FFF2-40B4-BE49-F238E27FC236}">
                <a16:creationId xmlns:a16="http://schemas.microsoft.com/office/drawing/2014/main" id="{65A7F1BE-76DD-2A2A-01AC-43C29D3CA8A3}"/>
              </a:ext>
            </a:extLst>
          </p:cNvPr>
          <p:cNvSpPr/>
          <p:nvPr/>
        </p:nvSpPr>
        <p:spPr>
          <a:xfrm>
            <a:off x="3187836"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Test &amp; Deploy</a:t>
            </a:r>
          </a:p>
        </p:txBody>
      </p:sp>
      <p:sp>
        <p:nvSpPr>
          <p:cNvPr id="38" name="Chevron 3">
            <a:extLst>
              <a:ext uri="{FF2B5EF4-FFF2-40B4-BE49-F238E27FC236}">
                <a16:creationId xmlns:a16="http://schemas.microsoft.com/office/drawing/2014/main" id="{8AE2562C-E8E9-A89E-7423-CA14D59E51C4}"/>
              </a:ext>
            </a:extLst>
          </p:cNvPr>
          <p:cNvSpPr/>
          <p:nvPr/>
        </p:nvSpPr>
        <p:spPr>
          <a:xfrm>
            <a:off x="4485563"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Design</a:t>
            </a:r>
          </a:p>
        </p:txBody>
      </p:sp>
      <p:sp>
        <p:nvSpPr>
          <p:cNvPr id="40" name="Chevron 3">
            <a:extLst>
              <a:ext uri="{FF2B5EF4-FFF2-40B4-BE49-F238E27FC236}">
                <a16:creationId xmlns:a16="http://schemas.microsoft.com/office/drawing/2014/main" id="{0F695652-2E14-D970-E1A3-E0F845AE1785}"/>
              </a:ext>
            </a:extLst>
          </p:cNvPr>
          <p:cNvSpPr/>
          <p:nvPr/>
        </p:nvSpPr>
        <p:spPr>
          <a:xfrm>
            <a:off x="5783290"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Build</a:t>
            </a:r>
          </a:p>
        </p:txBody>
      </p:sp>
      <p:sp>
        <p:nvSpPr>
          <p:cNvPr id="43" name="Chevron 3">
            <a:extLst>
              <a:ext uri="{FF2B5EF4-FFF2-40B4-BE49-F238E27FC236}">
                <a16:creationId xmlns:a16="http://schemas.microsoft.com/office/drawing/2014/main" id="{6B10009E-0521-74A6-6694-05973AD80E2C}"/>
              </a:ext>
            </a:extLst>
          </p:cNvPr>
          <p:cNvSpPr/>
          <p:nvPr/>
        </p:nvSpPr>
        <p:spPr>
          <a:xfrm>
            <a:off x="7087309"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Ext Test &amp; Deploy</a:t>
            </a:r>
          </a:p>
        </p:txBody>
      </p:sp>
      <p:sp>
        <p:nvSpPr>
          <p:cNvPr id="46" name="Right Bracket 45">
            <a:extLst>
              <a:ext uri="{FF2B5EF4-FFF2-40B4-BE49-F238E27FC236}">
                <a16:creationId xmlns:a16="http://schemas.microsoft.com/office/drawing/2014/main" id="{69F1AAC4-8128-1774-4F14-FB9F8C4A5CDF}"/>
              </a:ext>
            </a:extLst>
          </p:cNvPr>
          <p:cNvSpPr/>
          <p:nvPr/>
        </p:nvSpPr>
        <p:spPr>
          <a:xfrm rot="16200000">
            <a:off x="6405769" y="-1269148"/>
            <a:ext cx="37637" cy="3865468"/>
          </a:xfrm>
          <a:prstGeom prst="rightBracket">
            <a:avLst/>
          </a:prstGeom>
          <a:ln w="127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47" name="TextBox 46">
            <a:extLst>
              <a:ext uri="{FF2B5EF4-FFF2-40B4-BE49-F238E27FC236}">
                <a16:creationId xmlns:a16="http://schemas.microsoft.com/office/drawing/2014/main" id="{87E3E373-309E-11D3-0698-36B84C5FF6BD}"/>
              </a:ext>
            </a:extLst>
          </p:cNvPr>
          <p:cNvSpPr txBox="1"/>
          <p:nvPr/>
        </p:nvSpPr>
        <p:spPr>
          <a:xfrm>
            <a:off x="6017535" y="591345"/>
            <a:ext cx="904097" cy="93535"/>
          </a:xfrm>
          <a:prstGeom prst="rect">
            <a:avLst/>
          </a:prstGeom>
          <a:solidFill>
            <a:schemeClr val="bg2"/>
          </a:solidFill>
        </p:spPr>
        <p:txBody>
          <a:bodyPr wrap="square" lIns="0" tIns="0" rIns="0" bIns="0" anchor="t">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675" i="1">
                <a:highlight>
                  <a:srgbClr val="F2F1EE"/>
                </a:highlight>
                <a:latin typeface="Arial" panose="020B0604020202020204"/>
                <a:ea typeface="Verdana"/>
                <a:cs typeface="Arial"/>
              </a:rPr>
              <a:t>  OPTIONAL PHASES  </a:t>
            </a:r>
            <a:endParaRPr lang="en-US" sz="675" i="1">
              <a:highlight>
                <a:srgbClr val="F2F1EE"/>
              </a:highlight>
              <a:latin typeface="Arial" panose="020B0604020202020204"/>
              <a:cs typeface="Arial"/>
            </a:endParaRPr>
          </a:p>
        </p:txBody>
      </p:sp>
      <p:grpSp>
        <p:nvGrpSpPr>
          <p:cNvPr id="2" name="Group 1">
            <a:extLst>
              <a:ext uri="{FF2B5EF4-FFF2-40B4-BE49-F238E27FC236}">
                <a16:creationId xmlns:a16="http://schemas.microsoft.com/office/drawing/2014/main" id="{8E1865E7-5D99-5F73-DD6B-84FFCD82F5A5}"/>
              </a:ext>
            </a:extLst>
          </p:cNvPr>
          <p:cNvGrpSpPr/>
          <p:nvPr/>
        </p:nvGrpSpPr>
        <p:grpSpPr>
          <a:xfrm>
            <a:off x="-2208139" y="0"/>
            <a:ext cx="2338441" cy="5143500"/>
            <a:chOff x="-2208139" y="0"/>
            <a:chExt cx="2338441" cy="5143500"/>
          </a:xfrm>
        </p:grpSpPr>
        <p:sp>
          <p:nvSpPr>
            <p:cNvPr id="4" name="Rectangle: Rounded Corners 9">
              <a:extLst>
                <a:ext uri="{FF2B5EF4-FFF2-40B4-BE49-F238E27FC236}">
                  <a16:creationId xmlns:a16="http://schemas.microsoft.com/office/drawing/2014/main" id="{C50B94DD-0846-1BF3-C339-FD9010D48D30}"/>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128F112D-1060-3F35-88DD-2FA0BBD9D3C6}"/>
                </a:ext>
              </a:extLst>
            </p:cNvPr>
            <p:cNvGrpSpPr/>
            <p:nvPr/>
          </p:nvGrpSpPr>
          <p:grpSpPr>
            <a:xfrm>
              <a:off x="-2208139" y="0"/>
              <a:ext cx="2018501" cy="5143500"/>
              <a:chOff x="-2208139" y="0"/>
              <a:chExt cx="2018501" cy="5143500"/>
            </a:xfrm>
          </p:grpSpPr>
          <p:sp>
            <p:nvSpPr>
              <p:cNvPr id="7" name="Rectangle: Rounded Corners 11">
                <a:extLst>
                  <a:ext uri="{FF2B5EF4-FFF2-40B4-BE49-F238E27FC236}">
                    <a16:creationId xmlns:a16="http://schemas.microsoft.com/office/drawing/2014/main" id="{54CC483E-D381-2D2D-B536-BE1AB19D4E01}"/>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8" name="TextBox 7">
                <a:extLst>
                  <a:ext uri="{FF2B5EF4-FFF2-40B4-BE49-F238E27FC236}">
                    <a16:creationId xmlns:a16="http://schemas.microsoft.com/office/drawing/2014/main" id="{FF0E99A8-F872-4C6E-3440-01AE01059991}"/>
                  </a:ext>
                </a:extLst>
              </p:cNvPr>
              <p:cNvSpPr txBox="1"/>
              <p:nvPr/>
            </p:nvSpPr>
            <p:spPr>
              <a:xfrm>
                <a:off x="-2081074" y="983848"/>
                <a:ext cx="1764368" cy="1169551"/>
              </a:xfrm>
              <a:prstGeom prst="rect">
                <a:avLst/>
              </a:prstGeom>
              <a:solidFill>
                <a:schemeClr val="bg1"/>
              </a:solidFill>
              <a:ln w="3175">
                <a:solidFill>
                  <a:schemeClr val="accent6">
                    <a:lumMod val="10000"/>
                  </a:schemeClr>
                </a:solidFill>
              </a:ln>
            </p:spPr>
            <p:txBody>
              <a:bodyPr wrap="square" lIns="91440" rtlCol="0">
                <a:spAutoFit/>
              </a:bodyPr>
              <a:lstStyle/>
              <a:p>
                <a:r>
                  <a:rPr lang="en-US" sz="1400"/>
                  <a:t>This slide shows base application deployment while recognizing there may be extensions.</a:t>
                </a:r>
                <a:endPar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endParaRPr>
              </a:p>
            </p:txBody>
          </p:sp>
          <p:sp>
            <p:nvSpPr>
              <p:cNvPr id="9" name="TextBox 8">
                <a:extLst>
                  <a:ext uri="{FF2B5EF4-FFF2-40B4-BE49-F238E27FC236}">
                    <a16:creationId xmlns:a16="http://schemas.microsoft.com/office/drawing/2014/main" id="{32C0EC18-836F-25C6-CFE5-7F961904A963}"/>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0" name="Group 9">
                <a:extLst>
                  <a:ext uri="{FF2B5EF4-FFF2-40B4-BE49-F238E27FC236}">
                    <a16:creationId xmlns:a16="http://schemas.microsoft.com/office/drawing/2014/main" id="{E3B6945D-EED0-2A0B-6D53-798817C53B7D}"/>
                  </a:ext>
                </a:extLst>
              </p:cNvPr>
              <p:cNvGrpSpPr/>
              <p:nvPr/>
            </p:nvGrpSpPr>
            <p:grpSpPr>
              <a:xfrm>
                <a:off x="-1913726" y="4862278"/>
                <a:ext cx="1537258" cy="215444"/>
                <a:chOff x="-1907058" y="4862278"/>
                <a:chExt cx="1537258" cy="215444"/>
              </a:xfrm>
            </p:grpSpPr>
            <p:sp>
              <p:nvSpPr>
                <p:cNvPr id="15" name="TextBox 14">
                  <a:extLst>
                    <a:ext uri="{FF2B5EF4-FFF2-40B4-BE49-F238E27FC236}">
                      <a16:creationId xmlns:a16="http://schemas.microsoft.com/office/drawing/2014/main" id="{0B99E382-DFE8-1C6F-3DBF-DC80ED8FBEEC}"/>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6" name="Graphic 15" descr="Warning with solid fill">
                  <a:extLst>
                    <a:ext uri="{FF2B5EF4-FFF2-40B4-BE49-F238E27FC236}">
                      <a16:creationId xmlns:a16="http://schemas.microsoft.com/office/drawing/2014/main" id="{921A2485-8D14-6134-DA76-C50A90DF9C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11" name="Group 10">
                <a:extLst>
                  <a:ext uri="{FF2B5EF4-FFF2-40B4-BE49-F238E27FC236}">
                    <a16:creationId xmlns:a16="http://schemas.microsoft.com/office/drawing/2014/main" id="{B1AE7918-76E6-1150-FC2A-2E96E38E986E}"/>
                  </a:ext>
                </a:extLst>
              </p:cNvPr>
              <p:cNvGrpSpPr/>
              <p:nvPr/>
            </p:nvGrpSpPr>
            <p:grpSpPr>
              <a:xfrm>
                <a:off x="-1468837" y="0"/>
                <a:ext cx="539895" cy="539895"/>
                <a:chOff x="-1468837" y="0"/>
                <a:chExt cx="539895" cy="539895"/>
              </a:xfrm>
            </p:grpSpPr>
            <p:sp>
              <p:nvSpPr>
                <p:cNvPr id="13" name="Oval 12">
                  <a:extLst>
                    <a:ext uri="{FF2B5EF4-FFF2-40B4-BE49-F238E27FC236}">
                      <a16:creationId xmlns:a16="http://schemas.microsoft.com/office/drawing/2014/main" id="{1E9701F0-93E4-94ED-F478-BB152FCC0D5A}"/>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4" name="Graphic 13" descr="Target Audience with solid fill">
                  <a:extLst>
                    <a:ext uri="{FF2B5EF4-FFF2-40B4-BE49-F238E27FC236}">
                      <a16:creationId xmlns:a16="http://schemas.microsoft.com/office/drawing/2014/main" id="{0115D867-8C8D-5B2F-AEFE-B344821543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205244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8D32A-6D41-D34B-99E7-E6496A3AD77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DC7B999-A9C8-E49F-05C1-D268D8BB2A62}"/>
              </a:ext>
            </a:extLst>
          </p:cNvPr>
          <p:cNvSpPr/>
          <p:nvPr/>
        </p:nvSpPr>
        <p:spPr>
          <a:xfrm>
            <a:off x="583677" y="981782"/>
            <a:ext cx="1263720" cy="4149617"/>
          </a:xfrm>
          <a:prstGeom prst="rect">
            <a:avLst/>
          </a:prstGeom>
          <a:gradFill flip="none" rotWithShape="1">
            <a:gsLst>
              <a:gs pos="0">
                <a:schemeClr val="tx2">
                  <a:tint val="66000"/>
                  <a:satMod val="160000"/>
                </a:schemeClr>
              </a:gs>
              <a:gs pos="0">
                <a:schemeClr val="tx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a:buChar char="•"/>
            </a:pPr>
            <a:endParaRPr lang="en-US" sz="750">
              <a:solidFill>
                <a:srgbClr val="0A2F46"/>
              </a:solidFill>
              <a:ea typeface="+mn-lt"/>
              <a:cs typeface="+mn-lt"/>
            </a:endParaRPr>
          </a:p>
          <a:p>
            <a:pPr marL="85725" indent="-85725">
              <a:buFont typeface="Arial"/>
              <a:buChar char="•"/>
            </a:pPr>
            <a:r>
              <a:rPr lang="en-US" sz="750">
                <a:solidFill>
                  <a:srgbClr val="0A2F46"/>
                </a:solidFill>
                <a:ea typeface="+mn-lt"/>
                <a:cs typeface="+mn-lt"/>
              </a:rPr>
              <a:t>Discovery workshop </a:t>
            </a:r>
          </a:p>
          <a:p>
            <a:pPr marL="85725" indent="-85725">
              <a:buFont typeface="Arial"/>
              <a:buChar char="•"/>
            </a:pPr>
            <a:r>
              <a:rPr lang="en-US" sz="750">
                <a:solidFill>
                  <a:srgbClr val="0A2F46"/>
                </a:solidFill>
                <a:ea typeface="+mn-lt"/>
                <a:cs typeface="+mn-lt"/>
              </a:rPr>
              <a:t>Project success drivers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planning metrics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functional scope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business processes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Application mapping (business need vs application coverage)</a:t>
            </a:r>
          </a:p>
          <a:p>
            <a:pPr marL="85725" indent="-85725">
              <a:buFont typeface="Arial"/>
              <a:buChar char="•"/>
            </a:pPr>
            <a:r>
              <a:rPr lang="en-US" sz="750">
                <a:solidFill>
                  <a:srgbClr val="0A2F46"/>
                </a:solidFill>
                <a:ea typeface="+mn-lt"/>
                <a:cs typeface="+mn-lt"/>
              </a:rPr>
              <a:t>Data readiness &amp; template review </a:t>
            </a:r>
            <a:endParaRPr lang="en-US" sz="750">
              <a:solidFill>
                <a:srgbClr val="0A2F46"/>
              </a:solidFill>
              <a:cs typeface="Arial"/>
            </a:endParaRPr>
          </a:p>
          <a:p>
            <a:pPr marL="85725" indent="-85725">
              <a:buFont typeface="Arial"/>
              <a:buChar char="•"/>
            </a:pPr>
            <a:r>
              <a:rPr lang="en-US" sz="750">
                <a:solidFill>
                  <a:srgbClr val="0A2F46"/>
                </a:solidFill>
                <a:ea typeface="+mn-lt"/>
                <a:cs typeface="+mn-lt"/>
              </a:rPr>
              <a:t>Training of key users</a:t>
            </a: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128588" indent="-128588">
              <a:buFont typeface="Wingdings"/>
              <a:buChar char="ü"/>
            </a:pPr>
            <a:r>
              <a:rPr lang="en-US" sz="750">
                <a:solidFill>
                  <a:srgbClr val="0A2F46"/>
                </a:solidFill>
                <a:ea typeface="+mn-lt"/>
                <a:cs typeface="+mn-lt"/>
              </a:rPr>
              <a:t>Signed SOW</a:t>
            </a:r>
          </a:p>
          <a:p>
            <a:pPr marL="128588" indent="-128588">
              <a:buFont typeface="Wingdings"/>
              <a:buChar char="ü"/>
            </a:pPr>
            <a:r>
              <a:rPr lang="en-US" sz="750">
                <a:solidFill>
                  <a:srgbClr val="0A2F46"/>
                </a:solidFill>
                <a:ea typeface="+mn-lt"/>
                <a:cs typeface="+mn-lt"/>
              </a:rPr>
              <a:t>Sales Assets</a:t>
            </a:r>
          </a:p>
          <a:p>
            <a:pPr marL="128588" indent="-128588">
              <a:buFont typeface="Wingdings"/>
              <a:buChar char="ü"/>
            </a:pPr>
            <a:r>
              <a:rPr lang="en-US" sz="750">
                <a:solidFill>
                  <a:srgbClr val="0A2F46"/>
                </a:solidFill>
                <a:ea typeface="+mn-lt"/>
                <a:cs typeface="+mn-lt"/>
              </a:rPr>
              <a:t>Sales to Delivery Handoff</a:t>
            </a:r>
            <a:endParaRPr lang="en-US" sz="750">
              <a:solidFill>
                <a:srgbClr val="0A2F46"/>
              </a:solidFill>
              <a:cs typeface="Arial" panose="020B0604020202020204"/>
            </a:endParaRPr>
          </a:p>
        </p:txBody>
      </p:sp>
      <p:sp>
        <p:nvSpPr>
          <p:cNvPr id="34" name="Rectangle 33">
            <a:extLst>
              <a:ext uri="{FF2B5EF4-FFF2-40B4-BE49-F238E27FC236}">
                <a16:creationId xmlns:a16="http://schemas.microsoft.com/office/drawing/2014/main" id="{72D4C377-7039-6770-0CB0-9B9BD36EF39B}"/>
              </a:ext>
            </a:extLst>
          </p:cNvPr>
          <p:cNvSpPr/>
          <p:nvPr/>
        </p:nvSpPr>
        <p:spPr>
          <a:xfrm>
            <a:off x="1894025" y="965662"/>
            <a:ext cx="1263720" cy="4149617"/>
          </a:xfrm>
          <a:prstGeom prst="rect">
            <a:avLst/>
          </a:prstGeom>
          <a:gradFill flip="none" rotWithShape="1">
            <a:gsLst>
              <a:gs pos="0">
                <a:schemeClr val="tx2">
                  <a:tint val="66000"/>
                  <a:satMod val="160000"/>
                </a:schemeClr>
              </a:gs>
              <a:gs pos="0">
                <a:schemeClr val="accent3">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cs typeface="Arial" panose="020B0604020202020204"/>
              </a:rPr>
              <a:t>Data</a:t>
            </a:r>
          </a:p>
          <a:p>
            <a:pPr marL="85725" indent="-85725">
              <a:buFont typeface="Arial"/>
              <a:buChar char="•"/>
            </a:pPr>
            <a:r>
              <a:rPr lang="en-US" sz="750">
                <a:solidFill>
                  <a:srgbClr val="0A2F46"/>
                </a:solidFill>
                <a:ea typeface="+mn-lt"/>
                <a:cs typeface="+mn-lt"/>
              </a:rPr>
              <a:t>Analyze customer data </a:t>
            </a:r>
          </a:p>
          <a:p>
            <a:pPr marL="85725" indent="-85725">
              <a:buFont typeface="Arial"/>
              <a:buChar char="•"/>
            </a:pPr>
            <a:r>
              <a:rPr lang="en-US" sz="750">
                <a:solidFill>
                  <a:srgbClr val="0A2F46"/>
                </a:solidFill>
                <a:ea typeface="+mn-lt"/>
                <a:cs typeface="+mn-lt"/>
              </a:rPr>
              <a:t>Data strategy and mapping</a:t>
            </a:r>
          </a:p>
          <a:p>
            <a:endParaRPr lang="en-US" sz="750" b="1">
              <a:solidFill>
                <a:srgbClr val="0A2F46"/>
              </a:solidFill>
              <a:cs typeface="Arial" panose="020B0604020202020204"/>
            </a:endParaRPr>
          </a:p>
          <a:p>
            <a:r>
              <a:rPr lang="en-US" sz="750" b="1">
                <a:solidFill>
                  <a:srgbClr val="0A2F46"/>
                </a:solidFill>
                <a:cs typeface="Arial" panose="020B0604020202020204"/>
              </a:rPr>
              <a:t>Application Config &amp; Design</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Conduct App-Led Design Workshops </a:t>
            </a:r>
          </a:p>
          <a:p>
            <a:pPr marL="85725" indent="-85725">
              <a:buFont typeface="Arial"/>
              <a:buChar char="•"/>
            </a:pPr>
            <a:r>
              <a:rPr lang="en-US" sz="750">
                <a:solidFill>
                  <a:srgbClr val="0A2F46"/>
                </a:solidFill>
                <a:cs typeface="Arial" panose="020B0604020202020204"/>
              </a:rPr>
              <a:t>Upload customer data into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Review data / planning granularity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Manage security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Configure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Extension / additional use-case design and prioritization</a:t>
            </a:r>
          </a:p>
          <a:p>
            <a:pPr marL="85725" indent="-85725">
              <a:buFont typeface="Arial"/>
              <a:buChar char="•"/>
            </a:pPr>
            <a:r>
              <a:rPr lang="en-US" sz="750">
                <a:solidFill>
                  <a:srgbClr val="0A2F46"/>
                </a:solidFill>
                <a:cs typeface="Arial" panose="020B0604020202020204"/>
              </a:rPr>
              <a:t>Interactive walk-through session of the base application with customer</a:t>
            </a:r>
          </a:p>
          <a:p>
            <a:pPr marL="85725" indent="-85725">
              <a:buFont typeface="Arial"/>
              <a:buChar char="•"/>
            </a:pPr>
            <a:endParaRPr lang="en-US" sz="750">
              <a:solidFill>
                <a:srgbClr val="0A2F46"/>
              </a:solidFill>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Validation</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Configurations Close Checklist Completed</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 Phase Project Plan Signed Off</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06DB5B11-2029-3324-19BE-A555BDE7EB85}"/>
              </a:ext>
            </a:extLst>
          </p:cNvPr>
          <p:cNvSpPr/>
          <p:nvPr/>
        </p:nvSpPr>
        <p:spPr>
          <a:xfrm>
            <a:off x="3187729" y="965662"/>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ea typeface="+mn-lt"/>
                <a:cs typeface="+mn-lt"/>
              </a:rPr>
              <a:t>Extension Design</a:t>
            </a:r>
          </a:p>
          <a:p>
            <a:pPr marL="85725" indent="-85725">
              <a:buFont typeface="Arial"/>
              <a:buChar char="•"/>
            </a:pPr>
            <a:r>
              <a:rPr lang="en-US" sz="750">
                <a:solidFill>
                  <a:srgbClr val="0A2F46"/>
                </a:solidFill>
                <a:ea typeface="+mn-lt"/>
                <a:cs typeface="+mn-lt"/>
              </a:rPr>
              <a:t>Extension Design Kick-off</a:t>
            </a:r>
            <a:endParaRPr lang="en-US" sz="750">
              <a:solidFill>
                <a:srgbClr val="0A2F46"/>
              </a:solidFill>
            </a:endParaRPr>
          </a:p>
          <a:p>
            <a:pPr marL="85725" indent="-85725">
              <a:buFont typeface="Arial"/>
              <a:buChar char="•"/>
            </a:pPr>
            <a:r>
              <a:rPr lang="en-US" sz="750">
                <a:solidFill>
                  <a:srgbClr val="0A2F46"/>
                </a:solidFill>
                <a:cs typeface="Arial"/>
              </a:rPr>
              <a:t>Detailed review of business needs from App-Led Design Workshops </a:t>
            </a:r>
          </a:p>
          <a:p>
            <a:pPr marL="85725" indent="-85725">
              <a:buFont typeface="Arial"/>
              <a:buChar char="•"/>
            </a:pPr>
            <a:r>
              <a:rPr lang="en-US" sz="750">
                <a:solidFill>
                  <a:srgbClr val="0A2F46"/>
                </a:solidFill>
                <a:ea typeface="+mn-lt"/>
                <a:cs typeface="+mn-lt"/>
              </a:rPr>
              <a:t>Design and Implementation Plan for Additional Functionality</a:t>
            </a:r>
          </a:p>
          <a:p>
            <a:pPr marL="85725" indent="-85725">
              <a:buFont typeface="Arial"/>
              <a:buChar char="•"/>
            </a:pPr>
            <a:r>
              <a:rPr lang="en-US" sz="750">
                <a:solidFill>
                  <a:srgbClr val="0A2F46"/>
                </a:solidFill>
                <a:cs typeface="Arial"/>
              </a:rPr>
              <a:t>Create user stories</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SOW/Change Order Signed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p:txBody>
      </p:sp>
      <p:sp>
        <p:nvSpPr>
          <p:cNvPr id="41" name="Rectangle 40">
            <a:extLst>
              <a:ext uri="{FF2B5EF4-FFF2-40B4-BE49-F238E27FC236}">
                <a16:creationId xmlns:a16="http://schemas.microsoft.com/office/drawing/2014/main" id="{E432E711-0C7F-64FB-6BE1-5507E7D68FC8}"/>
              </a:ext>
            </a:extLst>
          </p:cNvPr>
          <p:cNvSpPr/>
          <p:nvPr/>
        </p:nvSpPr>
        <p:spPr>
          <a:xfrm>
            <a:off x="4485456" y="965662"/>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Build</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Sprint plan execution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SIT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UAT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admin training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user guide to include extensions</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Functional Unit Testing Passed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Customer Approval </a:t>
            </a:r>
            <a:r>
              <a:rPr lang="en-US" sz="750">
                <a:solidFill>
                  <a:srgbClr val="0A2F46"/>
                </a:solidFill>
                <a:latin typeface="Arial" panose="020B0604020202020204"/>
                <a:ea typeface="+mn-lt"/>
                <a:cs typeface="Arial" panose="020B0604020202020204"/>
              </a:rPr>
              <a:t>to move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to </a:t>
            </a:r>
            <a:r>
              <a:rPr lang="en-US" sz="750">
                <a:solidFill>
                  <a:srgbClr val="0A2F46"/>
                </a:solidFill>
                <a:latin typeface="Arial" panose="020B0604020202020204"/>
                <a:ea typeface="+mn-lt"/>
                <a:cs typeface="Arial" panose="020B0604020202020204"/>
              </a:rPr>
              <a:t>SIT and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UAT</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FE3E5396-AEBF-4A64-AF15-5C030073B71F}"/>
              </a:ext>
            </a:extLst>
          </p:cNvPr>
          <p:cNvSpPr/>
          <p:nvPr/>
        </p:nvSpPr>
        <p:spPr>
          <a:xfrm>
            <a:off x="5789475" y="965662"/>
            <a:ext cx="1440156"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ready for production</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Sans-Serif"/>
              <a:buChar char="•"/>
              <a:defRPr/>
            </a:pPr>
            <a:r>
              <a:rPr lang="en-US" sz="750">
                <a:solidFill>
                  <a:srgbClr val="0A2F46"/>
                </a:solidFill>
                <a:latin typeface="Arial" panose="020B0604020202020204"/>
                <a:ea typeface="+mn-lt"/>
                <a:cs typeface="Arial" panose="020B0604020202020204"/>
              </a:rPr>
              <a:t>Application guide review</a:t>
            </a:r>
          </a:p>
          <a:p>
            <a:pPr marL="85725" indent="-85725">
              <a:buFont typeface="Arial,Sans-Serif"/>
              <a:buChar char="•"/>
              <a:defRPr/>
            </a:pPr>
            <a:r>
              <a:rPr lang="en-US" sz="750">
                <a:solidFill>
                  <a:srgbClr val="0A2F46"/>
                </a:solidFill>
                <a:latin typeface="Arial" panose="020B0604020202020204"/>
                <a:ea typeface="+mn-lt"/>
                <a:cs typeface="Arial" panose="020B0604020202020204"/>
              </a:rPr>
              <a:t>Data validation</a:t>
            </a:r>
          </a:p>
          <a:p>
            <a:pPr marL="85725" indent="-85725">
              <a:buFont typeface="Arial,Sans-Serif"/>
              <a:buChar char="•"/>
              <a:defRPr/>
            </a:pPr>
            <a:r>
              <a:rPr lang="en-US" sz="750">
                <a:solidFill>
                  <a:srgbClr val="0A2F46"/>
                </a:solidFill>
                <a:latin typeface="Arial" panose="020B0604020202020204"/>
                <a:ea typeface="+mn-lt"/>
                <a:cs typeface="Arial" panose="020B0604020202020204"/>
              </a:rPr>
              <a:t>List and hierarchy validation</a:t>
            </a:r>
          </a:p>
          <a:p>
            <a:pPr marL="85725" indent="-85725">
              <a:buFont typeface="Arial,Sans-Serif"/>
              <a:buChar char="•"/>
              <a:defRPr/>
            </a:pPr>
            <a:r>
              <a:rPr lang="en-US" sz="750">
                <a:solidFill>
                  <a:srgbClr val="0A2F46"/>
                </a:solidFill>
                <a:latin typeface="Arial" panose="020B0604020202020204"/>
                <a:ea typeface="+mn-lt"/>
                <a:cs typeface="Arial" panose="020B0604020202020204"/>
              </a:rPr>
              <a:t>End to end data flow testing</a:t>
            </a:r>
          </a:p>
          <a:p>
            <a:pPr marL="85725" marR="0" lvl="0" indent="-85725" algn="l" defTabSz="685800">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Test Scripts Created</a:t>
            </a:r>
            <a:endParaRPr lang="en-US" sz="13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Superuser train the trainer sessions</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Systems integration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User Acceptance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UAT resolution and backlog management</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Preparation for go-Live</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Support through agreed number of cycles</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marL="128588" indent="-128588">
              <a:buFont typeface="Wingdings,Sans-Serif"/>
              <a:buChar char="ü"/>
            </a:pPr>
            <a:r>
              <a:rPr lang="en-US" sz="750">
                <a:solidFill>
                  <a:srgbClr val="0A2F46"/>
                </a:solidFill>
                <a:ea typeface="+mn-lt"/>
                <a:cs typeface="+mn-lt"/>
              </a:rPr>
              <a:t>Production data loaded </a:t>
            </a:r>
          </a:p>
          <a:p>
            <a:pPr marL="128588" indent="-128588">
              <a:buFont typeface="Wingdings"/>
              <a:buChar char="ü"/>
            </a:pPr>
            <a:r>
              <a:rPr lang="en-US" sz="750">
                <a:solidFill>
                  <a:srgbClr val="0A2F46"/>
                </a:solidFill>
                <a:ea typeface="+mn-lt"/>
                <a:cs typeface="+mn-lt"/>
              </a:rPr>
              <a:t>SIT Signed Off </a:t>
            </a:r>
            <a:endParaRPr lang="en-US" sz="1013">
              <a:solidFill>
                <a:srgbClr val="0A2F46"/>
              </a:solidFill>
            </a:endParaRPr>
          </a:p>
          <a:p>
            <a:pPr marL="128588" indent="-128588">
              <a:buFont typeface="Wingdings"/>
              <a:buChar char="ü"/>
            </a:pPr>
            <a:r>
              <a:rPr lang="en-US" sz="750">
                <a:solidFill>
                  <a:srgbClr val="0A2F46"/>
                </a:solidFill>
                <a:ea typeface="+mn-lt"/>
                <a:cs typeface="+mn-lt"/>
              </a:rPr>
              <a:t>UAT Signed Off</a:t>
            </a:r>
          </a:p>
          <a:p>
            <a:pPr marL="128588" indent="-128588">
              <a:buFont typeface="Wingdings"/>
              <a:buChar char="ü"/>
            </a:pPr>
            <a:r>
              <a:rPr lang="en-US" sz="750">
                <a:solidFill>
                  <a:srgbClr val="0A2F46"/>
                </a:solidFill>
                <a:ea typeface="+mn-lt"/>
                <a:cs typeface="+mn-lt"/>
              </a:rPr>
              <a:t>Go-Live!</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 name="Rounded Rectangle 8">
            <a:extLst>
              <a:ext uri="{FF2B5EF4-FFF2-40B4-BE49-F238E27FC236}">
                <a16:creationId xmlns:a16="http://schemas.microsoft.com/office/drawing/2014/main" id="{480A188C-65E2-B2BC-285A-24508C7FD93D}"/>
              </a:ext>
            </a:extLst>
          </p:cNvPr>
          <p:cNvSpPr/>
          <p:nvPr/>
        </p:nvSpPr>
        <p:spPr>
          <a:xfrm>
            <a:off x="380322" y="1036999"/>
            <a:ext cx="6962550" cy="2693900"/>
          </a:xfrm>
          <a:prstGeom prst="roundRect">
            <a:avLst>
              <a:gd name="adj" fmla="val 6361"/>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7" name="Rounded Rectangle 8">
            <a:extLst>
              <a:ext uri="{FF2B5EF4-FFF2-40B4-BE49-F238E27FC236}">
                <a16:creationId xmlns:a16="http://schemas.microsoft.com/office/drawing/2014/main" id="{B75FB0C1-4F90-F41A-F183-13DC5BC9BB60}"/>
              </a:ext>
            </a:extLst>
          </p:cNvPr>
          <p:cNvSpPr/>
          <p:nvPr/>
        </p:nvSpPr>
        <p:spPr>
          <a:xfrm>
            <a:off x="377609" y="3798324"/>
            <a:ext cx="6969260" cy="900461"/>
          </a:xfrm>
          <a:prstGeom prst="roundRect">
            <a:avLst>
              <a:gd name="adj" fmla="val 12160"/>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18" name="Title 17">
            <a:extLst>
              <a:ext uri="{FF2B5EF4-FFF2-40B4-BE49-F238E27FC236}">
                <a16:creationId xmlns:a16="http://schemas.microsoft.com/office/drawing/2014/main" id="{381F2FD4-F95A-97CD-3A2E-809914640142}"/>
              </a:ext>
            </a:extLst>
          </p:cNvPr>
          <p:cNvSpPr>
            <a:spLocks noGrp="1"/>
          </p:cNvSpPr>
          <p:nvPr>
            <p:ph type="title"/>
          </p:nvPr>
        </p:nvSpPr>
        <p:spPr>
          <a:xfrm>
            <a:off x="517065" y="140722"/>
            <a:ext cx="8341407" cy="331499"/>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a:solidFill>
                  <a:srgbClr val="0A2F46"/>
                </a:solidFill>
                <a:latin typeface="Arial"/>
                <a:cs typeface="Arial"/>
              </a:rPr>
              <a:t>T</a:t>
            </a:r>
            <a:r>
              <a:rPr lang="en-US" sz="1800">
                <a:latin typeface="Arial"/>
                <a:cs typeface="Arial"/>
              </a:rPr>
              <a:t>he </a:t>
            </a:r>
            <a:r>
              <a:rPr lang="en-US" sz="1800">
                <a:solidFill>
                  <a:srgbClr val="0A2F46"/>
                </a:solidFill>
                <a:latin typeface="Arial"/>
                <a:cs typeface="Arial"/>
              </a:rPr>
              <a:t>A</a:t>
            </a:r>
            <a:r>
              <a:rPr lang="en-US" sz="1800">
                <a:latin typeface="Arial"/>
                <a:cs typeface="Arial"/>
              </a:rPr>
              <a:t>naplan </a:t>
            </a:r>
            <a:r>
              <a:rPr lang="en-US" sz="1800">
                <a:solidFill>
                  <a:srgbClr val="0A2F46"/>
                </a:solidFill>
                <a:latin typeface="Arial"/>
                <a:cs typeface="Arial"/>
              </a:rPr>
              <a:t>W</a:t>
            </a:r>
            <a:r>
              <a:rPr lang="en-US" sz="1800">
                <a:latin typeface="Arial"/>
                <a:cs typeface="Arial"/>
              </a:rPr>
              <a:t>ay for </a:t>
            </a:r>
            <a:r>
              <a:rPr lang="en-US" sz="1800">
                <a:solidFill>
                  <a:srgbClr val="0A2F46"/>
                </a:solidFill>
                <a:latin typeface="Arial"/>
                <a:cs typeface="Arial"/>
              </a:rPr>
              <a:t>A</a:t>
            </a:r>
            <a:r>
              <a:rPr lang="en-US" sz="1800">
                <a:latin typeface="Arial"/>
                <a:cs typeface="Arial"/>
              </a:rPr>
              <a:t>pplications – Base Application + Extension Deployment</a:t>
            </a:r>
            <a:endParaRPr lang="en-US" sz="1800"/>
          </a:p>
        </p:txBody>
      </p:sp>
      <p:sp>
        <p:nvSpPr>
          <p:cNvPr id="3" name="Pentagon 2">
            <a:extLst>
              <a:ext uri="{FF2B5EF4-FFF2-40B4-BE49-F238E27FC236}">
                <a16:creationId xmlns:a16="http://schemas.microsoft.com/office/drawing/2014/main" id="{6174EEF3-631E-F23E-F14D-92DF3E81F60C}"/>
              </a:ext>
            </a:extLst>
          </p:cNvPr>
          <p:cNvSpPr/>
          <p:nvPr/>
        </p:nvSpPr>
        <p:spPr>
          <a:xfrm>
            <a:off x="583714" y="739238"/>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45" name="Rectangle: Top Corners Rounded 44">
            <a:extLst>
              <a:ext uri="{FF2B5EF4-FFF2-40B4-BE49-F238E27FC236}">
                <a16:creationId xmlns:a16="http://schemas.microsoft.com/office/drawing/2014/main" id="{DD297225-5018-329E-DCE1-0EB4D7C4F523}"/>
              </a:ext>
            </a:extLst>
          </p:cNvPr>
          <p:cNvSpPr/>
          <p:nvPr/>
        </p:nvSpPr>
        <p:spPr>
          <a:xfrm rot="16200000">
            <a:off x="-918851" y="2249957"/>
            <a:ext cx="2693900" cy="28153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1"/>
                </a:solidFill>
                <a:latin typeface="+mj-lt"/>
                <a:ea typeface="Verdana"/>
                <a:cs typeface="Arial"/>
              </a:rPr>
              <a:t>Activities</a:t>
            </a:r>
            <a:endParaRPr lang="en-US" sz="900">
              <a:solidFill>
                <a:schemeClr val="bg1"/>
              </a:solidFill>
              <a:latin typeface="+mj-lt"/>
            </a:endParaRPr>
          </a:p>
        </p:txBody>
      </p:sp>
      <p:sp>
        <p:nvSpPr>
          <p:cNvPr id="75" name="Rectangle: Top Corners Rounded 48">
            <a:extLst>
              <a:ext uri="{FF2B5EF4-FFF2-40B4-BE49-F238E27FC236}">
                <a16:creationId xmlns:a16="http://schemas.microsoft.com/office/drawing/2014/main" id="{46CD8D8A-7D25-9AFA-864B-61C5A35C1657}"/>
              </a:ext>
            </a:extLst>
          </p:cNvPr>
          <p:cNvSpPr/>
          <p:nvPr/>
        </p:nvSpPr>
        <p:spPr>
          <a:xfrm rot="16200000">
            <a:off x="-16358" y="4107922"/>
            <a:ext cx="890824" cy="28219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latin typeface="+mj-lt"/>
                <a:ea typeface="+mn-lt"/>
                <a:cs typeface="+mn-lt"/>
              </a:rPr>
              <a:t>Control Gates</a:t>
            </a:r>
            <a:endParaRPr lang="en-US" sz="900">
              <a:solidFill>
                <a:schemeClr val="bg2"/>
              </a:solidFill>
              <a:latin typeface="+mj-lt"/>
            </a:endParaRPr>
          </a:p>
        </p:txBody>
      </p:sp>
      <p:sp>
        <p:nvSpPr>
          <p:cNvPr id="33" name="Chevron 3">
            <a:extLst>
              <a:ext uri="{FF2B5EF4-FFF2-40B4-BE49-F238E27FC236}">
                <a16:creationId xmlns:a16="http://schemas.microsoft.com/office/drawing/2014/main" id="{990D0F4A-B333-C8F0-2A99-3B3541ECAB68}"/>
              </a:ext>
            </a:extLst>
          </p:cNvPr>
          <p:cNvSpPr/>
          <p:nvPr/>
        </p:nvSpPr>
        <p:spPr>
          <a:xfrm>
            <a:off x="1887733" y="739024"/>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8" name="Chevron 3">
            <a:extLst>
              <a:ext uri="{FF2B5EF4-FFF2-40B4-BE49-F238E27FC236}">
                <a16:creationId xmlns:a16="http://schemas.microsoft.com/office/drawing/2014/main" id="{E509E518-90E1-4288-68B7-C71EEB8D8EA3}"/>
              </a:ext>
            </a:extLst>
          </p:cNvPr>
          <p:cNvSpPr/>
          <p:nvPr/>
        </p:nvSpPr>
        <p:spPr>
          <a:xfrm>
            <a:off x="3181438" y="739024"/>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Design</a:t>
            </a:r>
          </a:p>
        </p:txBody>
      </p:sp>
      <p:sp>
        <p:nvSpPr>
          <p:cNvPr id="40" name="Chevron 3">
            <a:extLst>
              <a:ext uri="{FF2B5EF4-FFF2-40B4-BE49-F238E27FC236}">
                <a16:creationId xmlns:a16="http://schemas.microsoft.com/office/drawing/2014/main" id="{7965BF22-1448-65F7-21CA-1839AF1E7992}"/>
              </a:ext>
            </a:extLst>
          </p:cNvPr>
          <p:cNvSpPr/>
          <p:nvPr/>
        </p:nvSpPr>
        <p:spPr>
          <a:xfrm>
            <a:off x="4479165" y="739024"/>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Build</a:t>
            </a:r>
          </a:p>
        </p:txBody>
      </p:sp>
      <p:sp>
        <p:nvSpPr>
          <p:cNvPr id="43" name="Chevron 3">
            <a:extLst>
              <a:ext uri="{FF2B5EF4-FFF2-40B4-BE49-F238E27FC236}">
                <a16:creationId xmlns:a16="http://schemas.microsoft.com/office/drawing/2014/main" id="{B9CB404C-B774-38BD-0496-C5F2630CB971}"/>
              </a:ext>
            </a:extLst>
          </p:cNvPr>
          <p:cNvSpPr/>
          <p:nvPr/>
        </p:nvSpPr>
        <p:spPr>
          <a:xfrm>
            <a:off x="5783184" y="739024"/>
            <a:ext cx="1576695"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Ext Test &amp; Deploy</a:t>
            </a:r>
          </a:p>
        </p:txBody>
      </p:sp>
      <p:grpSp>
        <p:nvGrpSpPr>
          <p:cNvPr id="2" name="Group 1">
            <a:extLst>
              <a:ext uri="{FF2B5EF4-FFF2-40B4-BE49-F238E27FC236}">
                <a16:creationId xmlns:a16="http://schemas.microsoft.com/office/drawing/2014/main" id="{494A447D-FC62-6ACC-5105-F31FCD7257FC}"/>
              </a:ext>
            </a:extLst>
          </p:cNvPr>
          <p:cNvGrpSpPr/>
          <p:nvPr/>
        </p:nvGrpSpPr>
        <p:grpSpPr>
          <a:xfrm>
            <a:off x="-2208139" y="0"/>
            <a:ext cx="2338441" cy="5143500"/>
            <a:chOff x="-2208139" y="0"/>
            <a:chExt cx="2338441" cy="5143500"/>
          </a:xfrm>
        </p:grpSpPr>
        <p:sp>
          <p:nvSpPr>
            <p:cNvPr id="5" name="Rectangle: Rounded Corners 9">
              <a:extLst>
                <a:ext uri="{FF2B5EF4-FFF2-40B4-BE49-F238E27FC236}">
                  <a16:creationId xmlns:a16="http://schemas.microsoft.com/office/drawing/2014/main" id="{220D9F1E-F4F9-0707-E33A-0D592EE524DB}"/>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7E983DC-D605-1605-5991-8891BE3C00FF}"/>
                </a:ext>
              </a:extLst>
            </p:cNvPr>
            <p:cNvGrpSpPr/>
            <p:nvPr/>
          </p:nvGrpSpPr>
          <p:grpSpPr>
            <a:xfrm>
              <a:off x="-2208139" y="0"/>
              <a:ext cx="2018501" cy="5143500"/>
              <a:chOff x="-2208139" y="0"/>
              <a:chExt cx="2018501" cy="5143500"/>
            </a:xfrm>
          </p:grpSpPr>
          <p:sp>
            <p:nvSpPr>
              <p:cNvPr id="8" name="Rectangle: Rounded Corners 11">
                <a:extLst>
                  <a:ext uri="{FF2B5EF4-FFF2-40B4-BE49-F238E27FC236}">
                    <a16:creationId xmlns:a16="http://schemas.microsoft.com/office/drawing/2014/main" id="{DFB33265-DE26-149E-1E98-238D06400FE4}"/>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A780D91B-96A5-83F7-C940-C911B4BB3BF5}"/>
                  </a:ext>
                </a:extLst>
              </p:cNvPr>
              <p:cNvSpPr txBox="1"/>
              <p:nvPr/>
            </p:nvSpPr>
            <p:spPr>
              <a:xfrm>
                <a:off x="-2081074" y="983848"/>
                <a:ext cx="1764368" cy="1384995"/>
              </a:xfrm>
              <a:prstGeom prst="rect">
                <a:avLst/>
              </a:prstGeom>
              <a:solidFill>
                <a:schemeClr val="bg1"/>
              </a:solidFill>
              <a:ln w="3175">
                <a:solidFill>
                  <a:schemeClr val="accent6">
                    <a:lumMod val="10000"/>
                  </a:schemeClr>
                </a:solidFill>
              </a:ln>
            </p:spPr>
            <p:txBody>
              <a:bodyPr wrap="square" lIns="91440" rtlCol="0">
                <a:spAutoFit/>
              </a:bodyPr>
              <a:lstStyle/>
              <a:p>
                <a:r>
                  <a:rPr lang="en-US" sz="1400"/>
                  <a:t>This slide should be used as an alternative to slide 20 when it’s known that extensions will be included.</a:t>
                </a:r>
                <a:endParaRPr lang="en-US" sz="1400">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Box 9">
                <a:extLst>
                  <a:ext uri="{FF2B5EF4-FFF2-40B4-BE49-F238E27FC236}">
                    <a16:creationId xmlns:a16="http://schemas.microsoft.com/office/drawing/2014/main" id="{92EB6404-CEB3-FB20-DD26-46C22A67A483}"/>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1" name="Group 10">
                <a:extLst>
                  <a:ext uri="{FF2B5EF4-FFF2-40B4-BE49-F238E27FC236}">
                    <a16:creationId xmlns:a16="http://schemas.microsoft.com/office/drawing/2014/main" id="{4E2569D8-4983-3D5C-37DA-1530559A4CB6}"/>
                  </a:ext>
                </a:extLst>
              </p:cNvPr>
              <p:cNvGrpSpPr/>
              <p:nvPr/>
            </p:nvGrpSpPr>
            <p:grpSpPr>
              <a:xfrm>
                <a:off x="-1913726" y="4862278"/>
                <a:ext cx="1537258" cy="215444"/>
                <a:chOff x="-1907058" y="4862278"/>
                <a:chExt cx="1537258" cy="215444"/>
              </a:xfrm>
            </p:grpSpPr>
            <p:sp>
              <p:nvSpPr>
                <p:cNvPr id="16" name="TextBox 15">
                  <a:extLst>
                    <a:ext uri="{FF2B5EF4-FFF2-40B4-BE49-F238E27FC236}">
                      <a16:creationId xmlns:a16="http://schemas.microsoft.com/office/drawing/2014/main" id="{AFFC2B12-9BB4-793F-676E-13AD88102419}"/>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7" name="Graphic 16" descr="Warning with solid fill">
                  <a:extLst>
                    <a:ext uri="{FF2B5EF4-FFF2-40B4-BE49-F238E27FC236}">
                      <a16:creationId xmlns:a16="http://schemas.microsoft.com/office/drawing/2014/main" id="{02B0B5CA-4DE0-20F7-C37A-DA1560F3DB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13" name="Group 12">
                <a:extLst>
                  <a:ext uri="{FF2B5EF4-FFF2-40B4-BE49-F238E27FC236}">
                    <a16:creationId xmlns:a16="http://schemas.microsoft.com/office/drawing/2014/main" id="{E1CB54BD-A9EC-98B8-3D8B-EB74B4A720FF}"/>
                  </a:ext>
                </a:extLst>
              </p:cNvPr>
              <p:cNvGrpSpPr/>
              <p:nvPr/>
            </p:nvGrpSpPr>
            <p:grpSpPr>
              <a:xfrm>
                <a:off x="-1468837" y="0"/>
                <a:ext cx="539895" cy="539895"/>
                <a:chOff x="-1468837" y="0"/>
                <a:chExt cx="539895" cy="539895"/>
              </a:xfrm>
            </p:grpSpPr>
            <p:sp>
              <p:nvSpPr>
                <p:cNvPr id="14" name="Oval 13">
                  <a:extLst>
                    <a:ext uri="{FF2B5EF4-FFF2-40B4-BE49-F238E27FC236}">
                      <a16:creationId xmlns:a16="http://schemas.microsoft.com/office/drawing/2014/main" id="{C828B20B-E71D-CBE2-E56B-8320B400421E}"/>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5" name="Graphic 14" descr="Target Audience with solid fill">
                  <a:extLst>
                    <a:ext uri="{FF2B5EF4-FFF2-40B4-BE49-F238E27FC236}">
                      <a16:creationId xmlns:a16="http://schemas.microsoft.com/office/drawing/2014/main" id="{47962F59-A3F0-4CE4-951D-E291116EB2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419741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6720D-08F3-9B0F-8C6C-83D861887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8C031-0188-956C-D34D-E8A892CBA125}"/>
              </a:ext>
            </a:extLst>
          </p:cNvPr>
          <p:cNvSpPr>
            <a:spLocks noGrp="1"/>
          </p:cNvSpPr>
          <p:nvPr>
            <p:ph type="title"/>
          </p:nvPr>
        </p:nvSpPr>
        <p:spPr/>
        <p:txBody>
          <a:bodyPr/>
          <a:lstStyle/>
          <a:p>
            <a:r>
              <a:rPr lang="en-US"/>
              <a:t>Project Governance, Resourcing </a:t>
            </a:r>
            <a:br>
              <a:rPr lang="en-US"/>
            </a:br>
            <a:r>
              <a:rPr lang="en-US"/>
              <a:t>and Schedule</a:t>
            </a:r>
            <a:br>
              <a:rPr lang="en-US"/>
            </a:br>
            <a:endParaRPr lang="en-US"/>
          </a:p>
        </p:txBody>
      </p:sp>
    </p:spTree>
    <p:custDataLst>
      <p:tags r:id="rId1"/>
    </p:custDataLst>
    <p:extLst>
      <p:ext uri="{BB962C8B-B14F-4D97-AF65-F5344CB8AC3E}">
        <p14:creationId xmlns:p14="http://schemas.microsoft.com/office/powerpoint/2010/main" val="385878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EC86-B020-371C-3F8B-5A514A32E316}"/>
            </a:ext>
          </a:extLst>
        </p:cNvPr>
        <p:cNvGrpSpPr/>
        <p:nvPr/>
      </p:nvGrpSpPr>
      <p:grpSpPr>
        <a:xfrm>
          <a:off x="0" y="0"/>
          <a:ext cx="0" cy="0"/>
          <a:chOff x="0" y="0"/>
          <a:chExt cx="0" cy="0"/>
        </a:xfrm>
      </p:grpSpPr>
      <p:grpSp>
        <p:nvGrpSpPr>
          <p:cNvPr id="60" name="Group 59">
            <a:extLst>
              <a:ext uri="{FF2B5EF4-FFF2-40B4-BE49-F238E27FC236}">
                <a16:creationId xmlns:a16="http://schemas.microsoft.com/office/drawing/2014/main" id="{1C7B5A74-7541-1B9A-396A-B8E740C89739}"/>
              </a:ext>
            </a:extLst>
          </p:cNvPr>
          <p:cNvGrpSpPr/>
          <p:nvPr/>
        </p:nvGrpSpPr>
        <p:grpSpPr>
          <a:xfrm>
            <a:off x="236539" y="861575"/>
            <a:ext cx="4335463" cy="3776636"/>
            <a:chOff x="236539" y="861575"/>
            <a:chExt cx="4335463" cy="3776636"/>
          </a:xfrm>
        </p:grpSpPr>
        <p:sp>
          <p:nvSpPr>
            <p:cNvPr id="10" name="Rectangle 9">
              <a:extLst>
                <a:ext uri="{FF2B5EF4-FFF2-40B4-BE49-F238E27FC236}">
                  <a16:creationId xmlns:a16="http://schemas.microsoft.com/office/drawing/2014/main" id="{C6E0D276-E938-F652-A56C-CF884CDDB111}"/>
                </a:ext>
              </a:extLst>
            </p:cNvPr>
            <p:cNvSpPr/>
            <p:nvPr/>
          </p:nvSpPr>
          <p:spPr bwMode="auto">
            <a:xfrm>
              <a:off x="236540" y="861575"/>
              <a:ext cx="4335460" cy="824775"/>
            </a:xfrm>
            <a:prstGeom prst="rect">
              <a:avLst/>
            </a:prstGeom>
            <a:solidFill>
              <a:schemeClr val="bg1">
                <a:lumMod val="85000"/>
              </a:schemeClr>
            </a:solidFill>
            <a:ln w="9525">
              <a:noFill/>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Sponsorship</a:t>
              </a:r>
            </a:p>
          </p:txBody>
        </p:sp>
        <p:sp>
          <p:nvSpPr>
            <p:cNvPr id="12" name="Rectangle 11">
              <a:extLst>
                <a:ext uri="{FF2B5EF4-FFF2-40B4-BE49-F238E27FC236}">
                  <a16:creationId xmlns:a16="http://schemas.microsoft.com/office/drawing/2014/main" id="{2C717CF2-6B1E-43C7-9263-353EF4146380}"/>
                </a:ext>
              </a:extLst>
            </p:cNvPr>
            <p:cNvSpPr/>
            <p:nvPr/>
          </p:nvSpPr>
          <p:spPr bwMode="auto">
            <a:xfrm>
              <a:off x="236539" y="1746788"/>
              <a:ext cx="4335461" cy="824775"/>
            </a:xfrm>
            <a:prstGeom prst="rect">
              <a:avLst/>
            </a:prstGeom>
            <a:solidFill>
              <a:schemeClr val="bg1">
                <a:lumMod val="85000"/>
              </a:schemeClr>
            </a:solidFill>
            <a:ln w="9525">
              <a:noFill/>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Customer Success Team &amp; Account Executives</a:t>
              </a:r>
            </a:p>
          </p:txBody>
        </p:sp>
        <p:sp>
          <p:nvSpPr>
            <p:cNvPr id="33" name="Rectangle 32">
              <a:extLst>
                <a:ext uri="{FF2B5EF4-FFF2-40B4-BE49-F238E27FC236}">
                  <a16:creationId xmlns:a16="http://schemas.microsoft.com/office/drawing/2014/main" id="{9C1D5018-D138-7518-34CB-633E8D84AA68}"/>
                </a:ext>
              </a:extLst>
            </p:cNvPr>
            <p:cNvSpPr/>
            <p:nvPr/>
          </p:nvSpPr>
          <p:spPr bwMode="auto">
            <a:xfrm>
              <a:off x="236539" y="2634157"/>
              <a:ext cx="4335463" cy="727235"/>
            </a:xfrm>
            <a:prstGeom prst="rect">
              <a:avLst/>
            </a:prstGeom>
            <a:solidFill>
              <a:schemeClr val="bg1">
                <a:lumMod val="85000"/>
              </a:schemeClr>
            </a:solidFill>
            <a:ln w="9525">
              <a:noFill/>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Project Management &amp; Delivery</a:t>
              </a:r>
            </a:p>
          </p:txBody>
        </p:sp>
        <p:sp>
          <p:nvSpPr>
            <p:cNvPr id="17" name="Rectangle 16">
              <a:extLst>
                <a:ext uri="{FF2B5EF4-FFF2-40B4-BE49-F238E27FC236}">
                  <a16:creationId xmlns:a16="http://schemas.microsoft.com/office/drawing/2014/main" id="{7B1DE6E0-0B6B-2CAB-FE9E-9453C2407416}"/>
                </a:ext>
              </a:extLst>
            </p:cNvPr>
            <p:cNvSpPr/>
            <p:nvPr/>
          </p:nvSpPr>
          <p:spPr bwMode="auto">
            <a:xfrm>
              <a:off x="236539" y="3413655"/>
              <a:ext cx="4335462" cy="1224556"/>
            </a:xfrm>
            <a:prstGeom prst="rect">
              <a:avLst/>
            </a:prstGeom>
            <a:solidFill>
              <a:schemeClr val="bg1">
                <a:lumMod val="85000"/>
              </a:schemeClr>
            </a:solidFill>
            <a:ln w="9525">
              <a:noFill/>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Implementation Team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3" name="Title 2">
            <a:extLst>
              <a:ext uri="{FF2B5EF4-FFF2-40B4-BE49-F238E27FC236}">
                <a16:creationId xmlns:a16="http://schemas.microsoft.com/office/drawing/2014/main" id="{C06F7DA9-D987-44D1-7D73-1E8328DDDBA0}"/>
              </a:ext>
            </a:extLst>
          </p:cNvPr>
          <p:cNvSpPr>
            <a:spLocks noGrp="1"/>
          </p:cNvSpPr>
          <p:nvPr>
            <p:ph type="title"/>
          </p:nvPr>
        </p:nvSpPr>
        <p:spPr>
          <a:xfrm>
            <a:off x="419100" y="294640"/>
            <a:ext cx="6277729" cy="338554"/>
          </a:xfrm>
        </p:spPr>
        <p:txBody>
          <a:bodyPr lIns="0" tIns="45720" rIns="0" bIns="45720" anchor="t"/>
          <a:lstStyle/>
          <a:p>
            <a:r>
              <a:rPr lang="en-US">
                <a:latin typeface="Arial"/>
                <a:ea typeface="Inter" panose="02000503000000020004" pitchFamily="2" charset="0"/>
                <a:cs typeface="Arial"/>
              </a:rPr>
              <a:t>Project Team Introduction</a:t>
            </a:r>
            <a:endParaRPr lang="en-US">
              <a:ea typeface="Inter" panose="02000503000000020004" pitchFamily="2" charset="0"/>
            </a:endParaRPr>
          </a:p>
        </p:txBody>
      </p:sp>
      <p:grpSp>
        <p:nvGrpSpPr>
          <p:cNvPr id="8" name="Group 7">
            <a:extLst>
              <a:ext uri="{FF2B5EF4-FFF2-40B4-BE49-F238E27FC236}">
                <a16:creationId xmlns:a16="http://schemas.microsoft.com/office/drawing/2014/main" id="{284A72B5-961F-2BEC-9DE2-7DAD5007F5D2}"/>
              </a:ext>
            </a:extLst>
          </p:cNvPr>
          <p:cNvGrpSpPr/>
          <p:nvPr/>
        </p:nvGrpSpPr>
        <p:grpSpPr>
          <a:xfrm>
            <a:off x="239918" y="4723710"/>
            <a:ext cx="2082320" cy="250300"/>
            <a:chOff x="236540" y="4563368"/>
            <a:chExt cx="1237712" cy="429158"/>
          </a:xfrm>
        </p:grpSpPr>
        <p:sp>
          <p:nvSpPr>
            <p:cNvPr id="48" name="Rectangle 47">
              <a:extLst>
                <a:ext uri="{FF2B5EF4-FFF2-40B4-BE49-F238E27FC236}">
                  <a16:creationId xmlns:a16="http://schemas.microsoft.com/office/drawing/2014/main" id="{8FEEC94F-D775-63C7-6093-0A32FCB4D927}"/>
                </a:ext>
              </a:extLst>
            </p:cNvPr>
            <p:cNvSpPr/>
            <p:nvPr/>
          </p:nvSpPr>
          <p:spPr bwMode="auto">
            <a:xfrm>
              <a:off x="236540" y="4563368"/>
              <a:ext cx="619660" cy="429158"/>
            </a:xfrm>
            <a:prstGeom prst="rect">
              <a:avLst/>
            </a:prstGeom>
            <a:solidFill>
              <a:schemeClr val="accent1"/>
            </a:solidFill>
            <a:ln w="9525">
              <a:solidFill>
                <a:srgbClr val="135789"/>
              </a:solidFill>
              <a:round/>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Anaplan / </a:t>
              </a:r>
              <a:r>
                <a:rPr kumimoji="0" lang="en-GB" sz="700" b="0" i="0" u="none" strike="noStrike" kern="0" cap="none" spc="0" normalizeH="0" baseline="0" noProof="0">
                  <a:ln>
                    <a:noFill/>
                  </a:ln>
                  <a:effectLst/>
                  <a:highlight>
                    <a:srgbClr val="FFFF00"/>
                  </a:highlight>
                  <a:uLnTx/>
                  <a:uFillTx/>
                  <a:latin typeface="Arial" panose="020B0604020202020204" pitchFamily="34" charset="0"/>
                  <a:cs typeface="Arial" panose="020B0604020202020204" pitchFamily="34" charset="0"/>
                </a:rPr>
                <a:t>Partner</a:t>
              </a:r>
            </a:p>
          </p:txBody>
        </p:sp>
        <p:sp>
          <p:nvSpPr>
            <p:cNvPr id="49" name="Rectangle 48">
              <a:extLst>
                <a:ext uri="{FF2B5EF4-FFF2-40B4-BE49-F238E27FC236}">
                  <a16:creationId xmlns:a16="http://schemas.microsoft.com/office/drawing/2014/main" id="{6EF95C16-C43D-E28F-095F-3EE49A741FA7}"/>
                </a:ext>
              </a:extLst>
            </p:cNvPr>
            <p:cNvSpPr/>
            <p:nvPr/>
          </p:nvSpPr>
          <p:spPr bwMode="auto">
            <a:xfrm>
              <a:off x="854592" y="4563368"/>
              <a:ext cx="619660" cy="429158"/>
            </a:xfrm>
            <a:prstGeom prst="rect">
              <a:avLst/>
            </a:prstGeom>
            <a:solidFill>
              <a:srgbClr val="0A324B"/>
            </a:solidFill>
            <a:ln w="9525">
              <a:solidFill>
                <a:srgbClr val="135789"/>
              </a:solidFill>
              <a:round/>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i="1">
                  <a:solidFill>
                    <a:srgbClr val="0A324B"/>
                  </a:solidFill>
                  <a:highlight>
                    <a:srgbClr val="FFFF00"/>
                  </a:highlight>
                </a:rPr>
                <a:t>Customer</a:t>
              </a:r>
              <a:r>
                <a:rPr kumimoji="0" lang="en-GB" sz="700" b="0" i="0" u="none" strike="noStrike" kern="0" cap="none" spc="0" normalizeH="0" baseline="0" noProof="0">
                  <a:ln>
                    <a:noFill/>
                  </a:ln>
                  <a:solidFill>
                    <a:prstClr val="white"/>
                  </a:solidFill>
                  <a:effectLst/>
                  <a:uLnTx/>
                  <a:uFillTx/>
                  <a:cs typeface="Arial" panose="020B0604020202020204" pitchFamily="34" charset="0"/>
                </a:rPr>
                <a:t> </a:t>
              </a:r>
            </a:p>
          </p:txBody>
        </p:sp>
      </p:grpSp>
      <p:grpSp>
        <p:nvGrpSpPr>
          <p:cNvPr id="11" name="Group 61">
            <a:extLst>
              <a:ext uri="{FF2B5EF4-FFF2-40B4-BE49-F238E27FC236}">
                <a16:creationId xmlns:a16="http://schemas.microsoft.com/office/drawing/2014/main" id="{B1C2344D-FB7F-0B41-F8DF-42EA1C08DE77}"/>
              </a:ext>
            </a:extLst>
          </p:cNvPr>
          <p:cNvGrpSpPr/>
          <p:nvPr/>
        </p:nvGrpSpPr>
        <p:grpSpPr>
          <a:xfrm>
            <a:off x="1502796" y="1072414"/>
            <a:ext cx="864000" cy="505189"/>
            <a:chOff x="4220869" y="1286009"/>
            <a:chExt cx="1097281" cy="593246"/>
          </a:xfrm>
        </p:grpSpPr>
        <p:sp>
          <p:nvSpPr>
            <p:cNvPr id="46" name="Rectangle 45">
              <a:extLst>
                <a:ext uri="{FF2B5EF4-FFF2-40B4-BE49-F238E27FC236}">
                  <a16:creationId xmlns:a16="http://schemas.microsoft.com/office/drawing/2014/main" id="{80D34102-A002-7B5B-023A-A0B202EDB3EA}"/>
                </a:ext>
              </a:extLst>
            </p:cNvPr>
            <p:cNvSpPr/>
            <p:nvPr/>
          </p:nvSpPr>
          <p:spPr bwMode="auto">
            <a:xfrm>
              <a:off x="4220870" y="1286009"/>
              <a:ext cx="1097280" cy="332062"/>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Professional Services </a:t>
              </a:r>
              <a:r>
                <a:rPr lang="en-GB" sz="700" kern="0">
                  <a:solidFill>
                    <a:prstClr val="white"/>
                  </a:solidFill>
                  <a:latin typeface="Arial" panose="020B0604020202020204" pitchFamily="34" charset="0"/>
                  <a:cs typeface="Arial" panose="020B0604020202020204" pitchFamily="34" charset="0"/>
                </a:rPr>
                <a:t>Lead</a:t>
              </a:r>
              <a:endPar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CFF87D54-30F5-4AC2-FAD0-1B062E6BBBC1}"/>
                </a:ext>
              </a:extLst>
            </p:cNvPr>
            <p:cNvSpPr/>
            <p:nvPr/>
          </p:nvSpPr>
          <p:spPr bwMode="auto">
            <a:xfrm>
              <a:off x="4220869" y="1618071"/>
              <a:ext cx="1097280" cy="261184"/>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13" name="Group 124">
            <a:extLst>
              <a:ext uri="{FF2B5EF4-FFF2-40B4-BE49-F238E27FC236}">
                <a16:creationId xmlns:a16="http://schemas.microsoft.com/office/drawing/2014/main" id="{9FA720AE-BC94-0B02-6FE2-01E3D1149A20}"/>
              </a:ext>
            </a:extLst>
          </p:cNvPr>
          <p:cNvGrpSpPr/>
          <p:nvPr/>
        </p:nvGrpSpPr>
        <p:grpSpPr>
          <a:xfrm>
            <a:off x="436286" y="1997321"/>
            <a:ext cx="864000" cy="494607"/>
            <a:chOff x="3005913" y="1933134"/>
            <a:chExt cx="1097281" cy="580820"/>
          </a:xfrm>
        </p:grpSpPr>
        <p:sp>
          <p:nvSpPr>
            <p:cNvPr id="44" name="Rectangle 43">
              <a:extLst>
                <a:ext uri="{FF2B5EF4-FFF2-40B4-BE49-F238E27FC236}">
                  <a16:creationId xmlns:a16="http://schemas.microsoft.com/office/drawing/2014/main" id="{52BED776-F242-AE92-737A-2471DA6AF1AC}"/>
                </a:ext>
              </a:extLst>
            </p:cNvPr>
            <p:cNvSpPr/>
            <p:nvPr/>
          </p:nvSpPr>
          <p:spPr bwMode="auto">
            <a:xfrm>
              <a:off x="3005913" y="1933134"/>
              <a:ext cx="1097280" cy="328818"/>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Customer Success Director</a:t>
              </a:r>
            </a:p>
          </p:txBody>
        </p:sp>
        <p:sp>
          <p:nvSpPr>
            <p:cNvPr id="45" name="Rectangle 44">
              <a:extLst>
                <a:ext uri="{FF2B5EF4-FFF2-40B4-BE49-F238E27FC236}">
                  <a16:creationId xmlns:a16="http://schemas.microsoft.com/office/drawing/2014/main" id="{27F1A97B-2A8E-03ED-4283-912B47814D13}"/>
                </a:ext>
              </a:extLst>
            </p:cNvPr>
            <p:cNvSpPr/>
            <p:nvPr/>
          </p:nvSpPr>
          <p:spPr bwMode="auto">
            <a:xfrm>
              <a:off x="3005914" y="2261954"/>
              <a:ext cx="1097280" cy="25200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14" name="Group 127">
            <a:extLst>
              <a:ext uri="{FF2B5EF4-FFF2-40B4-BE49-F238E27FC236}">
                <a16:creationId xmlns:a16="http://schemas.microsoft.com/office/drawing/2014/main" id="{0D021B0C-12A4-7951-99D3-9ED2D7CC2DA8}"/>
              </a:ext>
            </a:extLst>
          </p:cNvPr>
          <p:cNvGrpSpPr/>
          <p:nvPr/>
        </p:nvGrpSpPr>
        <p:grpSpPr>
          <a:xfrm>
            <a:off x="1502796" y="1997321"/>
            <a:ext cx="864000" cy="492475"/>
            <a:chOff x="4832048" y="1297811"/>
            <a:chExt cx="1100107" cy="578315"/>
          </a:xfrm>
        </p:grpSpPr>
        <p:sp>
          <p:nvSpPr>
            <p:cNvPr id="42" name="Rectangle 41">
              <a:extLst>
                <a:ext uri="{FF2B5EF4-FFF2-40B4-BE49-F238E27FC236}">
                  <a16:creationId xmlns:a16="http://schemas.microsoft.com/office/drawing/2014/main" id="{FCAD7F62-F87B-AA0D-A4C3-9C5C8E3A498C}"/>
                </a:ext>
              </a:extLst>
            </p:cNvPr>
            <p:cNvSpPr/>
            <p:nvPr/>
          </p:nvSpPr>
          <p:spPr bwMode="auto">
            <a:xfrm>
              <a:off x="4832048" y="1297811"/>
              <a:ext cx="1100107" cy="331173"/>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CS Business Partner</a:t>
              </a:r>
            </a:p>
          </p:txBody>
        </p:sp>
        <p:sp>
          <p:nvSpPr>
            <p:cNvPr id="43" name="Rectangle 42">
              <a:extLst>
                <a:ext uri="{FF2B5EF4-FFF2-40B4-BE49-F238E27FC236}">
                  <a16:creationId xmlns:a16="http://schemas.microsoft.com/office/drawing/2014/main" id="{84285C74-6538-FAA5-A1F0-AD405D96DFB0}"/>
                </a:ext>
              </a:extLst>
            </p:cNvPr>
            <p:cNvSpPr/>
            <p:nvPr/>
          </p:nvSpPr>
          <p:spPr bwMode="auto">
            <a:xfrm>
              <a:off x="4834875" y="1626629"/>
              <a:ext cx="1097280" cy="249497"/>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0838463A-B1B1-AB54-F947-2139558577CF}"/>
              </a:ext>
            </a:extLst>
          </p:cNvPr>
          <p:cNvGrpSpPr/>
          <p:nvPr/>
        </p:nvGrpSpPr>
        <p:grpSpPr>
          <a:xfrm>
            <a:off x="435550" y="1067884"/>
            <a:ext cx="864000" cy="513856"/>
            <a:chOff x="3436866" y="1003540"/>
            <a:chExt cx="1176343" cy="403877"/>
          </a:xfrm>
        </p:grpSpPr>
        <p:sp>
          <p:nvSpPr>
            <p:cNvPr id="40" name="Rectangle 39">
              <a:extLst>
                <a:ext uri="{FF2B5EF4-FFF2-40B4-BE49-F238E27FC236}">
                  <a16:creationId xmlns:a16="http://schemas.microsoft.com/office/drawing/2014/main" id="{01700A03-5071-32F2-C4F8-0A075A8BB818}"/>
                </a:ext>
              </a:extLst>
            </p:cNvPr>
            <p:cNvSpPr/>
            <p:nvPr/>
          </p:nvSpPr>
          <p:spPr bwMode="auto">
            <a:xfrm>
              <a:off x="3436866" y="1003540"/>
              <a:ext cx="1175341" cy="220689"/>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Sponsor</a:t>
              </a:r>
            </a:p>
          </p:txBody>
        </p:sp>
        <p:sp>
          <p:nvSpPr>
            <p:cNvPr id="41" name="Rectangle 40">
              <a:extLst>
                <a:ext uri="{FF2B5EF4-FFF2-40B4-BE49-F238E27FC236}">
                  <a16:creationId xmlns:a16="http://schemas.microsoft.com/office/drawing/2014/main" id="{53E0A866-A082-DAFA-DDF9-F70B3E9783F7}"/>
                </a:ext>
              </a:extLst>
            </p:cNvPr>
            <p:cNvSpPr/>
            <p:nvPr/>
          </p:nvSpPr>
          <p:spPr bwMode="auto">
            <a:xfrm>
              <a:off x="3437868" y="1215227"/>
              <a:ext cx="1175341" cy="19219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endParaRPr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34" name="Group 33">
            <a:extLst>
              <a:ext uri="{FF2B5EF4-FFF2-40B4-BE49-F238E27FC236}">
                <a16:creationId xmlns:a16="http://schemas.microsoft.com/office/drawing/2014/main" id="{CB312FCA-D3DA-4DEA-935E-9F3081A6FBCE}"/>
              </a:ext>
            </a:extLst>
          </p:cNvPr>
          <p:cNvGrpSpPr/>
          <p:nvPr/>
        </p:nvGrpSpPr>
        <p:grpSpPr>
          <a:xfrm>
            <a:off x="3571079" y="1999510"/>
            <a:ext cx="864000" cy="490282"/>
            <a:chOff x="3245171" y="2412749"/>
            <a:chExt cx="1175341" cy="385349"/>
          </a:xfrm>
        </p:grpSpPr>
        <p:sp>
          <p:nvSpPr>
            <p:cNvPr id="38" name="Rectangle 37">
              <a:extLst>
                <a:ext uri="{FF2B5EF4-FFF2-40B4-BE49-F238E27FC236}">
                  <a16:creationId xmlns:a16="http://schemas.microsoft.com/office/drawing/2014/main" id="{09989B23-F969-2950-7822-465211058D2B}"/>
                </a:ext>
              </a:extLst>
            </p:cNvPr>
            <p:cNvSpPr/>
            <p:nvPr/>
          </p:nvSpPr>
          <p:spPr bwMode="auto">
            <a:xfrm>
              <a:off x="3245171" y="2412749"/>
              <a:ext cx="1175341" cy="226294"/>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Product</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700" kern="0">
                  <a:solidFill>
                    <a:prstClr val="white"/>
                  </a:solidFill>
                  <a:latin typeface="Arial" panose="020B0604020202020204" pitchFamily="34" charset="0"/>
                  <a:cs typeface="Arial" panose="020B0604020202020204" pitchFamily="34" charset="0"/>
                </a:rPr>
                <a:t>Senior Director</a:t>
              </a:r>
              <a:endPar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48C50D69-0276-98B6-3CB8-EB07D7A72728}"/>
                </a:ext>
              </a:extLst>
            </p:cNvPr>
            <p:cNvSpPr/>
            <p:nvPr/>
          </p:nvSpPr>
          <p:spPr bwMode="auto">
            <a:xfrm>
              <a:off x="3245171" y="2639044"/>
              <a:ext cx="1175341" cy="159054"/>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effectLst/>
                <a:uLnTx/>
                <a:uFillTx/>
                <a:latin typeface="Arial" panose="020B0604020202020204" pitchFamily="34" charset="0"/>
                <a:cs typeface="Arial" panose="020B0604020202020204" pitchFamily="34" charset="0"/>
              </a:endParaRPr>
            </a:p>
          </p:txBody>
        </p:sp>
      </p:grpSp>
      <p:grpSp>
        <p:nvGrpSpPr>
          <p:cNvPr id="35" name="Group 34">
            <a:extLst>
              <a:ext uri="{FF2B5EF4-FFF2-40B4-BE49-F238E27FC236}">
                <a16:creationId xmlns:a16="http://schemas.microsoft.com/office/drawing/2014/main" id="{E11C28E4-9439-34A9-8671-2A1CEED69E6E}"/>
              </a:ext>
            </a:extLst>
          </p:cNvPr>
          <p:cNvGrpSpPr/>
          <p:nvPr/>
        </p:nvGrpSpPr>
        <p:grpSpPr>
          <a:xfrm>
            <a:off x="1502796" y="2827440"/>
            <a:ext cx="864000" cy="452926"/>
            <a:chOff x="3690351" y="1035882"/>
            <a:chExt cx="1175342" cy="355987"/>
          </a:xfrm>
        </p:grpSpPr>
        <p:sp>
          <p:nvSpPr>
            <p:cNvPr id="36" name="Rectangle 35">
              <a:extLst>
                <a:ext uri="{FF2B5EF4-FFF2-40B4-BE49-F238E27FC236}">
                  <a16:creationId xmlns:a16="http://schemas.microsoft.com/office/drawing/2014/main" id="{F250605E-245C-0269-4546-9C60C083325F}"/>
                </a:ext>
              </a:extLst>
            </p:cNvPr>
            <p:cNvSpPr/>
            <p:nvPr/>
          </p:nvSpPr>
          <p:spPr bwMode="auto">
            <a:xfrm>
              <a:off x="3690352" y="1035882"/>
              <a:ext cx="1175341" cy="178792"/>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Project </a:t>
              </a:r>
              <a:r>
                <a:rPr lang="en-GB" sz="700" kern="0">
                  <a:solidFill>
                    <a:prstClr val="white"/>
                  </a:solidFill>
                  <a:latin typeface="Arial" panose="020B0604020202020204" pitchFamily="34" charset="0"/>
                  <a:cs typeface="Arial" panose="020B0604020202020204" pitchFamily="34" charset="0"/>
                </a:rPr>
                <a:t>Manager </a:t>
              </a:r>
              <a:endPar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2919EC35-3F36-6396-680E-03A27045DC65}"/>
                </a:ext>
              </a:extLst>
            </p:cNvPr>
            <p:cNvSpPr/>
            <p:nvPr/>
          </p:nvSpPr>
          <p:spPr bwMode="auto">
            <a:xfrm>
              <a:off x="3690351" y="1199679"/>
              <a:ext cx="1175341" cy="19219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p>
          </p:txBody>
        </p:sp>
      </p:grpSp>
      <p:grpSp>
        <p:nvGrpSpPr>
          <p:cNvPr id="18" name="Group 17">
            <a:extLst>
              <a:ext uri="{FF2B5EF4-FFF2-40B4-BE49-F238E27FC236}">
                <a16:creationId xmlns:a16="http://schemas.microsoft.com/office/drawing/2014/main" id="{63553066-386C-C78A-7F35-28E26A170632}"/>
              </a:ext>
            </a:extLst>
          </p:cNvPr>
          <p:cNvGrpSpPr/>
          <p:nvPr/>
        </p:nvGrpSpPr>
        <p:grpSpPr>
          <a:xfrm>
            <a:off x="2536336" y="2818560"/>
            <a:ext cx="864737" cy="465974"/>
            <a:chOff x="3476171" y="2418067"/>
            <a:chExt cx="1177346" cy="366243"/>
          </a:xfrm>
        </p:grpSpPr>
        <p:sp>
          <p:nvSpPr>
            <p:cNvPr id="31" name="Rectangle 30">
              <a:extLst>
                <a:ext uri="{FF2B5EF4-FFF2-40B4-BE49-F238E27FC236}">
                  <a16:creationId xmlns:a16="http://schemas.microsoft.com/office/drawing/2014/main" id="{56BA5735-7E92-3603-3F88-C4033510CF02}"/>
                </a:ext>
              </a:extLst>
            </p:cNvPr>
            <p:cNvSpPr/>
            <p:nvPr/>
          </p:nvSpPr>
          <p:spPr bwMode="auto">
            <a:xfrm>
              <a:off x="3476171" y="2418067"/>
              <a:ext cx="1177346" cy="178792"/>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Engagement Lead</a:t>
              </a:r>
            </a:p>
          </p:txBody>
        </p:sp>
        <p:sp>
          <p:nvSpPr>
            <p:cNvPr id="32" name="Rectangle 31">
              <a:extLst>
                <a:ext uri="{FF2B5EF4-FFF2-40B4-BE49-F238E27FC236}">
                  <a16:creationId xmlns:a16="http://schemas.microsoft.com/office/drawing/2014/main" id="{3D53722C-4379-1214-D646-13B6F3EDD71D}"/>
                </a:ext>
              </a:extLst>
            </p:cNvPr>
            <p:cNvSpPr/>
            <p:nvPr/>
          </p:nvSpPr>
          <p:spPr bwMode="auto">
            <a:xfrm>
              <a:off x="3476172" y="2592880"/>
              <a:ext cx="1176343" cy="19143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effectLst/>
                <a:uLnTx/>
                <a:uFillTx/>
                <a:latin typeface="Arial" panose="020B0604020202020204" pitchFamily="34" charset="0"/>
                <a:cs typeface="Arial" panose="020B0604020202020204" pitchFamily="34" charset="0"/>
              </a:endParaRPr>
            </a:p>
          </p:txBody>
        </p:sp>
      </p:grpSp>
      <p:grpSp>
        <p:nvGrpSpPr>
          <p:cNvPr id="19" name="Group 18">
            <a:extLst>
              <a:ext uri="{FF2B5EF4-FFF2-40B4-BE49-F238E27FC236}">
                <a16:creationId xmlns:a16="http://schemas.microsoft.com/office/drawing/2014/main" id="{3714A564-121D-A016-751B-B9816318164F}"/>
              </a:ext>
            </a:extLst>
          </p:cNvPr>
          <p:cNvGrpSpPr/>
          <p:nvPr/>
        </p:nvGrpSpPr>
        <p:grpSpPr>
          <a:xfrm>
            <a:off x="435550" y="3596771"/>
            <a:ext cx="864000" cy="465974"/>
            <a:chOff x="3477174" y="2418067"/>
            <a:chExt cx="1176343" cy="366243"/>
          </a:xfrm>
        </p:grpSpPr>
        <p:sp>
          <p:nvSpPr>
            <p:cNvPr id="29" name="Rectangle 28">
              <a:extLst>
                <a:ext uri="{FF2B5EF4-FFF2-40B4-BE49-F238E27FC236}">
                  <a16:creationId xmlns:a16="http://schemas.microsoft.com/office/drawing/2014/main" id="{C388C02B-E332-95DD-9955-C9A0CF0AFEE5}"/>
                </a:ext>
              </a:extLst>
            </p:cNvPr>
            <p:cNvSpPr/>
            <p:nvPr/>
          </p:nvSpPr>
          <p:spPr bwMode="auto">
            <a:xfrm>
              <a:off x="3478176" y="2418067"/>
              <a:ext cx="1175341" cy="178792"/>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Solution Architect </a:t>
              </a:r>
            </a:p>
          </p:txBody>
        </p:sp>
        <p:sp>
          <p:nvSpPr>
            <p:cNvPr id="30" name="Rectangle 29">
              <a:extLst>
                <a:ext uri="{FF2B5EF4-FFF2-40B4-BE49-F238E27FC236}">
                  <a16:creationId xmlns:a16="http://schemas.microsoft.com/office/drawing/2014/main" id="{D75DEB0D-9D32-31B1-F840-24693F0206E6}"/>
                </a:ext>
              </a:extLst>
            </p:cNvPr>
            <p:cNvSpPr/>
            <p:nvPr/>
          </p:nvSpPr>
          <p:spPr bwMode="auto">
            <a:xfrm>
              <a:off x="3477174" y="2592880"/>
              <a:ext cx="1175341" cy="19143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effectLst/>
                <a:uLnTx/>
                <a:uFillTx/>
                <a:latin typeface="Arial" panose="020B0604020202020204" pitchFamily="34" charset="0"/>
                <a:cs typeface="Arial" panose="020B0604020202020204" pitchFamily="34" charset="0"/>
              </a:endParaRPr>
            </a:p>
          </p:txBody>
        </p:sp>
      </p:grpSp>
      <p:grpSp>
        <p:nvGrpSpPr>
          <p:cNvPr id="20" name="Group 19">
            <a:extLst>
              <a:ext uri="{FF2B5EF4-FFF2-40B4-BE49-F238E27FC236}">
                <a16:creationId xmlns:a16="http://schemas.microsoft.com/office/drawing/2014/main" id="{BBCBB2D8-DDFD-A45E-AC5A-0BFCFA0D7007}"/>
              </a:ext>
            </a:extLst>
          </p:cNvPr>
          <p:cNvGrpSpPr/>
          <p:nvPr/>
        </p:nvGrpSpPr>
        <p:grpSpPr>
          <a:xfrm>
            <a:off x="1502796" y="3590467"/>
            <a:ext cx="864000" cy="465974"/>
            <a:chOff x="3477676" y="2418067"/>
            <a:chExt cx="1175342" cy="366243"/>
          </a:xfrm>
        </p:grpSpPr>
        <p:sp>
          <p:nvSpPr>
            <p:cNvPr id="27" name="Rectangle 26">
              <a:extLst>
                <a:ext uri="{FF2B5EF4-FFF2-40B4-BE49-F238E27FC236}">
                  <a16:creationId xmlns:a16="http://schemas.microsoft.com/office/drawing/2014/main" id="{86BB2492-DF91-2356-43BE-8831488C036D}"/>
                </a:ext>
              </a:extLst>
            </p:cNvPr>
            <p:cNvSpPr/>
            <p:nvPr/>
          </p:nvSpPr>
          <p:spPr bwMode="auto">
            <a:xfrm>
              <a:off x="3477676" y="2418067"/>
              <a:ext cx="1175341" cy="178792"/>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Model Builder </a:t>
              </a:r>
            </a:p>
          </p:txBody>
        </p:sp>
        <p:sp>
          <p:nvSpPr>
            <p:cNvPr id="28" name="Rectangle 27">
              <a:extLst>
                <a:ext uri="{FF2B5EF4-FFF2-40B4-BE49-F238E27FC236}">
                  <a16:creationId xmlns:a16="http://schemas.microsoft.com/office/drawing/2014/main" id="{5D5CFCCB-6965-F494-B335-61A1B3B76DCC}"/>
                </a:ext>
              </a:extLst>
            </p:cNvPr>
            <p:cNvSpPr/>
            <p:nvPr/>
          </p:nvSpPr>
          <p:spPr bwMode="auto">
            <a:xfrm>
              <a:off x="3477677" y="2592880"/>
              <a:ext cx="1175341" cy="19143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effectLst/>
                <a:uLnTx/>
                <a:uFillTx/>
                <a:latin typeface="Arial" panose="020B0604020202020204" pitchFamily="34" charset="0"/>
                <a:cs typeface="Arial" panose="020B0604020202020204" pitchFamily="34" charset="0"/>
              </a:endParaRPr>
            </a:p>
          </p:txBody>
        </p:sp>
      </p:grpSp>
      <p:grpSp>
        <p:nvGrpSpPr>
          <p:cNvPr id="21" name="Group 127">
            <a:extLst>
              <a:ext uri="{FF2B5EF4-FFF2-40B4-BE49-F238E27FC236}">
                <a16:creationId xmlns:a16="http://schemas.microsoft.com/office/drawing/2014/main" id="{C12D673C-4B18-CF40-6503-852BD2A133AF}"/>
              </a:ext>
            </a:extLst>
          </p:cNvPr>
          <p:cNvGrpSpPr/>
          <p:nvPr/>
        </p:nvGrpSpPr>
        <p:grpSpPr>
          <a:xfrm>
            <a:off x="2537072" y="1997321"/>
            <a:ext cx="861782" cy="492475"/>
            <a:chOff x="4833461" y="1297811"/>
            <a:chExt cx="1097283" cy="578315"/>
          </a:xfrm>
        </p:grpSpPr>
        <p:sp>
          <p:nvSpPr>
            <p:cNvPr id="25" name="Rectangle 24">
              <a:extLst>
                <a:ext uri="{FF2B5EF4-FFF2-40B4-BE49-F238E27FC236}">
                  <a16:creationId xmlns:a16="http://schemas.microsoft.com/office/drawing/2014/main" id="{C9394924-E25F-3517-631F-9417AF31F296}"/>
                </a:ext>
              </a:extLst>
            </p:cNvPr>
            <p:cNvSpPr/>
            <p:nvPr/>
          </p:nvSpPr>
          <p:spPr bwMode="auto">
            <a:xfrm>
              <a:off x="4833464" y="1297811"/>
              <a:ext cx="1097280" cy="331173"/>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Account Executive</a:t>
              </a:r>
            </a:p>
          </p:txBody>
        </p:sp>
        <p:sp>
          <p:nvSpPr>
            <p:cNvPr id="26" name="Rectangle 25">
              <a:extLst>
                <a:ext uri="{FF2B5EF4-FFF2-40B4-BE49-F238E27FC236}">
                  <a16:creationId xmlns:a16="http://schemas.microsoft.com/office/drawing/2014/main" id="{C2432980-68BD-C971-2F9C-0D905C756459}"/>
                </a:ext>
              </a:extLst>
            </p:cNvPr>
            <p:cNvSpPr/>
            <p:nvPr/>
          </p:nvSpPr>
          <p:spPr bwMode="auto">
            <a:xfrm>
              <a:off x="4833461" y="1626629"/>
              <a:ext cx="1097280" cy="249497"/>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aphicFrame>
        <p:nvGraphicFramePr>
          <p:cNvPr id="54" name="Table 53">
            <a:extLst>
              <a:ext uri="{FF2B5EF4-FFF2-40B4-BE49-F238E27FC236}">
                <a16:creationId xmlns:a16="http://schemas.microsoft.com/office/drawing/2014/main" id="{4AB8CA14-32AE-D1C4-D0BB-6E15AF8578FC}"/>
              </a:ext>
            </a:extLst>
          </p:cNvPr>
          <p:cNvGraphicFramePr>
            <a:graphicFrameLocks noGrp="1"/>
          </p:cNvGraphicFramePr>
          <p:nvPr/>
        </p:nvGraphicFramePr>
        <p:xfrm>
          <a:off x="4811485" y="879025"/>
          <a:ext cx="3945651" cy="3906455"/>
        </p:xfrm>
        <a:graphic>
          <a:graphicData uri="http://schemas.openxmlformats.org/drawingml/2006/table">
            <a:tbl>
              <a:tblPr/>
              <a:tblGrid>
                <a:gridCol w="211888">
                  <a:extLst>
                    <a:ext uri="{9D8B030D-6E8A-4147-A177-3AD203B41FA5}">
                      <a16:colId xmlns:a16="http://schemas.microsoft.com/office/drawing/2014/main" val="4053183957"/>
                    </a:ext>
                  </a:extLst>
                </a:gridCol>
                <a:gridCol w="663549">
                  <a:extLst>
                    <a:ext uri="{9D8B030D-6E8A-4147-A177-3AD203B41FA5}">
                      <a16:colId xmlns:a16="http://schemas.microsoft.com/office/drawing/2014/main" val="1836641956"/>
                    </a:ext>
                  </a:extLst>
                </a:gridCol>
                <a:gridCol w="3070214">
                  <a:extLst>
                    <a:ext uri="{9D8B030D-6E8A-4147-A177-3AD203B41FA5}">
                      <a16:colId xmlns:a16="http://schemas.microsoft.com/office/drawing/2014/main" val="4098282126"/>
                    </a:ext>
                  </a:extLst>
                </a:gridCol>
              </a:tblGrid>
              <a:tr h="184840">
                <a:tc>
                  <a:txBody>
                    <a:bodyPr/>
                    <a:lstStyle/>
                    <a:p>
                      <a:pPr algn="ctr" fontAlgn="base">
                        <a:lnSpc>
                          <a:spcPts val="975"/>
                        </a:lnSpc>
                        <a:buNone/>
                      </a:pPr>
                      <a:endParaRPr lang="en-US" sz="700" b="1"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FFFFFF"/>
                          </a:solidFill>
                          <a:effectLst/>
                          <a:latin typeface="Arial" panose="020B0604020202020204" pitchFamily="34" charset="0"/>
                          <a:cs typeface="Arial" panose="020B0604020202020204" pitchFamily="34" charset="0"/>
                        </a:rPr>
                        <a:t>Role</a:t>
                      </a:r>
                      <a:r>
                        <a:rPr lang="en-US" sz="700" b="1"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FFFFFF"/>
                          </a:solidFill>
                          <a:effectLst/>
                          <a:latin typeface="Arial" panose="020B0604020202020204" pitchFamily="34" charset="0"/>
                          <a:cs typeface="Arial" panose="020B0604020202020204" pitchFamily="34" charset="0"/>
                        </a:rPr>
                        <a:t>Primary Responsibility </a:t>
                      </a:r>
                      <a:r>
                        <a:rPr lang="en-US" sz="700" b="1"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extLst>
                  <a:ext uri="{0D108BD9-81ED-4DB2-BD59-A6C34878D82A}">
                    <a16:rowId xmlns:a16="http://schemas.microsoft.com/office/drawing/2014/main" val="2082668103"/>
                  </a:ext>
                </a:extLst>
              </a:tr>
              <a:tr h="279962">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Executive </a:t>
                      </a:r>
                    </a:p>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Sponsor</a:t>
                      </a:r>
                      <a:r>
                        <a:rPr lang="en-US" sz="700" b="0"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Champion, escalation point, owns vision. Communicates project dependencies and strategic direction as to why we are doing the project​.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3292862"/>
                  </a:ext>
                </a:extLst>
              </a:tr>
              <a:tr h="174651">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6201"/>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PS VP</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Is accountable for Anaplan scope delivery, escalation point.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69346315"/>
                  </a:ext>
                </a:extLst>
              </a:tr>
              <a:tr h="406214">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6201"/>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CS</a:t>
                      </a:r>
                    </a:p>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&amp; EAE</a:t>
                      </a: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Is Anaplan’s point of entry for all matters relating to the platform.</a:t>
                      </a:r>
                    </a:p>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Responsible for value creation and product adoption. </a:t>
                      </a:r>
                    </a:p>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Leads the review of Anaplan’s activity.</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09311508"/>
                  </a:ext>
                </a:extLst>
              </a:tr>
              <a:tr h="290433">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PO</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Expert on Client processes. Liaises with the leadership team as needed to validate the end-to-end solution (UX, workflows, organization). </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2477327"/>
                  </a:ext>
                </a:extLst>
              </a:tr>
              <a:tr h="174651">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PM</a:t>
                      </a: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​Ensures project management, compliance with deadlines, monitoring of progress, issues and budget. Level 1 escalation point.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2299541"/>
                  </a:ext>
                </a:extLst>
              </a:tr>
              <a:tr h="174651">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6201"/>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SIM</a:t>
                      </a:r>
                      <a:r>
                        <a:rPr lang="en-US" sz="700" b="0"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46007331"/>
                  </a:ext>
                </a:extLst>
              </a:tr>
              <a:tr h="406214">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6201"/>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Eng. Lead</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Experienced supply chain professional with deep planning expertise. Challenges customer thinking and coaches &amp; advises on best practice. Works across all levels of the organization.</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1107820"/>
                  </a:ext>
                </a:extLst>
              </a:tr>
              <a:tr h="406214">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6201"/>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SA</a:t>
                      </a:r>
                      <a:r>
                        <a:rPr lang="en-US" sz="700" b="0"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​Is Technical and functional expert. Designs end-to-end solution.</a:t>
                      </a:r>
                    </a:p>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Demoes apps dashboards that best align with project objectives and evaluates customization needs. Provides data requirements.</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423128"/>
                  </a:ext>
                </a:extLst>
              </a:tr>
              <a:tr h="174651">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6201"/>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MB</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Builds and manages model customization, carries out maintenance.</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4260312"/>
                  </a:ext>
                </a:extLst>
              </a:tr>
              <a:tr h="290433">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Key Users</a:t>
                      </a:r>
                      <a:r>
                        <a:rPr lang="en-US" sz="700" b="0"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Provide expertise on local/central end-to-end business process​es.</a:t>
                      </a:r>
                    </a:p>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Review dashboards and conduct UAT.​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4326178"/>
                  </a:ext>
                </a:extLst>
              </a:tr>
              <a:tr h="290433">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SME</a:t>
                      </a:r>
                      <a:r>
                        <a:rPr lang="en-US" sz="700" b="0"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Provide expertise on local/central data sources​.</a:t>
                      </a:r>
                    </a:p>
                    <a:p>
                      <a:pPr algn="l"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Provide expertise on as-is processes and review to-be processes.</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6569185"/>
                  </a:ext>
                </a:extLst>
              </a:tr>
              <a:tr h="290433">
                <a:tc>
                  <a:txBody>
                    <a:bodyPr/>
                    <a:lstStyle/>
                    <a:p>
                      <a:pPr algn="ctr" fontAlgn="base">
                        <a:lnSpc>
                          <a:spcPts val="975"/>
                        </a:lnSpc>
                        <a:buNone/>
                      </a:pPr>
                      <a:endParaRPr lang="en-US" sz="700" b="0" i="0">
                        <a:solidFill>
                          <a:srgbClr val="000000"/>
                        </a:solidFill>
                        <a:effectLst/>
                        <a:latin typeface="Arial" panose="020B0604020202020204" pitchFamily="34" charset="0"/>
                        <a:cs typeface="Arial" panose="020B0604020202020204" pitchFamily="34" charset="0"/>
                      </a:endParaRP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A324B"/>
                    </a:solidFill>
                  </a:tcPr>
                </a:tc>
                <a:tc>
                  <a:txBody>
                    <a:bodyPr/>
                    <a:lstStyle/>
                    <a:p>
                      <a:pPr algn="ctr" fontAlgn="base">
                        <a:lnSpc>
                          <a:spcPts val="975"/>
                        </a:lnSpc>
                        <a:buNone/>
                      </a:pPr>
                      <a:r>
                        <a:rPr lang="en-US" sz="700" b="1" i="0">
                          <a:solidFill>
                            <a:srgbClr val="000000"/>
                          </a:solidFill>
                          <a:effectLst/>
                          <a:latin typeface="Arial" panose="020B0604020202020204" pitchFamily="34" charset="0"/>
                          <a:cs typeface="Arial" panose="020B0604020202020204" pitchFamily="34" charset="0"/>
                        </a:rPr>
                        <a:t>IT Expert </a:t>
                      </a:r>
                      <a:r>
                        <a:rPr lang="en-US" sz="700" b="0" i="0">
                          <a:solidFill>
                            <a:srgbClr val="000000"/>
                          </a:solidFill>
                          <a:effectLst/>
                          <a:latin typeface="Arial" panose="020B0604020202020204" pitchFamily="34" charset="0"/>
                          <a:cs typeface="Arial" panose="020B0604020202020204" pitchFamily="34" charset="0"/>
                        </a:rPr>
                        <a:t>​</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​Co-ordinates with key IT stakeholders​ to deliver data to the project.</a:t>
                      </a:r>
                    </a:p>
                    <a:p>
                      <a:pPr algn="l" fontAlgn="auto">
                        <a:lnSpc>
                          <a:spcPts val="975"/>
                        </a:lnSpc>
                        <a:buNone/>
                      </a:pPr>
                      <a:r>
                        <a:rPr lang="en-US" sz="700" b="0" i="0">
                          <a:solidFill>
                            <a:srgbClr val="000000"/>
                          </a:solidFill>
                          <a:effectLst/>
                          <a:latin typeface="Arial" panose="020B0604020202020204" pitchFamily="34" charset="0"/>
                          <a:cs typeface="Arial" panose="020B0604020202020204" pitchFamily="34" charset="0"/>
                        </a:rPr>
                        <a:t>Focuses on data, IT landscape and integration activities​.</a:t>
                      </a:r>
                    </a:p>
                  </a:txBody>
                  <a:tcPr marL="77528" marR="77528" marT="38764" marB="3876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438150"/>
                  </a:ext>
                </a:extLst>
              </a:tr>
            </a:tbl>
          </a:graphicData>
        </a:graphic>
      </p:graphicFrame>
      <p:grpSp>
        <p:nvGrpSpPr>
          <p:cNvPr id="7" name="Group 6">
            <a:extLst>
              <a:ext uri="{FF2B5EF4-FFF2-40B4-BE49-F238E27FC236}">
                <a16:creationId xmlns:a16="http://schemas.microsoft.com/office/drawing/2014/main" id="{BAA124B1-E7C6-C1D7-693C-FFE3452B38D7}"/>
              </a:ext>
            </a:extLst>
          </p:cNvPr>
          <p:cNvGrpSpPr/>
          <p:nvPr/>
        </p:nvGrpSpPr>
        <p:grpSpPr>
          <a:xfrm>
            <a:off x="1502796" y="4133593"/>
            <a:ext cx="864000" cy="452926"/>
            <a:chOff x="3690351" y="1035882"/>
            <a:chExt cx="1175342" cy="355987"/>
          </a:xfrm>
        </p:grpSpPr>
        <p:sp>
          <p:nvSpPr>
            <p:cNvPr id="16" name="Rectangle 15">
              <a:extLst>
                <a:ext uri="{FF2B5EF4-FFF2-40B4-BE49-F238E27FC236}">
                  <a16:creationId xmlns:a16="http://schemas.microsoft.com/office/drawing/2014/main" id="{FAE3A890-3DA1-4572-C5F8-318345621A03}"/>
                </a:ext>
              </a:extLst>
            </p:cNvPr>
            <p:cNvSpPr/>
            <p:nvPr/>
          </p:nvSpPr>
          <p:spPr bwMode="auto">
            <a:xfrm>
              <a:off x="3690352" y="1035882"/>
              <a:ext cx="1175341" cy="163797"/>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Data &amp; Process SME</a:t>
              </a:r>
            </a:p>
          </p:txBody>
        </p:sp>
        <p:sp>
          <p:nvSpPr>
            <p:cNvPr id="50" name="Rectangle 49">
              <a:extLst>
                <a:ext uri="{FF2B5EF4-FFF2-40B4-BE49-F238E27FC236}">
                  <a16:creationId xmlns:a16="http://schemas.microsoft.com/office/drawing/2014/main" id="{F0C9DAEF-E26E-F8FE-9B28-3DF158373C25}"/>
                </a:ext>
              </a:extLst>
            </p:cNvPr>
            <p:cNvSpPr/>
            <p:nvPr/>
          </p:nvSpPr>
          <p:spPr bwMode="auto">
            <a:xfrm>
              <a:off x="3690351" y="1199679"/>
              <a:ext cx="1175341" cy="19219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p>
          </p:txBody>
        </p:sp>
      </p:grpSp>
      <p:grpSp>
        <p:nvGrpSpPr>
          <p:cNvPr id="51" name="Group 50">
            <a:extLst>
              <a:ext uri="{FF2B5EF4-FFF2-40B4-BE49-F238E27FC236}">
                <a16:creationId xmlns:a16="http://schemas.microsoft.com/office/drawing/2014/main" id="{83F1F734-AB6D-364D-5328-01BCA2B80C6C}"/>
              </a:ext>
            </a:extLst>
          </p:cNvPr>
          <p:cNvGrpSpPr/>
          <p:nvPr/>
        </p:nvGrpSpPr>
        <p:grpSpPr>
          <a:xfrm>
            <a:off x="436286" y="2829520"/>
            <a:ext cx="864000" cy="452926"/>
            <a:chOff x="3690351" y="1035882"/>
            <a:chExt cx="1175342" cy="355987"/>
          </a:xfrm>
        </p:grpSpPr>
        <p:sp>
          <p:nvSpPr>
            <p:cNvPr id="52" name="Rectangle 51">
              <a:extLst>
                <a:ext uri="{FF2B5EF4-FFF2-40B4-BE49-F238E27FC236}">
                  <a16:creationId xmlns:a16="http://schemas.microsoft.com/office/drawing/2014/main" id="{D43D91ED-59F2-403D-492F-4697AB170836}"/>
                </a:ext>
              </a:extLst>
            </p:cNvPr>
            <p:cNvSpPr/>
            <p:nvPr/>
          </p:nvSpPr>
          <p:spPr bwMode="auto">
            <a:xfrm>
              <a:off x="3690352" y="1035882"/>
              <a:ext cx="1175341" cy="178792"/>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Product Owner</a:t>
              </a:r>
            </a:p>
          </p:txBody>
        </p:sp>
        <p:sp>
          <p:nvSpPr>
            <p:cNvPr id="55" name="Rectangle 54">
              <a:extLst>
                <a:ext uri="{FF2B5EF4-FFF2-40B4-BE49-F238E27FC236}">
                  <a16:creationId xmlns:a16="http://schemas.microsoft.com/office/drawing/2014/main" id="{09B266D8-AB8C-DEE3-7112-B1481FF81B4E}"/>
                </a:ext>
              </a:extLst>
            </p:cNvPr>
            <p:cNvSpPr/>
            <p:nvPr/>
          </p:nvSpPr>
          <p:spPr bwMode="auto">
            <a:xfrm>
              <a:off x="3690351" y="1199679"/>
              <a:ext cx="1175341" cy="19219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p>
          </p:txBody>
        </p:sp>
      </p:grpSp>
      <p:grpSp>
        <p:nvGrpSpPr>
          <p:cNvPr id="56" name="Group 55">
            <a:extLst>
              <a:ext uri="{FF2B5EF4-FFF2-40B4-BE49-F238E27FC236}">
                <a16:creationId xmlns:a16="http://schemas.microsoft.com/office/drawing/2014/main" id="{A15FE63B-594A-568F-9EC6-866017D5A963}"/>
              </a:ext>
            </a:extLst>
          </p:cNvPr>
          <p:cNvGrpSpPr/>
          <p:nvPr/>
        </p:nvGrpSpPr>
        <p:grpSpPr>
          <a:xfrm>
            <a:off x="2537072" y="4134609"/>
            <a:ext cx="864000" cy="452926"/>
            <a:chOff x="3690351" y="1035882"/>
            <a:chExt cx="1175342" cy="355987"/>
          </a:xfrm>
        </p:grpSpPr>
        <p:sp>
          <p:nvSpPr>
            <p:cNvPr id="57" name="Rectangle 56">
              <a:extLst>
                <a:ext uri="{FF2B5EF4-FFF2-40B4-BE49-F238E27FC236}">
                  <a16:creationId xmlns:a16="http://schemas.microsoft.com/office/drawing/2014/main" id="{78698BE6-8BF6-4CC3-6D12-BD86A0EDAA39}"/>
                </a:ext>
              </a:extLst>
            </p:cNvPr>
            <p:cNvSpPr/>
            <p:nvPr/>
          </p:nvSpPr>
          <p:spPr bwMode="auto">
            <a:xfrm>
              <a:off x="3690352" y="1035882"/>
              <a:ext cx="1175341" cy="178792"/>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IT Expert</a:t>
              </a:r>
            </a:p>
          </p:txBody>
        </p:sp>
        <p:sp>
          <p:nvSpPr>
            <p:cNvPr id="58" name="Rectangle 57">
              <a:extLst>
                <a:ext uri="{FF2B5EF4-FFF2-40B4-BE49-F238E27FC236}">
                  <a16:creationId xmlns:a16="http://schemas.microsoft.com/office/drawing/2014/main" id="{F69BA7EB-B951-8978-BE25-60B40D27309C}"/>
                </a:ext>
              </a:extLst>
            </p:cNvPr>
            <p:cNvSpPr/>
            <p:nvPr/>
          </p:nvSpPr>
          <p:spPr bwMode="auto">
            <a:xfrm>
              <a:off x="3690351" y="1199679"/>
              <a:ext cx="1175341" cy="19219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p>
          </p:txBody>
        </p:sp>
      </p:grpSp>
      <p:grpSp>
        <p:nvGrpSpPr>
          <p:cNvPr id="61" name="Group 60">
            <a:extLst>
              <a:ext uri="{FF2B5EF4-FFF2-40B4-BE49-F238E27FC236}">
                <a16:creationId xmlns:a16="http://schemas.microsoft.com/office/drawing/2014/main" id="{21C8A9AB-4379-5BE5-8E06-40CFFA208BD5}"/>
              </a:ext>
            </a:extLst>
          </p:cNvPr>
          <p:cNvGrpSpPr/>
          <p:nvPr/>
        </p:nvGrpSpPr>
        <p:grpSpPr>
          <a:xfrm>
            <a:off x="3571079" y="2827404"/>
            <a:ext cx="864000" cy="474801"/>
            <a:chOff x="3245171" y="2412750"/>
            <a:chExt cx="1175341" cy="373181"/>
          </a:xfrm>
        </p:grpSpPr>
        <p:sp>
          <p:nvSpPr>
            <p:cNvPr id="62" name="Rectangle 61">
              <a:extLst>
                <a:ext uri="{FF2B5EF4-FFF2-40B4-BE49-F238E27FC236}">
                  <a16:creationId xmlns:a16="http://schemas.microsoft.com/office/drawing/2014/main" id="{FBC366AC-C1FD-7539-149C-0C0DA4C0D8DF}"/>
                </a:ext>
              </a:extLst>
            </p:cNvPr>
            <p:cNvSpPr/>
            <p:nvPr/>
          </p:nvSpPr>
          <p:spPr bwMode="auto">
            <a:xfrm>
              <a:off x="3245171" y="2412750"/>
              <a:ext cx="1175341" cy="178792"/>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Project Manager</a:t>
              </a:r>
            </a:p>
          </p:txBody>
        </p:sp>
        <p:sp>
          <p:nvSpPr>
            <p:cNvPr id="63" name="Rectangle 62">
              <a:extLst>
                <a:ext uri="{FF2B5EF4-FFF2-40B4-BE49-F238E27FC236}">
                  <a16:creationId xmlns:a16="http://schemas.microsoft.com/office/drawing/2014/main" id="{F04A30C0-E972-2428-2319-64B94D758836}"/>
                </a:ext>
              </a:extLst>
            </p:cNvPr>
            <p:cNvSpPr/>
            <p:nvPr/>
          </p:nvSpPr>
          <p:spPr bwMode="auto">
            <a:xfrm>
              <a:off x="3245171" y="2594501"/>
              <a:ext cx="1175341" cy="19143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effectLst/>
                <a:uLnTx/>
                <a:uFillTx/>
                <a:latin typeface="Arial" panose="020B0604020202020204" pitchFamily="34" charset="0"/>
                <a:cs typeface="Arial" panose="020B0604020202020204" pitchFamily="34" charset="0"/>
              </a:endParaRPr>
            </a:p>
          </p:txBody>
        </p:sp>
      </p:grpSp>
      <p:grpSp>
        <p:nvGrpSpPr>
          <p:cNvPr id="64" name="Group 63">
            <a:extLst>
              <a:ext uri="{FF2B5EF4-FFF2-40B4-BE49-F238E27FC236}">
                <a16:creationId xmlns:a16="http://schemas.microsoft.com/office/drawing/2014/main" id="{77B90562-A8B0-8452-E03C-BAE63AFD9139}"/>
              </a:ext>
            </a:extLst>
          </p:cNvPr>
          <p:cNvGrpSpPr/>
          <p:nvPr/>
        </p:nvGrpSpPr>
        <p:grpSpPr>
          <a:xfrm>
            <a:off x="3571079" y="4139295"/>
            <a:ext cx="864000" cy="452926"/>
            <a:chOff x="3690351" y="1035882"/>
            <a:chExt cx="1175342" cy="355987"/>
          </a:xfrm>
        </p:grpSpPr>
        <p:sp>
          <p:nvSpPr>
            <p:cNvPr id="65" name="Rectangle 64">
              <a:extLst>
                <a:ext uri="{FF2B5EF4-FFF2-40B4-BE49-F238E27FC236}">
                  <a16:creationId xmlns:a16="http://schemas.microsoft.com/office/drawing/2014/main" id="{C1D79778-C947-9E3A-92F2-E56CF8B190C9}"/>
                </a:ext>
              </a:extLst>
            </p:cNvPr>
            <p:cNvSpPr/>
            <p:nvPr/>
          </p:nvSpPr>
          <p:spPr bwMode="auto">
            <a:xfrm>
              <a:off x="3690352" y="1035882"/>
              <a:ext cx="1175341" cy="178792"/>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Manager Adoption</a:t>
              </a:r>
            </a:p>
          </p:txBody>
        </p:sp>
        <p:sp>
          <p:nvSpPr>
            <p:cNvPr id="66" name="Rectangle 65">
              <a:extLst>
                <a:ext uri="{FF2B5EF4-FFF2-40B4-BE49-F238E27FC236}">
                  <a16:creationId xmlns:a16="http://schemas.microsoft.com/office/drawing/2014/main" id="{AA3DAC00-D942-D126-CEA9-31BB6DB66681}"/>
                </a:ext>
              </a:extLst>
            </p:cNvPr>
            <p:cNvSpPr/>
            <p:nvPr/>
          </p:nvSpPr>
          <p:spPr bwMode="auto">
            <a:xfrm>
              <a:off x="3690351" y="1199679"/>
              <a:ext cx="1175341" cy="192190"/>
            </a:xfrm>
            <a:prstGeom prst="rect">
              <a:avLst/>
            </a:prstGeom>
            <a:solidFill>
              <a:schemeClr val="bg1">
                <a:lumMod val="85000"/>
              </a:schemeClr>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TBA Phase 1</a:t>
              </a:r>
            </a:p>
          </p:txBody>
        </p:sp>
      </p:grpSp>
      <p:grpSp>
        <p:nvGrpSpPr>
          <p:cNvPr id="67" name="Group 66">
            <a:extLst>
              <a:ext uri="{FF2B5EF4-FFF2-40B4-BE49-F238E27FC236}">
                <a16:creationId xmlns:a16="http://schemas.microsoft.com/office/drawing/2014/main" id="{A848246A-3475-9297-1BB6-53415E3566C1}"/>
              </a:ext>
            </a:extLst>
          </p:cNvPr>
          <p:cNvGrpSpPr/>
          <p:nvPr/>
        </p:nvGrpSpPr>
        <p:grpSpPr>
          <a:xfrm>
            <a:off x="436286" y="4122707"/>
            <a:ext cx="864000" cy="452926"/>
            <a:chOff x="3690351" y="1035882"/>
            <a:chExt cx="1175342" cy="355987"/>
          </a:xfrm>
        </p:grpSpPr>
        <p:sp>
          <p:nvSpPr>
            <p:cNvPr id="68" name="Rectangle 67">
              <a:extLst>
                <a:ext uri="{FF2B5EF4-FFF2-40B4-BE49-F238E27FC236}">
                  <a16:creationId xmlns:a16="http://schemas.microsoft.com/office/drawing/2014/main" id="{2A9FEFFA-0923-BC1F-FD56-8FFBF0C8E0BE}"/>
                </a:ext>
              </a:extLst>
            </p:cNvPr>
            <p:cNvSpPr/>
            <p:nvPr/>
          </p:nvSpPr>
          <p:spPr bwMode="auto">
            <a:xfrm>
              <a:off x="3690352" y="1035882"/>
              <a:ext cx="1175341" cy="163797"/>
            </a:xfrm>
            <a:prstGeom prst="rect">
              <a:avLst/>
            </a:prstGeom>
            <a:solidFill>
              <a:srgbClr val="0A324B"/>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Key Users</a:t>
              </a:r>
            </a:p>
          </p:txBody>
        </p:sp>
        <p:sp>
          <p:nvSpPr>
            <p:cNvPr id="69" name="Rectangle 68">
              <a:extLst>
                <a:ext uri="{FF2B5EF4-FFF2-40B4-BE49-F238E27FC236}">
                  <a16:creationId xmlns:a16="http://schemas.microsoft.com/office/drawing/2014/main" id="{04A0BD37-8CFC-57AE-D187-507E36E5EA9E}"/>
                </a:ext>
              </a:extLst>
            </p:cNvPr>
            <p:cNvSpPr/>
            <p:nvPr/>
          </p:nvSpPr>
          <p:spPr bwMode="auto">
            <a:xfrm>
              <a:off x="3690351" y="1199679"/>
              <a:ext cx="1175341" cy="19219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as needed</a:t>
              </a:r>
            </a:p>
          </p:txBody>
        </p:sp>
      </p:grpSp>
      <p:grpSp>
        <p:nvGrpSpPr>
          <p:cNvPr id="2" name="Group 1">
            <a:extLst>
              <a:ext uri="{FF2B5EF4-FFF2-40B4-BE49-F238E27FC236}">
                <a16:creationId xmlns:a16="http://schemas.microsoft.com/office/drawing/2014/main" id="{DAE68C23-15B8-454C-A6F5-BAB5ED5F4327}"/>
              </a:ext>
            </a:extLst>
          </p:cNvPr>
          <p:cNvGrpSpPr/>
          <p:nvPr/>
        </p:nvGrpSpPr>
        <p:grpSpPr>
          <a:xfrm>
            <a:off x="2534852" y="3591067"/>
            <a:ext cx="864000" cy="465974"/>
            <a:chOff x="3477676" y="2418067"/>
            <a:chExt cx="1175342" cy="366243"/>
          </a:xfrm>
        </p:grpSpPr>
        <p:sp>
          <p:nvSpPr>
            <p:cNvPr id="4" name="Rectangle 3">
              <a:extLst>
                <a:ext uri="{FF2B5EF4-FFF2-40B4-BE49-F238E27FC236}">
                  <a16:creationId xmlns:a16="http://schemas.microsoft.com/office/drawing/2014/main" id="{02A2F730-0495-8B4B-4058-4E394C9646DA}"/>
                </a:ext>
              </a:extLst>
            </p:cNvPr>
            <p:cNvSpPr/>
            <p:nvPr/>
          </p:nvSpPr>
          <p:spPr bwMode="auto">
            <a:xfrm>
              <a:off x="3477676" y="2418067"/>
              <a:ext cx="1175341" cy="178792"/>
            </a:xfrm>
            <a:prstGeom prst="rect">
              <a:avLst/>
            </a:prstGeom>
            <a:solidFill>
              <a:schemeClr val="accent1"/>
            </a:solidFill>
            <a:ln w="9525">
              <a:solidFill>
                <a:srgbClr val="135789"/>
              </a:solidFill>
              <a:round/>
              <a:headEnd/>
              <a:tailEnd/>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Delivery Assurance</a:t>
              </a:r>
            </a:p>
          </p:txBody>
        </p:sp>
        <p:sp>
          <p:nvSpPr>
            <p:cNvPr id="5" name="Rectangle 4">
              <a:extLst>
                <a:ext uri="{FF2B5EF4-FFF2-40B4-BE49-F238E27FC236}">
                  <a16:creationId xmlns:a16="http://schemas.microsoft.com/office/drawing/2014/main" id="{22AE61AD-7DE5-7006-A84C-3D1AA527D578}"/>
                </a:ext>
              </a:extLst>
            </p:cNvPr>
            <p:cNvSpPr/>
            <p:nvPr/>
          </p:nvSpPr>
          <p:spPr bwMode="auto">
            <a:xfrm>
              <a:off x="3477677" y="2592880"/>
              <a:ext cx="1175341" cy="191430"/>
            </a:xfrm>
            <a:prstGeom prst="rect">
              <a:avLst/>
            </a:prstGeom>
            <a:solidFill>
              <a:sysClr val="window" lastClr="FFFFFF"/>
            </a:solidFill>
            <a:ln w="9525">
              <a:solidFill>
                <a:srgbClr val="135789"/>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effectLst/>
                <a:uLnTx/>
                <a:uFillTx/>
                <a:latin typeface="Arial" panose="020B0604020202020204" pitchFamily="34" charset="0"/>
                <a:cs typeface="Arial" panose="020B0604020202020204" pitchFamily="34" charset="0"/>
              </a:endParaRPr>
            </a:p>
          </p:txBody>
        </p:sp>
      </p:grpSp>
      <p:grpSp>
        <p:nvGrpSpPr>
          <p:cNvPr id="6" name="Group 5">
            <a:extLst>
              <a:ext uri="{FF2B5EF4-FFF2-40B4-BE49-F238E27FC236}">
                <a16:creationId xmlns:a16="http://schemas.microsoft.com/office/drawing/2014/main" id="{A517FF71-5A3E-9479-1776-631D7D642E60}"/>
              </a:ext>
            </a:extLst>
          </p:cNvPr>
          <p:cNvGrpSpPr/>
          <p:nvPr/>
        </p:nvGrpSpPr>
        <p:grpSpPr>
          <a:xfrm>
            <a:off x="-2208139" y="0"/>
            <a:ext cx="2338441" cy="5143500"/>
            <a:chOff x="-2208139" y="0"/>
            <a:chExt cx="2338441" cy="5143500"/>
          </a:xfrm>
        </p:grpSpPr>
        <p:sp>
          <p:nvSpPr>
            <p:cNvPr id="9" name="Rectangle: Rounded Corners 8">
              <a:extLst>
                <a:ext uri="{FF2B5EF4-FFF2-40B4-BE49-F238E27FC236}">
                  <a16:creationId xmlns:a16="http://schemas.microsoft.com/office/drawing/2014/main" id="{09F09BC1-2A46-F762-29D1-3765D86149EF}"/>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5CB2EB98-0F63-635F-4EA4-5FB0E316FC6D}"/>
                </a:ext>
              </a:extLst>
            </p:cNvPr>
            <p:cNvGrpSpPr/>
            <p:nvPr/>
          </p:nvGrpSpPr>
          <p:grpSpPr>
            <a:xfrm>
              <a:off x="-2208139" y="0"/>
              <a:ext cx="2018501" cy="5143500"/>
              <a:chOff x="-2208139" y="0"/>
              <a:chExt cx="2018501" cy="5143500"/>
            </a:xfrm>
          </p:grpSpPr>
          <p:sp>
            <p:nvSpPr>
              <p:cNvPr id="23" name="Rectangle: Rounded Corners 22">
                <a:extLst>
                  <a:ext uri="{FF2B5EF4-FFF2-40B4-BE49-F238E27FC236}">
                    <a16:creationId xmlns:a16="http://schemas.microsoft.com/office/drawing/2014/main" id="{8093B946-FD20-A08E-398C-53C43DA69D77}"/>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4" name="TextBox 23">
                <a:extLst>
                  <a:ext uri="{FF2B5EF4-FFF2-40B4-BE49-F238E27FC236}">
                    <a16:creationId xmlns:a16="http://schemas.microsoft.com/office/drawing/2014/main" id="{CD5A74AC-8A85-B59D-F54A-00D73D16353F}"/>
                  </a:ext>
                </a:extLst>
              </p:cNvPr>
              <p:cNvSpPr txBox="1"/>
              <p:nvPr/>
            </p:nvSpPr>
            <p:spPr>
              <a:xfrm>
                <a:off x="-2081074" y="983848"/>
                <a:ext cx="1764368" cy="738664"/>
              </a:xfrm>
              <a:prstGeom prst="rect">
                <a:avLst/>
              </a:prstGeom>
              <a:solidFill>
                <a:schemeClr val="bg1"/>
              </a:solidFill>
              <a:ln w="3175">
                <a:solidFill>
                  <a:schemeClr val="accent6">
                    <a:lumMod val="10000"/>
                  </a:schemeClr>
                </a:solidFill>
              </a:ln>
            </p:spPr>
            <p:txBody>
              <a:bodyPr wrap="square" lIns="91440" rtlCol="0">
                <a:spAutoFit/>
              </a:bodyPr>
              <a:lstStyle/>
              <a:p>
                <a:r>
                  <a:rPr lang="en-US" sz="1400"/>
                  <a:t>Update with roles and names to align with project team</a:t>
                </a:r>
              </a:p>
            </p:txBody>
          </p:sp>
          <p:sp>
            <p:nvSpPr>
              <p:cNvPr id="53" name="TextBox 52">
                <a:extLst>
                  <a:ext uri="{FF2B5EF4-FFF2-40B4-BE49-F238E27FC236}">
                    <a16:creationId xmlns:a16="http://schemas.microsoft.com/office/drawing/2014/main" id="{25D643B6-392E-5FC0-3BB3-E6C0EEA8EA44}"/>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59" name="Group 58">
                <a:extLst>
                  <a:ext uri="{FF2B5EF4-FFF2-40B4-BE49-F238E27FC236}">
                    <a16:creationId xmlns:a16="http://schemas.microsoft.com/office/drawing/2014/main" id="{1972FBED-7AB4-91D0-9D7A-1A87E20F85CE}"/>
                  </a:ext>
                </a:extLst>
              </p:cNvPr>
              <p:cNvGrpSpPr/>
              <p:nvPr/>
            </p:nvGrpSpPr>
            <p:grpSpPr>
              <a:xfrm>
                <a:off x="-1913726" y="4862278"/>
                <a:ext cx="1537258" cy="215444"/>
                <a:chOff x="-1907058" y="4862278"/>
                <a:chExt cx="1537258" cy="215444"/>
              </a:xfrm>
            </p:grpSpPr>
            <p:sp>
              <p:nvSpPr>
                <p:cNvPr id="73" name="TextBox 72">
                  <a:extLst>
                    <a:ext uri="{FF2B5EF4-FFF2-40B4-BE49-F238E27FC236}">
                      <a16:creationId xmlns:a16="http://schemas.microsoft.com/office/drawing/2014/main" id="{12D42894-617F-BEF2-EF97-16BF76CADA86}"/>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74" name="Graphic 73" descr="Warning with solid fill">
                  <a:extLst>
                    <a:ext uri="{FF2B5EF4-FFF2-40B4-BE49-F238E27FC236}">
                      <a16:creationId xmlns:a16="http://schemas.microsoft.com/office/drawing/2014/main" id="{738CE560-4102-FAE3-F045-352FFDF50D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70" name="Group 69">
                <a:extLst>
                  <a:ext uri="{FF2B5EF4-FFF2-40B4-BE49-F238E27FC236}">
                    <a16:creationId xmlns:a16="http://schemas.microsoft.com/office/drawing/2014/main" id="{EB63A73F-E1CB-CFC2-3075-0A04F277AD32}"/>
                  </a:ext>
                </a:extLst>
              </p:cNvPr>
              <p:cNvGrpSpPr/>
              <p:nvPr/>
            </p:nvGrpSpPr>
            <p:grpSpPr>
              <a:xfrm>
                <a:off x="-1468837" y="0"/>
                <a:ext cx="539895" cy="539895"/>
                <a:chOff x="-1468837" y="0"/>
                <a:chExt cx="539895" cy="539895"/>
              </a:xfrm>
            </p:grpSpPr>
            <p:sp>
              <p:nvSpPr>
                <p:cNvPr id="71" name="Oval 70">
                  <a:extLst>
                    <a:ext uri="{FF2B5EF4-FFF2-40B4-BE49-F238E27FC236}">
                      <a16:creationId xmlns:a16="http://schemas.microsoft.com/office/drawing/2014/main" id="{9AC9BEF3-CC1B-B5D7-A380-F4F9C7BAFB00}"/>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72" name="Graphic 71" descr="Target Audience with solid fill">
                  <a:extLst>
                    <a:ext uri="{FF2B5EF4-FFF2-40B4-BE49-F238E27FC236}">
                      <a16:creationId xmlns:a16="http://schemas.microsoft.com/office/drawing/2014/main" id="{D1F43A2E-D1AF-4610-D85C-89E4B3B34C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275998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68">
            <a:extLst>
              <a:ext uri="{FF2B5EF4-FFF2-40B4-BE49-F238E27FC236}">
                <a16:creationId xmlns:a16="http://schemas.microsoft.com/office/drawing/2014/main" id="{60BB4A31-7888-215F-BEF7-356C371AD6B4}"/>
              </a:ext>
            </a:extLst>
          </p:cNvPr>
          <p:cNvSpPr txBox="1">
            <a:spLocks/>
          </p:cNvSpPr>
          <p:nvPr/>
        </p:nvSpPr>
        <p:spPr>
          <a:xfrm>
            <a:off x="419100" y="294640"/>
            <a:ext cx="8153401" cy="338554"/>
          </a:xfrm>
          <a:prstGeom prst="rect">
            <a:avLst/>
          </a:prstGeom>
        </p:spPr>
        <p:txBody>
          <a:bodyPr lIns="0" tIns="45720" rIns="0" bIns="45720" anchor="t"/>
          <a:lstStyle>
            <a:lvl1pPr algn="l" defTabSz="914400" rtl="0" eaLnBrk="1" latinLnBrk="0" hangingPunct="1">
              <a:spcBef>
                <a:spcPct val="0"/>
              </a:spcBef>
              <a:buNone/>
              <a:defRPr sz="18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GB">
                <a:latin typeface="Arial"/>
                <a:cs typeface="Arial"/>
              </a:rPr>
              <a:t>Project Governance and Team</a:t>
            </a:r>
            <a:endParaRPr lang="en-US">
              <a:solidFill>
                <a:srgbClr val="000000"/>
              </a:solidFill>
              <a:latin typeface="Arial"/>
              <a:cs typeface="Arial"/>
            </a:endParaRPr>
          </a:p>
          <a:p>
            <a:endParaRPr lang="en-US"/>
          </a:p>
        </p:txBody>
      </p:sp>
      <p:sp>
        <p:nvSpPr>
          <p:cNvPr id="21" name="ZoneTexte 74">
            <a:extLst>
              <a:ext uri="{FF2B5EF4-FFF2-40B4-BE49-F238E27FC236}">
                <a16:creationId xmlns:a16="http://schemas.microsoft.com/office/drawing/2014/main" id="{E863CEC6-E728-68A5-FA07-088D8D889A1C}"/>
              </a:ext>
            </a:extLst>
          </p:cNvPr>
          <p:cNvSpPr txBox="1"/>
          <p:nvPr/>
        </p:nvSpPr>
        <p:spPr>
          <a:xfrm>
            <a:off x="191983" y="1660630"/>
            <a:ext cx="1227733" cy="517065"/>
          </a:xfrm>
          <a:prstGeom prst="rect">
            <a:avLst/>
          </a:prstGeom>
          <a:noFill/>
        </p:spPr>
        <p:txBody>
          <a:bodyPr wrap="square" lIns="91440" tIns="45720" rIns="91440" bIns="45720" rtlCol="0" anchor="t">
            <a:spAutoFit/>
          </a:bodyPr>
          <a:lstStyle/>
          <a:p>
            <a:pPr marL="175895" lvl="1" indent="-175895">
              <a:spcBef>
                <a:spcPct val="20000"/>
              </a:spcBef>
              <a:buFont typeface="Wingdings" pitchFamily="2" charset="2"/>
              <a:buChar char="§"/>
              <a:defRPr/>
            </a:pPr>
            <a:r>
              <a:rPr lang="en-US" sz="600">
                <a:solidFill>
                  <a:schemeClr val="tx2"/>
                </a:solidFill>
                <a:latin typeface="+mj-lt"/>
                <a:ea typeface="Verdana" panose="020B0604030504040204" pitchFamily="34" charset="0"/>
                <a:cs typeface="Verdana" panose="020B0604030504040204" pitchFamily="34" charset="0"/>
              </a:rPr>
              <a:t>Account Executive</a:t>
            </a:r>
            <a:endParaRPr lang="en-US"/>
          </a:p>
          <a:p>
            <a:pPr marL="175895" lvl="1" indent="-175895">
              <a:spcBef>
                <a:spcPct val="20000"/>
              </a:spcBef>
              <a:buFont typeface="Wingdings" pitchFamily="2" charset="2"/>
              <a:buChar char="§"/>
              <a:defRPr/>
            </a:pPr>
            <a:r>
              <a:rPr lang="en-US" sz="600">
                <a:solidFill>
                  <a:schemeClr val="tx2"/>
                </a:solidFill>
                <a:latin typeface="+mj-lt"/>
                <a:ea typeface="Verdana"/>
                <a:cs typeface="Verdana" panose="020B0604030504040204" pitchFamily="34" charset="0"/>
              </a:rPr>
              <a:t>Services Delivery Dir.</a:t>
            </a:r>
            <a:endParaRPr lang="en-US" sz="600">
              <a:solidFill>
                <a:schemeClr val="tx2"/>
              </a:solidFill>
              <a:latin typeface="+mj-lt"/>
              <a:ea typeface="Verdana" panose="020B0604030504040204" pitchFamily="34" charset="0"/>
              <a:cs typeface="Verdana" panose="020B0604030504040204" pitchFamily="34" charset="0"/>
            </a:endParaRPr>
          </a:p>
          <a:p>
            <a:pPr marL="175895" lvl="1" indent="-175895">
              <a:spcBef>
                <a:spcPct val="20000"/>
              </a:spcBef>
              <a:buFont typeface="Wingdings" pitchFamily="2" charset="2"/>
              <a:buChar char="§"/>
              <a:defRPr/>
            </a:pPr>
            <a:r>
              <a:rPr lang="en-US" sz="600">
                <a:solidFill>
                  <a:schemeClr val="tx2"/>
                </a:solidFill>
                <a:latin typeface="+mj-lt"/>
                <a:ea typeface="Verdana"/>
                <a:cs typeface="Verdana" panose="020B0604030504040204" pitchFamily="34" charset="0"/>
              </a:rPr>
              <a:t>Customer Success</a:t>
            </a:r>
            <a:endParaRPr lang="en-US" sz="600">
              <a:solidFill>
                <a:schemeClr val="tx2"/>
              </a:solidFill>
              <a:latin typeface="+mj-lt"/>
              <a:ea typeface="Verdana" panose="020B0604030504040204" pitchFamily="34" charset="0"/>
              <a:cs typeface="Verdana" panose="020B0604030504040204" pitchFamily="34" charset="0"/>
            </a:endParaRPr>
          </a:p>
          <a:p>
            <a:pPr marL="175895" lvl="1" indent="-175895">
              <a:spcBef>
                <a:spcPct val="20000"/>
              </a:spcBef>
              <a:buFont typeface="Wingdings" pitchFamily="2" charset="2"/>
              <a:buChar char="§"/>
              <a:defRPr/>
            </a:pPr>
            <a:r>
              <a:rPr lang="en-US" sz="600">
                <a:solidFill>
                  <a:schemeClr val="tx2"/>
                </a:solidFill>
                <a:latin typeface="+mj-lt"/>
                <a:ea typeface="Verdana"/>
                <a:cs typeface="Verdana" panose="020B0604030504040204" pitchFamily="34" charset="0"/>
              </a:rPr>
              <a:t>Project Manager</a:t>
            </a:r>
            <a:endParaRPr lang="en-US" sz="600">
              <a:solidFill>
                <a:schemeClr val="tx2"/>
              </a:solidFill>
              <a:latin typeface="+mj-lt"/>
              <a:ea typeface="Verdana" panose="020B0604030504040204" pitchFamily="34" charset="0"/>
              <a:cs typeface="Verdana" panose="020B0604030504040204" pitchFamily="34" charset="0"/>
            </a:endParaRPr>
          </a:p>
        </p:txBody>
      </p:sp>
      <p:sp>
        <p:nvSpPr>
          <p:cNvPr id="23" name="ZoneTexte 74">
            <a:extLst>
              <a:ext uri="{FF2B5EF4-FFF2-40B4-BE49-F238E27FC236}">
                <a16:creationId xmlns:a16="http://schemas.microsoft.com/office/drawing/2014/main" id="{DA2EB8F4-9C83-8B41-41EB-040C9B5199BD}"/>
              </a:ext>
            </a:extLst>
          </p:cNvPr>
          <p:cNvSpPr txBox="1"/>
          <p:nvPr/>
        </p:nvSpPr>
        <p:spPr>
          <a:xfrm>
            <a:off x="7898109" y="1660630"/>
            <a:ext cx="1227733" cy="517065"/>
          </a:xfrm>
          <a:prstGeom prst="rect">
            <a:avLst/>
          </a:prstGeom>
          <a:noFill/>
        </p:spPr>
        <p:txBody>
          <a:bodyPr wrap="square" lIns="91440" tIns="45720" rIns="91440" bIns="45720" rtlCol="0" anchor="t">
            <a:spAutoFit/>
          </a:bodyPr>
          <a:lstStyle/>
          <a:p>
            <a:pPr marL="139700" lvl="1" indent="-133350">
              <a:spcBef>
                <a:spcPct val="20000"/>
              </a:spcBef>
              <a:buFont typeface="Wingdings" pitchFamily="2" charset="2"/>
              <a:buChar char="§"/>
              <a:defRPr/>
            </a:pPr>
            <a:r>
              <a:rPr lang="en-GB" sz="600">
                <a:solidFill>
                  <a:schemeClr val="tx2"/>
                </a:solidFill>
                <a:latin typeface="+mj-lt"/>
                <a:ea typeface="Verdana"/>
                <a:cs typeface="Verdana" panose="020B0604030504040204" pitchFamily="34" charset="0"/>
              </a:rPr>
              <a:t>Project Manager</a:t>
            </a:r>
            <a:endParaRPr lang="en-GB" sz="600">
              <a:solidFill>
                <a:schemeClr val="tx2"/>
              </a:solidFill>
              <a:latin typeface="+mj-lt"/>
              <a:ea typeface="Verdana" panose="020B0604030504040204" pitchFamily="34" charset="0"/>
              <a:cs typeface="Verdana" panose="020B0604030504040204" pitchFamily="34" charset="0"/>
            </a:endParaRPr>
          </a:p>
          <a:p>
            <a:pPr marL="139700" lvl="1" indent="-133350">
              <a:spcBef>
                <a:spcPct val="20000"/>
              </a:spcBef>
              <a:buFont typeface="Wingdings" pitchFamily="2" charset="2"/>
              <a:buChar char="§"/>
              <a:defRPr/>
            </a:pPr>
            <a:r>
              <a:rPr lang="en-GB" sz="600">
                <a:solidFill>
                  <a:schemeClr val="tx2"/>
                </a:solidFill>
                <a:latin typeface="+mj-lt"/>
                <a:ea typeface="Verdana" panose="020B0604030504040204" pitchFamily="34" charset="0"/>
                <a:cs typeface="Verdana" panose="020B0604030504040204" pitchFamily="34" charset="0"/>
              </a:rPr>
              <a:t>Solution Architect</a:t>
            </a:r>
          </a:p>
          <a:p>
            <a:pPr marL="139700" lvl="1" indent="-133350">
              <a:spcBef>
                <a:spcPct val="20000"/>
              </a:spcBef>
              <a:buFont typeface="Wingdings" pitchFamily="2" charset="2"/>
              <a:buChar char="§"/>
              <a:defRPr/>
            </a:pPr>
            <a:r>
              <a:rPr lang="en-GB" sz="600">
                <a:solidFill>
                  <a:schemeClr val="tx2"/>
                </a:solidFill>
                <a:latin typeface="+mj-lt"/>
                <a:ea typeface="Verdana" panose="020B0604030504040204" pitchFamily="34" charset="0"/>
                <a:cs typeface="Verdana" panose="020B0604030504040204" pitchFamily="34" charset="0"/>
              </a:rPr>
              <a:t>Model Builders</a:t>
            </a:r>
          </a:p>
          <a:p>
            <a:pPr marL="139700" lvl="1" indent="-133350">
              <a:spcBef>
                <a:spcPct val="20000"/>
              </a:spcBef>
              <a:buFont typeface="Wingdings" pitchFamily="2" charset="2"/>
              <a:buChar char="§"/>
              <a:defRPr/>
            </a:pPr>
            <a:r>
              <a:rPr lang="en-US" sz="600">
                <a:solidFill>
                  <a:schemeClr val="tx2"/>
                </a:solidFill>
                <a:latin typeface="+mj-lt"/>
                <a:ea typeface="Verdana"/>
                <a:cs typeface="Verdana" panose="020B0604030504040204" pitchFamily="34" charset="0"/>
              </a:rPr>
              <a:t>Customer Success</a:t>
            </a:r>
            <a:endParaRPr lang="en-US" sz="600" b="1">
              <a:solidFill>
                <a:schemeClr val="tx2"/>
              </a:solidFill>
              <a:latin typeface="+mj-lt"/>
              <a:ea typeface="Verdana" panose="020B0604030504040204" pitchFamily="34" charset="0"/>
              <a:cs typeface="Verdana" panose="020B0604030504040204" pitchFamily="34" charset="0"/>
            </a:endParaRPr>
          </a:p>
        </p:txBody>
      </p:sp>
      <p:sp>
        <p:nvSpPr>
          <p:cNvPr id="26" name="ZoneTexte 74">
            <a:extLst>
              <a:ext uri="{FF2B5EF4-FFF2-40B4-BE49-F238E27FC236}">
                <a16:creationId xmlns:a16="http://schemas.microsoft.com/office/drawing/2014/main" id="{30EE398E-3358-957C-009F-7C4925C33613}"/>
              </a:ext>
            </a:extLst>
          </p:cNvPr>
          <p:cNvSpPr txBox="1"/>
          <p:nvPr/>
        </p:nvSpPr>
        <p:spPr>
          <a:xfrm>
            <a:off x="7898109" y="3869864"/>
            <a:ext cx="1227733" cy="517065"/>
          </a:xfrm>
          <a:prstGeom prst="rect">
            <a:avLst/>
          </a:prstGeom>
          <a:noFill/>
        </p:spPr>
        <p:txBody>
          <a:bodyPr wrap="square" lIns="91440" tIns="45720" rIns="91440" bIns="45720" rtlCol="0" anchor="t">
            <a:spAutoFit/>
          </a:bodyPr>
          <a:lstStyle/>
          <a:p>
            <a:pPr marL="139700" lvl="1" indent="-133350">
              <a:spcBef>
                <a:spcPct val="20000"/>
              </a:spcBef>
              <a:buFont typeface="Wingdings" pitchFamily="2" charset="2"/>
              <a:buChar char="§"/>
              <a:defRPr/>
            </a:pPr>
            <a:r>
              <a:rPr lang="en-GB" sz="600">
                <a:solidFill>
                  <a:schemeClr val="tx2"/>
                </a:solidFill>
                <a:latin typeface="+mj-lt"/>
                <a:ea typeface="Verdana"/>
                <a:cs typeface="Verdana" panose="020B0604030504040204" pitchFamily="34" charset="0"/>
              </a:rPr>
              <a:t>Project Manager</a:t>
            </a:r>
            <a:endParaRPr lang="en-GB" sz="600">
              <a:solidFill>
                <a:schemeClr val="tx2"/>
              </a:solidFill>
              <a:latin typeface="+mj-lt"/>
              <a:ea typeface="Verdana" panose="020B0604030504040204" pitchFamily="34" charset="0"/>
              <a:cs typeface="Verdana" panose="020B0604030504040204" pitchFamily="34" charset="0"/>
            </a:endParaRPr>
          </a:p>
          <a:p>
            <a:pPr marL="139700" lvl="1" indent="-133350">
              <a:spcBef>
                <a:spcPct val="20000"/>
              </a:spcBef>
              <a:buFont typeface="Wingdings" pitchFamily="2" charset="2"/>
              <a:buChar char="§"/>
              <a:defRPr/>
            </a:pPr>
            <a:r>
              <a:rPr lang="en-GB" sz="600">
                <a:solidFill>
                  <a:schemeClr val="tx2"/>
                </a:solidFill>
                <a:latin typeface="+mj-lt"/>
                <a:ea typeface="Verdana" panose="020B0604030504040204" pitchFamily="34" charset="0"/>
                <a:cs typeface="Verdana" panose="020B0604030504040204" pitchFamily="34" charset="0"/>
              </a:rPr>
              <a:t>Solution Architect</a:t>
            </a:r>
          </a:p>
          <a:p>
            <a:pPr marL="139700" lvl="1" indent="-133350">
              <a:spcBef>
                <a:spcPct val="20000"/>
              </a:spcBef>
              <a:buFont typeface="Wingdings" pitchFamily="2" charset="2"/>
              <a:buChar char="§"/>
              <a:defRPr/>
            </a:pPr>
            <a:r>
              <a:rPr lang="en-GB" sz="600">
                <a:solidFill>
                  <a:schemeClr val="tx2"/>
                </a:solidFill>
                <a:latin typeface="+mj-lt"/>
                <a:ea typeface="Verdana" panose="020B0604030504040204" pitchFamily="34" charset="0"/>
                <a:cs typeface="Verdana" panose="020B0604030504040204" pitchFamily="34" charset="0"/>
              </a:rPr>
              <a:t>Model Builders</a:t>
            </a:r>
          </a:p>
          <a:p>
            <a:pPr marL="139700" lvl="1" indent="-133350">
              <a:spcBef>
                <a:spcPct val="20000"/>
              </a:spcBef>
              <a:buFont typeface="Wingdings" pitchFamily="2" charset="2"/>
              <a:buChar char="§"/>
              <a:defRPr/>
            </a:pPr>
            <a:r>
              <a:rPr lang="en-GB" sz="600">
                <a:solidFill>
                  <a:schemeClr val="tx2"/>
                </a:solidFill>
                <a:latin typeface="+mj-lt"/>
                <a:ea typeface="Verdana"/>
                <a:cs typeface="Verdana" panose="020B0604030504040204" pitchFamily="34" charset="0"/>
              </a:rPr>
              <a:t>SMEs (when required)</a:t>
            </a:r>
          </a:p>
        </p:txBody>
      </p:sp>
      <p:sp>
        <p:nvSpPr>
          <p:cNvPr id="27" name="ZoneTexte 74">
            <a:extLst>
              <a:ext uri="{FF2B5EF4-FFF2-40B4-BE49-F238E27FC236}">
                <a16:creationId xmlns:a16="http://schemas.microsoft.com/office/drawing/2014/main" id="{EAD7AE4E-F6EE-BDF8-0AAC-B5EC77A502A3}"/>
              </a:ext>
            </a:extLst>
          </p:cNvPr>
          <p:cNvSpPr txBox="1"/>
          <p:nvPr/>
        </p:nvSpPr>
        <p:spPr>
          <a:xfrm>
            <a:off x="191983" y="3869864"/>
            <a:ext cx="1227733" cy="517065"/>
          </a:xfrm>
          <a:prstGeom prst="rect">
            <a:avLst/>
          </a:prstGeom>
          <a:noFill/>
        </p:spPr>
        <p:txBody>
          <a:bodyPr wrap="square" lIns="91440" tIns="45720" rIns="91440" bIns="45720" rtlCol="0" anchor="t">
            <a:spAutoFit/>
          </a:bodyPr>
          <a:lstStyle/>
          <a:p>
            <a:pPr marL="139700" lvl="1" indent="-133350">
              <a:spcBef>
                <a:spcPct val="20000"/>
              </a:spcBef>
              <a:buFont typeface="Wingdings" pitchFamily="2" charset="2"/>
              <a:buChar char="§"/>
              <a:defRPr/>
            </a:pPr>
            <a:r>
              <a:rPr lang="en-GB" sz="600">
                <a:solidFill>
                  <a:schemeClr val="tx2"/>
                </a:solidFill>
                <a:latin typeface="+mj-lt"/>
                <a:ea typeface="Verdana"/>
                <a:cs typeface="Verdana" panose="020B0604030504040204" pitchFamily="34" charset="0"/>
              </a:rPr>
              <a:t>Project Manager</a:t>
            </a:r>
            <a:endParaRPr lang="en-GB" sz="600">
              <a:solidFill>
                <a:schemeClr val="tx2"/>
              </a:solidFill>
              <a:latin typeface="+mj-lt"/>
              <a:ea typeface="Verdana" panose="020B0604030504040204" pitchFamily="34" charset="0"/>
              <a:cs typeface="Verdana" panose="020B0604030504040204" pitchFamily="34" charset="0"/>
            </a:endParaRPr>
          </a:p>
          <a:p>
            <a:pPr marL="139700" lvl="1" indent="-133350">
              <a:spcBef>
                <a:spcPct val="20000"/>
              </a:spcBef>
              <a:buFont typeface="Wingdings" pitchFamily="2" charset="2"/>
              <a:buChar char="§"/>
              <a:defRPr/>
            </a:pPr>
            <a:r>
              <a:rPr lang="en-GB" sz="600">
                <a:solidFill>
                  <a:schemeClr val="tx2"/>
                </a:solidFill>
                <a:latin typeface="+mj-lt"/>
                <a:ea typeface="Verdana" panose="020B0604030504040204" pitchFamily="34" charset="0"/>
                <a:cs typeface="Verdana" panose="020B0604030504040204" pitchFamily="34" charset="0"/>
              </a:rPr>
              <a:t>Solution Architect</a:t>
            </a:r>
          </a:p>
          <a:p>
            <a:pPr marL="139700" lvl="1" indent="-133350">
              <a:spcBef>
                <a:spcPct val="20000"/>
              </a:spcBef>
              <a:buFont typeface="Wingdings" pitchFamily="2" charset="2"/>
              <a:buChar char="§"/>
              <a:defRPr/>
            </a:pPr>
            <a:r>
              <a:rPr lang="en-GB" sz="600">
                <a:solidFill>
                  <a:schemeClr val="tx2"/>
                </a:solidFill>
                <a:latin typeface="+mj-lt"/>
                <a:ea typeface="Verdana" panose="020B0604030504040204" pitchFamily="34" charset="0"/>
                <a:cs typeface="Verdana" panose="020B0604030504040204" pitchFamily="34" charset="0"/>
              </a:rPr>
              <a:t>Model Builders</a:t>
            </a:r>
          </a:p>
          <a:p>
            <a:pPr marL="139700" lvl="1" indent="-133350">
              <a:spcBef>
                <a:spcPct val="20000"/>
              </a:spcBef>
              <a:buFont typeface="Wingdings" pitchFamily="2" charset="2"/>
              <a:buChar char="§"/>
              <a:defRPr/>
            </a:pPr>
            <a:r>
              <a:rPr lang="en-GB" sz="600">
                <a:solidFill>
                  <a:schemeClr val="tx2"/>
                </a:solidFill>
                <a:latin typeface="+mj-lt"/>
                <a:ea typeface="Verdana"/>
                <a:cs typeface="Verdana" panose="020B0604030504040204" pitchFamily="34" charset="0"/>
              </a:rPr>
              <a:t>SMEs (when required)</a:t>
            </a:r>
          </a:p>
        </p:txBody>
      </p:sp>
      <p:grpSp>
        <p:nvGrpSpPr>
          <p:cNvPr id="29" name="Group 28">
            <a:extLst>
              <a:ext uri="{FF2B5EF4-FFF2-40B4-BE49-F238E27FC236}">
                <a16:creationId xmlns:a16="http://schemas.microsoft.com/office/drawing/2014/main" id="{2D529B6E-F879-CEE3-249C-16D5C8ABBE32}"/>
              </a:ext>
            </a:extLst>
          </p:cNvPr>
          <p:cNvGrpSpPr/>
          <p:nvPr/>
        </p:nvGrpSpPr>
        <p:grpSpPr>
          <a:xfrm>
            <a:off x="3628814" y="4550005"/>
            <a:ext cx="872846" cy="581477"/>
            <a:chOff x="3628814" y="4550005"/>
            <a:chExt cx="872846" cy="581477"/>
          </a:xfrm>
        </p:grpSpPr>
        <p:pic>
          <p:nvPicPr>
            <p:cNvPr id="34" name="Graphique 29" descr="Femme">
              <a:extLst>
                <a:ext uri="{FF2B5EF4-FFF2-40B4-BE49-F238E27FC236}">
                  <a16:creationId xmlns:a16="http://schemas.microsoft.com/office/drawing/2014/main" id="{A3799199-AC31-4E64-EEB1-7248F60CB6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79967" y="4550005"/>
              <a:ext cx="370541" cy="378782"/>
            </a:xfrm>
            <a:prstGeom prst="rect">
              <a:avLst/>
            </a:prstGeom>
          </p:spPr>
        </p:pic>
        <p:sp>
          <p:nvSpPr>
            <p:cNvPr id="35" name="ZoneTexte 35">
              <a:extLst>
                <a:ext uri="{FF2B5EF4-FFF2-40B4-BE49-F238E27FC236}">
                  <a16:creationId xmlns:a16="http://schemas.microsoft.com/office/drawing/2014/main" id="{A012C8A1-0FA3-A7E7-211F-992A66F8FE0E}"/>
                </a:ext>
              </a:extLst>
            </p:cNvPr>
            <p:cNvSpPr txBox="1"/>
            <p:nvPr/>
          </p:nvSpPr>
          <p:spPr>
            <a:xfrm>
              <a:off x="3628814" y="4931427"/>
              <a:ext cx="872846" cy="200055"/>
            </a:xfrm>
            <a:prstGeom prst="rect">
              <a:avLst/>
            </a:prstGeom>
            <a:noFill/>
          </p:spPr>
          <p:txBody>
            <a:bodyPr wrap="square" rtlCol="0">
              <a:spAutoFit/>
            </a:bodyPr>
            <a:lstStyle/>
            <a:p>
              <a:pPr marL="6350" lvl="1">
                <a:spcBef>
                  <a:spcPct val="20000"/>
                </a:spcBef>
                <a:defRPr/>
              </a:pPr>
              <a:r>
                <a:rPr lang="en-GB" sz="700">
                  <a:solidFill>
                    <a:schemeClr val="accent1"/>
                  </a:solidFill>
                  <a:latin typeface="+mj-lt"/>
                  <a:ea typeface="Verdana" panose="020B0604030504040204" pitchFamily="34" charset="0"/>
                  <a:cs typeface="Verdana" panose="020B0604030504040204" pitchFamily="34" charset="0"/>
                </a:rPr>
                <a:t>Customer Team</a:t>
              </a:r>
            </a:p>
          </p:txBody>
        </p:sp>
      </p:grpSp>
      <p:grpSp>
        <p:nvGrpSpPr>
          <p:cNvPr id="38" name="Group 37">
            <a:extLst>
              <a:ext uri="{FF2B5EF4-FFF2-40B4-BE49-F238E27FC236}">
                <a16:creationId xmlns:a16="http://schemas.microsoft.com/office/drawing/2014/main" id="{CED7ACE5-79DB-6C64-6FC0-4F1C50FFBB01}"/>
              </a:ext>
            </a:extLst>
          </p:cNvPr>
          <p:cNvGrpSpPr/>
          <p:nvPr/>
        </p:nvGrpSpPr>
        <p:grpSpPr>
          <a:xfrm>
            <a:off x="4652426" y="4549527"/>
            <a:ext cx="840344" cy="581955"/>
            <a:chOff x="4652426" y="4549527"/>
            <a:chExt cx="840344" cy="581955"/>
          </a:xfrm>
        </p:grpSpPr>
        <p:pic>
          <p:nvPicPr>
            <p:cNvPr id="41" name="Graphique 73" descr="Homme">
              <a:extLst>
                <a:ext uri="{FF2B5EF4-FFF2-40B4-BE49-F238E27FC236}">
                  <a16:creationId xmlns:a16="http://schemas.microsoft.com/office/drawing/2014/main" id="{6E455B93-6875-1E84-70C8-BAFBBB84C2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59629" y="4549527"/>
              <a:ext cx="420598" cy="374397"/>
            </a:xfrm>
            <a:prstGeom prst="rect">
              <a:avLst/>
            </a:prstGeom>
          </p:spPr>
        </p:pic>
        <p:sp>
          <p:nvSpPr>
            <p:cNvPr id="58" name="ZoneTexte 74">
              <a:extLst>
                <a:ext uri="{FF2B5EF4-FFF2-40B4-BE49-F238E27FC236}">
                  <a16:creationId xmlns:a16="http://schemas.microsoft.com/office/drawing/2014/main" id="{3BC956FA-AD2A-5ECD-96E3-47E7650BDB19}"/>
                </a:ext>
              </a:extLst>
            </p:cNvPr>
            <p:cNvSpPr txBox="1"/>
            <p:nvPr/>
          </p:nvSpPr>
          <p:spPr>
            <a:xfrm>
              <a:off x="4652426" y="4931427"/>
              <a:ext cx="840344" cy="200055"/>
            </a:xfrm>
            <a:prstGeom prst="rect">
              <a:avLst/>
            </a:prstGeom>
            <a:noFill/>
          </p:spPr>
          <p:txBody>
            <a:bodyPr wrap="square" lIns="91440" tIns="45720" rIns="91440" bIns="45720" rtlCol="0" anchor="t">
              <a:spAutoFit/>
            </a:bodyPr>
            <a:lstStyle/>
            <a:p>
              <a:pPr marL="6350" lvl="1">
                <a:spcBef>
                  <a:spcPct val="20000"/>
                </a:spcBef>
                <a:defRPr/>
              </a:pPr>
              <a:r>
                <a:rPr lang="en-GB" sz="700">
                  <a:solidFill>
                    <a:schemeClr val="accent2"/>
                  </a:solidFill>
                  <a:latin typeface="+mj-lt"/>
                  <a:ea typeface="Verdana"/>
                  <a:cs typeface="Verdana" panose="020B0604030504040204" pitchFamily="34" charset="0"/>
                </a:rPr>
                <a:t>Delivery Team</a:t>
              </a:r>
            </a:p>
          </p:txBody>
        </p:sp>
      </p:grpSp>
      <p:grpSp>
        <p:nvGrpSpPr>
          <p:cNvPr id="59" name="Group 58">
            <a:extLst>
              <a:ext uri="{FF2B5EF4-FFF2-40B4-BE49-F238E27FC236}">
                <a16:creationId xmlns:a16="http://schemas.microsoft.com/office/drawing/2014/main" id="{04665AEC-309F-F24B-CA05-F7E82E677A72}"/>
              </a:ext>
            </a:extLst>
          </p:cNvPr>
          <p:cNvGrpSpPr/>
          <p:nvPr/>
        </p:nvGrpSpPr>
        <p:grpSpPr>
          <a:xfrm>
            <a:off x="1269047" y="947519"/>
            <a:ext cx="6648686" cy="3729197"/>
            <a:chOff x="1269047" y="947519"/>
            <a:chExt cx="6648686" cy="3729197"/>
          </a:xfrm>
        </p:grpSpPr>
        <p:sp>
          <p:nvSpPr>
            <p:cNvPr id="60" name="Freeform: Shape 59">
              <a:extLst>
                <a:ext uri="{FF2B5EF4-FFF2-40B4-BE49-F238E27FC236}">
                  <a16:creationId xmlns:a16="http://schemas.microsoft.com/office/drawing/2014/main" id="{4BDFC751-D9A7-AA64-8EE2-2FD002102205}"/>
                </a:ext>
              </a:extLst>
            </p:cNvPr>
            <p:cNvSpPr/>
            <p:nvPr/>
          </p:nvSpPr>
          <p:spPr>
            <a:xfrm>
              <a:off x="5254183" y="3378392"/>
              <a:ext cx="2663550" cy="1298324"/>
            </a:xfrm>
            <a:custGeom>
              <a:avLst/>
              <a:gdLst>
                <a:gd name="csX0" fmla="*/ 0 w 2582325"/>
                <a:gd name="csY0" fmla="*/ 129832 h 1298324"/>
                <a:gd name="csX1" fmla="*/ 129832 w 2582325"/>
                <a:gd name="csY1" fmla="*/ 0 h 1298324"/>
                <a:gd name="csX2" fmla="*/ 2452493 w 2582325"/>
                <a:gd name="csY2" fmla="*/ 0 h 1298324"/>
                <a:gd name="csX3" fmla="*/ 2582325 w 2582325"/>
                <a:gd name="csY3" fmla="*/ 129832 h 1298324"/>
                <a:gd name="csX4" fmla="*/ 2582325 w 2582325"/>
                <a:gd name="csY4" fmla="*/ 1168492 h 1298324"/>
                <a:gd name="csX5" fmla="*/ 2452493 w 2582325"/>
                <a:gd name="csY5" fmla="*/ 1298324 h 1298324"/>
                <a:gd name="csX6" fmla="*/ 129832 w 2582325"/>
                <a:gd name="csY6" fmla="*/ 1298324 h 1298324"/>
                <a:gd name="csX7" fmla="*/ 0 w 2582325"/>
                <a:gd name="csY7" fmla="*/ 1168492 h 1298324"/>
                <a:gd name="csX8" fmla="*/ 0 w 2582325"/>
                <a:gd name="csY8" fmla="*/ 129832 h 12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82325" h="1298324">
                  <a:moveTo>
                    <a:pt x="0" y="129832"/>
                  </a:moveTo>
                  <a:cubicBezTo>
                    <a:pt x="0" y="58128"/>
                    <a:pt x="58128" y="0"/>
                    <a:pt x="129832" y="0"/>
                  </a:cubicBezTo>
                  <a:lnTo>
                    <a:pt x="2452493" y="0"/>
                  </a:lnTo>
                  <a:cubicBezTo>
                    <a:pt x="2524197" y="0"/>
                    <a:pt x="2582325" y="58128"/>
                    <a:pt x="2582325" y="129832"/>
                  </a:cubicBezTo>
                  <a:lnTo>
                    <a:pt x="2582325" y="1168492"/>
                  </a:lnTo>
                  <a:cubicBezTo>
                    <a:pt x="2582325" y="1240196"/>
                    <a:pt x="2524197" y="1298324"/>
                    <a:pt x="2452493" y="1298324"/>
                  </a:cubicBezTo>
                  <a:lnTo>
                    <a:pt x="129832" y="1298324"/>
                  </a:lnTo>
                  <a:cubicBezTo>
                    <a:pt x="58128" y="1298324"/>
                    <a:pt x="0" y="1240196"/>
                    <a:pt x="0" y="1168492"/>
                  </a:cubicBezTo>
                  <a:lnTo>
                    <a:pt x="0" y="129832"/>
                  </a:lnTo>
                  <a:close/>
                </a:path>
              </a:pathLst>
            </a:custGeom>
            <a:solidFill>
              <a:schemeClr val="tx2">
                <a:alpha val="90000"/>
              </a:schemeClr>
            </a:solidFill>
          </p:spPr>
          <p:style>
            <a:lnRef idx="2">
              <a:schemeClr val="dk2">
                <a:hueOff val="0"/>
                <a:satOff val="0"/>
                <a:lumOff val="0"/>
                <a:alphaOff val="0"/>
              </a:schemeClr>
            </a:lnRef>
            <a:fillRef idx="1">
              <a:scrgbClr r="0" g="0" b="0"/>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947217" tIns="383581" rIns="59000" bIns="460520" numCol="1" spcCol="1270" anchor="ctr" anchorCtr="0">
              <a:noAutofit/>
            </a:bodyPr>
            <a:lstStyle/>
            <a:p>
              <a:pPr marL="95250" lvl="1" indent="-88900" algn="l" defTabSz="355600">
                <a:lnSpc>
                  <a:spcPct val="90000"/>
                </a:lnSpc>
                <a:spcBef>
                  <a:spcPct val="0"/>
                </a:spcBef>
                <a:spcAft>
                  <a:spcPct val="15000"/>
                </a:spcAft>
                <a:buFont typeface="Courier New" panose="02070309020205020404" pitchFamily="49" charset="0"/>
                <a:buNone/>
                <a:tabLst/>
              </a:pPr>
              <a:r>
                <a:rPr lang="en-GB" sz="800" b="1" kern="1200">
                  <a:solidFill>
                    <a:schemeClr val="bg1"/>
                  </a:solidFill>
                </a:rPr>
                <a:t>Weekly Project Meeting Agenda</a:t>
              </a:r>
            </a:p>
            <a:p>
              <a:pPr marL="95250" lvl="1" indent="-88900" algn="l" defTabSz="355600">
                <a:lnSpc>
                  <a:spcPct val="90000"/>
                </a:lnSpc>
                <a:spcBef>
                  <a:spcPct val="0"/>
                </a:spcBef>
                <a:spcAft>
                  <a:spcPct val="15000"/>
                </a:spcAft>
                <a:buFont typeface="Courier New" panose="02070309020205020404" pitchFamily="49" charset="0"/>
                <a:buChar char="o"/>
                <a:tabLst/>
              </a:pPr>
              <a:endParaRPr lang="en-GB" sz="800" kern="1200">
                <a:solidFill>
                  <a:schemeClr val="bg1"/>
                </a:solidFill>
              </a:endParaRP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j-lt"/>
                  <a:ea typeface="Verdana" panose="020B0604030504040204" pitchFamily="34" charset="0"/>
                  <a:cs typeface="Verdana" panose="020B0604030504040204" pitchFamily="34" charset="0"/>
                </a:rPr>
                <a:t>Manage and prioritize backlog of  ideas/activities </a:t>
              </a:r>
              <a:endParaRPr lang="en-GB" sz="800" kern="1200">
                <a:solidFill>
                  <a:schemeClr val="bg1"/>
                </a:solidFill>
              </a:endParaRP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j-lt"/>
                  <a:ea typeface="Verdana" panose="020B0604030504040204" pitchFamily="34" charset="0"/>
                  <a:cs typeface="Verdana" panose="020B0604030504040204" pitchFamily="34" charset="0"/>
                </a:rPr>
                <a:t>Track progress and blocking points</a:t>
              </a: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j-lt"/>
                  <a:ea typeface="Verdana" panose="020B0604030504040204" pitchFamily="34" charset="0"/>
                  <a:cs typeface="Verdana" panose="020B0604030504040204" pitchFamily="34" charset="0"/>
                </a:rPr>
                <a:t>Build team action plan</a:t>
              </a:r>
            </a:p>
          </p:txBody>
        </p:sp>
        <p:sp>
          <p:nvSpPr>
            <p:cNvPr id="61" name="Freeform: Shape 60">
              <a:extLst>
                <a:ext uri="{FF2B5EF4-FFF2-40B4-BE49-F238E27FC236}">
                  <a16:creationId xmlns:a16="http://schemas.microsoft.com/office/drawing/2014/main" id="{04A2128D-5A81-064D-8455-6BEEA9AE11B6}"/>
                </a:ext>
              </a:extLst>
            </p:cNvPr>
            <p:cNvSpPr/>
            <p:nvPr/>
          </p:nvSpPr>
          <p:spPr>
            <a:xfrm>
              <a:off x="1272485" y="3356152"/>
              <a:ext cx="2467079" cy="1298324"/>
            </a:xfrm>
            <a:custGeom>
              <a:avLst/>
              <a:gdLst>
                <a:gd name="csX0" fmla="*/ 0 w 2467079"/>
                <a:gd name="csY0" fmla="*/ 129832 h 1298324"/>
                <a:gd name="csX1" fmla="*/ 129832 w 2467079"/>
                <a:gd name="csY1" fmla="*/ 0 h 1298324"/>
                <a:gd name="csX2" fmla="*/ 2337247 w 2467079"/>
                <a:gd name="csY2" fmla="*/ 0 h 1298324"/>
                <a:gd name="csX3" fmla="*/ 2467079 w 2467079"/>
                <a:gd name="csY3" fmla="*/ 129832 h 1298324"/>
                <a:gd name="csX4" fmla="*/ 2467079 w 2467079"/>
                <a:gd name="csY4" fmla="*/ 1168492 h 1298324"/>
                <a:gd name="csX5" fmla="*/ 2337247 w 2467079"/>
                <a:gd name="csY5" fmla="*/ 1298324 h 1298324"/>
                <a:gd name="csX6" fmla="*/ 129832 w 2467079"/>
                <a:gd name="csY6" fmla="*/ 1298324 h 1298324"/>
                <a:gd name="csX7" fmla="*/ 0 w 2467079"/>
                <a:gd name="csY7" fmla="*/ 1168492 h 1298324"/>
                <a:gd name="csX8" fmla="*/ 0 w 2467079"/>
                <a:gd name="csY8" fmla="*/ 129832 h 12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67079" h="1298324">
                  <a:moveTo>
                    <a:pt x="0" y="129832"/>
                  </a:moveTo>
                  <a:cubicBezTo>
                    <a:pt x="0" y="58128"/>
                    <a:pt x="58128" y="0"/>
                    <a:pt x="129832" y="0"/>
                  </a:cubicBezTo>
                  <a:lnTo>
                    <a:pt x="2337247" y="0"/>
                  </a:lnTo>
                  <a:cubicBezTo>
                    <a:pt x="2408951" y="0"/>
                    <a:pt x="2467079" y="58128"/>
                    <a:pt x="2467079" y="129832"/>
                  </a:cubicBezTo>
                  <a:lnTo>
                    <a:pt x="2467079" y="1168492"/>
                  </a:lnTo>
                  <a:cubicBezTo>
                    <a:pt x="2467079" y="1240196"/>
                    <a:pt x="2408951" y="1298324"/>
                    <a:pt x="2337247" y="1298324"/>
                  </a:cubicBezTo>
                  <a:lnTo>
                    <a:pt x="129832" y="1298324"/>
                  </a:lnTo>
                  <a:cubicBezTo>
                    <a:pt x="58128" y="1298324"/>
                    <a:pt x="0" y="1240196"/>
                    <a:pt x="0" y="1168492"/>
                  </a:cubicBezTo>
                  <a:lnTo>
                    <a:pt x="0" y="129832"/>
                  </a:lnTo>
                  <a:close/>
                </a:path>
              </a:pathLst>
            </a:custGeom>
            <a:solidFill>
              <a:schemeClr val="tx2">
                <a:alpha val="90000"/>
              </a:schemeClr>
            </a:solidFill>
          </p:spPr>
          <p:style>
            <a:lnRef idx="2">
              <a:schemeClr val="dk2">
                <a:hueOff val="0"/>
                <a:satOff val="0"/>
                <a:lumOff val="0"/>
                <a:alphaOff val="0"/>
              </a:schemeClr>
            </a:lnRef>
            <a:fillRef idx="1">
              <a:scrgbClr r="0" g="0" b="0"/>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59000" tIns="383581" rIns="799124" bIns="352520" numCol="1" spcCol="1270" anchor="ctr" anchorCtr="0">
              <a:noAutofit/>
            </a:bodyPr>
            <a:lstStyle/>
            <a:p>
              <a:pPr marL="95250" lvl="1" indent="-88900" algn="l" defTabSz="355600">
                <a:lnSpc>
                  <a:spcPct val="90000"/>
                </a:lnSpc>
                <a:spcBef>
                  <a:spcPct val="0"/>
                </a:spcBef>
                <a:spcAft>
                  <a:spcPct val="15000"/>
                </a:spcAft>
                <a:buFont typeface="Courier New" panose="02070309020205020404" pitchFamily="49" charset="0"/>
                <a:buNone/>
                <a:tabLst/>
              </a:pPr>
              <a:r>
                <a:rPr lang="en-GB" sz="800" b="1" kern="1200">
                  <a:solidFill>
                    <a:schemeClr val="bg1"/>
                  </a:solidFill>
                </a:rPr>
                <a:t>Daily Stand-Ups Agenda</a:t>
              </a:r>
            </a:p>
            <a:p>
              <a:pPr marL="95250" lvl="1" indent="-88900" algn="l" defTabSz="355600">
                <a:lnSpc>
                  <a:spcPct val="90000"/>
                </a:lnSpc>
                <a:spcBef>
                  <a:spcPct val="0"/>
                </a:spcBef>
                <a:spcAft>
                  <a:spcPct val="15000"/>
                </a:spcAft>
                <a:buFont typeface="Courier New" panose="02070309020205020404" pitchFamily="49" charset="0"/>
                <a:buChar char="o"/>
                <a:tabLst/>
              </a:pPr>
              <a:endParaRPr lang="en-GB" sz="800" kern="1200">
                <a:solidFill>
                  <a:schemeClr val="bg1"/>
                </a:solidFill>
              </a:endParaRP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j-lt"/>
                  <a:ea typeface="Verdana" panose="020B0604030504040204" pitchFamily="34" charset="0"/>
                  <a:cs typeface="Verdana" panose="020B0604030504040204" pitchFamily="34" charset="0"/>
                </a:rPr>
                <a:t>Manage and prioritize backlog of  ideas/activities </a:t>
              </a:r>
              <a:endParaRPr lang="en-GB" sz="800" kern="1200">
                <a:solidFill>
                  <a:schemeClr val="bg1"/>
                </a:solidFill>
              </a:endParaRP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j-lt"/>
                  <a:ea typeface="Verdana" panose="020B0604030504040204" pitchFamily="34" charset="0"/>
                  <a:cs typeface="Verdana" panose="020B0604030504040204" pitchFamily="34" charset="0"/>
                </a:rPr>
                <a:t>Track progress and blocking points</a:t>
              </a: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j-lt"/>
                  <a:ea typeface="Verdana" panose="020B0604030504040204" pitchFamily="34" charset="0"/>
                  <a:cs typeface="Verdana" panose="020B0604030504040204" pitchFamily="34" charset="0"/>
                </a:rPr>
                <a:t>Build team action plan</a:t>
              </a:r>
            </a:p>
          </p:txBody>
        </p:sp>
        <p:sp>
          <p:nvSpPr>
            <p:cNvPr id="62" name="Freeform: Shape 61">
              <a:extLst>
                <a:ext uri="{FF2B5EF4-FFF2-40B4-BE49-F238E27FC236}">
                  <a16:creationId xmlns:a16="http://schemas.microsoft.com/office/drawing/2014/main" id="{A5BFDCB6-7055-A943-53D2-5FB50FD39A1D}"/>
                </a:ext>
              </a:extLst>
            </p:cNvPr>
            <p:cNvSpPr/>
            <p:nvPr/>
          </p:nvSpPr>
          <p:spPr>
            <a:xfrm>
              <a:off x="5421670" y="950551"/>
              <a:ext cx="2496063" cy="1298324"/>
            </a:xfrm>
            <a:custGeom>
              <a:avLst/>
              <a:gdLst>
                <a:gd name="csX0" fmla="*/ 0 w 2404926"/>
                <a:gd name="csY0" fmla="*/ 129832 h 1298324"/>
                <a:gd name="csX1" fmla="*/ 129832 w 2404926"/>
                <a:gd name="csY1" fmla="*/ 0 h 1298324"/>
                <a:gd name="csX2" fmla="*/ 2275094 w 2404926"/>
                <a:gd name="csY2" fmla="*/ 0 h 1298324"/>
                <a:gd name="csX3" fmla="*/ 2404926 w 2404926"/>
                <a:gd name="csY3" fmla="*/ 129832 h 1298324"/>
                <a:gd name="csX4" fmla="*/ 2404926 w 2404926"/>
                <a:gd name="csY4" fmla="*/ 1168492 h 1298324"/>
                <a:gd name="csX5" fmla="*/ 2275094 w 2404926"/>
                <a:gd name="csY5" fmla="*/ 1298324 h 1298324"/>
                <a:gd name="csX6" fmla="*/ 129832 w 2404926"/>
                <a:gd name="csY6" fmla="*/ 1298324 h 1298324"/>
                <a:gd name="csX7" fmla="*/ 0 w 2404926"/>
                <a:gd name="csY7" fmla="*/ 1168492 h 1298324"/>
                <a:gd name="csX8" fmla="*/ 0 w 2404926"/>
                <a:gd name="csY8" fmla="*/ 129832 h 12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04926" h="1298324">
                  <a:moveTo>
                    <a:pt x="0" y="129832"/>
                  </a:moveTo>
                  <a:cubicBezTo>
                    <a:pt x="0" y="58128"/>
                    <a:pt x="58128" y="0"/>
                    <a:pt x="129832" y="0"/>
                  </a:cubicBezTo>
                  <a:lnTo>
                    <a:pt x="2275094" y="0"/>
                  </a:lnTo>
                  <a:cubicBezTo>
                    <a:pt x="2346798" y="0"/>
                    <a:pt x="2404926" y="58128"/>
                    <a:pt x="2404926" y="129832"/>
                  </a:cubicBezTo>
                  <a:lnTo>
                    <a:pt x="2404926" y="1168492"/>
                  </a:lnTo>
                  <a:cubicBezTo>
                    <a:pt x="2404926" y="1240196"/>
                    <a:pt x="2346798" y="1298324"/>
                    <a:pt x="2275094" y="1298324"/>
                  </a:cubicBezTo>
                  <a:lnTo>
                    <a:pt x="129832" y="1298324"/>
                  </a:lnTo>
                  <a:cubicBezTo>
                    <a:pt x="58128" y="1298324"/>
                    <a:pt x="0" y="1240196"/>
                    <a:pt x="0" y="1168492"/>
                  </a:cubicBezTo>
                  <a:lnTo>
                    <a:pt x="0" y="129832"/>
                  </a:lnTo>
                  <a:close/>
                </a:path>
              </a:pathLst>
            </a:custGeom>
            <a:solidFill>
              <a:schemeClr val="tx2">
                <a:alpha val="90000"/>
              </a:schemeClr>
            </a:solidFill>
          </p:spPr>
          <p:style>
            <a:lnRef idx="2">
              <a:schemeClr val="dk2">
                <a:hueOff val="0"/>
                <a:satOff val="0"/>
                <a:lumOff val="0"/>
                <a:alphaOff val="0"/>
              </a:schemeClr>
            </a:lnRef>
            <a:fillRef idx="1">
              <a:scrgbClr r="0" g="0" b="0"/>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780478" tIns="136520" rIns="59000" bIns="383581" numCol="1" spcCol="1270" anchor="t" anchorCtr="0">
              <a:noAutofit/>
            </a:bodyPr>
            <a:lstStyle/>
            <a:p>
              <a:pPr marL="57150" lvl="1" indent="0" algn="l" defTabSz="355600" rtl="0">
                <a:lnSpc>
                  <a:spcPct val="90000"/>
                </a:lnSpc>
                <a:spcBef>
                  <a:spcPct val="0"/>
                </a:spcBef>
                <a:spcAft>
                  <a:spcPct val="15000"/>
                </a:spcAft>
                <a:buFont typeface="Wingdings" pitchFamily="2" charset="2"/>
                <a:buNone/>
              </a:pPr>
              <a:r>
                <a:rPr lang="en-GB" sz="800" b="1" kern="1200">
                  <a:solidFill>
                    <a:schemeClr val="bg1"/>
                  </a:solidFill>
                  <a:latin typeface="+mn-lt"/>
                </a:rPr>
                <a:t>Configuration/ Extension Sprint Review Agenda</a:t>
              </a:r>
            </a:p>
            <a:p>
              <a:pPr marL="95250" lvl="1" indent="-88900" algn="l" defTabSz="355600">
                <a:lnSpc>
                  <a:spcPct val="90000"/>
                </a:lnSpc>
                <a:spcBef>
                  <a:spcPct val="0"/>
                </a:spcBef>
                <a:spcAft>
                  <a:spcPct val="15000"/>
                </a:spcAft>
                <a:buFont typeface="Courier New" panose="02070309020205020404" pitchFamily="49" charset="0"/>
                <a:buChar char="o"/>
                <a:tabLst/>
              </a:pPr>
              <a:endParaRPr lang="en-GB" sz="800" kern="1200">
                <a:solidFill>
                  <a:schemeClr val="bg1"/>
                </a:solidFill>
                <a:latin typeface="+mn-lt"/>
              </a:endParaRP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n-lt"/>
                  <a:ea typeface="Verdana"/>
                  <a:cs typeface="Verdana" panose="020B0604030504040204" pitchFamily="34" charset="0"/>
                </a:rPr>
                <a:t>Session to review outcomes from the Application-Led design sessions and configuration results</a:t>
              </a:r>
              <a:endParaRPr lang="en-GB" sz="800" kern="1200">
                <a:solidFill>
                  <a:schemeClr val="bg1"/>
                </a:solidFill>
                <a:latin typeface="+mn-lt"/>
                <a:ea typeface="Verdana"/>
              </a:endParaRPr>
            </a:p>
            <a:p>
              <a:pPr marL="95250" lvl="1" indent="-88900" algn="l" defTabSz="35560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n-lt"/>
                  <a:ea typeface="Verdana" panose="020B0604030504040204" pitchFamily="34" charset="0"/>
                  <a:cs typeface="Verdana" panose="020B0604030504040204" pitchFamily="34" charset="0"/>
                </a:rPr>
                <a:t>Feedback collection</a:t>
              </a:r>
            </a:p>
            <a:p>
              <a:pPr marL="95250" lvl="1" indent="-88900" algn="l" defTabSz="355600" rtl="0">
                <a:lnSpc>
                  <a:spcPct val="90000"/>
                </a:lnSpc>
                <a:spcBef>
                  <a:spcPct val="0"/>
                </a:spcBef>
                <a:spcAft>
                  <a:spcPct val="15000"/>
                </a:spcAft>
                <a:buFont typeface="Arial" panose="020B0604020202020204" pitchFamily="34" charset="0"/>
                <a:buChar char="•"/>
                <a:tabLst/>
              </a:pPr>
              <a:r>
                <a:rPr lang="en-US" sz="800" kern="1200">
                  <a:solidFill>
                    <a:schemeClr val="bg1"/>
                  </a:solidFill>
                  <a:latin typeface="+mn-lt"/>
                  <a:ea typeface="Verdana"/>
                  <a:cs typeface="Verdana" panose="020B0604030504040204" pitchFamily="34" charset="0"/>
                </a:rPr>
                <a:t>Document possible Extension work</a:t>
              </a:r>
            </a:p>
          </p:txBody>
        </p:sp>
        <p:sp>
          <p:nvSpPr>
            <p:cNvPr id="63" name="Freeform: Shape 62">
              <a:extLst>
                <a:ext uri="{FF2B5EF4-FFF2-40B4-BE49-F238E27FC236}">
                  <a16:creationId xmlns:a16="http://schemas.microsoft.com/office/drawing/2014/main" id="{B30B9F46-A3DD-7F3E-A3C6-BD4C82A9870F}"/>
                </a:ext>
              </a:extLst>
            </p:cNvPr>
            <p:cNvSpPr/>
            <p:nvPr/>
          </p:nvSpPr>
          <p:spPr>
            <a:xfrm>
              <a:off x="1269047" y="947519"/>
              <a:ext cx="2623113" cy="1325265"/>
            </a:xfrm>
            <a:custGeom>
              <a:avLst/>
              <a:gdLst>
                <a:gd name="csX0" fmla="*/ 0 w 2623113"/>
                <a:gd name="csY0" fmla="*/ 132527 h 1325265"/>
                <a:gd name="csX1" fmla="*/ 132527 w 2623113"/>
                <a:gd name="csY1" fmla="*/ 0 h 1325265"/>
                <a:gd name="csX2" fmla="*/ 2490587 w 2623113"/>
                <a:gd name="csY2" fmla="*/ 0 h 1325265"/>
                <a:gd name="csX3" fmla="*/ 2623114 w 2623113"/>
                <a:gd name="csY3" fmla="*/ 132527 h 1325265"/>
                <a:gd name="csX4" fmla="*/ 2623113 w 2623113"/>
                <a:gd name="csY4" fmla="*/ 1192739 h 1325265"/>
                <a:gd name="csX5" fmla="*/ 2490586 w 2623113"/>
                <a:gd name="csY5" fmla="*/ 1325266 h 1325265"/>
                <a:gd name="csX6" fmla="*/ 132527 w 2623113"/>
                <a:gd name="csY6" fmla="*/ 1325265 h 1325265"/>
                <a:gd name="csX7" fmla="*/ 0 w 2623113"/>
                <a:gd name="csY7" fmla="*/ 1192738 h 1325265"/>
                <a:gd name="csX8" fmla="*/ 0 w 2623113"/>
                <a:gd name="csY8" fmla="*/ 132527 h 13252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23113" h="1325265">
                  <a:moveTo>
                    <a:pt x="0" y="132527"/>
                  </a:moveTo>
                  <a:cubicBezTo>
                    <a:pt x="0" y="59334"/>
                    <a:pt x="59334" y="0"/>
                    <a:pt x="132527" y="0"/>
                  </a:cubicBezTo>
                  <a:lnTo>
                    <a:pt x="2490587" y="0"/>
                  </a:lnTo>
                  <a:cubicBezTo>
                    <a:pt x="2563780" y="0"/>
                    <a:pt x="2623114" y="59334"/>
                    <a:pt x="2623114" y="132527"/>
                  </a:cubicBezTo>
                  <a:cubicBezTo>
                    <a:pt x="2623114" y="485931"/>
                    <a:pt x="2623113" y="839335"/>
                    <a:pt x="2623113" y="1192739"/>
                  </a:cubicBezTo>
                  <a:cubicBezTo>
                    <a:pt x="2623113" y="1265932"/>
                    <a:pt x="2563779" y="1325266"/>
                    <a:pt x="2490586" y="1325266"/>
                  </a:cubicBezTo>
                  <a:lnTo>
                    <a:pt x="132527" y="1325265"/>
                  </a:lnTo>
                  <a:cubicBezTo>
                    <a:pt x="59334" y="1325265"/>
                    <a:pt x="0" y="1265931"/>
                    <a:pt x="0" y="1192738"/>
                  </a:cubicBezTo>
                  <a:lnTo>
                    <a:pt x="0" y="132527"/>
                  </a:lnTo>
                  <a:close/>
                </a:path>
              </a:pathLst>
            </a:custGeom>
            <a:solidFill>
              <a:schemeClr val="tx2">
                <a:alpha val="90000"/>
              </a:schemeClr>
            </a:solidFill>
          </p:spPr>
          <p:style>
            <a:lnRef idx="2">
              <a:schemeClr val="dk2">
                <a:hueOff val="0"/>
                <a:satOff val="0"/>
                <a:lumOff val="0"/>
                <a:alphaOff val="0"/>
              </a:schemeClr>
            </a:lnRef>
            <a:fillRef idx="1">
              <a:scrgbClr r="0" g="0" b="0"/>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59592" tIns="173112" rIns="846526" bIns="360429" numCol="1" spcCol="1270" anchor="t" anchorCtr="0">
              <a:noAutofit/>
            </a:bodyPr>
            <a:lstStyle/>
            <a:p>
              <a:pPr marL="139700" lvl="1" indent="-133350" algn="l" defTabSz="355600">
                <a:lnSpc>
                  <a:spcPct val="90000"/>
                </a:lnSpc>
                <a:spcBef>
                  <a:spcPct val="0"/>
                </a:spcBef>
                <a:spcAft>
                  <a:spcPct val="15000"/>
                </a:spcAft>
                <a:buFont typeface="Courier New" panose="02070309020205020404" pitchFamily="49" charset="0"/>
                <a:buNone/>
                <a:tabLst/>
              </a:pPr>
              <a:r>
                <a:rPr lang="en-GB" sz="800" b="1" kern="1200">
                  <a:solidFill>
                    <a:schemeClr val="bg1"/>
                  </a:solidFill>
                  <a:latin typeface="Arial" panose="020B0604020202020204"/>
                </a:rPr>
                <a:t>Steering</a:t>
              </a:r>
              <a:r>
                <a:rPr lang="en-GB" sz="800" b="1" kern="1200">
                  <a:solidFill>
                    <a:schemeClr val="bg1"/>
                  </a:solidFill>
                </a:rPr>
                <a:t> Meeting Agenda</a:t>
              </a:r>
            </a:p>
            <a:p>
              <a:pPr marL="139700" lvl="1" indent="-133350" algn="l" defTabSz="355600">
                <a:lnSpc>
                  <a:spcPct val="90000"/>
                </a:lnSpc>
                <a:spcBef>
                  <a:spcPct val="0"/>
                </a:spcBef>
                <a:spcAft>
                  <a:spcPct val="15000"/>
                </a:spcAft>
                <a:buFont typeface="Courier New" panose="02070309020205020404" pitchFamily="49" charset="0"/>
                <a:buChar char="o"/>
                <a:tabLst/>
              </a:pPr>
              <a:endParaRPr lang="en-GB" sz="800" kern="1200">
                <a:solidFill>
                  <a:schemeClr val="bg1"/>
                </a:solidFill>
              </a:endParaRPr>
            </a:p>
            <a:p>
              <a:pPr marL="139700" lvl="1" indent="-133350" algn="l" defTabSz="355600">
                <a:lnSpc>
                  <a:spcPct val="90000"/>
                </a:lnSpc>
                <a:spcBef>
                  <a:spcPct val="0"/>
                </a:spcBef>
                <a:spcAft>
                  <a:spcPct val="15000"/>
                </a:spcAft>
                <a:buFont typeface="Arial" panose="020B0604020202020204" pitchFamily="34" charset="0"/>
                <a:buChar char="•"/>
                <a:tabLst/>
              </a:pPr>
              <a:r>
                <a:rPr kumimoji="0" lang="en-US" sz="800" b="0" i="0" u="none" strike="noStrike" kern="1200" cap="none" spc="0" normalizeH="0" baseline="0" noProof="0">
                  <a:ln/>
                  <a:solidFill>
                    <a:schemeClr val="bg1"/>
                  </a:solidFill>
                  <a:effectLst/>
                  <a:uLnTx/>
                  <a:uFillTx/>
                  <a:latin typeface="+mj-lt"/>
                  <a:ea typeface="Verdana" panose="020B0604030504040204" pitchFamily="34" charset="0"/>
                  <a:cs typeface="Verdana" panose="020B0604030504040204" pitchFamily="34" charset="0"/>
                </a:rPr>
                <a:t>Sponsor progress / direction</a:t>
              </a:r>
              <a:endParaRPr lang="en-GB" sz="800" kern="1200">
                <a:solidFill>
                  <a:schemeClr val="bg1"/>
                </a:solidFill>
              </a:endParaRPr>
            </a:p>
            <a:p>
              <a:pPr marL="139700" lvl="1" indent="-133350" algn="l" defTabSz="355600">
                <a:lnSpc>
                  <a:spcPct val="90000"/>
                </a:lnSpc>
                <a:spcBef>
                  <a:spcPct val="0"/>
                </a:spcBef>
                <a:spcAft>
                  <a:spcPct val="15000"/>
                </a:spcAft>
                <a:buFont typeface="Arial" panose="020B0604020202020204" pitchFamily="34" charset="0"/>
                <a:buChar char="•"/>
                <a:tabLst/>
              </a:pPr>
              <a:r>
                <a:rPr kumimoji="0" lang="en-US" sz="800" b="0" i="0" u="none" strike="noStrike" kern="1200" cap="none" spc="0" normalizeH="0" baseline="0" noProof="0">
                  <a:ln/>
                  <a:solidFill>
                    <a:schemeClr val="bg1"/>
                  </a:solidFill>
                  <a:effectLst/>
                  <a:uLnTx/>
                  <a:uFillTx/>
                  <a:latin typeface="+mj-lt"/>
                  <a:ea typeface="Verdana" panose="020B0604030504040204" pitchFamily="34" charset="0"/>
                  <a:cs typeface="Verdana" panose="020B0604030504040204" pitchFamily="34" charset="0"/>
                </a:rPr>
                <a:t>Review / discuss options / impacts</a:t>
              </a:r>
            </a:p>
            <a:p>
              <a:pPr marL="139700" lvl="1" indent="-133350" algn="l" defTabSz="355600">
                <a:lnSpc>
                  <a:spcPct val="90000"/>
                </a:lnSpc>
                <a:spcBef>
                  <a:spcPct val="0"/>
                </a:spcBef>
                <a:spcAft>
                  <a:spcPct val="15000"/>
                </a:spcAft>
                <a:buFont typeface="Arial" panose="020B0604020202020204" pitchFamily="34" charset="0"/>
                <a:buChar char="•"/>
                <a:tabLst/>
              </a:pPr>
              <a:r>
                <a:rPr kumimoji="0" lang="en-US" sz="800" b="0" i="0" u="none" strike="noStrike" kern="1200" cap="none" spc="0" normalizeH="0" baseline="0" noProof="0">
                  <a:ln/>
                  <a:solidFill>
                    <a:schemeClr val="bg1"/>
                  </a:solidFill>
                  <a:effectLst/>
                  <a:uLnTx/>
                  <a:uFillTx/>
                  <a:latin typeface="+mj-lt"/>
                  <a:ea typeface="Verdana" panose="020B0604030504040204" pitchFamily="34" charset="0"/>
                  <a:cs typeface="Verdana" panose="020B0604030504040204" pitchFamily="34" charset="0"/>
                </a:rPr>
                <a:t>Make critical decisions timeously, approve implementation efforts</a:t>
              </a:r>
            </a:p>
            <a:p>
              <a:pPr marL="139700" lvl="1" indent="-133350" algn="l" defTabSz="355600">
                <a:lnSpc>
                  <a:spcPct val="90000"/>
                </a:lnSpc>
                <a:spcBef>
                  <a:spcPct val="0"/>
                </a:spcBef>
                <a:spcAft>
                  <a:spcPct val="15000"/>
                </a:spcAft>
                <a:buFont typeface="Arial" panose="020B0604020202020204" pitchFamily="34" charset="0"/>
                <a:buChar char="•"/>
                <a:tabLst/>
              </a:pPr>
              <a:r>
                <a:rPr kumimoji="0" lang="en-US" sz="800" b="0" i="0" u="none" strike="noStrike" kern="1200" cap="none" spc="0" normalizeH="0" baseline="0" noProof="0">
                  <a:ln/>
                  <a:solidFill>
                    <a:schemeClr val="bg1"/>
                  </a:solidFill>
                  <a:effectLst/>
                  <a:uLnTx/>
                  <a:uFillTx/>
                  <a:latin typeface="+mj-lt"/>
                  <a:ea typeface="Verdana" panose="020B0604030504040204" pitchFamily="34" charset="0"/>
                  <a:cs typeface="Verdana" panose="020B0604030504040204" pitchFamily="34" charset="0"/>
                </a:rPr>
                <a:t>Track program progress</a:t>
              </a:r>
            </a:p>
          </p:txBody>
        </p:sp>
        <p:sp>
          <p:nvSpPr>
            <p:cNvPr id="64" name="Freeform: Shape 63">
              <a:extLst>
                <a:ext uri="{FF2B5EF4-FFF2-40B4-BE49-F238E27FC236}">
                  <a16:creationId xmlns:a16="http://schemas.microsoft.com/office/drawing/2014/main" id="{BFDA378C-B5DF-AD32-CCF9-28B9C5003707}"/>
                </a:ext>
              </a:extLst>
            </p:cNvPr>
            <p:cNvSpPr/>
            <p:nvPr/>
          </p:nvSpPr>
          <p:spPr>
            <a:xfrm>
              <a:off x="2768786" y="982963"/>
              <a:ext cx="1756795" cy="1756795"/>
            </a:xfrm>
            <a:custGeom>
              <a:avLst/>
              <a:gdLst>
                <a:gd name="csX0" fmla="*/ 0 w 1756795"/>
                <a:gd name="csY0" fmla="*/ 1756795 h 1756795"/>
                <a:gd name="csX1" fmla="*/ 1756795 w 1756795"/>
                <a:gd name="csY1" fmla="*/ 0 h 1756795"/>
                <a:gd name="csX2" fmla="*/ 1756795 w 1756795"/>
                <a:gd name="csY2" fmla="*/ 1756795 h 1756795"/>
                <a:gd name="csX3" fmla="*/ 0 w 1756795"/>
                <a:gd name="csY3" fmla="*/ 1756795 h 1756795"/>
              </a:gdLst>
              <a:ahLst/>
              <a:cxnLst>
                <a:cxn ang="0">
                  <a:pos x="csX0" y="csY0"/>
                </a:cxn>
                <a:cxn ang="0">
                  <a:pos x="csX1" y="csY1"/>
                </a:cxn>
                <a:cxn ang="0">
                  <a:pos x="csX2" y="csY2"/>
                </a:cxn>
                <a:cxn ang="0">
                  <a:pos x="csX3" y="csY3"/>
                </a:cxn>
              </a:cxnLst>
              <a:rect l="l" t="t" r="r" b="b"/>
              <a:pathLst>
                <a:path w="1756795" h="1756795">
                  <a:moveTo>
                    <a:pt x="0" y="1756795"/>
                  </a:moveTo>
                  <a:cubicBezTo>
                    <a:pt x="0" y="786544"/>
                    <a:pt x="786544" y="0"/>
                    <a:pt x="1756795" y="0"/>
                  </a:cubicBezTo>
                  <a:lnTo>
                    <a:pt x="1756795" y="1756795"/>
                  </a:lnTo>
                  <a:lnTo>
                    <a:pt x="0" y="1756795"/>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92785" tIns="592785" rIns="78232" bIns="78232"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2"/>
                  </a:solidFill>
                </a:rPr>
                <a:t>.</a:t>
              </a:r>
              <a:endParaRPr lang="en-GB" sz="1000" b="1" kern="1200">
                <a:solidFill>
                  <a:schemeClr val="tx2"/>
                </a:solidFill>
              </a:endParaRPr>
            </a:p>
          </p:txBody>
        </p:sp>
        <p:sp>
          <p:nvSpPr>
            <p:cNvPr id="65" name="Freeform: Shape 64">
              <a:extLst>
                <a:ext uri="{FF2B5EF4-FFF2-40B4-BE49-F238E27FC236}">
                  <a16:creationId xmlns:a16="http://schemas.microsoft.com/office/drawing/2014/main" id="{84D8140D-AA8D-32E9-041B-7C80B7A7E9E1}"/>
                </a:ext>
              </a:extLst>
            </p:cNvPr>
            <p:cNvSpPr/>
            <p:nvPr/>
          </p:nvSpPr>
          <p:spPr>
            <a:xfrm>
              <a:off x="4581833" y="979590"/>
              <a:ext cx="1756795" cy="1756795"/>
            </a:xfrm>
            <a:custGeom>
              <a:avLst/>
              <a:gdLst>
                <a:gd name="csX0" fmla="*/ 0 w 1756795"/>
                <a:gd name="csY0" fmla="*/ 1756795 h 1756795"/>
                <a:gd name="csX1" fmla="*/ 1756795 w 1756795"/>
                <a:gd name="csY1" fmla="*/ 0 h 1756795"/>
                <a:gd name="csX2" fmla="*/ 1756795 w 1756795"/>
                <a:gd name="csY2" fmla="*/ 1756795 h 1756795"/>
                <a:gd name="csX3" fmla="*/ 0 w 1756795"/>
                <a:gd name="csY3" fmla="*/ 1756795 h 1756795"/>
              </a:gdLst>
              <a:ahLst/>
              <a:cxnLst>
                <a:cxn ang="0">
                  <a:pos x="csX0" y="csY0"/>
                </a:cxn>
                <a:cxn ang="0">
                  <a:pos x="csX1" y="csY1"/>
                </a:cxn>
                <a:cxn ang="0">
                  <a:pos x="csX2" y="csY2"/>
                </a:cxn>
                <a:cxn ang="0">
                  <a:pos x="csX3" y="csY3"/>
                </a:cxn>
              </a:cxnLst>
              <a:rect l="l" t="t" r="r" b="b"/>
              <a:pathLst>
                <a:path w="1756795" h="1756795">
                  <a:moveTo>
                    <a:pt x="0" y="0"/>
                  </a:moveTo>
                  <a:cubicBezTo>
                    <a:pt x="970251" y="0"/>
                    <a:pt x="1756795" y="786544"/>
                    <a:pt x="1756795" y="1756795"/>
                  </a:cubicBezTo>
                  <a:lnTo>
                    <a:pt x="0" y="1756795"/>
                  </a:lnTo>
                  <a:lnTo>
                    <a:pt x="0"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20040" tIns="834593" rIns="834593" bIns="320040" numCol="1" spcCol="1270" anchor="ctr" anchorCtr="0">
              <a:noAutofit/>
            </a:bodyPr>
            <a:lstStyle/>
            <a:p>
              <a:pPr marL="0" lvl="0" indent="0" algn="ctr" defTabSz="2000250">
                <a:lnSpc>
                  <a:spcPct val="90000"/>
                </a:lnSpc>
                <a:spcBef>
                  <a:spcPct val="0"/>
                </a:spcBef>
                <a:spcAft>
                  <a:spcPct val="35000"/>
                </a:spcAft>
                <a:buNone/>
              </a:pPr>
              <a:r>
                <a:rPr lang="en-GB" sz="4500" kern="1200">
                  <a:solidFill>
                    <a:schemeClr val="tx2"/>
                  </a:solidFill>
                </a:rPr>
                <a:t>.</a:t>
              </a:r>
            </a:p>
          </p:txBody>
        </p:sp>
        <p:sp>
          <p:nvSpPr>
            <p:cNvPr id="66" name="Freeform: Shape 65">
              <a:extLst>
                <a:ext uri="{FF2B5EF4-FFF2-40B4-BE49-F238E27FC236}">
                  <a16:creationId xmlns:a16="http://schemas.microsoft.com/office/drawing/2014/main" id="{1DDA7E82-8BFA-D92A-BCA6-B14D10C406A2}"/>
                </a:ext>
              </a:extLst>
            </p:cNvPr>
            <p:cNvSpPr/>
            <p:nvPr/>
          </p:nvSpPr>
          <p:spPr>
            <a:xfrm>
              <a:off x="4587789" y="2783307"/>
              <a:ext cx="1756795" cy="1756796"/>
            </a:xfrm>
            <a:custGeom>
              <a:avLst/>
              <a:gdLst>
                <a:gd name="csX0" fmla="*/ 0 w 1756795"/>
                <a:gd name="csY0" fmla="*/ 1756795 h 1756795"/>
                <a:gd name="csX1" fmla="*/ 1756795 w 1756795"/>
                <a:gd name="csY1" fmla="*/ 0 h 1756795"/>
                <a:gd name="csX2" fmla="*/ 1756795 w 1756795"/>
                <a:gd name="csY2" fmla="*/ 1756795 h 1756795"/>
                <a:gd name="csX3" fmla="*/ 0 w 1756795"/>
                <a:gd name="csY3" fmla="*/ 1756795 h 1756795"/>
              </a:gdLst>
              <a:ahLst/>
              <a:cxnLst>
                <a:cxn ang="0">
                  <a:pos x="csX0" y="csY0"/>
                </a:cxn>
                <a:cxn ang="0">
                  <a:pos x="csX1" y="csY1"/>
                </a:cxn>
                <a:cxn ang="0">
                  <a:pos x="csX2" y="csY2"/>
                </a:cxn>
                <a:cxn ang="0">
                  <a:pos x="csX3" y="csY3"/>
                </a:cxn>
              </a:cxnLst>
              <a:rect l="l" t="t" r="r" b="b"/>
              <a:pathLst>
                <a:path w="1756795" h="1756795">
                  <a:moveTo>
                    <a:pt x="1756795" y="0"/>
                  </a:moveTo>
                  <a:cubicBezTo>
                    <a:pt x="1756795" y="970251"/>
                    <a:pt x="970251" y="1756795"/>
                    <a:pt x="0" y="1756795"/>
                  </a:cubicBezTo>
                  <a:lnTo>
                    <a:pt x="0" y="0"/>
                  </a:lnTo>
                  <a:lnTo>
                    <a:pt x="17567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20040" tIns="320041" rIns="834593" bIns="834593" numCol="1" spcCol="1270" anchor="ctr" anchorCtr="0">
              <a:noAutofit/>
            </a:bodyPr>
            <a:lstStyle/>
            <a:p>
              <a:pPr marL="0" lvl="0" indent="0" algn="ctr" defTabSz="2000250">
                <a:lnSpc>
                  <a:spcPct val="90000"/>
                </a:lnSpc>
                <a:spcBef>
                  <a:spcPct val="0"/>
                </a:spcBef>
                <a:spcAft>
                  <a:spcPct val="35000"/>
                </a:spcAft>
                <a:buNone/>
              </a:pPr>
              <a:r>
                <a:rPr lang="en-GB" sz="4500" kern="1200">
                  <a:solidFill>
                    <a:schemeClr val="tx2"/>
                  </a:solidFill>
                </a:rPr>
                <a:t>.</a:t>
              </a:r>
            </a:p>
          </p:txBody>
        </p:sp>
        <p:sp>
          <p:nvSpPr>
            <p:cNvPr id="67" name="Freeform: Shape 66">
              <a:extLst>
                <a:ext uri="{FF2B5EF4-FFF2-40B4-BE49-F238E27FC236}">
                  <a16:creationId xmlns:a16="http://schemas.microsoft.com/office/drawing/2014/main" id="{459B6422-7626-AFE5-A8FC-A6F1ED30678B}"/>
                </a:ext>
              </a:extLst>
            </p:cNvPr>
            <p:cNvSpPr/>
            <p:nvPr/>
          </p:nvSpPr>
          <p:spPr>
            <a:xfrm>
              <a:off x="2772528" y="2785592"/>
              <a:ext cx="1756796" cy="1756795"/>
            </a:xfrm>
            <a:custGeom>
              <a:avLst/>
              <a:gdLst>
                <a:gd name="csX0" fmla="*/ 0 w 1756795"/>
                <a:gd name="csY0" fmla="*/ 1756795 h 1756795"/>
                <a:gd name="csX1" fmla="*/ 1756795 w 1756795"/>
                <a:gd name="csY1" fmla="*/ 0 h 1756795"/>
                <a:gd name="csX2" fmla="*/ 1756795 w 1756795"/>
                <a:gd name="csY2" fmla="*/ 1756795 h 1756795"/>
                <a:gd name="csX3" fmla="*/ 0 w 1756795"/>
                <a:gd name="csY3" fmla="*/ 1756795 h 1756795"/>
              </a:gdLst>
              <a:ahLst/>
              <a:cxnLst>
                <a:cxn ang="0">
                  <a:pos x="csX0" y="csY0"/>
                </a:cxn>
                <a:cxn ang="0">
                  <a:pos x="csX1" y="csY1"/>
                </a:cxn>
                <a:cxn ang="0">
                  <a:pos x="csX2" y="csY2"/>
                </a:cxn>
                <a:cxn ang="0">
                  <a:pos x="csX3" y="csY3"/>
                </a:cxn>
              </a:cxnLst>
              <a:rect l="l" t="t" r="r" b="b"/>
              <a:pathLst>
                <a:path w="1756795" h="1756795">
                  <a:moveTo>
                    <a:pt x="1756795" y="1756795"/>
                  </a:moveTo>
                  <a:cubicBezTo>
                    <a:pt x="786544" y="1756795"/>
                    <a:pt x="0" y="970251"/>
                    <a:pt x="0" y="0"/>
                  </a:cubicBezTo>
                  <a:lnTo>
                    <a:pt x="1756795" y="0"/>
                  </a:lnTo>
                  <a:lnTo>
                    <a:pt x="1756795" y="1756795"/>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34593" tIns="320040" rIns="320040" bIns="834593" numCol="1" spcCol="1270" anchor="ctr" anchorCtr="0">
              <a:noAutofit/>
            </a:bodyPr>
            <a:lstStyle/>
            <a:p>
              <a:pPr marL="0" lvl="0" indent="0" algn="ctr" defTabSz="2000250">
                <a:lnSpc>
                  <a:spcPct val="90000"/>
                </a:lnSpc>
                <a:spcBef>
                  <a:spcPct val="0"/>
                </a:spcBef>
                <a:spcAft>
                  <a:spcPct val="35000"/>
                </a:spcAft>
                <a:buNone/>
              </a:pPr>
              <a:r>
                <a:rPr lang="en-GB" sz="4500" kern="1200">
                  <a:solidFill>
                    <a:schemeClr val="tx2"/>
                  </a:solidFill>
                </a:rPr>
                <a:t>.</a:t>
              </a:r>
            </a:p>
          </p:txBody>
        </p:sp>
        <p:sp>
          <p:nvSpPr>
            <p:cNvPr id="68" name="Arrow: Circular 67">
              <a:extLst>
                <a:ext uri="{FF2B5EF4-FFF2-40B4-BE49-F238E27FC236}">
                  <a16:creationId xmlns:a16="http://schemas.microsoft.com/office/drawing/2014/main" id="{89D772D8-B10F-C90F-DCE6-E5A26E05938A}"/>
                </a:ext>
              </a:extLst>
            </p:cNvPr>
            <p:cNvSpPr/>
            <p:nvPr/>
          </p:nvSpPr>
          <p:spPr>
            <a:xfrm>
              <a:off x="4247356" y="2467337"/>
              <a:ext cx="606561" cy="527444"/>
            </a:xfrm>
            <a:prstGeom prst="circularArrow">
              <a:avLst/>
            </a:prstGeom>
          </p:spPr>
          <p:style>
            <a:lnRef idx="2">
              <a:schemeClr val="lt2">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9" name="Arrow: Circular 68">
              <a:extLst>
                <a:ext uri="{FF2B5EF4-FFF2-40B4-BE49-F238E27FC236}">
                  <a16:creationId xmlns:a16="http://schemas.microsoft.com/office/drawing/2014/main" id="{6986828F-2B09-4820-6292-A62A2E582E9A}"/>
                </a:ext>
              </a:extLst>
            </p:cNvPr>
            <p:cNvSpPr/>
            <p:nvPr/>
          </p:nvSpPr>
          <p:spPr>
            <a:xfrm rot="10800000">
              <a:off x="4248539" y="2509287"/>
              <a:ext cx="606561" cy="527444"/>
            </a:xfrm>
            <a:prstGeom prst="circularArrow">
              <a:avLst/>
            </a:prstGeom>
          </p:spPr>
          <p:style>
            <a:lnRef idx="2">
              <a:schemeClr val="lt2">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70" name="Group 69">
              <a:extLst>
                <a:ext uri="{FF2B5EF4-FFF2-40B4-BE49-F238E27FC236}">
                  <a16:creationId xmlns:a16="http://schemas.microsoft.com/office/drawing/2014/main" id="{33967749-E609-CCA8-8D0D-412C48A2ED72}"/>
                </a:ext>
              </a:extLst>
            </p:cNvPr>
            <p:cNvGrpSpPr/>
            <p:nvPr/>
          </p:nvGrpSpPr>
          <p:grpSpPr>
            <a:xfrm>
              <a:off x="3063980" y="1996199"/>
              <a:ext cx="1481491" cy="547806"/>
              <a:chOff x="3114782" y="1996199"/>
              <a:chExt cx="1481491" cy="547806"/>
            </a:xfrm>
          </p:grpSpPr>
          <p:pic>
            <p:nvPicPr>
              <p:cNvPr id="84" name="Graphique 29" descr="Femme">
                <a:extLst>
                  <a:ext uri="{FF2B5EF4-FFF2-40B4-BE49-F238E27FC236}">
                    <a16:creationId xmlns:a16="http://schemas.microsoft.com/office/drawing/2014/main" id="{5F1D7807-00D8-12E9-EFE1-39A5DE0894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14782" y="2077603"/>
                <a:ext cx="507851" cy="466402"/>
              </a:xfrm>
              <a:prstGeom prst="rect">
                <a:avLst/>
              </a:prstGeom>
            </p:spPr>
          </p:pic>
          <p:sp>
            <p:nvSpPr>
              <p:cNvPr id="85" name="ZoneTexte 35">
                <a:extLst>
                  <a:ext uri="{FF2B5EF4-FFF2-40B4-BE49-F238E27FC236}">
                    <a16:creationId xmlns:a16="http://schemas.microsoft.com/office/drawing/2014/main" id="{4E2E9BC2-DD5B-B27F-EB75-F512EAB30770}"/>
                  </a:ext>
                </a:extLst>
              </p:cNvPr>
              <p:cNvSpPr txBox="1"/>
              <p:nvPr/>
            </p:nvSpPr>
            <p:spPr>
              <a:xfrm>
                <a:off x="3446600" y="1996199"/>
                <a:ext cx="1149673" cy="415498"/>
              </a:xfrm>
              <a:prstGeom prst="rect">
                <a:avLst/>
              </a:prstGeom>
              <a:noFill/>
            </p:spPr>
            <p:txBody>
              <a:bodyPr wrap="none" rtlCol="0">
                <a:spAutoFit/>
              </a:bodyPr>
              <a:lstStyle/>
              <a:p>
                <a:pPr marL="171450" indent="-171450" defTabSz="914378">
                  <a:buFont typeface="Arial" panose="020B0604020202020204" pitchFamily="34" charset="0"/>
                  <a:buChar char="•"/>
                </a:pPr>
                <a:r>
                  <a:rPr lang="en-US" sz="700">
                    <a:solidFill>
                      <a:schemeClr val="bg1"/>
                    </a:solidFill>
                    <a:latin typeface="+mj-lt"/>
                    <a:ea typeface="Verdana" charset="0"/>
                    <a:cs typeface="Verdana" charset="0"/>
                  </a:rPr>
                  <a:t>Executive Sponsors</a:t>
                </a:r>
              </a:p>
              <a:p>
                <a:pPr marL="171450" indent="-171450" defTabSz="914378">
                  <a:buFont typeface="Arial" panose="020B0604020202020204" pitchFamily="34" charset="0"/>
                  <a:buChar char="•"/>
                </a:pPr>
                <a:r>
                  <a:rPr lang="en-US" sz="700">
                    <a:solidFill>
                      <a:schemeClr val="bg1"/>
                    </a:solidFill>
                    <a:latin typeface="+mj-lt"/>
                    <a:ea typeface="Verdana" charset="0"/>
                    <a:cs typeface="Verdana" charset="0"/>
                  </a:rPr>
                  <a:t>Product Owners</a:t>
                </a:r>
              </a:p>
              <a:p>
                <a:pPr marL="171450" indent="-171450" defTabSz="914378">
                  <a:buFont typeface="Arial" panose="020B0604020202020204" pitchFamily="34" charset="0"/>
                  <a:buChar char="•"/>
                </a:pPr>
                <a:r>
                  <a:rPr lang="en-US" sz="700">
                    <a:solidFill>
                      <a:schemeClr val="bg1"/>
                    </a:solidFill>
                    <a:latin typeface="+mj-lt"/>
                    <a:ea typeface="Verdana" charset="0"/>
                    <a:cs typeface="Verdana" charset="0"/>
                  </a:rPr>
                  <a:t>Project Owners</a:t>
                </a:r>
              </a:p>
            </p:txBody>
          </p:sp>
        </p:grpSp>
        <p:sp>
          <p:nvSpPr>
            <p:cNvPr id="71" name="TextBox 70">
              <a:extLst>
                <a:ext uri="{FF2B5EF4-FFF2-40B4-BE49-F238E27FC236}">
                  <a16:creationId xmlns:a16="http://schemas.microsoft.com/office/drawing/2014/main" id="{C08AA20C-4FF2-58E9-8ECE-585F416D94DA}"/>
                </a:ext>
              </a:extLst>
            </p:cNvPr>
            <p:cNvSpPr txBox="1"/>
            <p:nvPr/>
          </p:nvSpPr>
          <p:spPr>
            <a:xfrm>
              <a:off x="2933173" y="1587796"/>
              <a:ext cx="1618648" cy="361637"/>
            </a:xfrm>
            <a:prstGeom prst="rect">
              <a:avLst/>
            </a:prstGeom>
            <a:noFill/>
          </p:spPr>
          <p:txBody>
            <a:bodyPr wrap="square" rtlCol="0">
              <a:spAutoFit/>
            </a:bodyPr>
            <a:lstStyle/>
            <a:p>
              <a:pPr algn="r">
                <a:buClrTx/>
              </a:pPr>
              <a:r>
                <a:rPr lang="en-GB" sz="1050" b="0">
                  <a:solidFill>
                    <a:schemeClr val="bg1"/>
                  </a:solidFill>
                  <a:latin typeface="Arial" panose="020B0604020202020204" pitchFamily="34" charset="0"/>
                  <a:ea typeface="Verdana" charset="0"/>
                  <a:cs typeface="Arial" panose="020B0604020202020204" pitchFamily="34" charset="0"/>
                </a:rPr>
                <a:t>Steering Committee </a:t>
              </a:r>
              <a:r>
                <a:rPr lang="en-GB" sz="700" b="0">
                  <a:solidFill>
                    <a:schemeClr val="bg1"/>
                  </a:solidFill>
                  <a:latin typeface="Arial" panose="020B0604020202020204" pitchFamily="34" charset="0"/>
                  <a:ea typeface="Verdana" charset="0"/>
                  <a:cs typeface="Arial" panose="020B0604020202020204" pitchFamily="34" charset="0"/>
                </a:rPr>
                <a:t>Meets every 3 weeks</a:t>
              </a:r>
              <a:endParaRPr lang="en-GB" sz="900" b="0">
                <a:solidFill>
                  <a:schemeClr val="bg1"/>
                </a:solidFill>
                <a:latin typeface="Arial" panose="020B0604020202020204" pitchFamily="34" charset="0"/>
                <a:ea typeface="Verdana" charset="0"/>
                <a:cs typeface="Arial" panose="020B0604020202020204" pitchFamily="34" charset="0"/>
              </a:endParaRPr>
            </a:p>
          </p:txBody>
        </p:sp>
        <p:sp>
          <p:nvSpPr>
            <p:cNvPr id="72" name="TextBox 71">
              <a:extLst>
                <a:ext uri="{FF2B5EF4-FFF2-40B4-BE49-F238E27FC236}">
                  <a16:creationId xmlns:a16="http://schemas.microsoft.com/office/drawing/2014/main" id="{A2162BFC-71D3-0AB9-4DB1-DB319215B800}"/>
                </a:ext>
              </a:extLst>
            </p:cNvPr>
            <p:cNvSpPr txBox="1"/>
            <p:nvPr/>
          </p:nvSpPr>
          <p:spPr>
            <a:xfrm>
              <a:off x="4571837" y="1587796"/>
              <a:ext cx="1618648" cy="361637"/>
            </a:xfrm>
            <a:prstGeom prst="rect">
              <a:avLst/>
            </a:prstGeom>
            <a:noFill/>
          </p:spPr>
          <p:txBody>
            <a:bodyPr wrap="square" lIns="91440" tIns="45720" rIns="91440" bIns="45720" rtlCol="0" anchor="t">
              <a:spAutoFit/>
            </a:bodyPr>
            <a:lstStyle/>
            <a:p>
              <a:r>
                <a:rPr lang="en-GB" sz="1050">
                  <a:solidFill>
                    <a:schemeClr val="bg1"/>
                  </a:solidFill>
                  <a:latin typeface="Arial"/>
                  <a:ea typeface="Verdana"/>
                  <a:cs typeface="Arial"/>
                </a:rPr>
                <a:t>Configuration Review</a:t>
              </a:r>
              <a:endParaRPr lang="en-GB" sz="1050" b="0">
                <a:solidFill>
                  <a:schemeClr val="bg1"/>
                </a:solidFill>
                <a:latin typeface="Arial" panose="020B0604020202020204" pitchFamily="34" charset="0"/>
                <a:ea typeface="Verdana" charset="0"/>
                <a:cs typeface="Arial" panose="020B0604020202020204" pitchFamily="34" charset="0"/>
              </a:endParaRPr>
            </a:p>
            <a:p>
              <a:pPr algn="l">
                <a:buClrTx/>
              </a:pPr>
              <a:r>
                <a:rPr lang="en-GB" sz="700" b="0">
                  <a:solidFill>
                    <a:schemeClr val="bg1"/>
                  </a:solidFill>
                  <a:latin typeface="Arial" panose="020B0604020202020204" pitchFamily="34" charset="0"/>
                  <a:ea typeface="Verdana" charset="0"/>
                  <a:cs typeface="Arial" panose="020B0604020202020204" pitchFamily="34" charset="0"/>
                </a:rPr>
                <a:t>Meets during the configuration</a:t>
              </a:r>
              <a:endParaRPr lang="en-GB" sz="900" b="0">
                <a:solidFill>
                  <a:schemeClr val="bg1"/>
                </a:solidFill>
                <a:latin typeface="Arial" panose="020B0604020202020204" pitchFamily="34" charset="0"/>
                <a:ea typeface="Verdana" charset="0"/>
                <a:cs typeface="Arial" panose="020B0604020202020204" pitchFamily="34" charset="0"/>
              </a:endParaRPr>
            </a:p>
          </p:txBody>
        </p:sp>
        <p:sp>
          <p:nvSpPr>
            <p:cNvPr id="73" name="TextBox 72">
              <a:extLst>
                <a:ext uri="{FF2B5EF4-FFF2-40B4-BE49-F238E27FC236}">
                  <a16:creationId xmlns:a16="http://schemas.microsoft.com/office/drawing/2014/main" id="{DE6150C1-0543-6389-15DB-F96B3FA2BF86}"/>
                </a:ext>
              </a:extLst>
            </p:cNvPr>
            <p:cNvSpPr txBox="1"/>
            <p:nvPr/>
          </p:nvSpPr>
          <p:spPr>
            <a:xfrm>
              <a:off x="4626372" y="2980630"/>
              <a:ext cx="1618648" cy="361637"/>
            </a:xfrm>
            <a:prstGeom prst="rect">
              <a:avLst/>
            </a:prstGeom>
            <a:noFill/>
          </p:spPr>
          <p:txBody>
            <a:bodyPr wrap="square" rtlCol="0">
              <a:spAutoFit/>
            </a:bodyPr>
            <a:lstStyle/>
            <a:p>
              <a:pPr algn="l">
                <a:buClrTx/>
              </a:pPr>
              <a:r>
                <a:rPr lang="en-GB" sz="1050">
                  <a:solidFill>
                    <a:schemeClr val="bg1"/>
                  </a:solidFill>
                  <a:latin typeface="Arial" panose="020B0604020202020204" pitchFamily="34" charset="0"/>
                  <a:ea typeface="Verdana" charset="0"/>
                  <a:cs typeface="Arial" panose="020B0604020202020204" pitchFamily="34" charset="0"/>
                </a:rPr>
                <a:t>Project Updates</a:t>
              </a:r>
              <a:endParaRPr lang="en-GB" sz="1050" b="0">
                <a:solidFill>
                  <a:schemeClr val="bg1"/>
                </a:solidFill>
                <a:latin typeface="Arial" panose="020B0604020202020204" pitchFamily="34" charset="0"/>
                <a:ea typeface="Verdana" charset="0"/>
                <a:cs typeface="Arial" panose="020B0604020202020204" pitchFamily="34" charset="0"/>
              </a:endParaRPr>
            </a:p>
            <a:p>
              <a:pPr algn="l">
                <a:buClrTx/>
              </a:pPr>
              <a:r>
                <a:rPr lang="en-GB" sz="700" b="0">
                  <a:solidFill>
                    <a:schemeClr val="bg1"/>
                  </a:solidFill>
                  <a:latin typeface="Arial" panose="020B0604020202020204" pitchFamily="34" charset="0"/>
                  <a:ea typeface="Verdana" charset="0"/>
                  <a:cs typeface="Arial" panose="020B0604020202020204" pitchFamily="34" charset="0"/>
                </a:rPr>
                <a:t>Meets every week</a:t>
              </a:r>
              <a:endParaRPr lang="en-GB" sz="900" b="0">
                <a:solidFill>
                  <a:schemeClr val="bg1"/>
                </a:solidFill>
                <a:latin typeface="Arial" panose="020B0604020202020204" pitchFamily="34" charset="0"/>
                <a:ea typeface="Verdana" charset="0"/>
                <a:cs typeface="Arial" panose="020B0604020202020204" pitchFamily="34" charset="0"/>
              </a:endParaRPr>
            </a:p>
          </p:txBody>
        </p:sp>
        <p:sp>
          <p:nvSpPr>
            <p:cNvPr id="74" name="TextBox 73">
              <a:extLst>
                <a:ext uri="{FF2B5EF4-FFF2-40B4-BE49-F238E27FC236}">
                  <a16:creationId xmlns:a16="http://schemas.microsoft.com/office/drawing/2014/main" id="{1340C50E-6072-8F3B-2C79-0D96644C251C}"/>
                </a:ext>
              </a:extLst>
            </p:cNvPr>
            <p:cNvSpPr txBox="1"/>
            <p:nvPr/>
          </p:nvSpPr>
          <p:spPr>
            <a:xfrm>
              <a:off x="2832210" y="2980630"/>
              <a:ext cx="1618648" cy="361637"/>
            </a:xfrm>
            <a:prstGeom prst="rect">
              <a:avLst/>
            </a:prstGeom>
            <a:noFill/>
          </p:spPr>
          <p:txBody>
            <a:bodyPr wrap="square" rtlCol="0">
              <a:spAutoFit/>
            </a:bodyPr>
            <a:lstStyle/>
            <a:p>
              <a:pPr algn="r">
                <a:buClrTx/>
              </a:pPr>
              <a:r>
                <a:rPr lang="en-GB" sz="1050" b="0">
                  <a:solidFill>
                    <a:schemeClr val="bg1"/>
                  </a:solidFill>
                  <a:latin typeface="Arial" panose="020B0604020202020204" pitchFamily="34" charset="0"/>
                  <a:ea typeface="Verdana" charset="0"/>
                  <a:cs typeface="Arial" panose="020B0604020202020204" pitchFamily="34" charset="0"/>
                </a:rPr>
                <a:t>Stand-Ups</a:t>
              </a:r>
            </a:p>
            <a:p>
              <a:pPr algn="r">
                <a:buClrTx/>
              </a:pPr>
              <a:r>
                <a:rPr lang="en-GB" sz="700" b="0">
                  <a:solidFill>
                    <a:schemeClr val="bg1"/>
                  </a:solidFill>
                  <a:latin typeface="Arial" panose="020B0604020202020204" pitchFamily="34" charset="0"/>
                  <a:ea typeface="Verdana" charset="0"/>
                  <a:cs typeface="Arial" panose="020B0604020202020204" pitchFamily="34" charset="0"/>
                </a:rPr>
                <a:t> Core Team Meets every day</a:t>
              </a:r>
              <a:endParaRPr lang="en-GB" sz="900" b="0">
                <a:solidFill>
                  <a:schemeClr val="bg1"/>
                </a:solidFill>
                <a:latin typeface="Arial" panose="020B0604020202020204" pitchFamily="34" charset="0"/>
                <a:ea typeface="Verdana" charset="0"/>
                <a:cs typeface="Arial" panose="020B0604020202020204" pitchFamily="34" charset="0"/>
              </a:endParaRPr>
            </a:p>
          </p:txBody>
        </p:sp>
        <p:grpSp>
          <p:nvGrpSpPr>
            <p:cNvPr id="75" name="Group 74">
              <a:extLst>
                <a:ext uri="{FF2B5EF4-FFF2-40B4-BE49-F238E27FC236}">
                  <a16:creationId xmlns:a16="http://schemas.microsoft.com/office/drawing/2014/main" id="{96716DB1-8A08-EE2B-EEA7-124BDEE35C57}"/>
                </a:ext>
              </a:extLst>
            </p:cNvPr>
            <p:cNvGrpSpPr/>
            <p:nvPr/>
          </p:nvGrpSpPr>
          <p:grpSpPr>
            <a:xfrm>
              <a:off x="4671870" y="1996199"/>
              <a:ext cx="1464550" cy="695576"/>
              <a:chOff x="4722672" y="1996199"/>
              <a:chExt cx="1464550" cy="695576"/>
            </a:xfrm>
          </p:grpSpPr>
          <p:sp>
            <p:nvSpPr>
              <p:cNvPr id="82" name="ZoneTexte 35">
                <a:extLst>
                  <a:ext uri="{FF2B5EF4-FFF2-40B4-BE49-F238E27FC236}">
                    <a16:creationId xmlns:a16="http://schemas.microsoft.com/office/drawing/2014/main" id="{7DE0D2CC-E81B-F9A5-CD01-CAED55617B9E}"/>
                  </a:ext>
                </a:extLst>
              </p:cNvPr>
              <p:cNvSpPr txBox="1"/>
              <p:nvPr/>
            </p:nvSpPr>
            <p:spPr>
              <a:xfrm>
                <a:off x="5037548" y="1996199"/>
                <a:ext cx="1149674" cy="695576"/>
              </a:xfrm>
              <a:prstGeom prst="rect">
                <a:avLst/>
              </a:prstGeom>
              <a:noFill/>
            </p:spPr>
            <p:txBody>
              <a:bodyPr wrap="square" rtlCol="0">
                <a:spAutoFit/>
              </a:bodyPr>
              <a:lstStyle/>
              <a:p>
                <a:pPr marL="177800" lvl="1" indent="-171450">
                  <a:spcBef>
                    <a:spcPct val="20000"/>
                  </a:spcBef>
                  <a:buFont typeface="Arial" panose="020B0604020202020204" pitchFamily="34" charset="0"/>
                  <a:buChar char="•"/>
                  <a:defRPr/>
                </a:pPr>
                <a:r>
                  <a:rPr lang="en-US" sz="700">
                    <a:solidFill>
                      <a:schemeClr val="bg1"/>
                    </a:solidFill>
                    <a:latin typeface="+mj-lt"/>
                    <a:ea typeface="Verdana" panose="020B0604030504040204" pitchFamily="34" charset="0"/>
                    <a:cs typeface="Verdana" panose="020B0604030504040204" pitchFamily="34" charset="0"/>
                  </a:rPr>
                  <a:t>Project Manager / Product owner</a:t>
                </a:r>
              </a:p>
              <a:p>
                <a:pPr marL="177800" lvl="1" indent="-17145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Key User</a:t>
                </a:r>
              </a:p>
              <a:p>
                <a:pPr marL="177800" lvl="1" indent="-17145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Data SME</a:t>
                </a:r>
              </a:p>
              <a:p>
                <a:pPr marL="177800" lvl="1" indent="-17145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Model Builder</a:t>
                </a:r>
                <a:endParaRPr lang="en-GB" sz="700" b="1">
                  <a:solidFill>
                    <a:schemeClr val="bg1"/>
                  </a:solidFill>
                  <a:latin typeface="+mj-lt"/>
                  <a:ea typeface="Verdana" panose="020B0604030504040204" pitchFamily="34" charset="0"/>
                  <a:cs typeface="Verdana" panose="020B0604030504040204" pitchFamily="34" charset="0"/>
                </a:endParaRPr>
              </a:p>
            </p:txBody>
          </p:sp>
          <p:pic>
            <p:nvPicPr>
              <p:cNvPr id="83" name="Graphique 29" descr="Femme">
                <a:extLst>
                  <a:ext uri="{FF2B5EF4-FFF2-40B4-BE49-F238E27FC236}">
                    <a16:creationId xmlns:a16="http://schemas.microsoft.com/office/drawing/2014/main" id="{70E682F9-B5E1-9F35-15FA-9C21F768E3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22672" y="2077603"/>
                <a:ext cx="507851" cy="466402"/>
              </a:xfrm>
              <a:prstGeom prst="rect">
                <a:avLst/>
              </a:prstGeom>
            </p:spPr>
          </p:pic>
        </p:grpSp>
        <p:grpSp>
          <p:nvGrpSpPr>
            <p:cNvPr id="76" name="Group 75">
              <a:extLst>
                <a:ext uri="{FF2B5EF4-FFF2-40B4-BE49-F238E27FC236}">
                  <a16:creationId xmlns:a16="http://schemas.microsoft.com/office/drawing/2014/main" id="{3DD5EF10-01A8-5E49-9059-722DD81C1322}"/>
                </a:ext>
              </a:extLst>
            </p:cNvPr>
            <p:cNvGrpSpPr/>
            <p:nvPr/>
          </p:nvGrpSpPr>
          <p:grpSpPr>
            <a:xfrm>
              <a:off x="4671870" y="3336506"/>
              <a:ext cx="1464549" cy="695576"/>
              <a:chOff x="4722672" y="3336506"/>
              <a:chExt cx="1464549" cy="695576"/>
            </a:xfrm>
          </p:grpSpPr>
          <p:sp>
            <p:nvSpPr>
              <p:cNvPr id="80" name="ZoneTexte 35">
                <a:extLst>
                  <a:ext uri="{FF2B5EF4-FFF2-40B4-BE49-F238E27FC236}">
                    <a16:creationId xmlns:a16="http://schemas.microsoft.com/office/drawing/2014/main" id="{D9EB2AEA-D521-537A-1F9F-A1922026FF69}"/>
                  </a:ext>
                </a:extLst>
              </p:cNvPr>
              <p:cNvSpPr txBox="1"/>
              <p:nvPr/>
            </p:nvSpPr>
            <p:spPr>
              <a:xfrm>
                <a:off x="5037548" y="3336506"/>
                <a:ext cx="1149673" cy="695576"/>
              </a:xfrm>
              <a:prstGeom prst="rect">
                <a:avLst/>
              </a:prstGeom>
              <a:noFill/>
            </p:spPr>
            <p:txBody>
              <a:bodyPr wrap="square" rtlCol="0">
                <a:spAutoFit/>
              </a:bodyPr>
              <a:lstStyle/>
              <a:p>
                <a:pPr marL="171450" lvl="1" indent="-165100">
                  <a:spcBef>
                    <a:spcPct val="20000"/>
                  </a:spcBef>
                  <a:buFont typeface="Arial" panose="020B0604020202020204" pitchFamily="34" charset="0"/>
                  <a:buChar char="•"/>
                  <a:defRPr/>
                </a:pPr>
                <a:r>
                  <a:rPr lang="en-US" sz="700">
                    <a:solidFill>
                      <a:schemeClr val="bg1"/>
                    </a:solidFill>
                    <a:latin typeface="+mj-lt"/>
                    <a:ea typeface="Verdana" panose="020B0604030504040204" pitchFamily="34" charset="0"/>
                    <a:cs typeface="Verdana" panose="020B0604030504040204" pitchFamily="34" charset="0"/>
                  </a:rPr>
                  <a:t>Project Manager / Product owner</a:t>
                </a:r>
              </a:p>
              <a:p>
                <a:pPr marL="171450" lvl="1" indent="-16510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Data SME (when required)</a:t>
                </a:r>
              </a:p>
              <a:p>
                <a:pPr marL="171450" lvl="1" indent="-16510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Model Builder</a:t>
                </a:r>
              </a:p>
            </p:txBody>
          </p:sp>
          <p:pic>
            <p:nvPicPr>
              <p:cNvPr id="81" name="Graphique 29" descr="Femme">
                <a:extLst>
                  <a:ext uri="{FF2B5EF4-FFF2-40B4-BE49-F238E27FC236}">
                    <a16:creationId xmlns:a16="http://schemas.microsoft.com/office/drawing/2014/main" id="{B0B0DC27-6A5B-8A73-B4CE-D78C39A100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22672" y="3447668"/>
                <a:ext cx="507851" cy="466402"/>
              </a:xfrm>
              <a:prstGeom prst="rect">
                <a:avLst/>
              </a:prstGeom>
            </p:spPr>
          </p:pic>
        </p:grpSp>
        <p:grpSp>
          <p:nvGrpSpPr>
            <p:cNvPr id="77" name="Group 76">
              <a:extLst>
                <a:ext uri="{FF2B5EF4-FFF2-40B4-BE49-F238E27FC236}">
                  <a16:creationId xmlns:a16="http://schemas.microsoft.com/office/drawing/2014/main" id="{9A20C5F7-FDE6-0FB9-3598-4AD581204DE0}"/>
                </a:ext>
              </a:extLst>
            </p:cNvPr>
            <p:cNvGrpSpPr/>
            <p:nvPr/>
          </p:nvGrpSpPr>
          <p:grpSpPr>
            <a:xfrm>
              <a:off x="3063980" y="3336506"/>
              <a:ext cx="1481491" cy="695576"/>
              <a:chOff x="3114782" y="3336506"/>
              <a:chExt cx="1481491" cy="695576"/>
            </a:xfrm>
          </p:grpSpPr>
          <p:sp>
            <p:nvSpPr>
              <p:cNvPr id="78" name="ZoneTexte 35">
                <a:extLst>
                  <a:ext uri="{FF2B5EF4-FFF2-40B4-BE49-F238E27FC236}">
                    <a16:creationId xmlns:a16="http://schemas.microsoft.com/office/drawing/2014/main" id="{5C6482E0-2BD8-F729-42E7-CCBC8C348C90}"/>
                  </a:ext>
                </a:extLst>
              </p:cNvPr>
              <p:cNvSpPr txBox="1"/>
              <p:nvPr/>
            </p:nvSpPr>
            <p:spPr>
              <a:xfrm>
                <a:off x="3446600" y="3336506"/>
                <a:ext cx="1149673" cy="695576"/>
              </a:xfrm>
              <a:prstGeom prst="rect">
                <a:avLst/>
              </a:prstGeom>
              <a:noFill/>
            </p:spPr>
            <p:txBody>
              <a:bodyPr wrap="square" rtlCol="0">
                <a:spAutoFit/>
              </a:bodyPr>
              <a:lstStyle/>
              <a:p>
                <a:pPr marL="171450" lvl="1" indent="-165100">
                  <a:spcBef>
                    <a:spcPct val="20000"/>
                  </a:spcBef>
                  <a:buFont typeface="Arial" panose="020B0604020202020204" pitchFamily="34" charset="0"/>
                  <a:buChar char="•"/>
                  <a:defRPr/>
                </a:pPr>
                <a:r>
                  <a:rPr lang="en-US" sz="700">
                    <a:solidFill>
                      <a:schemeClr val="bg1"/>
                    </a:solidFill>
                    <a:latin typeface="+mj-lt"/>
                    <a:ea typeface="Verdana" panose="020B0604030504040204" pitchFamily="34" charset="0"/>
                    <a:cs typeface="Verdana" panose="020B0604030504040204" pitchFamily="34" charset="0"/>
                  </a:rPr>
                  <a:t>Project Manager / Product owner</a:t>
                </a:r>
              </a:p>
              <a:p>
                <a:pPr marL="171450" lvl="1" indent="-16510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Data SME (when required)</a:t>
                </a:r>
              </a:p>
              <a:p>
                <a:pPr marL="171450" lvl="1" indent="-165100">
                  <a:spcBef>
                    <a:spcPct val="20000"/>
                  </a:spcBef>
                  <a:buFont typeface="Arial" panose="020B0604020202020204" pitchFamily="34" charset="0"/>
                  <a:buChar char="•"/>
                  <a:defRPr/>
                </a:pPr>
                <a:r>
                  <a:rPr lang="en-GB" sz="700">
                    <a:solidFill>
                      <a:schemeClr val="bg1"/>
                    </a:solidFill>
                    <a:latin typeface="+mj-lt"/>
                    <a:ea typeface="Verdana" panose="020B0604030504040204" pitchFamily="34" charset="0"/>
                    <a:cs typeface="Verdana" panose="020B0604030504040204" pitchFamily="34" charset="0"/>
                  </a:rPr>
                  <a:t>Model Builder</a:t>
                </a:r>
              </a:p>
            </p:txBody>
          </p:sp>
          <p:pic>
            <p:nvPicPr>
              <p:cNvPr id="79" name="Graphique 29" descr="Femme">
                <a:extLst>
                  <a:ext uri="{FF2B5EF4-FFF2-40B4-BE49-F238E27FC236}">
                    <a16:creationId xmlns:a16="http://schemas.microsoft.com/office/drawing/2014/main" id="{171407D5-13D7-7729-480D-192F4985B0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14782" y="3447668"/>
                <a:ext cx="507851" cy="466402"/>
              </a:xfrm>
              <a:prstGeom prst="rect">
                <a:avLst/>
              </a:prstGeom>
            </p:spPr>
          </p:pic>
        </p:grpSp>
      </p:grpSp>
      <p:pic>
        <p:nvPicPr>
          <p:cNvPr id="86" name="Graphique 73" descr="Homme">
            <a:extLst>
              <a:ext uri="{FF2B5EF4-FFF2-40B4-BE49-F238E27FC236}">
                <a16:creationId xmlns:a16="http://schemas.microsoft.com/office/drawing/2014/main" id="{46CECF9C-B210-4E8E-596E-C86CFB19AA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2073" y="1177410"/>
            <a:ext cx="523209" cy="466457"/>
          </a:xfrm>
          <a:prstGeom prst="rect">
            <a:avLst/>
          </a:prstGeom>
        </p:spPr>
      </p:pic>
      <p:pic>
        <p:nvPicPr>
          <p:cNvPr id="87" name="Graphique 73" descr="Homme">
            <a:extLst>
              <a:ext uri="{FF2B5EF4-FFF2-40B4-BE49-F238E27FC236}">
                <a16:creationId xmlns:a16="http://schemas.microsoft.com/office/drawing/2014/main" id="{2B320FB8-8A0F-7DCB-2669-D5B8F87870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16679" y="1177410"/>
            <a:ext cx="523209" cy="466457"/>
          </a:xfrm>
          <a:prstGeom prst="rect">
            <a:avLst/>
          </a:prstGeom>
        </p:spPr>
      </p:pic>
      <p:pic>
        <p:nvPicPr>
          <p:cNvPr id="88" name="Graphique 73" descr="Homme">
            <a:extLst>
              <a:ext uri="{FF2B5EF4-FFF2-40B4-BE49-F238E27FC236}">
                <a16:creationId xmlns:a16="http://schemas.microsoft.com/office/drawing/2014/main" id="{B9BC0A63-47CB-C44C-26B8-ABAD360636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16678" y="3403407"/>
            <a:ext cx="523209" cy="466457"/>
          </a:xfrm>
          <a:prstGeom prst="rect">
            <a:avLst/>
          </a:prstGeom>
        </p:spPr>
      </p:pic>
      <p:pic>
        <p:nvPicPr>
          <p:cNvPr id="89" name="Graphique 73" descr="Homme">
            <a:extLst>
              <a:ext uri="{FF2B5EF4-FFF2-40B4-BE49-F238E27FC236}">
                <a16:creationId xmlns:a16="http://schemas.microsoft.com/office/drawing/2014/main" id="{52A66E9C-84EF-4D75-564E-95ECA7ADD2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2074" y="3364636"/>
            <a:ext cx="523209" cy="466457"/>
          </a:xfrm>
          <a:prstGeom prst="rect">
            <a:avLst/>
          </a:prstGeom>
        </p:spPr>
      </p:pic>
      <p:grpSp>
        <p:nvGrpSpPr>
          <p:cNvPr id="90" name="Group 89">
            <a:extLst>
              <a:ext uri="{FF2B5EF4-FFF2-40B4-BE49-F238E27FC236}">
                <a16:creationId xmlns:a16="http://schemas.microsoft.com/office/drawing/2014/main" id="{9D6504AF-D40E-A7C8-A995-7FAC57E0D3F4}"/>
              </a:ext>
            </a:extLst>
          </p:cNvPr>
          <p:cNvGrpSpPr/>
          <p:nvPr/>
        </p:nvGrpSpPr>
        <p:grpSpPr>
          <a:xfrm>
            <a:off x="-2208139" y="0"/>
            <a:ext cx="2338441" cy="5143500"/>
            <a:chOff x="-2208139" y="0"/>
            <a:chExt cx="2338441" cy="5143500"/>
          </a:xfrm>
        </p:grpSpPr>
        <p:sp>
          <p:nvSpPr>
            <p:cNvPr id="91" name="Rectangle: Rounded Corners 90">
              <a:extLst>
                <a:ext uri="{FF2B5EF4-FFF2-40B4-BE49-F238E27FC236}">
                  <a16:creationId xmlns:a16="http://schemas.microsoft.com/office/drawing/2014/main" id="{58CFDDD3-13B8-7B12-DE46-1B0D873EBA5F}"/>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1DF87994-510A-4818-A5B1-046435F89306}"/>
                </a:ext>
              </a:extLst>
            </p:cNvPr>
            <p:cNvGrpSpPr/>
            <p:nvPr/>
          </p:nvGrpSpPr>
          <p:grpSpPr>
            <a:xfrm>
              <a:off x="-2208139" y="0"/>
              <a:ext cx="2018501" cy="5143500"/>
              <a:chOff x="-2208139" y="0"/>
              <a:chExt cx="2018501" cy="5143500"/>
            </a:xfrm>
          </p:grpSpPr>
          <p:sp>
            <p:nvSpPr>
              <p:cNvPr id="93" name="Rectangle: Rounded Corners 92">
                <a:extLst>
                  <a:ext uri="{FF2B5EF4-FFF2-40B4-BE49-F238E27FC236}">
                    <a16:creationId xmlns:a16="http://schemas.microsoft.com/office/drawing/2014/main" id="{ADD8B0DE-F445-09A5-EF0D-35499010B9E9}"/>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94" name="TextBox 93">
                <a:extLst>
                  <a:ext uri="{FF2B5EF4-FFF2-40B4-BE49-F238E27FC236}">
                    <a16:creationId xmlns:a16="http://schemas.microsoft.com/office/drawing/2014/main" id="{2AD390B1-5A13-7020-42C4-9A6C0C321F20}"/>
                  </a:ext>
                </a:extLst>
              </p:cNvPr>
              <p:cNvSpPr txBox="1"/>
              <p:nvPr/>
            </p:nvSpPr>
            <p:spPr>
              <a:xfrm>
                <a:off x="-2081074" y="983848"/>
                <a:ext cx="1764368" cy="1384995"/>
              </a:xfrm>
              <a:prstGeom prst="rect">
                <a:avLst/>
              </a:prstGeom>
              <a:solidFill>
                <a:schemeClr val="bg1"/>
              </a:solidFill>
              <a:ln w="3175">
                <a:solidFill>
                  <a:schemeClr val="accent6">
                    <a:lumMod val="10000"/>
                  </a:schemeClr>
                </a:solidFill>
              </a:ln>
            </p:spPr>
            <p:txBody>
              <a:bodyPr wrap="square" lIns="91440" rtlCol="0">
                <a:spAutoFit/>
              </a:bodyPr>
              <a:lstStyle/>
              <a:p>
                <a:r>
                  <a:rPr lang="en-US" sz="1400">
                    <a:cs typeface="Arial"/>
                  </a:rPr>
                  <a:t>Update this content based on meetings with the customer PM to align with their project governance </a:t>
                </a:r>
              </a:p>
            </p:txBody>
          </p:sp>
          <p:sp>
            <p:nvSpPr>
              <p:cNvPr id="95" name="TextBox 94">
                <a:extLst>
                  <a:ext uri="{FF2B5EF4-FFF2-40B4-BE49-F238E27FC236}">
                    <a16:creationId xmlns:a16="http://schemas.microsoft.com/office/drawing/2014/main" id="{0300D63F-3A37-C70D-1190-C03EDB37D0FF}"/>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96" name="Group 95">
                <a:extLst>
                  <a:ext uri="{FF2B5EF4-FFF2-40B4-BE49-F238E27FC236}">
                    <a16:creationId xmlns:a16="http://schemas.microsoft.com/office/drawing/2014/main" id="{9BA22868-2DB4-8DD7-D373-9998EC2E7FA8}"/>
                  </a:ext>
                </a:extLst>
              </p:cNvPr>
              <p:cNvGrpSpPr/>
              <p:nvPr/>
            </p:nvGrpSpPr>
            <p:grpSpPr>
              <a:xfrm>
                <a:off x="-1913726" y="4862278"/>
                <a:ext cx="1537258" cy="215444"/>
                <a:chOff x="-1907058" y="4862278"/>
                <a:chExt cx="1537258" cy="215444"/>
              </a:xfrm>
            </p:grpSpPr>
            <p:sp>
              <p:nvSpPr>
                <p:cNvPr id="100" name="TextBox 99">
                  <a:extLst>
                    <a:ext uri="{FF2B5EF4-FFF2-40B4-BE49-F238E27FC236}">
                      <a16:creationId xmlns:a16="http://schemas.microsoft.com/office/drawing/2014/main" id="{6C15F7F6-07B4-13A2-D41E-6DECDC6EDAAF}"/>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01" name="Graphic 100" descr="Warning with solid fill">
                  <a:extLst>
                    <a:ext uri="{FF2B5EF4-FFF2-40B4-BE49-F238E27FC236}">
                      <a16:creationId xmlns:a16="http://schemas.microsoft.com/office/drawing/2014/main" id="{3546E57C-0D52-D997-876D-BF61DBB1CB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7058" y="4928624"/>
                  <a:ext cx="98429" cy="98429"/>
                </a:xfrm>
                <a:prstGeom prst="rect">
                  <a:avLst/>
                </a:prstGeom>
              </p:spPr>
            </p:pic>
          </p:grpSp>
          <p:grpSp>
            <p:nvGrpSpPr>
              <p:cNvPr id="97" name="Group 96">
                <a:extLst>
                  <a:ext uri="{FF2B5EF4-FFF2-40B4-BE49-F238E27FC236}">
                    <a16:creationId xmlns:a16="http://schemas.microsoft.com/office/drawing/2014/main" id="{14501FDD-EA36-4D72-2C17-C601354FA160}"/>
                  </a:ext>
                </a:extLst>
              </p:cNvPr>
              <p:cNvGrpSpPr/>
              <p:nvPr/>
            </p:nvGrpSpPr>
            <p:grpSpPr>
              <a:xfrm>
                <a:off x="-1468837" y="0"/>
                <a:ext cx="539895" cy="539895"/>
                <a:chOff x="-1468837" y="0"/>
                <a:chExt cx="539895" cy="539895"/>
              </a:xfrm>
            </p:grpSpPr>
            <p:sp>
              <p:nvSpPr>
                <p:cNvPr id="98" name="Oval 97">
                  <a:extLst>
                    <a:ext uri="{FF2B5EF4-FFF2-40B4-BE49-F238E27FC236}">
                      <a16:creationId xmlns:a16="http://schemas.microsoft.com/office/drawing/2014/main" id="{C6B477D9-E877-D04F-1419-AB52CC60980D}"/>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99" name="Graphic 98" descr="Target Audience with solid fill">
                  <a:extLst>
                    <a:ext uri="{FF2B5EF4-FFF2-40B4-BE49-F238E27FC236}">
                      <a16:creationId xmlns:a16="http://schemas.microsoft.com/office/drawing/2014/main" id="{2DB9CCE7-06EA-36A7-68DD-E21FADA757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4139751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4"/>
        <p:cNvGrpSpPr/>
        <p:nvPr/>
      </p:nvGrpSpPr>
      <p:grpSpPr>
        <a:xfrm>
          <a:off x="0" y="0"/>
          <a:ext cx="0" cy="0"/>
          <a:chOff x="0" y="0"/>
          <a:chExt cx="0" cy="0"/>
        </a:xfrm>
      </p:grpSpPr>
      <p:sp>
        <p:nvSpPr>
          <p:cNvPr id="2355" name="Google Shape;2355;p261"/>
          <p:cNvSpPr txBox="1"/>
          <p:nvPr/>
        </p:nvSpPr>
        <p:spPr>
          <a:xfrm>
            <a:off x="427350" y="427350"/>
            <a:ext cx="6907650" cy="467100"/>
          </a:xfrm>
          <a:prstGeom prst="rect">
            <a:avLst/>
          </a:prstGeom>
          <a:noFill/>
          <a:ln>
            <a:noFill/>
          </a:ln>
        </p:spPr>
        <p:txBody>
          <a:bodyPr spcFirstLastPara="1" wrap="square" lIns="0" tIns="0" rIns="0" bIns="0" anchor="t" anchorCtr="0">
            <a:noAutofit/>
          </a:bodyPr>
          <a:lstStyle/>
          <a:p>
            <a:r>
              <a:rPr lang="en">
                <a:solidFill>
                  <a:schemeClr val="dk1"/>
                </a:solidFill>
              </a:rPr>
              <a:t>Program Touchpoints</a:t>
            </a:r>
            <a:endParaRPr>
              <a:solidFill>
                <a:schemeClr val="dk1"/>
              </a:solidFill>
            </a:endParaRPr>
          </a:p>
        </p:txBody>
      </p:sp>
      <p:graphicFrame>
        <p:nvGraphicFramePr>
          <p:cNvPr id="2361" name="Google Shape;2361;p261"/>
          <p:cNvGraphicFramePr/>
          <p:nvPr>
            <p:extLst>
              <p:ext uri="{D42A27DB-BD31-4B8C-83A1-F6EECF244321}">
                <p14:modId xmlns:p14="http://schemas.microsoft.com/office/powerpoint/2010/main" val="3845696972"/>
              </p:ext>
            </p:extLst>
          </p:nvPr>
        </p:nvGraphicFramePr>
        <p:xfrm>
          <a:off x="427350" y="1052982"/>
          <a:ext cx="7764247" cy="2507289"/>
        </p:xfrm>
        <a:graphic>
          <a:graphicData uri="http://schemas.openxmlformats.org/drawingml/2006/table">
            <a:tbl>
              <a:tblPr>
                <a:noFill/>
              </a:tblPr>
              <a:tblGrid>
                <a:gridCol w="1542937">
                  <a:extLst>
                    <a:ext uri="{9D8B030D-6E8A-4147-A177-3AD203B41FA5}">
                      <a16:colId xmlns:a16="http://schemas.microsoft.com/office/drawing/2014/main" val="20000"/>
                    </a:ext>
                  </a:extLst>
                </a:gridCol>
                <a:gridCol w="1531485">
                  <a:extLst>
                    <a:ext uri="{9D8B030D-6E8A-4147-A177-3AD203B41FA5}">
                      <a16:colId xmlns:a16="http://schemas.microsoft.com/office/drawing/2014/main" val="20001"/>
                    </a:ext>
                  </a:extLst>
                </a:gridCol>
                <a:gridCol w="3368632">
                  <a:extLst>
                    <a:ext uri="{9D8B030D-6E8A-4147-A177-3AD203B41FA5}">
                      <a16:colId xmlns:a16="http://schemas.microsoft.com/office/drawing/2014/main" val="20002"/>
                    </a:ext>
                  </a:extLst>
                </a:gridCol>
                <a:gridCol w="1321193">
                  <a:extLst>
                    <a:ext uri="{9D8B030D-6E8A-4147-A177-3AD203B41FA5}">
                      <a16:colId xmlns:a16="http://schemas.microsoft.com/office/drawing/2014/main" val="20003"/>
                    </a:ext>
                  </a:extLst>
                </a:gridCol>
              </a:tblGrid>
              <a:tr h="375150">
                <a:tc>
                  <a:txBody>
                    <a:bodyPr/>
                    <a:lstStyle/>
                    <a:p>
                      <a:pPr marL="0" lvl="0" indent="0" algn="l" rtl="0">
                        <a:lnSpc>
                          <a:spcPct val="100000"/>
                        </a:lnSpc>
                        <a:spcBef>
                          <a:spcPts val="0"/>
                        </a:spcBef>
                        <a:spcAft>
                          <a:spcPts val="0"/>
                        </a:spcAft>
                        <a:buNone/>
                      </a:pPr>
                      <a:r>
                        <a:rPr lang="en" sz="1000" b="1">
                          <a:solidFill>
                            <a:srgbClr val="FFFFFF"/>
                          </a:solidFill>
                          <a:latin typeface="+mn-lt"/>
                          <a:ea typeface="Proxima Nova"/>
                          <a:cs typeface="Proxima Nova"/>
                          <a:sym typeface="Proxima Nova"/>
                        </a:rPr>
                        <a:t>Audience</a:t>
                      </a:r>
                      <a:endParaRPr sz="1000" b="1">
                        <a:solidFill>
                          <a:srgbClr val="FFFFFF"/>
                        </a:solidFill>
                        <a:latin typeface="+mn-lt"/>
                        <a:ea typeface="Proxima Nova"/>
                        <a:cs typeface="Proxima Nova"/>
                        <a:sym typeface="Proxima Nova"/>
                      </a:endParaRPr>
                    </a:p>
                  </a:txBody>
                  <a:tcPr marL="45713" marR="45713" marT="22850" marB="2285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tx1"/>
                    </a:solidFill>
                  </a:tcPr>
                </a:tc>
                <a:tc>
                  <a:txBody>
                    <a:bodyPr/>
                    <a:lstStyle/>
                    <a:p>
                      <a:pPr marL="0" lvl="0" indent="0" algn="l" rtl="0">
                        <a:lnSpc>
                          <a:spcPct val="100000"/>
                        </a:lnSpc>
                        <a:spcBef>
                          <a:spcPts val="0"/>
                        </a:spcBef>
                        <a:spcAft>
                          <a:spcPts val="0"/>
                        </a:spcAft>
                        <a:buNone/>
                      </a:pPr>
                      <a:r>
                        <a:rPr lang="en" sz="1000" b="1">
                          <a:solidFill>
                            <a:srgbClr val="FFFFFF"/>
                          </a:solidFill>
                          <a:latin typeface="+mn-lt"/>
                          <a:ea typeface="Proxima Nova"/>
                          <a:cs typeface="Proxima Nova"/>
                          <a:sym typeface="Proxima Nova"/>
                        </a:rPr>
                        <a:t>Name</a:t>
                      </a:r>
                      <a:endParaRPr sz="1000" b="1">
                        <a:solidFill>
                          <a:srgbClr val="FFFFFF"/>
                        </a:solidFill>
                        <a:latin typeface="+mn-lt"/>
                        <a:ea typeface="Proxima Nova"/>
                        <a:cs typeface="Proxima Nova"/>
                        <a:sym typeface="Proxima Nova"/>
                      </a:endParaRPr>
                    </a:p>
                  </a:txBody>
                  <a:tcPr marL="45713" marR="45713" marT="22850" marB="2285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tx1"/>
                    </a:solidFill>
                  </a:tcPr>
                </a:tc>
                <a:tc>
                  <a:txBody>
                    <a:bodyPr/>
                    <a:lstStyle/>
                    <a:p>
                      <a:pPr marL="0" lvl="0" indent="0" algn="l" rtl="0">
                        <a:lnSpc>
                          <a:spcPct val="100000"/>
                        </a:lnSpc>
                        <a:spcBef>
                          <a:spcPts val="0"/>
                        </a:spcBef>
                        <a:spcAft>
                          <a:spcPts val="0"/>
                        </a:spcAft>
                        <a:buNone/>
                      </a:pPr>
                      <a:r>
                        <a:rPr lang="en" sz="1000" b="1">
                          <a:solidFill>
                            <a:srgbClr val="FFFFFF"/>
                          </a:solidFill>
                          <a:latin typeface="+mn-lt"/>
                          <a:ea typeface="Proxima Nova"/>
                          <a:cs typeface="Proxima Nova"/>
                          <a:sym typeface="Proxima Nova"/>
                        </a:rPr>
                        <a:t>Purpose</a:t>
                      </a:r>
                      <a:endParaRPr sz="1000" b="1">
                        <a:solidFill>
                          <a:srgbClr val="FFFFFF"/>
                        </a:solidFill>
                        <a:latin typeface="+mn-lt"/>
                        <a:ea typeface="Proxima Nova"/>
                        <a:cs typeface="Proxima Nova"/>
                        <a:sym typeface="Proxima Nova"/>
                      </a:endParaRPr>
                    </a:p>
                  </a:txBody>
                  <a:tcPr marL="45713" marR="45713" marT="22850" marB="2285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tx1"/>
                    </a:solidFill>
                  </a:tcPr>
                </a:tc>
                <a:tc>
                  <a:txBody>
                    <a:bodyPr/>
                    <a:lstStyle/>
                    <a:p>
                      <a:pPr marL="0" lvl="0" indent="0" algn="l" rtl="0">
                        <a:lnSpc>
                          <a:spcPct val="100000"/>
                        </a:lnSpc>
                        <a:spcBef>
                          <a:spcPts val="0"/>
                        </a:spcBef>
                        <a:spcAft>
                          <a:spcPts val="0"/>
                        </a:spcAft>
                        <a:buNone/>
                      </a:pPr>
                      <a:r>
                        <a:rPr lang="en" sz="1000" b="1">
                          <a:solidFill>
                            <a:srgbClr val="FFFFFF"/>
                          </a:solidFill>
                          <a:latin typeface="+mn-lt"/>
                          <a:ea typeface="Proxima Nova"/>
                          <a:cs typeface="Proxima Nova"/>
                          <a:sym typeface="Proxima Nova"/>
                        </a:rPr>
                        <a:t>Frequency</a:t>
                      </a:r>
                      <a:endParaRPr sz="1000" b="1">
                        <a:solidFill>
                          <a:srgbClr val="FFFFFF"/>
                        </a:solidFill>
                        <a:latin typeface="+mn-lt"/>
                        <a:ea typeface="Proxima Nova"/>
                        <a:cs typeface="Proxima Nova"/>
                        <a:sym typeface="Proxima Nova"/>
                      </a:endParaRPr>
                    </a:p>
                  </a:txBody>
                  <a:tcPr marL="45713" marR="45713" marT="22850" marB="2285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tx1"/>
                    </a:solidFill>
                  </a:tcPr>
                </a:tc>
                <a:extLst>
                  <a:ext uri="{0D108BD9-81ED-4DB2-BD59-A6C34878D82A}">
                    <a16:rowId xmlns:a16="http://schemas.microsoft.com/office/drawing/2014/main" val="10000"/>
                  </a:ext>
                </a:extLst>
              </a:tr>
              <a:tr h="570575">
                <a:tc>
                  <a:txBody>
                    <a:bodyPr/>
                    <a:lstStyle/>
                    <a:p>
                      <a:pPr marL="0" lvl="0" indent="0" algn="l" rtl="0">
                        <a:lnSpc>
                          <a:spcPct val="100000"/>
                        </a:lnSpc>
                        <a:spcBef>
                          <a:spcPts val="0"/>
                        </a:spcBef>
                        <a:spcAft>
                          <a:spcPts val="0"/>
                        </a:spcAft>
                        <a:buNone/>
                      </a:pPr>
                      <a:r>
                        <a:rPr lang="en-US" sz="1000" b="1">
                          <a:latin typeface="+mn-lt"/>
                          <a:ea typeface="Proxima Nova"/>
                          <a:cs typeface="Proxima Nova"/>
                          <a:sym typeface="Proxima Nova"/>
                        </a:rPr>
                        <a:t>Core Project Team</a:t>
                      </a: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000">
                          <a:highlight>
                            <a:srgbClr val="FF0000"/>
                          </a:highlight>
                          <a:latin typeface="+mn-lt"/>
                          <a:ea typeface="Proxima Nova"/>
                          <a:cs typeface="Proxima Nova"/>
                        </a:rPr>
                        <a:t>Application</a:t>
                      </a:r>
                      <a:r>
                        <a:rPr lang="en-US" sz="1000">
                          <a:latin typeface="+mn-lt"/>
                          <a:ea typeface="Proxima Nova"/>
                          <a:cs typeface="Proxima Nova"/>
                          <a:sym typeface="Proxima Nova"/>
                        </a:rPr>
                        <a:t> Implementation</a:t>
                      </a:r>
                      <a:endParaRPr lang="en-US" sz="1000" b="1">
                        <a:latin typeface="+mn-lt"/>
                        <a:ea typeface="Proxima Nova"/>
                        <a:cs typeface="Proxima Nova"/>
                        <a:sym typeface="Proxima Nova"/>
                      </a:endParaRPr>
                    </a:p>
                  </a:txBody>
                  <a:tcPr marL="14288" marR="14288" marT="9525" marB="95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Workstream touchpoint to share blockers, progress and plans. Alignment across workstream owners</a:t>
                      </a:r>
                      <a:endParaRPr sz="1000">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WEEKLY</a:t>
                      </a:r>
                      <a:endParaRPr sz="1000" i="1">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93325">
                <a:tc>
                  <a:txBody>
                    <a:bodyPr/>
                    <a:lstStyle/>
                    <a:p>
                      <a:pPr marL="0" lvl="0" indent="0" algn="l" rtl="0">
                        <a:lnSpc>
                          <a:spcPct val="100000"/>
                        </a:lnSpc>
                        <a:spcBef>
                          <a:spcPts val="0"/>
                        </a:spcBef>
                        <a:spcAft>
                          <a:spcPts val="0"/>
                        </a:spcAft>
                        <a:buNone/>
                      </a:pPr>
                      <a:r>
                        <a:rPr lang="en" sz="1000" b="1" i="0">
                          <a:solidFill>
                            <a:schemeClr val="dk1"/>
                          </a:solidFill>
                          <a:latin typeface="+mn-lt"/>
                          <a:ea typeface="Proxima Nova"/>
                          <a:cs typeface="Proxima Nova"/>
                          <a:sym typeface="Proxima Nova"/>
                        </a:rPr>
                        <a:t>Extended Project Team</a:t>
                      </a:r>
                      <a:endParaRPr sz="1000" b="1" i="0">
                        <a:solidFill>
                          <a:schemeClr val="dk1"/>
                        </a:solidFill>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a:latin typeface="+mn-lt"/>
                          <a:ea typeface="Proxima Nova"/>
                          <a:cs typeface="Proxima Nova"/>
                          <a:sym typeface="Proxima Nova"/>
                        </a:rPr>
                        <a:t>Customer Anaplan Implementation</a:t>
                      </a:r>
                      <a:endParaRPr sz="1000" b="1">
                        <a:latin typeface="+mn-lt"/>
                        <a:ea typeface="Proxima Nova"/>
                        <a:cs typeface="Proxima Nova"/>
                        <a:sym typeface="Proxima Nova"/>
                      </a:endParaRPr>
                    </a:p>
                  </a:txBody>
                  <a:tcPr marL="14288" marR="14288" marT="9525" marB="95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Workstream touchpoint to share blockers, progress and plans. Alignment across workstream owners across Customer &amp; Anaplan</a:t>
                      </a:r>
                      <a:endParaRPr sz="1000">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WEEKLY</a:t>
                      </a:r>
                      <a:endParaRPr sz="1000" i="1">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36688">
                <a:tc>
                  <a:txBody>
                    <a:bodyPr/>
                    <a:lstStyle/>
                    <a:p>
                      <a:pPr marL="0" lvl="0" indent="0" algn="l" rtl="0">
                        <a:lnSpc>
                          <a:spcPct val="100000"/>
                        </a:lnSpc>
                        <a:spcBef>
                          <a:spcPts val="0"/>
                        </a:spcBef>
                        <a:spcAft>
                          <a:spcPts val="0"/>
                        </a:spcAft>
                        <a:buNone/>
                      </a:pPr>
                      <a:r>
                        <a:rPr lang="en" sz="1000" b="1" i="0">
                          <a:solidFill>
                            <a:schemeClr val="dk1"/>
                          </a:solidFill>
                          <a:latin typeface="+mn-lt"/>
                          <a:ea typeface="Proxima Nova"/>
                          <a:cs typeface="Proxima Nova"/>
                          <a:sym typeface="Proxima Nova"/>
                        </a:rPr>
                        <a:t>Core project team and customer SMEs</a:t>
                      </a:r>
                      <a:endParaRPr sz="1000" b="1" i="0">
                        <a:solidFill>
                          <a:schemeClr val="dk1"/>
                        </a:solidFill>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latinLnBrk="0" hangingPunct="1">
                        <a:lnSpc>
                          <a:spcPct val="100000"/>
                        </a:lnSpc>
                        <a:spcBef>
                          <a:spcPts val="0"/>
                        </a:spcBef>
                        <a:spcAft>
                          <a:spcPts val="0"/>
                        </a:spcAft>
                        <a:buNone/>
                      </a:pPr>
                      <a:r>
                        <a:rPr lang="en" sz="1000" kern="1200">
                          <a:solidFill>
                            <a:schemeClr val="tx1"/>
                          </a:solidFill>
                          <a:latin typeface="+mn-lt"/>
                          <a:ea typeface="Proxima Nova"/>
                          <a:cs typeface="Proxima Nova"/>
                          <a:sym typeface="Proxima Nova"/>
                        </a:rPr>
                        <a:t>Daily Standup</a:t>
                      </a:r>
                      <a:endParaRPr sz="1000" kern="1200">
                        <a:solidFill>
                          <a:schemeClr val="tx1"/>
                        </a:solidFill>
                        <a:latin typeface="+mn-lt"/>
                        <a:ea typeface="Proxima Nova"/>
                        <a:cs typeface="Proxima Nova"/>
                        <a:sym typeface="Proxima Nova"/>
                      </a:endParaRPr>
                    </a:p>
                  </a:txBody>
                  <a:tcPr marL="14288" marR="14288" marT="9525" marB="95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Workstream touchpoint to share daily progress, blockers and questions during development.</a:t>
                      </a:r>
                      <a:endParaRPr sz="1000">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DAILY (during configuration)</a:t>
                      </a:r>
                      <a:endParaRPr sz="1000" i="1">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50138">
                <a:tc>
                  <a:txBody>
                    <a:bodyPr/>
                    <a:lstStyle/>
                    <a:p>
                      <a:pPr marL="0" lvl="0" indent="0" algn="l" rtl="0">
                        <a:lnSpc>
                          <a:spcPct val="100000"/>
                        </a:lnSpc>
                        <a:spcBef>
                          <a:spcPts val="0"/>
                        </a:spcBef>
                        <a:spcAft>
                          <a:spcPts val="0"/>
                        </a:spcAft>
                        <a:buNone/>
                      </a:pPr>
                      <a:r>
                        <a:rPr lang="en" sz="1000" b="1">
                          <a:latin typeface="+mn-lt"/>
                          <a:ea typeface="Proxima Nova"/>
                          <a:cs typeface="Proxima Nova"/>
                          <a:sym typeface="Proxima Nova"/>
                        </a:rPr>
                        <a:t>Workstream Owners &amp; Project Leadership</a:t>
                      </a:r>
                      <a:endParaRPr sz="1000" b="1">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000">
                          <a:highlight>
                            <a:srgbClr val="FF0000"/>
                          </a:highlight>
                          <a:latin typeface="+mn-lt"/>
                          <a:ea typeface="Proxima Nova"/>
                          <a:cs typeface="Proxima Nova"/>
                          <a:sym typeface="Proxima Nova"/>
                        </a:rPr>
                        <a:t>Application</a:t>
                      </a:r>
                      <a:r>
                        <a:rPr lang="en-US" sz="1000">
                          <a:latin typeface="+mn-lt"/>
                          <a:ea typeface="Proxima Nova"/>
                          <a:cs typeface="Proxima Nova"/>
                          <a:sym typeface="Proxima Nova"/>
                        </a:rPr>
                        <a:t> Implementation - Decisions</a:t>
                      </a:r>
                    </a:p>
                  </a:txBody>
                  <a:tcPr marL="14288" marR="14288" marT="9525" marB="95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Surface issues that arise across the Anaplan implementation project and align on decision</a:t>
                      </a:r>
                      <a:endParaRPr sz="1000">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mn-lt"/>
                          <a:ea typeface="Proxima Nova"/>
                          <a:cs typeface="Proxima Nova"/>
                          <a:sym typeface="Proxima Nova"/>
                        </a:rPr>
                        <a:t>AD HOC</a:t>
                      </a:r>
                      <a:endParaRPr sz="1000">
                        <a:latin typeface="+mn-lt"/>
                        <a:ea typeface="Proxima Nova"/>
                        <a:cs typeface="Proxima Nova"/>
                        <a:sym typeface="Proxima Nova"/>
                      </a:endParaRPr>
                    </a:p>
                  </a:txBody>
                  <a:tcPr marL="45713" marR="45713" marT="45713" marB="45713"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 name="Group 1">
            <a:extLst>
              <a:ext uri="{FF2B5EF4-FFF2-40B4-BE49-F238E27FC236}">
                <a16:creationId xmlns:a16="http://schemas.microsoft.com/office/drawing/2014/main" id="{40F5ED04-ABDA-690E-14DD-0EDE2DE5AE79}"/>
              </a:ext>
            </a:extLst>
          </p:cNvPr>
          <p:cNvGrpSpPr/>
          <p:nvPr/>
        </p:nvGrpSpPr>
        <p:grpSpPr>
          <a:xfrm>
            <a:off x="-2187969" y="0"/>
            <a:ext cx="2318271" cy="5143500"/>
            <a:chOff x="-2187969" y="0"/>
            <a:chExt cx="2318271" cy="5143500"/>
          </a:xfrm>
        </p:grpSpPr>
        <p:sp>
          <p:nvSpPr>
            <p:cNvPr id="3" name="Rectangle: Rounded Corners 2">
              <a:extLst>
                <a:ext uri="{FF2B5EF4-FFF2-40B4-BE49-F238E27FC236}">
                  <a16:creationId xmlns:a16="http://schemas.microsoft.com/office/drawing/2014/main" id="{AC5E0E49-E456-7A87-C641-A873064FC99B}"/>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CB1694A5-4E15-AD99-84EB-CF76CC8E1C3E}"/>
                </a:ext>
              </a:extLst>
            </p:cNvPr>
            <p:cNvGrpSpPr/>
            <p:nvPr/>
          </p:nvGrpSpPr>
          <p:grpSpPr>
            <a:xfrm>
              <a:off x="-2187969" y="0"/>
              <a:ext cx="2018501" cy="5143500"/>
              <a:chOff x="-2187969" y="0"/>
              <a:chExt cx="2018501" cy="5143500"/>
            </a:xfrm>
          </p:grpSpPr>
          <p:sp>
            <p:nvSpPr>
              <p:cNvPr id="5" name="Rectangle: Rounded Corners 4">
                <a:extLst>
                  <a:ext uri="{FF2B5EF4-FFF2-40B4-BE49-F238E27FC236}">
                    <a16:creationId xmlns:a16="http://schemas.microsoft.com/office/drawing/2014/main" id="{2B57F795-CDBD-DED0-F9A0-311A433E34CF}"/>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6" name="TextBox 5">
                <a:extLst>
                  <a:ext uri="{FF2B5EF4-FFF2-40B4-BE49-F238E27FC236}">
                    <a16:creationId xmlns:a16="http://schemas.microsoft.com/office/drawing/2014/main" id="{36A1D772-1699-02C6-F33A-AF375286D5BC}"/>
                  </a:ext>
                </a:extLst>
              </p:cNvPr>
              <p:cNvSpPr txBox="1"/>
              <p:nvPr/>
            </p:nvSpPr>
            <p:spPr>
              <a:xfrm>
                <a:off x="-2060903" y="983848"/>
                <a:ext cx="1764368" cy="1600438"/>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Align with the customer PM to align on meeting cadence and if possible, add the dates and participants</a:t>
                </a:r>
              </a:p>
            </p:txBody>
          </p:sp>
          <p:sp>
            <p:nvSpPr>
              <p:cNvPr id="7" name="TextBox 6">
                <a:extLst>
                  <a:ext uri="{FF2B5EF4-FFF2-40B4-BE49-F238E27FC236}">
                    <a16:creationId xmlns:a16="http://schemas.microsoft.com/office/drawing/2014/main" id="{5EBFDE81-B612-1EF1-0940-2D07D6391FF9}"/>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8" name="Group 7">
                <a:extLst>
                  <a:ext uri="{FF2B5EF4-FFF2-40B4-BE49-F238E27FC236}">
                    <a16:creationId xmlns:a16="http://schemas.microsoft.com/office/drawing/2014/main" id="{D31BB851-7ADB-CBDE-C78D-253F80DF00FB}"/>
                  </a:ext>
                </a:extLst>
              </p:cNvPr>
              <p:cNvGrpSpPr/>
              <p:nvPr/>
            </p:nvGrpSpPr>
            <p:grpSpPr>
              <a:xfrm>
                <a:off x="-1448666" y="0"/>
                <a:ext cx="539895" cy="539895"/>
                <a:chOff x="-1468837" y="0"/>
                <a:chExt cx="539895" cy="539895"/>
              </a:xfrm>
            </p:grpSpPr>
            <p:sp>
              <p:nvSpPr>
                <p:cNvPr id="12" name="Oval 11">
                  <a:extLst>
                    <a:ext uri="{FF2B5EF4-FFF2-40B4-BE49-F238E27FC236}">
                      <a16:creationId xmlns:a16="http://schemas.microsoft.com/office/drawing/2014/main" id="{E103493E-AB36-DC00-9831-7C425CFF1AA7}"/>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3" name="Graphic 12" descr="Single gear with solid fill">
                  <a:extLst>
                    <a:ext uri="{FF2B5EF4-FFF2-40B4-BE49-F238E27FC236}">
                      <a16:creationId xmlns:a16="http://schemas.microsoft.com/office/drawing/2014/main" id="{C616C4F1-D5EE-544D-1240-446FA1A3136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379641" y="89196"/>
                  <a:ext cx="361503" cy="361503"/>
                </a:xfrm>
                <a:prstGeom prst="rect">
                  <a:avLst/>
                </a:prstGeom>
              </p:spPr>
            </p:pic>
          </p:grpSp>
          <p:grpSp>
            <p:nvGrpSpPr>
              <p:cNvPr id="9" name="Group 8">
                <a:extLst>
                  <a:ext uri="{FF2B5EF4-FFF2-40B4-BE49-F238E27FC236}">
                    <a16:creationId xmlns:a16="http://schemas.microsoft.com/office/drawing/2014/main" id="{C4099ACB-1046-5FE1-9B4D-FF8545063901}"/>
                  </a:ext>
                </a:extLst>
              </p:cNvPr>
              <p:cNvGrpSpPr/>
              <p:nvPr/>
            </p:nvGrpSpPr>
            <p:grpSpPr>
              <a:xfrm>
                <a:off x="-1913726" y="4862278"/>
                <a:ext cx="1537258" cy="215444"/>
                <a:chOff x="-1907058" y="4862278"/>
                <a:chExt cx="1537258" cy="215444"/>
              </a:xfrm>
            </p:grpSpPr>
            <p:sp>
              <p:nvSpPr>
                <p:cNvPr id="10" name="TextBox 9">
                  <a:extLst>
                    <a:ext uri="{FF2B5EF4-FFF2-40B4-BE49-F238E27FC236}">
                      <a16:creationId xmlns:a16="http://schemas.microsoft.com/office/drawing/2014/main" id="{9E2FAABD-CB5C-4CB6-420F-3B4D40A87370}"/>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1" name="Graphic 10" descr="Warning with solid fill">
                  <a:extLst>
                    <a:ext uri="{FF2B5EF4-FFF2-40B4-BE49-F238E27FC236}">
                      <a16:creationId xmlns:a16="http://schemas.microsoft.com/office/drawing/2014/main" id="{582E2C31-C5A9-DD2F-9C94-D71E0850CA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7058" y="4928624"/>
                  <a:ext cx="98429" cy="98429"/>
                </a:xfrm>
                <a:prstGeom prst="rect">
                  <a:avLst/>
                </a:prstGeom>
              </p:spPr>
            </p:pic>
          </p:grpSp>
        </p:grpSp>
      </p:gr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ECB27-6E2C-2B80-5730-DDF744FE2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71CE2-B47F-A283-446E-C593D6AF56CA}"/>
              </a:ext>
            </a:extLst>
          </p:cNvPr>
          <p:cNvSpPr>
            <a:spLocks noGrp="1"/>
          </p:cNvSpPr>
          <p:nvPr>
            <p:ph type="title"/>
          </p:nvPr>
        </p:nvSpPr>
        <p:spPr/>
        <p:txBody>
          <a:bodyPr lIns="0" tIns="45720" rIns="0" bIns="45720" anchor="t"/>
          <a:lstStyle/>
          <a:p>
            <a:r>
              <a:rPr lang="en-US">
                <a:latin typeface="Arial"/>
                <a:cs typeface="Arial"/>
              </a:rPr>
              <a:t>Key Next Steps </a:t>
            </a:r>
          </a:p>
        </p:txBody>
      </p:sp>
    </p:spTree>
    <p:custDataLst>
      <p:tags r:id="rId1"/>
    </p:custDataLst>
    <p:extLst>
      <p:ext uri="{BB962C8B-B14F-4D97-AF65-F5344CB8AC3E}">
        <p14:creationId xmlns:p14="http://schemas.microsoft.com/office/powerpoint/2010/main" val="315148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Two bussiness people working at a table">
            <a:extLst>
              <a:ext uri="{FF2B5EF4-FFF2-40B4-BE49-F238E27FC236}">
                <a16:creationId xmlns:a16="http://schemas.microsoft.com/office/drawing/2014/main" id="{FE359FC4-E139-6333-F6D4-32DDC350ECFA}"/>
              </a:ext>
            </a:extLst>
          </p:cNvPr>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l="25572" r="25572"/>
          <a:stretch>
            <a:fillRect/>
          </a:stretch>
        </p:blipFill>
        <p:spPr>
          <a:xfrm>
            <a:off x="5642882" y="469314"/>
            <a:ext cx="3082017" cy="4204871"/>
          </a:xfrm>
          <a:prstGeom prst="roundRect">
            <a:avLst>
              <a:gd name="adj" fmla="val 6630"/>
            </a:avLst>
          </a:prstGeom>
        </p:spPr>
      </p:pic>
      <p:sp>
        <p:nvSpPr>
          <p:cNvPr id="3" name="Title 2">
            <a:extLst>
              <a:ext uri="{FF2B5EF4-FFF2-40B4-BE49-F238E27FC236}">
                <a16:creationId xmlns:a16="http://schemas.microsoft.com/office/drawing/2014/main" id="{54381451-F83A-75C1-7664-4967D684E9AC}"/>
              </a:ext>
            </a:extLst>
          </p:cNvPr>
          <p:cNvSpPr>
            <a:spLocks noGrp="1"/>
          </p:cNvSpPr>
          <p:nvPr>
            <p:ph type="title"/>
          </p:nvPr>
        </p:nvSpPr>
        <p:spPr/>
        <p:txBody>
          <a:bodyPr/>
          <a:lstStyle/>
          <a:p>
            <a:r>
              <a:rPr lang="en-US"/>
              <a:t>Key Dates</a:t>
            </a:r>
          </a:p>
        </p:txBody>
      </p:sp>
      <p:graphicFrame>
        <p:nvGraphicFramePr>
          <p:cNvPr id="5" name="Content Placeholder 4">
            <a:extLst>
              <a:ext uri="{FF2B5EF4-FFF2-40B4-BE49-F238E27FC236}">
                <a16:creationId xmlns:a16="http://schemas.microsoft.com/office/drawing/2014/main" id="{373B9614-9F92-6162-7192-3BFEC5EB9497}"/>
              </a:ext>
            </a:extLst>
          </p:cNvPr>
          <p:cNvGraphicFramePr>
            <a:graphicFrameLocks noGrp="1"/>
          </p:cNvGraphicFramePr>
          <p:nvPr>
            <p:ph idx="1"/>
            <p:extLst>
              <p:ext uri="{D42A27DB-BD31-4B8C-83A1-F6EECF244321}">
                <p14:modId xmlns:p14="http://schemas.microsoft.com/office/powerpoint/2010/main" val="77423512"/>
              </p:ext>
            </p:extLst>
          </p:nvPr>
        </p:nvGraphicFramePr>
        <p:xfrm>
          <a:off x="570451" y="835025"/>
          <a:ext cx="4949815" cy="4079240"/>
        </p:xfrm>
        <a:graphic>
          <a:graphicData uri="http://schemas.openxmlformats.org/drawingml/2006/table">
            <a:tbl>
              <a:tblPr firstRow="1" bandRow="1">
                <a:tableStyleId>{7E9639D4-E3E2-4D34-9284-5A2195B3D0D7}</a:tableStyleId>
              </a:tblPr>
              <a:tblGrid>
                <a:gridCol w="2701255">
                  <a:extLst>
                    <a:ext uri="{9D8B030D-6E8A-4147-A177-3AD203B41FA5}">
                      <a16:colId xmlns:a16="http://schemas.microsoft.com/office/drawing/2014/main" val="2700668464"/>
                    </a:ext>
                  </a:extLst>
                </a:gridCol>
                <a:gridCol w="2248560">
                  <a:extLst>
                    <a:ext uri="{9D8B030D-6E8A-4147-A177-3AD203B41FA5}">
                      <a16:colId xmlns:a16="http://schemas.microsoft.com/office/drawing/2014/main" val="3389085755"/>
                    </a:ext>
                  </a:extLst>
                </a:gridCol>
              </a:tblGrid>
              <a:tr h="370840">
                <a:tc>
                  <a:txBody>
                    <a:bodyPr/>
                    <a:lstStyle/>
                    <a:p>
                      <a:r>
                        <a:rPr lang="en-US" sz="1200"/>
                        <a:t>Activity</a:t>
                      </a:r>
                    </a:p>
                  </a:txBody>
                  <a:tcPr/>
                </a:tc>
                <a:tc>
                  <a:txBody>
                    <a:bodyPr/>
                    <a:lstStyle/>
                    <a:p>
                      <a:r>
                        <a:rPr lang="en-US" sz="1200"/>
                        <a:t>Dates</a:t>
                      </a:r>
                    </a:p>
                  </a:txBody>
                  <a:tcPr/>
                </a:tc>
                <a:extLst>
                  <a:ext uri="{0D108BD9-81ED-4DB2-BD59-A6C34878D82A}">
                    <a16:rowId xmlns:a16="http://schemas.microsoft.com/office/drawing/2014/main" val="2104914803"/>
                  </a:ext>
                </a:extLst>
              </a:tr>
              <a:tr h="370840">
                <a:tc>
                  <a:txBody>
                    <a:bodyPr/>
                    <a:lstStyle/>
                    <a:p>
                      <a:r>
                        <a:rPr lang="en-US" sz="1200"/>
                        <a:t>Kickoff</a:t>
                      </a:r>
                    </a:p>
                  </a:txBody>
                  <a:tcPr/>
                </a:tc>
                <a:tc>
                  <a:txBody>
                    <a:bodyPr/>
                    <a:lstStyle/>
                    <a:p>
                      <a:endParaRPr lang="en-US" sz="1200"/>
                    </a:p>
                  </a:txBody>
                  <a:tcPr/>
                </a:tc>
                <a:extLst>
                  <a:ext uri="{0D108BD9-81ED-4DB2-BD59-A6C34878D82A}">
                    <a16:rowId xmlns:a16="http://schemas.microsoft.com/office/drawing/2014/main" val="1813767446"/>
                  </a:ext>
                </a:extLst>
              </a:tr>
              <a:tr h="370840">
                <a:tc>
                  <a:txBody>
                    <a:bodyPr/>
                    <a:lstStyle/>
                    <a:p>
                      <a:r>
                        <a:rPr lang="en-US" sz="1200"/>
                        <a:t>Product Training</a:t>
                      </a:r>
                    </a:p>
                  </a:txBody>
                  <a:tcPr/>
                </a:tc>
                <a:tc>
                  <a:txBody>
                    <a:bodyPr/>
                    <a:lstStyle/>
                    <a:p>
                      <a:endParaRPr lang="en-US" sz="1200"/>
                    </a:p>
                  </a:txBody>
                  <a:tcPr/>
                </a:tc>
                <a:extLst>
                  <a:ext uri="{0D108BD9-81ED-4DB2-BD59-A6C34878D82A}">
                    <a16:rowId xmlns:a16="http://schemas.microsoft.com/office/drawing/2014/main" val="1882122519"/>
                  </a:ext>
                </a:extLst>
              </a:tr>
              <a:tr h="370840">
                <a:tc>
                  <a:txBody>
                    <a:bodyPr/>
                    <a:lstStyle/>
                    <a:p>
                      <a:pPr lvl="0">
                        <a:buNone/>
                      </a:pPr>
                      <a:r>
                        <a:rPr lang="en-US" sz="1200"/>
                        <a:t>Workshops</a:t>
                      </a:r>
                      <a:endParaRPr lang="en-US"/>
                    </a:p>
                  </a:txBody>
                  <a:tcPr/>
                </a:tc>
                <a:tc>
                  <a:txBody>
                    <a:bodyPr/>
                    <a:lstStyle/>
                    <a:p>
                      <a:endParaRPr lang="en-US" sz="1200"/>
                    </a:p>
                  </a:txBody>
                  <a:tcPr/>
                </a:tc>
                <a:extLst>
                  <a:ext uri="{0D108BD9-81ED-4DB2-BD59-A6C34878D82A}">
                    <a16:rowId xmlns:a16="http://schemas.microsoft.com/office/drawing/2014/main" val="3475172810"/>
                  </a:ext>
                </a:extLst>
              </a:tr>
              <a:tr h="370840">
                <a:tc>
                  <a:txBody>
                    <a:bodyPr/>
                    <a:lstStyle/>
                    <a:p>
                      <a:r>
                        <a:rPr lang="en-US" sz="1200"/>
                        <a:t>App Configuration</a:t>
                      </a:r>
                      <a:endParaRPr lang="en-US"/>
                    </a:p>
                  </a:txBody>
                  <a:tcPr/>
                </a:tc>
                <a:tc>
                  <a:txBody>
                    <a:bodyPr/>
                    <a:lstStyle/>
                    <a:p>
                      <a:endParaRPr lang="en-US" sz="1200"/>
                    </a:p>
                  </a:txBody>
                  <a:tcPr/>
                </a:tc>
                <a:extLst>
                  <a:ext uri="{0D108BD9-81ED-4DB2-BD59-A6C34878D82A}">
                    <a16:rowId xmlns:a16="http://schemas.microsoft.com/office/drawing/2014/main" val="2446299926"/>
                  </a:ext>
                </a:extLst>
              </a:tr>
              <a:tr h="370840">
                <a:tc>
                  <a:txBody>
                    <a:bodyPr/>
                    <a:lstStyle/>
                    <a:p>
                      <a:r>
                        <a:rPr lang="en-US" sz="1200"/>
                        <a:t>Baseline App Testing</a:t>
                      </a:r>
                    </a:p>
                  </a:txBody>
                  <a:tcPr/>
                </a:tc>
                <a:tc>
                  <a:txBody>
                    <a:bodyPr/>
                    <a:lstStyle/>
                    <a:p>
                      <a:endParaRPr lang="en-US" sz="1200"/>
                    </a:p>
                  </a:txBody>
                  <a:tcPr/>
                </a:tc>
                <a:extLst>
                  <a:ext uri="{0D108BD9-81ED-4DB2-BD59-A6C34878D82A}">
                    <a16:rowId xmlns:a16="http://schemas.microsoft.com/office/drawing/2014/main" val="1479194031"/>
                  </a:ext>
                </a:extLst>
              </a:tr>
              <a:tr h="370840">
                <a:tc>
                  <a:txBody>
                    <a:bodyPr/>
                    <a:lstStyle/>
                    <a:p>
                      <a:r>
                        <a:rPr lang="en-US" sz="1200"/>
                        <a:t>Baseline App Release</a:t>
                      </a:r>
                    </a:p>
                  </a:txBody>
                  <a:tcPr/>
                </a:tc>
                <a:tc>
                  <a:txBody>
                    <a:bodyPr/>
                    <a:lstStyle/>
                    <a:p>
                      <a:endParaRPr lang="en-US" sz="1200"/>
                    </a:p>
                  </a:txBody>
                  <a:tcPr/>
                </a:tc>
                <a:extLst>
                  <a:ext uri="{0D108BD9-81ED-4DB2-BD59-A6C34878D82A}">
                    <a16:rowId xmlns:a16="http://schemas.microsoft.com/office/drawing/2014/main" val="742830857"/>
                  </a:ext>
                </a:extLst>
              </a:tr>
              <a:tr h="370840">
                <a:tc>
                  <a:txBody>
                    <a:bodyPr/>
                    <a:lstStyle/>
                    <a:p>
                      <a:r>
                        <a:rPr lang="en-US" sz="1200"/>
                        <a:t>Extensions Analysis and Design</a:t>
                      </a:r>
                    </a:p>
                  </a:txBody>
                  <a:tcPr/>
                </a:tc>
                <a:tc>
                  <a:txBody>
                    <a:bodyPr/>
                    <a:lstStyle/>
                    <a:p>
                      <a:endParaRPr lang="en-US" sz="1200"/>
                    </a:p>
                  </a:txBody>
                  <a:tcPr/>
                </a:tc>
                <a:extLst>
                  <a:ext uri="{0D108BD9-81ED-4DB2-BD59-A6C34878D82A}">
                    <a16:rowId xmlns:a16="http://schemas.microsoft.com/office/drawing/2014/main" val="2605308679"/>
                  </a:ext>
                </a:extLst>
              </a:tr>
              <a:tr h="370840">
                <a:tc>
                  <a:txBody>
                    <a:bodyPr/>
                    <a:lstStyle/>
                    <a:p>
                      <a:r>
                        <a:rPr lang="en-US" sz="1200"/>
                        <a:t>Extensions Build Complete</a:t>
                      </a:r>
                    </a:p>
                  </a:txBody>
                  <a:tcPr/>
                </a:tc>
                <a:tc>
                  <a:txBody>
                    <a:bodyPr/>
                    <a:lstStyle/>
                    <a:p>
                      <a:endParaRPr lang="en-US" sz="1200"/>
                    </a:p>
                  </a:txBody>
                  <a:tcPr/>
                </a:tc>
                <a:extLst>
                  <a:ext uri="{0D108BD9-81ED-4DB2-BD59-A6C34878D82A}">
                    <a16:rowId xmlns:a16="http://schemas.microsoft.com/office/drawing/2014/main" val="2586306700"/>
                  </a:ext>
                </a:extLst>
              </a:tr>
              <a:tr h="370840">
                <a:tc>
                  <a:txBody>
                    <a:bodyPr/>
                    <a:lstStyle/>
                    <a:p>
                      <a:r>
                        <a:rPr lang="en-US" sz="1200"/>
                        <a:t>Full Application Testing</a:t>
                      </a:r>
                    </a:p>
                  </a:txBody>
                  <a:tcPr/>
                </a:tc>
                <a:tc>
                  <a:txBody>
                    <a:bodyPr/>
                    <a:lstStyle/>
                    <a:p>
                      <a:endParaRPr lang="en-US" sz="1200"/>
                    </a:p>
                  </a:txBody>
                  <a:tcPr/>
                </a:tc>
                <a:extLst>
                  <a:ext uri="{0D108BD9-81ED-4DB2-BD59-A6C34878D82A}">
                    <a16:rowId xmlns:a16="http://schemas.microsoft.com/office/drawing/2014/main" val="1223478784"/>
                  </a:ext>
                </a:extLst>
              </a:tr>
              <a:tr h="370840">
                <a:tc>
                  <a:txBody>
                    <a:bodyPr/>
                    <a:lstStyle/>
                    <a:p>
                      <a:r>
                        <a:rPr lang="en-US" sz="1200"/>
                        <a:t>Application Training and Deployment</a:t>
                      </a:r>
                    </a:p>
                  </a:txBody>
                  <a:tcPr/>
                </a:tc>
                <a:tc>
                  <a:txBody>
                    <a:bodyPr/>
                    <a:lstStyle/>
                    <a:p>
                      <a:endParaRPr lang="en-US" sz="1200"/>
                    </a:p>
                  </a:txBody>
                  <a:tcPr/>
                </a:tc>
                <a:extLst>
                  <a:ext uri="{0D108BD9-81ED-4DB2-BD59-A6C34878D82A}">
                    <a16:rowId xmlns:a16="http://schemas.microsoft.com/office/drawing/2014/main" val="1976078579"/>
                  </a:ext>
                </a:extLst>
              </a:tr>
            </a:tbl>
          </a:graphicData>
        </a:graphic>
      </p:graphicFrame>
      <p:grpSp>
        <p:nvGrpSpPr>
          <p:cNvPr id="2" name="Group 1">
            <a:extLst>
              <a:ext uri="{FF2B5EF4-FFF2-40B4-BE49-F238E27FC236}">
                <a16:creationId xmlns:a16="http://schemas.microsoft.com/office/drawing/2014/main" id="{1C6470BF-EAB1-C65C-9909-66A9492D4248}"/>
              </a:ext>
            </a:extLst>
          </p:cNvPr>
          <p:cNvGrpSpPr/>
          <p:nvPr/>
        </p:nvGrpSpPr>
        <p:grpSpPr>
          <a:xfrm>
            <a:off x="-2208139" y="0"/>
            <a:ext cx="2338441" cy="5143500"/>
            <a:chOff x="-2208139" y="0"/>
            <a:chExt cx="2338441" cy="5143500"/>
          </a:xfrm>
        </p:grpSpPr>
        <p:sp>
          <p:nvSpPr>
            <p:cNvPr id="4" name="Rectangle: Rounded Corners 3">
              <a:extLst>
                <a:ext uri="{FF2B5EF4-FFF2-40B4-BE49-F238E27FC236}">
                  <a16:creationId xmlns:a16="http://schemas.microsoft.com/office/drawing/2014/main" id="{8633314C-E9F6-A959-C6E7-13808D7F65DB}"/>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FADCF57F-4435-7747-A827-A6A088CC4EB0}"/>
                </a:ext>
              </a:extLst>
            </p:cNvPr>
            <p:cNvGrpSpPr/>
            <p:nvPr/>
          </p:nvGrpSpPr>
          <p:grpSpPr>
            <a:xfrm>
              <a:off x="-2208139" y="0"/>
              <a:ext cx="2018501" cy="5143500"/>
              <a:chOff x="-2208139" y="0"/>
              <a:chExt cx="2018501" cy="5143500"/>
            </a:xfrm>
          </p:grpSpPr>
          <p:sp>
            <p:nvSpPr>
              <p:cNvPr id="8" name="Rectangle: Rounded Corners 7">
                <a:extLst>
                  <a:ext uri="{FF2B5EF4-FFF2-40B4-BE49-F238E27FC236}">
                    <a16:creationId xmlns:a16="http://schemas.microsoft.com/office/drawing/2014/main" id="{0FD3E8D3-5047-FA21-52E8-9EDE2935C9CD}"/>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9" name="TextBox 8">
                <a:extLst>
                  <a:ext uri="{FF2B5EF4-FFF2-40B4-BE49-F238E27FC236}">
                    <a16:creationId xmlns:a16="http://schemas.microsoft.com/office/drawing/2014/main" id="{ECA9F1BD-4677-0AFB-06D9-1DE83342F44C}"/>
                  </a:ext>
                </a:extLst>
              </p:cNvPr>
              <p:cNvSpPr txBox="1"/>
              <p:nvPr/>
            </p:nvSpPr>
            <p:spPr>
              <a:xfrm>
                <a:off x="-2081074" y="983848"/>
                <a:ext cx="1764368" cy="1384995"/>
              </a:xfrm>
              <a:prstGeom prst="rect">
                <a:avLst/>
              </a:prstGeom>
              <a:solidFill>
                <a:schemeClr val="bg1"/>
              </a:solidFill>
              <a:ln w="3175">
                <a:solidFill>
                  <a:schemeClr val="accent6">
                    <a:lumMod val="10000"/>
                  </a:schemeClr>
                </a:solidFill>
              </a:ln>
            </p:spPr>
            <p:txBody>
              <a:bodyPr wrap="square" lIns="91440" rtlCol="0">
                <a:spAutoFit/>
              </a:bodyPr>
              <a:lstStyle/>
              <a:p>
                <a:r>
                  <a:rPr lang="en-US" sz="1400"/>
                  <a:t>Input known key dates based on key milestones and agreed upon delivery dates from SOW</a:t>
                </a:r>
              </a:p>
            </p:txBody>
          </p:sp>
          <p:sp>
            <p:nvSpPr>
              <p:cNvPr id="10" name="TextBox 9">
                <a:extLst>
                  <a:ext uri="{FF2B5EF4-FFF2-40B4-BE49-F238E27FC236}">
                    <a16:creationId xmlns:a16="http://schemas.microsoft.com/office/drawing/2014/main" id="{A004F801-DC92-A276-5CBF-5CAE8000EB33}"/>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1" name="Group 10">
                <a:extLst>
                  <a:ext uri="{FF2B5EF4-FFF2-40B4-BE49-F238E27FC236}">
                    <a16:creationId xmlns:a16="http://schemas.microsoft.com/office/drawing/2014/main" id="{F5E9F7AE-F4E7-E69D-5700-2D71CE2A1A93}"/>
                  </a:ext>
                </a:extLst>
              </p:cNvPr>
              <p:cNvGrpSpPr/>
              <p:nvPr/>
            </p:nvGrpSpPr>
            <p:grpSpPr>
              <a:xfrm>
                <a:off x="-1913726" y="4862278"/>
                <a:ext cx="1537258" cy="215444"/>
                <a:chOff x="-1907058" y="4862278"/>
                <a:chExt cx="1537258" cy="215444"/>
              </a:xfrm>
            </p:grpSpPr>
            <p:sp>
              <p:nvSpPr>
                <p:cNvPr id="15" name="TextBox 14">
                  <a:extLst>
                    <a:ext uri="{FF2B5EF4-FFF2-40B4-BE49-F238E27FC236}">
                      <a16:creationId xmlns:a16="http://schemas.microsoft.com/office/drawing/2014/main" id="{F83CBF16-6A20-8C06-78E0-370B484666DE}"/>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6" name="Graphic 15" descr="Warning with solid fill">
                  <a:extLst>
                    <a:ext uri="{FF2B5EF4-FFF2-40B4-BE49-F238E27FC236}">
                      <a16:creationId xmlns:a16="http://schemas.microsoft.com/office/drawing/2014/main" id="{96F87234-3F87-CFF4-5470-16D60DA6B7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7058" y="4928624"/>
                  <a:ext cx="98429" cy="98429"/>
                </a:xfrm>
                <a:prstGeom prst="rect">
                  <a:avLst/>
                </a:prstGeom>
              </p:spPr>
            </p:pic>
          </p:grpSp>
          <p:grpSp>
            <p:nvGrpSpPr>
              <p:cNvPr id="12" name="Group 11">
                <a:extLst>
                  <a:ext uri="{FF2B5EF4-FFF2-40B4-BE49-F238E27FC236}">
                    <a16:creationId xmlns:a16="http://schemas.microsoft.com/office/drawing/2014/main" id="{C8219377-2618-70BA-EAA5-3C6E3C8D5202}"/>
                  </a:ext>
                </a:extLst>
              </p:cNvPr>
              <p:cNvGrpSpPr/>
              <p:nvPr/>
            </p:nvGrpSpPr>
            <p:grpSpPr>
              <a:xfrm>
                <a:off x="-1468837" y="0"/>
                <a:ext cx="539895" cy="539895"/>
                <a:chOff x="-1468837" y="0"/>
                <a:chExt cx="539895" cy="539895"/>
              </a:xfrm>
            </p:grpSpPr>
            <p:sp>
              <p:nvSpPr>
                <p:cNvPr id="13" name="Oval 12">
                  <a:extLst>
                    <a:ext uri="{FF2B5EF4-FFF2-40B4-BE49-F238E27FC236}">
                      <a16:creationId xmlns:a16="http://schemas.microsoft.com/office/drawing/2014/main" id="{552BD61A-A612-1D58-415D-0C3A71B49355}"/>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4" name="Graphic 13" descr="Target Audience with solid fill">
                  <a:extLst>
                    <a:ext uri="{FF2B5EF4-FFF2-40B4-BE49-F238E27FC236}">
                      <a16:creationId xmlns:a16="http://schemas.microsoft.com/office/drawing/2014/main" id="{C96FE1A5-87B8-32DE-1C4F-602F443B01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66042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202B8-0C69-D647-A57C-2582FDC58E89}"/>
              </a:ext>
            </a:extLst>
          </p:cNvPr>
          <p:cNvSpPr>
            <a:spLocks noGrp="1"/>
          </p:cNvSpPr>
          <p:nvPr>
            <p:ph type="title"/>
          </p:nvPr>
        </p:nvSpPr>
        <p:spPr>
          <a:xfrm>
            <a:off x="264542" y="292635"/>
            <a:ext cx="8237613" cy="338554"/>
          </a:xfrm>
        </p:spPr>
        <p:txBody>
          <a:bodyPr lIns="0" tIns="45720" rIns="0" bIns="45720" anchor="t"/>
          <a:lstStyle/>
          <a:p>
            <a:r>
              <a:rPr lang="en-US" b="0">
                <a:solidFill>
                  <a:schemeClr val="tx1"/>
                </a:solidFill>
                <a:latin typeface="Arial"/>
                <a:ea typeface="Verdana"/>
                <a:cs typeface="Arial"/>
              </a:rPr>
              <a:t>Configuration Phase – Key Outcome Status</a:t>
            </a:r>
          </a:p>
        </p:txBody>
      </p:sp>
      <p:graphicFrame>
        <p:nvGraphicFramePr>
          <p:cNvPr id="4" name="Table 3">
            <a:extLst>
              <a:ext uri="{FF2B5EF4-FFF2-40B4-BE49-F238E27FC236}">
                <a16:creationId xmlns:a16="http://schemas.microsoft.com/office/drawing/2014/main" id="{EB4DCE0C-39FB-0649-AE38-D4816676F492}"/>
              </a:ext>
            </a:extLst>
          </p:cNvPr>
          <p:cNvGraphicFramePr>
            <a:graphicFrameLocks noGrp="1"/>
          </p:cNvGraphicFramePr>
          <p:nvPr>
            <p:extLst>
              <p:ext uri="{D42A27DB-BD31-4B8C-83A1-F6EECF244321}">
                <p14:modId xmlns:p14="http://schemas.microsoft.com/office/powerpoint/2010/main" val="4190245941"/>
              </p:ext>
            </p:extLst>
          </p:nvPr>
        </p:nvGraphicFramePr>
        <p:xfrm>
          <a:off x="264543" y="772909"/>
          <a:ext cx="7552364" cy="3936894"/>
        </p:xfrm>
        <a:graphic>
          <a:graphicData uri="http://schemas.openxmlformats.org/drawingml/2006/table">
            <a:tbl>
              <a:tblPr firstRow="1" bandRow="1">
                <a:tableStyleId>{073A0DAA-6AF3-43AB-8588-CEC1D06C72B9}</a:tableStyleId>
              </a:tblPr>
              <a:tblGrid>
                <a:gridCol w="336394">
                  <a:extLst>
                    <a:ext uri="{9D8B030D-6E8A-4147-A177-3AD203B41FA5}">
                      <a16:colId xmlns:a16="http://schemas.microsoft.com/office/drawing/2014/main" val="374867929"/>
                    </a:ext>
                  </a:extLst>
                </a:gridCol>
                <a:gridCol w="3960411">
                  <a:extLst>
                    <a:ext uri="{9D8B030D-6E8A-4147-A177-3AD203B41FA5}">
                      <a16:colId xmlns:a16="http://schemas.microsoft.com/office/drawing/2014/main" val="314410688"/>
                    </a:ext>
                  </a:extLst>
                </a:gridCol>
                <a:gridCol w="1508503">
                  <a:extLst>
                    <a:ext uri="{9D8B030D-6E8A-4147-A177-3AD203B41FA5}">
                      <a16:colId xmlns:a16="http://schemas.microsoft.com/office/drawing/2014/main" val="497321770"/>
                    </a:ext>
                  </a:extLst>
                </a:gridCol>
                <a:gridCol w="1747056">
                  <a:extLst>
                    <a:ext uri="{9D8B030D-6E8A-4147-A177-3AD203B41FA5}">
                      <a16:colId xmlns:a16="http://schemas.microsoft.com/office/drawing/2014/main" val="2657073977"/>
                    </a:ext>
                  </a:extLst>
                </a:gridCol>
              </a:tblGrid>
              <a:tr h="302838">
                <a:tc>
                  <a:txBody>
                    <a:bodyPr/>
                    <a:lstStyle/>
                    <a:p>
                      <a:pPr lvl="0" algn="ctr">
                        <a:buNone/>
                      </a:pPr>
                      <a:r>
                        <a:rPr lang="en-US" sz="1300"/>
                        <a:t>#</a:t>
                      </a:r>
                    </a:p>
                  </a:txBody>
                  <a:tcPr marL="60652" marR="60652" marT="30326" marB="30326"/>
                </a:tc>
                <a:tc>
                  <a:txBody>
                    <a:bodyPr/>
                    <a:lstStyle/>
                    <a:p>
                      <a:r>
                        <a:rPr lang="en-US" sz="1300"/>
                        <a:t>Configuration Check-list</a:t>
                      </a:r>
                    </a:p>
                  </a:txBody>
                  <a:tcPr marL="60652" marR="60652" marT="30326" marB="30326"/>
                </a:tc>
                <a:tc>
                  <a:txBody>
                    <a:bodyPr/>
                    <a:lstStyle/>
                    <a:p>
                      <a:r>
                        <a:rPr lang="en-US" sz="1300"/>
                        <a:t>Comments</a:t>
                      </a:r>
                    </a:p>
                  </a:txBody>
                  <a:tcPr marL="60652" marR="60652" marT="30326" marB="30326"/>
                </a:tc>
                <a:tc>
                  <a:txBody>
                    <a:bodyPr/>
                    <a:lstStyle/>
                    <a:p>
                      <a:r>
                        <a:rPr lang="en-US" sz="1300"/>
                        <a:t>Status</a:t>
                      </a:r>
                    </a:p>
                  </a:txBody>
                  <a:tcPr marL="60652" marR="60652" marT="30326" marB="30326"/>
                </a:tc>
                <a:extLst>
                  <a:ext uri="{0D108BD9-81ED-4DB2-BD59-A6C34878D82A}">
                    <a16:rowId xmlns:a16="http://schemas.microsoft.com/office/drawing/2014/main" val="2576834943"/>
                  </a:ext>
                </a:extLst>
              </a:tr>
              <a:tr h="302838">
                <a:tc>
                  <a:txBody>
                    <a:bodyPr/>
                    <a:lstStyle/>
                    <a:p>
                      <a:pPr marL="0" lvl="0" indent="0" algn="ctr" defTabSz="1219170">
                        <a:lnSpc>
                          <a:spcPct val="100000"/>
                        </a:lnSpc>
                        <a:spcBef>
                          <a:spcPts val="0"/>
                        </a:spcBef>
                        <a:spcAft>
                          <a:spcPts val="0"/>
                        </a:spcAft>
                        <a:buNone/>
                        <a:tabLst/>
                        <a:defRPr/>
                      </a:pPr>
                      <a:r>
                        <a:rPr lang="en-US" sz="1000" b="0" strike="noStrike">
                          <a:solidFill>
                            <a:schemeClr val="tx1"/>
                          </a:solidFill>
                        </a:rPr>
                        <a:t>1</a:t>
                      </a:r>
                    </a:p>
                  </a:txBody>
                  <a:tcPr marL="45720" marR="6318" marT="6318" marB="0" anchor="ct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US" sz="1000" b="0" strike="noStrike">
                          <a:solidFill>
                            <a:schemeClr val="tx1"/>
                          </a:solidFill>
                        </a:rPr>
                        <a:t>Project success criteria established</a:t>
                      </a:r>
                    </a:p>
                  </a:txBody>
                  <a:tcPr marL="45720" marR="6318" marT="6318" marB="0" anchor="ctr"/>
                </a:tc>
                <a:tc>
                  <a:txBody>
                    <a:bodyPr/>
                    <a:lstStyle/>
                    <a:p>
                      <a:endParaRPr lang="en-US" sz="1000"/>
                    </a:p>
                  </a:txBody>
                  <a:tcPr marL="45720" marR="60652" marT="30326" marB="30326" anchor="ctr"/>
                </a:tc>
                <a:tc>
                  <a:txBody>
                    <a:bodyPr/>
                    <a:lstStyle/>
                    <a:p>
                      <a:r>
                        <a:rPr lang="en-US" sz="1000"/>
                        <a:t>Open</a:t>
                      </a:r>
                    </a:p>
                  </a:txBody>
                  <a:tcPr marL="45720" marR="60652" marT="30326" marB="30326" anchor="ctr"/>
                </a:tc>
                <a:extLst>
                  <a:ext uri="{0D108BD9-81ED-4DB2-BD59-A6C34878D82A}">
                    <a16:rowId xmlns:a16="http://schemas.microsoft.com/office/drawing/2014/main" val="1236952784"/>
                  </a:ext>
                </a:extLst>
              </a:tr>
              <a:tr h="302838">
                <a:tc>
                  <a:txBody>
                    <a:bodyPr/>
                    <a:lstStyle/>
                    <a:p>
                      <a:pPr marL="0" lvl="0" indent="0" algn="ctr" defTabSz="914400">
                        <a:lnSpc>
                          <a:spcPct val="100000"/>
                        </a:lnSpc>
                        <a:spcBef>
                          <a:spcPts val="0"/>
                        </a:spcBef>
                        <a:spcAft>
                          <a:spcPts val="0"/>
                        </a:spcAft>
                        <a:buNone/>
                        <a:tabLst/>
                        <a:defRPr/>
                      </a:pPr>
                      <a:r>
                        <a:rPr lang="en-US" sz="1000" strike="noStrike" kern="1200">
                          <a:solidFill>
                            <a:schemeClr val="dk1"/>
                          </a:solidFill>
                          <a:latin typeface="+mn-lt"/>
                          <a:ea typeface="+mn-ea"/>
                          <a:cs typeface="+mn-cs"/>
                        </a:rPr>
                        <a:t>2</a:t>
                      </a:r>
                    </a:p>
                  </a:txBody>
                  <a:tcPr marL="45720" marR="6318" marT="6318" marB="0"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strike="noStrike" kern="1200">
                          <a:solidFill>
                            <a:schemeClr val="dk1"/>
                          </a:solidFill>
                          <a:latin typeface="+mn-lt"/>
                          <a:ea typeface="+mn-ea"/>
                          <a:cs typeface="+mn-cs"/>
                        </a:rPr>
                        <a:t>Application process understood</a:t>
                      </a:r>
                    </a:p>
                  </a:txBody>
                  <a:tcPr marL="45720" marR="6318" marT="6318" marB="0" anchor="ctr"/>
                </a:tc>
                <a:tc>
                  <a:txBody>
                    <a:bodyPr/>
                    <a:lstStyle/>
                    <a:p>
                      <a:pPr marL="0" indent="0">
                        <a:buFont typeface="Arial" panose="020B0604020202020204" pitchFamily="34" charset="0"/>
                        <a:buNone/>
                      </a:pPr>
                      <a:endParaRPr lang="en-US" sz="700" b="0">
                        <a:solidFill>
                          <a:schemeClr val="tx1"/>
                        </a:solidFill>
                      </a:endParaRPr>
                    </a:p>
                  </a:txBody>
                  <a:tcPr marL="45720" marR="60652" marT="30326" marB="30326" anchor="ctr"/>
                </a:tc>
                <a:tc>
                  <a:txBody>
                    <a:bodyPr/>
                    <a:lstStyle/>
                    <a:p>
                      <a:pPr marL="0" marR="0" lvl="0" indent="0" algn="l" defTabSz="1219170">
                        <a:lnSpc>
                          <a:spcPct val="100000"/>
                        </a:lnSpc>
                        <a:spcBef>
                          <a:spcPts val="0"/>
                        </a:spcBef>
                        <a:spcAft>
                          <a:spcPts val="0"/>
                        </a:spcAft>
                        <a:buNone/>
                        <a:tabLst/>
                        <a:defRPr/>
                      </a:pPr>
                      <a:r>
                        <a:rPr lang="en-US" sz="1000" b="0" i="0" u="none" strike="noStrike" kern="1200" cap="none" spc="0" normalizeH="0" baseline="0" noProof="0">
                          <a:ln>
                            <a:noFill/>
                          </a:ln>
                          <a:solidFill>
                            <a:schemeClr val="tx1"/>
                          </a:solidFill>
                          <a:effectLst/>
                          <a:uLnTx/>
                          <a:uFillTx/>
                          <a:latin typeface="Arial"/>
                        </a:rPr>
                        <a:t>Open</a:t>
                      </a:r>
                      <a:endParaRPr kumimoji="0" lang="en-US" sz="1600">
                        <a:solidFill>
                          <a:schemeClr val="tx1"/>
                        </a:solidFill>
                        <a:latin typeface="Arial"/>
                      </a:endParaRPr>
                    </a:p>
                  </a:txBody>
                  <a:tcPr marL="45720" marR="60652" marT="30326" marB="30326" anchor="ctr"/>
                </a:tc>
                <a:extLst>
                  <a:ext uri="{0D108BD9-81ED-4DB2-BD59-A6C34878D82A}">
                    <a16:rowId xmlns:a16="http://schemas.microsoft.com/office/drawing/2014/main" val="1644839834"/>
                  </a:ext>
                </a:extLst>
              </a:tr>
              <a:tr h="302838">
                <a:tc>
                  <a:txBody>
                    <a:bodyPr/>
                    <a:lstStyle/>
                    <a:p>
                      <a:pPr marL="0" lvl="0" indent="0" algn="ctr" defTabSz="914400">
                        <a:lnSpc>
                          <a:spcPct val="100000"/>
                        </a:lnSpc>
                        <a:spcBef>
                          <a:spcPts val="0"/>
                        </a:spcBef>
                        <a:spcAft>
                          <a:spcPts val="0"/>
                        </a:spcAft>
                        <a:buNone/>
                        <a:tabLst/>
                        <a:defRPr/>
                      </a:pPr>
                      <a:r>
                        <a:rPr lang="en-US" sz="1000" b="0">
                          <a:solidFill>
                            <a:schemeClr val="tx1"/>
                          </a:solidFill>
                        </a:rPr>
                        <a:t>3</a:t>
                      </a:r>
                    </a:p>
                  </a:txBody>
                  <a:tcPr marL="45720" marR="6318" marT="6318" marB="0" anchor="ctr"/>
                </a:tc>
                <a:tc>
                  <a:txBody>
                    <a:bodyPr/>
                    <a:lstStyle/>
                    <a:p>
                      <a:pPr marL="0" marR="0" lvl="0" indent="0" algn="l">
                        <a:lnSpc>
                          <a:spcPct val="100000"/>
                        </a:lnSpc>
                        <a:spcBef>
                          <a:spcPts val="0"/>
                        </a:spcBef>
                        <a:spcAft>
                          <a:spcPts val="0"/>
                        </a:spcAft>
                        <a:buNone/>
                      </a:pPr>
                      <a:r>
                        <a:rPr lang="en-US" sz="1000" b="0" i="0" u="none" strike="noStrike" noProof="0">
                          <a:solidFill>
                            <a:schemeClr val="tx1"/>
                          </a:solidFill>
                          <a:latin typeface="Arial"/>
                        </a:rPr>
                        <a:t>Source &amp; target data map confirmed </a:t>
                      </a:r>
                      <a:endParaRPr lang="en-US" sz="1000" b="0">
                        <a:solidFill>
                          <a:schemeClr val="tx1"/>
                        </a:solidFill>
                      </a:endParaRPr>
                    </a:p>
                  </a:txBody>
                  <a:tcPr marL="45720" marR="6318" marT="6318" marB="0" anchor="ctr"/>
                </a:tc>
                <a:tc>
                  <a:txBody>
                    <a:bodyPr/>
                    <a:lstStyle/>
                    <a:p>
                      <a:pPr marL="0" indent="0">
                        <a:buFont typeface="Arial" panose="020B0604020202020204" pitchFamily="34" charset="0"/>
                        <a:buNone/>
                      </a:pPr>
                      <a:endParaRPr lang="en-US" sz="700" b="0">
                        <a:solidFill>
                          <a:schemeClr val="tx1"/>
                        </a:solidFill>
                      </a:endParaRPr>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2112883791"/>
                  </a:ext>
                </a:extLst>
              </a:tr>
              <a:tr h="302838">
                <a:tc>
                  <a:txBody>
                    <a:bodyPr/>
                    <a:lstStyle/>
                    <a:p>
                      <a:pPr marL="0" lvl="0" indent="0" algn="ctr">
                        <a:buNone/>
                      </a:pPr>
                      <a:r>
                        <a:rPr lang="en-US" sz="1000">
                          <a:solidFill>
                            <a:schemeClr val="tx1"/>
                          </a:solidFill>
                          <a:latin typeface="+mn-lt"/>
                          <a:cs typeface="Arial"/>
                        </a:rPr>
                        <a:t>4</a:t>
                      </a:r>
                    </a:p>
                  </a:txBody>
                  <a:tcPr marL="45720" marR="6318" marT="6318" marB="0" anchor="ctr"/>
                </a:tc>
                <a:tc>
                  <a:txBody>
                    <a:bodyPr/>
                    <a:lstStyle/>
                    <a:p>
                      <a:pPr lvl="0" algn="l">
                        <a:lnSpc>
                          <a:spcPct val="100000"/>
                        </a:lnSpc>
                        <a:spcBef>
                          <a:spcPts val="0"/>
                        </a:spcBef>
                        <a:spcAft>
                          <a:spcPts val="0"/>
                        </a:spcAft>
                        <a:buNone/>
                      </a:pPr>
                      <a:r>
                        <a:rPr lang="en-US" sz="1000" b="0" i="0" u="none" strike="noStrike" noProof="0">
                          <a:solidFill>
                            <a:schemeClr val="tx1"/>
                          </a:solidFill>
                          <a:latin typeface="Arial"/>
                        </a:rPr>
                        <a:t>Key Workshops set up, conducted and deliverables documented</a:t>
                      </a:r>
                      <a:endParaRPr lang="en-US" sz="1000" b="0" i="0" u="none" strike="noStrike" noProof="0">
                        <a:solidFill>
                          <a:srgbClr val="0A2F46"/>
                        </a:solidFill>
                        <a:latin typeface="Arial"/>
                      </a:endParaRPr>
                    </a:p>
                  </a:txBody>
                  <a:tcPr marL="45720" marR="6318" marT="6318" marB="0" anchor="ct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173220488"/>
                  </a:ext>
                </a:extLst>
              </a:tr>
              <a:tr h="302838">
                <a:tc>
                  <a:txBody>
                    <a:bodyPr/>
                    <a:lstStyle/>
                    <a:p>
                      <a:pPr marL="0" lvl="0" indent="0" algn="ctr" defTabSz="1219170">
                        <a:lnSpc>
                          <a:spcPct val="100000"/>
                        </a:lnSpc>
                        <a:spcBef>
                          <a:spcPts val="0"/>
                        </a:spcBef>
                        <a:spcAft>
                          <a:spcPts val="0"/>
                        </a:spcAft>
                        <a:buNone/>
                        <a:tabLst/>
                        <a:defRPr/>
                      </a:pPr>
                      <a:r>
                        <a:rPr lang="en-US" sz="1000" b="0">
                          <a:solidFill>
                            <a:schemeClr val="tx1"/>
                          </a:solidFill>
                        </a:rPr>
                        <a:t>5</a:t>
                      </a:r>
                    </a:p>
                  </a:txBody>
                  <a:tcPr marL="45720" marR="6318" marT="6318" marB="0" anchor="ctr"/>
                </a:tc>
                <a:tc>
                  <a:txBody>
                    <a:bodyPr/>
                    <a:lstStyle/>
                    <a:p>
                      <a:pPr marL="0" marR="0" lvl="0" indent="0" algn="l" rtl="0" eaLnBrk="1" fontAlgn="b" latinLnBrk="0" hangingPunct="1">
                        <a:lnSpc>
                          <a:spcPct val="100000"/>
                        </a:lnSpc>
                        <a:spcBef>
                          <a:spcPts val="0"/>
                        </a:spcBef>
                        <a:spcAft>
                          <a:spcPts val="0"/>
                        </a:spcAft>
                        <a:buClrTx/>
                        <a:buSzTx/>
                        <a:buFontTx/>
                        <a:buNone/>
                      </a:pPr>
                      <a:r>
                        <a:rPr lang="en-US" sz="1000" b="0" i="0" u="none" strike="noStrike" noProof="0">
                          <a:solidFill>
                            <a:schemeClr val="dk1"/>
                          </a:solidFill>
                          <a:latin typeface="Arial"/>
                        </a:rPr>
                        <a:t>Configuration of the base-line application</a:t>
                      </a:r>
                      <a:endParaRPr lang="en-US" sz="1000" b="0" i="0" u="none" strike="noStrike" noProof="0">
                        <a:solidFill>
                          <a:srgbClr val="0A2F46"/>
                        </a:solidFill>
                        <a:latin typeface="Arial"/>
                      </a:endParaRPr>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4257661240"/>
                  </a:ext>
                </a:extLst>
              </a:tr>
              <a:tr h="302838">
                <a:tc>
                  <a:txBody>
                    <a:bodyPr/>
                    <a:lstStyle/>
                    <a:p>
                      <a:pPr marL="0" lvl="0" algn="ctr" defTabSz="1219170">
                        <a:buNone/>
                      </a:pPr>
                      <a:r>
                        <a:rPr lang="en-US" sz="1000" kern="1200">
                          <a:solidFill>
                            <a:schemeClr val="dk1"/>
                          </a:solidFill>
                        </a:rPr>
                        <a:t>6</a:t>
                      </a:r>
                    </a:p>
                  </a:txBody>
                  <a:tcPr marL="45720" marR="6318" marT="6318" marB="0" anchor="ctr"/>
                </a:tc>
                <a:tc>
                  <a:txBody>
                    <a:bodyPr/>
                    <a:lstStyle/>
                    <a:p>
                      <a:pPr marL="0" lvl="0" algn="l">
                        <a:buNone/>
                      </a:pPr>
                      <a:r>
                        <a:rPr lang="en-US" sz="1000" b="0" i="0" u="none" strike="noStrike" kern="1200" noProof="0">
                          <a:solidFill>
                            <a:schemeClr val="tx1"/>
                          </a:solidFill>
                          <a:latin typeface="Arial"/>
                        </a:rPr>
                        <a:t>Customer sample data loaded into the base-line Application</a:t>
                      </a:r>
                      <a:endParaRPr lang="en-US" sz="1600"/>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3085923151"/>
                  </a:ext>
                </a:extLst>
              </a:tr>
              <a:tr h="302838">
                <a:tc>
                  <a:txBody>
                    <a:bodyPr/>
                    <a:lstStyle/>
                    <a:p>
                      <a:pPr marL="0" lvl="0" algn="ctr">
                        <a:buNone/>
                      </a:pPr>
                      <a:r>
                        <a:rPr lang="en-US" sz="1000" kern="1200">
                          <a:solidFill>
                            <a:schemeClr val="dk1"/>
                          </a:solidFill>
                        </a:rPr>
                        <a:t>7</a:t>
                      </a:r>
                    </a:p>
                  </a:txBody>
                  <a:tcPr marL="45720" marR="6318" marT="6318" marB="0" anchor="ctr"/>
                </a:tc>
                <a:tc>
                  <a:txBody>
                    <a:bodyPr/>
                    <a:lstStyle/>
                    <a:p>
                      <a:pPr marL="0" algn="l" rtl="0" eaLnBrk="1" fontAlgn="b" latinLnBrk="0" hangingPunct="1"/>
                      <a:r>
                        <a:rPr lang="en-US" sz="1000" kern="1200">
                          <a:solidFill>
                            <a:schemeClr val="dk1"/>
                          </a:solidFill>
                        </a:rPr>
                        <a:t>Initial set of Extension business needs documented</a:t>
                      </a:r>
                      <a:endParaRPr lang="en-US" sz="1600"/>
                    </a:p>
                  </a:txBody>
                  <a:tcPr marL="45720" marR="6318" marT="6318" marB="0" anchor="ctr"/>
                </a:tc>
                <a:tc>
                  <a:txBody>
                    <a:bodyPr/>
                    <a:lstStyle/>
                    <a:p>
                      <a:pPr marL="285750" indent="-285750">
                        <a:buFont typeface="Arial" panose="020B0604020202020204" pitchFamily="34" charset="0"/>
                        <a:buChar char="•"/>
                      </a:pPr>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2977458842"/>
                  </a:ext>
                </a:extLst>
              </a:tr>
              <a:tr h="302838">
                <a:tc>
                  <a:txBody>
                    <a:bodyPr/>
                    <a:lstStyle/>
                    <a:p>
                      <a:pPr marL="0" lvl="0" algn="ctr" defTabSz="1219170">
                        <a:buNone/>
                      </a:pPr>
                      <a:r>
                        <a:rPr lang="en-US" sz="1000" kern="1200">
                          <a:solidFill>
                            <a:schemeClr val="dk1"/>
                          </a:solidFill>
                          <a:latin typeface="+mn-lt"/>
                          <a:ea typeface="+mn-ea"/>
                          <a:cs typeface="+mn-cs"/>
                        </a:rPr>
                        <a:t>8</a:t>
                      </a:r>
                    </a:p>
                  </a:txBody>
                  <a:tcPr marL="45720" marR="6318" marT="6318" marB="0" anchor="ctr"/>
                </a:tc>
                <a:tc>
                  <a:txBody>
                    <a:bodyPr/>
                    <a:lstStyle/>
                    <a:p>
                      <a:pPr marL="0" algn="l" defTabSz="1219170" rtl="0" eaLnBrk="1" fontAlgn="b" latinLnBrk="0" hangingPunct="1"/>
                      <a:r>
                        <a:rPr lang="en-US" sz="1000" kern="1200">
                          <a:solidFill>
                            <a:schemeClr val="dk1"/>
                          </a:solidFill>
                          <a:latin typeface="+mn-lt"/>
                          <a:ea typeface="+mn-ea"/>
                          <a:cs typeface="+mn-cs"/>
                        </a:rPr>
                        <a:t>Security requirements understood</a:t>
                      </a:r>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3266727751"/>
                  </a:ext>
                </a:extLst>
              </a:tr>
              <a:tr h="302838">
                <a:tc>
                  <a:txBody>
                    <a:bodyPr/>
                    <a:lstStyle/>
                    <a:p>
                      <a:pPr marL="0" lvl="0" indent="0" algn="ctr">
                        <a:buNone/>
                      </a:pPr>
                      <a:r>
                        <a:rPr lang="en-US" sz="1000" kern="1200">
                          <a:solidFill>
                            <a:schemeClr val="dk1"/>
                          </a:solidFill>
                          <a:latin typeface="+mn-lt"/>
                          <a:ea typeface="+mn-ea"/>
                          <a:cs typeface="+mn-cs"/>
                        </a:rPr>
                        <a:t>9</a:t>
                      </a:r>
                    </a:p>
                  </a:txBody>
                  <a:tcPr marL="45720" marR="6318" marT="6318" marB="0" anchor="ctr"/>
                </a:tc>
                <a:tc>
                  <a:txBody>
                    <a:bodyPr/>
                    <a:lstStyle/>
                    <a:p>
                      <a:pPr marL="0" indent="0" fontAlgn="b">
                        <a:buNone/>
                      </a:pPr>
                      <a:r>
                        <a:rPr lang="en-US" sz="1000" kern="1200">
                          <a:solidFill>
                            <a:schemeClr val="dk1"/>
                          </a:solidFill>
                          <a:latin typeface="+mn-lt"/>
                          <a:ea typeface="+mn-ea"/>
                          <a:cs typeface="+mn-cs"/>
                        </a:rPr>
                        <a:t>Production ready data confirmed as available for testing</a:t>
                      </a:r>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3187006833"/>
                  </a:ext>
                </a:extLst>
              </a:tr>
              <a:tr h="302838">
                <a:tc>
                  <a:txBody>
                    <a:bodyPr/>
                    <a:lstStyle/>
                    <a:p>
                      <a:pPr marL="0" lvl="0" indent="0" algn="ctr" defTabSz="1219170">
                        <a:lnSpc>
                          <a:spcPct val="100000"/>
                        </a:lnSpc>
                        <a:spcBef>
                          <a:spcPts val="0"/>
                        </a:spcBef>
                        <a:spcAft>
                          <a:spcPts val="0"/>
                        </a:spcAft>
                        <a:buNone/>
                        <a:tabLst/>
                        <a:defRPr/>
                      </a:pPr>
                      <a:r>
                        <a:rPr lang="en-US" sz="1000" kern="1200">
                          <a:solidFill>
                            <a:schemeClr val="dk1"/>
                          </a:solidFill>
                          <a:latin typeface="+mn-lt"/>
                          <a:ea typeface="+mn-ea"/>
                          <a:cs typeface="+mn-cs"/>
                        </a:rPr>
                        <a:t>10</a:t>
                      </a:r>
                    </a:p>
                  </a:txBody>
                  <a:tcPr marL="45720" marR="6318" marT="6318" marB="0" anchor="ct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US" sz="1000" kern="1200">
                          <a:solidFill>
                            <a:schemeClr val="dk1"/>
                          </a:solidFill>
                          <a:latin typeface="+mn-lt"/>
                          <a:ea typeface="+mn-ea"/>
                          <a:cs typeface="+mn-cs"/>
                        </a:rPr>
                        <a:t>Test plan and change management plan documented</a:t>
                      </a:r>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1241585159"/>
                  </a:ext>
                </a:extLst>
              </a:tr>
              <a:tr h="302838">
                <a:tc>
                  <a:txBody>
                    <a:bodyPr/>
                    <a:lstStyle/>
                    <a:p>
                      <a:pPr marL="0" lvl="0" algn="ctr" defTabSz="1219170">
                        <a:buNone/>
                      </a:pPr>
                      <a:r>
                        <a:rPr lang="en-US" sz="1000" kern="1200">
                          <a:solidFill>
                            <a:schemeClr val="dk1"/>
                          </a:solidFill>
                        </a:rPr>
                        <a:t>11</a:t>
                      </a:r>
                    </a:p>
                  </a:txBody>
                  <a:tcPr marL="45720" marR="6318" marT="6318" marB="0" anchor="ctr"/>
                </a:tc>
                <a:tc>
                  <a:txBody>
                    <a:bodyPr/>
                    <a:lstStyle/>
                    <a:p>
                      <a:pPr marL="0" algn="l" defTabSz="1219170" rtl="0" eaLnBrk="1" fontAlgn="b" latinLnBrk="0" hangingPunct="1"/>
                      <a:r>
                        <a:rPr lang="en-US" sz="1000" kern="1200">
                          <a:solidFill>
                            <a:schemeClr val="dk1"/>
                          </a:solidFill>
                        </a:rPr>
                        <a:t>Deployment plan documented</a:t>
                      </a:r>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3135092429"/>
                  </a:ext>
                </a:extLst>
              </a:tr>
              <a:tr h="302838">
                <a:tc>
                  <a:txBody>
                    <a:bodyPr/>
                    <a:lstStyle/>
                    <a:p>
                      <a:pPr marL="0" lvl="0" algn="ctr" defTabSz="1219170">
                        <a:buNone/>
                      </a:pPr>
                      <a:r>
                        <a:rPr lang="en-US" sz="1000" kern="1200">
                          <a:solidFill>
                            <a:schemeClr val="dk1"/>
                          </a:solidFill>
                        </a:rPr>
                        <a:t>12</a:t>
                      </a:r>
                    </a:p>
                  </a:txBody>
                  <a:tcPr marL="45720" marR="6318" marT="6318" marB="0" anchor="ctr"/>
                </a:tc>
                <a:tc>
                  <a:txBody>
                    <a:bodyPr/>
                    <a:lstStyle/>
                    <a:p>
                      <a:pPr marL="0" algn="l" defTabSz="1219170" rtl="0" eaLnBrk="1" fontAlgn="b" latinLnBrk="0" hangingPunct="1"/>
                      <a:r>
                        <a:rPr lang="en-US" sz="1000" kern="1200">
                          <a:solidFill>
                            <a:schemeClr val="dk1"/>
                          </a:solidFill>
                        </a:rPr>
                        <a:t>Configuration exit criteria sign-off</a:t>
                      </a:r>
                      <a:endParaRPr lang="en-US" sz="1000" kern="1200">
                        <a:solidFill>
                          <a:schemeClr val="dk1"/>
                        </a:solidFill>
                        <a:latin typeface="+mn-lt"/>
                        <a:ea typeface="+mn-ea"/>
                        <a:cs typeface="+mn-cs"/>
                      </a:endParaRPr>
                    </a:p>
                  </a:txBody>
                  <a:tcPr marL="45720" marR="6318" marT="6318" marB="0" anchor="ctr"/>
                </a:tc>
                <a:tc>
                  <a:txBody>
                    <a:bodyPr/>
                    <a:lstStyle/>
                    <a:p>
                      <a:endParaRPr lang="en-US" sz="1000"/>
                    </a:p>
                  </a:txBody>
                  <a:tcPr marL="45720" marR="60652" marT="30326" marB="30326"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chemeClr val="tx1"/>
                          </a:solidFill>
                          <a:effectLst/>
                          <a:uLnTx/>
                          <a:uFillTx/>
                        </a:rPr>
                        <a:t>Open</a:t>
                      </a:r>
                      <a:endParaRPr kumimoji="0" lang="en-US" sz="1000" b="0" i="0" u="none" strike="noStrike" kern="1200" cap="none" spc="0" normalizeH="0" baseline="0" noProof="0">
                        <a:ln>
                          <a:noFill/>
                        </a:ln>
                        <a:solidFill>
                          <a:schemeClr val="tx1"/>
                        </a:solidFill>
                        <a:effectLst/>
                        <a:uLnTx/>
                        <a:uFillTx/>
                        <a:latin typeface="Calibri"/>
                        <a:ea typeface="+mn-ea"/>
                        <a:cs typeface="+mn-cs"/>
                      </a:endParaRPr>
                    </a:p>
                  </a:txBody>
                  <a:tcPr marL="45720" marR="60652" marT="30326" marB="30326" anchor="ctr"/>
                </a:tc>
                <a:extLst>
                  <a:ext uri="{0D108BD9-81ED-4DB2-BD59-A6C34878D82A}">
                    <a16:rowId xmlns:a16="http://schemas.microsoft.com/office/drawing/2014/main" val="4052936586"/>
                  </a:ext>
                </a:extLst>
              </a:tr>
            </a:tbl>
          </a:graphicData>
        </a:graphic>
      </p:graphicFrame>
    </p:spTree>
    <p:custDataLst>
      <p:tags r:id="rId1"/>
    </p:custDataLst>
    <p:extLst>
      <p:ext uri="{BB962C8B-B14F-4D97-AF65-F5344CB8AC3E}">
        <p14:creationId xmlns:p14="http://schemas.microsoft.com/office/powerpoint/2010/main" val="172101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95D8D-79A2-FB75-CF5F-895B8A09A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2491B-96D0-4928-BAB1-43F350899EF2}"/>
              </a:ext>
            </a:extLst>
          </p:cNvPr>
          <p:cNvSpPr>
            <a:spLocks noGrp="1"/>
          </p:cNvSpPr>
          <p:nvPr>
            <p:ph type="title"/>
          </p:nvPr>
        </p:nvSpPr>
        <p:spPr>
          <a:xfrm>
            <a:off x="419100" y="294640"/>
            <a:ext cx="8153401" cy="338554"/>
          </a:xfrm>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b="1"/>
              <a:t>Events Calendar – 6 month</a:t>
            </a:r>
          </a:p>
        </p:txBody>
      </p:sp>
      <p:sp>
        <p:nvSpPr>
          <p:cNvPr id="19" name="Round Same Side Corner Rectangle 18">
            <a:extLst>
              <a:ext uri="{FF2B5EF4-FFF2-40B4-BE49-F238E27FC236}">
                <a16:creationId xmlns:a16="http://schemas.microsoft.com/office/drawing/2014/main" id="{CEE228EC-27CE-721F-998A-A2E4B689DC36}"/>
              </a:ext>
            </a:extLst>
          </p:cNvPr>
          <p:cNvSpPr/>
          <p:nvPr/>
        </p:nvSpPr>
        <p:spPr>
          <a:xfrm>
            <a:off x="393933"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Anaplan Model Builder Training - AMER Session      Completed: August 5 - 8</a:t>
            </a:r>
          </a:p>
          <a:p>
            <a:pPr marL="179388" indent="-171450" defTabSz="685783">
              <a:spcBef>
                <a:spcPts val="600"/>
              </a:spcBef>
              <a:buFont typeface="Wingdings" pitchFamily="2" charset="2"/>
              <a:buChar char="v"/>
            </a:pPr>
            <a:r>
              <a:rPr lang="en-US" sz="800" b="1">
                <a:solidFill>
                  <a:schemeClr val="tx1"/>
                </a:solidFill>
                <a:cs typeface="Arial" panose="020B0604020202020204"/>
              </a:rPr>
              <a:t>Anaplan Model Builder Training - EMEA Session       Scheduled: August 19 - 22</a:t>
            </a:r>
          </a:p>
          <a:p>
            <a:pPr marL="179388" indent="-171450" defTabSz="685783">
              <a:spcBef>
                <a:spcPts val="600"/>
              </a:spcBef>
              <a:buFont typeface="Wingdings" pitchFamily="2" charset="2"/>
              <a:buChar char="v"/>
            </a:pPr>
            <a:r>
              <a:rPr lang="en-US" sz="800" b="1">
                <a:solidFill>
                  <a:schemeClr val="tx1"/>
                </a:solidFill>
                <a:cs typeface="Arial" panose="020B0604020202020204"/>
              </a:rPr>
              <a:t>Finalize Explore Workshop Schedule and send placeholder meeting invitations Planned: August 22</a:t>
            </a:r>
          </a:p>
          <a:p>
            <a:pPr marL="179388" indent="-171450" defTabSz="685783">
              <a:spcBef>
                <a:spcPts val="600"/>
              </a:spcBef>
              <a:buFont typeface="Wingdings" pitchFamily="2" charset="2"/>
              <a:buChar char="v"/>
            </a:pPr>
            <a:r>
              <a:rPr lang="en-US" sz="800" b="1">
                <a:solidFill>
                  <a:schemeClr val="tx1"/>
                </a:solidFill>
                <a:cs typeface="Arial" panose="020B0604020202020204"/>
              </a:rPr>
              <a:t>Configure Anaplan SSO login Planned: Week of August 25</a:t>
            </a:r>
          </a:p>
          <a:p>
            <a:pPr marL="179388" indent="-171450" defTabSz="685783">
              <a:spcBef>
                <a:spcPts val="600"/>
              </a:spcBef>
              <a:buFont typeface="Wingdings" pitchFamily="2" charset="2"/>
              <a:buChar char="v"/>
            </a:pPr>
            <a:endParaRPr lang="en-US" sz="800" b="1">
              <a:solidFill>
                <a:schemeClr val="tx1"/>
              </a:solidFill>
              <a:cs typeface="Arial" panose="020B0604020202020204"/>
            </a:endParaRP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24" name="Round Same Side Corner Rectangle 23">
            <a:extLst>
              <a:ext uri="{FF2B5EF4-FFF2-40B4-BE49-F238E27FC236}">
                <a16:creationId xmlns:a16="http://schemas.microsoft.com/office/drawing/2014/main" id="{373FE63D-6E10-0273-BBB9-0B4664946A1C}"/>
              </a:ext>
            </a:extLst>
          </p:cNvPr>
          <p:cNvSpPr/>
          <p:nvPr/>
        </p:nvSpPr>
        <p:spPr>
          <a:xfrm>
            <a:off x="393933" y="805618"/>
            <a:ext cx="1338439" cy="259441"/>
          </a:xfrm>
          <a:prstGeom prst="round2SameRect">
            <a:avLst>
              <a:gd name="adj1" fmla="val 30223"/>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AUGUST</a:t>
            </a:r>
            <a:endParaRPr lang="en-US" sz="1100"/>
          </a:p>
        </p:txBody>
      </p:sp>
      <p:sp>
        <p:nvSpPr>
          <p:cNvPr id="25" name="Round Same Side Corner Rectangle 24">
            <a:extLst>
              <a:ext uri="{FF2B5EF4-FFF2-40B4-BE49-F238E27FC236}">
                <a16:creationId xmlns:a16="http://schemas.microsoft.com/office/drawing/2014/main" id="{7CC9D695-366F-BC07-BDF8-B5EED0AF53DA}"/>
              </a:ext>
            </a:extLst>
          </p:cNvPr>
          <p:cNvSpPr/>
          <p:nvPr/>
        </p:nvSpPr>
        <p:spPr>
          <a:xfrm>
            <a:off x="1777408"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App workshop sessions for each Creative Center and Corporate team</a:t>
            </a:r>
          </a:p>
          <a:p>
            <a:pPr marL="179388" indent="-171450" defTabSz="685783">
              <a:spcBef>
                <a:spcPts val="600"/>
              </a:spcBef>
              <a:buFont typeface="Wingdings" pitchFamily="2" charset="2"/>
              <a:buChar char="v"/>
            </a:pPr>
            <a:r>
              <a:rPr lang="en-US" sz="800" b="1">
                <a:solidFill>
                  <a:schemeClr val="tx1"/>
                </a:solidFill>
                <a:cs typeface="Arial" panose="020B0604020202020204"/>
              </a:rPr>
              <a:t>Validate sample data, planning structures, and levels of planning to support configuration</a:t>
            </a:r>
          </a:p>
          <a:p>
            <a:pPr marL="179388" indent="-171450" defTabSz="685783">
              <a:spcBef>
                <a:spcPts val="600"/>
              </a:spcBef>
              <a:buFont typeface="Wingdings" pitchFamily="2" charset="2"/>
              <a:buChar char="v"/>
            </a:pPr>
            <a:r>
              <a:rPr lang="en-US" sz="800" b="1">
                <a:solidFill>
                  <a:schemeClr val="tx1"/>
                </a:solidFill>
                <a:cs typeface="Arial" panose="020B0604020202020204"/>
              </a:rPr>
              <a:t>Validate App against the scoped requirements, produce design document with gap analysis and finalize implementation sprint plan</a:t>
            </a: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26" name="Round Same Side Corner Rectangle 25">
            <a:extLst>
              <a:ext uri="{FF2B5EF4-FFF2-40B4-BE49-F238E27FC236}">
                <a16:creationId xmlns:a16="http://schemas.microsoft.com/office/drawing/2014/main" id="{E5BCD5B0-7430-EBE7-A076-464293A05B2A}"/>
              </a:ext>
            </a:extLst>
          </p:cNvPr>
          <p:cNvSpPr/>
          <p:nvPr/>
        </p:nvSpPr>
        <p:spPr>
          <a:xfrm>
            <a:off x="1777408" y="805618"/>
            <a:ext cx="1338439" cy="259441"/>
          </a:xfrm>
          <a:prstGeom prst="round2SameRect">
            <a:avLst>
              <a:gd name="adj1" fmla="val 30223"/>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SEPTEMBER</a:t>
            </a:r>
            <a:endParaRPr lang="en-US" sz="1100"/>
          </a:p>
        </p:txBody>
      </p:sp>
      <p:sp>
        <p:nvSpPr>
          <p:cNvPr id="27" name="Round Same Side Corner Rectangle 26">
            <a:extLst>
              <a:ext uri="{FF2B5EF4-FFF2-40B4-BE49-F238E27FC236}">
                <a16:creationId xmlns:a16="http://schemas.microsoft.com/office/drawing/2014/main" id="{3E86112C-5927-BFCC-ECB4-DA2DFB33BD7F}"/>
              </a:ext>
            </a:extLst>
          </p:cNvPr>
          <p:cNvSpPr/>
          <p:nvPr/>
        </p:nvSpPr>
        <p:spPr>
          <a:xfrm>
            <a:off x="3169938"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Execute on Sprint Plan (2-week Sprints)</a:t>
            </a: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28" name="Round Same Side Corner Rectangle 27">
            <a:extLst>
              <a:ext uri="{FF2B5EF4-FFF2-40B4-BE49-F238E27FC236}">
                <a16:creationId xmlns:a16="http://schemas.microsoft.com/office/drawing/2014/main" id="{AA036205-FE6A-F2DF-CD18-538582847A60}"/>
              </a:ext>
            </a:extLst>
          </p:cNvPr>
          <p:cNvSpPr/>
          <p:nvPr/>
        </p:nvSpPr>
        <p:spPr>
          <a:xfrm>
            <a:off x="3169938" y="805618"/>
            <a:ext cx="1338439" cy="259441"/>
          </a:xfrm>
          <a:prstGeom prst="round2SameRect">
            <a:avLst>
              <a:gd name="adj1" fmla="val 30223"/>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OCTOBER</a:t>
            </a:r>
            <a:endParaRPr lang="en-US" sz="1100"/>
          </a:p>
        </p:txBody>
      </p:sp>
      <p:sp>
        <p:nvSpPr>
          <p:cNvPr id="29" name="Round Same Side Corner Rectangle 28">
            <a:extLst>
              <a:ext uri="{FF2B5EF4-FFF2-40B4-BE49-F238E27FC236}">
                <a16:creationId xmlns:a16="http://schemas.microsoft.com/office/drawing/2014/main" id="{9692CC59-8D83-1BBB-18D0-74A41BBE3CCE}"/>
              </a:ext>
            </a:extLst>
          </p:cNvPr>
          <p:cNvSpPr/>
          <p:nvPr/>
        </p:nvSpPr>
        <p:spPr>
          <a:xfrm>
            <a:off x="4562467"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BU1, BU2 (SP1 – SP3)</a:t>
            </a:r>
          </a:p>
        </p:txBody>
      </p:sp>
      <p:sp>
        <p:nvSpPr>
          <p:cNvPr id="30" name="Round Same Side Corner Rectangle 29">
            <a:extLst>
              <a:ext uri="{FF2B5EF4-FFF2-40B4-BE49-F238E27FC236}">
                <a16:creationId xmlns:a16="http://schemas.microsoft.com/office/drawing/2014/main" id="{B07D2F06-4DF9-C22C-2174-EFCEF0D687B5}"/>
              </a:ext>
            </a:extLst>
          </p:cNvPr>
          <p:cNvSpPr/>
          <p:nvPr/>
        </p:nvSpPr>
        <p:spPr>
          <a:xfrm>
            <a:off x="4562467" y="805618"/>
            <a:ext cx="1338439" cy="259441"/>
          </a:xfrm>
          <a:prstGeom prst="round2SameRect">
            <a:avLst>
              <a:gd name="adj1" fmla="val 30223"/>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NOVEMBER</a:t>
            </a:r>
            <a:endParaRPr lang="en-US" sz="1100"/>
          </a:p>
        </p:txBody>
      </p:sp>
      <p:sp>
        <p:nvSpPr>
          <p:cNvPr id="31" name="Round Same Side Corner Rectangle 30">
            <a:extLst>
              <a:ext uri="{FF2B5EF4-FFF2-40B4-BE49-F238E27FC236}">
                <a16:creationId xmlns:a16="http://schemas.microsoft.com/office/drawing/2014/main" id="{2677AC67-E1BD-0FBC-C22A-EC0D2D451549}"/>
              </a:ext>
            </a:extLst>
          </p:cNvPr>
          <p:cNvSpPr/>
          <p:nvPr/>
        </p:nvSpPr>
        <p:spPr>
          <a:xfrm>
            <a:off x="5954996"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BU3, BU4 (SP4 – SP6)</a:t>
            </a:r>
          </a:p>
        </p:txBody>
      </p:sp>
      <p:sp>
        <p:nvSpPr>
          <p:cNvPr id="32" name="Round Same Side Corner Rectangle 31">
            <a:extLst>
              <a:ext uri="{FF2B5EF4-FFF2-40B4-BE49-F238E27FC236}">
                <a16:creationId xmlns:a16="http://schemas.microsoft.com/office/drawing/2014/main" id="{EEF0FD31-206D-1E84-6139-0F95214AE200}"/>
              </a:ext>
            </a:extLst>
          </p:cNvPr>
          <p:cNvSpPr/>
          <p:nvPr/>
        </p:nvSpPr>
        <p:spPr>
          <a:xfrm>
            <a:off x="5954996" y="805618"/>
            <a:ext cx="1338439" cy="259441"/>
          </a:xfrm>
          <a:prstGeom prst="round2SameRect">
            <a:avLst>
              <a:gd name="adj1" fmla="val 30223"/>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DECEMBER</a:t>
            </a:r>
            <a:endParaRPr lang="en-US" sz="1100"/>
          </a:p>
        </p:txBody>
      </p:sp>
      <p:sp>
        <p:nvSpPr>
          <p:cNvPr id="33" name="Round Same Side Corner Rectangle 32">
            <a:extLst>
              <a:ext uri="{FF2B5EF4-FFF2-40B4-BE49-F238E27FC236}">
                <a16:creationId xmlns:a16="http://schemas.microsoft.com/office/drawing/2014/main" id="{B857E028-4B24-D77C-6C67-D20173FF17EB}"/>
              </a:ext>
            </a:extLst>
          </p:cNvPr>
          <p:cNvSpPr/>
          <p:nvPr/>
        </p:nvSpPr>
        <p:spPr>
          <a:xfrm>
            <a:off x="7338472"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Integration (SP7 – SP8)</a:t>
            </a:r>
          </a:p>
        </p:txBody>
      </p:sp>
      <p:sp>
        <p:nvSpPr>
          <p:cNvPr id="34" name="Round Same Side Corner Rectangle 33">
            <a:extLst>
              <a:ext uri="{FF2B5EF4-FFF2-40B4-BE49-F238E27FC236}">
                <a16:creationId xmlns:a16="http://schemas.microsoft.com/office/drawing/2014/main" id="{7B6C75C5-7E55-7BA2-9099-A99D14495E94}"/>
              </a:ext>
            </a:extLst>
          </p:cNvPr>
          <p:cNvSpPr/>
          <p:nvPr/>
        </p:nvSpPr>
        <p:spPr>
          <a:xfrm>
            <a:off x="7338472" y="805618"/>
            <a:ext cx="1338439" cy="259441"/>
          </a:xfrm>
          <a:prstGeom prst="round2SameRect">
            <a:avLst>
              <a:gd name="adj1" fmla="val 30223"/>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JANUARY</a:t>
            </a:r>
            <a:endParaRPr lang="en-US" sz="1100"/>
          </a:p>
        </p:txBody>
      </p:sp>
      <p:grpSp>
        <p:nvGrpSpPr>
          <p:cNvPr id="3" name="Group 2">
            <a:extLst>
              <a:ext uri="{FF2B5EF4-FFF2-40B4-BE49-F238E27FC236}">
                <a16:creationId xmlns:a16="http://schemas.microsoft.com/office/drawing/2014/main" id="{34884194-5DA2-2BF3-0AA5-72A0131CDEF4}"/>
              </a:ext>
            </a:extLst>
          </p:cNvPr>
          <p:cNvGrpSpPr/>
          <p:nvPr/>
        </p:nvGrpSpPr>
        <p:grpSpPr>
          <a:xfrm>
            <a:off x="7871355" y="373972"/>
            <a:ext cx="805552" cy="259441"/>
            <a:chOff x="7295248" y="373972"/>
            <a:chExt cx="1381663" cy="259441"/>
          </a:xfrm>
        </p:grpSpPr>
        <p:sp>
          <p:nvSpPr>
            <p:cNvPr id="6" name="Rounded Rectangle 5">
              <a:extLst>
                <a:ext uri="{FF2B5EF4-FFF2-40B4-BE49-F238E27FC236}">
                  <a16:creationId xmlns:a16="http://schemas.microsoft.com/office/drawing/2014/main" id="{89645D6F-C619-871A-E4D8-954E27898B7C}"/>
                </a:ext>
              </a:extLst>
            </p:cNvPr>
            <p:cNvSpPr/>
            <p:nvPr/>
          </p:nvSpPr>
          <p:spPr>
            <a:xfrm>
              <a:off x="7295248" y="373972"/>
              <a:ext cx="666046" cy="25944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Q3</a:t>
              </a:r>
              <a:endParaRPr lang="en-US" sz="1100"/>
            </a:p>
          </p:txBody>
        </p:sp>
        <p:sp>
          <p:nvSpPr>
            <p:cNvPr id="7" name="Rounded Rectangle 6">
              <a:extLst>
                <a:ext uri="{FF2B5EF4-FFF2-40B4-BE49-F238E27FC236}">
                  <a16:creationId xmlns:a16="http://schemas.microsoft.com/office/drawing/2014/main" id="{A188A615-29BB-4341-A807-6735A000D839}"/>
                </a:ext>
              </a:extLst>
            </p:cNvPr>
            <p:cNvSpPr/>
            <p:nvPr/>
          </p:nvSpPr>
          <p:spPr>
            <a:xfrm>
              <a:off x="8010865" y="373972"/>
              <a:ext cx="666046" cy="25944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Q4</a:t>
              </a:r>
              <a:endParaRPr lang="en-US" sz="1100"/>
            </a:p>
          </p:txBody>
        </p:sp>
      </p:grpSp>
      <p:grpSp>
        <p:nvGrpSpPr>
          <p:cNvPr id="4" name="Group 3">
            <a:extLst>
              <a:ext uri="{FF2B5EF4-FFF2-40B4-BE49-F238E27FC236}">
                <a16:creationId xmlns:a16="http://schemas.microsoft.com/office/drawing/2014/main" id="{A810B756-C6B2-31FD-B4EC-EDC8A809E608}"/>
              </a:ext>
            </a:extLst>
          </p:cNvPr>
          <p:cNvGrpSpPr/>
          <p:nvPr/>
        </p:nvGrpSpPr>
        <p:grpSpPr>
          <a:xfrm>
            <a:off x="-2208139" y="0"/>
            <a:ext cx="2338441" cy="5143500"/>
            <a:chOff x="-2208139" y="0"/>
            <a:chExt cx="2338441" cy="5143500"/>
          </a:xfrm>
        </p:grpSpPr>
        <p:sp>
          <p:nvSpPr>
            <p:cNvPr id="5" name="Rectangle: Rounded Corners 4">
              <a:extLst>
                <a:ext uri="{FF2B5EF4-FFF2-40B4-BE49-F238E27FC236}">
                  <a16:creationId xmlns:a16="http://schemas.microsoft.com/office/drawing/2014/main" id="{7E75D110-8109-53D4-B162-C3444A039463}"/>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FD16A464-ADFF-425E-6F7B-8816C15A9EB8}"/>
                </a:ext>
              </a:extLst>
            </p:cNvPr>
            <p:cNvGrpSpPr/>
            <p:nvPr/>
          </p:nvGrpSpPr>
          <p:grpSpPr>
            <a:xfrm>
              <a:off x="-2208139" y="0"/>
              <a:ext cx="2018501" cy="5143500"/>
              <a:chOff x="-2208139" y="0"/>
              <a:chExt cx="2018501" cy="5143500"/>
            </a:xfrm>
          </p:grpSpPr>
          <p:sp>
            <p:nvSpPr>
              <p:cNvPr id="9" name="Rectangle: Rounded Corners 8">
                <a:extLst>
                  <a:ext uri="{FF2B5EF4-FFF2-40B4-BE49-F238E27FC236}">
                    <a16:creationId xmlns:a16="http://schemas.microsoft.com/office/drawing/2014/main" id="{E478EC9C-E662-4111-079E-374E418162E3}"/>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E3EB9CC3-0519-E60B-0CBD-0E15789AD78D}"/>
                  </a:ext>
                </a:extLst>
              </p:cNvPr>
              <p:cNvSpPr txBox="1"/>
              <p:nvPr/>
            </p:nvSpPr>
            <p:spPr>
              <a:xfrm>
                <a:off x="-2081074" y="983848"/>
                <a:ext cx="1764368" cy="2462213"/>
              </a:xfrm>
              <a:prstGeom prst="rect">
                <a:avLst/>
              </a:prstGeom>
              <a:solidFill>
                <a:schemeClr val="bg1"/>
              </a:solidFill>
              <a:ln w="3175">
                <a:solidFill>
                  <a:schemeClr val="accent6">
                    <a:lumMod val="10000"/>
                  </a:schemeClr>
                </a:solidFill>
              </a:ln>
            </p:spPr>
            <p:txBody>
              <a:bodyPr wrap="square" lIns="91440" rtlCol="0">
                <a:spAutoFit/>
              </a:bodyPr>
              <a:lstStyle/>
              <a:p>
                <a:r>
                  <a:rPr lang="en-US" sz="1400">
                    <a:ea typeface="Verdana"/>
                    <a:cs typeface="Arial"/>
                  </a:rPr>
                  <a:t>Communicate key activities to the collective during the immediate weeks ahead. Ideally the first week has been planned and invites sent with preparation materials.</a:t>
                </a:r>
              </a:p>
              <a:p>
                <a:endParaRPr lang="en-US" sz="1400">
                  <a:latin typeface="Arial" panose="020B0604020202020204" pitchFamily="34" charset="0"/>
                  <a:ea typeface="Verdana"/>
                  <a:cs typeface="Arial"/>
                </a:endParaRPr>
              </a:p>
            </p:txBody>
          </p:sp>
          <p:sp>
            <p:nvSpPr>
              <p:cNvPr id="11" name="TextBox 10">
                <a:extLst>
                  <a:ext uri="{FF2B5EF4-FFF2-40B4-BE49-F238E27FC236}">
                    <a16:creationId xmlns:a16="http://schemas.microsoft.com/office/drawing/2014/main" id="{43A2F479-F90F-E315-E9A6-064118436F51}"/>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2" name="Group 11">
                <a:extLst>
                  <a:ext uri="{FF2B5EF4-FFF2-40B4-BE49-F238E27FC236}">
                    <a16:creationId xmlns:a16="http://schemas.microsoft.com/office/drawing/2014/main" id="{7E4282BB-57C0-E057-3FE0-3FFDF5631179}"/>
                  </a:ext>
                </a:extLst>
              </p:cNvPr>
              <p:cNvGrpSpPr/>
              <p:nvPr/>
            </p:nvGrpSpPr>
            <p:grpSpPr>
              <a:xfrm>
                <a:off x="-1913726" y="4862278"/>
                <a:ext cx="1537258" cy="215444"/>
                <a:chOff x="-1907058" y="4862278"/>
                <a:chExt cx="1537258" cy="215444"/>
              </a:xfrm>
            </p:grpSpPr>
            <p:sp>
              <p:nvSpPr>
                <p:cNvPr id="16" name="TextBox 15">
                  <a:extLst>
                    <a:ext uri="{FF2B5EF4-FFF2-40B4-BE49-F238E27FC236}">
                      <a16:creationId xmlns:a16="http://schemas.microsoft.com/office/drawing/2014/main" id="{6E946D2E-66D3-AA7D-82B3-FFBCC026BF61}"/>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7" name="Graphic 16" descr="Warning with solid fill">
                  <a:extLst>
                    <a:ext uri="{FF2B5EF4-FFF2-40B4-BE49-F238E27FC236}">
                      <a16:creationId xmlns:a16="http://schemas.microsoft.com/office/drawing/2014/main" id="{ABF93572-22F1-7575-4D65-7FAA74C7E3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13" name="Group 12">
                <a:extLst>
                  <a:ext uri="{FF2B5EF4-FFF2-40B4-BE49-F238E27FC236}">
                    <a16:creationId xmlns:a16="http://schemas.microsoft.com/office/drawing/2014/main" id="{F28B2838-865D-8C94-28F8-62F80E94BCB3}"/>
                  </a:ext>
                </a:extLst>
              </p:cNvPr>
              <p:cNvGrpSpPr/>
              <p:nvPr/>
            </p:nvGrpSpPr>
            <p:grpSpPr>
              <a:xfrm>
                <a:off x="-1468837" y="0"/>
                <a:ext cx="539895" cy="539895"/>
                <a:chOff x="-1468837" y="0"/>
                <a:chExt cx="539895" cy="539895"/>
              </a:xfrm>
            </p:grpSpPr>
            <p:sp>
              <p:nvSpPr>
                <p:cNvPr id="14" name="Oval 13">
                  <a:extLst>
                    <a:ext uri="{FF2B5EF4-FFF2-40B4-BE49-F238E27FC236}">
                      <a16:creationId xmlns:a16="http://schemas.microsoft.com/office/drawing/2014/main" id="{447BF3AC-49A5-DBDA-CB31-D2A7C9E7BB7D}"/>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5" name="Graphic 14" descr="Target Audience with solid fill">
                  <a:extLst>
                    <a:ext uri="{FF2B5EF4-FFF2-40B4-BE49-F238E27FC236}">
                      <a16:creationId xmlns:a16="http://schemas.microsoft.com/office/drawing/2014/main" id="{A7209F11-7A87-1699-6BFC-91F8F69833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1650451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3AC909-9329-93B0-058F-D48F37EFC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E8F78-0119-A36E-A05F-D27E04612339}"/>
              </a:ext>
            </a:extLst>
          </p:cNvPr>
          <p:cNvSpPr>
            <a:spLocks noGrp="1"/>
          </p:cNvSpPr>
          <p:nvPr>
            <p:ph type="title"/>
          </p:nvPr>
        </p:nvSpPr>
        <p:spPr>
          <a:xfrm>
            <a:off x="419100" y="294640"/>
            <a:ext cx="8153401" cy="338554"/>
          </a:xfrm>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b="1"/>
              <a:t>Events Calendar – 6 month</a:t>
            </a:r>
          </a:p>
        </p:txBody>
      </p:sp>
      <p:sp>
        <p:nvSpPr>
          <p:cNvPr id="19" name="Round Same Side Corner Rectangle 18">
            <a:extLst>
              <a:ext uri="{FF2B5EF4-FFF2-40B4-BE49-F238E27FC236}">
                <a16:creationId xmlns:a16="http://schemas.microsoft.com/office/drawing/2014/main" id="{7B5A52AA-A94E-040F-4F6B-7F510CCE7B3C}"/>
              </a:ext>
            </a:extLst>
          </p:cNvPr>
          <p:cNvSpPr/>
          <p:nvPr/>
        </p:nvSpPr>
        <p:spPr>
          <a:xfrm>
            <a:off x="393933"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Prepare for end-to-end SIT/UAT Phase starting in Feb 2026</a:t>
            </a:r>
          </a:p>
        </p:txBody>
      </p:sp>
      <p:sp>
        <p:nvSpPr>
          <p:cNvPr id="24" name="Round Same Side Corner Rectangle 23">
            <a:extLst>
              <a:ext uri="{FF2B5EF4-FFF2-40B4-BE49-F238E27FC236}">
                <a16:creationId xmlns:a16="http://schemas.microsoft.com/office/drawing/2014/main" id="{76C67ABA-6D28-DF55-0A54-FA3962BB232D}"/>
              </a:ext>
            </a:extLst>
          </p:cNvPr>
          <p:cNvSpPr/>
          <p:nvPr/>
        </p:nvSpPr>
        <p:spPr>
          <a:xfrm>
            <a:off x="393933" y="805618"/>
            <a:ext cx="1338439" cy="259441"/>
          </a:xfrm>
          <a:prstGeom prst="round2SameRect">
            <a:avLst>
              <a:gd name="adj1" fmla="val 3022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FEBRUARY</a:t>
            </a:r>
            <a:endParaRPr lang="en-US" sz="1100"/>
          </a:p>
        </p:txBody>
      </p:sp>
      <p:sp>
        <p:nvSpPr>
          <p:cNvPr id="25" name="Round Same Side Corner Rectangle 24">
            <a:extLst>
              <a:ext uri="{FF2B5EF4-FFF2-40B4-BE49-F238E27FC236}">
                <a16:creationId xmlns:a16="http://schemas.microsoft.com/office/drawing/2014/main" id="{29EC91EC-7FA5-8FFE-F33A-9EBE38F06679}"/>
              </a:ext>
            </a:extLst>
          </p:cNvPr>
          <p:cNvSpPr/>
          <p:nvPr/>
        </p:nvSpPr>
        <p:spPr>
          <a:xfrm>
            <a:off x="1777408"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26" name="Round Same Side Corner Rectangle 25">
            <a:extLst>
              <a:ext uri="{FF2B5EF4-FFF2-40B4-BE49-F238E27FC236}">
                <a16:creationId xmlns:a16="http://schemas.microsoft.com/office/drawing/2014/main" id="{ADFED292-088A-400F-37C4-627B1B7BDC70}"/>
              </a:ext>
            </a:extLst>
          </p:cNvPr>
          <p:cNvSpPr/>
          <p:nvPr/>
        </p:nvSpPr>
        <p:spPr>
          <a:xfrm>
            <a:off x="1777408" y="805618"/>
            <a:ext cx="1338439" cy="259441"/>
          </a:xfrm>
          <a:prstGeom prst="round2SameRect">
            <a:avLst>
              <a:gd name="adj1" fmla="val 3022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MARCH</a:t>
            </a:r>
            <a:endParaRPr lang="en-US" sz="1100"/>
          </a:p>
        </p:txBody>
      </p:sp>
      <p:sp>
        <p:nvSpPr>
          <p:cNvPr id="27" name="Round Same Side Corner Rectangle 26">
            <a:extLst>
              <a:ext uri="{FF2B5EF4-FFF2-40B4-BE49-F238E27FC236}">
                <a16:creationId xmlns:a16="http://schemas.microsoft.com/office/drawing/2014/main" id="{970200DC-0796-E4FA-D668-0408872F9322}"/>
              </a:ext>
            </a:extLst>
          </p:cNvPr>
          <p:cNvSpPr/>
          <p:nvPr/>
        </p:nvSpPr>
        <p:spPr>
          <a:xfrm>
            <a:off x="3169938"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28" name="Round Same Side Corner Rectangle 27">
            <a:extLst>
              <a:ext uri="{FF2B5EF4-FFF2-40B4-BE49-F238E27FC236}">
                <a16:creationId xmlns:a16="http://schemas.microsoft.com/office/drawing/2014/main" id="{17084121-30DD-0D8A-DF4F-624512A5C3C7}"/>
              </a:ext>
            </a:extLst>
          </p:cNvPr>
          <p:cNvSpPr/>
          <p:nvPr/>
        </p:nvSpPr>
        <p:spPr>
          <a:xfrm>
            <a:off x="3169938" y="805618"/>
            <a:ext cx="1338439" cy="259441"/>
          </a:xfrm>
          <a:prstGeom prst="round2SameRect">
            <a:avLst>
              <a:gd name="adj1" fmla="val 3022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APRIL</a:t>
            </a:r>
            <a:endParaRPr lang="en-US" sz="1100"/>
          </a:p>
        </p:txBody>
      </p:sp>
      <p:sp>
        <p:nvSpPr>
          <p:cNvPr id="29" name="Round Same Side Corner Rectangle 28">
            <a:extLst>
              <a:ext uri="{FF2B5EF4-FFF2-40B4-BE49-F238E27FC236}">
                <a16:creationId xmlns:a16="http://schemas.microsoft.com/office/drawing/2014/main" id="{3DD30528-4338-9CF6-BB99-1511BFF481AA}"/>
              </a:ext>
            </a:extLst>
          </p:cNvPr>
          <p:cNvSpPr/>
          <p:nvPr/>
        </p:nvSpPr>
        <p:spPr>
          <a:xfrm>
            <a:off x="4562467"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30" name="Round Same Side Corner Rectangle 29">
            <a:extLst>
              <a:ext uri="{FF2B5EF4-FFF2-40B4-BE49-F238E27FC236}">
                <a16:creationId xmlns:a16="http://schemas.microsoft.com/office/drawing/2014/main" id="{B1203623-D42C-3455-1C55-1078FB8F2C8A}"/>
              </a:ext>
            </a:extLst>
          </p:cNvPr>
          <p:cNvSpPr/>
          <p:nvPr/>
        </p:nvSpPr>
        <p:spPr>
          <a:xfrm>
            <a:off x="4562467" y="805618"/>
            <a:ext cx="1338439" cy="259441"/>
          </a:xfrm>
          <a:prstGeom prst="round2SameRect">
            <a:avLst>
              <a:gd name="adj1" fmla="val 3022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MAY</a:t>
            </a:r>
            <a:endParaRPr lang="en-US" sz="1100"/>
          </a:p>
        </p:txBody>
      </p:sp>
      <p:sp>
        <p:nvSpPr>
          <p:cNvPr id="31" name="Round Same Side Corner Rectangle 30">
            <a:extLst>
              <a:ext uri="{FF2B5EF4-FFF2-40B4-BE49-F238E27FC236}">
                <a16:creationId xmlns:a16="http://schemas.microsoft.com/office/drawing/2014/main" id="{4BC7EA2F-4DA5-7140-5E1D-DE6E1E8BD42A}"/>
              </a:ext>
            </a:extLst>
          </p:cNvPr>
          <p:cNvSpPr/>
          <p:nvPr/>
        </p:nvSpPr>
        <p:spPr>
          <a:xfrm>
            <a:off x="5954996"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32" name="Round Same Side Corner Rectangle 31">
            <a:extLst>
              <a:ext uri="{FF2B5EF4-FFF2-40B4-BE49-F238E27FC236}">
                <a16:creationId xmlns:a16="http://schemas.microsoft.com/office/drawing/2014/main" id="{DD06513A-CF9A-294B-E1EB-12D5B91A0512}"/>
              </a:ext>
            </a:extLst>
          </p:cNvPr>
          <p:cNvSpPr/>
          <p:nvPr/>
        </p:nvSpPr>
        <p:spPr>
          <a:xfrm>
            <a:off x="5954996" y="805618"/>
            <a:ext cx="1338439" cy="259441"/>
          </a:xfrm>
          <a:prstGeom prst="round2SameRect">
            <a:avLst>
              <a:gd name="adj1" fmla="val 3022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JUNE</a:t>
            </a:r>
            <a:endParaRPr lang="en-US" sz="1100"/>
          </a:p>
        </p:txBody>
      </p:sp>
      <p:sp>
        <p:nvSpPr>
          <p:cNvPr id="33" name="Round Same Side Corner Rectangle 32">
            <a:extLst>
              <a:ext uri="{FF2B5EF4-FFF2-40B4-BE49-F238E27FC236}">
                <a16:creationId xmlns:a16="http://schemas.microsoft.com/office/drawing/2014/main" id="{8E583887-0D68-E471-0608-1F057E035E96}"/>
              </a:ext>
            </a:extLst>
          </p:cNvPr>
          <p:cNvSpPr/>
          <p:nvPr/>
        </p:nvSpPr>
        <p:spPr>
          <a:xfrm>
            <a:off x="7338472" y="805618"/>
            <a:ext cx="1338439" cy="3878830"/>
          </a:xfrm>
          <a:prstGeom prst="round2SameRect">
            <a:avLst>
              <a:gd name="adj1" fmla="val 548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9388" indent="-171450" defTabSz="685783">
              <a:spcBef>
                <a:spcPts val="600"/>
              </a:spcBef>
              <a:buFont typeface="Wingdings" pitchFamily="2" charset="2"/>
              <a:buChar char="v"/>
            </a:pPr>
            <a:r>
              <a:rPr lang="en-US" sz="800" b="1">
                <a:solidFill>
                  <a:schemeClr val="tx1"/>
                </a:solidFill>
                <a:cs typeface="Arial" panose="020B0604020202020204"/>
              </a:rPr>
              <a:t>Detail</a:t>
            </a:r>
            <a:endParaRPr lang="en-US" sz="800">
              <a:solidFill>
                <a:schemeClr val="tx1"/>
              </a:solidFill>
              <a:cs typeface="Arial" panose="020B0604020202020204"/>
            </a:endParaRPr>
          </a:p>
          <a:p>
            <a:pPr marL="171450" indent="-171450" defTabSz="685783">
              <a:buFont typeface="Wingdings" pitchFamily="2" charset="2"/>
              <a:buChar char="v"/>
            </a:pPr>
            <a:endParaRPr lang="en-US" sz="800">
              <a:solidFill>
                <a:srgbClr val="000000"/>
              </a:solidFill>
              <a:cs typeface="Arial" panose="020B0604020202020204"/>
            </a:endParaRPr>
          </a:p>
        </p:txBody>
      </p:sp>
      <p:sp>
        <p:nvSpPr>
          <p:cNvPr id="34" name="Round Same Side Corner Rectangle 33">
            <a:extLst>
              <a:ext uri="{FF2B5EF4-FFF2-40B4-BE49-F238E27FC236}">
                <a16:creationId xmlns:a16="http://schemas.microsoft.com/office/drawing/2014/main" id="{7C620783-8651-9A14-4D6F-4DE0BB538D36}"/>
              </a:ext>
            </a:extLst>
          </p:cNvPr>
          <p:cNvSpPr/>
          <p:nvPr/>
        </p:nvSpPr>
        <p:spPr>
          <a:xfrm>
            <a:off x="7338472" y="805618"/>
            <a:ext cx="1338439" cy="259441"/>
          </a:xfrm>
          <a:prstGeom prst="round2SameRect">
            <a:avLst>
              <a:gd name="adj1" fmla="val 3022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JULY</a:t>
            </a:r>
            <a:endParaRPr lang="en-US" sz="1100"/>
          </a:p>
        </p:txBody>
      </p:sp>
      <p:grpSp>
        <p:nvGrpSpPr>
          <p:cNvPr id="4" name="Group 3">
            <a:extLst>
              <a:ext uri="{FF2B5EF4-FFF2-40B4-BE49-F238E27FC236}">
                <a16:creationId xmlns:a16="http://schemas.microsoft.com/office/drawing/2014/main" id="{A79E75F8-7423-304F-E2FB-C993CC3A8924}"/>
              </a:ext>
            </a:extLst>
          </p:cNvPr>
          <p:cNvGrpSpPr/>
          <p:nvPr/>
        </p:nvGrpSpPr>
        <p:grpSpPr>
          <a:xfrm>
            <a:off x="7871355" y="373972"/>
            <a:ext cx="805552" cy="259441"/>
            <a:chOff x="7295248" y="373972"/>
            <a:chExt cx="1381663" cy="259441"/>
          </a:xfrm>
        </p:grpSpPr>
        <p:sp>
          <p:nvSpPr>
            <p:cNvPr id="7" name="Rounded Rectangle 6">
              <a:extLst>
                <a:ext uri="{FF2B5EF4-FFF2-40B4-BE49-F238E27FC236}">
                  <a16:creationId xmlns:a16="http://schemas.microsoft.com/office/drawing/2014/main" id="{8E948891-A37A-D0A8-DCE4-AFFDFEFB0CC6}"/>
                </a:ext>
              </a:extLst>
            </p:cNvPr>
            <p:cNvSpPr/>
            <p:nvPr/>
          </p:nvSpPr>
          <p:spPr>
            <a:xfrm>
              <a:off x="7295248" y="373972"/>
              <a:ext cx="666046" cy="25944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Q1</a:t>
              </a:r>
              <a:endParaRPr lang="en-US" sz="1100"/>
            </a:p>
          </p:txBody>
        </p:sp>
        <p:sp>
          <p:nvSpPr>
            <p:cNvPr id="8" name="Rounded Rectangle 7">
              <a:extLst>
                <a:ext uri="{FF2B5EF4-FFF2-40B4-BE49-F238E27FC236}">
                  <a16:creationId xmlns:a16="http://schemas.microsoft.com/office/drawing/2014/main" id="{E45A23E3-FF3B-4C08-F005-C4F0051BA885}"/>
                </a:ext>
              </a:extLst>
            </p:cNvPr>
            <p:cNvSpPr/>
            <p:nvPr/>
          </p:nvSpPr>
          <p:spPr>
            <a:xfrm>
              <a:off x="8010865" y="373972"/>
              <a:ext cx="666046" cy="2594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685783"/>
              <a:r>
                <a:rPr lang="en-US" sz="1000" b="1">
                  <a:solidFill>
                    <a:srgbClr val="FFFFFF"/>
                  </a:solidFill>
                  <a:latin typeface="Arial"/>
                  <a:ea typeface="Verdana"/>
                  <a:cs typeface="Arial"/>
                </a:rPr>
                <a:t>Q2</a:t>
              </a:r>
              <a:endParaRPr lang="en-US" sz="1100"/>
            </a:p>
          </p:txBody>
        </p:sp>
      </p:grpSp>
      <p:grpSp>
        <p:nvGrpSpPr>
          <p:cNvPr id="3" name="Group 2">
            <a:extLst>
              <a:ext uri="{FF2B5EF4-FFF2-40B4-BE49-F238E27FC236}">
                <a16:creationId xmlns:a16="http://schemas.microsoft.com/office/drawing/2014/main" id="{C5A6DE78-C7B5-C641-9DF5-FD20F79C2FD4}"/>
              </a:ext>
            </a:extLst>
          </p:cNvPr>
          <p:cNvGrpSpPr/>
          <p:nvPr/>
        </p:nvGrpSpPr>
        <p:grpSpPr>
          <a:xfrm>
            <a:off x="-2208139" y="0"/>
            <a:ext cx="2338441" cy="5143500"/>
            <a:chOff x="-2208139" y="0"/>
            <a:chExt cx="2338441" cy="5143500"/>
          </a:xfrm>
        </p:grpSpPr>
        <p:sp>
          <p:nvSpPr>
            <p:cNvPr id="5" name="Rectangle: Rounded Corners 4">
              <a:extLst>
                <a:ext uri="{FF2B5EF4-FFF2-40B4-BE49-F238E27FC236}">
                  <a16:creationId xmlns:a16="http://schemas.microsoft.com/office/drawing/2014/main" id="{9CBB130F-400A-3AED-0744-90F65F1A632D}"/>
                </a:ext>
              </a:extLst>
            </p:cNvPr>
            <p:cNvSpPr/>
            <p:nvPr/>
          </p:nvSpPr>
          <p:spPr>
            <a:xfrm>
              <a:off x="-636645" y="2021354"/>
              <a:ext cx="766947" cy="993819"/>
            </a:xfrm>
            <a:prstGeom prst="roundRect">
              <a:avLst/>
            </a:prstGeom>
            <a:solidFill>
              <a:srgbClr val="FFFF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365C695B-EFCD-7759-CDA1-3421ADAFDA16}"/>
                </a:ext>
              </a:extLst>
            </p:cNvPr>
            <p:cNvGrpSpPr/>
            <p:nvPr/>
          </p:nvGrpSpPr>
          <p:grpSpPr>
            <a:xfrm>
              <a:off x="-2208139" y="0"/>
              <a:ext cx="2018501" cy="5143500"/>
              <a:chOff x="-2208139" y="0"/>
              <a:chExt cx="2018501" cy="5143500"/>
            </a:xfrm>
          </p:grpSpPr>
          <p:sp>
            <p:nvSpPr>
              <p:cNvPr id="9" name="Rectangle: Rounded Corners 8">
                <a:extLst>
                  <a:ext uri="{FF2B5EF4-FFF2-40B4-BE49-F238E27FC236}">
                    <a16:creationId xmlns:a16="http://schemas.microsoft.com/office/drawing/2014/main" id="{EA6BDAF5-99FA-4F0D-94B6-0F6D4AE02E2A}"/>
                  </a:ext>
                </a:extLst>
              </p:cNvPr>
              <p:cNvSpPr/>
              <p:nvPr/>
            </p:nvSpPr>
            <p:spPr>
              <a:xfrm>
                <a:off x="-2208139" y="230075"/>
                <a:ext cx="2018501" cy="4913425"/>
              </a:xfrm>
              <a:prstGeom prst="roundRect">
                <a:avLst/>
              </a:prstGeom>
              <a:solidFill>
                <a:srgbClr val="FFFF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B6273914-E2E5-573E-FD30-D66CFFF45600}"/>
                  </a:ext>
                </a:extLst>
              </p:cNvPr>
              <p:cNvSpPr txBox="1"/>
              <p:nvPr/>
            </p:nvSpPr>
            <p:spPr>
              <a:xfrm>
                <a:off x="-2081074" y="983848"/>
                <a:ext cx="1764368" cy="2246769"/>
              </a:xfrm>
              <a:prstGeom prst="rect">
                <a:avLst/>
              </a:prstGeom>
              <a:solidFill>
                <a:schemeClr val="bg1"/>
              </a:solidFill>
              <a:ln w="3175">
                <a:solidFill>
                  <a:schemeClr val="accent6">
                    <a:lumMod val="10000"/>
                  </a:schemeClr>
                </a:solidFill>
              </a:ln>
            </p:spPr>
            <p:txBody>
              <a:bodyPr wrap="square" lIns="91440" rtlCol="0">
                <a:spAutoFit/>
              </a:bodyPr>
              <a:lstStyle/>
              <a:p>
                <a:r>
                  <a:rPr lang="en-US" sz="1400">
                    <a:ea typeface="Verdana"/>
                    <a:cs typeface="Arial"/>
                  </a:rPr>
                  <a:t>Communicate key activities to the collective during the immediate weeks ahead. Ideally the first week has been planned and invites sent with preparation materials.</a:t>
                </a:r>
              </a:p>
            </p:txBody>
          </p:sp>
          <p:sp>
            <p:nvSpPr>
              <p:cNvPr id="11" name="TextBox 10">
                <a:extLst>
                  <a:ext uri="{FF2B5EF4-FFF2-40B4-BE49-F238E27FC236}">
                    <a16:creationId xmlns:a16="http://schemas.microsoft.com/office/drawing/2014/main" id="{7672CA9A-0F6A-07CD-3F1D-6601EC5FE742}"/>
                  </a:ext>
                </a:extLst>
              </p:cNvPr>
              <p:cNvSpPr txBox="1"/>
              <p:nvPr/>
            </p:nvSpPr>
            <p:spPr>
              <a:xfrm>
                <a:off x="-1977605"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2" name="Group 11">
                <a:extLst>
                  <a:ext uri="{FF2B5EF4-FFF2-40B4-BE49-F238E27FC236}">
                    <a16:creationId xmlns:a16="http://schemas.microsoft.com/office/drawing/2014/main" id="{CCFF7C3C-8224-4EA2-0EC7-758590D597D4}"/>
                  </a:ext>
                </a:extLst>
              </p:cNvPr>
              <p:cNvGrpSpPr/>
              <p:nvPr/>
            </p:nvGrpSpPr>
            <p:grpSpPr>
              <a:xfrm>
                <a:off x="-1913726" y="4862278"/>
                <a:ext cx="1537258" cy="215444"/>
                <a:chOff x="-1907058" y="4862278"/>
                <a:chExt cx="1537258" cy="215444"/>
              </a:xfrm>
            </p:grpSpPr>
            <p:sp>
              <p:nvSpPr>
                <p:cNvPr id="16" name="TextBox 15">
                  <a:extLst>
                    <a:ext uri="{FF2B5EF4-FFF2-40B4-BE49-F238E27FC236}">
                      <a16:creationId xmlns:a16="http://schemas.microsoft.com/office/drawing/2014/main" id="{7876F83A-D77C-5315-4154-E8E1AB5BCFD0}"/>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7" name="Graphic 16" descr="Warning with solid fill">
                  <a:extLst>
                    <a:ext uri="{FF2B5EF4-FFF2-40B4-BE49-F238E27FC236}">
                      <a16:creationId xmlns:a16="http://schemas.microsoft.com/office/drawing/2014/main" id="{A11482CF-1366-0BBA-B8E3-060A236093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nvGrpSpPr>
              <p:cNvPr id="13" name="Group 12">
                <a:extLst>
                  <a:ext uri="{FF2B5EF4-FFF2-40B4-BE49-F238E27FC236}">
                    <a16:creationId xmlns:a16="http://schemas.microsoft.com/office/drawing/2014/main" id="{F259CA7B-D45E-61AE-CDF2-67637995C3CA}"/>
                  </a:ext>
                </a:extLst>
              </p:cNvPr>
              <p:cNvGrpSpPr/>
              <p:nvPr/>
            </p:nvGrpSpPr>
            <p:grpSpPr>
              <a:xfrm>
                <a:off x="-1468837" y="0"/>
                <a:ext cx="539895" cy="539895"/>
                <a:chOff x="-1468837" y="0"/>
                <a:chExt cx="539895" cy="539895"/>
              </a:xfrm>
            </p:grpSpPr>
            <p:sp>
              <p:nvSpPr>
                <p:cNvPr id="14" name="Oval 13">
                  <a:extLst>
                    <a:ext uri="{FF2B5EF4-FFF2-40B4-BE49-F238E27FC236}">
                      <a16:creationId xmlns:a16="http://schemas.microsoft.com/office/drawing/2014/main" id="{564D0D43-3459-7DA4-FBD5-17EA01D5E93D}"/>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5" name="Graphic 14" descr="Target Audience with solid fill">
                  <a:extLst>
                    <a:ext uri="{FF2B5EF4-FFF2-40B4-BE49-F238E27FC236}">
                      <a16:creationId xmlns:a16="http://schemas.microsoft.com/office/drawing/2014/main" id="{E4AD5656-C55E-93B9-D726-605D8934BF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9641" y="89196"/>
                  <a:ext cx="361503" cy="361503"/>
                </a:xfrm>
                <a:prstGeom prst="rect">
                  <a:avLst/>
                </a:prstGeom>
              </p:spPr>
            </p:pic>
          </p:grpSp>
        </p:grpSp>
      </p:grpSp>
    </p:spTree>
    <p:custDataLst>
      <p:tags r:id="rId1"/>
    </p:custDataLst>
    <p:extLst>
      <p:ext uri="{BB962C8B-B14F-4D97-AF65-F5344CB8AC3E}">
        <p14:creationId xmlns:p14="http://schemas.microsoft.com/office/powerpoint/2010/main" val="234016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CC5B-B187-961E-FBED-4DA1F5455A9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2033216-65A4-7A41-21D9-451CBF06D304}"/>
              </a:ext>
            </a:extLst>
          </p:cNvPr>
          <p:cNvSpPr>
            <a:spLocks noGrp="1"/>
          </p:cNvSpPr>
          <p:nvPr>
            <p:ph type="title"/>
          </p:nvPr>
        </p:nvSpPr>
        <p:spPr/>
        <p:txBody>
          <a:bodyPr/>
          <a:lstStyle/>
          <a:p>
            <a:r>
              <a:rPr lang="fr-FR"/>
              <a:t>Workshops Agenda, Participants, and Outcomes </a:t>
            </a:r>
          </a:p>
        </p:txBody>
      </p:sp>
      <p:graphicFrame>
        <p:nvGraphicFramePr>
          <p:cNvPr id="29" name="Content Placeholder 6">
            <a:extLst>
              <a:ext uri="{FF2B5EF4-FFF2-40B4-BE49-F238E27FC236}">
                <a16:creationId xmlns:a16="http://schemas.microsoft.com/office/drawing/2014/main" id="{FB41280E-A023-5D99-626F-804F01AC837D}"/>
              </a:ext>
            </a:extLst>
          </p:cNvPr>
          <p:cNvGraphicFramePr>
            <a:graphicFrameLocks/>
          </p:cNvGraphicFramePr>
          <p:nvPr/>
        </p:nvGraphicFramePr>
        <p:xfrm>
          <a:off x="227442" y="744132"/>
          <a:ext cx="8536715" cy="4223094"/>
        </p:xfrm>
        <a:graphic>
          <a:graphicData uri="http://schemas.openxmlformats.org/drawingml/2006/table">
            <a:tbl>
              <a:tblPr firstRow="1" bandRow="1">
                <a:tableStyleId>{F5AB1C69-6EDB-4FF4-983F-18BD219EF322}</a:tableStyleId>
              </a:tblPr>
              <a:tblGrid>
                <a:gridCol w="432630">
                  <a:extLst>
                    <a:ext uri="{9D8B030D-6E8A-4147-A177-3AD203B41FA5}">
                      <a16:colId xmlns:a16="http://schemas.microsoft.com/office/drawing/2014/main" val="318619860"/>
                    </a:ext>
                  </a:extLst>
                </a:gridCol>
                <a:gridCol w="1020806">
                  <a:extLst>
                    <a:ext uri="{9D8B030D-6E8A-4147-A177-3AD203B41FA5}">
                      <a16:colId xmlns:a16="http://schemas.microsoft.com/office/drawing/2014/main" val="2026150729"/>
                    </a:ext>
                  </a:extLst>
                </a:gridCol>
                <a:gridCol w="2346158">
                  <a:extLst>
                    <a:ext uri="{9D8B030D-6E8A-4147-A177-3AD203B41FA5}">
                      <a16:colId xmlns:a16="http://schemas.microsoft.com/office/drawing/2014/main" val="2022897790"/>
                    </a:ext>
                  </a:extLst>
                </a:gridCol>
                <a:gridCol w="1532657">
                  <a:extLst>
                    <a:ext uri="{9D8B030D-6E8A-4147-A177-3AD203B41FA5}">
                      <a16:colId xmlns:a16="http://schemas.microsoft.com/office/drawing/2014/main" val="3930715383"/>
                    </a:ext>
                  </a:extLst>
                </a:gridCol>
                <a:gridCol w="1846781">
                  <a:extLst>
                    <a:ext uri="{9D8B030D-6E8A-4147-A177-3AD203B41FA5}">
                      <a16:colId xmlns:a16="http://schemas.microsoft.com/office/drawing/2014/main" val="817247276"/>
                    </a:ext>
                  </a:extLst>
                </a:gridCol>
                <a:gridCol w="1357683">
                  <a:extLst>
                    <a:ext uri="{9D8B030D-6E8A-4147-A177-3AD203B41FA5}">
                      <a16:colId xmlns:a16="http://schemas.microsoft.com/office/drawing/2014/main" val="2256393854"/>
                    </a:ext>
                  </a:extLst>
                </a:gridCol>
              </a:tblGrid>
              <a:tr h="217329">
                <a:tc>
                  <a:txBody>
                    <a:bodyPr/>
                    <a:lstStyle/>
                    <a:p>
                      <a:pPr algn="ctr" rtl="0" fontAlgn="ctr"/>
                      <a:r>
                        <a:rPr lang="en-GB" sz="800" u="none" strike="noStrike">
                          <a:effectLst/>
                        </a:rPr>
                        <a:t>Session</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713532">
                <a:tc>
                  <a:txBody>
                    <a:bodyPr/>
                    <a:lstStyle/>
                    <a:p>
                      <a:pPr algn="ctr" rtl="0" fontAlgn="ctr"/>
                      <a:r>
                        <a:rPr lang="en-GB" sz="800" u="none" strike="noStrike">
                          <a:solidFill>
                            <a:schemeClr val="tx1"/>
                          </a:solidFill>
                          <a:effectLst/>
                        </a:rPr>
                        <a:t>0</a:t>
                      </a:r>
                    </a:p>
                  </a:txBody>
                  <a:tcPr marL="4711" marR="4711" marT="4711" marB="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Data &amp; Integrations </a:t>
                      </a:r>
                      <a:r>
                        <a:rPr lang="en-GB" sz="800" b="0" i="0">
                          <a:solidFill>
                            <a:schemeClr val="tx1"/>
                          </a:solidFill>
                          <a:effectLst/>
                          <a:latin typeface="Arial"/>
                        </a:rPr>
                        <a:t>​</a:t>
                      </a:r>
                    </a:p>
                  </a:txBody>
                  <a:tcPr marL="45720" marR="45720" anchor="ctr">
                    <a:solidFill>
                      <a:schemeClr val="bg2"/>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Confirm input and output data sources</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Identify source &amp; target systems</a:t>
                      </a:r>
                      <a:r>
                        <a:rPr lang="en-GB" sz="800" b="0" i="0">
                          <a:solidFill>
                            <a:schemeClr val="tx1"/>
                          </a:solidFill>
                          <a:effectLst/>
                          <a:latin typeface="Arial"/>
                        </a:rPr>
                        <a:t>​</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Review file structure &amp; format and interface approach</a:t>
                      </a:r>
                      <a:r>
                        <a:rPr lang="en-GB" sz="800" b="0" i="0">
                          <a:solidFill>
                            <a:schemeClr val="tx1"/>
                          </a:solidFill>
                          <a:effectLst/>
                          <a:latin typeface="Arial"/>
                        </a:rPr>
                        <a:t>​</a:t>
                      </a:r>
                    </a:p>
                    <a:p>
                      <a:pPr marL="171450" indent="-171450" algn="l" fontAlgn="base">
                        <a:lnSpc>
                          <a:spcPts val="1050"/>
                        </a:lnSpc>
                        <a:buFont typeface="Arial" panose="020B0604020202020204" pitchFamily="34" charset="0"/>
                        <a:buChar char="•"/>
                      </a:pPr>
                      <a:r>
                        <a:rPr lang="en-GB" sz="800" b="0" i="0">
                          <a:solidFill>
                            <a:schemeClr val="tx1"/>
                          </a:solidFill>
                          <a:effectLst/>
                          <a:latin typeface="Arial"/>
                        </a:rPr>
                        <a:t>Identify data owners</a:t>
                      </a:r>
                    </a:p>
                  </a:txBody>
                  <a:tcPr marL="45720" marR="4572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SMEs &amp; IT</a:t>
                      </a:r>
                      <a:r>
                        <a:rPr lang="en-GB" sz="800" b="0" i="0">
                          <a:solidFill>
                            <a:schemeClr val="tx1"/>
                          </a:solidFill>
                          <a:effectLst/>
                          <a:latin typeface="Arial"/>
                        </a:rPr>
                        <a:t>​</a:t>
                      </a:r>
                    </a:p>
                  </a:txBody>
                  <a:tcPr marL="45720" marR="45720" anchor="ctr">
                    <a:solidFill>
                      <a:schemeClr val="bg2"/>
                    </a:solidFill>
                  </a:tcPr>
                </a:tc>
                <a:tc>
                  <a:txBody>
                    <a:bodyPr/>
                    <a:lstStyle/>
                    <a:p>
                      <a:pPr algn="l" fontAlgn="base">
                        <a:lnSpc>
                          <a:spcPts val="1050"/>
                        </a:lnSpc>
                        <a:buNone/>
                      </a:pPr>
                      <a:endParaRPr lang="en-GB" sz="800" b="0" i="0">
                        <a:solidFill>
                          <a:schemeClr val="tx1"/>
                        </a:solidFill>
                        <a:effectLst/>
                        <a:latin typeface="Arial"/>
                      </a:endParaRPr>
                    </a:p>
                  </a:txBody>
                  <a:tcPr marL="45720" marR="4572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Anaplan standard templates with instructions</a:t>
                      </a:r>
                      <a:r>
                        <a:rPr lang="en-GB" sz="800" b="0" i="0">
                          <a:solidFill>
                            <a:schemeClr val="tx1"/>
                          </a:solidFill>
                          <a:effectLst/>
                          <a:latin typeface="Arial"/>
                        </a:rPr>
                        <a:t>​</a:t>
                      </a:r>
                    </a:p>
                    <a:p>
                      <a:pPr algn="l" fontAlgn="base">
                        <a:lnSpc>
                          <a:spcPts val="1050"/>
                        </a:lnSpc>
                        <a:buNone/>
                      </a:pPr>
                      <a:r>
                        <a:rPr lang="en-GB" sz="800" b="0" i="0">
                          <a:solidFill>
                            <a:schemeClr val="tx1"/>
                          </a:solidFill>
                          <a:effectLst/>
                          <a:latin typeface="Arial"/>
                        </a:rPr>
                        <a:t>​</a:t>
                      </a:r>
                    </a:p>
                  </a:txBody>
                  <a:tcPr marL="45720" marR="45720" anchor="ctr">
                    <a:solidFill>
                      <a:schemeClr val="bg2"/>
                    </a:solidFill>
                  </a:tcPr>
                </a:tc>
                <a:extLst>
                  <a:ext uri="{0D108BD9-81ED-4DB2-BD59-A6C34878D82A}">
                    <a16:rowId xmlns:a16="http://schemas.microsoft.com/office/drawing/2014/main" val="1485339405"/>
                  </a:ext>
                </a:extLst>
              </a:tr>
              <a:tr h="713532">
                <a:tc>
                  <a:txBody>
                    <a:bodyPr/>
                    <a:lstStyle/>
                    <a:p>
                      <a:pPr algn="ctr" rtl="0" fontAlgn="ctr"/>
                      <a:r>
                        <a:rPr lang="en-GB" sz="800" u="none" strike="noStrike">
                          <a:solidFill>
                            <a:schemeClr val="tx1"/>
                          </a:solidFill>
                          <a:effectLst/>
                        </a:rPr>
                        <a:t>1</a:t>
                      </a:r>
                    </a:p>
                  </a:txBody>
                  <a:tcPr marL="4711" marR="4711" marT="4711" marB="0" anchor="ctr">
                    <a:solidFill>
                      <a:schemeClr val="bg2"/>
                    </a:solidFill>
                  </a:tcPr>
                </a:tc>
                <a:tc>
                  <a:txBody>
                    <a:bodyPr/>
                    <a:lstStyle/>
                    <a:p>
                      <a:pPr algn="l" rtl="0" fontAlgn="ctr"/>
                      <a:r>
                        <a:rPr lang="en-GB" sz="800" u="none" strike="noStrike">
                          <a:solidFill>
                            <a:schemeClr val="tx1"/>
                          </a:solidFill>
                          <a:effectLst/>
                        </a:rPr>
                        <a:t>Solution Introduction &amp; Foundational Kick-Off</a:t>
                      </a: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Introduction to the implementation approach</a:t>
                      </a:r>
                      <a:endParaRPr lang="en-GB" sz="800" u="none" strike="noStrike">
                        <a:solidFill>
                          <a:srgbClr val="0A2F46"/>
                        </a:solidFill>
                        <a:effectLst/>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SIM/PM to lead</a:t>
                      </a:r>
                    </a:p>
                    <a:p>
                      <a:pPr lvl="0" algn="l">
                        <a:buNone/>
                      </a:pPr>
                      <a:r>
                        <a:rPr lang="en-GB" sz="800" u="none" strike="noStrike">
                          <a:solidFill>
                            <a:schemeClr val="tx1"/>
                          </a:solidFill>
                          <a:effectLst/>
                        </a:rPr>
                        <a:t>Project Team (Business users, SMEs, etc.) to attend</a:t>
                      </a:r>
                    </a:p>
                  </a:txBody>
                  <a:tcPr marL="45720" marR="45720" anchor="ctr">
                    <a:solidFill>
                      <a:schemeClr val="bg2"/>
                    </a:solidFill>
                  </a:tcPr>
                </a:tc>
                <a:tc>
                  <a:txBody>
                    <a:bodyPr/>
                    <a:lstStyle/>
                    <a:p>
                      <a:pPr algn="l" rtl="0" fontAlgn="ctr"/>
                      <a:endParaRPr lang="en-GB" sz="800" u="none" strike="noStrike">
                        <a:solidFill>
                          <a:schemeClr val="tx1"/>
                        </a:solidFill>
                        <a:effectLst/>
                      </a:endParaRPr>
                    </a:p>
                  </a:txBody>
                  <a:tcPr marL="45720" marR="45720" anchor="ctr">
                    <a:solidFill>
                      <a:schemeClr val="bg2"/>
                    </a:solidFill>
                  </a:tcPr>
                </a:tc>
                <a:tc>
                  <a:txBody>
                    <a:bodyPr/>
                    <a:lstStyle/>
                    <a:p>
                      <a:pPr lvl="0" algn="l">
                        <a:lnSpc>
                          <a:spcPct val="100000"/>
                        </a:lnSpc>
                        <a:spcBef>
                          <a:spcPts val="0"/>
                        </a:spcBef>
                        <a:spcAft>
                          <a:spcPts val="0"/>
                        </a:spcAft>
                        <a:buNone/>
                      </a:pPr>
                      <a:r>
                        <a:rPr lang="en-GB" sz="800" b="0" u="none" strike="noStrike" noProof="0">
                          <a:solidFill>
                            <a:schemeClr val="tx1"/>
                          </a:solidFill>
                          <a:effectLst/>
                        </a:rPr>
                        <a:t>Project Kick-Off Deck and list of Foundation Workshops</a:t>
                      </a:r>
                      <a:endParaRPr lang="en-GB" sz="800" b="0" i="0" u="none" strike="noStrike" noProof="0">
                        <a:solidFill>
                          <a:schemeClr val="tx1"/>
                        </a:solidFill>
                        <a:effectLst/>
                        <a:latin typeface="Arial"/>
                      </a:endParaRPr>
                    </a:p>
                  </a:txBody>
                  <a:tcPr marL="45720" marR="45720" anchor="ctr">
                    <a:solidFill>
                      <a:schemeClr val="bg2"/>
                    </a:solidFill>
                  </a:tcPr>
                </a:tc>
                <a:extLst>
                  <a:ext uri="{0D108BD9-81ED-4DB2-BD59-A6C34878D82A}">
                    <a16:rowId xmlns:a16="http://schemas.microsoft.com/office/drawing/2014/main" val="3612544707"/>
                  </a:ext>
                </a:extLst>
              </a:tr>
              <a:tr h="1013966">
                <a:tc>
                  <a:txBody>
                    <a:bodyPr/>
                    <a:lstStyle/>
                    <a:p>
                      <a:pPr algn="ctr" rtl="0" fontAlgn="ctr"/>
                      <a:r>
                        <a:rPr lang="en-GB" sz="800" u="none" strike="noStrike">
                          <a:solidFill>
                            <a:schemeClr val="tx1"/>
                          </a:solidFill>
                          <a:effectLst/>
                        </a:rPr>
                        <a:t>2</a:t>
                      </a:r>
                    </a:p>
                  </a:txBody>
                  <a:tcPr marL="4711" marR="4711" marT="4711" marB="0" anchor="ctr">
                    <a:solidFill>
                      <a:schemeClr val="bg2"/>
                    </a:solidFill>
                  </a:tcPr>
                </a:tc>
                <a:tc>
                  <a:txBody>
                    <a:bodyPr/>
                    <a:lstStyle/>
                    <a:p>
                      <a:pPr algn="l" rtl="0" fontAlgn="ctr"/>
                      <a:r>
                        <a:rPr lang="en-GB" sz="800" u="none" strike="noStrike" dirty="0">
                          <a:solidFill>
                            <a:schemeClr val="tx1"/>
                          </a:solidFill>
                          <a:effectLst/>
                        </a:rPr>
                        <a:t>Fitting T&amp;Q Process to App Functionality (Demo)</a:t>
                      </a: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High level overview of the base app functionality, key capabilities, user roles, interaction with other systems, cadence &amp; granularity</a:t>
                      </a:r>
                    </a:p>
                    <a:p>
                      <a:pPr marL="171450" indent="-171450" algn="l" rtl="0" fontAlgn="ctr">
                        <a:buFont typeface="Arial" panose="020B0604020202020204" pitchFamily="34" charset="0"/>
                        <a:buChar char="•"/>
                      </a:pPr>
                      <a:r>
                        <a:rPr lang="en-GB" sz="800" u="none" strike="noStrike">
                          <a:solidFill>
                            <a:schemeClr val="tx1"/>
                          </a:solidFill>
                          <a:effectLst/>
                        </a:rPr>
                        <a:t>High level functional fit assessment, key gaps to be addressed</a:t>
                      </a:r>
                    </a:p>
                  </a:txBody>
                  <a:tcPr marL="45720" marR="45720" anchor="ctr">
                    <a:solidFill>
                      <a:schemeClr val="bg2"/>
                    </a:solidFill>
                  </a:tcPr>
                </a:tc>
                <a:tc>
                  <a:txBody>
                    <a:bodyPr/>
                    <a:lstStyle/>
                    <a:p>
                      <a:pPr algn="l" rtl="0" fontAlgn="ctr"/>
                      <a:r>
                        <a:rPr lang="en-GB" sz="800" b="0" u="none" strike="noStrike">
                          <a:solidFill>
                            <a:schemeClr val="tx1"/>
                          </a:solidFill>
                          <a:effectLst/>
                        </a:rPr>
                        <a:t>Customer Process Owners, SMEs, T&amp;Q Stakeholders &amp; Data + IT for high level end to end process</a:t>
                      </a:r>
                    </a:p>
                  </a:txBody>
                  <a:tcPr marL="45720" marR="45720" anchor="ctr">
                    <a:solidFill>
                      <a:schemeClr val="bg2"/>
                    </a:solidFill>
                  </a:tcPr>
                </a:tc>
                <a:tc>
                  <a:txBody>
                    <a:bodyPr/>
                    <a:lstStyle/>
                    <a:p>
                      <a:pPr lvl="0" algn="l">
                        <a:buNone/>
                      </a:pPr>
                      <a:r>
                        <a:rPr lang="en-GB" sz="800" u="none" strike="noStrike">
                          <a:solidFill>
                            <a:schemeClr val="tx1"/>
                          </a:solidFill>
                          <a:effectLst/>
                        </a:rPr>
                        <a:t>List of Proposed Data Sources </a:t>
                      </a:r>
                    </a:p>
                    <a:p>
                      <a:pPr lvl="0" algn="l">
                        <a:buNone/>
                      </a:pPr>
                      <a:r>
                        <a:rPr lang="en-GB" sz="800" u="none" strike="noStrike">
                          <a:solidFill>
                            <a:schemeClr val="tx1"/>
                          </a:solidFill>
                          <a:effectLst/>
                        </a:rPr>
                        <a:t>User Personas</a:t>
                      </a:r>
                    </a:p>
                  </a:txBody>
                  <a:tcPr marL="45720" marR="45720" anchor="ctr">
                    <a:solidFill>
                      <a:schemeClr val="bg2"/>
                    </a:solidFill>
                  </a:tcPr>
                </a:tc>
                <a:tc>
                  <a:txBody>
                    <a:bodyPr/>
                    <a:lstStyle/>
                    <a:p>
                      <a:pPr lvl="0" algn="l">
                        <a:buNone/>
                      </a:pPr>
                      <a:r>
                        <a:rPr lang="en-GB" sz="800" b="0" u="none" strike="noStrike">
                          <a:solidFill>
                            <a:schemeClr val="tx1"/>
                          </a:solidFill>
                          <a:effectLst/>
                        </a:rPr>
                        <a:t>T&amp;Q App Demo Prepared, T&amp;Q </a:t>
                      </a:r>
                      <a:r>
                        <a:rPr lang="en-GB" sz="800" u="none" strike="noStrike">
                          <a:solidFill>
                            <a:schemeClr val="tx1"/>
                          </a:solidFill>
                          <a:effectLst/>
                        </a:rPr>
                        <a:t>App and L1/L2 Process Flows</a:t>
                      </a:r>
                    </a:p>
                  </a:txBody>
                  <a:tcPr marL="45720" marR="45720" anchor="ctr">
                    <a:solidFill>
                      <a:schemeClr val="bg2"/>
                    </a:solidFill>
                  </a:tcPr>
                </a:tc>
                <a:extLst>
                  <a:ext uri="{0D108BD9-81ED-4DB2-BD59-A6C34878D82A}">
                    <a16:rowId xmlns:a16="http://schemas.microsoft.com/office/drawing/2014/main" val="3294064948"/>
                  </a:ext>
                </a:extLst>
              </a:tr>
              <a:tr h="713532">
                <a:tc>
                  <a:txBody>
                    <a:bodyPr/>
                    <a:lstStyle/>
                    <a:p>
                      <a:pPr algn="ctr" rtl="0" fontAlgn="ctr"/>
                      <a:r>
                        <a:rPr lang="en-GB" sz="800" u="none" strike="noStrike">
                          <a:solidFill>
                            <a:schemeClr val="tx1"/>
                          </a:solidFill>
                          <a:effectLst/>
                        </a:rPr>
                        <a:t>3</a:t>
                      </a:r>
                    </a:p>
                  </a:txBody>
                  <a:tcPr marL="4711" marR="4711" marT="4711" marB="0" anchor="ctr">
                    <a:solidFill>
                      <a:srgbClr val="F2F1EE">
                        <a:alpha val="60000"/>
                      </a:srgbClr>
                    </a:solidFill>
                  </a:tcPr>
                </a:tc>
                <a:tc>
                  <a:txBody>
                    <a:bodyPr/>
                    <a:lstStyle/>
                    <a:p>
                      <a:pPr algn="l" rtl="0" fontAlgn="ctr"/>
                      <a:r>
                        <a:rPr lang="en-GB" sz="800" u="none" strike="noStrike" dirty="0">
                          <a:solidFill>
                            <a:schemeClr val="tx1"/>
                          </a:solidFill>
                          <a:effectLst/>
                        </a:rPr>
                        <a:t>First review; dimensions &amp; hierarchies</a:t>
                      </a:r>
                    </a:p>
                  </a:txBody>
                  <a:tcPr marL="45720" marR="45720" anchor="ctr">
                    <a:solidFill>
                      <a:srgbClr val="F2F1EE">
                        <a:alpha val="60000"/>
                      </a:srgbClr>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Understanding of client dimensions and hierarchies</a:t>
                      </a:r>
                    </a:p>
                    <a:p>
                      <a:pPr marL="171450" indent="-171450" algn="l" rtl="0" fontAlgn="ctr">
                        <a:buFont typeface="Arial" panose="020B0604020202020204" pitchFamily="34" charset="0"/>
                        <a:buChar char="•"/>
                      </a:pPr>
                      <a:r>
                        <a:rPr lang="en-GB" sz="800" u="none" strike="noStrike">
                          <a:solidFill>
                            <a:schemeClr val="tx1"/>
                          </a:solidFill>
                          <a:effectLst/>
                        </a:rPr>
                        <a:t>First pass goal/target/assignment setting rules within the model</a:t>
                      </a:r>
                    </a:p>
                  </a:txBody>
                  <a:tcPr marL="45720" marR="45720" anchor="ctr">
                    <a:solidFill>
                      <a:srgbClr val="F2F1EE">
                        <a:alpha val="60000"/>
                      </a:srgbClr>
                    </a:solidFill>
                  </a:tcPr>
                </a:tc>
                <a:tc>
                  <a:txBody>
                    <a:bodyPr/>
                    <a:lstStyle/>
                    <a:p>
                      <a:pPr algn="l" rtl="0" fontAlgn="ctr"/>
                      <a:r>
                        <a:rPr lang="en-GB" sz="800" u="none" strike="noStrike">
                          <a:solidFill>
                            <a:schemeClr val="tx1"/>
                          </a:solidFill>
                          <a:effectLst/>
                        </a:rPr>
                        <a:t>Project Team (SMEs, T&amp;Q Stakeholders, Data </a:t>
                      </a:r>
                      <a:r>
                        <a:rPr lang="en-GB" sz="800" b="0" u="none" strike="noStrike" noProof="0">
                          <a:solidFill>
                            <a:schemeClr val="tx1"/>
                          </a:solidFill>
                          <a:effectLst/>
                        </a:rPr>
                        <a:t>Modelling Team </a:t>
                      </a:r>
                      <a:r>
                        <a:rPr lang="en-GB" sz="800" u="none" strike="noStrike">
                          <a:solidFill>
                            <a:schemeClr val="tx1"/>
                          </a:solidFill>
                          <a:effectLst/>
                        </a:rPr>
                        <a:t>+ IT etc.)</a:t>
                      </a:r>
                    </a:p>
                  </a:txBody>
                  <a:tcPr marL="45720" marR="45720" anchor="ctr">
                    <a:solidFill>
                      <a:srgbClr val="F2F1EE">
                        <a:alpha val="60000"/>
                      </a:srgbClr>
                    </a:solidFill>
                  </a:tcPr>
                </a:tc>
                <a:tc>
                  <a:txBody>
                    <a:bodyPr/>
                    <a:lstStyle/>
                    <a:p>
                      <a:pPr algn="l" rtl="0" fontAlgn="ctr"/>
                      <a:r>
                        <a:rPr lang="en-GB" sz="800" u="none" strike="noStrike">
                          <a:solidFill>
                            <a:schemeClr val="tx1"/>
                          </a:solidFill>
                          <a:effectLst/>
                        </a:rPr>
                        <a:t>Desired Goal/Target/Assignment Setting Rules</a:t>
                      </a:r>
                    </a:p>
                  </a:txBody>
                  <a:tcPr marL="45720" marR="45720" anchor="ctr">
                    <a:solidFill>
                      <a:srgbClr val="F2F1EE">
                        <a:alpha val="60000"/>
                      </a:srgbClr>
                    </a:solidFill>
                  </a:tcPr>
                </a:tc>
                <a:tc>
                  <a:txBody>
                    <a:bodyPr/>
                    <a:lstStyle/>
                    <a:p>
                      <a:pPr lvl="0" algn="l">
                        <a:buNone/>
                      </a:pPr>
                      <a:r>
                        <a:rPr lang="en-GB" sz="800" b="0" u="none" strike="noStrike" noProof="0">
                          <a:solidFill>
                            <a:schemeClr val="tx1"/>
                          </a:solidFill>
                          <a:effectLst/>
                        </a:rPr>
                        <a:t>Presentation of session content (supporting slides as needed); examples of customer’s hierarchies</a:t>
                      </a:r>
                      <a:endParaRPr lang="en-US" sz="800" i="0">
                        <a:solidFill>
                          <a:schemeClr val="tx1"/>
                        </a:solidFill>
                      </a:endParaRPr>
                    </a:p>
                  </a:txBody>
                  <a:tcPr marL="45720" marR="45720" anchor="ctr">
                    <a:solidFill>
                      <a:srgbClr val="F2F1EE">
                        <a:alpha val="60000"/>
                      </a:srgbClr>
                    </a:solidFill>
                  </a:tcPr>
                </a:tc>
                <a:extLst>
                  <a:ext uri="{0D108BD9-81ED-4DB2-BD59-A6C34878D82A}">
                    <a16:rowId xmlns:a16="http://schemas.microsoft.com/office/drawing/2014/main" val="1936566769"/>
                  </a:ext>
                </a:extLst>
              </a:tr>
              <a:tr h="786606">
                <a:tc>
                  <a:txBody>
                    <a:bodyPr/>
                    <a:lstStyle/>
                    <a:p>
                      <a:pPr algn="ctr" rtl="0" fontAlgn="ctr"/>
                      <a:r>
                        <a:rPr lang="en-GB" sz="800" u="none" strike="noStrike">
                          <a:solidFill>
                            <a:schemeClr val="tx1"/>
                          </a:solidFill>
                          <a:effectLst/>
                        </a:rPr>
                        <a:t>4</a:t>
                      </a:r>
                    </a:p>
                  </a:txBody>
                  <a:tcPr marL="4711" marR="4711" marT="4711" marB="0" anchor="ctr">
                    <a:solidFill>
                      <a:srgbClr val="F2F1EE">
                        <a:alpha val="60000"/>
                      </a:srgbClr>
                    </a:solidFill>
                  </a:tcPr>
                </a:tc>
                <a:tc>
                  <a:txBody>
                    <a:bodyPr/>
                    <a:lstStyle/>
                    <a:p>
                      <a:pPr algn="l" fontAlgn="base">
                        <a:lnSpc>
                          <a:spcPts val="1050"/>
                        </a:lnSpc>
                        <a:buNone/>
                      </a:pPr>
                      <a:r>
                        <a:rPr lang="en-GB" sz="800" b="0" i="0" u="none" strike="noStrike" dirty="0">
                          <a:solidFill>
                            <a:schemeClr val="tx1"/>
                          </a:solidFill>
                          <a:effectLst/>
                          <a:latin typeface="Arial"/>
                        </a:rPr>
                        <a:t>Data &amp; Integrations Deep Dive </a:t>
                      </a:r>
                      <a:r>
                        <a:rPr lang="en-GB" sz="800" b="0" i="0" dirty="0">
                          <a:solidFill>
                            <a:schemeClr val="tx1"/>
                          </a:solidFill>
                          <a:effectLst/>
                          <a:latin typeface="Arial"/>
                        </a:rPr>
                        <a:t>​</a:t>
                      </a:r>
                    </a:p>
                  </a:txBody>
                  <a:tcPr marL="45720" marR="45720" anchor="ctr">
                    <a:solidFill>
                      <a:srgbClr val="F2F1EE">
                        <a:alpha val="60000"/>
                      </a:srgbClr>
                    </a:solidFill>
                  </a:tcPr>
                </a:tc>
                <a:tc>
                  <a:txBody>
                    <a:bodyPr/>
                    <a:lstStyle/>
                    <a:p>
                      <a:pPr marL="171450" indent="-171450" algn="l" fontAlgn="base">
                        <a:lnSpc>
                          <a:spcPts val="1050"/>
                        </a:lnSpc>
                        <a:buFont typeface="Arial" panose="020B0604020202020204" pitchFamily="34" charset="0"/>
                        <a:buChar char="•"/>
                      </a:pPr>
                      <a:r>
                        <a:rPr lang="en-GB" sz="800" b="0" i="0" u="none" strike="noStrike" dirty="0">
                          <a:solidFill>
                            <a:schemeClr val="tx1"/>
                          </a:solidFill>
                          <a:effectLst/>
                          <a:latin typeface="Arial"/>
                        </a:rPr>
                        <a:t>Deep dive on customer pre-filled data templates</a:t>
                      </a:r>
                      <a:endParaRPr lang="en-GB" sz="800" b="0" i="0" dirty="0">
                        <a:solidFill>
                          <a:schemeClr val="tx1"/>
                        </a:solidFill>
                        <a:effectLst/>
                        <a:latin typeface="Arial"/>
                      </a:endParaRPr>
                    </a:p>
                  </a:txBody>
                  <a:tcPr marL="45720" marR="4572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SMEs &amp; IT</a:t>
                      </a:r>
                      <a:r>
                        <a:rPr lang="en-GB" sz="800" b="0" i="0">
                          <a:solidFill>
                            <a:schemeClr val="tx1"/>
                          </a:solidFill>
                          <a:effectLst/>
                          <a:latin typeface="Arial"/>
                        </a:rPr>
                        <a:t>​</a:t>
                      </a:r>
                    </a:p>
                  </a:txBody>
                  <a:tcPr marL="45720" marR="4572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Customer to provide pre-filled templates (T&amp;Q Planning App Data Prep Workbook)</a:t>
                      </a:r>
                      <a:endParaRPr lang="en-GB" sz="800" b="0" i="0">
                        <a:solidFill>
                          <a:schemeClr val="tx1"/>
                        </a:solidFill>
                        <a:effectLst/>
                        <a:latin typeface="Arial"/>
                      </a:endParaRPr>
                    </a:p>
                  </a:txBody>
                  <a:tcPr marL="45720" marR="45720" anchor="ctr">
                    <a:solidFill>
                      <a:srgbClr val="F2F1EE">
                        <a:alpha val="60000"/>
                      </a:srgbClr>
                    </a:solidFill>
                  </a:tcPr>
                </a:tc>
                <a:tc>
                  <a:txBody>
                    <a:bodyPr/>
                    <a:lstStyle/>
                    <a:p>
                      <a:pPr algn="l" fontAlgn="base">
                        <a:lnSpc>
                          <a:spcPts val="1050"/>
                        </a:lnSpc>
                        <a:buNone/>
                      </a:pPr>
                      <a:r>
                        <a:rPr lang="en-GB" sz="800" b="0" i="0" dirty="0">
                          <a:solidFill>
                            <a:schemeClr val="tx1"/>
                          </a:solidFill>
                          <a:effectLst/>
                          <a:latin typeface="Arial"/>
                        </a:rPr>
                        <a:t>​</a:t>
                      </a:r>
                    </a:p>
                    <a:p>
                      <a:pPr algn="l" fontAlgn="base">
                        <a:lnSpc>
                          <a:spcPts val="1050"/>
                        </a:lnSpc>
                        <a:buNone/>
                      </a:pPr>
                      <a:r>
                        <a:rPr lang="en-GB" sz="800" b="0" i="0" dirty="0">
                          <a:solidFill>
                            <a:schemeClr val="tx1"/>
                          </a:solidFill>
                          <a:effectLst/>
                          <a:latin typeface="Arial"/>
                        </a:rPr>
                        <a:t>​</a:t>
                      </a:r>
                    </a:p>
                  </a:txBody>
                  <a:tcPr marL="45720" marR="45720" anchor="ctr">
                    <a:solidFill>
                      <a:srgbClr val="F2F1EE">
                        <a:alpha val="60000"/>
                      </a:srgbClr>
                    </a:solidFill>
                  </a:tcPr>
                </a:tc>
                <a:extLst>
                  <a:ext uri="{0D108BD9-81ED-4DB2-BD59-A6C34878D82A}">
                    <a16:rowId xmlns:a16="http://schemas.microsoft.com/office/drawing/2014/main" val="1466951726"/>
                  </a:ext>
                </a:extLst>
              </a:tr>
            </a:tbl>
          </a:graphicData>
        </a:graphic>
      </p:graphicFrame>
      <p:grpSp>
        <p:nvGrpSpPr>
          <p:cNvPr id="2" name="Group 1">
            <a:extLst>
              <a:ext uri="{FF2B5EF4-FFF2-40B4-BE49-F238E27FC236}">
                <a16:creationId xmlns:a16="http://schemas.microsoft.com/office/drawing/2014/main" id="{4C272692-5341-40EB-984D-8457895F74AA}"/>
              </a:ext>
            </a:extLst>
          </p:cNvPr>
          <p:cNvGrpSpPr/>
          <p:nvPr/>
        </p:nvGrpSpPr>
        <p:grpSpPr>
          <a:xfrm>
            <a:off x="-2187969" y="0"/>
            <a:ext cx="2318271" cy="5143500"/>
            <a:chOff x="-2187969" y="0"/>
            <a:chExt cx="2318271" cy="5143500"/>
          </a:xfrm>
        </p:grpSpPr>
        <p:sp>
          <p:nvSpPr>
            <p:cNvPr id="4" name="Rectangle: Rounded Corners 3">
              <a:extLst>
                <a:ext uri="{FF2B5EF4-FFF2-40B4-BE49-F238E27FC236}">
                  <a16:creationId xmlns:a16="http://schemas.microsoft.com/office/drawing/2014/main" id="{27277348-B562-78F4-850E-D810217EA6EA}"/>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A350B37D-A45A-D84B-DEF5-961AEA890931}"/>
                </a:ext>
              </a:extLst>
            </p:cNvPr>
            <p:cNvGrpSpPr/>
            <p:nvPr/>
          </p:nvGrpSpPr>
          <p:grpSpPr>
            <a:xfrm>
              <a:off x="-2187969" y="0"/>
              <a:ext cx="2018501" cy="5143500"/>
              <a:chOff x="-2187969" y="0"/>
              <a:chExt cx="2018501" cy="5143500"/>
            </a:xfrm>
          </p:grpSpPr>
          <p:sp>
            <p:nvSpPr>
              <p:cNvPr id="6" name="Rectangle: Rounded Corners 5">
                <a:extLst>
                  <a:ext uri="{FF2B5EF4-FFF2-40B4-BE49-F238E27FC236}">
                    <a16:creationId xmlns:a16="http://schemas.microsoft.com/office/drawing/2014/main" id="{DB7CBF22-892A-E045-98E8-43D9845C58E4}"/>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7" name="TextBox 6">
                <a:extLst>
                  <a:ext uri="{FF2B5EF4-FFF2-40B4-BE49-F238E27FC236}">
                    <a16:creationId xmlns:a16="http://schemas.microsoft.com/office/drawing/2014/main" id="{8C286A97-28A8-133C-EE7B-1A86258F6B3E}"/>
                  </a:ext>
                </a:extLst>
              </p:cNvPr>
              <p:cNvSpPr txBox="1"/>
              <p:nvPr/>
            </p:nvSpPr>
            <p:spPr>
              <a:xfrm>
                <a:off x="-2060903" y="983848"/>
                <a:ext cx="1764368" cy="1384995"/>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Replace any application-specific examples with those relevant to the deployed applications.</a:t>
                </a:r>
              </a:p>
            </p:txBody>
          </p:sp>
          <p:sp>
            <p:nvSpPr>
              <p:cNvPr id="8" name="TextBox 7">
                <a:extLst>
                  <a:ext uri="{FF2B5EF4-FFF2-40B4-BE49-F238E27FC236}">
                    <a16:creationId xmlns:a16="http://schemas.microsoft.com/office/drawing/2014/main" id="{3F88FF0A-7826-199C-BE13-5124B8968044}"/>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9" name="Group 8">
                <a:extLst>
                  <a:ext uri="{FF2B5EF4-FFF2-40B4-BE49-F238E27FC236}">
                    <a16:creationId xmlns:a16="http://schemas.microsoft.com/office/drawing/2014/main" id="{B72B8BA1-6FD3-12BC-EA24-EBD31D8C96F8}"/>
                  </a:ext>
                </a:extLst>
              </p:cNvPr>
              <p:cNvGrpSpPr/>
              <p:nvPr/>
            </p:nvGrpSpPr>
            <p:grpSpPr>
              <a:xfrm>
                <a:off x="-1448666" y="0"/>
                <a:ext cx="539895" cy="539895"/>
                <a:chOff x="-1468837" y="0"/>
                <a:chExt cx="539895" cy="539895"/>
              </a:xfrm>
            </p:grpSpPr>
            <p:sp>
              <p:nvSpPr>
                <p:cNvPr id="13" name="Oval 12">
                  <a:extLst>
                    <a:ext uri="{FF2B5EF4-FFF2-40B4-BE49-F238E27FC236}">
                      <a16:creationId xmlns:a16="http://schemas.microsoft.com/office/drawing/2014/main" id="{B17D59CC-5EB0-0321-4B9F-FF0E0E4BE4FA}"/>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4" name="Graphic 13" descr="Single gear with solid fill">
                  <a:extLst>
                    <a:ext uri="{FF2B5EF4-FFF2-40B4-BE49-F238E27FC236}">
                      <a16:creationId xmlns:a16="http://schemas.microsoft.com/office/drawing/2014/main" id="{1E106E2D-7D43-8526-2824-C8B1AE756E4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379641" y="89196"/>
                  <a:ext cx="361503" cy="361503"/>
                </a:xfrm>
                <a:prstGeom prst="rect">
                  <a:avLst/>
                </a:prstGeom>
              </p:spPr>
            </p:pic>
          </p:grpSp>
          <p:grpSp>
            <p:nvGrpSpPr>
              <p:cNvPr id="10" name="Group 9">
                <a:extLst>
                  <a:ext uri="{FF2B5EF4-FFF2-40B4-BE49-F238E27FC236}">
                    <a16:creationId xmlns:a16="http://schemas.microsoft.com/office/drawing/2014/main" id="{E3B86F83-06F2-63EA-6F4A-AAA52D2ECD21}"/>
                  </a:ext>
                </a:extLst>
              </p:cNvPr>
              <p:cNvGrpSpPr/>
              <p:nvPr/>
            </p:nvGrpSpPr>
            <p:grpSpPr>
              <a:xfrm>
                <a:off x="-1913726" y="4862278"/>
                <a:ext cx="1537258" cy="215444"/>
                <a:chOff x="-1907058" y="4862278"/>
                <a:chExt cx="1537258" cy="215444"/>
              </a:xfrm>
            </p:grpSpPr>
            <p:sp>
              <p:nvSpPr>
                <p:cNvPr id="11" name="TextBox 10">
                  <a:extLst>
                    <a:ext uri="{FF2B5EF4-FFF2-40B4-BE49-F238E27FC236}">
                      <a16:creationId xmlns:a16="http://schemas.microsoft.com/office/drawing/2014/main" id="{87295E12-1BE0-4A28-F093-F560426BF8BE}"/>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2" name="Graphic 11" descr="Warning with solid fill">
                  <a:extLst>
                    <a:ext uri="{FF2B5EF4-FFF2-40B4-BE49-F238E27FC236}">
                      <a16:creationId xmlns:a16="http://schemas.microsoft.com/office/drawing/2014/main" id="{8F92C97D-E4E5-33B6-A311-D2F48D8BE0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290307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13DA-988B-3131-23CF-30D8CE3F2C9F}"/>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D52EFF8-62B8-F74F-DA38-860AE00CDFF6}"/>
              </a:ext>
            </a:extLst>
          </p:cNvPr>
          <p:cNvSpPr>
            <a:spLocks noGrp="1"/>
          </p:cNvSpPr>
          <p:nvPr>
            <p:ph type="title"/>
          </p:nvPr>
        </p:nvSpPr>
        <p:spPr>
          <a:xfrm>
            <a:off x="267769" y="269947"/>
            <a:ext cx="8153401" cy="338554"/>
          </a:xfrm>
        </p:spPr>
        <p:txBody>
          <a:bodyPr/>
          <a:lstStyle/>
          <a:p>
            <a:r>
              <a:rPr lang="fr-FR"/>
              <a:t>Workshops Agenda, Participants, and Outcomes</a:t>
            </a:r>
          </a:p>
        </p:txBody>
      </p:sp>
      <p:sp>
        <p:nvSpPr>
          <p:cNvPr id="5" name="Rectangle 1">
            <a:extLst>
              <a:ext uri="{FF2B5EF4-FFF2-40B4-BE49-F238E27FC236}">
                <a16:creationId xmlns:a16="http://schemas.microsoft.com/office/drawing/2014/main" id="{E66AA076-CEDD-D662-E9E8-239D23A9D913}"/>
              </a:ext>
            </a:extLst>
          </p:cNvPr>
          <p:cNvSpPr>
            <a:spLocks noChangeArrowheads="1"/>
          </p:cNvSpPr>
          <p:nvPr/>
        </p:nvSpPr>
        <p:spPr bwMode="auto">
          <a:xfrm>
            <a:off x="628650" y="9349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FR" altLang="en-FR" sz="1800" b="0" i="0" u="none" strike="noStrike" cap="none" normalizeH="0" baseline="0">
                <a:ln>
                  <a:noFill/>
                </a:ln>
                <a:solidFill>
                  <a:srgbClr val="000000"/>
                </a:solidFill>
                <a:effectLst/>
                <a:latin typeface="Times"/>
              </a:rPr>
              <a:t> </a:t>
            </a:r>
            <a:endParaRPr kumimoji="0" lang="en-FR" altLang="en-FR"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FR" altLang="en-FR" sz="1800" b="0" i="0" u="none" strike="noStrike" cap="none" normalizeH="0" baseline="0">
              <a:ln>
                <a:noFill/>
              </a:ln>
              <a:solidFill>
                <a:schemeClr val="tx1"/>
              </a:solidFill>
              <a:effectLst/>
              <a:latin typeface="Arial" panose="020B0604020202020204" pitchFamily="34" charset="0"/>
            </a:endParaRPr>
          </a:p>
        </p:txBody>
      </p:sp>
      <p:graphicFrame>
        <p:nvGraphicFramePr>
          <p:cNvPr id="6" name="Content Placeholder 6">
            <a:extLst>
              <a:ext uri="{FF2B5EF4-FFF2-40B4-BE49-F238E27FC236}">
                <a16:creationId xmlns:a16="http://schemas.microsoft.com/office/drawing/2014/main" id="{1A04A808-3DA8-1D28-4CD6-8944CC0EBA8E}"/>
              </a:ext>
            </a:extLst>
          </p:cNvPr>
          <p:cNvGraphicFramePr>
            <a:graphicFrameLocks/>
          </p:cNvGraphicFramePr>
          <p:nvPr/>
        </p:nvGraphicFramePr>
        <p:xfrm>
          <a:off x="216150" y="727777"/>
          <a:ext cx="8559299" cy="2552814"/>
        </p:xfrm>
        <a:graphic>
          <a:graphicData uri="http://schemas.openxmlformats.org/drawingml/2006/table">
            <a:tbl>
              <a:tblPr firstRow="1" bandRow="1">
                <a:tableStyleId>{F5AB1C69-6EDB-4FF4-983F-18BD219EF322}</a:tableStyleId>
              </a:tblPr>
              <a:tblGrid>
                <a:gridCol w="463343">
                  <a:extLst>
                    <a:ext uri="{9D8B030D-6E8A-4147-A177-3AD203B41FA5}">
                      <a16:colId xmlns:a16="http://schemas.microsoft.com/office/drawing/2014/main" val="318619860"/>
                    </a:ext>
                  </a:extLst>
                </a:gridCol>
                <a:gridCol w="993939">
                  <a:extLst>
                    <a:ext uri="{9D8B030D-6E8A-4147-A177-3AD203B41FA5}">
                      <a16:colId xmlns:a16="http://schemas.microsoft.com/office/drawing/2014/main" val="2026150729"/>
                    </a:ext>
                  </a:extLst>
                </a:gridCol>
                <a:gridCol w="2352366">
                  <a:extLst>
                    <a:ext uri="{9D8B030D-6E8A-4147-A177-3AD203B41FA5}">
                      <a16:colId xmlns:a16="http://schemas.microsoft.com/office/drawing/2014/main" val="2022897790"/>
                    </a:ext>
                  </a:extLst>
                </a:gridCol>
                <a:gridCol w="1536711">
                  <a:extLst>
                    <a:ext uri="{9D8B030D-6E8A-4147-A177-3AD203B41FA5}">
                      <a16:colId xmlns:a16="http://schemas.microsoft.com/office/drawing/2014/main" val="3930715383"/>
                    </a:ext>
                  </a:extLst>
                </a:gridCol>
                <a:gridCol w="1851666">
                  <a:extLst>
                    <a:ext uri="{9D8B030D-6E8A-4147-A177-3AD203B41FA5}">
                      <a16:colId xmlns:a16="http://schemas.microsoft.com/office/drawing/2014/main" val="817247276"/>
                    </a:ext>
                  </a:extLst>
                </a:gridCol>
                <a:gridCol w="1361274">
                  <a:extLst>
                    <a:ext uri="{9D8B030D-6E8A-4147-A177-3AD203B41FA5}">
                      <a16:colId xmlns:a16="http://schemas.microsoft.com/office/drawing/2014/main" val="2256393854"/>
                    </a:ext>
                  </a:extLst>
                </a:gridCol>
              </a:tblGrid>
              <a:tr h="176390">
                <a:tc>
                  <a:txBody>
                    <a:bodyPr/>
                    <a:lstStyle/>
                    <a:p>
                      <a:pPr algn="ctr" rtl="0" fontAlgn="ctr"/>
                      <a:r>
                        <a:rPr lang="en-GB" sz="800" u="none" strike="noStrike">
                          <a:effectLst/>
                        </a:rPr>
                        <a:t>Session</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514187">
                <a:tc>
                  <a:txBody>
                    <a:bodyPr/>
                    <a:lstStyle/>
                    <a:p>
                      <a:pPr algn="ctr" rtl="0" fontAlgn="ctr"/>
                      <a:r>
                        <a:rPr lang="en-GB" sz="800" b="0" i="0" u="none" strike="noStrike">
                          <a:solidFill>
                            <a:schemeClr val="tx1"/>
                          </a:solidFill>
                          <a:effectLst/>
                          <a:latin typeface="Arial"/>
                        </a:rPr>
                        <a:t>5</a:t>
                      </a:r>
                    </a:p>
                  </a:txBody>
                  <a:tcPr marL="4711" marR="4711" marT="4711" marB="0" anchor="ctr">
                    <a:solidFill>
                      <a:schemeClr val="bg2"/>
                    </a:solidFill>
                  </a:tcPr>
                </a:tc>
                <a:tc>
                  <a:txBody>
                    <a:bodyPr/>
                    <a:lstStyle/>
                    <a:p>
                      <a:pPr algn="l" rtl="0" fontAlgn="ctr"/>
                      <a:r>
                        <a:rPr lang="en-GB" sz="800" u="none" strike="noStrike">
                          <a:solidFill>
                            <a:schemeClr val="tx1"/>
                          </a:solidFill>
                          <a:effectLst/>
                        </a:rPr>
                        <a:t>T&amp;Q Detailed Exploration (App Walkthrough) Pt. 1</a:t>
                      </a:r>
                      <a:endParaRPr lang="en-GB" sz="800" b="0" i="0" u="none" strike="noStrike">
                        <a:solidFill>
                          <a:schemeClr val="tx1"/>
                        </a:solidFill>
                        <a:effectLst/>
                        <a:latin typeface="Arial"/>
                      </a:endParaRP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Further define configuration requirements for each component within the App</a:t>
                      </a:r>
                    </a:p>
                    <a:p>
                      <a:pPr marL="171450" indent="-171450" algn="l" rtl="0" fontAlgn="ctr">
                        <a:buFont typeface="Arial" panose="020B0604020202020204" pitchFamily="34" charset="0"/>
                        <a:buChar char="•"/>
                      </a:pPr>
                      <a:r>
                        <a:rPr lang="en-GB" sz="800" u="none" strike="noStrike">
                          <a:solidFill>
                            <a:schemeClr val="tx1"/>
                          </a:solidFill>
                          <a:effectLst/>
                        </a:rPr>
                        <a:t>Review dimension &amp; hierarchy definitions configured in App</a:t>
                      </a:r>
                    </a:p>
                    <a:p>
                      <a:pPr marL="171450" indent="-171450" algn="l" rtl="0" fontAlgn="ctr">
                        <a:buFont typeface="Arial" panose="020B0604020202020204" pitchFamily="34" charset="0"/>
                        <a:buChar char="•"/>
                      </a:pPr>
                      <a:r>
                        <a:rPr lang="en-GB" sz="800" u="none" strike="noStrike">
                          <a:solidFill>
                            <a:schemeClr val="tx1"/>
                          </a:solidFill>
                          <a:effectLst/>
                        </a:rPr>
                        <a:t>Identify customizations required in comparison to standard functionality</a:t>
                      </a:r>
                      <a:endParaRPr lang="en-GB" sz="800" b="0" i="0" u="none" strike="noStrike">
                        <a:solidFill>
                          <a:schemeClr val="tx1"/>
                        </a:solidFill>
                        <a:effectLst/>
                        <a:latin typeface="+mn-lt"/>
                      </a:endParaRPr>
                    </a:p>
                  </a:txBody>
                  <a:tcPr marL="45720" marR="45720" anchor="ctr">
                    <a:solidFill>
                      <a:schemeClr val="bg2"/>
                    </a:solidFill>
                  </a:tcPr>
                </a:tc>
                <a:tc>
                  <a:txBody>
                    <a:bodyPr/>
                    <a:lstStyle/>
                    <a:p>
                      <a:pPr algn="l" rtl="0" fontAlgn="ctr"/>
                      <a:r>
                        <a:rPr lang="en-GB" sz="800" u="none" strike="noStrike">
                          <a:solidFill>
                            <a:schemeClr val="tx1"/>
                          </a:solidFill>
                          <a:effectLst/>
                        </a:rPr>
                        <a:t>T&amp;Q SM</a:t>
                      </a:r>
                      <a:r>
                        <a:rPr lang="en-GB" sz="800" u="none" strike="noStrike" kern="1200">
                          <a:solidFill>
                            <a:schemeClr val="tx1"/>
                          </a:solidFill>
                          <a:effectLst/>
                        </a:rPr>
                        <a:t>Es, </a:t>
                      </a:r>
                      <a:r>
                        <a:rPr lang="en-GB" sz="800" u="none" strike="noStrike" kern="1200" noProof="0">
                          <a:solidFill>
                            <a:schemeClr val="tx1"/>
                          </a:solidFill>
                          <a:effectLst/>
                        </a:rPr>
                        <a:t>Data Modeling Team </a:t>
                      </a:r>
                      <a:r>
                        <a:rPr lang="en-GB" sz="800" u="none" strike="noStrike" kern="1200">
                          <a:solidFill>
                            <a:schemeClr val="tx1"/>
                          </a:solidFill>
                          <a:effectLst/>
                        </a:rPr>
                        <a:t>&amp; users</a:t>
                      </a:r>
                      <a:endParaRPr lang="en-GB" sz="800" u="none" strike="noStrike" kern="1200">
                        <a:solidFill>
                          <a:schemeClr val="tx1"/>
                        </a:solidFill>
                        <a:effectLst/>
                        <a:latin typeface="+mn-lt"/>
                        <a:ea typeface="+mn-ea"/>
                        <a:cs typeface="+mn-cs"/>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T&amp;Q App Templates Completed with Sample Data, Desired T&amp;Q output Granularity, Historical Data </a:t>
                      </a:r>
                      <a:r>
                        <a:rPr lang="en-GB" sz="800" b="0" u="none" strike="noStrike" noProof="0">
                          <a:solidFill>
                            <a:schemeClr val="tx1"/>
                          </a:solidFill>
                          <a:effectLst/>
                        </a:rPr>
                        <a:t>Availability</a:t>
                      </a:r>
                      <a:endParaRPr lang="en-GB" sz="800" b="0" i="0" u="none" strike="noStrike" noProof="0">
                        <a:solidFill>
                          <a:schemeClr val="tx1"/>
                        </a:solidFill>
                        <a:effectLst/>
                        <a:latin typeface="Arial"/>
                      </a:endParaRPr>
                    </a:p>
                  </a:txBody>
                  <a:tcPr marL="45720" marR="45720" anchor="ctr">
                    <a:solidFill>
                      <a:schemeClr val="bg2"/>
                    </a:solidFill>
                  </a:tcPr>
                </a:tc>
                <a:tc>
                  <a:txBody>
                    <a:bodyPr/>
                    <a:lstStyle/>
                    <a:p>
                      <a:pPr lvl="0" algn="l">
                        <a:buNone/>
                      </a:pPr>
                      <a:r>
                        <a:rPr lang="en-GB" sz="800" b="0" u="none" strike="noStrike" noProof="0">
                          <a:solidFill>
                            <a:schemeClr val="tx1"/>
                          </a:solidFill>
                          <a:effectLst/>
                        </a:rPr>
                        <a:t>Base App Configured with Customer T&amp;Q App Template Sample Data</a:t>
                      </a:r>
                      <a:endParaRPr lang="en-US" sz="800">
                        <a:solidFill>
                          <a:schemeClr val="tx1"/>
                        </a:solidFill>
                      </a:endParaRPr>
                    </a:p>
                  </a:txBody>
                  <a:tcPr marL="45720" marR="45720" anchor="ctr">
                    <a:solidFill>
                      <a:schemeClr val="bg2"/>
                    </a:solidFill>
                  </a:tcPr>
                </a:tc>
                <a:extLst>
                  <a:ext uri="{0D108BD9-81ED-4DB2-BD59-A6C34878D82A}">
                    <a16:rowId xmlns:a16="http://schemas.microsoft.com/office/drawing/2014/main" val="3706782849"/>
                  </a:ext>
                </a:extLst>
              </a:tr>
              <a:tr h="514187">
                <a:tc>
                  <a:txBody>
                    <a:bodyPr/>
                    <a:lstStyle/>
                    <a:p>
                      <a:pPr algn="ctr" rtl="0" fontAlgn="ctr"/>
                      <a:r>
                        <a:rPr lang="en-GB" sz="800" b="0" i="0" u="none" strike="noStrike">
                          <a:solidFill>
                            <a:schemeClr val="tx1"/>
                          </a:solidFill>
                          <a:effectLst/>
                          <a:latin typeface="Arial"/>
                        </a:rPr>
                        <a:t>6</a:t>
                      </a:r>
                    </a:p>
                  </a:txBody>
                  <a:tcPr marL="4711" marR="4711" marT="4711" marB="0" anchor="ctr">
                    <a:solidFill>
                      <a:schemeClr val="bg2"/>
                    </a:solidFill>
                  </a:tcPr>
                </a:tc>
                <a:tc>
                  <a:txBody>
                    <a:bodyPr/>
                    <a:lstStyle/>
                    <a:p>
                      <a:pPr algn="l" rtl="0" fontAlgn="ctr"/>
                      <a:r>
                        <a:rPr lang="en-GB" sz="800" u="none" strike="noStrike">
                          <a:solidFill>
                            <a:schemeClr val="tx1"/>
                          </a:solidFill>
                          <a:effectLst/>
                        </a:rPr>
                        <a:t>T&amp;Q Detailed Exploration (App Walkthrough) Pt. 2</a:t>
                      </a:r>
                      <a:endParaRPr lang="en-GB" sz="800" b="0" i="0" u="none" strike="noStrike">
                        <a:solidFill>
                          <a:schemeClr val="tx1"/>
                        </a:solidFill>
                        <a:effectLst/>
                        <a:latin typeface="Arial"/>
                      </a:endParaRP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Further define configuration requirements for each component</a:t>
                      </a:r>
                    </a:p>
                    <a:p>
                      <a:pPr marL="171450" indent="-171450" algn="l" rtl="0" fontAlgn="ctr">
                        <a:buFont typeface="Arial" panose="020B0604020202020204" pitchFamily="34" charset="0"/>
                        <a:buChar char="•"/>
                      </a:pPr>
                      <a:r>
                        <a:rPr lang="en-GB" sz="800" u="none" strike="noStrike">
                          <a:solidFill>
                            <a:schemeClr val="tx1"/>
                          </a:solidFill>
                          <a:effectLst/>
                        </a:rPr>
                        <a:t>Review dimension &amp; hierarchy definitions configured in App</a:t>
                      </a:r>
                    </a:p>
                    <a:p>
                      <a:pPr marL="171450" indent="-171450" algn="l" rtl="0" fontAlgn="ctr">
                        <a:buFont typeface="Arial" panose="020B0604020202020204" pitchFamily="34" charset="0"/>
                        <a:buChar char="•"/>
                      </a:pPr>
                      <a:r>
                        <a:rPr lang="en-GB" sz="800" u="none" strike="noStrike">
                          <a:solidFill>
                            <a:schemeClr val="tx1"/>
                          </a:solidFill>
                          <a:effectLst/>
                        </a:rPr>
                        <a:t>Identify customizations required in comparison to standard functionality</a:t>
                      </a:r>
                      <a:endParaRPr lang="en-GB" sz="800" b="0" i="0" u="none" strike="noStrike">
                        <a:solidFill>
                          <a:schemeClr val="tx1"/>
                        </a:solidFill>
                        <a:effectLst/>
                        <a:latin typeface="+mn-lt"/>
                      </a:endParaRPr>
                    </a:p>
                  </a:txBody>
                  <a:tcPr marL="45720" marR="45720" anchor="ctr">
                    <a:solidFill>
                      <a:schemeClr val="bg2"/>
                    </a:solidFill>
                  </a:tcPr>
                </a:tc>
                <a:tc>
                  <a:txBody>
                    <a:bodyPr/>
                    <a:lstStyle/>
                    <a:p>
                      <a:pPr algn="l" rtl="0" fontAlgn="ctr"/>
                      <a:r>
                        <a:rPr lang="en-GB" sz="800" u="none" strike="noStrike">
                          <a:solidFill>
                            <a:schemeClr val="tx1"/>
                          </a:solidFill>
                          <a:effectLst/>
                        </a:rPr>
                        <a:t>T&amp;Q SM</a:t>
                      </a:r>
                      <a:r>
                        <a:rPr lang="en-GB" sz="800" u="none" strike="noStrike" kern="1200">
                          <a:solidFill>
                            <a:schemeClr val="tx1"/>
                          </a:solidFill>
                          <a:effectLst/>
                        </a:rPr>
                        <a:t>Es, </a:t>
                      </a:r>
                      <a:r>
                        <a:rPr lang="en-GB" sz="800" u="none" strike="noStrike" kern="1200" noProof="0">
                          <a:solidFill>
                            <a:schemeClr val="tx1"/>
                          </a:solidFill>
                          <a:effectLst/>
                        </a:rPr>
                        <a:t>Data Modeling Team </a:t>
                      </a:r>
                      <a:r>
                        <a:rPr lang="en-GB" sz="800" u="none" strike="noStrike" kern="1200">
                          <a:solidFill>
                            <a:schemeClr val="tx1"/>
                          </a:solidFill>
                          <a:effectLst/>
                        </a:rPr>
                        <a:t>&amp; users</a:t>
                      </a:r>
                      <a:endParaRPr lang="en-GB" sz="800" u="none" strike="noStrike" kern="1200">
                        <a:solidFill>
                          <a:schemeClr val="tx1"/>
                        </a:solidFill>
                        <a:effectLst/>
                        <a:latin typeface="+mn-lt"/>
                        <a:ea typeface="+mn-ea"/>
                        <a:cs typeface="+mn-cs"/>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T&amp;Q App Templates Completed with Sample Data, Desired T&amp;Q output Granularity, Historical Data </a:t>
                      </a:r>
                      <a:r>
                        <a:rPr lang="en-GB" sz="800" b="0" u="none" strike="noStrike" noProof="0">
                          <a:solidFill>
                            <a:schemeClr val="tx1"/>
                          </a:solidFill>
                          <a:effectLst/>
                        </a:rPr>
                        <a:t>Availability</a:t>
                      </a:r>
                      <a:endParaRPr lang="en-GB" sz="800" b="0" i="0" u="none" strike="noStrike" noProof="0">
                        <a:solidFill>
                          <a:schemeClr val="tx1"/>
                        </a:solidFill>
                        <a:effectLst/>
                        <a:latin typeface="Arial"/>
                      </a:endParaRPr>
                    </a:p>
                  </a:txBody>
                  <a:tcPr marL="45720" marR="45720" anchor="ctr">
                    <a:solidFill>
                      <a:schemeClr val="bg2"/>
                    </a:solidFill>
                  </a:tcPr>
                </a:tc>
                <a:tc>
                  <a:txBody>
                    <a:bodyPr/>
                    <a:lstStyle/>
                    <a:p>
                      <a:pPr lvl="0" algn="l">
                        <a:buNone/>
                      </a:pPr>
                      <a:r>
                        <a:rPr lang="en-GB" sz="800" b="0" u="none" strike="noStrike" noProof="0">
                          <a:solidFill>
                            <a:schemeClr val="tx1"/>
                          </a:solidFill>
                          <a:effectLst/>
                        </a:rPr>
                        <a:t>Base App Configured with Customer T&amp;Q App Template Sample Data</a:t>
                      </a:r>
                      <a:endParaRPr lang="en-US" sz="800">
                        <a:solidFill>
                          <a:schemeClr val="tx1"/>
                        </a:solidFill>
                      </a:endParaRPr>
                    </a:p>
                  </a:txBody>
                  <a:tcPr marL="45720" marR="45720" anchor="ctr">
                    <a:solidFill>
                      <a:schemeClr val="bg2"/>
                    </a:solidFill>
                  </a:tcPr>
                </a:tc>
                <a:extLst>
                  <a:ext uri="{0D108BD9-81ED-4DB2-BD59-A6C34878D82A}">
                    <a16:rowId xmlns:a16="http://schemas.microsoft.com/office/drawing/2014/main" val="3612544707"/>
                  </a:ext>
                </a:extLst>
              </a:tr>
              <a:tr h="724885">
                <a:tc>
                  <a:txBody>
                    <a:bodyPr/>
                    <a:lstStyle/>
                    <a:p>
                      <a:pPr algn="ctr" fontAlgn="base">
                        <a:lnSpc>
                          <a:spcPts val="1050"/>
                        </a:lnSpc>
                        <a:buNone/>
                      </a:pPr>
                      <a:r>
                        <a:rPr lang="en-GB" sz="800" b="0" i="0" u="none" strike="noStrike">
                          <a:solidFill>
                            <a:schemeClr val="tx1"/>
                          </a:solidFill>
                          <a:effectLst/>
                          <a:latin typeface="Arial"/>
                        </a:rPr>
                        <a:t>7</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Playback of High-Level Design (HLD) &amp; Configuration Document</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Document review &amp; questions</a:t>
                      </a:r>
                      <a:r>
                        <a:rPr lang="en-GB" sz="800" b="0" i="0">
                          <a:solidFill>
                            <a:schemeClr val="tx1"/>
                          </a:solidFill>
                          <a:effectLst/>
                          <a:latin typeface="Arial"/>
                        </a:rPr>
                        <a:t>​</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Agree on elements that will likely evolve as the project progresses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Project Team </a:t>
                      </a:r>
                      <a:r>
                        <a:rPr lang="en-GB" sz="800" b="0" i="0">
                          <a:solidFill>
                            <a:schemeClr val="tx1"/>
                          </a:solidFill>
                          <a:effectLst/>
                          <a:latin typeface="Arial"/>
                        </a:rPr>
                        <a:t>​</a:t>
                      </a:r>
                    </a:p>
                    <a:p>
                      <a:pPr algn="l" fontAlgn="base">
                        <a:lnSpc>
                          <a:spcPts val="975"/>
                        </a:lnSpc>
                        <a:buNone/>
                      </a:pPr>
                      <a:r>
                        <a:rPr lang="en-GB" sz="800" b="0" i="0" u="none" strike="noStrike">
                          <a:solidFill>
                            <a:schemeClr val="tx1"/>
                          </a:solidFill>
                          <a:effectLst/>
                          <a:latin typeface="Arial"/>
                        </a:rPr>
                        <a:t>Customer Process Owners, SMEs, T&amp;Q Stakeholders &amp; Data + IT for high level end to end process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Customer completed review of the High-Level Design document to contribute and feedback to discuss in the workshop</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Anaplan to draft and share High level design document prior to the workshop</a:t>
                      </a:r>
                      <a:r>
                        <a:rPr lang="en-GB" sz="800" b="0" i="0">
                          <a:solidFill>
                            <a:schemeClr val="tx1"/>
                          </a:solidFill>
                          <a:effectLst/>
                          <a:latin typeface="Arial"/>
                        </a:rPr>
                        <a:t>​</a:t>
                      </a:r>
                    </a:p>
                  </a:txBody>
                  <a:tcPr marL="45720" marR="45720" anchor="ctr">
                    <a:solidFill>
                      <a:schemeClr val="bg2">
                        <a:alpha val="60000"/>
                      </a:schemeClr>
                    </a:solidFill>
                  </a:tcPr>
                </a:tc>
                <a:extLst>
                  <a:ext uri="{0D108BD9-81ED-4DB2-BD59-A6C34878D82A}">
                    <a16:rowId xmlns:a16="http://schemas.microsoft.com/office/drawing/2014/main" val="2460361128"/>
                  </a:ext>
                </a:extLst>
              </a:tr>
            </a:tbl>
          </a:graphicData>
        </a:graphic>
      </p:graphicFrame>
      <p:grpSp>
        <p:nvGrpSpPr>
          <p:cNvPr id="4" name="Group 3">
            <a:extLst>
              <a:ext uri="{FF2B5EF4-FFF2-40B4-BE49-F238E27FC236}">
                <a16:creationId xmlns:a16="http://schemas.microsoft.com/office/drawing/2014/main" id="{DF39CEE5-DE7E-A549-FAD2-8A9898410B06}"/>
              </a:ext>
            </a:extLst>
          </p:cNvPr>
          <p:cNvGrpSpPr/>
          <p:nvPr/>
        </p:nvGrpSpPr>
        <p:grpSpPr>
          <a:xfrm>
            <a:off x="-2187969" y="0"/>
            <a:ext cx="2318271" cy="5143500"/>
            <a:chOff x="-2187969" y="0"/>
            <a:chExt cx="2318271" cy="5143500"/>
          </a:xfrm>
        </p:grpSpPr>
        <p:sp>
          <p:nvSpPr>
            <p:cNvPr id="7" name="Rectangle: Rounded Corners 6">
              <a:extLst>
                <a:ext uri="{FF2B5EF4-FFF2-40B4-BE49-F238E27FC236}">
                  <a16:creationId xmlns:a16="http://schemas.microsoft.com/office/drawing/2014/main" id="{8CAAD08D-3527-4BE2-4D49-441D222EA6F3}"/>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DF6CAA69-1A78-8D34-C8B2-EFB2E19535FB}"/>
                </a:ext>
              </a:extLst>
            </p:cNvPr>
            <p:cNvGrpSpPr/>
            <p:nvPr/>
          </p:nvGrpSpPr>
          <p:grpSpPr>
            <a:xfrm>
              <a:off x="-2187969" y="0"/>
              <a:ext cx="2018501" cy="5143500"/>
              <a:chOff x="-2187969" y="0"/>
              <a:chExt cx="2018501" cy="5143500"/>
            </a:xfrm>
          </p:grpSpPr>
          <p:sp>
            <p:nvSpPr>
              <p:cNvPr id="9" name="Rectangle: Rounded Corners 8">
                <a:extLst>
                  <a:ext uri="{FF2B5EF4-FFF2-40B4-BE49-F238E27FC236}">
                    <a16:creationId xmlns:a16="http://schemas.microsoft.com/office/drawing/2014/main" id="{D664C9CF-245F-28B5-9FA4-7272EFE62489}"/>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2C56CED0-5978-6539-6BF4-6BAB1987C692}"/>
                  </a:ext>
                </a:extLst>
              </p:cNvPr>
              <p:cNvSpPr txBox="1"/>
              <p:nvPr/>
            </p:nvSpPr>
            <p:spPr>
              <a:xfrm>
                <a:off x="-2060903" y="983848"/>
                <a:ext cx="1764368" cy="1384995"/>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Replace any application-specific examples with those relevant to the deployed applications.</a:t>
                </a:r>
              </a:p>
            </p:txBody>
          </p:sp>
          <p:sp>
            <p:nvSpPr>
              <p:cNvPr id="11" name="TextBox 10">
                <a:extLst>
                  <a:ext uri="{FF2B5EF4-FFF2-40B4-BE49-F238E27FC236}">
                    <a16:creationId xmlns:a16="http://schemas.microsoft.com/office/drawing/2014/main" id="{AA8D4F22-E2EA-677F-C802-666D7CD24130}"/>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12" name="Group 11">
                <a:extLst>
                  <a:ext uri="{FF2B5EF4-FFF2-40B4-BE49-F238E27FC236}">
                    <a16:creationId xmlns:a16="http://schemas.microsoft.com/office/drawing/2014/main" id="{A8AEA6D2-51F2-1E45-1ECA-DED8DE645023}"/>
                  </a:ext>
                </a:extLst>
              </p:cNvPr>
              <p:cNvGrpSpPr/>
              <p:nvPr/>
            </p:nvGrpSpPr>
            <p:grpSpPr>
              <a:xfrm>
                <a:off x="-1448666" y="0"/>
                <a:ext cx="539895" cy="539895"/>
                <a:chOff x="-1468837" y="0"/>
                <a:chExt cx="539895" cy="539895"/>
              </a:xfrm>
            </p:grpSpPr>
            <p:sp>
              <p:nvSpPr>
                <p:cNvPr id="16" name="Oval 15">
                  <a:extLst>
                    <a:ext uri="{FF2B5EF4-FFF2-40B4-BE49-F238E27FC236}">
                      <a16:creationId xmlns:a16="http://schemas.microsoft.com/office/drawing/2014/main" id="{309BFC65-8944-D9E2-389B-B56B16E5A19A}"/>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17" name="Graphic 16" descr="Single gear with solid fill">
                  <a:extLst>
                    <a:ext uri="{FF2B5EF4-FFF2-40B4-BE49-F238E27FC236}">
                      <a16:creationId xmlns:a16="http://schemas.microsoft.com/office/drawing/2014/main" id="{B045422E-9B1C-2434-4E36-392C2D73955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79641" y="89196"/>
                  <a:ext cx="361503" cy="361503"/>
                </a:xfrm>
                <a:prstGeom prst="rect">
                  <a:avLst/>
                </a:prstGeom>
              </p:spPr>
            </p:pic>
          </p:grpSp>
          <p:grpSp>
            <p:nvGrpSpPr>
              <p:cNvPr id="13" name="Group 12">
                <a:extLst>
                  <a:ext uri="{FF2B5EF4-FFF2-40B4-BE49-F238E27FC236}">
                    <a16:creationId xmlns:a16="http://schemas.microsoft.com/office/drawing/2014/main" id="{4B050617-B94C-5356-BBC3-FEB2FC8333EE}"/>
                  </a:ext>
                </a:extLst>
              </p:cNvPr>
              <p:cNvGrpSpPr/>
              <p:nvPr/>
            </p:nvGrpSpPr>
            <p:grpSpPr>
              <a:xfrm>
                <a:off x="-1913726" y="4862278"/>
                <a:ext cx="1537258" cy="215444"/>
                <a:chOff x="-1907058" y="4862278"/>
                <a:chExt cx="1537258" cy="215444"/>
              </a:xfrm>
            </p:grpSpPr>
            <p:sp>
              <p:nvSpPr>
                <p:cNvPr id="14" name="TextBox 13">
                  <a:extLst>
                    <a:ext uri="{FF2B5EF4-FFF2-40B4-BE49-F238E27FC236}">
                      <a16:creationId xmlns:a16="http://schemas.microsoft.com/office/drawing/2014/main" id="{380F76F6-77D5-37F2-AC4C-C49422F109AB}"/>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15" name="Graphic 14" descr="Warning with solid fill">
                  <a:extLst>
                    <a:ext uri="{FF2B5EF4-FFF2-40B4-BE49-F238E27FC236}">
                      <a16:creationId xmlns:a16="http://schemas.microsoft.com/office/drawing/2014/main" id="{3B7E44F2-AEE1-C853-8D36-175A921488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7058" y="4928624"/>
                  <a:ext cx="98429" cy="98429"/>
                </a:xfrm>
                <a:prstGeom prst="rect">
                  <a:avLst/>
                </a:prstGeom>
              </p:spPr>
            </p:pic>
          </p:grpSp>
        </p:grpSp>
      </p:grpSp>
      <p:graphicFrame>
        <p:nvGraphicFramePr>
          <p:cNvPr id="2" name="Content Placeholder 6">
            <a:extLst>
              <a:ext uri="{FF2B5EF4-FFF2-40B4-BE49-F238E27FC236}">
                <a16:creationId xmlns:a16="http://schemas.microsoft.com/office/drawing/2014/main" id="{58B0B991-11EE-5B63-42BF-7CFB9064C635}"/>
              </a:ext>
            </a:extLst>
          </p:cNvPr>
          <p:cNvGraphicFramePr>
            <a:graphicFrameLocks/>
          </p:cNvGraphicFramePr>
          <p:nvPr/>
        </p:nvGraphicFramePr>
        <p:xfrm>
          <a:off x="216150" y="3826284"/>
          <a:ext cx="8559299" cy="814819"/>
        </p:xfrm>
        <a:graphic>
          <a:graphicData uri="http://schemas.openxmlformats.org/drawingml/2006/table">
            <a:tbl>
              <a:tblPr firstRow="1" bandRow="1">
                <a:tableStyleId>{F5AB1C69-6EDB-4FF4-983F-18BD219EF322}</a:tableStyleId>
              </a:tblPr>
              <a:tblGrid>
                <a:gridCol w="463343">
                  <a:extLst>
                    <a:ext uri="{9D8B030D-6E8A-4147-A177-3AD203B41FA5}">
                      <a16:colId xmlns:a16="http://schemas.microsoft.com/office/drawing/2014/main" val="318619860"/>
                    </a:ext>
                  </a:extLst>
                </a:gridCol>
                <a:gridCol w="993939">
                  <a:extLst>
                    <a:ext uri="{9D8B030D-6E8A-4147-A177-3AD203B41FA5}">
                      <a16:colId xmlns:a16="http://schemas.microsoft.com/office/drawing/2014/main" val="2026150729"/>
                    </a:ext>
                  </a:extLst>
                </a:gridCol>
                <a:gridCol w="2352366">
                  <a:extLst>
                    <a:ext uri="{9D8B030D-6E8A-4147-A177-3AD203B41FA5}">
                      <a16:colId xmlns:a16="http://schemas.microsoft.com/office/drawing/2014/main" val="2022897790"/>
                    </a:ext>
                  </a:extLst>
                </a:gridCol>
                <a:gridCol w="1536711">
                  <a:extLst>
                    <a:ext uri="{9D8B030D-6E8A-4147-A177-3AD203B41FA5}">
                      <a16:colId xmlns:a16="http://schemas.microsoft.com/office/drawing/2014/main" val="3930715383"/>
                    </a:ext>
                  </a:extLst>
                </a:gridCol>
                <a:gridCol w="1851666">
                  <a:extLst>
                    <a:ext uri="{9D8B030D-6E8A-4147-A177-3AD203B41FA5}">
                      <a16:colId xmlns:a16="http://schemas.microsoft.com/office/drawing/2014/main" val="817247276"/>
                    </a:ext>
                  </a:extLst>
                </a:gridCol>
                <a:gridCol w="1361274">
                  <a:extLst>
                    <a:ext uri="{9D8B030D-6E8A-4147-A177-3AD203B41FA5}">
                      <a16:colId xmlns:a16="http://schemas.microsoft.com/office/drawing/2014/main" val="2256393854"/>
                    </a:ext>
                  </a:extLst>
                </a:gridCol>
              </a:tblGrid>
              <a:tr h="176390">
                <a:tc>
                  <a:txBody>
                    <a:bodyPr/>
                    <a:lstStyle/>
                    <a:p>
                      <a:pPr algn="ctr" rtl="0" fontAlgn="ctr"/>
                      <a:r>
                        <a:rPr lang="en-GB" sz="800" u="none" strike="noStrike">
                          <a:effectLst/>
                        </a:rPr>
                        <a:t>Session</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511683">
                <a:tc>
                  <a:txBody>
                    <a:bodyPr/>
                    <a:lstStyle/>
                    <a:p>
                      <a:pPr algn="ctr" fontAlgn="base">
                        <a:lnSpc>
                          <a:spcPts val="1050"/>
                        </a:lnSpc>
                        <a:buNone/>
                      </a:pPr>
                      <a:r>
                        <a:rPr lang="en-GB" sz="800" b="0" i="0" u="none" strike="noStrike">
                          <a:solidFill>
                            <a:schemeClr val="tx1"/>
                          </a:solidFill>
                          <a:effectLst/>
                          <a:latin typeface="Arial"/>
                        </a:rPr>
                        <a:t>Extension Phase</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Deep dive on Extension </a:t>
                      </a:r>
                    </a:p>
                    <a:p>
                      <a:pPr algn="l" fontAlgn="base">
                        <a:lnSpc>
                          <a:spcPts val="1050"/>
                        </a:lnSpc>
                        <a:buNone/>
                      </a:pPr>
                      <a:r>
                        <a:rPr lang="en-GB" sz="800" b="0" i="0" u="none" strike="noStrike">
                          <a:solidFill>
                            <a:schemeClr val="tx1"/>
                          </a:solidFill>
                          <a:effectLst/>
                          <a:latin typeface="Arial"/>
                        </a:rPr>
                        <a:t>Requirements and User Stories</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marL="171450" indent="-171450" algn="l" fontAlgn="base">
                        <a:lnSpc>
                          <a:spcPts val="1050"/>
                        </a:lnSpc>
                        <a:buFont typeface="Arial" panose="020B0604020202020204" pitchFamily="34" charset="0"/>
                        <a:buChar char="•"/>
                      </a:pPr>
                      <a:r>
                        <a:rPr lang="en-GB" sz="800" b="0" i="0" u="none" strike="noStrike" noProof="0">
                          <a:solidFill>
                            <a:schemeClr val="tx1"/>
                          </a:solidFill>
                          <a:effectLst/>
                          <a:latin typeface="Arial"/>
                        </a:rPr>
                        <a:t>T&amp;Q App </a:t>
                      </a:r>
                      <a:r>
                        <a:rPr lang="en-GB" sz="800" b="0" i="0" u="none" strike="noStrike">
                          <a:solidFill>
                            <a:schemeClr val="tx1"/>
                          </a:solidFill>
                          <a:effectLst/>
                          <a:latin typeface="Arial"/>
                        </a:rPr>
                        <a:t>extensions required </a:t>
                      </a:r>
                      <a:r>
                        <a:rPr lang="en-GB" sz="800" b="0" i="0">
                          <a:solidFill>
                            <a:schemeClr val="tx1"/>
                          </a:solidFill>
                          <a:effectLst/>
                          <a:latin typeface="Arial"/>
                        </a:rPr>
                        <a:t>​</a:t>
                      </a:r>
                      <a:br>
                        <a:rPr lang="en-GB" sz="800" b="0" i="0">
                          <a:solidFill>
                            <a:srgbClr val="0A2F46"/>
                          </a:solidFill>
                          <a:effectLst/>
                          <a:latin typeface="Arial"/>
                        </a:rPr>
                      </a:br>
                      <a:r>
                        <a:rPr lang="en-GB" sz="800" b="0" i="0" u="none" strike="noStrike">
                          <a:solidFill>
                            <a:schemeClr val="tx1"/>
                          </a:solidFill>
                          <a:effectLst/>
                          <a:latin typeface="Arial"/>
                        </a:rPr>
                        <a:t>Additional reports required</a:t>
                      </a:r>
                      <a:r>
                        <a:rPr lang="en-GB" sz="800" b="0" i="0">
                          <a:solidFill>
                            <a:schemeClr val="tx1"/>
                          </a:solidFill>
                          <a:effectLst/>
                          <a:latin typeface="Arial"/>
                        </a:rPr>
                        <a:t>​</a:t>
                      </a:r>
                    </a:p>
                    <a:p>
                      <a:pPr marL="171450" indent="-171450" algn="l" defTabSz="914400" rtl="0" eaLnBrk="1" fontAlgn="base" latinLnBrk="0" hangingPunct="1">
                        <a:lnSpc>
                          <a:spcPts val="1050"/>
                        </a:lnSpc>
                        <a:buFont typeface="Arial" panose="020B0604020202020204" pitchFamily="34" charset="0"/>
                        <a:buChar char="•"/>
                      </a:pPr>
                      <a:r>
                        <a:rPr lang="en-GB" sz="800" b="0" i="0" u="none" strike="noStrike" kern="1200">
                          <a:solidFill>
                            <a:schemeClr val="tx1"/>
                          </a:solidFill>
                          <a:effectLst/>
                          <a:latin typeface="Arial"/>
                          <a:ea typeface="+mn-ea"/>
                          <a:cs typeface="+mn-cs"/>
                        </a:rPr>
                        <a:t>Prioritize most important extensions to least important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dirty="0">
                          <a:solidFill>
                            <a:schemeClr val="tx1"/>
                          </a:solidFill>
                          <a:effectLst/>
                          <a:latin typeface="Arial"/>
                        </a:rPr>
                        <a:t>T&amp;Q SMEs &amp; Users</a:t>
                      </a:r>
                      <a:r>
                        <a:rPr lang="en-GB" sz="800" b="0" i="0" dirty="0">
                          <a:solidFill>
                            <a:schemeClr val="tx1"/>
                          </a:solidFill>
                          <a:effectLst/>
                          <a:latin typeface="Arial"/>
                        </a:rPr>
                        <a:t>​</a:t>
                      </a:r>
                    </a:p>
                  </a:txBody>
                  <a:tcPr marL="45720" marR="45720" anchor="ctr">
                    <a:solidFill>
                      <a:schemeClr val="bg2">
                        <a:alpha val="60000"/>
                      </a:schemeClr>
                    </a:solidFill>
                  </a:tcPr>
                </a:tc>
                <a:tc>
                  <a:txBody>
                    <a:bodyPr/>
                    <a:lstStyle/>
                    <a:p>
                      <a:pPr algn="l" rtl="0" fontAlgn="ctr"/>
                      <a:r>
                        <a:rPr lang="en-GB" sz="800" u="none" strike="noStrike">
                          <a:solidFill>
                            <a:schemeClr val="tx1"/>
                          </a:solidFill>
                          <a:effectLst/>
                        </a:rPr>
                        <a:t>Current state process flow diagrams (As-Is) &amp; Cadences/Timings</a:t>
                      </a:r>
                      <a:endParaRPr lang="en-US" sz="800">
                        <a:solidFill>
                          <a:schemeClr val="tx1"/>
                        </a:solidFill>
                      </a:endParaRPr>
                    </a:p>
                  </a:txBody>
                  <a:tcPr marL="45720" marR="45720" anchor="ctr">
                    <a:solidFill>
                      <a:schemeClr val="bg2">
                        <a:alpha val="60000"/>
                      </a:schemeClr>
                    </a:solidFill>
                  </a:tcPr>
                </a:tc>
                <a:tc>
                  <a:txBody>
                    <a:bodyPr/>
                    <a:lstStyle/>
                    <a:p>
                      <a:pPr algn="l" fontAlgn="auto">
                        <a:lnSpc>
                          <a:spcPts val="1050"/>
                        </a:lnSpc>
                        <a:buNone/>
                      </a:pPr>
                      <a:r>
                        <a:rPr lang="en-GB" sz="800" b="0" i="0" u="none" strike="noStrike" dirty="0">
                          <a:solidFill>
                            <a:schemeClr val="tx1"/>
                          </a:solidFill>
                          <a:effectLst/>
                          <a:latin typeface="Arial"/>
                        </a:rPr>
                        <a:t>​</a:t>
                      </a:r>
                    </a:p>
                  </a:txBody>
                  <a:tcPr marL="45720" marR="45720" anchor="ctr">
                    <a:solidFill>
                      <a:schemeClr val="bg2">
                        <a:alpha val="60000"/>
                      </a:schemeClr>
                    </a:solidFill>
                  </a:tcPr>
                </a:tc>
                <a:extLst>
                  <a:ext uri="{0D108BD9-81ED-4DB2-BD59-A6C34878D82A}">
                    <a16:rowId xmlns:a16="http://schemas.microsoft.com/office/drawing/2014/main" val="1936566769"/>
                  </a:ext>
                </a:extLst>
              </a:tr>
            </a:tbl>
          </a:graphicData>
        </a:graphic>
      </p:graphicFrame>
      <p:sp>
        <p:nvSpPr>
          <p:cNvPr id="18" name="Titre 1">
            <a:extLst>
              <a:ext uri="{FF2B5EF4-FFF2-40B4-BE49-F238E27FC236}">
                <a16:creationId xmlns:a16="http://schemas.microsoft.com/office/drawing/2014/main" id="{A420798A-5280-7169-B548-1E52B2E3EF51}"/>
              </a:ext>
            </a:extLst>
          </p:cNvPr>
          <p:cNvSpPr txBox="1">
            <a:spLocks/>
          </p:cNvSpPr>
          <p:nvPr/>
        </p:nvSpPr>
        <p:spPr>
          <a:xfrm>
            <a:off x="267770" y="3487730"/>
            <a:ext cx="8153401" cy="338554"/>
          </a:xfrm>
          <a:prstGeom prst="rect">
            <a:avLst/>
          </a:prstGeom>
        </p:spPr>
        <p:txBody>
          <a:bodyPr lIns="0" rIns="0"/>
          <a:lstStyle>
            <a:lvl1pPr algn="l" defTabSz="914400" rtl="0" eaLnBrk="1" latinLnBrk="0" hangingPunct="1">
              <a:spcBef>
                <a:spcPct val="0"/>
              </a:spcBef>
              <a:buNone/>
              <a:defRPr sz="18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fr-FR" sz="1100"/>
              <a:t>Decision Point: Move into Extension Phase</a:t>
            </a:r>
          </a:p>
        </p:txBody>
      </p:sp>
    </p:spTree>
    <p:custDataLst>
      <p:tags r:id="rId1"/>
    </p:custDataLst>
    <p:extLst>
      <p:ext uri="{BB962C8B-B14F-4D97-AF65-F5344CB8AC3E}">
        <p14:creationId xmlns:p14="http://schemas.microsoft.com/office/powerpoint/2010/main" val="252636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7D7E5-BD69-63B3-554E-F8C4145DF6C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59A4BDB-96D8-A4DC-3D70-591BB326417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A59A4BDB-96D8-A4DC-3D70-591BB326417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CD4FED1B-B462-ECCF-8283-556F9A2EA152}"/>
              </a:ext>
            </a:extLst>
          </p:cNvPr>
          <p:cNvSpPr>
            <a:spLocks noGrp="1"/>
          </p:cNvSpPr>
          <p:nvPr>
            <p:ph type="title"/>
          </p:nvPr>
        </p:nvSpPr>
        <p:spPr/>
        <p:txBody>
          <a:bodyPr lIns="0" tIns="45720" rIns="0" bIns="45720" anchor="t"/>
          <a:lstStyle/>
          <a:p>
            <a:r>
              <a:rPr lang="en-US" sz="2000" b="1" dirty="0">
                <a:solidFill>
                  <a:schemeClr val="tx2"/>
                </a:solidFill>
                <a:latin typeface="+mj-lt"/>
                <a:ea typeface="Verdana"/>
                <a:cs typeface="Arial"/>
              </a:rPr>
              <a:t>Workshop 0</a:t>
            </a:r>
            <a:br>
              <a:rPr lang="en-US" dirty="0">
                <a:latin typeface="+mj-lt"/>
              </a:rPr>
            </a:br>
            <a:r>
              <a:rPr lang="en-US" sz="1400" dirty="0">
                <a:solidFill>
                  <a:schemeClr val="tx2"/>
                </a:solidFill>
                <a:latin typeface="+mj-lt"/>
                <a:ea typeface="Verdana"/>
                <a:cs typeface="Arial"/>
              </a:rPr>
              <a:t>Data &amp; Integrations</a:t>
            </a:r>
            <a:endParaRPr lang="fr-FR" sz="1400" dirty="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D04F895D-5E8C-E25F-1D21-DC38A4B7C726}"/>
              </a:ext>
            </a:extLst>
          </p:cNvPr>
          <p:cNvSpPr txBox="1"/>
          <p:nvPr/>
        </p:nvSpPr>
        <p:spPr>
          <a:xfrm>
            <a:off x="339206" y="1343029"/>
            <a:ext cx="3888000" cy="1571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dirty="0">
                <a:solidFill>
                  <a:schemeClr val="tx2"/>
                </a:solidFill>
                <a:latin typeface="+mj-lt"/>
              </a:rPr>
              <a:t>Define input and output data requirements for the model.</a:t>
            </a:r>
          </a:p>
          <a:p>
            <a:pPr defTabSz="914378">
              <a:spcAft>
                <a:spcPts val="300"/>
              </a:spcAft>
              <a:buClr>
                <a:schemeClr val="tx2"/>
              </a:buClr>
              <a:buFont typeface="Wingdings" pitchFamily="2" charset="2"/>
              <a:buChar char="§"/>
            </a:pPr>
            <a:r>
              <a:rPr lang="en-US" sz="900" dirty="0">
                <a:solidFill>
                  <a:schemeClr val="tx2"/>
                </a:solidFill>
                <a:latin typeface="+mj-lt"/>
              </a:rPr>
              <a:t>Identify all source systems and target systems.</a:t>
            </a:r>
          </a:p>
          <a:p>
            <a:pPr defTabSz="914378">
              <a:spcAft>
                <a:spcPts val="300"/>
              </a:spcAft>
              <a:buClr>
                <a:schemeClr val="tx2"/>
              </a:buClr>
              <a:buFont typeface="Wingdings" pitchFamily="2" charset="2"/>
              <a:buChar char="§"/>
            </a:pPr>
            <a:r>
              <a:rPr lang="en-US" sz="900" dirty="0">
                <a:solidFill>
                  <a:schemeClr val="tx2"/>
                </a:solidFill>
                <a:latin typeface="+mj-lt"/>
              </a:rPr>
              <a:t>Deep dive on T&amp;Q Standard Data Templates file structure, formats, and integration approach.</a:t>
            </a:r>
          </a:p>
          <a:p>
            <a:pPr defTabSz="914378">
              <a:spcAft>
                <a:spcPts val="300"/>
              </a:spcAft>
              <a:buClr>
                <a:schemeClr val="tx2"/>
              </a:buClr>
              <a:buFont typeface="Wingdings" pitchFamily="2" charset="2"/>
              <a:buChar char="§"/>
            </a:pPr>
            <a:r>
              <a:rPr lang="en-US" sz="900" dirty="0">
                <a:solidFill>
                  <a:schemeClr val="tx2"/>
                </a:solidFill>
                <a:latin typeface="+mj-lt"/>
              </a:rPr>
              <a:t>Ensure alignment between customer IT, SMEs, and Anaplan on data readiness.</a:t>
            </a:r>
            <a:endParaRPr lang="en-US" sz="900" dirty="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94D693C9-3962-C7D2-7008-B0E48684D532}"/>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dirty="0">
                <a:solidFill>
                  <a:schemeClr val="tx2"/>
                </a:solidFill>
                <a:latin typeface="+mj-lt"/>
                <a:cs typeface="Arial"/>
              </a:rPr>
              <a:t>Confirmed integration approach + sequencing.</a:t>
            </a:r>
          </a:p>
          <a:p>
            <a:pPr defTabSz="914378">
              <a:buClr>
                <a:schemeClr val="tx2"/>
              </a:buClr>
              <a:buFont typeface="Wingdings" pitchFamily="2" charset="2"/>
              <a:buChar char="§"/>
            </a:pPr>
            <a:r>
              <a:rPr lang="en-US" sz="900" dirty="0">
                <a:solidFill>
                  <a:schemeClr val="tx2"/>
                </a:solidFill>
                <a:latin typeface="+mj-lt"/>
                <a:cs typeface="Arial"/>
              </a:rPr>
              <a:t>Clear deadlines on sample data + full dataset using T&amp;Q App Anaplan templates.</a:t>
            </a:r>
          </a:p>
          <a:p>
            <a:pPr defTabSz="914378">
              <a:buClr>
                <a:schemeClr val="tx2"/>
              </a:buClr>
              <a:buFont typeface="Wingdings" pitchFamily="2" charset="2"/>
              <a:buChar char="§"/>
            </a:pPr>
            <a:r>
              <a:rPr lang="en-US" sz="900" dirty="0">
                <a:solidFill>
                  <a:schemeClr val="tx2"/>
                </a:solidFill>
                <a:latin typeface="+mj-lt"/>
                <a:cs typeface="Arial"/>
              </a:rPr>
              <a:t>Defined list of data issues, owners, and remediation plan.</a:t>
            </a:r>
          </a:p>
        </p:txBody>
      </p:sp>
      <p:sp>
        <p:nvSpPr>
          <p:cNvPr id="5" name="object 5">
            <a:extLst>
              <a:ext uri="{FF2B5EF4-FFF2-40B4-BE49-F238E27FC236}">
                <a16:creationId xmlns:a16="http://schemas.microsoft.com/office/drawing/2014/main" id="{03F34F67-41DE-CC18-23E4-7B6F2BC67F29}"/>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7A5117EB-CD98-B923-FAFA-EC147134C0EF}"/>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0DAF35EC-CDBE-6967-53CE-6B674E428E2F}"/>
              </a:ext>
            </a:extLst>
          </p:cNvPr>
          <p:cNvSpPr txBox="1">
            <a:spLocks/>
          </p:cNvSpPr>
          <p:nvPr/>
        </p:nvSpPr>
        <p:spPr>
          <a:xfrm>
            <a:off x="339206" y="3316744"/>
            <a:ext cx="3888000" cy="1906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dirty="0">
                <a:solidFill>
                  <a:schemeClr val="tx2"/>
                </a:solidFill>
                <a:latin typeface="+mj-lt"/>
              </a:rPr>
              <a:t>Walk through needed data from customer prior to Base App Configuration.</a:t>
            </a:r>
          </a:p>
          <a:p>
            <a:pPr defTabSz="914378">
              <a:spcAft>
                <a:spcPts val="300"/>
              </a:spcAft>
              <a:buClr>
                <a:schemeClr val="tx2"/>
              </a:buClr>
              <a:buFont typeface="Wingdings" pitchFamily="2" charset="2"/>
              <a:buChar char="§"/>
            </a:pPr>
            <a:r>
              <a:rPr lang="en-US" sz="900" dirty="0">
                <a:solidFill>
                  <a:schemeClr val="tx2"/>
                </a:solidFill>
                <a:latin typeface="+mj-lt"/>
              </a:rPr>
              <a:t>Validate transformations, calculated fields, and data granularity.</a:t>
            </a:r>
          </a:p>
          <a:p>
            <a:pPr defTabSz="914378">
              <a:spcAft>
                <a:spcPts val="300"/>
              </a:spcAft>
              <a:buClr>
                <a:schemeClr val="tx2"/>
              </a:buClr>
              <a:buFont typeface="Wingdings" pitchFamily="2" charset="2"/>
              <a:buChar char="§"/>
            </a:pPr>
            <a:r>
              <a:rPr lang="en-US" sz="900" dirty="0">
                <a:solidFill>
                  <a:schemeClr val="tx2"/>
                </a:solidFill>
                <a:latin typeface="+mj-lt"/>
              </a:rPr>
              <a:t>Define integration approach (manual uploads, automated runs, etc.).</a:t>
            </a:r>
          </a:p>
          <a:p>
            <a:pPr defTabSz="914378">
              <a:spcAft>
                <a:spcPts val="300"/>
              </a:spcAft>
              <a:buClr>
                <a:schemeClr val="tx2"/>
              </a:buClr>
              <a:buFont typeface="Wingdings" pitchFamily="2" charset="2"/>
              <a:buChar char="§"/>
            </a:pPr>
            <a:r>
              <a:rPr lang="en-US" sz="900" dirty="0">
                <a:solidFill>
                  <a:schemeClr val="tx2"/>
                </a:solidFill>
                <a:latin typeface="+mj-lt"/>
              </a:rPr>
              <a:t>Identify data gaps, cleansing needs, and ownership.</a:t>
            </a:r>
            <a:endParaRPr lang="en-US" sz="900" dirty="0">
              <a:solidFill>
                <a:schemeClr val="tx2"/>
              </a:solidFill>
              <a:latin typeface="+mj-lt"/>
              <a:cs typeface="Arial"/>
            </a:endParaRPr>
          </a:p>
        </p:txBody>
      </p:sp>
      <p:grpSp>
        <p:nvGrpSpPr>
          <p:cNvPr id="8" name="Group 157">
            <a:extLst>
              <a:ext uri="{FF2B5EF4-FFF2-40B4-BE49-F238E27FC236}">
                <a16:creationId xmlns:a16="http://schemas.microsoft.com/office/drawing/2014/main" id="{CFC36233-012E-A7E6-6368-E607597438C8}"/>
              </a:ext>
            </a:extLst>
          </p:cNvPr>
          <p:cNvGrpSpPr/>
          <p:nvPr/>
        </p:nvGrpSpPr>
        <p:grpSpPr>
          <a:xfrm>
            <a:off x="339206" y="3086696"/>
            <a:ext cx="3888000" cy="178847"/>
            <a:chOff x="452275" y="3999981"/>
            <a:chExt cx="5184000" cy="238461"/>
          </a:xfrm>
        </p:grpSpPr>
        <p:sp>
          <p:nvSpPr>
            <p:cNvPr id="9" name="object 5">
              <a:extLst>
                <a:ext uri="{FF2B5EF4-FFF2-40B4-BE49-F238E27FC236}">
                  <a16:creationId xmlns:a16="http://schemas.microsoft.com/office/drawing/2014/main" id="{B1A87953-0866-02E8-3F2C-DEF808958C7D}"/>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7B32CC62-115B-D888-5C6D-033DB5E9683D}"/>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F581C97C-29E9-D423-1405-64C1C698D631}"/>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1925C6EB-47D0-223B-318D-FFBECF9B7369}"/>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4398010B-8000-B4EE-B88E-1CC53C2066B7}"/>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D499B78C-8F58-275D-249E-C6C4FBFA0E4A}"/>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A741F280-4C90-3455-25E2-8E1FA2600AB5}"/>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254F244-EFDA-F403-B06A-8B460254F046}"/>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6CB5DB41-06C7-DA3A-6EFA-766F9D383703}"/>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33A46A72-0A27-966C-BB92-2FEFAC7C0809}"/>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2CE47279-0B4B-B513-610A-8D064DCC065D}"/>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83782DFD-633B-3F1E-A71C-38235D8DC581}"/>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B6148DB9-F8E6-1277-68F4-ECB370104949}"/>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2473D03C-A7E2-9710-3EBE-A02ECF18ED6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E7C7A09A-09A8-3BB1-A932-801C836025F2}"/>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A98D67CD-E8B0-B3A5-3866-16D7322B331D}"/>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FA4E2A65-EE47-7D9F-B503-24546B0AEB4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3258459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54681-29F7-BF96-A65E-1F655CE01F0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D6D0388-45E6-4EA0-655C-2922DC7D33C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3D6D0388-45E6-4EA0-655C-2922DC7D33C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AC4550F8-A78B-BFB7-B974-FF6C86246017}"/>
              </a:ext>
            </a:extLst>
          </p:cNvPr>
          <p:cNvSpPr>
            <a:spLocks noGrp="1"/>
          </p:cNvSpPr>
          <p:nvPr>
            <p:ph type="title"/>
          </p:nvPr>
        </p:nvSpPr>
        <p:spPr/>
        <p:txBody>
          <a:bodyPr lIns="0" tIns="45720" rIns="0" bIns="45720" anchor="t"/>
          <a:lstStyle/>
          <a:p>
            <a:r>
              <a:rPr lang="en-US" sz="2000" b="1">
                <a:solidFill>
                  <a:schemeClr val="tx2"/>
                </a:solidFill>
                <a:latin typeface="+mj-lt"/>
                <a:ea typeface="Verdana"/>
                <a:cs typeface="Arial"/>
              </a:rPr>
              <a:t>Workshop 1</a:t>
            </a:r>
            <a:br>
              <a:rPr lang="en-US">
                <a:latin typeface="+mj-lt"/>
              </a:rPr>
            </a:br>
            <a:r>
              <a:rPr lang="en-US" sz="1400">
                <a:solidFill>
                  <a:schemeClr val="tx2"/>
                </a:solidFill>
                <a:ea typeface="Verdana"/>
                <a:cs typeface="Arial"/>
              </a:rPr>
              <a:t>Solution Introduction &amp; Foundational Kickoff</a:t>
            </a:r>
            <a:endParaRPr lang="fr-FR" sz="140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F998A313-22BD-914E-9C59-74D40B7D77E6}"/>
              </a:ext>
            </a:extLst>
          </p:cNvPr>
          <p:cNvSpPr txBox="1"/>
          <p:nvPr/>
        </p:nvSpPr>
        <p:spPr>
          <a:xfrm>
            <a:off x="339206" y="1343029"/>
            <a:ext cx="3888000" cy="1399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a:solidFill>
                  <a:schemeClr val="tx2"/>
                </a:solidFill>
              </a:rPr>
              <a:t>Introduce the implementation approach, timeline, and roles.</a:t>
            </a:r>
          </a:p>
          <a:p>
            <a:pPr defTabSz="914378">
              <a:spcAft>
                <a:spcPts val="300"/>
              </a:spcAft>
              <a:buClr>
                <a:schemeClr val="tx2"/>
              </a:buClr>
              <a:buFont typeface="Wingdings" pitchFamily="2" charset="2"/>
              <a:buChar char="§"/>
            </a:pPr>
            <a:r>
              <a:rPr lang="en-US" sz="900">
                <a:solidFill>
                  <a:schemeClr val="tx2"/>
                </a:solidFill>
              </a:rPr>
              <a:t>Align on overall goals of the T&amp;Q App implementation.</a:t>
            </a:r>
          </a:p>
          <a:p>
            <a:pPr defTabSz="914378">
              <a:spcAft>
                <a:spcPts val="300"/>
              </a:spcAft>
              <a:buClr>
                <a:schemeClr val="tx2"/>
              </a:buClr>
              <a:buFont typeface="Wingdings" pitchFamily="2" charset="2"/>
              <a:buChar char="§"/>
            </a:pPr>
            <a:r>
              <a:rPr lang="en-US" sz="900">
                <a:solidFill>
                  <a:schemeClr val="tx2"/>
                </a:solidFill>
              </a:rPr>
              <a:t>Establish working model, communication cadence, and decision‑making structure.</a:t>
            </a:r>
            <a:endParaRPr lang="en-US" sz="900">
              <a:solidFill>
                <a:schemeClr val="tx2"/>
              </a:solidFill>
              <a:highlight>
                <a:srgbClr val="FFFF00"/>
              </a:highlight>
              <a:cs typeface="Arial"/>
            </a:endParaRPr>
          </a:p>
        </p:txBody>
      </p:sp>
      <p:sp>
        <p:nvSpPr>
          <p:cNvPr id="4" name="TextBox 148">
            <a:extLst>
              <a:ext uri="{FF2B5EF4-FFF2-40B4-BE49-F238E27FC236}">
                <a16:creationId xmlns:a16="http://schemas.microsoft.com/office/drawing/2014/main" id="{60715C90-A35F-D0BC-E896-E6604504CBB8}"/>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a:solidFill>
                  <a:schemeClr val="tx2"/>
                </a:solidFill>
                <a:cs typeface="Arial"/>
              </a:rPr>
              <a:t>Finalized project plan + timeline.</a:t>
            </a:r>
          </a:p>
          <a:p>
            <a:pPr defTabSz="914378">
              <a:buClr>
                <a:schemeClr val="tx2"/>
              </a:buClr>
              <a:buFont typeface="Wingdings" pitchFamily="2" charset="2"/>
              <a:buChar char="§"/>
            </a:pPr>
            <a:r>
              <a:rPr lang="en-US" sz="900">
                <a:solidFill>
                  <a:schemeClr val="tx2"/>
                </a:solidFill>
                <a:cs typeface="Arial"/>
              </a:rPr>
              <a:t>Confirmed team roster + RACI.</a:t>
            </a:r>
          </a:p>
          <a:p>
            <a:pPr defTabSz="914378">
              <a:buClr>
                <a:schemeClr val="tx2"/>
              </a:buClr>
              <a:buFont typeface="Wingdings" pitchFamily="2" charset="2"/>
              <a:buChar char="§"/>
            </a:pPr>
            <a:r>
              <a:rPr lang="en-US" sz="900">
                <a:solidFill>
                  <a:schemeClr val="tx2"/>
                </a:solidFill>
                <a:cs typeface="Arial"/>
              </a:rPr>
              <a:t>Agreed meeting/workshop schedule.</a:t>
            </a:r>
          </a:p>
          <a:p>
            <a:pPr defTabSz="914378">
              <a:buClr>
                <a:schemeClr val="tx2"/>
              </a:buClr>
              <a:buFont typeface="Wingdings" pitchFamily="2" charset="2"/>
              <a:buChar char="§"/>
            </a:pPr>
            <a:r>
              <a:rPr lang="en-US" sz="900">
                <a:solidFill>
                  <a:schemeClr val="tx2"/>
                </a:solidFill>
                <a:cs typeface="Arial"/>
              </a:rPr>
              <a:t>Shared kickoff deck and T&amp;Q App data templates.</a:t>
            </a:r>
          </a:p>
        </p:txBody>
      </p:sp>
      <p:sp>
        <p:nvSpPr>
          <p:cNvPr id="5" name="object 5">
            <a:extLst>
              <a:ext uri="{FF2B5EF4-FFF2-40B4-BE49-F238E27FC236}">
                <a16:creationId xmlns:a16="http://schemas.microsoft.com/office/drawing/2014/main" id="{DABA3CD2-898E-5501-08E3-B3297BB7BD50}"/>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AA092CC2-A5A1-1D5C-0D59-06AF69872CF2}"/>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160CCEC3-F2B6-1D6C-8606-61F6F15ADB57}"/>
              </a:ext>
            </a:extLst>
          </p:cNvPr>
          <p:cNvSpPr txBox="1">
            <a:spLocks/>
          </p:cNvSpPr>
          <p:nvPr/>
        </p:nvSpPr>
        <p:spPr>
          <a:xfrm>
            <a:off x="339206" y="3316744"/>
            <a:ext cx="3888000" cy="1906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a:solidFill>
                  <a:schemeClr val="tx2"/>
                </a:solidFill>
              </a:rPr>
              <a:t>Review project scope, milestones, and responsibilities.</a:t>
            </a:r>
          </a:p>
          <a:p>
            <a:pPr defTabSz="914378">
              <a:spcAft>
                <a:spcPts val="300"/>
              </a:spcAft>
              <a:buClr>
                <a:schemeClr val="tx2"/>
              </a:buClr>
              <a:buFont typeface="Wingdings" pitchFamily="2" charset="2"/>
              <a:buChar char="§"/>
            </a:pPr>
            <a:r>
              <a:rPr lang="en-US">
                <a:solidFill>
                  <a:schemeClr val="tx2"/>
                </a:solidFill>
              </a:rPr>
              <a:t>Walk through foundational concepts of the Anaplan model.</a:t>
            </a:r>
          </a:p>
          <a:p>
            <a:pPr defTabSz="914378">
              <a:spcAft>
                <a:spcPts val="300"/>
              </a:spcAft>
              <a:buClr>
                <a:schemeClr val="tx2"/>
              </a:buClr>
              <a:buFont typeface="Wingdings" pitchFamily="2" charset="2"/>
              <a:buChar char="§"/>
            </a:pPr>
            <a:r>
              <a:rPr lang="en-US">
                <a:solidFill>
                  <a:schemeClr val="tx2"/>
                </a:solidFill>
              </a:rPr>
              <a:t>Confirm project team participation and expectations.</a:t>
            </a:r>
          </a:p>
          <a:p>
            <a:pPr defTabSz="914378">
              <a:spcAft>
                <a:spcPts val="300"/>
              </a:spcAft>
              <a:buClr>
                <a:schemeClr val="tx2"/>
              </a:buClr>
              <a:buFont typeface="Wingdings" pitchFamily="2" charset="2"/>
              <a:buChar char="§"/>
            </a:pPr>
            <a:r>
              <a:rPr lang="en-US">
                <a:solidFill>
                  <a:schemeClr val="tx2"/>
                </a:solidFill>
              </a:rPr>
              <a:t>Review project artifacts (Kick‑Off deck, workshop plans).</a:t>
            </a:r>
          </a:p>
          <a:p>
            <a:pPr defTabSz="914378">
              <a:spcAft>
                <a:spcPts val="300"/>
              </a:spcAft>
              <a:buClr>
                <a:schemeClr val="tx2"/>
              </a:buClr>
              <a:buFont typeface="Wingdings" pitchFamily="2" charset="2"/>
              <a:buChar char="§"/>
            </a:pPr>
            <a:r>
              <a:rPr lang="en-US">
                <a:solidFill>
                  <a:schemeClr val="tx2"/>
                </a:solidFill>
                <a:cs typeface="Arial"/>
              </a:rPr>
              <a:t>Schedule remainder of Foundation sessions (if not already scheduled)</a:t>
            </a:r>
          </a:p>
        </p:txBody>
      </p:sp>
      <p:grpSp>
        <p:nvGrpSpPr>
          <p:cNvPr id="8" name="Group 157">
            <a:extLst>
              <a:ext uri="{FF2B5EF4-FFF2-40B4-BE49-F238E27FC236}">
                <a16:creationId xmlns:a16="http://schemas.microsoft.com/office/drawing/2014/main" id="{1595E25F-C5E8-85B2-F99F-60EF5FECC65B}"/>
              </a:ext>
            </a:extLst>
          </p:cNvPr>
          <p:cNvGrpSpPr/>
          <p:nvPr/>
        </p:nvGrpSpPr>
        <p:grpSpPr>
          <a:xfrm>
            <a:off x="339206" y="3086696"/>
            <a:ext cx="3888000" cy="178847"/>
            <a:chOff x="452275" y="3999981"/>
            <a:chExt cx="5184000" cy="238461"/>
          </a:xfrm>
        </p:grpSpPr>
        <p:sp>
          <p:nvSpPr>
            <p:cNvPr id="9" name="object 5">
              <a:extLst>
                <a:ext uri="{FF2B5EF4-FFF2-40B4-BE49-F238E27FC236}">
                  <a16:creationId xmlns:a16="http://schemas.microsoft.com/office/drawing/2014/main" id="{FCD3DAB4-D447-8C87-7C8B-4CD3587DABB4}"/>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5BAB9C5A-EEA7-DD7B-B0B7-E7BE3A8206E8}"/>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E5D25294-4F80-A169-6362-80728BB23988}"/>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93EF7C7C-80A7-AC0C-E8BC-0179A7DFF540}"/>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0499C30C-41AD-49FE-26B7-C5CF4C8B71AD}"/>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0DD1F3D7-3E5E-C1A7-F224-1AAFDE93812B}"/>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FB23605B-E991-674C-FEF9-A8B4D57A55ED}"/>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1E0D7AE-4A38-7B45-253A-D3588E4F1D59}"/>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3EDC5244-C169-0C7C-0B00-2B601E8B7CFB}"/>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E5027E8E-B2C4-72B5-E85A-8FC39D6BB8B4}"/>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4B7B434F-D7B0-0504-3EC9-1B4CA14F98AA}"/>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8BA9D8BD-0D30-2479-1DBB-71C77421A009}"/>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17BAF697-B900-A789-9A41-474213F90BA4}"/>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27AF0690-BB61-FC6E-FA1F-5EEA2A703F7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6065063B-5FAE-7936-2ED8-F7AA12AA8B59}"/>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D5DF8057-1023-A2A5-2BF1-43AAE9570837}"/>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18C567F8-FAC0-F271-72B7-F5C579C8C4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1268111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D400-B2A8-ECE2-C08C-312658F2EBDD}"/>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ED2ADE7-B5EE-07F3-C30E-F21781234A80}"/>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0ED2ADE7-B5EE-07F3-C30E-F21781234A8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B7088EA1-B337-F3C9-6C37-C1CDCCAE7E7B}"/>
              </a:ext>
            </a:extLst>
          </p:cNvPr>
          <p:cNvSpPr>
            <a:spLocks noGrp="1"/>
          </p:cNvSpPr>
          <p:nvPr>
            <p:ph type="title"/>
          </p:nvPr>
        </p:nvSpPr>
        <p:spPr/>
        <p:txBody>
          <a:bodyPr lIns="0" tIns="45720" rIns="0" bIns="45720" anchor="t"/>
          <a:lstStyle/>
          <a:p>
            <a:r>
              <a:rPr lang="en-US" sz="2000" b="1">
                <a:solidFill>
                  <a:schemeClr val="tx2"/>
                </a:solidFill>
                <a:latin typeface="+mj-lt"/>
                <a:ea typeface="Verdana"/>
                <a:cs typeface="Arial"/>
              </a:rPr>
              <a:t>Workshop 2</a:t>
            </a:r>
            <a:br>
              <a:rPr lang="en-US">
                <a:latin typeface="+mj-lt"/>
              </a:rPr>
            </a:br>
            <a:r>
              <a:rPr lang="en-US" sz="1400">
                <a:solidFill>
                  <a:schemeClr val="tx2"/>
                </a:solidFill>
                <a:latin typeface="+mj-lt"/>
                <a:ea typeface="Verdana"/>
                <a:cs typeface="Arial"/>
              </a:rPr>
              <a:t>Fitting T&amp;Q Process to App Functionality (Demo)</a:t>
            </a:r>
            <a:endParaRPr lang="fr-FR" sz="140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705B668D-E239-6285-C1C9-60AFF6F773D2}"/>
              </a:ext>
            </a:extLst>
          </p:cNvPr>
          <p:cNvSpPr txBox="1"/>
          <p:nvPr/>
        </p:nvSpPr>
        <p:spPr>
          <a:xfrm>
            <a:off x="339206" y="1343029"/>
            <a:ext cx="3888000" cy="1399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a:solidFill>
                  <a:schemeClr val="tx2"/>
                </a:solidFill>
                <a:latin typeface="+mj-lt"/>
              </a:rPr>
              <a:t>Provide a high‑level walk‑through of base Anaplan functionality.</a:t>
            </a:r>
          </a:p>
          <a:p>
            <a:pPr defTabSz="914378">
              <a:spcAft>
                <a:spcPts val="300"/>
              </a:spcAft>
              <a:buClr>
                <a:schemeClr val="tx2"/>
              </a:buClr>
              <a:buFont typeface="Wingdings" pitchFamily="2" charset="2"/>
              <a:buChar char="§"/>
            </a:pPr>
            <a:r>
              <a:rPr lang="en-US" sz="900">
                <a:solidFill>
                  <a:schemeClr val="tx2"/>
                </a:solidFill>
                <a:latin typeface="+mj-lt"/>
              </a:rPr>
              <a:t>Identify fit/gap between customer T&amp;Q processes and the application.</a:t>
            </a:r>
          </a:p>
          <a:p>
            <a:pPr defTabSz="914378">
              <a:spcAft>
                <a:spcPts val="300"/>
              </a:spcAft>
              <a:buClr>
                <a:schemeClr val="tx2"/>
              </a:buClr>
              <a:buFont typeface="Wingdings" pitchFamily="2" charset="2"/>
              <a:buChar char="§"/>
            </a:pPr>
            <a:r>
              <a:rPr lang="en-US" sz="900">
                <a:solidFill>
                  <a:schemeClr val="tx2"/>
                </a:solidFill>
                <a:latin typeface="+mj-lt"/>
              </a:rPr>
              <a:t>Align on key capabilities, personas, cadence, and required granularity.</a:t>
            </a:r>
            <a:endParaRPr lang="en-US" sz="90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BF93022B-815B-CDF4-8F1A-B32B505C1C3A}"/>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a:solidFill>
                  <a:schemeClr val="tx2"/>
                </a:solidFill>
                <a:latin typeface="+mj-lt"/>
                <a:cs typeface="Arial"/>
              </a:rPr>
              <a:t>Fit/Gap summary across major workflows.</a:t>
            </a:r>
          </a:p>
          <a:p>
            <a:pPr defTabSz="914378">
              <a:buClr>
                <a:schemeClr val="tx2"/>
              </a:buClr>
              <a:buFont typeface="Wingdings" pitchFamily="2" charset="2"/>
              <a:buChar char="§"/>
            </a:pPr>
            <a:r>
              <a:rPr lang="en-US" sz="900">
                <a:solidFill>
                  <a:schemeClr val="tx2"/>
                </a:solidFill>
                <a:latin typeface="+mj-lt"/>
                <a:cs typeface="Arial"/>
              </a:rPr>
              <a:t>Refined list of personas + corresponding functional needs.</a:t>
            </a:r>
          </a:p>
          <a:p>
            <a:pPr defTabSz="914378">
              <a:buClr>
                <a:schemeClr val="tx2"/>
              </a:buClr>
              <a:buFont typeface="Wingdings" pitchFamily="2" charset="2"/>
              <a:buChar char="§"/>
            </a:pPr>
            <a:r>
              <a:rPr lang="en-US" sz="900">
                <a:solidFill>
                  <a:schemeClr val="tx2"/>
                </a:solidFill>
                <a:latin typeface="+mj-lt"/>
                <a:cs typeface="Arial"/>
              </a:rPr>
              <a:t>Documented high-level list of required enhancements or configuration changes.</a:t>
            </a:r>
            <a:endParaRPr lang="en-US" sz="900">
              <a:solidFill>
                <a:schemeClr val="tx2"/>
              </a:solidFill>
              <a:latin typeface="+mj-lt"/>
            </a:endParaRPr>
          </a:p>
        </p:txBody>
      </p:sp>
      <p:sp>
        <p:nvSpPr>
          <p:cNvPr id="5" name="object 5">
            <a:extLst>
              <a:ext uri="{FF2B5EF4-FFF2-40B4-BE49-F238E27FC236}">
                <a16:creationId xmlns:a16="http://schemas.microsoft.com/office/drawing/2014/main" id="{AEDF8052-1BD3-0501-6C3B-CF853B69A276}"/>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05730D8B-255C-2F83-377F-7C684EAEB5EA}"/>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3745BD10-8D9B-081F-FA5A-2AF4D843E6C0}"/>
              </a:ext>
            </a:extLst>
          </p:cNvPr>
          <p:cNvSpPr txBox="1">
            <a:spLocks/>
          </p:cNvSpPr>
          <p:nvPr/>
        </p:nvSpPr>
        <p:spPr>
          <a:xfrm>
            <a:off x="339206" y="3316744"/>
            <a:ext cx="3888000" cy="1906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a:solidFill>
                  <a:schemeClr val="tx2"/>
                </a:solidFill>
                <a:latin typeface="+mj-lt"/>
              </a:rPr>
              <a:t>Demo of T&amp;Q application capabilities.</a:t>
            </a:r>
          </a:p>
          <a:p>
            <a:pPr defTabSz="914378">
              <a:spcAft>
                <a:spcPts val="300"/>
              </a:spcAft>
              <a:buClr>
                <a:schemeClr val="tx2"/>
              </a:buClr>
              <a:buFont typeface="Wingdings" pitchFamily="2" charset="2"/>
              <a:buChar char="§"/>
            </a:pPr>
            <a:r>
              <a:rPr lang="en-US">
                <a:solidFill>
                  <a:schemeClr val="tx2"/>
                </a:solidFill>
                <a:latin typeface="+mj-lt"/>
              </a:rPr>
              <a:t>Walkthrough of L1 process map and L2 as needed.</a:t>
            </a:r>
          </a:p>
          <a:p>
            <a:pPr defTabSz="914378">
              <a:spcAft>
                <a:spcPts val="300"/>
              </a:spcAft>
              <a:buClr>
                <a:schemeClr val="tx2"/>
              </a:buClr>
              <a:buFont typeface="Wingdings" pitchFamily="2" charset="2"/>
              <a:buChar char="§"/>
            </a:pPr>
            <a:r>
              <a:rPr lang="en-US" sz="900">
                <a:solidFill>
                  <a:schemeClr val="tx2"/>
                </a:solidFill>
                <a:latin typeface="+mj-lt"/>
              </a:rPr>
              <a:t>Review user roles, workflows, and integration touchpoints.</a:t>
            </a:r>
          </a:p>
          <a:p>
            <a:pPr defTabSz="914378">
              <a:spcAft>
                <a:spcPts val="300"/>
              </a:spcAft>
              <a:buClr>
                <a:schemeClr val="tx2"/>
              </a:buClr>
              <a:buFont typeface="Wingdings" pitchFamily="2" charset="2"/>
              <a:buChar char="§"/>
            </a:pPr>
            <a:r>
              <a:rPr lang="en-US" sz="900">
                <a:solidFill>
                  <a:schemeClr val="tx2"/>
                </a:solidFill>
                <a:latin typeface="+mj-lt"/>
              </a:rPr>
              <a:t>Conduct high‑level fit‑gap assessment. </a:t>
            </a:r>
          </a:p>
          <a:p>
            <a:pPr marL="557212" lvl="2" indent="-174625" defTabSz="914378">
              <a:buClr>
                <a:schemeClr val="tx2"/>
              </a:buClr>
              <a:buFont typeface="Wingdings" pitchFamily="2" charset="2"/>
              <a:buChar char="§"/>
            </a:pPr>
            <a:r>
              <a:rPr lang="en-US" sz="900" i="1">
                <a:solidFill>
                  <a:schemeClr val="tx2"/>
                </a:solidFill>
                <a:latin typeface="+mj-lt"/>
              </a:rPr>
              <a:t>Note: goal is simply to identify high level gaps, not to dive deeper into customer processes.</a:t>
            </a:r>
          </a:p>
          <a:p>
            <a:pPr defTabSz="914378">
              <a:spcAft>
                <a:spcPts val="300"/>
              </a:spcAft>
              <a:buClr>
                <a:schemeClr val="tx2"/>
              </a:buClr>
              <a:buFont typeface="Wingdings" pitchFamily="2" charset="2"/>
              <a:buChar char="§"/>
            </a:pPr>
            <a:r>
              <a:rPr lang="en-US" sz="900">
                <a:solidFill>
                  <a:schemeClr val="tx2"/>
                </a:solidFill>
                <a:latin typeface="+mj-lt"/>
              </a:rPr>
              <a:t>Capture early clarifying questions for deeper workshops.</a:t>
            </a:r>
            <a:endParaRPr lang="en-US" sz="900">
              <a:solidFill>
                <a:schemeClr val="tx2"/>
              </a:solidFill>
              <a:latin typeface="+mj-lt"/>
              <a:cs typeface="Arial"/>
            </a:endParaRPr>
          </a:p>
        </p:txBody>
      </p:sp>
      <p:grpSp>
        <p:nvGrpSpPr>
          <p:cNvPr id="8" name="Group 157">
            <a:extLst>
              <a:ext uri="{FF2B5EF4-FFF2-40B4-BE49-F238E27FC236}">
                <a16:creationId xmlns:a16="http://schemas.microsoft.com/office/drawing/2014/main" id="{7E20C6C9-640B-4948-ECD6-BF146C844C28}"/>
              </a:ext>
            </a:extLst>
          </p:cNvPr>
          <p:cNvGrpSpPr/>
          <p:nvPr/>
        </p:nvGrpSpPr>
        <p:grpSpPr>
          <a:xfrm>
            <a:off x="339206" y="3086696"/>
            <a:ext cx="3888000" cy="178847"/>
            <a:chOff x="452275" y="3999981"/>
            <a:chExt cx="5184000" cy="238461"/>
          </a:xfrm>
        </p:grpSpPr>
        <p:sp>
          <p:nvSpPr>
            <p:cNvPr id="9" name="object 5">
              <a:extLst>
                <a:ext uri="{FF2B5EF4-FFF2-40B4-BE49-F238E27FC236}">
                  <a16:creationId xmlns:a16="http://schemas.microsoft.com/office/drawing/2014/main" id="{33E09862-7F29-4364-8701-4E902E7D9CD9}"/>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CA997149-2F56-3FE3-6D24-01870988AE46}"/>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93844518-EFEA-ACC9-CF27-753EDB8CA9E1}"/>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524F2CE6-65E9-5618-44BB-EF1EBAE7E0F2}"/>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670493B3-D20F-520C-E7D4-34A68A4986CD}"/>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BA37123E-8E58-EBC8-B763-B35B9D067A32}"/>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6EDF782B-D611-FADC-074A-8B86A2F3F7BF}"/>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E160BAAE-3D7E-D009-A6DB-2D13E79A76D7}"/>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AC56D0AC-C52B-FAAF-2F53-D412049D66FA}"/>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442744CF-1EB4-95F3-AABC-507E0BF99D7B}"/>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319B806C-80E6-BCA0-DA8C-9F032648638E}"/>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F00A1EA5-D00D-7656-9B4B-F5C89AD6539C}"/>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9434D2C9-736C-A048-8F62-25E676A191D8}"/>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92935FB4-EE69-6C56-57AE-214D47AE946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70C8E869-A861-9B07-7A49-4DBF7CE51D54}"/>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EC0CF65A-0528-574F-BF73-B69F8641DC96}"/>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ED3100CD-A24A-BB11-6432-03323639938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172876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3770-8B60-7475-4AB4-CEA4AFE453F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10D3BF3-A9A3-EB0A-DEFD-1568DD071D5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310D3BF3-A9A3-EB0A-DEFD-1568DD071D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249B35C6-E437-30AA-CE28-7584196D5B11}"/>
              </a:ext>
            </a:extLst>
          </p:cNvPr>
          <p:cNvSpPr>
            <a:spLocks noGrp="1"/>
          </p:cNvSpPr>
          <p:nvPr>
            <p:ph type="title"/>
          </p:nvPr>
        </p:nvSpPr>
        <p:spPr/>
        <p:txBody>
          <a:bodyPr lIns="0" tIns="45720" rIns="0" bIns="45720" anchor="t"/>
          <a:lstStyle/>
          <a:p>
            <a:r>
              <a:rPr lang="en-US" sz="2000" b="1">
                <a:solidFill>
                  <a:schemeClr val="tx2"/>
                </a:solidFill>
                <a:latin typeface="+mj-lt"/>
                <a:ea typeface="Verdana"/>
                <a:cs typeface="Arial"/>
              </a:rPr>
              <a:t>Workshop 3</a:t>
            </a:r>
            <a:br>
              <a:rPr lang="en-US">
                <a:latin typeface="+mj-lt"/>
              </a:rPr>
            </a:br>
            <a:r>
              <a:rPr lang="en-US" sz="1400">
                <a:solidFill>
                  <a:schemeClr val="tx2"/>
                </a:solidFill>
                <a:latin typeface="+mj-lt"/>
                <a:ea typeface="Verdana"/>
                <a:cs typeface="Arial"/>
              </a:rPr>
              <a:t>First Review: Dimensions &amp; Hierarchies</a:t>
            </a:r>
            <a:endParaRPr lang="fr-FR" sz="140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A6794773-B197-CD59-CA9F-C253A8F5E3EF}"/>
              </a:ext>
            </a:extLst>
          </p:cNvPr>
          <p:cNvSpPr txBox="1"/>
          <p:nvPr/>
        </p:nvSpPr>
        <p:spPr>
          <a:xfrm>
            <a:off x="339206" y="1343029"/>
            <a:ext cx="3888000" cy="1571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a:solidFill>
                  <a:schemeClr val="tx2"/>
                </a:solidFill>
                <a:latin typeface="+mj-lt"/>
              </a:rPr>
              <a:t>Understand customer’s current dimensions and hierarchies used in T&amp;Q.</a:t>
            </a:r>
          </a:p>
          <a:p>
            <a:pPr defTabSz="914378">
              <a:spcAft>
                <a:spcPts val="300"/>
              </a:spcAft>
              <a:buClr>
                <a:schemeClr val="tx2"/>
              </a:buClr>
              <a:buFont typeface="Wingdings" pitchFamily="2" charset="2"/>
              <a:buChar char="§"/>
            </a:pPr>
            <a:r>
              <a:rPr lang="en-US" sz="900">
                <a:solidFill>
                  <a:schemeClr val="tx2"/>
                </a:solidFill>
                <a:latin typeface="+mj-lt"/>
              </a:rPr>
              <a:t>Identify territory assignment inconsistencies and areas needing redesign.</a:t>
            </a:r>
          </a:p>
          <a:p>
            <a:pPr defTabSz="914378">
              <a:spcAft>
                <a:spcPts val="300"/>
              </a:spcAft>
              <a:buClr>
                <a:schemeClr val="tx2"/>
              </a:buClr>
              <a:buFont typeface="Wingdings" pitchFamily="2" charset="2"/>
              <a:buChar char="§"/>
            </a:pPr>
            <a:r>
              <a:rPr lang="en-US" sz="900">
                <a:solidFill>
                  <a:schemeClr val="tx2"/>
                </a:solidFill>
                <a:latin typeface="+mj-lt"/>
              </a:rPr>
              <a:t>Review target &amp; goal setting structures and what dimensionality they require.</a:t>
            </a:r>
          </a:p>
          <a:p>
            <a:pPr defTabSz="914378">
              <a:spcAft>
                <a:spcPts val="300"/>
              </a:spcAft>
              <a:buClr>
                <a:schemeClr val="tx2"/>
              </a:buClr>
              <a:buFont typeface="Wingdings" pitchFamily="2" charset="2"/>
              <a:buChar char="§"/>
            </a:pPr>
            <a:r>
              <a:rPr lang="en-US" sz="900">
                <a:solidFill>
                  <a:schemeClr val="tx2"/>
                </a:solidFill>
                <a:latin typeface="+mj-lt"/>
              </a:rPr>
              <a:t>Assess reporting needs to ensure the hierarchy design supports downstream consumption.</a:t>
            </a:r>
          </a:p>
          <a:p>
            <a:pPr defTabSz="914378">
              <a:spcAft>
                <a:spcPts val="300"/>
              </a:spcAft>
              <a:buClr>
                <a:schemeClr val="tx2"/>
              </a:buClr>
              <a:buFont typeface="Wingdings" pitchFamily="2" charset="2"/>
              <a:buChar char="§"/>
            </a:pPr>
            <a:r>
              <a:rPr lang="en-US" sz="900">
                <a:solidFill>
                  <a:schemeClr val="tx2"/>
                </a:solidFill>
                <a:latin typeface="+mj-lt"/>
              </a:rPr>
              <a:t>Establish initial pass of goal/target/assignment rules to be modeled.</a:t>
            </a:r>
            <a:endParaRPr lang="en-US" sz="90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91A55905-CA8C-E028-038A-4349B8CC36AC}"/>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a:solidFill>
                  <a:schemeClr val="tx2"/>
                </a:solidFill>
                <a:latin typeface="+mj-lt"/>
                <a:cs typeface="Arial"/>
              </a:rPr>
              <a:t>Draft hierarchy + dimension design (to be validated in later sessions).</a:t>
            </a:r>
          </a:p>
          <a:p>
            <a:pPr defTabSz="914378">
              <a:buClr>
                <a:schemeClr val="tx2"/>
              </a:buClr>
              <a:buFont typeface="Wingdings" pitchFamily="2" charset="2"/>
              <a:buChar char="§"/>
            </a:pPr>
            <a:r>
              <a:rPr lang="en-US" sz="900">
                <a:solidFill>
                  <a:schemeClr val="tx2"/>
                </a:solidFill>
                <a:latin typeface="+mj-lt"/>
                <a:cs typeface="Arial"/>
              </a:rPr>
              <a:t>Preliminary list of dimensional changes and rationale.</a:t>
            </a:r>
          </a:p>
          <a:p>
            <a:pPr defTabSz="914378">
              <a:buClr>
                <a:schemeClr val="tx2"/>
              </a:buClr>
              <a:buFont typeface="Wingdings" pitchFamily="2" charset="2"/>
              <a:buChar char="§"/>
            </a:pPr>
            <a:r>
              <a:rPr lang="en-US" sz="900">
                <a:solidFill>
                  <a:schemeClr val="tx2"/>
                </a:solidFill>
                <a:latin typeface="+mj-lt"/>
                <a:cs typeface="Arial"/>
              </a:rPr>
              <a:t>Documented downstream impacts of hierarchy modifications.</a:t>
            </a:r>
          </a:p>
          <a:p>
            <a:pPr defTabSz="914378">
              <a:buClr>
                <a:schemeClr val="tx2"/>
              </a:buClr>
              <a:buFont typeface="Wingdings" pitchFamily="2" charset="2"/>
              <a:buChar char="§"/>
            </a:pPr>
            <a:r>
              <a:rPr lang="en-US" sz="900">
                <a:solidFill>
                  <a:schemeClr val="tx2"/>
                </a:solidFill>
                <a:latin typeface="+mj-lt"/>
                <a:cs typeface="Arial"/>
              </a:rPr>
              <a:t>Initial rules for goal/target/territory assignments.</a:t>
            </a:r>
          </a:p>
          <a:p>
            <a:pPr defTabSz="914378">
              <a:buClr>
                <a:schemeClr val="tx2"/>
              </a:buClr>
              <a:buFont typeface="Wingdings" pitchFamily="2" charset="2"/>
              <a:buChar char="§"/>
            </a:pPr>
            <a:r>
              <a:rPr lang="en-US" sz="900">
                <a:solidFill>
                  <a:schemeClr val="tx2"/>
                </a:solidFill>
                <a:latin typeface="+mj-lt"/>
                <a:cs typeface="Arial"/>
              </a:rPr>
              <a:t>List of outstanding questions for data requirements/design.</a:t>
            </a:r>
            <a:endParaRPr lang="en-US" sz="900">
              <a:solidFill>
                <a:schemeClr val="tx2"/>
              </a:solidFill>
              <a:latin typeface="+mj-lt"/>
            </a:endParaRPr>
          </a:p>
        </p:txBody>
      </p:sp>
      <p:sp>
        <p:nvSpPr>
          <p:cNvPr id="5" name="object 5">
            <a:extLst>
              <a:ext uri="{FF2B5EF4-FFF2-40B4-BE49-F238E27FC236}">
                <a16:creationId xmlns:a16="http://schemas.microsoft.com/office/drawing/2014/main" id="{A57FBA3C-916A-DC8A-6077-0F62FED5CE6C}"/>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D9CDAC7B-1C06-7424-469F-DF89A2E97F03}"/>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2F073154-171F-1D87-C68F-F5CC9B1C89AB}"/>
              </a:ext>
            </a:extLst>
          </p:cNvPr>
          <p:cNvSpPr txBox="1">
            <a:spLocks/>
          </p:cNvSpPr>
          <p:nvPr/>
        </p:nvSpPr>
        <p:spPr>
          <a:xfrm>
            <a:off x="339206" y="3316744"/>
            <a:ext cx="3888000" cy="1906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a:solidFill>
                  <a:schemeClr val="tx2"/>
                </a:solidFill>
                <a:latin typeface="+mj-lt"/>
              </a:rPr>
              <a:t>Review existing hierarchies, definitions, and mapping logic.</a:t>
            </a:r>
          </a:p>
          <a:p>
            <a:pPr defTabSz="914378">
              <a:spcAft>
                <a:spcPts val="300"/>
              </a:spcAft>
              <a:buClr>
                <a:schemeClr val="tx2"/>
              </a:buClr>
              <a:buFont typeface="Wingdings" pitchFamily="2" charset="2"/>
              <a:buChar char="§"/>
            </a:pPr>
            <a:r>
              <a:rPr lang="en-US" sz="900">
                <a:solidFill>
                  <a:schemeClr val="tx2"/>
                </a:solidFill>
                <a:latin typeface="+mj-lt"/>
              </a:rPr>
              <a:t>Identify which dimensions need modification (e.g., extra dimensions for target setting).</a:t>
            </a:r>
          </a:p>
          <a:p>
            <a:pPr defTabSz="914378">
              <a:spcAft>
                <a:spcPts val="300"/>
              </a:spcAft>
              <a:buClr>
                <a:schemeClr val="tx2"/>
              </a:buClr>
              <a:buFont typeface="Wingdings" pitchFamily="2" charset="2"/>
              <a:buChar char="§"/>
            </a:pPr>
            <a:r>
              <a:rPr lang="en-US" sz="900">
                <a:solidFill>
                  <a:schemeClr val="tx2"/>
                </a:solidFill>
                <a:latin typeface="+mj-lt"/>
              </a:rPr>
              <a:t>Evaluate territory assignment rules and where mismatches occur.</a:t>
            </a:r>
          </a:p>
          <a:p>
            <a:pPr defTabSz="914378">
              <a:spcAft>
                <a:spcPts val="300"/>
              </a:spcAft>
              <a:buClr>
                <a:schemeClr val="tx2"/>
              </a:buClr>
              <a:buFont typeface="Wingdings" pitchFamily="2" charset="2"/>
              <a:buChar char="§"/>
            </a:pPr>
            <a:r>
              <a:rPr lang="en-US" sz="900">
                <a:solidFill>
                  <a:schemeClr val="tx2"/>
                </a:solidFill>
                <a:latin typeface="+mj-lt"/>
              </a:rPr>
              <a:t>Discuss impacts of dimension changes on downstream systems, integrations, and reporting.</a:t>
            </a:r>
          </a:p>
          <a:p>
            <a:pPr defTabSz="914378">
              <a:spcAft>
                <a:spcPts val="300"/>
              </a:spcAft>
              <a:buClr>
                <a:schemeClr val="tx2"/>
              </a:buClr>
              <a:buFont typeface="Wingdings" pitchFamily="2" charset="2"/>
              <a:buChar char="§"/>
            </a:pPr>
            <a:r>
              <a:rPr lang="en-US" sz="900">
                <a:solidFill>
                  <a:schemeClr val="tx2"/>
                </a:solidFill>
                <a:latin typeface="+mj-lt"/>
              </a:rPr>
              <a:t>Capture functional requirements for target setting, reporting, and assignment logic.</a:t>
            </a:r>
          </a:p>
          <a:p>
            <a:pPr defTabSz="914378">
              <a:spcAft>
                <a:spcPts val="300"/>
              </a:spcAft>
              <a:buClr>
                <a:schemeClr val="tx2"/>
              </a:buClr>
              <a:buFont typeface="Wingdings" pitchFamily="2" charset="2"/>
              <a:buChar char="§"/>
            </a:pPr>
            <a:r>
              <a:rPr lang="en-US" sz="900">
                <a:solidFill>
                  <a:schemeClr val="tx2"/>
                </a:solidFill>
                <a:latin typeface="+mj-lt"/>
              </a:rPr>
              <a:t>Walk through examples of customer’s current hierarchy usage.</a:t>
            </a:r>
            <a:endParaRPr lang="en-US" sz="900">
              <a:solidFill>
                <a:schemeClr val="tx2"/>
              </a:solidFill>
              <a:latin typeface="+mj-lt"/>
              <a:cs typeface="Arial"/>
            </a:endParaRPr>
          </a:p>
        </p:txBody>
      </p:sp>
      <p:grpSp>
        <p:nvGrpSpPr>
          <p:cNvPr id="8" name="Group 157">
            <a:extLst>
              <a:ext uri="{FF2B5EF4-FFF2-40B4-BE49-F238E27FC236}">
                <a16:creationId xmlns:a16="http://schemas.microsoft.com/office/drawing/2014/main" id="{7F29750E-4A5A-4C97-CCBC-94BF3A308465}"/>
              </a:ext>
            </a:extLst>
          </p:cNvPr>
          <p:cNvGrpSpPr/>
          <p:nvPr/>
        </p:nvGrpSpPr>
        <p:grpSpPr>
          <a:xfrm>
            <a:off x="339206" y="3086696"/>
            <a:ext cx="3888000" cy="178847"/>
            <a:chOff x="452275" y="3999981"/>
            <a:chExt cx="5184000" cy="238461"/>
          </a:xfrm>
        </p:grpSpPr>
        <p:sp>
          <p:nvSpPr>
            <p:cNvPr id="9" name="object 5">
              <a:extLst>
                <a:ext uri="{FF2B5EF4-FFF2-40B4-BE49-F238E27FC236}">
                  <a16:creationId xmlns:a16="http://schemas.microsoft.com/office/drawing/2014/main" id="{3834B18C-1C11-62F9-DC15-52F1AE9EF230}"/>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57281D91-49D1-8122-CCBF-3B98C56E5E7B}"/>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EF15B3AF-2CAF-2D32-7840-65B6F67D3320}"/>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D562CF9D-10D3-977D-4F64-E20B4307B85B}"/>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752D87E2-1B72-F713-54B1-1A7C4699D47B}"/>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07E24216-32B7-5A14-62ED-9ABFFA0ADDD1}"/>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075C29CD-73D3-6BA4-D17C-AA8AC799B6CB}"/>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D0ADAA8-2783-2819-72A7-95D0FF0C9DC8}"/>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F19C99E0-38A4-DF1E-78F6-83011C0D1905}"/>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31C508AE-33EC-9745-6928-B18A90E1EC80}"/>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2053BB68-DB9B-0D56-037C-9698C3E64C12}"/>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167860D6-E01E-8EAB-48A1-D63CBBBF7FCF}"/>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D82F0045-546D-B66B-7FB0-78D61A59618B}"/>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8EBBEE15-9DBF-07E8-5DF2-E52F6A37E73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914EFB18-C15E-7D91-CBCA-2B1C447222C3}"/>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9CB05C33-E51C-6F56-F62E-DCC7DB90DEB5}"/>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85BBAC2E-33A2-FFD5-E6B4-246B61B9232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452845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9AC84-EC90-3905-877A-EF3FD2C3E3B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BE7A8EA-6E5A-73A1-334C-B66E0ADDD24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0BE7A8EA-6E5A-73A1-334C-B66E0ADDD24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E4583780-64E3-A765-8ABD-8D1DAC433EE3}"/>
              </a:ext>
            </a:extLst>
          </p:cNvPr>
          <p:cNvSpPr>
            <a:spLocks noGrp="1"/>
          </p:cNvSpPr>
          <p:nvPr>
            <p:ph type="title"/>
          </p:nvPr>
        </p:nvSpPr>
        <p:spPr/>
        <p:txBody>
          <a:bodyPr lIns="0" tIns="45720" rIns="0" bIns="45720" anchor="t"/>
          <a:lstStyle/>
          <a:p>
            <a:r>
              <a:rPr lang="en-US" sz="2000" b="1" dirty="0">
                <a:solidFill>
                  <a:schemeClr val="tx2"/>
                </a:solidFill>
                <a:latin typeface="+mj-lt"/>
                <a:ea typeface="Verdana"/>
                <a:cs typeface="Arial"/>
              </a:rPr>
              <a:t>Workshop 4</a:t>
            </a:r>
            <a:br>
              <a:rPr lang="en-US" dirty="0">
                <a:latin typeface="+mj-lt"/>
              </a:rPr>
            </a:br>
            <a:r>
              <a:rPr lang="en-US" sz="1400" dirty="0">
                <a:solidFill>
                  <a:schemeClr val="tx2"/>
                </a:solidFill>
                <a:latin typeface="+mj-lt"/>
                <a:ea typeface="Verdana"/>
                <a:cs typeface="Arial"/>
              </a:rPr>
              <a:t>Data &amp; Integrations Deep Dive</a:t>
            </a:r>
            <a:endParaRPr lang="fr-FR" sz="1400" dirty="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65C2B629-C6F0-86F2-612A-4A49E1F269DB}"/>
              </a:ext>
            </a:extLst>
          </p:cNvPr>
          <p:cNvSpPr txBox="1"/>
          <p:nvPr/>
        </p:nvSpPr>
        <p:spPr>
          <a:xfrm>
            <a:off x="339206" y="1343029"/>
            <a:ext cx="3888000" cy="1571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dirty="0">
                <a:solidFill>
                  <a:schemeClr val="tx2"/>
                </a:solidFill>
                <a:latin typeface="+mj-lt"/>
              </a:rPr>
              <a:t>Review customer pre-filled data templates prior to loading data into TQ App for configurations.</a:t>
            </a:r>
            <a:endParaRPr lang="en-US" sz="900" dirty="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7BA5B1CC-16CD-16A0-7A50-31E78ADE85B2}"/>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dirty="0">
                <a:solidFill>
                  <a:schemeClr val="tx2"/>
                </a:solidFill>
                <a:latin typeface="+mj-lt"/>
                <a:cs typeface="Arial"/>
              </a:rPr>
              <a:t>Completed pre-filled data templates with </a:t>
            </a:r>
            <a:r>
              <a:rPr lang="en-US" sz="900" b="1" dirty="0">
                <a:solidFill>
                  <a:schemeClr val="tx2"/>
                </a:solidFill>
                <a:latin typeface="+mj-lt"/>
                <a:cs typeface="Arial"/>
              </a:rPr>
              <a:t>production quality data</a:t>
            </a:r>
            <a:r>
              <a:rPr lang="en-US" sz="900" dirty="0">
                <a:solidFill>
                  <a:schemeClr val="tx2"/>
                </a:solidFill>
                <a:latin typeface="+mj-lt"/>
                <a:cs typeface="Arial"/>
              </a:rPr>
              <a:t>, ready to load into app for configuration.</a:t>
            </a:r>
          </a:p>
          <a:p>
            <a:pPr defTabSz="914378">
              <a:buClr>
                <a:schemeClr val="tx2"/>
              </a:buClr>
              <a:buFont typeface="Wingdings" pitchFamily="2" charset="2"/>
              <a:buChar char="§"/>
            </a:pPr>
            <a:r>
              <a:rPr lang="en-US" sz="900" dirty="0">
                <a:solidFill>
                  <a:schemeClr val="tx2"/>
                </a:solidFill>
                <a:cs typeface="Arial"/>
              </a:rPr>
              <a:t>Confirmed and documented data and integration strategy.</a:t>
            </a:r>
            <a:endParaRPr lang="en-US" sz="900" dirty="0">
              <a:solidFill>
                <a:schemeClr val="tx2"/>
              </a:solidFill>
            </a:endParaRPr>
          </a:p>
          <a:p>
            <a:pPr defTabSz="914378">
              <a:buClr>
                <a:schemeClr val="tx2"/>
              </a:buClr>
              <a:buFont typeface="Wingdings" pitchFamily="2" charset="2"/>
              <a:buChar char="§"/>
            </a:pPr>
            <a:endParaRPr lang="en-US" sz="900" dirty="0">
              <a:solidFill>
                <a:schemeClr val="tx2"/>
              </a:solidFill>
              <a:latin typeface="+mj-lt"/>
              <a:cs typeface="Arial"/>
            </a:endParaRPr>
          </a:p>
          <a:p>
            <a:pPr defTabSz="914378">
              <a:buClr>
                <a:schemeClr val="tx2"/>
              </a:buClr>
              <a:buFont typeface="Wingdings" pitchFamily="2" charset="2"/>
              <a:buChar char="§"/>
            </a:pPr>
            <a:endParaRPr lang="en-US" sz="900" dirty="0">
              <a:solidFill>
                <a:schemeClr val="tx2"/>
              </a:solidFill>
              <a:latin typeface="+mj-lt"/>
            </a:endParaRPr>
          </a:p>
        </p:txBody>
      </p:sp>
      <p:sp>
        <p:nvSpPr>
          <p:cNvPr id="5" name="object 5">
            <a:extLst>
              <a:ext uri="{FF2B5EF4-FFF2-40B4-BE49-F238E27FC236}">
                <a16:creationId xmlns:a16="http://schemas.microsoft.com/office/drawing/2014/main" id="{DB0BFD5E-9E5A-74E7-F2CC-8BDB8E8E1B67}"/>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B2938E5C-653E-72E5-EEE2-CF0D751BF727}"/>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5C50794A-2BA4-E7E1-6527-1D9E900601E7}"/>
              </a:ext>
            </a:extLst>
          </p:cNvPr>
          <p:cNvSpPr txBox="1">
            <a:spLocks/>
          </p:cNvSpPr>
          <p:nvPr/>
        </p:nvSpPr>
        <p:spPr>
          <a:xfrm>
            <a:off x="339206" y="3316744"/>
            <a:ext cx="3888000" cy="1906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dirty="0">
                <a:solidFill>
                  <a:schemeClr val="tx2"/>
                </a:solidFill>
                <a:latin typeface="+mj-lt"/>
              </a:rPr>
              <a:t>Walk through </a:t>
            </a:r>
            <a:r>
              <a:rPr lang="en-US" dirty="0">
                <a:solidFill>
                  <a:schemeClr val="tx2"/>
                </a:solidFill>
              </a:rPr>
              <a:t>customer pre-filled data templates </a:t>
            </a:r>
            <a:r>
              <a:rPr lang="en-US" sz="900" dirty="0">
                <a:solidFill>
                  <a:schemeClr val="tx2"/>
                </a:solidFill>
                <a:latin typeface="+mj-lt"/>
              </a:rPr>
              <a:t>prior to Base App Configuration.</a:t>
            </a:r>
          </a:p>
          <a:p>
            <a:pPr defTabSz="914378">
              <a:spcAft>
                <a:spcPts val="300"/>
              </a:spcAft>
              <a:buClr>
                <a:schemeClr val="tx2"/>
              </a:buClr>
              <a:buFont typeface="Wingdings" pitchFamily="2" charset="2"/>
              <a:buChar char="§"/>
            </a:pPr>
            <a:r>
              <a:rPr lang="en-US" sz="900" dirty="0">
                <a:solidFill>
                  <a:schemeClr val="tx2"/>
                </a:solidFill>
                <a:latin typeface="+mj-lt"/>
              </a:rPr>
              <a:t>Confirm integration approach (manual uploads, automated runs, etc.).</a:t>
            </a:r>
          </a:p>
          <a:p>
            <a:pPr defTabSz="914378">
              <a:spcAft>
                <a:spcPts val="300"/>
              </a:spcAft>
              <a:buClr>
                <a:schemeClr val="tx2"/>
              </a:buClr>
              <a:buFont typeface="Wingdings" pitchFamily="2" charset="2"/>
              <a:buChar char="§"/>
            </a:pPr>
            <a:r>
              <a:rPr lang="en-US" sz="900" dirty="0">
                <a:solidFill>
                  <a:schemeClr val="tx2"/>
                </a:solidFill>
                <a:latin typeface="+mj-lt"/>
              </a:rPr>
              <a:t>Confirm data gaps, cleansing needs, and ownership.</a:t>
            </a:r>
            <a:endParaRPr lang="en-US" sz="900" dirty="0">
              <a:solidFill>
                <a:schemeClr val="tx2"/>
              </a:solidFill>
              <a:latin typeface="+mj-lt"/>
              <a:cs typeface="Arial"/>
            </a:endParaRPr>
          </a:p>
        </p:txBody>
      </p:sp>
      <p:grpSp>
        <p:nvGrpSpPr>
          <p:cNvPr id="8" name="Group 157">
            <a:extLst>
              <a:ext uri="{FF2B5EF4-FFF2-40B4-BE49-F238E27FC236}">
                <a16:creationId xmlns:a16="http://schemas.microsoft.com/office/drawing/2014/main" id="{AE30356F-D5D9-2316-B3B1-38B7AF976A6A}"/>
              </a:ext>
            </a:extLst>
          </p:cNvPr>
          <p:cNvGrpSpPr/>
          <p:nvPr/>
        </p:nvGrpSpPr>
        <p:grpSpPr>
          <a:xfrm>
            <a:off x="339206" y="3086696"/>
            <a:ext cx="3888000" cy="178847"/>
            <a:chOff x="452275" y="3999981"/>
            <a:chExt cx="5184000" cy="238461"/>
          </a:xfrm>
        </p:grpSpPr>
        <p:sp>
          <p:nvSpPr>
            <p:cNvPr id="9" name="object 5">
              <a:extLst>
                <a:ext uri="{FF2B5EF4-FFF2-40B4-BE49-F238E27FC236}">
                  <a16:creationId xmlns:a16="http://schemas.microsoft.com/office/drawing/2014/main" id="{E296DA55-1F8D-1064-28BA-9540EBF059B2}"/>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C25FDA8B-2B6F-9BD1-A54A-08E9B7CDCA56}"/>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1C33F166-412F-621A-D937-C610FB4D0B7A}"/>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530555B9-E9B3-85FE-160E-16813D025A73}"/>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EE0FB657-8A92-1C22-48E3-A208C6815747}"/>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DF9D43E5-AA5D-1139-AC3B-5724F7BED245}"/>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5ED5906C-245D-B85B-DFD4-8832B538D75E}"/>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FD23057-A368-3E4D-082E-F2A1E85AEA93}"/>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ADAB3309-91B4-B158-91E3-E3FFC6EF0777}"/>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6387685D-AD53-87F9-2E43-5A7D1AB2CD4C}"/>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F0ECAC73-7ED2-AFFA-3075-7BFEFA2923A8}"/>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8EF1CBFA-772C-93E7-2E32-FB3F1846CE7F}"/>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ECF098C9-64FB-F426-72E3-88C49D2579E1}"/>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8ADB9749-EE87-07AF-A511-65DA87697E9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188BD664-A239-69B2-0916-DDE7335E3ADE}"/>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C91EE4E5-476D-B636-67CA-666E4698E719}"/>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DCA4D48A-BD0D-6E07-18AD-EA5694BBE4F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167362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1B499-D200-B9F3-D008-AA27AA211CE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2174F17-3380-1B71-7943-7AAFE17D0C1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92174F17-3380-1B71-7943-7AAFE17D0C1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71422AE9-6B9F-83ED-8020-86AB7485192D}"/>
              </a:ext>
            </a:extLst>
          </p:cNvPr>
          <p:cNvSpPr>
            <a:spLocks noGrp="1"/>
          </p:cNvSpPr>
          <p:nvPr>
            <p:ph type="title"/>
          </p:nvPr>
        </p:nvSpPr>
        <p:spPr/>
        <p:txBody>
          <a:bodyPr lIns="0" tIns="45720" rIns="0" bIns="45720" anchor="t"/>
          <a:lstStyle/>
          <a:p>
            <a:r>
              <a:rPr lang="en-US" sz="2000" b="1">
                <a:solidFill>
                  <a:schemeClr val="tx2"/>
                </a:solidFill>
                <a:latin typeface="+mj-lt"/>
                <a:ea typeface="Verdana"/>
                <a:cs typeface="Arial"/>
              </a:rPr>
              <a:t>Workshops 5 &amp; 6</a:t>
            </a:r>
            <a:br>
              <a:rPr lang="en-US">
                <a:latin typeface="+mj-lt"/>
              </a:rPr>
            </a:br>
            <a:r>
              <a:rPr lang="en-US" sz="1400">
                <a:solidFill>
                  <a:schemeClr val="tx2"/>
                </a:solidFill>
                <a:latin typeface="+mj-lt"/>
                <a:ea typeface="Verdana"/>
                <a:cs typeface="Arial"/>
              </a:rPr>
              <a:t>T&amp;Q Detailed Exploration (App Walkthrough) Pt. 1 &amp; 2</a:t>
            </a:r>
            <a:br>
              <a:rPr lang="en-US" sz="1400">
                <a:solidFill>
                  <a:schemeClr val="tx2"/>
                </a:solidFill>
                <a:latin typeface="+mj-lt"/>
                <a:ea typeface="Verdana"/>
                <a:cs typeface="Arial"/>
              </a:rPr>
            </a:br>
            <a:endParaRPr lang="fr-FR" sz="140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1DC02531-AB8E-FEBF-D51F-13B62E3B91D8}"/>
              </a:ext>
            </a:extLst>
          </p:cNvPr>
          <p:cNvSpPr txBox="1"/>
          <p:nvPr/>
        </p:nvSpPr>
        <p:spPr>
          <a:xfrm>
            <a:off x="339206" y="1343029"/>
            <a:ext cx="3888000" cy="1571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a:solidFill>
                  <a:schemeClr val="tx2"/>
                </a:solidFill>
                <a:latin typeface="+mj-lt"/>
              </a:rPr>
              <a:t>Validate how the base app components support the customer’s end‑to‑end T&amp;Q process.</a:t>
            </a:r>
          </a:p>
          <a:p>
            <a:pPr defTabSz="914378">
              <a:spcAft>
                <a:spcPts val="300"/>
              </a:spcAft>
              <a:buClr>
                <a:schemeClr val="tx2"/>
              </a:buClr>
              <a:buFont typeface="Wingdings" pitchFamily="2" charset="2"/>
              <a:buChar char="§"/>
            </a:pPr>
            <a:r>
              <a:rPr lang="en-US" sz="900">
                <a:solidFill>
                  <a:schemeClr val="tx2"/>
                </a:solidFill>
                <a:latin typeface="+mj-lt"/>
              </a:rPr>
              <a:t>Review existing dimension and hierarchy configurations in the app against customer needs.</a:t>
            </a:r>
          </a:p>
          <a:p>
            <a:pPr defTabSz="914378">
              <a:spcAft>
                <a:spcPts val="300"/>
              </a:spcAft>
              <a:buClr>
                <a:schemeClr val="tx2"/>
              </a:buClr>
              <a:buFont typeface="Wingdings" pitchFamily="2" charset="2"/>
              <a:buChar char="§"/>
            </a:pPr>
            <a:r>
              <a:rPr lang="en-US" sz="900">
                <a:solidFill>
                  <a:schemeClr val="tx2"/>
                </a:solidFill>
                <a:latin typeface="+mj-lt"/>
              </a:rPr>
              <a:t>Identify where configuration vs. customization is required (fit/gap).</a:t>
            </a:r>
          </a:p>
          <a:p>
            <a:pPr defTabSz="914378">
              <a:spcAft>
                <a:spcPts val="300"/>
              </a:spcAft>
              <a:buClr>
                <a:schemeClr val="tx2"/>
              </a:buClr>
              <a:buFont typeface="Wingdings" pitchFamily="2" charset="2"/>
              <a:buChar char="§"/>
            </a:pPr>
            <a:r>
              <a:rPr lang="en-US" sz="900">
                <a:solidFill>
                  <a:schemeClr val="tx2"/>
                </a:solidFill>
                <a:latin typeface="+mj-lt"/>
              </a:rPr>
              <a:t>Align on required granularity, data availability, and historical coverage for planning and reporting.</a:t>
            </a:r>
            <a:endParaRPr lang="en-US" sz="90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94414533-97FD-D85A-29B2-38FE3BD51EE0}"/>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a:solidFill>
                  <a:schemeClr val="tx2"/>
                </a:solidFill>
                <a:latin typeface="+mj-lt"/>
                <a:cs typeface="Arial"/>
              </a:rPr>
              <a:t>Detailed Fit/Gap Log with severity and recommended disposition (configure/extend).</a:t>
            </a:r>
          </a:p>
          <a:p>
            <a:pPr defTabSz="914378">
              <a:buClr>
                <a:schemeClr val="tx2"/>
              </a:buClr>
              <a:buFont typeface="Wingdings" pitchFamily="2" charset="2"/>
              <a:buChar char="§"/>
            </a:pPr>
            <a:r>
              <a:rPr lang="en-US" sz="900">
                <a:solidFill>
                  <a:schemeClr val="tx2"/>
                </a:solidFill>
                <a:latin typeface="+mj-lt"/>
                <a:cs typeface="Arial"/>
              </a:rPr>
              <a:t>Draft Functional Configuration Notes (by module/component).</a:t>
            </a:r>
          </a:p>
          <a:p>
            <a:pPr defTabSz="914378">
              <a:buClr>
                <a:schemeClr val="tx2"/>
              </a:buClr>
              <a:buFont typeface="Wingdings" pitchFamily="2" charset="2"/>
              <a:buChar char="§"/>
            </a:pPr>
            <a:r>
              <a:rPr lang="en-US" sz="900">
                <a:solidFill>
                  <a:schemeClr val="tx2"/>
                </a:solidFill>
                <a:latin typeface="+mj-lt"/>
                <a:cs typeface="Arial"/>
              </a:rPr>
              <a:t>Validated dimension &amp; hierarchy requirements (including required attributes and rollups).</a:t>
            </a:r>
          </a:p>
          <a:p>
            <a:pPr defTabSz="914378">
              <a:buClr>
                <a:schemeClr val="tx2"/>
              </a:buClr>
              <a:buFont typeface="Wingdings" pitchFamily="2" charset="2"/>
              <a:buChar char="§"/>
            </a:pPr>
            <a:r>
              <a:rPr lang="en-US" sz="900">
                <a:solidFill>
                  <a:schemeClr val="tx2"/>
                </a:solidFill>
                <a:latin typeface="+mj-lt"/>
                <a:cs typeface="Arial"/>
              </a:rPr>
              <a:t>Confirmed granularity &amp; cadence for T&amp;Q cycles (e.g., monthly, quarterly).</a:t>
            </a:r>
          </a:p>
          <a:p>
            <a:pPr defTabSz="914378">
              <a:buClr>
                <a:schemeClr val="tx2"/>
              </a:buClr>
              <a:buFont typeface="Wingdings" pitchFamily="2" charset="2"/>
              <a:buChar char="§"/>
            </a:pPr>
            <a:r>
              <a:rPr lang="en-US" sz="900">
                <a:solidFill>
                  <a:schemeClr val="tx2"/>
                </a:solidFill>
                <a:latin typeface="+mj-lt"/>
                <a:cs typeface="Arial"/>
              </a:rPr>
              <a:t>Updated Open Issues &amp; Decisions Log.</a:t>
            </a:r>
            <a:endParaRPr lang="en-US" sz="900">
              <a:solidFill>
                <a:schemeClr val="tx2"/>
              </a:solidFill>
              <a:latin typeface="+mj-lt"/>
            </a:endParaRPr>
          </a:p>
        </p:txBody>
      </p:sp>
      <p:sp>
        <p:nvSpPr>
          <p:cNvPr id="5" name="object 5">
            <a:extLst>
              <a:ext uri="{FF2B5EF4-FFF2-40B4-BE49-F238E27FC236}">
                <a16:creationId xmlns:a16="http://schemas.microsoft.com/office/drawing/2014/main" id="{21B18D50-F595-799E-53B6-EC76B0002654}"/>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6F890A46-94CA-3284-F8B1-1E6F4900C253}"/>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BEB1A621-4D7F-6E31-C56F-6FD7CBA32AEB}"/>
              </a:ext>
            </a:extLst>
          </p:cNvPr>
          <p:cNvSpPr txBox="1">
            <a:spLocks/>
          </p:cNvSpPr>
          <p:nvPr/>
        </p:nvSpPr>
        <p:spPr>
          <a:xfrm>
            <a:off x="339206" y="2916694"/>
            <a:ext cx="3888000" cy="18851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a:solidFill>
                  <a:schemeClr val="tx2"/>
                </a:solidFill>
                <a:latin typeface="+mj-lt"/>
              </a:rPr>
              <a:t>Guided walkthrough of relevant app components/modules (inputs, calculations, outputs, dashboards).</a:t>
            </a:r>
          </a:p>
          <a:p>
            <a:pPr defTabSz="914378">
              <a:spcAft>
                <a:spcPts val="300"/>
              </a:spcAft>
              <a:buClr>
                <a:schemeClr val="tx2"/>
              </a:buClr>
              <a:buFont typeface="Wingdings" pitchFamily="2" charset="2"/>
              <a:buChar char="§"/>
            </a:pPr>
            <a:r>
              <a:rPr lang="en-US" sz="900">
                <a:solidFill>
                  <a:schemeClr val="tx2"/>
                </a:solidFill>
                <a:latin typeface="+mj-lt"/>
              </a:rPr>
              <a:t>Review current dimension &amp; hierarchy definitions.</a:t>
            </a:r>
          </a:p>
          <a:p>
            <a:pPr defTabSz="914378">
              <a:spcAft>
                <a:spcPts val="300"/>
              </a:spcAft>
              <a:buClr>
                <a:schemeClr val="tx2"/>
              </a:buClr>
              <a:buFont typeface="Wingdings" pitchFamily="2" charset="2"/>
              <a:buChar char="§"/>
            </a:pPr>
            <a:r>
              <a:rPr lang="en-US" sz="900">
                <a:solidFill>
                  <a:schemeClr val="tx2"/>
                </a:solidFill>
                <a:latin typeface="+mj-lt"/>
              </a:rPr>
              <a:t>Validate planning levels (e.g., month vs. week; territory vs. account) and aggregation paths for reporting.</a:t>
            </a:r>
          </a:p>
          <a:p>
            <a:pPr defTabSz="914378">
              <a:spcAft>
                <a:spcPts val="300"/>
              </a:spcAft>
              <a:buClr>
                <a:schemeClr val="tx2"/>
              </a:buClr>
              <a:buFont typeface="Wingdings" pitchFamily="2" charset="2"/>
              <a:buChar char="§"/>
            </a:pPr>
            <a:r>
              <a:rPr lang="en-US" sz="900">
                <a:solidFill>
                  <a:schemeClr val="tx2"/>
                </a:solidFill>
                <a:latin typeface="+mj-lt"/>
              </a:rPr>
              <a:t>Capture gaps vs. standard functionality and categorize (configure or extend).</a:t>
            </a:r>
          </a:p>
          <a:p>
            <a:pPr defTabSz="914378">
              <a:spcAft>
                <a:spcPts val="300"/>
              </a:spcAft>
              <a:buClr>
                <a:schemeClr val="tx2"/>
              </a:buClr>
              <a:buFont typeface="Wingdings" pitchFamily="2" charset="2"/>
              <a:buChar char="§"/>
            </a:pPr>
            <a:r>
              <a:rPr lang="en-US" sz="900">
                <a:solidFill>
                  <a:schemeClr val="tx2"/>
                </a:solidFill>
                <a:latin typeface="+mj-lt"/>
              </a:rPr>
              <a:t>Confirm target outputs: reports, exports, KPIs, and auditability requirements.</a:t>
            </a:r>
          </a:p>
          <a:p>
            <a:pPr defTabSz="914378">
              <a:spcAft>
                <a:spcPts val="300"/>
              </a:spcAft>
              <a:buClr>
                <a:schemeClr val="tx2"/>
              </a:buClr>
              <a:buFont typeface="Wingdings" pitchFamily="2" charset="2"/>
              <a:buChar char="§"/>
            </a:pPr>
            <a:r>
              <a:rPr lang="en-US" sz="900">
                <a:solidFill>
                  <a:schemeClr val="tx2"/>
                </a:solidFill>
                <a:latin typeface="+mj-lt"/>
              </a:rPr>
              <a:t>Review sample data behavior in the app using template/sample data to illustrate flows.</a:t>
            </a:r>
          </a:p>
        </p:txBody>
      </p:sp>
      <p:grpSp>
        <p:nvGrpSpPr>
          <p:cNvPr id="8" name="Group 157">
            <a:extLst>
              <a:ext uri="{FF2B5EF4-FFF2-40B4-BE49-F238E27FC236}">
                <a16:creationId xmlns:a16="http://schemas.microsoft.com/office/drawing/2014/main" id="{1737FA6B-B8A1-78DD-6C6F-BF0FB375AAED}"/>
              </a:ext>
            </a:extLst>
          </p:cNvPr>
          <p:cNvGrpSpPr/>
          <p:nvPr/>
        </p:nvGrpSpPr>
        <p:grpSpPr>
          <a:xfrm>
            <a:off x="339206" y="2686646"/>
            <a:ext cx="3888000" cy="178847"/>
            <a:chOff x="452275" y="3999981"/>
            <a:chExt cx="5184000" cy="238461"/>
          </a:xfrm>
        </p:grpSpPr>
        <p:sp>
          <p:nvSpPr>
            <p:cNvPr id="9" name="object 5">
              <a:extLst>
                <a:ext uri="{FF2B5EF4-FFF2-40B4-BE49-F238E27FC236}">
                  <a16:creationId xmlns:a16="http://schemas.microsoft.com/office/drawing/2014/main" id="{51F9B6C4-FFFF-E6C3-C850-3C869DFE0F0F}"/>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F87B1C22-C02B-1CAC-0E13-0A9B051953F9}"/>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3017456B-C799-9FBA-0B69-0EE1046F5CE0}"/>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257DEB0A-A991-23BA-24E2-20C288A5A91E}"/>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1F42C288-4ED7-8EB2-01A4-7D00D68F5B28}"/>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82C407C6-03C7-6032-E16E-7331A7E90F51}"/>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AE65B024-1D98-2E33-7290-A83EEF59A310}"/>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99A57A7D-DDB2-F6C5-31B0-B8C9BA384D73}"/>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96CEACCE-C3E0-DD53-FBD4-15D375292325}"/>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A2E7D52B-45D8-2D3C-F672-6FD74307998E}"/>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ABADC0D1-135E-D97D-D7CA-73ED4A5B7625}"/>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C4D268DF-65B9-2ACF-BB43-CD2A1A12FAF5}"/>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BDBF1C36-4B70-6536-CFC2-61C41A60B60C}"/>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8862D90D-838A-FF95-6C66-273366F64B8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2F7E2A85-EF00-63D1-97AD-D541ABC48C91}"/>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E26A53AC-E48A-4D56-6454-197B7CC70AC1}"/>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32A733EF-19CC-C220-4E5C-C42512721B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93929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2282D-031E-BF08-C112-479CD3117E3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E2C42DC-4578-2A70-C50A-BC533F43A72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AE2C42DC-4578-2A70-C50A-BC533F43A72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8064DED5-E087-11C5-9020-5092A82E6B02}"/>
              </a:ext>
            </a:extLst>
          </p:cNvPr>
          <p:cNvSpPr>
            <a:spLocks noGrp="1"/>
          </p:cNvSpPr>
          <p:nvPr>
            <p:ph type="title"/>
          </p:nvPr>
        </p:nvSpPr>
        <p:spPr>
          <a:xfrm>
            <a:off x="419100" y="294640"/>
            <a:ext cx="8153401" cy="689208"/>
          </a:xfrm>
        </p:spPr>
        <p:txBody>
          <a:bodyPr lIns="0" tIns="45720" rIns="0" bIns="45720" anchor="t"/>
          <a:lstStyle/>
          <a:p>
            <a:r>
              <a:rPr lang="en-US" sz="2000" b="1" dirty="0">
                <a:solidFill>
                  <a:schemeClr val="tx2"/>
                </a:solidFill>
                <a:latin typeface="+mj-lt"/>
                <a:ea typeface="Verdana"/>
                <a:cs typeface="Arial"/>
              </a:rPr>
              <a:t>Workshop 7</a:t>
            </a:r>
            <a:br>
              <a:rPr lang="en-US" dirty="0">
                <a:latin typeface="+mj-lt"/>
              </a:rPr>
            </a:br>
            <a:r>
              <a:rPr lang="en-US" sz="1400" dirty="0">
                <a:solidFill>
                  <a:schemeClr val="tx2"/>
                </a:solidFill>
                <a:latin typeface="+mj-lt"/>
                <a:ea typeface="Verdana"/>
                <a:cs typeface="Arial"/>
              </a:rPr>
              <a:t>Playback of High‑Level Design (HLD) &amp; Configuration Document</a:t>
            </a:r>
            <a:br>
              <a:rPr lang="en-US" sz="1400" dirty="0">
                <a:solidFill>
                  <a:schemeClr val="tx2"/>
                </a:solidFill>
                <a:latin typeface="+mj-lt"/>
                <a:ea typeface="Verdana"/>
                <a:cs typeface="Arial"/>
              </a:rPr>
            </a:br>
            <a:endParaRPr lang="fr-FR" sz="1400" dirty="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62BB1554-AAFA-D728-1F38-1906A0948006}"/>
              </a:ext>
            </a:extLst>
          </p:cNvPr>
          <p:cNvSpPr txBox="1"/>
          <p:nvPr/>
        </p:nvSpPr>
        <p:spPr>
          <a:xfrm>
            <a:off x="339206" y="1343030"/>
            <a:ext cx="3888000" cy="1275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dirty="0">
                <a:solidFill>
                  <a:schemeClr val="tx2"/>
                </a:solidFill>
                <a:latin typeface="+mj-lt"/>
              </a:rPr>
              <a:t>Present and validate the High‑Level Design covering data flows, module design, dimensions, and integration points.</a:t>
            </a:r>
          </a:p>
          <a:p>
            <a:pPr defTabSz="914378">
              <a:spcAft>
                <a:spcPts val="300"/>
              </a:spcAft>
              <a:buClr>
                <a:schemeClr val="tx2"/>
              </a:buClr>
              <a:buFont typeface="Wingdings" pitchFamily="2" charset="2"/>
              <a:buChar char="§"/>
            </a:pPr>
            <a:r>
              <a:rPr lang="en-US" sz="900">
                <a:solidFill>
                  <a:schemeClr val="tx2"/>
                </a:solidFill>
                <a:latin typeface="+mj-lt"/>
              </a:rPr>
              <a:t>Confirm high level understanding of what will be configured vs. </a:t>
            </a:r>
            <a:r>
              <a:rPr lang="en-US" sz="900" dirty="0">
                <a:solidFill>
                  <a:schemeClr val="tx2"/>
                </a:solidFill>
                <a:latin typeface="+mj-lt"/>
              </a:rPr>
              <a:t>customized and the impacts.</a:t>
            </a:r>
          </a:p>
          <a:p>
            <a:pPr defTabSz="914378">
              <a:spcAft>
                <a:spcPts val="300"/>
              </a:spcAft>
              <a:buClr>
                <a:schemeClr val="tx2"/>
              </a:buClr>
              <a:buFont typeface="Wingdings" pitchFamily="2" charset="2"/>
              <a:buChar char="§"/>
            </a:pPr>
            <a:r>
              <a:rPr lang="en-US" sz="900" dirty="0">
                <a:solidFill>
                  <a:schemeClr val="tx2"/>
                </a:solidFill>
                <a:latin typeface="+mj-lt"/>
              </a:rPr>
              <a:t>Align on items that will evolve as the project progresses and lock down near‑term build decisions.</a:t>
            </a:r>
            <a:endParaRPr lang="en-US" sz="900" dirty="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542F3316-A3B7-7642-937D-A5AD2C14E2AA}"/>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dirty="0">
                <a:solidFill>
                  <a:schemeClr val="tx2"/>
                </a:solidFill>
                <a:latin typeface="+mj-lt"/>
                <a:cs typeface="Arial"/>
              </a:rPr>
              <a:t>High‑Level Design (HLD) Document (finalized).</a:t>
            </a:r>
          </a:p>
          <a:p>
            <a:pPr defTabSz="914378">
              <a:buClr>
                <a:schemeClr val="tx2"/>
              </a:buClr>
              <a:buFont typeface="Wingdings" pitchFamily="2" charset="2"/>
              <a:buChar char="§"/>
            </a:pPr>
            <a:r>
              <a:rPr lang="en-US" sz="900" dirty="0">
                <a:solidFill>
                  <a:schemeClr val="tx2"/>
                </a:solidFill>
                <a:latin typeface="+mj-lt"/>
                <a:cs typeface="Arial"/>
              </a:rPr>
              <a:t>Data Flow &amp; Integration Diagram with source/target mappings at a high level.</a:t>
            </a:r>
          </a:p>
          <a:p>
            <a:pPr defTabSz="914378">
              <a:buClr>
                <a:schemeClr val="tx2"/>
              </a:buClr>
              <a:buFont typeface="Wingdings" pitchFamily="2" charset="2"/>
              <a:buChar char="§"/>
            </a:pPr>
            <a:r>
              <a:rPr lang="en-US" sz="900" dirty="0">
                <a:solidFill>
                  <a:schemeClr val="tx2"/>
                </a:solidFill>
                <a:latin typeface="+mj-lt"/>
                <a:cs typeface="Arial"/>
              </a:rPr>
              <a:t>Confirmed MVP Scope and Build Plan (including any staged releases).</a:t>
            </a:r>
          </a:p>
          <a:p>
            <a:pPr defTabSz="914378">
              <a:buClr>
                <a:schemeClr val="tx2"/>
              </a:buClr>
              <a:buFont typeface="Wingdings" pitchFamily="2" charset="2"/>
              <a:buChar char="§"/>
            </a:pPr>
            <a:r>
              <a:rPr lang="en-US" sz="900" dirty="0">
                <a:solidFill>
                  <a:schemeClr val="tx2"/>
                </a:solidFill>
                <a:latin typeface="+mj-lt"/>
                <a:cs typeface="Arial"/>
              </a:rPr>
              <a:t>Decision Log updates and formal sign‑off to move into configuration/build.</a:t>
            </a:r>
          </a:p>
        </p:txBody>
      </p:sp>
      <p:sp>
        <p:nvSpPr>
          <p:cNvPr id="5" name="object 5">
            <a:extLst>
              <a:ext uri="{FF2B5EF4-FFF2-40B4-BE49-F238E27FC236}">
                <a16:creationId xmlns:a16="http://schemas.microsoft.com/office/drawing/2014/main" id="{3ABE08AB-A35E-5A5C-977A-86AE6E97045B}"/>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4D2A20F3-8A7E-3E84-C39F-2F1803352616}"/>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73572C58-E6EC-1ED6-9768-CE70E91B618B}"/>
              </a:ext>
            </a:extLst>
          </p:cNvPr>
          <p:cNvSpPr txBox="1">
            <a:spLocks/>
          </p:cNvSpPr>
          <p:nvPr/>
        </p:nvSpPr>
        <p:spPr>
          <a:xfrm>
            <a:off x="339206" y="2916694"/>
            <a:ext cx="3888000" cy="18851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dirty="0">
                <a:solidFill>
                  <a:schemeClr val="tx2"/>
                </a:solidFill>
                <a:latin typeface="+mj-lt"/>
              </a:rPr>
              <a:t>Walkthrough of the HLD: architecture diagram, module list, calculations, data, and integration approach.</a:t>
            </a:r>
          </a:p>
          <a:p>
            <a:pPr defTabSz="914378">
              <a:spcAft>
                <a:spcPts val="300"/>
              </a:spcAft>
              <a:buClr>
                <a:schemeClr val="tx2"/>
              </a:buClr>
              <a:buFont typeface="Wingdings" pitchFamily="2" charset="2"/>
              <a:buChar char="§"/>
            </a:pPr>
            <a:r>
              <a:rPr lang="en-US" sz="900" dirty="0">
                <a:solidFill>
                  <a:schemeClr val="tx2"/>
                </a:solidFill>
                <a:latin typeface="+mj-lt"/>
              </a:rPr>
              <a:t>Review dimension/hierarchy finalization and how they enable planning and reporting.</a:t>
            </a:r>
          </a:p>
          <a:p>
            <a:pPr defTabSz="914378">
              <a:spcAft>
                <a:spcPts val="300"/>
              </a:spcAft>
              <a:buClr>
                <a:schemeClr val="tx2"/>
              </a:buClr>
              <a:buFont typeface="Wingdings" pitchFamily="2" charset="2"/>
              <a:buChar char="§"/>
            </a:pPr>
            <a:r>
              <a:rPr lang="en-US" sz="900" dirty="0">
                <a:solidFill>
                  <a:schemeClr val="tx2"/>
                </a:solidFill>
                <a:latin typeface="+mj-lt"/>
              </a:rPr>
              <a:t>Playback of sample UX pages (key dashboards, inputs, outputs).</a:t>
            </a:r>
          </a:p>
          <a:p>
            <a:pPr defTabSz="914378">
              <a:spcAft>
                <a:spcPts val="300"/>
              </a:spcAft>
              <a:buClr>
                <a:schemeClr val="tx2"/>
              </a:buClr>
              <a:buFont typeface="Wingdings" pitchFamily="2" charset="2"/>
              <a:buChar char="§"/>
            </a:pPr>
            <a:r>
              <a:rPr lang="en-US" sz="900" dirty="0">
                <a:solidFill>
                  <a:schemeClr val="tx2"/>
                </a:solidFill>
                <a:latin typeface="+mj-lt"/>
              </a:rPr>
              <a:t>Confirm sizing/performance considerations.</a:t>
            </a:r>
          </a:p>
          <a:p>
            <a:pPr defTabSz="914378">
              <a:spcAft>
                <a:spcPts val="300"/>
              </a:spcAft>
              <a:buClr>
                <a:schemeClr val="tx2"/>
              </a:buClr>
              <a:buFont typeface="Wingdings" pitchFamily="2" charset="2"/>
              <a:buChar char="§"/>
            </a:pPr>
            <a:r>
              <a:rPr lang="en-US" sz="900" dirty="0">
                <a:solidFill>
                  <a:schemeClr val="tx2"/>
                </a:solidFill>
                <a:latin typeface="+mj-lt"/>
              </a:rPr>
              <a:t>Review testing approach at a high level (SIT, UAT entry/exit criteria).</a:t>
            </a:r>
          </a:p>
          <a:p>
            <a:pPr defTabSz="914378">
              <a:spcAft>
                <a:spcPts val="300"/>
              </a:spcAft>
              <a:buClr>
                <a:schemeClr val="tx2"/>
              </a:buClr>
              <a:buFont typeface="Wingdings" pitchFamily="2" charset="2"/>
              <a:buChar char="§"/>
            </a:pPr>
            <a:r>
              <a:rPr lang="en-US" sz="900" dirty="0">
                <a:solidFill>
                  <a:schemeClr val="tx2"/>
                </a:solidFill>
                <a:latin typeface="+mj-lt"/>
              </a:rPr>
              <a:t>Capture final edits and obtain stakeholder sign‑off to proceed to build.</a:t>
            </a:r>
          </a:p>
        </p:txBody>
      </p:sp>
      <p:grpSp>
        <p:nvGrpSpPr>
          <p:cNvPr id="8" name="Group 157">
            <a:extLst>
              <a:ext uri="{FF2B5EF4-FFF2-40B4-BE49-F238E27FC236}">
                <a16:creationId xmlns:a16="http://schemas.microsoft.com/office/drawing/2014/main" id="{D1621B3E-DCC2-8604-75E9-07766247B1AC}"/>
              </a:ext>
            </a:extLst>
          </p:cNvPr>
          <p:cNvGrpSpPr/>
          <p:nvPr/>
        </p:nvGrpSpPr>
        <p:grpSpPr>
          <a:xfrm>
            <a:off x="339206" y="2686646"/>
            <a:ext cx="3888000" cy="178847"/>
            <a:chOff x="452275" y="3999981"/>
            <a:chExt cx="5184000" cy="238461"/>
          </a:xfrm>
        </p:grpSpPr>
        <p:sp>
          <p:nvSpPr>
            <p:cNvPr id="9" name="object 5">
              <a:extLst>
                <a:ext uri="{FF2B5EF4-FFF2-40B4-BE49-F238E27FC236}">
                  <a16:creationId xmlns:a16="http://schemas.microsoft.com/office/drawing/2014/main" id="{B8579C4E-9549-5D28-6F29-30DA7C5098B1}"/>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0A10BEE7-E912-C711-37A6-07EEF135981C}"/>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62BF992B-764C-2C97-4EBB-2A9BD6E44533}"/>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5A97C1BA-3539-8FE5-88F2-B3AC6C5130F1}"/>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E97561CB-F196-3BD1-D467-A28A5A8869C7}"/>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A27E7B99-1D36-18EE-F194-193004FF8797}"/>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45E2B7B7-AF6B-560A-F7DC-EB0F955D8DEE}"/>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46B5C2F-2A4F-D103-72C2-93633257331D}"/>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79D3D0E9-885D-E838-19BE-E59C7F454532}"/>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076754D7-D7B2-DEEB-0073-594A1F3745CE}"/>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61606452-A20B-6D7F-8409-60D5EE0C7E70}"/>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F761C742-6012-B992-ACFB-B463DE8CC8AE}"/>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1D828B21-4247-95DA-E6F7-A543989131A8}"/>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E0555075-FEEA-B4B0-23DD-E9D996F45E8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6B7960F5-B31F-F155-7C38-7BE39F9E9990}"/>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D1863531-690A-1CB5-7B76-E2611A2AFEEE}"/>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5E60EB86-7135-BDEA-8B65-A30D98360B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373465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171A5-0095-DA38-591D-4349E3FEB3F3}"/>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777B9A6-082A-4CCA-8117-812BAD501774}"/>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395" imgH="394" progId="TCLayout.ActiveDocument.1">
                  <p:embed/>
                </p:oleObj>
              </mc:Choice>
              <mc:Fallback>
                <p:oleObj name="Diapositive think-cell" r:id="rId5" imgW="395" imgH="394" progId="TCLayout.ActiveDocument.1">
                  <p:embed/>
                  <p:pic>
                    <p:nvPicPr>
                      <p:cNvPr id="3" name="think-cell data - do not delete" hidden="1">
                        <a:extLst>
                          <a:ext uri="{FF2B5EF4-FFF2-40B4-BE49-F238E27FC236}">
                            <a16:creationId xmlns:a16="http://schemas.microsoft.com/office/drawing/2014/main" id="{E777B9A6-082A-4CCA-8117-812BAD50177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8" name="Title 57">
            <a:extLst>
              <a:ext uri="{FF2B5EF4-FFF2-40B4-BE49-F238E27FC236}">
                <a16:creationId xmlns:a16="http://schemas.microsoft.com/office/drawing/2014/main" id="{ED22E36A-9CF6-8796-FF7F-A7E031C4150E}"/>
              </a:ext>
            </a:extLst>
          </p:cNvPr>
          <p:cNvSpPr>
            <a:spLocks noGrp="1"/>
          </p:cNvSpPr>
          <p:nvPr>
            <p:ph type="title"/>
          </p:nvPr>
        </p:nvSpPr>
        <p:spPr>
          <a:xfrm>
            <a:off x="419100" y="294640"/>
            <a:ext cx="8153401" cy="689208"/>
          </a:xfrm>
        </p:spPr>
        <p:txBody>
          <a:bodyPr lIns="0" tIns="45720" rIns="0" bIns="45720" anchor="t"/>
          <a:lstStyle/>
          <a:p>
            <a:r>
              <a:rPr lang="en-US" sz="2000" b="1" dirty="0">
                <a:solidFill>
                  <a:schemeClr val="tx2"/>
                </a:solidFill>
                <a:latin typeface="+mj-lt"/>
                <a:ea typeface="Verdana"/>
                <a:cs typeface="Arial"/>
              </a:rPr>
              <a:t>Workshop 8</a:t>
            </a:r>
            <a:br>
              <a:rPr lang="en-US" dirty="0">
                <a:latin typeface="+mj-lt"/>
              </a:rPr>
            </a:br>
            <a:r>
              <a:rPr lang="en-US" sz="1400" dirty="0">
                <a:solidFill>
                  <a:schemeClr val="tx2"/>
                </a:solidFill>
                <a:latin typeface="+mj-lt"/>
                <a:ea typeface="Verdana"/>
                <a:cs typeface="Arial"/>
              </a:rPr>
              <a:t>Deep Dive on Customization Requirements &amp; User Stories</a:t>
            </a:r>
            <a:br>
              <a:rPr lang="en-US" sz="1400" dirty="0">
                <a:solidFill>
                  <a:schemeClr val="tx2"/>
                </a:solidFill>
                <a:latin typeface="+mj-lt"/>
                <a:ea typeface="Verdana"/>
                <a:cs typeface="Arial"/>
              </a:rPr>
            </a:br>
            <a:endParaRPr lang="fr-FR" sz="1400" dirty="0">
              <a:solidFill>
                <a:schemeClr val="tx2"/>
              </a:solidFill>
              <a:latin typeface="+mj-lt"/>
              <a:ea typeface="Verdana"/>
              <a:cs typeface="Arial"/>
            </a:endParaRPr>
          </a:p>
        </p:txBody>
      </p:sp>
      <p:sp>
        <p:nvSpPr>
          <p:cNvPr id="2" name="TextBox 147">
            <a:extLst>
              <a:ext uri="{FF2B5EF4-FFF2-40B4-BE49-F238E27FC236}">
                <a16:creationId xmlns:a16="http://schemas.microsoft.com/office/drawing/2014/main" id="{4AD31102-C576-B763-8F6A-B4B40CBD74F8}"/>
              </a:ext>
            </a:extLst>
          </p:cNvPr>
          <p:cNvSpPr txBox="1"/>
          <p:nvPr/>
        </p:nvSpPr>
        <p:spPr>
          <a:xfrm>
            <a:off x="339206" y="1343029"/>
            <a:ext cx="3888000" cy="1571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spcAft>
                <a:spcPts val="300"/>
              </a:spcAft>
              <a:buClr>
                <a:schemeClr val="tx2"/>
              </a:buClr>
              <a:buFont typeface="Wingdings" pitchFamily="2" charset="2"/>
              <a:buChar char="§"/>
            </a:pPr>
            <a:r>
              <a:rPr lang="en-US" sz="900">
                <a:solidFill>
                  <a:schemeClr val="tx2"/>
                </a:solidFill>
                <a:latin typeface="+mj-lt"/>
              </a:rPr>
              <a:t>Define the extensions and custom logic required beyond standard app capabilities.</a:t>
            </a:r>
          </a:p>
          <a:p>
            <a:pPr defTabSz="914378">
              <a:spcAft>
                <a:spcPts val="300"/>
              </a:spcAft>
              <a:buClr>
                <a:schemeClr val="tx2"/>
              </a:buClr>
              <a:buFont typeface="Wingdings" pitchFamily="2" charset="2"/>
              <a:buChar char="§"/>
            </a:pPr>
            <a:r>
              <a:rPr lang="en-US" sz="900">
                <a:solidFill>
                  <a:schemeClr val="tx2"/>
                </a:solidFill>
                <a:latin typeface="+mj-lt"/>
              </a:rPr>
              <a:t>Translate prioritized gaps into actionable user stories with clear acceptance criteria.</a:t>
            </a:r>
          </a:p>
          <a:p>
            <a:pPr defTabSz="914378">
              <a:spcAft>
                <a:spcPts val="300"/>
              </a:spcAft>
              <a:buClr>
                <a:schemeClr val="tx2"/>
              </a:buClr>
              <a:buFont typeface="Wingdings" pitchFamily="2" charset="2"/>
              <a:buChar char="§"/>
            </a:pPr>
            <a:r>
              <a:rPr lang="en-US" sz="900">
                <a:solidFill>
                  <a:schemeClr val="tx2"/>
                </a:solidFill>
                <a:latin typeface="+mj-lt"/>
              </a:rPr>
              <a:t>Prioritize enhancements for the initial release vs. backlog.</a:t>
            </a:r>
            <a:endParaRPr lang="en-US" sz="900">
              <a:solidFill>
                <a:schemeClr val="tx2"/>
              </a:solidFill>
              <a:highlight>
                <a:srgbClr val="FFFF00"/>
              </a:highlight>
              <a:latin typeface="+mj-lt"/>
              <a:cs typeface="Arial"/>
            </a:endParaRPr>
          </a:p>
        </p:txBody>
      </p:sp>
      <p:sp>
        <p:nvSpPr>
          <p:cNvPr id="4" name="TextBox 148">
            <a:extLst>
              <a:ext uri="{FF2B5EF4-FFF2-40B4-BE49-F238E27FC236}">
                <a16:creationId xmlns:a16="http://schemas.microsoft.com/office/drawing/2014/main" id="{06202E57-AD16-C2C8-22C9-EEC8A7C72DE7}"/>
              </a:ext>
            </a:extLst>
          </p:cNvPr>
          <p:cNvSpPr txBox="1">
            <a:spLocks/>
          </p:cNvSpPr>
          <p:nvPr/>
        </p:nvSpPr>
        <p:spPr>
          <a:xfrm>
            <a:off x="4827308" y="1343028"/>
            <a:ext cx="3888000" cy="1469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1200"/>
            </a:lvl1pPr>
            <a:lvl2pPr marL="531813" lvl="1" indent="-171450">
              <a:spcAft>
                <a:spcPts val="300"/>
              </a:spcAft>
              <a:buFont typeface="Open Sans" panose="020B0606030504020204" pitchFamily="34" charset="0"/>
              <a:buChar char="-"/>
              <a:defRPr sz="1200">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378">
              <a:buClr>
                <a:schemeClr val="tx2"/>
              </a:buClr>
              <a:buFont typeface="Wingdings" pitchFamily="2" charset="2"/>
              <a:buChar char="§"/>
            </a:pPr>
            <a:r>
              <a:rPr lang="en-US" sz="900">
                <a:solidFill>
                  <a:schemeClr val="tx2"/>
                </a:solidFill>
                <a:latin typeface="+mj-lt"/>
                <a:cs typeface="Arial"/>
              </a:rPr>
              <a:t>Customization Requirements Specification (logic, inputs/outputs, data elements).</a:t>
            </a:r>
          </a:p>
          <a:p>
            <a:pPr defTabSz="914378">
              <a:buClr>
                <a:schemeClr val="tx2"/>
              </a:buClr>
              <a:buFont typeface="Wingdings" pitchFamily="2" charset="2"/>
              <a:buChar char="§"/>
            </a:pPr>
            <a:r>
              <a:rPr lang="en-US" sz="900">
                <a:solidFill>
                  <a:schemeClr val="tx2"/>
                </a:solidFill>
                <a:latin typeface="+mj-lt"/>
                <a:cs typeface="Arial"/>
              </a:rPr>
              <a:t>User Story Backlog with acceptance criteria and clear priority.</a:t>
            </a:r>
          </a:p>
          <a:p>
            <a:pPr defTabSz="914378">
              <a:buClr>
                <a:schemeClr val="tx2"/>
              </a:buClr>
              <a:buFont typeface="Wingdings" pitchFamily="2" charset="2"/>
              <a:buChar char="§"/>
            </a:pPr>
            <a:r>
              <a:rPr lang="en-US" sz="900">
                <a:solidFill>
                  <a:schemeClr val="tx2"/>
                </a:solidFill>
                <a:latin typeface="+mj-lt"/>
                <a:cs typeface="Arial"/>
              </a:rPr>
              <a:t>Updated Solution Scope &amp; Release Plan (what’s in MVP vs. phase 2).</a:t>
            </a:r>
          </a:p>
          <a:p>
            <a:pPr defTabSz="914378">
              <a:buClr>
                <a:schemeClr val="tx2"/>
              </a:buClr>
              <a:buFont typeface="Wingdings" pitchFamily="2" charset="2"/>
              <a:buChar char="§"/>
            </a:pPr>
            <a:r>
              <a:rPr lang="en-US" sz="900">
                <a:solidFill>
                  <a:schemeClr val="tx2"/>
                </a:solidFill>
                <a:latin typeface="+mj-lt"/>
                <a:cs typeface="Arial"/>
              </a:rPr>
              <a:t>Traceability mapping from gaps to stories to modules/reports.</a:t>
            </a:r>
          </a:p>
        </p:txBody>
      </p:sp>
      <p:sp>
        <p:nvSpPr>
          <p:cNvPr id="5" name="object 5">
            <a:extLst>
              <a:ext uri="{FF2B5EF4-FFF2-40B4-BE49-F238E27FC236}">
                <a16:creationId xmlns:a16="http://schemas.microsoft.com/office/drawing/2014/main" id="{911CDAB2-4E03-D582-A7C6-C0E6902F84AC}"/>
              </a:ext>
            </a:extLst>
          </p:cNvPr>
          <p:cNvSpPr txBox="1">
            <a:spLocks/>
          </p:cNvSpPr>
          <p:nvPr/>
        </p:nvSpPr>
        <p:spPr>
          <a:xfrm>
            <a:off x="604279" y="1098586"/>
            <a:ext cx="2426018" cy="161583"/>
          </a:xfrm>
          <a:prstGeom prst="rect">
            <a:avLst/>
          </a:prstGeom>
        </p:spPr>
        <p:txBody>
          <a:bodyPr vert="horz" wrap="square" lIns="0" tIns="0" rIns="0" bIns="0" rtlCol="0">
            <a:spAutoFit/>
          </a:bodyPr>
          <a:lstStyle/>
          <a:p>
            <a:pPr marL="9525" defTabSz="914378"/>
            <a:r>
              <a:rPr lang="en-US" sz="1050" b="1" spc="225">
                <a:solidFill>
                  <a:schemeClr val="tx2"/>
                </a:solidFill>
                <a:latin typeface="+mj-lt"/>
                <a:ea typeface="Verdana" panose="020B0604030504040204" pitchFamily="34" charset="0"/>
                <a:cs typeface="Verdana" panose="020B0604030504040204" pitchFamily="34" charset="0"/>
              </a:rPr>
              <a:t>OBJECTIVES</a:t>
            </a:r>
          </a:p>
        </p:txBody>
      </p:sp>
      <p:sp>
        <p:nvSpPr>
          <p:cNvPr id="6" name="object 11">
            <a:extLst>
              <a:ext uri="{FF2B5EF4-FFF2-40B4-BE49-F238E27FC236}">
                <a16:creationId xmlns:a16="http://schemas.microsoft.com/office/drawing/2014/main" id="{7880E73F-3DE1-93AF-572B-A793FFFC2AB8}"/>
              </a:ext>
            </a:extLst>
          </p:cNvPr>
          <p:cNvSpPr>
            <a:spLocks/>
          </p:cNvSpPr>
          <p:nvPr/>
        </p:nvSpPr>
        <p:spPr>
          <a:xfrm flipV="1">
            <a:off x="339206" y="1243144"/>
            <a:ext cx="3888000" cy="3428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350">
              <a:solidFill>
                <a:schemeClr val="tx2"/>
              </a:solidFill>
              <a:latin typeface="+mj-lt"/>
            </a:endParaRPr>
          </a:p>
        </p:txBody>
      </p:sp>
      <p:sp>
        <p:nvSpPr>
          <p:cNvPr id="7" name="TextBox 156">
            <a:extLst>
              <a:ext uri="{FF2B5EF4-FFF2-40B4-BE49-F238E27FC236}">
                <a16:creationId xmlns:a16="http://schemas.microsoft.com/office/drawing/2014/main" id="{79B59E32-55B2-39CE-54FC-466D6BA2A7BA}"/>
              </a:ext>
            </a:extLst>
          </p:cNvPr>
          <p:cNvSpPr txBox="1">
            <a:spLocks/>
          </p:cNvSpPr>
          <p:nvPr/>
        </p:nvSpPr>
        <p:spPr>
          <a:xfrm>
            <a:off x="339206" y="2916694"/>
            <a:ext cx="3888000" cy="18851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174625" indent="-174625">
              <a:spcAft>
                <a:spcPts val="600"/>
              </a:spcAft>
              <a:buFont typeface="Open Sans" panose="020B0606030504020204" pitchFamily="34" charset="0"/>
              <a:buChar char="›"/>
              <a:defRPr sz="900">
                <a:solidFill>
                  <a:srgbClr val="6C6C6C"/>
                </a:solidFill>
              </a:defRPr>
            </a:lvl1pPr>
            <a:lvl2pPr marL="531813" lvl="1" indent="-171450">
              <a:spcAft>
                <a:spcPts val="300"/>
              </a:spcAft>
              <a:buFont typeface="Open Sans" panose="020B0606030504020204" pitchFamily="34" charset="0"/>
              <a:buChar char="-"/>
              <a:defRPr sz="1200"/>
            </a:lvl2pPr>
          </a:lstStyle>
          <a:p>
            <a:pPr defTabSz="914378">
              <a:spcAft>
                <a:spcPts val="300"/>
              </a:spcAft>
              <a:buClr>
                <a:schemeClr val="tx2"/>
              </a:buClr>
              <a:buFont typeface="Wingdings" pitchFamily="2" charset="2"/>
              <a:buChar char="§"/>
            </a:pPr>
            <a:r>
              <a:rPr lang="en-US" sz="900">
                <a:solidFill>
                  <a:schemeClr val="tx2"/>
                </a:solidFill>
                <a:latin typeface="+mj-lt"/>
              </a:rPr>
              <a:t>Walk through each fit/gap item requiring customization; clarify the business rationale and outcomes.</a:t>
            </a:r>
          </a:p>
          <a:p>
            <a:pPr defTabSz="914378">
              <a:spcAft>
                <a:spcPts val="300"/>
              </a:spcAft>
              <a:buClr>
                <a:schemeClr val="tx2"/>
              </a:buClr>
              <a:buFont typeface="Wingdings" pitchFamily="2" charset="2"/>
              <a:buChar char="§"/>
            </a:pPr>
            <a:r>
              <a:rPr lang="en-US" sz="900">
                <a:solidFill>
                  <a:schemeClr val="tx2"/>
                </a:solidFill>
                <a:latin typeface="+mj-lt"/>
              </a:rPr>
              <a:t>Draft user stories (e.g., “As a planner, I need X so that Y”) with acceptance criteria.</a:t>
            </a:r>
          </a:p>
          <a:p>
            <a:pPr defTabSz="914378">
              <a:spcAft>
                <a:spcPts val="300"/>
              </a:spcAft>
              <a:buClr>
                <a:schemeClr val="tx2"/>
              </a:buClr>
              <a:buFont typeface="Wingdings" pitchFamily="2" charset="2"/>
              <a:buChar char="§"/>
            </a:pPr>
            <a:r>
              <a:rPr lang="en-US" sz="900">
                <a:solidFill>
                  <a:schemeClr val="tx2"/>
                </a:solidFill>
                <a:latin typeface="+mj-lt"/>
              </a:rPr>
              <a:t>Define calculation logic, exception handling, and edge cases (e.g., override rules, special territories).</a:t>
            </a:r>
          </a:p>
          <a:p>
            <a:pPr defTabSz="914378">
              <a:spcAft>
                <a:spcPts val="300"/>
              </a:spcAft>
              <a:buClr>
                <a:schemeClr val="tx2"/>
              </a:buClr>
              <a:buFont typeface="Wingdings" pitchFamily="2" charset="2"/>
              <a:buChar char="§"/>
            </a:pPr>
            <a:r>
              <a:rPr lang="en-US" sz="900">
                <a:solidFill>
                  <a:schemeClr val="tx2"/>
                </a:solidFill>
                <a:latin typeface="+mj-lt"/>
              </a:rPr>
              <a:t>Identify reporting extensions (e.g., variance logic, custom KPIs, audit views).</a:t>
            </a:r>
          </a:p>
          <a:p>
            <a:pPr defTabSz="914378">
              <a:spcAft>
                <a:spcPts val="300"/>
              </a:spcAft>
              <a:buClr>
                <a:schemeClr val="tx2"/>
              </a:buClr>
              <a:buFont typeface="Wingdings" pitchFamily="2" charset="2"/>
              <a:buChar char="§"/>
            </a:pPr>
            <a:r>
              <a:rPr lang="en-US" sz="900">
                <a:solidFill>
                  <a:schemeClr val="tx2"/>
                </a:solidFill>
                <a:latin typeface="+mj-lt"/>
              </a:rPr>
              <a:t>Facilitate prioritization.</a:t>
            </a:r>
          </a:p>
          <a:p>
            <a:pPr defTabSz="914378">
              <a:spcAft>
                <a:spcPts val="300"/>
              </a:spcAft>
              <a:buClr>
                <a:schemeClr val="tx2"/>
              </a:buClr>
              <a:buFont typeface="Wingdings" pitchFamily="2" charset="2"/>
              <a:buChar char="§"/>
            </a:pPr>
            <a:r>
              <a:rPr lang="en-US" sz="900">
                <a:solidFill>
                  <a:schemeClr val="tx2"/>
                </a:solidFill>
                <a:latin typeface="+mj-lt"/>
              </a:rPr>
              <a:t>Validate dependencies (data availability, upstream process, performance constraints).</a:t>
            </a:r>
          </a:p>
        </p:txBody>
      </p:sp>
      <p:grpSp>
        <p:nvGrpSpPr>
          <p:cNvPr id="8" name="Group 157">
            <a:extLst>
              <a:ext uri="{FF2B5EF4-FFF2-40B4-BE49-F238E27FC236}">
                <a16:creationId xmlns:a16="http://schemas.microsoft.com/office/drawing/2014/main" id="{F1C08F14-DBED-0725-61B6-606064D367D8}"/>
              </a:ext>
            </a:extLst>
          </p:cNvPr>
          <p:cNvGrpSpPr/>
          <p:nvPr/>
        </p:nvGrpSpPr>
        <p:grpSpPr>
          <a:xfrm>
            <a:off x="339206" y="2686646"/>
            <a:ext cx="3888000" cy="178847"/>
            <a:chOff x="452275" y="3999981"/>
            <a:chExt cx="5184000" cy="238461"/>
          </a:xfrm>
        </p:grpSpPr>
        <p:sp>
          <p:nvSpPr>
            <p:cNvPr id="9" name="object 5">
              <a:extLst>
                <a:ext uri="{FF2B5EF4-FFF2-40B4-BE49-F238E27FC236}">
                  <a16:creationId xmlns:a16="http://schemas.microsoft.com/office/drawing/2014/main" id="{08A8F7EA-C031-C8C2-4100-D63DAE183E9E}"/>
                </a:ext>
              </a:extLst>
            </p:cNvPr>
            <p:cNvSpPr txBox="1">
              <a:spLocks/>
            </p:cNvSpPr>
            <p:nvPr/>
          </p:nvSpPr>
          <p:spPr>
            <a:xfrm>
              <a:off x="805706" y="3999981"/>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ACTIVITIES</a:t>
              </a:r>
            </a:p>
          </p:txBody>
        </p:sp>
        <p:sp>
          <p:nvSpPr>
            <p:cNvPr id="10" name="object 11">
              <a:extLst>
                <a:ext uri="{FF2B5EF4-FFF2-40B4-BE49-F238E27FC236}">
                  <a16:creationId xmlns:a16="http://schemas.microsoft.com/office/drawing/2014/main" id="{500A330C-F52B-8ABF-D1AF-CC2325B9A3AB}"/>
                </a:ext>
              </a:extLst>
            </p:cNvPr>
            <p:cNvSpPr>
              <a:spLocks/>
            </p:cNvSpPr>
            <p:nvPr/>
          </p:nvSpPr>
          <p:spPr>
            <a:xfrm flipV="1">
              <a:off x="452275" y="4192723"/>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1" name="Group 161">
            <a:extLst>
              <a:ext uri="{FF2B5EF4-FFF2-40B4-BE49-F238E27FC236}">
                <a16:creationId xmlns:a16="http://schemas.microsoft.com/office/drawing/2014/main" id="{693B6A5E-C1DD-09B4-1435-C3908B1ED12C}"/>
              </a:ext>
            </a:extLst>
          </p:cNvPr>
          <p:cNvGrpSpPr>
            <a:grpSpLocks/>
          </p:cNvGrpSpPr>
          <p:nvPr/>
        </p:nvGrpSpPr>
        <p:grpSpPr>
          <a:xfrm>
            <a:off x="4886395" y="1099612"/>
            <a:ext cx="3888000" cy="178847"/>
            <a:chOff x="6515193" y="4924596"/>
            <a:chExt cx="5184000" cy="238461"/>
          </a:xfrm>
        </p:grpSpPr>
        <p:sp>
          <p:nvSpPr>
            <p:cNvPr id="12" name="object 5">
              <a:extLst>
                <a:ext uri="{FF2B5EF4-FFF2-40B4-BE49-F238E27FC236}">
                  <a16:creationId xmlns:a16="http://schemas.microsoft.com/office/drawing/2014/main" id="{ADA0E963-33DD-D868-8142-A55728662D71}"/>
                </a:ext>
              </a:extLst>
            </p:cNvPr>
            <p:cNvSpPr txBox="1">
              <a:spLocks/>
            </p:cNvSpPr>
            <p:nvPr/>
          </p:nvSpPr>
          <p:spPr>
            <a:xfrm>
              <a:off x="6868624" y="4924596"/>
              <a:ext cx="3234691" cy="215442"/>
            </a:xfrm>
            <a:prstGeom prst="rect">
              <a:avLst/>
            </a:prstGeom>
          </p:spPr>
          <p:txBody>
            <a:bodyPr vert="horz" wrap="square" lIns="0" tIns="0" rIns="0" bIns="0" rtlCol="0">
              <a:spAutoFit/>
            </a:bodyPr>
            <a:lstStyle>
              <a:defPPr>
                <a:defRPr lang="en-US"/>
              </a:defPPr>
              <a:lvl1pPr marL="12700">
                <a:lnSpc>
                  <a:spcPct val="100000"/>
                </a:lnSpc>
                <a:defRPr sz="1400" b="1" i="1" spc="300">
                  <a:solidFill>
                    <a:srgbClr val="00D3AB"/>
                  </a:solidFill>
                  <a:cs typeface="Georgia"/>
                </a:defRPr>
              </a:lvl1pPr>
            </a:lstStyle>
            <a:p>
              <a:pPr defTabSz="914378"/>
              <a:r>
                <a:rPr lang="en-US" sz="1050" i="0">
                  <a:solidFill>
                    <a:schemeClr val="tx2"/>
                  </a:solidFill>
                  <a:latin typeface="+mj-lt"/>
                  <a:ea typeface="Verdana" panose="020B0604030504040204" pitchFamily="34" charset="0"/>
                  <a:cs typeface="Verdana" panose="020B0604030504040204" pitchFamily="34" charset="0"/>
                </a:rPr>
                <a:t>DELIVERABLES</a:t>
              </a:r>
            </a:p>
          </p:txBody>
        </p:sp>
        <p:sp>
          <p:nvSpPr>
            <p:cNvPr id="13" name="object 11">
              <a:extLst>
                <a:ext uri="{FF2B5EF4-FFF2-40B4-BE49-F238E27FC236}">
                  <a16:creationId xmlns:a16="http://schemas.microsoft.com/office/drawing/2014/main" id="{576459F2-DF8A-D429-B611-25D883C74341}"/>
                </a:ext>
              </a:extLst>
            </p:cNvPr>
            <p:cNvSpPr>
              <a:spLocks/>
            </p:cNvSpPr>
            <p:nvPr/>
          </p:nvSpPr>
          <p:spPr>
            <a:xfrm flipV="1">
              <a:off x="6515193" y="5117338"/>
              <a:ext cx="5184000" cy="45719"/>
            </a:xfrm>
            <a:custGeom>
              <a:avLst/>
              <a:gdLst/>
              <a:ahLst/>
              <a:cxnLst/>
              <a:rect l="l" t="t" r="r" b="b"/>
              <a:pathLst>
                <a:path w="786765">
                  <a:moveTo>
                    <a:pt x="0" y="0"/>
                  </a:moveTo>
                  <a:lnTo>
                    <a:pt x="786384" y="0"/>
                  </a:lnTo>
                </a:path>
              </a:pathLst>
            </a:custGeom>
            <a:ln w="38100">
              <a:solidFill>
                <a:srgbClr val="0B2265"/>
              </a:solidFill>
            </a:ln>
          </p:spPr>
          <p:txBody>
            <a:bodyPr wrap="square" lIns="0" tIns="0" rIns="0" bIns="0" rtlCol="0"/>
            <a:lstStyle/>
            <a:p>
              <a:pPr defTabSz="914378"/>
              <a:endParaRPr lang="en-US" sz="1050">
                <a:solidFill>
                  <a:schemeClr val="tx2"/>
                </a:solidFill>
                <a:latin typeface="+mj-lt"/>
                <a:ea typeface="Verdana" panose="020B0604030504040204" pitchFamily="34" charset="0"/>
                <a:cs typeface="Verdana" panose="020B0604030504040204" pitchFamily="34" charset="0"/>
              </a:endParaRPr>
            </a:p>
          </p:txBody>
        </p:sp>
      </p:grpSp>
      <p:grpSp>
        <p:nvGrpSpPr>
          <p:cNvPr id="16" name="Group 15">
            <a:extLst>
              <a:ext uri="{FF2B5EF4-FFF2-40B4-BE49-F238E27FC236}">
                <a16:creationId xmlns:a16="http://schemas.microsoft.com/office/drawing/2014/main" id="{C73A8AAE-DF7B-89EB-54F8-DD42F19618AD}"/>
              </a:ext>
            </a:extLst>
          </p:cNvPr>
          <p:cNvGrpSpPr/>
          <p:nvPr/>
        </p:nvGrpSpPr>
        <p:grpSpPr>
          <a:xfrm>
            <a:off x="-2187969" y="0"/>
            <a:ext cx="2318271" cy="5143500"/>
            <a:chOff x="-2187969" y="0"/>
            <a:chExt cx="2318271" cy="5143500"/>
          </a:xfrm>
        </p:grpSpPr>
        <p:sp>
          <p:nvSpPr>
            <p:cNvPr id="17" name="Rectangle: Rounded Corners 16">
              <a:extLst>
                <a:ext uri="{FF2B5EF4-FFF2-40B4-BE49-F238E27FC236}">
                  <a16:creationId xmlns:a16="http://schemas.microsoft.com/office/drawing/2014/main" id="{6156B691-9F3F-0475-254B-11C22FE8978F}"/>
                </a:ext>
              </a:extLst>
            </p:cNvPr>
            <p:cNvSpPr/>
            <p:nvPr/>
          </p:nvSpPr>
          <p:spPr>
            <a:xfrm>
              <a:off x="-636645" y="2021354"/>
              <a:ext cx="766947" cy="993819"/>
            </a:xfrm>
            <a:prstGeom prst="roundRect">
              <a:avLst/>
            </a:prstGeom>
            <a:solidFill>
              <a:srgbClr val="FF0000"/>
            </a:solidFill>
            <a:ln w="6350">
              <a:solidFill>
                <a:schemeClr val="tx1">
                  <a:lumMod val="95000"/>
                  <a:lumOff val="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71D6231-8DAD-C04E-5427-1CF5EB95944D}"/>
                </a:ext>
              </a:extLst>
            </p:cNvPr>
            <p:cNvGrpSpPr/>
            <p:nvPr/>
          </p:nvGrpSpPr>
          <p:grpSpPr>
            <a:xfrm>
              <a:off x="-2187969" y="0"/>
              <a:ext cx="2018501" cy="5143500"/>
              <a:chOff x="-2187969" y="0"/>
              <a:chExt cx="2018501" cy="5143500"/>
            </a:xfrm>
          </p:grpSpPr>
          <p:sp>
            <p:nvSpPr>
              <p:cNvPr id="19" name="Rectangle: Rounded Corners 18">
                <a:extLst>
                  <a:ext uri="{FF2B5EF4-FFF2-40B4-BE49-F238E27FC236}">
                    <a16:creationId xmlns:a16="http://schemas.microsoft.com/office/drawing/2014/main" id="{81181026-C32D-79A1-68CF-1245DBB279D9}"/>
                  </a:ext>
                </a:extLst>
              </p:cNvPr>
              <p:cNvSpPr/>
              <p:nvPr/>
            </p:nvSpPr>
            <p:spPr>
              <a:xfrm>
                <a:off x="-2187969" y="230075"/>
                <a:ext cx="2018501" cy="4913425"/>
              </a:xfrm>
              <a:prstGeom prst="roundRect">
                <a:avLst/>
              </a:prstGeom>
              <a:solidFill>
                <a:srgbClr val="FF0000"/>
              </a:solidFill>
              <a:ln w="6350">
                <a:solidFill>
                  <a:schemeClr val="accent6">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n w="6350">
                    <a:solidFill>
                      <a:schemeClr val="tx1"/>
                    </a:solidFill>
                    <a:prstDash val="solid"/>
                  </a:ln>
                  <a:solidFill>
                    <a:schemeClr val="bg1"/>
                  </a:solidFill>
                  <a:latin typeface="Arial" panose="020B0604020202020204" pitchFamily="34" charset="0"/>
                  <a:ea typeface="Verdana" charset="0"/>
                  <a:cs typeface="Arial" panose="020B0604020202020204" pitchFamily="34" charset="0"/>
                </a:endParaRPr>
              </a:p>
            </p:txBody>
          </p:sp>
          <p:sp>
            <p:nvSpPr>
              <p:cNvPr id="20" name="TextBox 19">
                <a:extLst>
                  <a:ext uri="{FF2B5EF4-FFF2-40B4-BE49-F238E27FC236}">
                    <a16:creationId xmlns:a16="http://schemas.microsoft.com/office/drawing/2014/main" id="{C89CE7EB-73D3-8933-CA10-216A406CC73E}"/>
                  </a:ext>
                </a:extLst>
              </p:cNvPr>
              <p:cNvSpPr txBox="1"/>
              <p:nvPr/>
            </p:nvSpPr>
            <p:spPr>
              <a:xfrm>
                <a:off x="-2060903" y="983848"/>
                <a:ext cx="1764368" cy="3323987"/>
              </a:xfrm>
              <a:prstGeom prst="rect">
                <a:avLst/>
              </a:prstGeom>
              <a:solidFill>
                <a:schemeClr val="bg1"/>
              </a:solidFill>
              <a:ln w="3175">
                <a:solidFill>
                  <a:schemeClr val="accent6">
                    <a:lumMod val="10000"/>
                  </a:schemeClr>
                </a:solidFill>
              </a:ln>
            </p:spPr>
            <p:txBody>
              <a:bodyPr wrap="square" lIns="91440" rtlCol="0">
                <a:spAutoFit/>
              </a:bodyPr>
              <a:lstStyle/>
              <a:p>
                <a:pPr lvl="0"/>
                <a:r>
                  <a:rPr lang="en-US" sz="1400"/>
                  <a:t>Use one slide per workshop to summarize objectives, activities, pre-work, and deliverables. Tailor to workshop scope and include representative application screenshots. Note: this may be used as part of pre-kickoff preparation meetings.</a:t>
                </a:r>
              </a:p>
            </p:txBody>
          </p:sp>
          <p:sp>
            <p:nvSpPr>
              <p:cNvPr id="22" name="TextBox 21">
                <a:extLst>
                  <a:ext uri="{FF2B5EF4-FFF2-40B4-BE49-F238E27FC236}">
                    <a16:creationId xmlns:a16="http://schemas.microsoft.com/office/drawing/2014/main" id="{EDC6EA6F-4096-AC8B-6D9C-0EE916898716}"/>
                  </a:ext>
                </a:extLst>
              </p:cNvPr>
              <p:cNvSpPr txBox="1"/>
              <p:nvPr/>
            </p:nvSpPr>
            <p:spPr>
              <a:xfrm>
                <a:off x="-1957434" y="574855"/>
                <a:ext cx="1557430" cy="338554"/>
              </a:xfrm>
              <a:prstGeom prst="rect">
                <a:avLst/>
              </a:prstGeom>
              <a:noFill/>
            </p:spPr>
            <p:txBody>
              <a:bodyPr wrap="square" lIns="0" rtlCol="0">
                <a:spAutoFit/>
              </a:bodyPr>
              <a:lstStyle/>
              <a:p>
                <a:pPr algn="ctr">
                  <a:buClrTx/>
                </a:pPr>
                <a:r>
                  <a:rPr lang="en-US" sz="1600" b="1">
                    <a:solidFill>
                      <a:schemeClr val="accent6">
                        <a:lumMod val="10000"/>
                      </a:schemeClr>
                    </a:solidFill>
                    <a:latin typeface="Arial" panose="020B0604020202020204" pitchFamily="34" charset="0"/>
                    <a:ea typeface="Inter Light" panose="02000503000000020004" pitchFamily="2" charset="0"/>
                    <a:cs typeface="Arial" panose="020B0604020202020204" pitchFamily="34" charset="0"/>
                  </a:rPr>
                  <a:t>Build Notes</a:t>
                </a:r>
              </a:p>
            </p:txBody>
          </p:sp>
          <p:grpSp>
            <p:nvGrpSpPr>
              <p:cNvPr id="24" name="Group 23">
                <a:extLst>
                  <a:ext uri="{FF2B5EF4-FFF2-40B4-BE49-F238E27FC236}">
                    <a16:creationId xmlns:a16="http://schemas.microsoft.com/office/drawing/2014/main" id="{3523B8E5-752E-A8F9-EB62-CF145F8CCC4E}"/>
                  </a:ext>
                </a:extLst>
              </p:cNvPr>
              <p:cNvGrpSpPr/>
              <p:nvPr/>
            </p:nvGrpSpPr>
            <p:grpSpPr>
              <a:xfrm>
                <a:off x="-1448666" y="0"/>
                <a:ext cx="539895" cy="539895"/>
                <a:chOff x="-1468837" y="0"/>
                <a:chExt cx="539895" cy="539895"/>
              </a:xfrm>
            </p:grpSpPr>
            <p:sp>
              <p:nvSpPr>
                <p:cNvPr id="31" name="Oval 30">
                  <a:extLst>
                    <a:ext uri="{FF2B5EF4-FFF2-40B4-BE49-F238E27FC236}">
                      <a16:creationId xmlns:a16="http://schemas.microsoft.com/office/drawing/2014/main" id="{C1BC4D4B-174D-594D-3A1C-D242483AB9E7}"/>
                    </a:ext>
                  </a:extLst>
                </p:cNvPr>
                <p:cNvSpPr/>
                <p:nvPr/>
              </p:nvSpPr>
              <p:spPr>
                <a:xfrm>
                  <a:off x="-1468837" y="0"/>
                  <a:ext cx="539895" cy="539895"/>
                </a:xfrm>
                <a:prstGeom prst="ellipse">
                  <a:avLst/>
                </a:prstGeom>
                <a:solidFill>
                  <a:schemeClr val="bg1"/>
                </a:solidFill>
                <a:ln w="6350">
                  <a:solidFill>
                    <a:schemeClr val="accent6">
                      <a:lumMod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pic>
              <p:nvPicPr>
                <p:cNvPr id="32" name="Graphic 31" descr="Single gear with solid fill">
                  <a:extLst>
                    <a:ext uri="{FF2B5EF4-FFF2-40B4-BE49-F238E27FC236}">
                      <a16:creationId xmlns:a16="http://schemas.microsoft.com/office/drawing/2014/main" id="{703C81C6-F1CD-B7E7-A180-222FD5DBFD4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79641" y="89196"/>
                  <a:ext cx="361503" cy="361503"/>
                </a:xfrm>
                <a:prstGeom prst="rect">
                  <a:avLst/>
                </a:prstGeom>
              </p:spPr>
            </p:pic>
          </p:grpSp>
          <p:grpSp>
            <p:nvGrpSpPr>
              <p:cNvPr id="28" name="Group 27">
                <a:extLst>
                  <a:ext uri="{FF2B5EF4-FFF2-40B4-BE49-F238E27FC236}">
                    <a16:creationId xmlns:a16="http://schemas.microsoft.com/office/drawing/2014/main" id="{6BAB3CED-270D-A1F2-5CCA-DD0E255D1437}"/>
                  </a:ext>
                </a:extLst>
              </p:cNvPr>
              <p:cNvGrpSpPr/>
              <p:nvPr/>
            </p:nvGrpSpPr>
            <p:grpSpPr>
              <a:xfrm>
                <a:off x="-1913726" y="4862278"/>
                <a:ext cx="1537258" cy="215444"/>
                <a:chOff x="-1907058" y="4862278"/>
                <a:chExt cx="1537258" cy="215444"/>
              </a:xfrm>
            </p:grpSpPr>
            <p:sp>
              <p:nvSpPr>
                <p:cNvPr id="29" name="TextBox 28">
                  <a:extLst>
                    <a:ext uri="{FF2B5EF4-FFF2-40B4-BE49-F238E27FC236}">
                      <a16:creationId xmlns:a16="http://schemas.microsoft.com/office/drawing/2014/main" id="{5F4C550F-741F-4EC8-3354-3EB2A1C7404B}"/>
                    </a:ext>
                  </a:extLst>
                </p:cNvPr>
                <p:cNvSpPr txBox="1"/>
                <p:nvPr/>
              </p:nvSpPr>
              <p:spPr>
                <a:xfrm>
                  <a:off x="-1769558" y="4862278"/>
                  <a:ext cx="1399758" cy="215444"/>
                </a:xfrm>
                <a:prstGeom prst="rect">
                  <a:avLst/>
                </a:prstGeom>
                <a:noFill/>
              </p:spPr>
              <p:txBody>
                <a:bodyPr wrap="square" lIns="0" rtlCol="0">
                  <a:spAutoFit/>
                </a:bodyPr>
                <a:lstStyle/>
                <a:p>
                  <a:pPr algn="ctr">
                    <a:buClrTx/>
                  </a:pPr>
                  <a:r>
                    <a:rPr lang="en-US" sz="800" i="1">
                      <a:solidFill>
                        <a:srgbClr val="001D32"/>
                      </a:solidFill>
                      <a:latin typeface="Arial" panose="020B0604020202020204" pitchFamily="34" charset="0"/>
                      <a:ea typeface="Inter Light" panose="02000503000000020004" pitchFamily="2" charset="0"/>
                      <a:cs typeface="Arial" panose="020B0604020202020204" pitchFamily="34" charset="0"/>
                    </a:rPr>
                    <a:t>Remove before final delivery</a:t>
                  </a:r>
                </a:p>
              </p:txBody>
            </p:sp>
            <p:pic>
              <p:nvPicPr>
                <p:cNvPr id="30" name="Graphic 29" descr="Warning with solid fill">
                  <a:extLst>
                    <a:ext uri="{FF2B5EF4-FFF2-40B4-BE49-F238E27FC236}">
                      <a16:creationId xmlns:a16="http://schemas.microsoft.com/office/drawing/2014/main" id="{1BE86659-C0ED-4970-38D1-2942B98245A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7058" y="4928624"/>
                  <a:ext cx="98429" cy="98429"/>
                </a:xfrm>
                <a:prstGeom prst="rect">
                  <a:avLst/>
                </a:prstGeom>
              </p:spPr>
            </p:pic>
          </p:grpSp>
        </p:grpSp>
      </p:grpSp>
    </p:spTree>
    <p:custDataLst>
      <p:tags r:id="rId1"/>
    </p:custDataLst>
    <p:extLst>
      <p:ext uri="{BB962C8B-B14F-4D97-AF65-F5344CB8AC3E}">
        <p14:creationId xmlns:p14="http://schemas.microsoft.com/office/powerpoint/2010/main" val="110922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DF93-D2E3-E43F-00C3-AD05A64D1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52A84-F17D-7AD8-B77A-940E97FBE7F7}"/>
              </a:ext>
            </a:extLst>
          </p:cNvPr>
          <p:cNvSpPr>
            <a:spLocks noGrp="1"/>
          </p:cNvSpPr>
          <p:nvPr>
            <p:ph type="title"/>
          </p:nvPr>
        </p:nvSpPr>
        <p:spPr/>
        <p:txBody>
          <a:bodyPr lIns="0" tIns="45720" rIns="0" bIns="45720" anchor="t"/>
          <a:lstStyle/>
          <a:p>
            <a:r>
              <a:rPr lang="en-US">
                <a:latin typeface="Arial"/>
                <a:cs typeface="Arial"/>
              </a:rPr>
              <a:t>Appendix </a:t>
            </a:r>
          </a:p>
        </p:txBody>
      </p:sp>
    </p:spTree>
    <p:custDataLst>
      <p:tags r:id="rId1"/>
    </p:custDataLst>
    <p:extLst>
      <p:ext uri="{BB962C8B-B14F-4D97-AF65-F5344CB8AC3E}">
        <p14:creationId xmlns:p14="http://schemas.microsoft.com/office/powerpoint/2010/main" val="207255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27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83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ANAPLAN" val="Pe8TnlBK"/>
  <p:tag name="ARTICULATE_PROJECT_OPEN" val="0"/>
  <p:tag name="ARTICULATE_SLIDE_COUNT" val="3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4DE426-DE3C-43C7-B166-12063FE4F9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FEF226-2A2D-4391-9647-CAE00A0A4519}">
  <ds:schemaRefs>
    <ds:schemaRef ds:uri="http://purl.org/dc/terms/"/>
    <ds:schemaRef ds:uri="http://www.w3.org/XML/1998/namespace"/>
    <ds:schemaRef ds:uri="http://schemas.microsoft.com/office/2006/documentManagement/types"/>
    <ds:schemaRef ds:uri="353273ea-d273-4542-842b-94f110f8e894"/>
    <ds:schemaRef ds:uri="http://purl.org/dc/dcmitype/"/>
    <ds:schemaRef ds:uri="http://schemas.microsoft.com/office/infopath/2007/PartnerControls"/>
    <ds:schemaRef ds:uri="http://schemas.openxmlformats.org/package/2006/metadata/core-properties"/>
    <ds:schemaRef ds:uri="758741ea-5fe0-4f3f-9056-0fecaa5078ad"/>
    <ds:schemaRef ds:uri="http://schemas.microsoft.com/office/2006/metadata/properties"/>
    <ds:schemaRef ds:uri="http://purl.org/dc/elements/1.1/"/>
    <ds:schemaRef ds:uri="1312f2c0-dda1-4b36-bf7c-5f95f823505b"/>
    <ds:schemaRef ds:uri="c4a93292-96be-422c-9bb6-49a5d66e42ec"/>
  </ds:schemaRefs>
</ds:datastoreItem>
</file>

<file path=customXml/itemProps3.xml><?xml version="1.0" encoding="utf-8"?>
<ds:datastoreItem xmlns:ds="http://schemas.openxmlformats.org/officeDocument/2006/customXml" ds:itemID="{1DF0ED3D-6654-403B-9884-CF65CF102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5010</Words>
  <Application>Microsoft Office PowerPoint</Application>
  <PresentationFormat>On-screen Show (16:9)</PresentationFormat>
  <Paragraphs>1332</Paragraphs>
  <Slides>43</Slides>
  <Notes>25</Notes>
  <HiddenSlides>2</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1_Anaplan</vt:lpstr>
      <vt:lpstr>Application Configuration Kick-off</vt:lpstr>
      <vt:lpstr>The Anaplan Way for Apps Template</vt:lpstr>
      <vt:lpstr>Agenda</vt:lpstr>
      <vt:lpstr>Introductions - Customer</vt:lpstr>
      <vt:lpstr>Introductions - Delivery Team</vt:lpstr>
      <vt:lpstr>Project Objectives and Timeline</vt:lpstr>
      <vt:lpstr>PowerPoint Presentation</vt:lpstr>
      <vt:lpstr>Project Manifesto</vt:lpstr>
      <vt:lpstr>Executive Summary – Goals and Success Measures</vt:lpstr>
      <vt:lpstr>Project Timeline</vt:lpstr>
      <vt:lpstr>Project Timeline</vt:lpstr>
      <vt:lpstr>Application Overview</vt:lpstr>
      <vt:lpstr>Territory &amp; Quota Planning – Application Overview</vt:lpstr>
      <vt:lpstr>Territory &amp; Quota Planning – Application Overview</vt:lpstr>
      <vt:lpstr>Anaplan Application: Territory &amp; Quota Planning </vt:lpstr>
      <vt:lpstr>Territory &amp; Quota Planning – Supported Planning Processes</vt:lpstr>
      <vt:lpstr>How we deliver: Our Ethos  and Methodology</vt:lpstr>
      <vt:lpstr>Applications – w/ Extension</vt:lpstr>
      <vt:lpstr>The Anaplan Way for Applications</vt:lpstr>
      <vt:lpstr>The Anaplan Way for Applications – Base Application Deployment</vt:lpstr>
      <vt:lpstr>The Anaplan Way for Applications – Base Application + Extension Deployment</vt:lpstr>
      <vt:lpstr>Project Governance, Resourcing  and Schedule </vt:lpstr>
      <vt:lpstr>Project Team Introduction</vt:lpstr>
      <vt:lpstr>PowerPoint Presentation</vt:lpstr>
      <vt:lpstr>PowerPoint Presentation</vt:lpstr>
      <vt:lpstr>Key Next Steps </vt:lpstr>
      <vt:lpstr>Key Dates</vt:lpstr>
      <vt:lpstr>Configuration Phase – Key Outcome Status</vt:lpstr>
      <vt:lpstr>Events Calendar – 6 month</vt:lpstr>
      <vt:lpstr>Events Calendar – 6 month</vt:lpstr>
      <vt:lpstr>Workshops Agenda, Participants, and Outcomes </vt:lpstr>
      <vt:lpstr>Workshops Agenda, Participants, and Outcomes</vt:lpstr>
      <vt:lpstr>Workshop 0 Data &amp; Integrations</vt:lpstr>
      <vt:lpstr>Workshop 1 Solution Introduction &amp; Foundational Kickoff</vt:lpstr>
      <vt:lpstr>Workshop 2 Fitting T&amp;Q Process to App Functionality (Demo)</vt:lpstr>
      <vt:lpstr>Workshop 3 First Review: Dimensions &amp; Hierarchies</vt:lpstr>
      <vt:lpstr>Workshop 4 Data &amp; Integrations Deep Dive</vt:lpstr>
      <vt:lpstr>Workshops 5 &amp; 6 T&amp;Q Detailed Exploration (App Walkthrough) Pt. 1 &amp; 2 </vt:lpstr>
      <vt:lpstr>Workshop 7 Playback of High‑Level Design (HLD) &amp; Configuration Document </vt:lpstr>
      <vt:lpstr>Workshop 8 Deep Dive on Customization Requirements &amp; User Stories </vt:lpstr>
      <vt:lpstr>Appendix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Nicole Moss</cp:lastModifiedBy>
  <cp:revision>14</cp:revision>
  <cp:lastPrinted>2019-08-13T18:16:27Z</cp:lastPrinted>
  <dcterms:created xsi:type="dcterms:W3CDTF">2017-07-06T21:11:50Z</dcterms:created>
  <dcterms:modified xsi:type="dcterms:W3CDTF">2026-03-27T14:48:17Z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y fmtid="{D5CDD505-2E9C-101B-9397-08002B2CF9AE}" pid="4" name="ArticulateGUID">
    <vt:lpwstr>CE6F1270-8B28-4281-9E04-B34527DC86E2</vt:lpwstr>
  </property>
  <property fmtid="{D5CDD505-2E9C-101B-9397-08002B2CF9AE}" pid="5" name="ArticulatePath">
    <vt:lpwstr>Application Confguration Kick-off Meeting</vt:lpwstr>
  </property>
</Properties>
</file>