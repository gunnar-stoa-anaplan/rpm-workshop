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40"/>
  </p:notesMasterIdLst>
  <p:handoutMasterIdLst>
    <p:handoutMasterId r:id="rId41"/>
  </p:handoutMasterIdLst>
  <p:sldIdLst>
    <p:sldId id="2147483617" r:id="rId5"/>
    <p:sldId id="333" r:id="rId6"/>
    <p:sldId id="330" r:id="rId7"/>
    <p:sldId id="2147483628" r:id="rId8"/>
    <p:sldId id="259" r:id="rId9"/>
    <p:sldId id="284" r:id="rId10"/>
    <p:sldId id="2147483639" r:id="rId11"/>
    <p:sldId id="2147483618" r:id="rId12"/>
    <p:sldId id="2147483629" r:id="rId13"/>
    <p:sldId id="2147483630" r:id="rId14"/>
    <p:sldId id="2147483619" r:id="rId15"/>
    <p:sldId id="2147483621" r:id="rId16"/>
    <p:sldId id="2147483631" r:id="rId17"/>
    <p:sldId id="2147483632" r:id="rId18"/>
    <p:sldId id="2147483638" r:id="rId19"/>
    <p:sldId id="2147483622" r:id="rId20"/>
    <p:sldId id="2147483633" r:id="rId21"/>
    <p:sldId id="2147483634" r:id="rId22"/>
    <p:sldId id="2147483635" r:id="rId23"/>
    <p:sldId id="2147483636" r:id="rId24"/>
    <p:sldId id="2147483637" r:id="rId25"/>
    <p:sldId id="2147483623" r:id="rId26"/>
    <p:sldId id="2147483625" r:id="rId27"/>
    <p:sldId id="2147483640" r:id="rId28"/>
    <p:sldId id="2147483641" r:id="rId29"/>
    <p:sldId id="2147483642" r:id="rId30"/>
    <p:sldId id="2147483643" r:id="rId31"/>
    <p:sldId id="2147483645" r:id="rId32"/>
    <p:sldId id="2147483644" r:id="rId33"/>
    <p:sldId id="2147483646" r:id="rId34"/>
    <p:sldId id="2147483647" r:id="rId35"/>
    <p:sldId id="256" r:id="rId36"/>
    <p:sldId id="257" r:id="rId37"/>
    <p:sldId id="273" r:id="rId38"/>
    <p:sldId id="277" r:id="rId3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ation Slides" id="{CE73B084-1FC7-F343-88F8-9C60A016B6E6}">
          <p14:sldIdLst>
            <p14:sldId id="2147483617"/>
            <p14:sldId id="333"/>
            <p14:sldId id="330"/>
            <p14:sldId id="2147483628"/>
            <p14:sldId id="259"/>
            <p14:sldId id="284"/>
            <p14:sldId id="2147483639"/>
            <p14:sldId id="2147483618"/>
            <p14:sldId id="2147483629"/>
            <p14:sldId id="2147483630"/>
            <p14:sldId id="2147483619"/>
            <p14:sldId id="2147483621"/>
            <p14:sldId id="2147483631"/>
            <p14:sldId id="2147483632"/>
            <p14:sldId id="2147483638"/>
            <p14:sldId id="2147483622"/>
            <p14:sldId id="2147483633"/>
            <p14:sldId id="2147483634"/>
            <p14:sldId id="2147483635"/>
            <p14:sldId id="2147483636"/>
            <p14:sldId id="2147483637"/>
            <p14:sldId id="2147483623"/>
            <p14:sldId id="2147483625"/>
            <p14:sldId id="2147483640"/>
            <p14:sldId id="2147483641"/>
            <p14:sldId id="2147483642"/>
            <p14:sldId id="2147483643"/>
            <p14:sldId id="2147483645"/>
            <p14:sldId id="2147483644"/>
            <p14:sldId id="2147483646"/>
            <p14:sldId id="2147483647"/>
            <p14:sldId id="256"/>
            <p14:sldId id="257"/>
          </p14:sldIdLst>
        </p14:section>
        <p14:section name="Ending Slides" id="{C0A4073E-B2EC-0140-8A05-AA35E86F5B17}">
          <p14:sldIdLst>
            <p14:sldId id="273"/>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ECECEC"/>
    <a:srgbClr val="001D32"/>
    <a:srgbClr val="3B596B"/>
    <a:srgbClr val="F0F1F7"/>
    <a:srgbClr val="C882D9"/>
    <a:srgbClr val="9696FA"/>
    <a:srgbClr val="8AE6D2"/>
    <a:srgbClr val="96B5FA"/>
    <a:srgbClr val="89E5D2"/>
    <a:srgbClr val="5BC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C3B764-ABD3-DBA4-A349-A99A53B8AC1E}" v="1" dt="2026-03-23T15:51:28.900"/>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4" autoAdjust="0"/>
    <p:restoredTop sz="94694"/>
  </p:normalViewPr>
  <p:slideViewPr>
    <p:cSldViewPr snapToGrid="0">
      <p:cViewPr varScale="1">
        <p:scale>
          <a:sx n="199" d="100"/>
          <a:sy n="199" d="100"/>
        </p:scale>
        <p:origin x="582" y="150"/>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5E82EE2B-2375-F1C1-D157-D2A1A5601FDB}"/>
    <pc:docChg chg="modSld">
      <pc:chgData name="Jon Newcomb" userId="S::jon.newcomb@anaplan.com::d672d284-d87e-4cae-bfeb-0aed989ae14e" providerId="AD" clId="Web-{5E82EE2B-2375-F1C1-D157-D2A1A5601FDB}" dt="2026-03-16T19:32:38.314" v="1" actId="20577"/>
      <pc:docMkLst>
        <pc:docMk/>
      </pc:docMkLst>
      <pc:sldChg chg="modSp">
        <pc:chgData name="Jon Newcomb" userId="S::jon.newcomb@anaplan.com::d672d284-d87e-4cae-bfeb-0aed989ae14e" providerId="AD" clId="Web-{5E82EE2B-2375-F1C1-D157-D2A1A5601FDB}" dt="2026-03-16T19:32:38.314" v="1" actId="20577"/>
        <pc:sldMkLst>
          <pc:docMk/>
          <pc:sldMk cId="1682908997" sldId="2147483617"/>
        </pc:sldMkLst>
        <pc:spChg chg="mod">
          <ac:chgData name="Jon Newcomb" userId="S::jon.newcomb@anaplan.com::d672d284-d87e-4cae-bfeb-0aed989ae14e" providerId="AD" clId="Web-{5E82EE2B-2375-F1C1-D157-D2A1A5601FDB}" dt="2026-03-16T19:32:38.314" v="1" actId="20577"/>
          <ac:spMkLst>
            <pc:docMk/>
            <pc:sldMk cId="1682908997" sldId="2147483617"/>
            <ac:spMk id="15" creationId="{4ABE029C-943E-1AB0-A6A6-0E1D6F88768A}"/>
          </ac:spMkLst>
        </pc:spChg>
      </pc:sldChg>
    </pc:docChg>
  </pc:docChgLst>
  <pc:docChgLst>
    <pc:chgData name="Chan Duh" userId="S::chan.duh@anaplan.com::b840b9db-54ae-4d18-a5e4-ccd87183607d" providerId="AD" clId="Web-{CCC3B764-ABD3-DBA4-A349-A99A53B8AC1E}"/>
    <pc:docChg chg="modSld">
      <pc:chgData name="Chan Duh" userId="S::chan.duh@anaplan.com::b840b9db-54ae-4d18-a5e4-ccd87183607d" providerId="AD" clId="Web-{CCC3B764-ABD3-DBA4-A349-A99A53B8AC1E}" dt="2026-03-23T15:51:28.900" v="0" actId="1076"/>
      <pc:docMkLst>
        <pc:docMk/>
      </pc:docMkLst>
      <pc:sldChg chg="modSp">
        <pc:chgData name="Chan Duh" userId="S::chan.duh@anaplan.com::b840b9db-54ae-4d18-a5e4-ccd87183607d" providerId="AD" clId="Web-{CCC3B764-ABD3-DBA4-A349-A99A53B8AC1E}" dt="2026-03-23T15:51:28.900" v="0" actId="1076"/>
        <pc:sldMkLst>
          <pc:docMk/>
          <pc:sldMk cId="2612157471" sldId="2147483632"/>
        </pc:sldMkLst>
        <pc:picChg chg="mod">
          <ac:chgData name="Chan Duh" userId="S::chan.duh@anaplan.com::b840b9db-54ae-4d18-a5e4-ccd87183607d" providerId="AD" clId="Web-{CCC3B764-ABD3-DBA4-A349-A99A53B8AC1E}" dt="2026-03-23T15:51:28.900" v="0" actId="1076"/>
          <ac:picMkLst>
            <pc:docMk/>
            <pc:sldMk cId="2612157471" sldId="2147483632"/>
            <ac:picMk id="3" creationId="{AA0DC35D-5CD4-4F95-2AA4-7C8862D75DD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23/3/2026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8.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8.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8.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763588" y="866775"/>
            <a:ext cx="4494212" cy="1847850"/>
          </a:xfrm>
        </p:spPr>
        <p:txBody>
          <a:bodyPr lIns="0" tIns="45720" rIns="0" bIns="45720" anchor="b"/>
          <a:lstStyle/>
          <a:p>
            <a:r>
              <a:rPr lang="en-US" dirty="0">
                <a:latin typeface="Arial" panose="020B0604020202020204" pitchFamily="34" charset="0"/>
                <a:ea typeface="Inter Medium"/>
              </a:rPr>
              <a:t>Territory and Quota Planning Configurator Exercise</a:t>
            </a:r>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a:xfrm>
            <a:off x="763588" y="2871574"/>
            <a:ext cx="3732212" cy="563971"/>
          </a:xfrm>
        </p:spPr>
        <p:txBody>
          <a:bodyPr lIns="0" tIns="45720" rIns="91440" bIns="45720" anchor="t"/>
          <a:lstStyle/>
          <a:p>
            <a:r>
              <a:rPr lang="en-US">
                <a:latin typeface="Arial"/>
                <a:cs typeface="Arial"/>
              </a:rPr>
              <a:t>Updated March 2026</a:t>
            </a:r>
            <a:endParaRPr lang="en-US" dirty="0"/>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9D4C5-0762-5881-60A2-F0B89735118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9C98D65-3196-BA4F-F7A4-1BDB221E392B}"/>
              </a:ext>
            </a:extLst>
          </p:cNvPr>
          <p:cNvSpPr>
            <a:spLocks noGrp="1"/>
          </p:cNvSpPr>
          <p:nvPr>
            <p:ph type="title"/>
          </p:nvPr>
        </p:nvSpPr>
        <p:spPr/>
        <p:txBody>
          <a:bodyPr/>
          <a:lstStyle/>
          <a:p>
            <a:r>
              <a:rPr lang="en-US"/>
              <a:t>8 Item Agenda</a:t>
            </a:r>
          </a:p>
        </p:txBody>
      </p:sp>
      <p:sp>
        <p:nvSpPr>
          <p:cNvPr id="23" name="Text Placeholder 22">
            <a:extLst>
              <a:ext uri="{FF2B5EF4-FFF2-40B4-BE49-F238E27FC236}">
                <a16:creationId xmlns:a16="http://schemas.microsoft.com/office/drawing/2014/main" id="{84776917-7488-82D1-11D9-7047DD73F78D}"/>
              </a:ext>
            </a:extLst>
          </p:cNvPr>
          <p:cNvSpPr>
            <a:spLocks noGrp="1"/>
          </p:cNvSpPr>
          <p:nvPr>
            <p:ph type="body" sz="quarter" idx="41"/>
          </p:nvPr>
        </p:nvSpPr>
        <p:spPr/>
        <p:txBody>
          <a:bodyPr/>
          <a:lstStyle/>
          <a:p>
            <a:r>
              <a:rPr lang="en-US" b="1" dirty="0"/>
              <a:t>Historical/Account Value KPI</a:t>
            </a:r>
          </a:p>
        </p:txBody>
      </p:sp>
      <p:sp>
        <p:nvSpPr>
          <p:cNvPr id="25" name="Text Placeholder 24">
            <a:extLst>
              <a:ext uri="{FF2B5EF4-FFF2-40B4-BE49-F238E27FC236}">
                <a16:creationId xmlns:a16="http://schemas.microsoft.com/office/drawing/2014/main" id="{378D86EA-6822-F26F-7827-4E4C8BB73713}"/>
              </a:ext>
            </a:extLst>
          </p:cNvPr>
          <p:cNvSpPr>
            <a:spLocks noGrp="1"/>
          </p:cNvSpPr>
          <p:nvPr>
            <p:ph type="body" sz="quarter" idx="42"/>
          </p:nvPr>
        </p:nvSpPr>
        <p:spPr/>
        <p:txBody>
          <a:bodyPr/>
          <a:lstStyle/>
          <a:p>
            <a:r>
              <a:rPr lang="en-US" b="1" dirty="0"/>
              <a:t>Target Allocation</a:t>
            </a:r>
          </a:p>
        </p:txBody>
      </p:sp>
      <p:sp>
        <p:nvSpPr>
          <p:cNvPr id="26" name="Text Placeholder 25">
            <a:extLst>
              <a:ext uri="{FF2B5EF4-FFF2-40B4-BE49-F238E27FC236}">
                <a16:creationId xmlns:a16="http://schemas.microsoft.com/office/drawing/2014/main" id="{237859BC-8F53-0B34-1546-DBD85D014E23}"/>
              </a:ext>
            </a:extLst>
          </p:cNvPr>
          <p:cNvSpPr>
            <a:spLocks noGrp="1"/>
          </p:cNvSpPr>
          <p:nvPr>
            <p:ph type="body" sz="quarter" idx="43"/>
          </p:nvPr>
        </p:nvSpPr>
        <p:spPr/>
        <p:txBody>
          <a:bodyPr/>
          <a:lstStyle/>
          <a:p>
            <a:r>
              <a:rPr lang="en-US" b="1" dirty="0"/>
              <a:t>Territory &amp; Resource Assignment</a:t>
            </a:r>
          </a:p>
        </p:txBody>
      </p:sp>
      <p:sp>
        <p:nvSpPr>
          <p:cNvPr id="27" name="Text Placeholder 26">
            <a:extLst>
              <a:ext uri="{FF2B5EF4-FFF2-40B4-BE49-F238E27FC236}">
                <a16:creationId xmlns:a16="http://schemas.microsoft.com/office/drawing/2014/main" id="{1A0D1CDB-D7E5-AE7E-AEA8-62801B432100}"/>
              </a:ext>
            </a:extLst>
          </p:cNvPr>
          <p:cNvSpPr>
            <a:spLocks noGrp="1"/>
          </p:cNvSpPr>
          <p:nvPr>
            <p:ph type="body" sz="quarter" idx="44"/>
          </p:nvPr>
        </p:nvSpPr>
        <p:spPr/>
        <p:txBody>
          <a:bodyPr/>
          <a:lstStyle/>
          <a:p>
            <a:r>
              <a:rPr lang="en-US" b="1" dirty="0"/>
              <a:t>Rule-based Automated Assignment</a:t>
            </a:r>
          </a:p>
        </p:txBody>
      </p:sp>
      <p:sp>
        <p:nvSpPr>
          <p:cNvPr id="24" name="Text Placeholder 23">
            <a:extLst>
              <a:ext uri="{FF2B5EF4-FFF2-40B4-BE49-F238E27FC236}">
                <a16:creationId xmlns:a16="http://schemas.microsoft.com/office/drawing/2014/main" id="{F49F1737-687B-9D71-51BF-4376C1AF05DC}"/>
              </a:ext>
            </a:extLst>
          </p:cNvPr>
          <p:cNvSpPr>
            <a:spLocks noGrp="1"/>
          </p:cNvSpPr>
          <p:nvPr>
            <p:ph type="body" sz="quarter" idx="30"/>
          </p:nvPr>
        </p:nvSpPr>
        <p:spPr/>
        <p:txBody>
          <a:bodyPr/>
          <a:lstStyle/>
          <a:p>
            <a:r>
              <a:rPr lang="en-US" b="1" dirty="0"/>
              <a:t>Data Hub Setup</a:t>
            </a:r>
          </a:p>
        </p:txBody>
      </p:sp>
      <p:sp>
        <p:nvSpPr>
          <p:cNvPr id="20" name="Text Placeholder 19">
            <a:extLst>
              <a:ext uri="{FF2B5EF4-FFF2-40B4-BE49-F238E27FC236}">
                <a16:creationId xmlns:a16="http://schemas.microsoft.com/office/drawing/2014/main" id="{6D6BDED5-924A-EA19-99F1-E05761C44750}"/>
              </a:ext>
            </a:extLst>
          </p:cNvPr>
          <p:cNvSpPr>
            <a:spLocks noGrp="1"/>
          </p:cNvSpPr>
          <p:nvPr>
            <p:ph type="body" sz="quarter" idx="31"/>
          </p:nvPr>
        </p:nvSpPr>
        <p:spPr/>
        <p:txBody>
          <a:bodyPr/>
          <a:lstStyle/>
          <a:p>
            <a:r>
              <a:rPr lang="en-US" b="1" dirty="0"/>
              <a:t>Hierarchies</a:t>
            </a:r>
          </a:p>
        </p:txBody>
      </p:sp>
      <p:sp>
        <p:nvSpPr>
          <p:cNvPr id="21" name="Text Placeholder 20">
            <a:extLst>
              <a:ext uri="{FF2B5EF4-FFF2-40B4-BE49-F238E27FC236}">
                <a16:creationId xmlns:a16="http://schemas.microsoft.com/office/drawing/2014/main" id="{8ACD3AA3-EA26-307F-8682-09C9651ECA01}"/>
              </a:ext>
            </a:extLst>
          </p:cNvPr>
          <p:cNvSpPr>
            <a:spLocks noGrp="1"/>
          </p:cNvSpPr>
          <p:nvPr>
            <p:ph type="body" sz="quarter" idx="32"/>
          </p:nvPr>
        </p:nvSpPr>
        <p:spPr/>
        <p:txBody>
          <a:bodyPr/>
          <a:lstStyle/>
          <a:p>
            <a:r>
              <a:rPr lang="en-US" b="1" dirty="0"/>
              <a:t>Scenario Planning</a:t>
            </a:r>
          </a:p>
        </p:txBody>
      </p:sp>
      <p:sp>
        <p:nvSpPr>
          <p:cNvPr id="22" name="Text Placeholder 21">
            <a:extLst>
              <a:ext uri="{FF2B5EF4-FFF2-40B4-BE49-F238E27FC236}">
                <a16:creationId xmlns:a16="http://schemas.microsoft.com/office/drawing/2014/main" id="{C093FD61-148D-09FC-2A2C-E7C1E657D96B}"/>
              </a:ext>
            </a:extLst>
          </p:cNvPr>
          <p:cNvSpPr>
            <a:spLocks noGrp="1"/>
          </p:cNvSpPr>
          <p:nvPr>
            <p:ph type="body" sz="quarter" idx="33"/>
          </p:nvPr>
        </p:nvSpPr>
        <p:spPr/>
        <p:txBody>
          <a:bodyPr/>
          <a:lstStyle/>
          <a:p>
            <a:r>
              <a:rPr lang="en-US" b="1" dirty="0"/>
              <a:t>Optimizer</a:t>
            </a:r>
          </a:p>
        </p:txBody>
      </p:sp>
    </p:spTree>
    <p:extLst>
      <p:ext uri="{BB962C8B-B14F-4D97-AF65-F5344CB8AC3E}">
        <p14:creationId xmlns:p14="http://schemas.microsoft.com/office/powerpoint/2010/main" val="188409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1577-939E-3C29-32EC-DF72A30EF6CA}"/>
              </a:ext>
            </a:extLst>
          </p:cNvPr>
          <p:cNvSpPr>
            <a:spLocks noGrp="1"/>
          </p:cNvSpPr>
          <p:nvPr>
            <p:ph type="title"/>
          </p:nvPr>
        </p:nvSpPr>
        <p:spPr/>
        <p:txBody>
          <a:bodyPr/>
          <a:lstStyle/>
          <a:p>
            <a:r>
              <a:rPr lang="en-US" dirty="0"/>
              <a:t>Data Hub Setup</a:t>
            </a:r>
          </a:p>
        </p:txBody>
      </p:sp>
    </p:spTree>
    <p:extLst>
      <p:ext uri="{BB962C8B-B14F-4D97-AF65-F5344CB8AC3E}">
        <p14:creationId xmlns:p14="http://schemas.microsoft.com/office/powerpoint/2010/main" val="25949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2173-CFD7-DF82-54E8-B91129A847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E7A7A4-1F62-169B-7F0D-E1EC69BD58EB}"/>
              </a:ext>
            </a:extLst>
          </p:cNvPr>
          <p:cNvSpPr>
            <a:spLocks noGrp="1"/>
          </p:cNvSpPr>
          <p:nvPr>
            <p:ph type="title"/>
          </p:nvPr>
        </p:nvSpPr>
        <p:spPr>
          <a:xfrm>
            <a:off x="419101" y="294640"/>
            <a:ext cx="5854284" cy="338554"/>
          </a:xfrm>
        </p:spPr>
        <p:txBody>
          <a:bodyPr/>
          <a:lstStyle/>
          <a:p>
            <a:r>
              <a:rPr lang="en-US" dirty="0"/>
              <a:t>Datahub Setup – Define the data landscape for the application</a:t>
            </a:r>
          </a:p>
        </p:txBody>
      </p:sp>
      <p:sp>
        <p:nvSpPr>
          <p:cNvPr id="7" name="Content Placeholder 6">
            <a:extLst>
              <a:ext uri="{FF2B5EF4-FFF2-40B4-BE49-F238E27FC236}">
                <a16:creationId xmlns:a16="http://schemas.microsoft.com/office/drawing/2014/main" id="{E6931313-EED9-97EE-5608-8A8E7AA1C5B3}"/>
              </a:ext>
            </a:extLst>
          </p:cNvPr>
          <p:cNvSpPr>
            <a:spLocks noGrp="1"/>
          </p:cNvSpPr>
          <p:nvPr>
            <p:ph idx="1"/>
          </p:nvPr>
        </p:nvSpPr>
        <p:spPr/>
        <p:txBody>
          <a:bodyPr/>
          <a:lstStyle/>
          <a:p>
            <a:endParaRPr lang="en-US" dirty="0"/>
          </a:p>
          <a:p>
            <a:r>
              <a:rPr lang="en-US" dirty="0"/>
              <a:t>Capture all relevant data objects that will be referenced in planning</a:t>
            </a:r>
          </a:p>
          <a:p>
            <a:endParaRPr lang="en-US" dirty="0"/>
          </a:p>
          <a:p>
            <a:r>
              <a:rPr lang="en-US" dirty="0"/>
              <a:t>Rename and capture additional attributes per data object</a:t>
            </a:r>
          </a:p>
          <a:p>
            <a:endParaRPr lang="en-US" dirty="0"/>
          </a:p>
          <a:p>
            <a:endParaRPr lang="en-US" dirty="0"/>
          </a:p>
          <a:p>
            <a:endParaRPr lang="en-US" dirty="0"/>
          </a:p>
          <a:p>
            <a:endParaRPr lang="en-US" dirty="0"/>
          </a:p>
          <a:p>
            <a:r>
              <a:rPr lang="en-US" dirty="0"/>
              <a:t>Hint: Leverage “Enable for Calculation” to capture additional attributes that will need  to be in a list</a:t>
            </a:r>
          </a:p>
          <a:p>
            <a:endParaRPr lang="en-US" dirty="0"/>
          </a:p>
        </p:txBody>
      </p:sp>
      <p:pic>
        <p:nvPicPr>
          <p:cNvPr id="30" name="Picture 29" descr="A computer with a gear and a computer monitor&#10;&#10;AI-generated content may be incorrect.">
            <a:extLst>
              <a:ext uri="{FF2B5EF4-FFF2-40B4-BE49-F238E27FC236}">
                <a16:creationId xmlns:a16="http://schemas.microsoft.com/office/drawing/2014/main" id="{9635D13A-F55F-DD9C-588F-01FFEFC704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7049" y="713508"/>
            <a:ext cx="3503286" cy="42075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6032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E5A5B8-ADF9-AA13-2D92-D9C63A581E99}"/>
              </a:ext>
            </a:extLst>
          </p:cNvPr>
          <p:cNvSpPr>
            <a:spLocks noGrp="1"/>
          </p:cNvSpPr>
          <p:nvPr>
            <p:ph type="title"/>
          </p:nvPr>
        </p:nvSpPr>
        <p:spPr>
          <a:xfrm>
            <a:off x="419101" y="294640"/>
            <a:ext cx="5854284" cy="338554"/>
          </a:xfrm>
        </p:spPr>
        <p:txBody>
          <a:bodyPr/>
          <a:lstStyle/>
          <a:p>
            <a:r>
              <a:rPr lang="en-US" dirty="0"/>
              <a:t>Account – Enable for Calculation / Auto Creation</a:t>
            </a:r>
          </a:p>
        </p:txBody>
      </p:sp>
      <p:sp>
        <p:nvSpPr>
          <p:cNvPr id="7" name="Content Placeholder 6">
            <a:extLst>
              <a:ext uri="{FF2B5EF4-FFF2-40B4-BE49-F238E27FC236}">
                <a16:creationId xmlns:a16="http://schemas.microsoft.com/office/drawing/2014/main" id="{88B4F85B-8E7D-7F6E-50E1-D4256735F3AA}"/>
              </a:ext>
            </a:extLst>
          </p:cNvPr>
          <p:cNvSpPr>
            <a:spLocks noGrp="1"/>
          </p:cNvSpPr>
          <p:nvPr>
            <p:ph idx="1"/>
          </p:nvPr>
        </p:nvSpPr>
        <p:spPr>
          <a:xfrm>
            <a:off x="419100" y="834850"/>
            <a:ext cx="3002973" cy="3984800"/>
          </a:xfrm>
        </p:spPr>
        <p:txBody>
          <a:bodyPr/>
          <a:lstStyle/>
          <a:p>
            <a:r>
              <a:rPr lang="en-US" dirty="0"/>
              <a:t>Ensure key attributes that will be use for reporting or calculation is checked for “Enable for Calculation” and “Enable for Auto-Create”</a:t>
            </a:r>
          </a:p>
          <a:p>
            <a:endParaRPr lang="en-US" dirty="0"/>
          </a:p>
          <a:p>
            <a:r>
              <a:rPr lang="en-US" dirty="0"/>
              <a:t>Example attributes: </a:t>
            </a:r>
            <a:br>
              <a:rPr lang="en-US" dirty="0"/>
            </a:br>
            <a:r>
              <a:rPr lang="en-US" dirty="0"/>
              <a:t>Account Rank</a:t>
            </a:r>
            <a:br>
              <a:rPr lang="en-US" dirty="0"/>
            </a:br>
            <a:r>
              <a:rPr lang="en-US" dirty="0"/>
              <a:t>Account Type</a:t>
            </a:r>
          </a:p>
          <a:p>
            <a:r>
              <a:rPr lang="en-US" dirty="0"/>
              <a:t>Account Segment</a:t>
            </a:r>
          </a:p>
          <a:p>
            <a:r>
              <a:rPr lang="en-US" dirty="0"/>
              <a:t>Industry</a:t>
            </a:r>
          </a:p>
          <a:p>
            <a:r>
              <a:rPr lang="en-US" dirty="0"/>
              <a:t>Business Type</a:t>
            </a:r>
          </a:p>
        </p:txBody>
      </p:sp>
      <p:pic>
        <p:nvPicPr>
          <p:cNvPr id="14" name="Picture 13" descr="A screenshot of a survey&#10;&#10;AI-generated content may be incorrect.">
            <a:extLst>
              <a:ext uri="{FF2B5EF4-FFF2-40B4-BE49-F238E27FC236}">
                <a16:creationId xmlns:a16="http://schemas.microsoft.com/office/drawing/2014/main" id="{4C78745D-6BD1-735E-2356-8B8F483AE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2212" y="734291"/>
            <a:ext cx="5291669" cy="3674918"/>
          </a:xfrm>
          <a:prstGeom prst="rect">
            <a:avLst/>
          </a:prstGeom>
        </p:spPr>
      </p:pic>
    </p:spTree>
    <p:extLst>
      <p:ext uri="{BB962C8B-B14F-4D97-AF65-F5344CB8AC3E}">
        <p14:creationId xmlns:p14="http://schemas.microsoft.com/office/powerpoint/2010/main" val="49039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998F-8595-5CDD-326B-8AD1BFBA04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E7BB10-72F7-EBAB-833F-C93D5576E799}"/>
              </a:ext>
            </a:extLst>
          </p:cNvPr>
          <p:cNvSpPr>
            <a:spLocks noGrp="1"/>
          </p:cNvSpPr>
          <p:nvPr>
            <p:ph type="title"/>
          </p:nvPr>
        </p:nvSpPr>
        <p:spPr/>
        <p:txBody>
          <a:bodyPr/>
          <a:lstStyle/>
          <a:p>
            <a:r>
              <a:rPr lang="en-US" dirty="0"/>
              <a:t>Employee – Enable for Calculation/ Custom List </a:t>
            </a:r>
          </a:p>
        </p:txBody>
      </p:sp>
      <p:sp>
        <p:nvSpPr>
          <p:cNvPr id="3" name="Content Placeholder 2">
            <a:extLst>
              <a:ext uri="{FF2B5EF4-FFF2-40B4-BE49-F238E27FC236}">
                <a16:creationId xmlns:a16="http://schemas.microsoft.com/office/drawing/2014/main" id="{DBE55A0D-BB2B-30D0-1F77-9723DDF7C056}"/>
              </a:ext>
            </a:extLst>
          </p:cNvPr>
          <p:cNvSpPr>
            <a:spLocks noGrp="1"/>
          </p:cNvSpPr>
          <p:nvPr>
            <p:ph idx="1"/>
          </p:nvPr>
        </p:nvSpPr>
        <p:spPr/>
        <p:txBody>
          <a:bodyPr/>
          <a:lstStyle/>
          <a:p>
            <a:r>
              <a:rPr lang="en-US" dirty="0"/>
              <a:t>New Attributes added:</a:t>
            </a:r>
          </a:p>
          <a:p>
            <a:pPr marL="457200" lvl="1" indent="0">
              <a:buNone/>
            </a:pPr>
            <a:r>
              <a:rPr lang="en-US" dirty="0"/>
              <a:t>Job Family</a:t>
            </a:r>
          </a:p>
          <a:p>
            <a:pPr marL="457200" lvl="1" indent="0">
              <a:buNone/>
            </a:pPr>
            <a:r>
              <a:rPr lang="en-US" dirty="0"/>
              <a:t>Job Category</a:t>
            </a:r>
          </a:p>
          <a:p>
            <a:pPr marL="457200" lvl="1" indent="0">
              <a:buNone/>
            </a:pPr>
            <a:r>
              <a:rPr lang="en-US" dirty="0"/>
              <a:t>Business Unit</a:t>
            </a:r>
          </a:p>
          <a:p>
            <a:pPr marL="457200" lvl="1" indent="0">
              <a:buNone/>
            </a:pPr>
            <a:r>
              <a:rPr lang="en-US" dirty="0"/>
              <a:t>Cost Center</a:t>
            </a:r>
          </a:p>
          <a:p>
            <a:pPr marL="457200" lvl="1" indent="0">
              <a:buNone/>
            </a:pPr>
            <a:endParaRPr lang="en-US" dirty="0"/>
          </a:p>
          <a:p>
            <a:pPr marL="457200" lvl="1" indent="0">
              <a:buNone/>
            </a:pPr>
            <a:endParaRPr lang="en-US" dirty="0"/>
          </a:p>
          <a:p>
            <a:pPr marL="0" indent="0">
              <a:buNone/>
            </a:pPr>
            <a:endParaRPr lang="en-US" dirty="0"/>
          </a:p>
          <a:p>
            <a:pPr marL="0" indent="0">
              <a:buNone/>
            </a:pPr>
            <a:endParaRPr lang="en-US" dirty="0"/>
          </a:p>
          <a:p>
            <a:endParaRPr lang="en-US" dirty="0"/>
          </a:p>
          <a:p>
            <a:endParaRPr lang="en-US" dirty="0"/>
          </a:p>
          <a:p>
            <a:pPr marL="0" indent="0">
              <a:buNone/>
            </a:pPr>
            <a:endParaRPr lang="en-US" dirty="0"/>
          </a:p>
          <a:p>
            <a:pPr marL="0" indent="0">
              <a:buNone/>
            </a:pPr>
            <a:endParaRPr lang="en-US" dirty="0"/>
          </a:p>
        </p:txBody>
      </p:sp>
      <p:pic>
        <p:nvPicPr>
          <p:cNvPr id="11" name="Picture 10" descr="A screenshot of a computer&#10;&#10;AI-generated content may be incorrect.">
            <a:extLst>
              <a:ext uri="{FF2B5EF4-FFF2-40B4-BE49-F238E27FC236}">
                <a16:creationId xmlns:a16="http://schemas.microsoft.com/office/drawing/2014/main" id="{58FCEC0D-39D7-67BD-133F-BECA34721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535" y="2402709"/>
            <a:ext cx="6712527" cy="2416941"/>
          </a:xfrm>
          <a:prstGeom prst="rect">
            <a:avLst/>
          </a:prstGeom>
        </p:spPr>
      </p:pic>
    </p:spTree>
    <p:extLst>
      <p:ext uri="{BB962C8B-B14F-4D97-AF65-F5344CB8AC3E}">
        <p14:creationId xmlns:p14="http://schemas.microsoft.com/office/powerpoint/2010/main" val="49637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BCC3-34DD-9D16-C33D-B1E7E474E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0A597-02B4-0EA7-51FB-4214A576E905}"/>
              </a:ext>
            </a:extLst>
          </p:cNvPr>
          <p:cNvSpPr>
            <a:spLocks noGrp="1"/>
          </p:cNvSpPr>
          <p:nvPr>
            <p:ph type="title"/>
          </p:nvPr>
        </p:nvSpPr>
        <p:spPr/>
        <p:txBody>
          <a:bodyPr/>
          <a:lstStyle/>
          <a:p>
            <a:r>
              <a:rPr lang="en-US" dirty="0"/>
              <a:t>Hierarchies</a:t>
            </a:r>
          </a:p>
        </p:txBody>
      </p:sp>
    </p:spTree>
    <p:extLst>
      <p:ext uri="{BB962C8B-B14F-4D97-AF65-F5344CB8AC3E}">
        <p14:creationId xmlns:p14="http://schemas.microsoft.com/office/powerpoint/2010/main" val="1966577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3325-56B1-BB30-556E-17D22F5D74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0566DB-92A0-0F7F-CF96-2039B55E9E6F}"/>
              </a:ext>
            </a:extLst>
          </p:cNvPr>
          <p:cNvSpPr>
            <a:spLocks noGrp="1"/>
          </p:cNvSpPr>
          <p:nvPr>
            <p:ph type="title"/>
          </p:nvPr>
        </p:nvSpPr>
        <p:spPr/>
        <p:txBody>
          <a:bodyPr/>
          <a:lstStyle/>
          <a:p>
            <a:r>
              <a:rPr lang="en-US" dirty="0"/>
              <a:t>Hierarchies</a:t>
            </a:r>
          </a:p>
        </p:txBody>
      </p:sp>
      <p:sp>
        <p:nvSpPr>
          <p:cNvPr id="3" name="Content Placeholder 2">
            <a:extLst>
              <a:ext uri="{FF2B5EF4-FFF2-40B4-BE49-F238E27FC236}">
                <a16:creationId xmlns:a16="http://schemas.microsoft.com/office/drawing/2014/main" id="{4BF00E74-29C6-3B13-46B1-FEBBF3D9F94A}"/>
              </a:ext>
            </a:extLst>
          </p:cNvPr>
          <p:cNvSpPr>
            <a:spLocks noGrp="1"/>
          </p:cNvSpPr>
          <p:nvPr>
            <p:ph idx="1"/>
          </p:nvPr>
        </p:nvSpPr>
        <p:spPr/>
        <p:txBody>
          <a:bodyPr/>
          <a:lstStyle/>
          <a:p>
            <a:r>
              <a:rPr lang="en-US" dirty="0"/>
              <a:t>Define the levels and names of your hierarchies (For any hierarchy lists defined in Datahub setup)</a:t>
            </a:r>
          </a:p>
          <a:p>
            <a:endParaRPr lang="en-US" dirty="0"/>
          </a:p>
          <a:p>
            <a:r>
              <a:rPr lang="en-US" dirty="0"/>
              <a:t>After the update, hit apply and map attributes that was “enable for calculate” for applicable hierarchies </a:t>
            </a:r>
          </a:p>
          <a:p>
            <a:endParaRPr lang="en-US" dirty="0"/>
          </a:p>
          <a:p>
            <a:endParaRPr lang="en-US" dirty="0"/>
          </a:p>
          <a:p>
            <a:pPr marL="0" indent="0">
              <a:buNone/>
            </a:pPr>
            <a:endParaRPr lang="en-US" dirty="0"/>
          </a:p>
          <a:p>
            <a:r>
              <a:rPr lang="en-US" dirty="0"/>
              <a:t>Hint: It is recommended to add a suffix to the name to represent the level </a:t>
            </a:r>
            <a:r>
              <a:rPr lang="en-US" dirty="0" err="1"/>
              <a:t>ie</a:t>
            </a:r>
            <a:r>
              <a:rPr lang="en-US" dirty="0"/>
              <a:t>. L1, L2, L3 etc. </a:t>
            </a:r>
          </a:p>
          <a:p>
            <a:endParaRPr lang="en-US" dirty="0"/>
          </a:p>
        </p:txBody>
      </p:sp>
      <p:pic>
        <p:nvPicPr>
          <p:cNvPr id="4" name="Picture Placeholder 3">
            <a:extLst>
              <a:ext uri="{FF2B5EF4-FFF2-40B4-BE49-F238E27FC236}">
                <a16:creationId xmlns:a16="http://schemas.microsoft.com/office/drawing/2014/main" id="{E797DB14-A04F-C676-22E6-B622E3DBB7D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p:blipFill>
        <p:spPr>
          <a:xfrm>
            <a:off x="4827588" y="842963"/>
            <a:ext cx="3746500" cy="1704975"/>
          </a:xfrm>
        </p:spPr>
      </p:pic>
      <p:pic>
        <p:nvPicPr>
          <p:cNvPr id="8" name="Picture Placeholder 7">
            <a:extLst>
              <a:ext uri="{FF2B5EF4-FFF2-40B4-BE49-F238E27FC236}">
                <a16:creationId xmlns:a16="http://schemas.microsoft.com/office/drawing/2014/main" id="{C90AD767-F6C8-90ED-AAA3-DE5B6AAB75B0}"/>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a:stretch/>
        </p:blipFill>
        <p:spPr>
          <a:xfrm>
            <a:off x="5217413" y="2747963"/>
            <a:ext cx="3321050" cy="2049462"/>
          </a:xfrm>
        </p:spPr>
      </p:pic>
    </p:spTree>
    <p:extLst>
      <p:ext uri="{BB962C8B-B14F-4D97-AF65-F5344CB8AC3E}">
        <p14:creationId xmlns:p14="http://schemas.microsoft.com/office/powerpoint/2010/main" val="382606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69682-CC89-9B8C-6AFB-72F50EF1AE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7EC1E5-DC3A-C960-B811-9385DF33F1FB}"/>
              </a:ext>
            </a:extLst>
          </p:cNvPr>
          <p:cNvSpPr>
            <a:spLocks noGrp="1"/>
          </p:cNvSpPr>
          <p:nvPr>
            <p:ph type="title"/>
          </p:nvPr>
        </p:nvSpPr>
        <p:spPr/>
        <p:txBody>
          <a:bodyPr/>
          <a:lstStyle/>
          <a:p>
            <a:r>
              <a:rPr lang="en-US" dirty="0"/>
              <a:t>Hierarchies - Examples</a:t>
            </a:r>
          </a:p>
        </p:txBody>
      </p:sp>
      <p:pic>
        <p:nvPicPr>
          <p:cNvPr id="13" name="Content Placeholder 12" descr="A white page with blue lines&#10;&#10;AI-generated content may be incorrect.">
            <a:extLst>
              <a:ext uri="{FF2B5EF4-FFF2-40B4-BE49-F238E27FC236}">
                <a16:creationId xmlns:a16="http://schemas.microsoft.com/office/drawing/2014/main" id="{36148E32-266B-EC5F-B33D-A7D94469D9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5002" y="680713"/>
            <a:ext cx="6002481" cy="1891037"/>
          </a:xfrm>
        </p:spPr>
      </p:pic>
      <p:pic>
        <p:nvPicPr>
          <p:cNvPr id="17" name="Picture 16" descr="A white background with black text&#10;&#10;AI-generated content may be incorrect.">
            <a:extLst>
              <a:ext uri="{FF2B5EF4-FFF2-40B4-BE49-F238E27FC236}">
                <a16:creationId xmlns:a16="http://schemas.microsoft.com/office/drawing/2014/main" id="{0A672D4C-737F-FB5C-8365-230A845283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002" y="2178897"/>
            <a:ext cx="5962070" cy="1428417"/>
          </a:xfrm>
          <a:prstGeom prst="rect">
            <a:avLst/>
          </a:prstGeom>
        </p:spPr>
      </p:pic>
      <p:pic>
        <p:nvPicPr>
          <p:cNvPr id="19" name="Picture 18" descr="A white background with text&#10;&#10;AI-generated content may be incorrect.">
            <a:extLst>
              <a:ext uri="{FF2B5EF4-FFF2-40B4-BE49-F238E27FC236}">
                <a16:creationId xmlns:a16="http://schemas.microsoft.com/office/drawing/2014/main" id="{F39FFEAF-966A-E40C-B0B6-E508C06666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207" y="3228109"/>
            <a:ext cx="5962070" cy="1522707"/>
          </a:xfrm>
          <a:prstGeom prst="rect">
            <a:avLst/>
          </a:prstGeom>
        </p:spPr>
      </p:pic>
    </p:spTree>
    <p:extLst>
      <p:ext uri="{BB962C8B-B14F-4D97-AF65-F5344CB8AC3E}">
        <p14:creationId xmlns:p14="http://schemas.microsoft.com/office/powerpoint/2010/main" val="19755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9B81-6E94-C901-5FB5-3F0B2526C8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52A5D3-7658-873A-CA75-6298F7FB2ACA}"/>
              </a:ext>
            </a:extLst>
          </p:cNvPr>
          <p:cNvSpPr>
            <a:spLocks noGrp="1"/>
          </p:cNvSpPr>
          <p:nvPr>
            <p:ph type="title"/>
          </p:nvPr>
        </p:nvSpPr>
        <p:spPr/>
        <p:txBody>
          <a:bodyPr/>
          <a:lstStyle/>
          <a:p>
            <a:r>
              <a:rPr lang="en-US" dirty="0"/>
              <a:t>Hierarchies Mapping - Example</a:t>
            </a:r>
          </a:p>
        </p:txBody>
      </p:sp>
      <p:pic>
        <p:nvPicPr>
          <p:cNvPr id="13" name="Picture 12" descr="A screenshot of a computer&#10;&#10;AI-generated content may be incorrect.">
            <a:extLst>
              <a:ext uri="{FF2B5EF4-FFF2-40B4-BE49-F238E27FC236}">
                <a16:creationId xmlns:a16="http://schemas.microsoft.com/office/drawing/2014/main" id="{7F53E5EA-98F7-A15D-A1AC-A915FE8F1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46" y="1190069"/>
            <a:ext cx="8756072" cy="2763362"/>
          </a:xfrm>
          <a:prstGeom prst="rect">
            <a:avLst/>
          </a:prstGeom>
        </p:spPr>
      </p:pic>
    </p:spTree>
    <p:extLst>
      <p:ext uri="{BB962C8B-B14F-4D97-AF65-F5344CB8AC3E}">
        <p14:creationId xmlns:p14="http://schemas.microsoft.com/office/powerpoint/2010/main" val="81177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9CFED-1625-47D5-3C6E-11B5171E0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B9A4C-C74D-C2C7-0235-9C9395C13062}"/>
              </a:ext>
            </a:extLst>
          </p:cNvPr>
          <p:cNvSpPr>
            <a:spLocks noGrp="1"/>
          </p:cNvSpPr>
          <p:nvPr>
            <p:ph type="title"/>
          </p:nvPr>
        </p:nvSpPr>
        <p:spPr/>
        <p:txBody>
          <a:bodyPr/>
          <a:lstStyle/>
          <a:p>
            <a:r>
              <a:rPr lang="en-US" dirty="0"/>
              <a:t>Scenario Planning</a:t>
            </a:r>
          </a:p>
        </p:txBody>
      </p:sp>
    </p:spTree>
    <p:extLst>
      <p:ext uri="{BB962C8B-B14F-4D97-AF65-F5344CB8AC3E}">
        <p14:creationId xmlns:p14="http://schemas.microsoft.com/office/powerpoint/2010/main" val="328792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0A95-1DBF-2B0D-2BDE-CB4B78644C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819527-47A5-0C63-F34C-9593FA4CEE33}"/>
              </a:ext>
            </a:extLst>
          </p:cNvPr>
          <p:cNvSpPr>
            <a:spLocks noGrp="1"/>
          </p:cNvSpPr>
          <p:nvPr>
            <p:ph type="title"/>
          </p:nvPr>
        </p:nvSpPr>
        <p:spPr>
          <a:xfrm>
            <a:off x="419101" y="294640"/>
            <a:ext cx="5854284" cy="338554"/>
          </a:xfrm>
        </p:spPr>
        <p:txBody>
          <a:bodyPr/>
          <a:lstStyle/>
          <a:p>
            <a:r>
              <a:rPr lang="en-US" dirty="0"/>
              <a:t>Define transaction data sources / Set planning measures</a:t>
            </a:r>
          </a:p>
        </p:txBody>
      </p:sp>
      <p:sp>
        <p:nvSpPr>
          <p:cNvPr id="7" name="Content Placeholder 6">
            <a:extLst>
              <a:ext uri="{FF2B5EF4-FFF2-40B4-BE49-F238E27FC236}">
                <a16:creationId xmlns:a16="http://schemas.microsoft.com/office/drawing/2014/main" id="{F95A1791-3590-BAF7-C6CC-D457883A35EF}"/>
              </a:ext>
            </a:extLst>
          </p:cNvPr>
          <p:cNvSpPr>
            <a:spLocks noGrp="1"/>
          </p:cNvSpPr>
          <p:nvPr>
            <p:ph idx="1"/>
          </p:nvPr>
        </p:nvSpPr>
        <p:spPr/>
        <p:txBody>
          <a:bodyPr/>
          <a:lstStyle/>
          <a:p>
            <a:r>
              <a:rPr lang="en-US" dirty="0"/>
              <a:t>Select the source data table, attribute, time scale, and time offset for calculating actuals and forecasts, and select the source data table and attribute for the field to identify the date. </a:t>
            </a:r>
          </a:p>
          <a:p>
            <a:endParaRPr lang="en-US" dirty="0"/>
          </a:p>
          <a:p>
            <a:r>
              <a:rPr lang="en-US" dirty="0"/>
              <a:t>Add or remove planning measures to be used across the model. These metrics are used for scenario planning, target setting, and quota allocation. For each planning measure, choose the attribute that is used to calculate it for both forecast and actual values. </a:t>
            </a:r>
          </a:p>
          <a:p>
            <a:endParaRPr lang="en-US" dirty="0"/>
          </a:p>
          <a:p>
            <a:endParaRPr lang="en-US" dirty="0"/>
          </a:p>
        </p:txBody>
      </p:sp>
      <p:sp>
        <p:nvSpPr>
          <p:cNvPr id="4" name="Picture Placeholder 3">
            <a:extLst>
              <a:ext uri="{FF2B5EF4-FFF2-40B4-BE49-F238E27FC236}">
                <a16:creationId xmlns:a16="http://schemas.microsoft.com/office/drawing/2014/main" id="{777BA327-51A9-333F-0443-2BF7E65B52F9}"/>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3738312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0CA08-DEBB-738C-E4E6-B2E137B970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DAC421-63C8-3245-AF44-A262EEE60837}"/>
              </a:ext>
            </a:extLst>
          </p:cNvPr>
          <p:cNvSpPr>
            <a:spLocks noGrp="1"/>
          </p:cNvSpPr>
          <p:nvPr>
            <p:ph type="title"/>
          </p:nvPr>
        </p:nvSpPr>
        <p:spPr>
          <a:xfrm>
            <a:off x="419101" y="294640"/>
            <a:ext cx="5854284" cy="338554"/>
          </a:xfrm>
        </p:spPr>
        <p:txBody>
          <a:bodyPr/>
          <a:lstStyle/>
          <a:p>
            <a:r>
              <a:rPr lang="en-US" dirty="0"/>
              <a:t>Scenario Planning Examples -</a:t>
            </a:r>
          </a:p>
        </p:txBody>
      </p:sp>
      <p:pic>
        <p:nvPicPr>
          <p:cNvPr id="12" name="Picture 11" descr="A screenshot of a computer&#10;&#10;AI-generated content may be incorrect.">
            <a:extLst>
              <a:ext uri="{FF2B5EF4-FFF2-40B4-BE49-F238E27FC236}">
                <a16:creationId xmlns:a16="http://schemas.microsoft.com/office/drawing/2014/main" id="{0F39939A-9C74-9FEB-0EA1-8C687E2910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3270"/>
            <a:ext cx="8735291" cy="3156960"/>
          </a:xfrm>
          <a:prstGeom prst="rect">
            <a:avLst/>
          </a:prstGeom>
        </p:spPr>
      </p:pic>
    </p:spTree>
    <p:extLst>
      <p:ext uri="{BB962C8B-B14F-4D97-AF65-F5344CB8AC3E}">
        <p14:creationId xmlns:p14="http://schemas.microsoft.com/office/powerpoint/2010/main" val="259770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B0B9-72F6-CDA7-DD82-7733BD96CF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1AC078-4B4E-F4CC-611D-FEAF659FE5BF}"/>
              </a:ext>
            </a:extLst>
          </p:cNvPr>
          <p:cNvSpPr>
            <a:spLocks noGrp="1"/>
          </p:cNvSpPr>
          <p:nvPr>
            <p:ph type="title"/>
          </p:nvPr>
        </p:nvSpPr>
        <p:spPr>
          <a:xfrm>
            <a:off x="419101" y="294640"/>
            <a:ext cx="5854284" cy="338554"/>
          </a:xfrm>
        </p:spPr>
        <p:txBody>
          <a:bodyPr/>
          <a:lstStyle/>
          <a:p>
            <a:r>
              <a:rPr lang="en-US" dirty="0"/>
              <a:t>Scenario Planning Examples -</a:t>
            </a:r>
          </a:p>
        </p:txBody>
      </p:sp>
      <p:pic>
        <p:nvPicPr>
          <p:cNvPr id="3" name="Picture 2" descr="A screenshot of a computer&#10;&#10;AI-generated content may be incorrect.">
            <a:extLst>
              <a:ext uri="{FF2B5EF4-FFF2-40B4-BE49-F238E27FC236}">
                <a16:creationId xmlns:a16="http://schemas.microsoft.com/office/drawing/2014/main" id="{AA0DC35D-5CD4-4F95-2AA4-7C8862D75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758" y="710779"/>
            <a:ext cx="8440881" cy="4271775"/>
          </a:xfrm>
          <a:prstGeom prst="rect">
            <a:avLst/>
          </a:prstGeom>
        </p:spPr>
      </p:pic>
    </p:spTree>
    <p:extLst>
      <p:ext uri="{BB962C8B-B14F-4D97-AF65-F5344CB8AC3E}">
        <p14:creationId xmlns:p14="http://schemas.microsoft.com/office/powerpoint/2010/main" val="261215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E33D-D654-EDC8-ADB3-92854B174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1CD8A-EF74-D1A5-9574-F6693D36A4A3}"/>
              </a:ext>
            </a:extLst>
          </p:cNvPr>
          <p:cNvSpPr>
            <a:spLocks noGrp="1"/>
          </p:cNvSpPr>
          <p:nvPr>
            <p:ph type="title"/>
          </p:nvPr>
        </p:nvSpPr>
        <p:spPr/>
        <p:txBody>
          <a:bodyPr/>
          <a:lstStyle/>
          <a:p>
            <a:r>
              <a:rPr lang="en-US" dirty="0"/>
              <a:t>Optimizer</a:t>
            </a:r>
          </a:p>
        </p:txBody>
      </p:sp>
    </p:spTree>
    <p:extLst>
      <p:ext uri="{BB962C8B-B14F-4D97-AF65-F5344CB8AC3E}">
        <p14:creationId xmlns:p14="http://schemas.microsoft.com/office/powerpoint/2010/main" val="3775056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6A479-5229-4719-26B3-B0B85C2563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A32B94-C529-CFDE-E146-1F482372EE7B}"/>
              </a:ext>
            </a:extLst>
          </p:cNvPr>
          <p:cNvSpPr>
            <a:spLocks noGrp="1"/>
          </p:cNvSpPr>
          <p:nvPr>
            <p:ph type="title"/>
          </p:nvPr>
        </p:nvSpPr>
        <p:spPr/>
        <p:txBody>
          <a:bodyPr/>
          <a:lstStyle/>
          <a:p>
            <a:r>
              <a:rPr lang="en-US" dirty="0"/>
              <a:t>Optimizer – Add Pipeline Amount as Objective</a:t>
            </a:r>
          </a:p>
        </p:txBody>
      </p:sp>
      <p:sp>
        <p:nvSpPr>
          <p:cNvPr id="3" name="Content Placeholder 2">
            <a:extLst>
              <a:ext uri="{FF2B5EF4-FFF2-40B4-BE49-F238E27FC236}">
                <a16:creationId xmlns:a16="http://schemas.microsoft.com/office/drawing/2014/main" id="{D2B00860-CEEF-88F4-EEDE-5F6A2F7D6E0D}"/>
              </a:ext>
            </a:extLst>
          </p:cNvPr>
          <p:cNvSpPr>
            <a:spLocks noGrp="1"/>
          </p:cNvSpPr>
          <p:nvPr>
            <p:ph idx="1"/>
          </p:nvPr>
        </p:nvSpPr>
        <p:spPr/>
        <p:txBody>
          <a:bodyPr/>
          <a:lstStyle/>
          <a:p>
            <a:r>
              <a:rPr lang="en-US" dirty="0"/>
              <a:t>Add additional or delete existing Objectives to be used for planning.  The default objectives can also be renamed. </a:t>
            </a:r>
          </a:p>
          <a:p>
            <a:endParaRPr lang="en-US" dirty="0"/>
          </a:p>
          <a:p>
            <a:r>
              <a:rPr lang="en-US" dirty="0"/>
              <a:t>Check or uncheck the hierarchy levels desired where Geography Constraints are applied during planning.</a:t>
            </a:r>
          </a:p>
          <a:p>
            <a:endParaRPr lang="en-US" dirty="0"/>
          </a:p>
          <a:p>
            <a:r>
              <a:rPr lang="en-US" dirty="0"/>
              <a:t>Select the attribute of the Account list that is used as the constraints and Mix Constraints for territory optimization process.</a:t>
            </a:r>
          </a:p>
          <a:p>
            <a:pPr marL="0" indent="0">
              <a:buNone/>
            </a:pPr>
            <a:r>
              <a:rPr lang="en-US" dirty="0"/>
              <a:t>Note: The attributes should be enabled for Calculate to be available for selection.</a:t>
            </a:r>
          </a:p>
          <a:p>
            <a:endParaRPr lang="en-US" dirty="0"/>
          </a:p>
          <a:p>
            <a:endParaRPr lang="en-US" dirty="0"/>
          </a:p>
        </p:txBody>
      </p:sp>
      <p:pic>
        <p:nvPicPr>
          <p:cNvPr id="4" name="Picture Placeholder 3">
            <a:extLst>
              <a:ext uri="{FF2B5EF4-FFF2-40B4-BE49-F238E27FC236}">
                <a16:creationId xmlns:a16="http://schemas.microsoft.com/office/drawing/2014/main" id="{9517675F-6F17-E47C-A031-D43B82A7189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p:blipFill>
        <p:spPr>
          <a:xfrm>
            <a:off x="4827588" y="842963"/>
            <a:ext cx="3746500" cy="1704975"/>
          </a:xfrm>
        </p:spPr>
      </p:pic>
      <p:pic>
        <p:nvPicPr>
          <p:cNvPr id="8" name="Picture Placeholder 7">
            <a:extLst>
              <a:ext uri="{FF2B5EF4-FFF2-40B4-BE49-F238E27FC236}">
                <a16:creationId xmlns:a16="http://schemas.microsoft.com/office/drawing/2014/main" id="{68638BF9-C4D4-A618-CDDD-615B5B48E0AF}"/>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a:stretch/>
        </p:blipFill>
        <p:spPr>
          <a:xfrm>
            <a:off x="5217413" y="2747963"/>
            <a:ext cx="3321050" cy="2049462"/>
          </a:xfrm>
        </p:spPr>
      </p:pic>
    </p:spTree>
    <p:extLst>
      <p:ext uri="{BB962C8B-B14F-4D97-AF65-F5344CB8AC3E}">
        <p14:creationId xmlns:p14="http://schemas.microsoft.com/office/powerpoint/2010/main" val="1813971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B536-1C6A-206D-977A-3B7F62056C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978124-E495-5526-8244-44F395B31F56}"/>
              </a:ext>
            </a:extLst>
          </p:cNvPr>
          <p:cNvSpPr>
            <a:spLocks noGrp="1"/>
          </p:cNvSpPr>
          <p:nvPr>
            <p:ph type="title"/>
          </p:nvPr>
        </p:nvSpPr>
        <p:spPr>
          <a:xfrm>
            <a:off x="419101" y="294640"/>
            <a:ext cx="5854284" cy="338554"/>
          </a:xfrm>
        </p:spPr>
        <p:txBody>
          <a:bodyPr/>
          <a:lstStyle/>
          <a:p>
            <a:r>
              <a:rPr lang="en-US" dirty="0"/>
              <a:t>Optimizer Examples -</a:t>
            </a:r>
          </a:p>
        </p:txBody>
      </p:sp>
      <p:pic>
        <p:nvPicPr>
          <p:cNvPr id="4" name="Picture 3" descr="A screenshot of a computer&#10;&#10;AI-generated content may be incorrect.">
            <a:extLst>
              <a:ext uri="{FF2B5EF4-FFF2-40B4-BE49-F238E27FC236}">
                <a16:creationId xmlns:a16="http://schemas.microsoft.com/office/drawing/2014/main" id="{10A926D6-2A10-FB55-76A0-22CE4D35B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1" y="949036"/>
            <a:ext cx="7655091" cy="3547481"/>
          </a:xfrm>
          <a:prstGeom prst="rect">
            <a:avLst/>
          </a:prstGeom>
        </p:spPr>
      </p:pic>
    </p:spTree>
    <p:extLst>
      <p:ext uri="{BB962C8B-B14F-4D97-AF65-F5344CB8AC3E}">
        <p14:creationId xmlns:p14="http://schemas.microsoft.com/office/powerpoint/2010/main" val="6868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106EF-F220-2789-8A04-6419420F9D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980916-A67F-CA24-F1E2-6BDAD96317B6}"/>
              </a:ext>
            </a:extLst>
          </p:cNvPr>
          <p:cNvSpPr>
            <a:spLocks noGrp="1"/>
          </p:cNvSpPr>
          <p:nvPr>
            <p:ph type="title"/>
          </p:nvPr>
        </p:nvSpPr>
        <p:spPr>
          <a:xfrm>
            <a:off x="419101" y="294640"/>
            <a:ext cx="5854284" cy="338554"/>
          </a:xfrm>
        </p:spPr>
        <p:txBody>
          <a:bodyPr/>
          <a:lstStyle/>
          <a:p>
            <a:r>
              <a:rPr lang="en-US" dirty="0"/>
              <a:t>Optimizer Examples -</a:t>
            </a:r>
          </a:p>
        </p:txBody>
      </p:sp>
      <p:pic>
        <p:nvPicPr>
          <p:cNvPr id="4" name="Picture 3" descr="A screenshot of a computer&#10;&#10;AI-generated content may be incorrect.">
            <a:extLst>
              <a:ext uri="{FF2B5EF4-FFF2-40B4-BE49-F238E27FC236}">
                <a16:creationId xmlns:a16="http://schemas.microsoft.com/office/drawing/2014/main" id="{333EFF6E-CD93-1BF3-D28D-226A16937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1" y="711545"/>
            <a:ext cx="7914408" cy="4047491"/>
          </a:xfrm>
          <a:prstGeom prst="rect">
            <a:avLst/>
          </a:prstGeom>
        </p:spPr>
      </p:pic>
    </p:spTree>
    <p:extLst>
      <p:ext uri="{BB962C8B-B14F-4D97-AF65-F5344CB8AC3E}">
        <p14:creationId xmlns:p14="http://schemas.microsoft.com/office/powerpoint/2010/main" val="1864926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5F5D2-C0BC-7AE2-4A4E-5B6C284AA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E0DCA-29DC-FD96-7EFE-6D1D2C998D36}"/>
              </a:ext>
            </a:extLst>
          </p:cNvPr>
          <p:cNvSpPr>
            <a:spLocks noGrp="1"/>
          </p:cNvSpPr>
          <p:nvPr>
            <p:ph type="title"/>
          </p:nvPr>
        </p:nvSpPr>
        <p:spPr/>
        <p:txBody>
          <a:bodyPr/>
          <a:lstStyle/>
          <a:p>
            <a:r>
              <a:rPr lang="en-US" dirty="0"/>
              <a:t>Historical Data Reporting/ Account Value KPI</a:t>
            </a:r>
          </a:p>
        </p:txBody>
      </p:sp>
    </p:spTree>
    <p:extLst>
      <p:ext uri="{BB962C8B-B14F-4D97-AF65-F5344CB8AC3E}">
        <p14:creationId xmlns:p14="http://schemas.microsoft.com/office/powerpoint/2010/main" val="161961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3BCFB-2C0E-85B5-4221-61C9804C84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18A220-CAD8-7152-1E91-3ABF412B2610}"/>
              </a:ext>
            </a:extLst>
          </p:cNvPr>
          <p:cNvSpPr>
            <a:spLocks noGrp="1"/>
          </p:cNvSpPr>
          <p:nvPr>
            <p:ph type="title"/>
          </p:nvPr>
        </p:nvSpPr>
        <p:spPr/>
        <p:txBody>
          <a:bodyPr/>
          <a:lstStyle/>
          <a:p>
            <a:r>
              <a:rPr lang="en-US" dirty="0"/>
              <a:t>Historical Data Reporting – As is</a:t>
            </a:r>
          </a:p>
        </p:txBody>
      </p:sp>
      <p:sp>
        <p:nvSpPr>
          <p:cNvPr id="3" name="Content Placeholder 2">
            <a:extLst>
              <a:ext uri="{FF2B5EF4-FFF2-40B4-BE49-F238E27FC236}">
                <a16:creationId xmlns:a16="http://schemas.microsoft.com/office/drawing/2014/main" id="{5A4FFB58-60FD-CEF2-84EE-1913615880CB}"/>
              </a:ext>
            </a:extLst>
          </p:cNvPr>
          <p:cNvSpPr>
            <a:spLocks noGrp="1"/>
          </p:cNvSpPr>
          <p:nvPr>
            <p:ph idx="1"/>
          </p:nvPr>
        </p:nvSpPr>
        <p:spPr/>
        <p:txBody>
          <a:bodyPr/>
          <a:lstStyle/>
          <a:p>
            <a:r>
              <a:rPr lang="en-US" dirty="0"/>
              <a:t>Choose the level of the territory hierarchy to calculate seasonality percentages by month</a:t>
            </a:r>
          </a:p>
          <a:p>
            <a:pPr lvl="1"/>
            <a:r>
              <a:rPr lang="en-US" dirty="0"/>
              <a:t>Discuss seasonality approach with the customer</a:t>
            </a:r>
          </a:p>
          <a:p>
            <a:pPr lvl="1"/>
            <a:endParaRPr lang="en-US" dirty="0"/>
          </a:p>
          <a:p>
            <a:endParaRPr lang="en-US" dirty="0"/>
          </a:p>
        </p:txBody>
      </p:sp>
      <p:pic>
        <p:nvPicPr>
          <p:cNvPr id="11" name="Picture 10" descr="A screenshot of a computer&#10;&#10;AI-generated content may be incorrect.">
            <a:extLst>
              <a:ext uri="{FF2B5EF4-FFF2-40B4-BE49-F238E27FC236}">
                <a16:creationId xmlns:a16="http://schemas.microsoft.com/office/drawing/2014/main" id="{3524A06F-1686-0F68-4770-9A685C719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890" y="2647084"/>
            <a:ext cx="7162800" cy="1276350"/>
          </a:xfrm>
          <a:prstGeom prst="rect">
            <a:avLst/>
          </a:prstGeom>
        </p:spPr>
      </p:pic>
    </p:spTree>
    <p:extLst>
      <p:ext uri="{BB962C8B-B14F-4D97-AF65-F5344CB8AC3E}">
        <p14:creationId xmlns:p14="http://schemas.microsoft.com/office/powerpoint/2010/main" val="140838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8C9EE-4A59-39AE-F8F7-ABE21FAD0B6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6A4C76-18E8-9075-1C9D-84CD661E8C99}"/>
              </a:ext>
            </a:extLst>
          </p:cNvPr>
          <p:cNvSpPr>
            <a:spLocks noGrp="1"/>
          </p:cNvSpPr>
          <p:nvPr>
            <p:ph type="title"/>
          </p:nvPr>
        </p:nvSpPr>
        <p:spPr>
          <a:xfrm>
            <a:off x="419101" y="294640"/>
            <a:ext cx="5854284" cy="338554"/>
          </a:xfrm>
        </p:spPr>
        <p:txBody>
          <a:bodyPr/>
          <a:lstStyle/>
          <a:p>
            <a:r>
              <a:rPr lang="en-US" dirty="0"/>
              <a:t>Account Value KPI – As is</a:t>
            </a:r>
          </a:p>
        </p:txBody>
      </p:sp>
      <p:sp>
        <p:nvSpPr>
          <p:cNvPr id="6" name="Content Placeholder 2">
            <a:extLst>
              <a:ext uri="{FF2B5EF4-FFF2-40B4-BE49-F238E27FC236}">
                <a16:creationId xmlns:a16="http://schemas.microsoft.com/office/drawing/2014/main" id="{CB0E622E-2E86-FF33-88DB-FEDAD31319CB}"/>
              </a:ext>
            </a:extLst>
          </p:cNvPr>
          <p:cNvSpPr>
            <a:spLocks noGrp="1"/>
          </p:cNvSpPr>
          <p:nvPr>
            <p:ph idx="1"/>
          </p:nvPr>
        </p:nvSpPr>
        <p:spPr>
          <a:xfrm>
            <a:off x="419101" y="834850"/>
            <a:ext cx="4076698" cy="3984800"/>
          </a:xfrm>
        </p:spPr>
        <p:txBody>
          <a:bodyPr/>
          <a:lstStyle/>
          <a:p>
            <a:r>
              <a:rPr lang="en-US" dirty="0"/>
              <a:t>Ensure to capture “Account attribute for Territory for account to territory assignment initialization</a:t>
            </a:r>
          </a:p>
          <a:p>
            <a:pPr marL="457200" lvl="1" indent="0">
              <a:buNone/>
            </a:pPr>
            <a:endParaRPr lang="en-US" dirty="0"/>
          </a:p>
          <a:p>
            <a:endParaRPr lang="en-US" dirty="0"/>
          </a:p>
        </p:txBody>
      </p:sp>
      <p:pic>
        <p:nvPicPr>
          <p:cNvPr id="8" name="Picture 7" descr="A screenshot of a computer&#10;&#10;AI-generated content may be incorrect.">
            <a:extLst>
              <a:ext uri="{FF2B5EF4-FFF2-40B4-BE49-F238E27FC236}">
                <a16:creationId xmlns:a16="http://schemas.microsoft.com/office/drawing/2014/main" id="{5F7D344E-F982-849F-9830-D64F5B0261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1" y="1774862"/>
            <a:ext cx="8019858" cy="2533788"/>
          </a:xfrm>
          <a:prstGeom prst="rect">
            <a:avLst/>
          </a:prstGeom>
        </p:spPr>
      </p:pic>
    </p:spTree>
    <p:extLst>
      <p:ext uri="{BB962C8B-B14F-4D97-AF65-F5344CB8AC3E}">
        <p14:creationId xmlns:p14="http://schemas.microsoft.com/office/powerpoint/2010/main" val="45056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D848B-7319-A123-7C0A-CE21309AA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9BA2B-151B-A385-1F1E-43758792AF2A}"/>
              </a:ext>
            </a:extLst>
          </p:cNvPr>
          <p:cNvSpPr>
            <a:spLocks noGrp="1"/>
          </p:cNvSpPr>
          <p:nvPr>
            <p:ph type="title"/>
          </p:nvPr>
        </p:nvSpPr>
        <p:spPr/>
        <p:txBody>
          <a:bodyPr/>
          <a:lstStyle/>
          <a:p>
            <a:r>
              <a:rPr lang="en-US" dirty="0"/>
              <a:t>Target Allocation</a:t>
            </a:r>
          </a:p>
        </p:txBody>
      </p:sp>
    </p:spTree>
    <p:extLst>
      <p:ext uri="{BB962C8B-B14F-4D97-AF65-F5344CB8AC3E}">
        <p14:creationId xmlns:p14="http://schemas.microsoft.com/office/powerpoint/2010/main" val="268594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1F70-DEE2-CE11-81F6-00CC241D98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82AAAA-7D21-F130-80B3-D255B5142EB5}"/>
              </a:ext>
            </a:extLst>
          </p:cNvPr>
          <p:cNvSpPr>
            <a:spLocks noGrp="1"/>
          </p:cNvSpPr>
          <p:nvPr>
            <p:ph type="title"/>
          </p:nvPr>
        </p:nvSpPr>
        <p:spPr>
          <a:xfrm>
            <a:off x="419101" y="294640"/>
            <a:ext cx="5854284" cy="338554"/>
          </a:xfrm>
        </p:spPr>
        <p:txBody>
          <a:bodyPr/>
          <a:lstStyle/>
          <a:p>
            <a:r>
              <a:rPr lang="en-US" dirty="0"/>
              <a:t>Target Allocations </a:t>
            </a:r>
          </a:p>
        </p:txBody>
      </p:sp>
      <p:pic>
        <p:nvPicPr>
          <p:cNvPr id="12" name="Content Placeholder 11" descr="A close-up of a target setting&#10;&#10;AI-generated content may be incorrect.">
            <a:extLst>
              <a:ext uri="{FF2B5EF4-FFF2-40B4-BE49-F238E27FC236}">
                <a16:creationId xmlns:a16="http://schemas.microsoft.com/office/drawing/2014/main" id="{3DEF19FF-AAAD-5541-4E4F-D54ADA13769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735878" y="633194"/>
            <a:ext cx="2656416" cy="39846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3" name="Content Placeholder 6">
            <a:extLst>
              <a:ext uri="{FF2B5EF4-FFF2-40B4-BE49-F238E27FC236}">
                <a16:creationId xmlns:a16="http://schemas.microsoft.com/office/drawing/2014/main" id="{6F52B72A-BFFD-A3B8-9A9A-8E662188E529}"/>
              </a:ext>
            </a:extLst>
          </p:cNvPr>
          <p:cNvSpPr txBox="1">
            <a:spLocks/>
          </p:cNvSpPr>
          <p:nvPr/>
        </p:nvSpPr>
        <p:spPr>
          <a:xfrm>
            <a:off x="419100" y="834850"/>
            <a:ext cx="4076699" cy="3984800"/>
          </a:xfrm>
          <a:prstGeom prst="rect">
            <a:avLst/>
          </a:prstGeom>
        </p:spPr>
        <p:txBody>
          <a:bodyPr lIns="0" rIns="0"/>
          <a:lstStyle>
            <a:lvl1pPr marL="174625" indent="-174625" algn="l" defTabSz="914400" rtl="0" eaLnBrk="1" latinLnBrk="0" hangingPunct="1">
              <a:spcBef>
                <a:spcPct val="20000"/>
              </a:spcBef>
              <a:buClrTx/>
              <a:buFont typeface="Arial" panose="020B0604020202020204" pitchFamily="34" charset="0"/>
              <a:buChar char="•"/>
              <a:tabLst/>
              <a:defRPr sz="1600" b="0" i="0" kern="120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lgn="l" defTabSz="914400" rtl="0" eaLnBrk="1" latinLnBrk="0" hangingPunct="1">
              <a:spcBef>
                <a:spcPct val="20000"/>
              </a:spcBef>
              <a:buClrTx/>
              <a:buFont typeface="Arial"/>
              <a:buChar char="•"/>
              <a:tabLst/>
              <a:defRPr sz="1600" b="0" i="0" kern="120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lgn="l" defTabSz="914400" rtl="0" eaLnBrk="1" latinLnBrk="0" hangingPunct="1">
              <a:spcBef>
                <a:spcPct val="20000"/>
              </a:spcBef>
              <a:buClrTx/>
              <a:buFont typeface="Arial" panose="020B0604020202020204" pitchFamily="34" charset="0"/>
              <a:buChar char="•"/>
              <a:tabLst/>
              <a:defRPr sz="1600" b="0" i="0" kern="1200">
                <a:solidFill>
                  <a:schemeClr val="tx2"/>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16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a:p>
            <a:r>
              <a:rPr lang="en-US" dirty="0"/>
              <a:t>Select the level of territory to initiate top-down target cascading</a:t>
            </a:r>
          </a:p>
          <a:p>
            <a:r>
              <a:rPr lang="en-US" dirty="0"/>
              <a:t>Select the time dimension level for target setting during import</a:t>
            </a:r>
          </a:p>
          <a:p>
            <a:endParaRPr lang="en-US" dirty="0"/>
          </a:p>
          <a:p>
            <a:r>
              <a:rPr lang="en-US" dirty="0"/>
              <a:t>Capture additional target setting dimensions when applicable *</a:t>
            </a:r>
          </a:p>
          <a:p>
            <a:endParaRPr lang="en-US" dirty="0"/>
          </a:p>
          <a:p>
            <a:r>
              <a:rPr lang="en-US" dirty="0"/>
              <a:t>Add Pipeline Amount as an allocation method</a:t>
            </a:r>
          </a:p>
          <a:p>
            <a:endParaRPr lang="en-US" dirty="0"/>
          </a:p>
          <a:p>
            <a:endParaRPr lang="en-US" dirty="0"/>
          </a:p>
        </p:txBody>
      </p:sp>
    </p:spTree>
    <p:extLst>
      <p:ext uri="{BB962C8B-B14F-4D97-AF65-F5344CB8AC3E}">
        <p14:creationId xmlns:p14="http://schemas.microsoft.com/office/powerpoint/2010/main" val="2292219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FFD0B-9AD4-DDF7-0D66-690868A15D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20EF30-9FCC-A25A-569A-480A99756A08}"/>
              </a:ext>
            </a:extLst>
          </p:cNvPr>
          <p:cNvSpPr>
            <a:spLocks noGrp="1"/>
          </p:cNvSpPr>
          <p:nvPr>
            <p:ph type="title"/>
          </p:nvPr>
        </p:nvSpPr>
        <p:spPr>
          <a:xfrm>
            <a:off x="419101" y="294640"/>
            <a:ext cx="5854284" cy="338554"/>
          </a:xfrm>
        </p:spPr>
        <p:txBody>
          <a:bodyPr/>
          <a:lstStyle/>
          <a:p>
            <a:r>
              <a:rPr lang="en-US" dirty="0"/>
              <a:t>Target Allocation Examples -</a:t>
            </a:r>
          </a:p>
        </p:txBody>
      </p:sp>
      <p:pic>
        <p:nvPicPr>
          <p:cNvPr id="3" name="Picture 2" descr="A screenshot of a computer&#10;&#10;AI-generated content may be incorrect.">
            <a:extLst>
              <a:ext uri="{FF2B5EF4-FFF2-40B4-BE49-F238E27FC236}">
                <a16:creationId xmlns:a16="http://schemas.microsoft.com/office/drawing/2014/main" id="{415075AD-A839-5F81-49D2-19973511F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1" y="810738"/>
            <a:ext cx="8151156" cy="3522024"/>
          </a:xfrm>
          <a:prstGeom prst="rect">
            <a:avLst/>
          </a:prstGeom>
        </p:spPr>
      </p:pic>
    </p:spTree>
    <p:extLst>
      <p:ext uri="{BB962C8B-B14F-4D97-AF65-F5344CB8AC3E}">
        <p14:creationId xmlns:p14="http://schemas.microsoft.com/office/powerpoint/2010/main" val="2058238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CC4C7-1553-7D1C-DFC7-A927BEFC162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D3417BB-546F-5CF8-9A27-032246A238B1}"/>
              </a:ext>
            </a:extLst>
          </p:cNvPr>
          <p:cNvSpPr>
            <a:spLocks noGrp="1"/>
          </p:cNvSpPr>
          <p:nvPr>
            <p:ph type="title"/>
          </p:nvPr>
        </p:nvSpPr>
        <p:spPr>
          <a:xfrm>
            <a:off x="419101" y="294640"/>
            <a:ext cx="5854284" cy="338554"/>
          </a:xfrm>
        </p:spPr>
        <p:txBody>
          <a:bodyPr/>
          <a:lstStyle/>
          <a:p>
            <a:r>
              <a:rPr lang="en-US" dirty="0"/>
              <a:t>Target Allocation Examples -</a:t>
            </a:r>
          </a:p>
        </p:txBody>
      </p:sp>
      <p:pic>
        <p:nvPicPr>
          <p:cNvPr id="4" name="Picture 3" descr="A screenshot of a computer&#10;&#10;AI-generated content may be incorrect.">
            <a:extLst>
              <a:ext uri="{FF2B5EF4-FFF2-40B4-BE49-F238E27FC236}">
                <a16:creationId xmlns:a16="http://schemas.microsoft.com/office/drawing/2014/main" id="{55CDB40C-24A3-5EB7-F605-028FA815B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3" y="1672136"/>
            <a:ext cx="8863125" cy="1799228"/>
          </a:xfrm>
          <a:prstGeom prst="rect">
            <a:avLst/>
          </a:prstGeom>
        </p:spPr>
      </p:pic>
    </p:spTree>
    <p:extLst>
      <p:ext uri="{BB962C8B-B14F-4D97-AF65-F5344CB8AC3E}">
        <p14:creationId xmlns:p14="http://schemas.microsoft.com/office/powerpoint/2010/main" val="263585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8D492-2660-AE6A-AC4A-A7BA6D2F8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B938F-18C9-88A7-3F69-47E8E6C7E1E6}"/>
              </a:ext>
            </a:extLst>
          </p:cNvPr>
          <p:cNvSpPr>
            <a:spLocks noGrp="1"/>
          </p:cNvSpPr>
          <p:nvPr>
            <p:ph type="title"/>
          </p:nvPr>
        </p:nvSpPr>
        <p:spPr/>
        <p:txBody>
          <a:bodyPr/>
          <a:lstStyle/>
          <a:p>
            <a:r>
              <a:rPr lang="en-US" dirty="0"/>
              <a:t>Territory &amp; Resource Assignment</a:t>
            </a:r>
          </a:p>
        </p:txBody>
      </p:sp>
    </p:spTree>
    <p:extLst>
      <p:ext uri="{BB962C8B-B14F-4D97-AF65-F5344CB8AC3E}">
        <p14:creationId xmlns:p14="http://schemas.microsoft.com/office/powerpoint/2010/main" val="33332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22CD5-0E7E-8D92-78FA-6809F80F65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DED3881-1D32-37FA-209F-DC4B05068F1B}"/>
              </a:ext>
            </a:extLst>
          </p:cNvPr>
          <p:cNvSpPr>
            <a:spLocks noGrp="1"/>
          </p:cNvSpPr>
          <p:nvPr>
            <p:ph type="title"/>
          </p:nvPr>
        </p:nvSpPr>
        <p:spPr>
          <a:xfrm>
            <a:off x="419101" y="294640"/>
            <a:ext cx="5854284" cy="338554"/>
          </a:xfrm>
        </p:spPr>
        <p:txBody>
          <a:bodyPr/>
          <a:lstStyle/>
          <a:p>
            <a:r>
              <a:rPr lang="en-US" dirty="0"/>
              <a:t>Territory Assignment –</a:t>
            </a:r>
          </a:p>
        </p:txBody>
      </p:sp>
      <p:sp>
        <p:nvSpPr>
          <p:cNvPr id="7" name="Content Placeholder 6">
            <a:extLst>
              <a:ext uri="{FF2B5EF4-FFF2-40B4-BE49-F238E27FC236}">
                <a16:creationId xmlns:a16="http://schemas.microsoft.com/office/drawing/2014/main" id="{4C773531-2ABB-293C-A713-A68ABE322ADB}"/>
              </a:ext>
            </a:extLst>
          </p:cNvPr>
          <p:cNvSpPr>
            <a:spLocks noGrp="1"/>
          </p:cNvSpPr>
          <p:nvPr>
            <p:ph idx="1"/>
          </p:nvPr>
        </p:nvSpPr>
        <p:spPr/>
        <p:txBody>
          <a:bodyPr/>
          <a:lstStyle/>
          <a:p>
            <a:endParaRPr lang="en-US" dirty="0"/>
          </a:p>
          <a:p>
            <a:r>
              <a:rPr lang="en-US" dirty="0"/>
              <a:t>Select assignment destination for accounts, Sales Reps, and first-line managers </a:t>
            </a:r>
          </a:p>
          <a:p>
            <a:endParaRPr lang="en-US" dirty="0"/>
          </a:p>
          <a:p>
            <a:r>
              <a:rPr lang="en-US" dirty="0"/>
              <a:t>Define time dimension level for quota*</a:t>
            </a:r>
          </a:p>
          <a:p>
            <a:endParaRPr lang="en-US" dirty="0"/>
          </a:p>
          <a:p>
            <a:endParaRPr lang="en-US" dirty="0"/>
          </a:p>
          <a:p>
            <a:endParaRPr lang="en-US" dirty="0"/>
          </a:p>
          <a:p>
            <a:r>
              <a:rPr lang="en-US" dirty="0"/>
              <a:t>Hint: Majority of the time, quota will be set at the monthly level</a:t>
            </a:r>
          </a:p>
          <a:p>
            <a:endParaRPr lang="en-US" dirty="0"/>
          </a:p>
        </p:txBody>
      </p:sp>
      <p:pic>
        <p:nvPicPr>
          <p:cNvPr id="3" name="Picture 2" descr="A blue and white map with a clipboard and a person location&#10;&#10;AI-generated content may be incorrect.">
            <a:extLst>
              <a:ext uri="{FF2B5EF4-FFF2-40B4-BE49-F238E27FC236}">
                <a16:creationId xmlns:a16="http://schemas.microsoft.com/office/drawing/2014/main" id="{2F4C2090-6BDE-6360-934F-7EABAAC00D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709" y="540327"/>
            <a:ext cx="2616200" cy="39243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92944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9651-2922-8A3D-DBD0-20F117E4A8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580264-01BA-518F-9D20-A49EC9915303}"/>
              </a:ext>
            </a:extLst>
          </p:cNvPr>
          <p:cNvSpPr>
            <a:spLocks noGrp="1"/>
          </p:cNvSpPr>
          <p:nvPr>
            <p:ph type="title"/>
          </p:nvPr>
        </p:nvSpPr>
        <p:spPr>
          <a:xfrm>
            <a:off x="419101" y="294640"/>
            <a:ext cx="5854284" cy="338554"/>
          </a:xfrm>
        </p:spPr>
        <p:txBody>
          <a:bodyPr/>
          <a:lstStyle/>
          <a:p>
            <a:r>
              <a:rPr lang="en-US" dirty="0"/>
              <a:t>Territory Assignment Examples -</a:t>
            </a:r>
          </a:p>
        </p:txBody>
      </p:sp>
      <p:pic>
        <p:nvPicPr>
          <p:cNvPr id="4" name="Picture 3" descr="A screenshot of a computer&#10;&#10;AI-generated content may be incorrect.">
            <a:extLst>
              <a:ext uri="{FF2B5EF4-FFF2-40B4-BE49-F238E27FC236}">
                <a16:creationId xmlns:a16="http://schemas.microsoft.com/office/drawing/2014/main" id="{7B23D04E-F0EA-92C9-199A-B9A0D4835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045" y="1259283"/>
            <a:ext cx="8485909" cy="2624934"/>
          </a:xfrm>
          <a:prstGeom prst="rect">
            <a:avLst/>
          </a:prstGeom>
        </p:spPr>
      </p:pic>
    </p:spTree>
    <p:extLst>
      <p:ext uri="{BB962C8B-B14F-4D97-AF65-F5344CB8AC3E}">
        <p14:creationId xmlns:p14="http://schemas.microsoft.com/office/powerpoint/2010/main" val="376100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5C772-55A8-D752-8C6F-6E2E99585B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453471-E9B9-FD25-1AA7-D0F7CFED4A71}"/>
              </a:ext>
            </a:extLst>
          </p:cNvPr>
          <p:cNvSpPr>
            <a:spLocks noGrp="1"/>
          </p:cNvSpPr>
          <p:nvPr>
            <p:ph type="title"/>
          </p:nvPr>
        </p:nvSpPr>
        <p:spPr>
          <a:xfrm>
            <a:off x="419101" y="294640"/>
            <a:ext cx="5854284" cy="338554"/>
          </a:xfrm>
        </p:spPr>
        <p:txBody>
          <a:bodyPr/>
          <a:lstStyle/>
          <a:p>
            <a:r>
              <a:rPr lang="en-US" dirty="0"/>
              <a:t>Resource Assignment – </a:t>
            </a:r>
          </a:p>
        </p:txBody>
      </p:sp>
      <p:sp>
        <p:nvSpPr>
          <p:cNvPr id="7" name="Content Placeholder 6">
            <a:extLst>
              <a:ext uri="{FF2B5EF4-FFF2-40B4-BE49-F238E27FC236}">
                <a16:creationId xmlns:a16="http://schemas.microsoft.com/office/drawing/2014/main" id="{1CC91761-D9BB-2355-63AB-7FFA2817AB95}"/>
              </a:ext>
            </a:extLst>
          </p:cNvPr>
          <p:cNvSpPr>
            <a:spLocks noGrp="1"/>
          </p:cNvSpPr>
          <p:nvPr>
            <p:ph idx="1"/>
          </p:nvPr>
        </p:nvSpPr>
        <p:spPr/>
        <p:txBody>
          <a:bodyPr/>
          <a:lstStyle/>
          <a:p>
            <a:endParaRPr lang="en-US" dirty="0"/>
          </a:p>
          <a:p>
            <a:r>
              <a:rPr lang="en-US" dirty="0"/>
              <a:t>Select Sales leader and overlay levels</a:t>
            </a:r>
          </a:p>
          <a:p>
            <a:endParaRPr lang="en-US" dirty="0"/>
          </a:p>
          <a:p>
            <a:r>
              <a:rPr lang="en-US" dirty="0"/>
              <a:t>Select Applicable approval levels</a:t>
            </a:r>
          </a:p>
          <a:p>
            <a:endParaRPr lang="en-US" dirty="0"/>
          </a:p>
          <a:p>
            <a:r>
              <a:rPr lang="en-US" dirty="0"/>
              <a:t>Ensure “Sales Rep Attribute for Territory” is populated for the initial Rep to territory assignment</a:t>
            </a:r>
          </a:p>
          <a:p>
            <a:endParaRPr lang="en-US" dirty="0"/>
          </a:p>
          <a:p>
            <a:endParaRPr lang="en-US" dirty="0"/>
          </a:p>
          <a:p>
            <a:pPr marL="0" indent="0">
              <a:buNone/>
            </a:pPr>
            <a:endParaRPr lang="en-US" dirty="0"/>
          </a:p>
        </p:txBody>
      </p:sp>
      <p:pic>
        <p:nvPicPr>
          <p:cNvPr id="3" name="Picture 2" descr="A blue sign with text and symbols&#10;&#10;AI-generated content may be incorrect.">
            <a:extLst>
              <a:ext uri="{FF2B5EF4-FFF2-40B4-BE49-F238E27FC236}">
                <a16:creationId xmlns:a16="http://schemas.microsoft.com/office/drawing/2014/main" id="{B373D194-948C-F929-817A-61851A7805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6064" y="412173"/>
            <a:ext cx="2879436" cy="43191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2565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9E83-9605-1AE6-E519-95A3134982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7A0264-C49C-5BB3-799E-4D43EE0CD681}"/>
              </a:ext>
            </a:extLst>
          </p:cNvPr>
          <p:cNvSpPr>
            <a:spLocks noGrp="1"/>
          </p:cNvSpPr>
          <p:nvPr>
            <p:ph type="title"/>
          </p:nvPr>
        </p:nvSpPr>
        <p:spPr>
          <a:xfrm>
            <a:off x="419101" y="294640"/>
            <a:ext cx="5854284" cy="338554"/>
          </a:xfrm>
        </p:spPr>
        <p:txBody>
          <a:bodyPr/>
          <a:lstStyle/>
          <a:p>
            <a:r>
              <a:rPr lang="en-US" dirty="0"/>
              <a:t>Resource Assignment Examples -</a:t>
            </a:r>
          </a:p>
        </p:txBody>
      </p:sp>
      <p:pic>
        <p:nvPicPr>
          <p:cNvPr id="3" name="Picture 2" descr="A screenshot of a computer&#10;&#10;AI-generated content may be incorrect.">
            <a:extLst>
              <a:ext uri="{FF2B5EF4-FFF2-40B4-BE49-F238E27FC236}">
                <a16:creationId xmlns:a16="http://schemas.microsoft.com/office/drawing/2014/main" id="{DAD56D59-A0C5-CB5B-1D1C-33BE83136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546" y="685799"/>
            <a:ext cx="7880961" cy="4046307"/>
          </a:xfrm>
          <a:prstGeom prst="rect">
            <a:avLst/>
          </a:prstGeom>
        </p:spPr>
      </p:pic>
    </p:spTree>
    <p:extLst>
      <p:ext uri="{BB962C8B-B14F-4D97-AF65-F5344CB8AC3E}">
        <p14:creationId xmlns:p14="http://schemas.microsoft.com/office/powerpoint/2010/main" val="218063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3DBB-0934-7EB9-D79E-EA0D91E1A7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4D2A44-4E5D-5672-DAAB-4CFCE1D0E6D0}"/>
              </a:ext>
            </a:extLst>
          </p:cNvPr>
          <p:cNvSpPr>
            <a:spLocks noGrp="1"/>
          </p:cNvSpPr>
          <p:nvPr>
            <p:ph type="title"/>
          </p:nvPr>
        </p:nvSpPr>
        <p:spPr>
          <a:xfrm>
            <a:off x="419101" y="294640"/>
            <a:ext cx="5854284" cy="338554"/>
          </a:xfrm>
        </p:spPr>
        <p:txBody>
          <a:bodyPr/>
          <a:lstStyle/>
          <a:p>
            <a:r>
              <a:rPr lang="en-US" dirty="0"/>
              <a:t>Resource Assignment Examples -</a:t>
            </a:r>
          </a:p>
        </p:txBody>
      </p:sp>
      <p:pic>
        <p:nvPicPr>
          <p:cNvPr id="3" name="Picture 2" descr="A screenshot of a computer&#10;&#10;AI-generated content may be incorrect.">
            <a:extLst>
              <a:ext uri="{FF2B5EF4-FFF2-40B4-BE49-F238E27FC236}">
                <a16:creationId xmlns:a16="http://schemas.microsoft.com/office/drawing/2014/main" id="{9AFCBBCA-1363-0350-5A57-B6CBFBAC9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1" y="1533257"/>
            <a:ext cx="8288806" cy="1958090"/>
          </a:xfrm>
          <a:prstGeom prst="rect">
            <a:avLst/>
          </a:prstGeom>
        </p:spPr>
      </p:pic>
    </p:spTree>
    <p:extLst>
      <p:ext uri="{BB962C8B-B14F-4D97-AF65-F5344CB8AC3E}">
        <p14:creationId xmlns:p14="http://schemas.microsoft.com/office/powerpoint/2010/main" val="319833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078C-A56C-16EB-7E1C-C974A5FDF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94964-7049-F4F0-7FFF-14F0ED0A49AF}"/>
              </a:ext>
            </a:extLst>
          </p:cNvPr>
          <p:cNvSpPr>
            <a:spLocks noGrp="1"/>
          </p:cNvSpPr>
          <p:nvPr>
            <p:ph type="title"/>
          </p:nvPr>
        </p:nvSpPr>
        <p:spPr/>
        <p:txBody>
          <a:bodyPr/>
          <a:lstStyle/>
          <a:p>
            <a:r>
              <a:rPr lang="en-US" dirty="0"/>
              <a:t>Rule-based Assignment</a:t>
            </a:r>
          </a:p>
        </p:txBody>
      </p:sp>
    </p:spTree>
    <p:extLst>
      <p:ext uri="{BB962C8B-B14F-4D97-AF65-F5344CB8AC3E}">
        <p14:creationId xmlns:p14="http://schemas.microsoft.com/office/powerpoint/2010/main" val="3882639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3C058-FC1B-8C4B-FEE0-A0520BE856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B1DA67-B6D5-A865-F41A-A1B2233E1DCB}"/>
              </a:ext>
            </a:extLst>
          </p:cNvPr>
          <p:cNvSpPr>
            <a:spLocks noGrp="1"/>
          </p:cNvSpPr>
          <p:nvPr>
            <p:ph type="title"/>
          </p:nvPr>
        </p:nvSpPr>
        <p:spPr>
          <a:xfrm>
            <a:off x="419101" y="294640"/>
            <a:ext cx="5854284" cy="338554"/>
          </a:xfrm>
        </p:spPr>
        <p:txBody>
          <a:bodyPr/>
          <a:lstStyle/>
          <a:p>
            <a:r>
              <a:rPr lang="en-US" dirty="0"/>
              <a:t>Rule-based Assignment–</a:t>
            </a:r>
          </a:p>
        </p:txBody>
      </p:sp>
      <p:sp>
        <p:nvSpPr>
          <p:cNvPr id="7" name="Content Placeholder 6">
            <a:extLst>
              <a:ext uri="{FF2B5EF4-FFF2-40B4-BE49-F238E27FC236}">
                <a16:creationId xmlns:a16="http://schemas.microsoft.com/office/drawing/2014/main" id="{8E10B46D-7D58-CA73-4F57-68E80852C3EF}"/>
              </a:ext>
            </a:extLst>
          </p:cNvPr>
          <p:cNvSpPr>
            <a:spLocks noGrp="1"/>
          </p:cNvSpPr>
          <p:nvPr>
            <p:ph idx="1"/>
          </p:nvPr>
        </p:nvSpPr>
        <p:spPr/>
        <p:txBody>
          <a:bodyPr/>
          <a:lstStyle/>
          <a:p>
            <a:endParaRPr lang="en-US" dirty="0"/>
          </a:p>
          <a:p>
            <a:r>
              <a:rPr lang="en-US" dirty="0"/>
              <a:t>Select account attributes that will qualify accounts to be included in Rule-based assignment</a:t>
            </a:r>
          </a:p>
          <a:p>
            <a:endParaRPr lang="en-US" dirty="0"/>
          </a:p>
          <a:p>
            <a:r>
              <a:rPr lang="en-US" dirty="0"/>
              <a:t>Select account attributes that will be used as part of the rule to define territory parameters</a:t>
            </a:r>
          </a:p>
          <a:p>
            <a:endParaRPr lang="en-US" dirty="0"/>
          </a:p>
          <a:p>
            <a:endParaRPr lang="en-US" dirty="0"/>
          </a:p>
          <a:p>
            <a:endParaRPr lang="en-US" dirty="0"/>
          </a:p>
          <a:p>
            <a:r>
              <a:rPr lang="en-US" dirty="0"/>
              <a:t>Hint: Selected attributes need to be list formatted line item</a:t>
            </a:r>
          </a:p>
          <a:p>
            <a:endParaRPr lang="en-US" dirty="0"/>
          </a:p>
        </p:txBody>
      </p:sp>
      <p:pic>
        <p:nvPicPr>
          <p:cNvPr id="4" name="Picture 3" descr="A blue and white sign with a funnel and map&#10;&#10;AI-generated content may be incorrect.">
            <a:extLst>
              <a:ext uri="{FF2B5EF4-FFF2-40B4-BE49-F238E27FC236}">
                <a16:creationId xmlns:a16="http://schemas.microsoft.com/office/drawing/2014/main" id="{EEA2A926-2684-9220-7C34-BC92CD43E8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01590" y="613064"/>
            <a:ext cx="2611581" cy="39173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75794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77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93AB-317C-FA34-F6A7-29A66A300664}"/>
            </a:ext>
          </a:extLst>
        </p:cNvPr>
        <p:cNvGrpSpPr/>
        <p:nvPr/>
      </p:nvGrpSpPr>
      <p:grpSpPr>
        <a:xfrm>
          <a:off x="0" y="0"/>
          <a:ext cx="0" cy="0"/>
          <a:chOff x="0" y="0"/>
          <a:chExt cx="0" cy="0"/>
        </a:xfrm>
      </p:grpSpPr>
    </p:spTree>
    <p:extLst>
      <p:ext uri="{BB962C8B-B14F-4D97-AF65-F5344CB8AC3E}">
        <p14:creationId xmlns:p14="http://schemas.microsoft.com/office/powerpoint/2010/main" val="2674760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7477AD7-4CC5-41ED-B3C0-FA95D8501B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3.xml><?xml version="1.0" encoding="utf-8"?>
<ds:datastoreItem xmlns:ds="http://schemas.openxmlformats.org/officeDocument/2006/customXml" ds:itemID="{A9FEF226-2A2D-4391-9647-CAE00A0A4519}">
  <ds:schemaRefs>
    <ds:schemaRef ds:uri="http://purl.org/dc/terms/"/>
    <ds:schemaRef ds:uri="http://purl.org/dc/elements/1.1/"/>
    <ds:schemaRef ds:uri="http://schemas.microsoft.com/office/2006/documentManagement/types"/>
    <ds:schemaRef ds:uri="f2bb56aa-d8b0-4548-b961-0e212e68c496"/>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6fbac583-cb0a-4cb4-823a-fb5061603f9c"/>
    <ds:schemaRef ds:uri="http://purl.org/dc/dcmitype/"/>
    <ds:schemaRef ds:uri="1312f2c0-dda1-4b36-bf7c-5f95f823505b"/>
    <ds:schemaRef ds:uri="c4a93292-96be-422c-9bb6-49a5d66e42ec"/>
  </ds:schemaRefs>
</ds:datastoreItem>
</file>

<file path=docProps/app.xml><?xml version="1.0" encoding="utf-8"?>
<Properties xmlns="http://schemas.openxmlformats.org/officeDocument/2006/extended-properties" xmlns:vt="http://schemas.openxmlformats.org/officeDocument/2006/docPropsVTypes">
  <Template/>
  <TotalTime>986</TotalTime>
  <Words>637</Words>
  <Application>Microsoft Office PowerPoint</Application>
  <PresentationFormat>On-screen Show (16:9)</PresentationFormat>
  <Paragraphs>117</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1_Anaplan</vt:lpstr>
      <vt:lpstr>Territory and Quota Planning Configurator Exercise</vt:lpstr>
      <vt:lpstr>8 Item Agenda</vt:lpstr>
      <vt:lpstr>Data Hub Setup</vt:lpstr>
      <vt:lpstr>Datahub Setup – Define the data landscape for the application</vt:lpstr>
      <vt:lpstr>Account – Enable for Calculation / Auto Creation</vt:lpstr>
      <vt:lpstr>Employee – Enable for Calculation/ Custom List </vt:lpstr>
      <vt:lpstr>Hierarchies</vt:lpstr>
      <vt:lpstr>Hierarchies</vt:lpstr>
      <vt:lpstr>Hierarchies - Examples</vt:lpstr>
      <vt:lpstr>Hierarchies Mapping - Example</vt:lpstr>
      <vt:lpstr>Scenario Planning</vt:lpstr>
      <vt:lpstr>Define transaction data sources / Set planning measures</vt:lpstr>
      <vt:lpstr>Scenario Planning Examples -</vt:lpstr>
      <vt:lpstr>Scenario Planning Examples -</vt:lpstr>
      <vt:lpstr>Optimizer</vt:lpstr>
      <vt:lpstr>Optimizer – Add Pipeline Amount as Objective</vt:lpstr>
      <vt:lpstr>Optimizer Examples -</vt:lpstr>
      <vt:lpstr>Optimizer Examples -</vt:lpstr>
      <vt:lpstr>Historical Data Reporting/ Account Value KPI</vt:lpstr>
      <vt:lpstr>Historical Data Reporting – As is</vt:lpstr>
      <vt:lpstr>Account Value KPI – As is</vt:lpstr>
      <vt:lpstr>Target Allocation</vt:lpstr>
      <vt:lpstr>Target Allocations </vt:lpstr>
      <vt:lpstr>Target Allocation Examples -</vt:lpstr>
      <vt:lpstr>Target Allocation Examples -</vt:lpstr>
      <vt:lpstr>Territory &amp; Resource Assignment</vt:lpstr>
      <vt:lpstr>Territory Assignment –</vt:lpstr>
      <vt:lpstr>Territory Assignment Examples -</vt:lpstr>
      <vt:lpstr>Resource Assignment – </vt:lpstr>
      <vt:lpstr>Resource Assignment Examples -</vt:lpstr>
      <vt:lpstr>Resource Assignment Examples -</vt:lpstr>
      <vt:lpstr>Rule-based Assignment</vt:lpstr>
      <vt:lpstr>Rule-based Assignment–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Chan Duh</cp:lastModifiedBy>
  <cp:revision>16</cp:revision>
  <cp:lastPrinted>2019-08-13T18:16:27Z</cp:lastPrinted>
  <dcterms:created xsi:type="dcterms:W3CDTF">2017-07-06T21:11:50Z</dcterms:created>
  <dcterms:modified xsi:type="dcterms:W3CDTF">2026-03-23T15:51:30Z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