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05" r:id="rId5"/>
  </p:sldMasterIdLst>
  <p:notesMasterIdLst>
    <p:notesMasterId r:id="rId58"/>
  </p:notesMasterIdLst>
  <p:sldIdLst>
    <p:sldId id="2147478381" r:id="rId6"/>
    <p:sldId id="2147478382" r:id="rId7"/>
    <p:sldId id="2147478383" r:id="rId8"/>
    <p:sldId id="2147483590" r:id="rId9"/>
    <p:sldId id="2147483591" r:id="rId10"/>
    <p:sldId id="2147483640" r:id="rId11"/>
    <p:sldId id="265" r:id="rId12"/>
    <p:sldId id="267" r:id="rId13"/>
    <p:sldId id="2147483593" r:id="rId14"/>
    <p:sldId id="2147483594" r:id="rId15"/>
    <p:sldId id="2147483595" r:id="rId16"/>
    <p:sldId id="2147483596" r:id="rId17"/>
    <p:sldId id="257" r:id="rId18"/>
    <p:sldId id="2147483597" r:id="rId19"/>
    <p:sldId id="2147483641" r:id="rId20"/>
    <p:sldId id="263" r:id="rId21"/>
    <p:sldId id="2147483605" r:id="rId22"/>
    <p:sldId id="2147483606" r:id="rId23"/>
    <p:sldId id="2147483608" r:id="rId24"/>
    <p:sldId id="2147483609" r:id="rId25"/>
    <p:sldId id="2147483607" r:id="rId26"/>
    <p:sldId id="277" r:id="rId27"/>
    <p:sldId id="2147483642" r:id="rId28"/>
    <p:sldId id="2147483643" r:id="rId29"/>
    <p:sldId id="2147483644" r:id="rId30"/>
    <p:sldId id="2147483645" r:id="rId31"/>
    <p:sldId id="2147483646" r:id="rId32"/>
    <p:sldId id="2147483647" r:id="rId33"/>
    <p:sldId id="256" r:id="rId34"/>
    <p:sldId id="275" r:id="rId35"/>
    <p:sldId id="258" r:id="rId36"/>
    <p:sldId id="259" r:id="rId37"/>
    <p:sldId id="2147483611" r:id="rId38"/>
    <p:sldId id="2147483599" r:id="rId39"/>
    <p:sldId id="2147483600" r:id="rId40"/>
    <p:sldId id="260" r:id="rId41"/>
    <p:sldId id="261" r:id="rId42"/>
    <p:sldId id="262" r:id="rId43"/>
    <p:sldId id="271" r:id="rId44"/>
    <p:sldId id="264" r:id="rId45"/>
    <p:sldId id="276" r:id="rId46"/>
    <p:sldId id="2147483626" r:id="rId47"/>
    <p:sldId id="266" r:id="rId48"/>
    <p:sldId id="268" r:id="rId49"/>
    <p:sldId id="2147483621" r:id="rId50"/>
    <p:sldId id="2147483625" r:id="rId51"/>
    <p:sldId id="269" r:id="rId52"/>
    <p:sldId id="2147483629" r:id="rId53"/>
    <p:sldId id="270" r:id="rId54"/>
    <p:sldId id="272" r:id="rId55"/>
    <p:sldId id="273" r:id="rId56"/>
    <p:sldId id="27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991F82DF-B7AA-8D83-1E74-42FD4FA11178}" name="Elizabeth Schera" initials="ES" userId="S::elizabeth.schera@anaplan.com::15d9bf91-ee17-4dc8-b27f-de53aa84949f"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1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2D5E9-BB78-C4C9-F4D1-8002D5A935D5}" v="43" dt="2026-02-13T18:27:39.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Schulze" userId="S::chris.schulze@anaplan.com::2e58afd4-a6a0-4144-8397-35ced18d076a" providerId="AD" clId="Web-{407FAA2D-5760-2BFC-E823-C39B9AEBF653}"/>
    <pc:docChg chg="modSld">
      <pc:chgData name="Chris Schulze" userId="S::chris.schulze@anaplan.com::2e58afd4-a6a0-4144-8397-35ced18d076a" providerId="AD" clId="Web-{407FAA2D-5760-2BFC-E823-C39B9AEBF653}" dt="2026-01-15T19:53:42.186" v="3"/>
      <pc:docMkLst>
        <pc:docMk/>
      </pc:docMkLst>
      <pc:sldChg chg="delSp modSp">
        <pc:chgData name="Chris Schulze" userId="S::chris.schulze@anaplan.com::2e58afd4-a6a0-4144-8397-35ced18d076a" providerId="AD" clId="Web-{407FAA2D-5760-2BFC-E823-C39B9AEBF653}" dt="2026-01-15T19:53:42.186" v="3"/>
        <pc:sldMkLst>
          <pc:docMk/>
          <pc:sldMk cId="3195839954" sldId="2147483606"/>
        </pc:sldMkLst>
      </pc:sldChg>
    </pc:docChg>
  </pc:docChgLst>
  <pc:docChgLst>
    <pc:chgData name="Chris Schulze" userId="S::chris.schulze@anaplan.com::2e58afd4-a6a0-4144-8397-35ced18d076a" providerId="AD" clId="Web-{0DB2D5E9-BB78-C4C9-F4D1-8002D5A935D5}"/>
    <pc:docChg chg="addSld modSld">
      <pc:chgData name="Chris Schulze" userId="S::chris.schulze@anaplan.com::2e58afd4-a6a0-4144-8397-35ced18d076a" providerId="AD" clId="Web-{0DB2D5E9-BB78-C4C9-F4D1-8002D5A935D5}" dt="2026-02-13T18:27:39.987" v="27" actId="20577"/>
      <pc:docMkLst>
        <pc:docMk/>
      </pc:docMkLst>
      <pc:sldChg chg="delSp modSp add replId">
        <pc:chgData name="Chris Schulze" userId="S::chris.schulze@anaplan.com::2e58afd4-a6a0-4144-8397-35ced18d076a" providerId="AD" clId="Web-{0DB2D5E9-BB78-C4C9-F4D1-8002D5A935D5}" dt="2026-02-13T18:27:39.987" v="27" actId="20577"/>
        <pc:sldMkLst>
          <pc:docMk/>
          <pc:sldMk cId="3090363756" sldId="277"/>
        </pc:sldMkLst>
        <pc:spChg chg="mod">
          <ac:chgData name="Chris Schulze" userId="S::chris.schulze@anaplan.com::2e58afd4-a6a0-4144-8397-35ced18d076a" providerId="AD" clId="Web-{0DB2D5E9-BB78-C4C9-F4D1-8002D5A935D5}" dt="2026-02-13T18:27:39.987" v="27" actId="20577"/>
          <ac:spMkLst>
            <pc:docMk/>
            <pc:sldMk cId="3090363756" sldId="277"/>
            <ac:spMk id="2" creationId="{8EFAA5B2-359F-2688-0183-01D8BF30E47A}"/>
          </ac:spMkLst>
        </pc:spChg>
        <pc:spChg chg="mod">
          <ac:chgData name="Chris Schulze" userId="S::chris.schulze@anaplan.com::2e58afd4-a6a0-4144-8397-35ced18d076a" providerId="AD" clId="Web-{0DB2D5E9-BB78-C4C9-F4D1-8002D5A935D5}" dt="2026-02-13T18:27:17.955" v="18" actId="20577"/>
          <ac:spMkLst>
            <pc:docMk/>
            <pc:sldMk cId="3090363756" sldId="277"/>
            <ac:spMk id="6" creationId="{4B362109-2912-5327-A388-C3986FAC02F3}"/>
          </ac:spMkLst>
        </pc:spChg>
        <pc:spChg chg="del">
          <ac:chgData name="Chris Schulze" userId="S::chris.schulze@anaplan.com::2e58afd4-a6a0-4144-8397-35ced18d076a" providerId="AD" clId="Web-{0DB2D5E9-BB78-C4C9-F4D1-8002D5A935D5}" dt="2026-02-13T18:27:07.502" v="14"/>
          <ac:spMkLst>
            <pc:docMk/>
            <pc:sldMk cId="3090363756" sldId="277"/>
            <ac:spMk id="7" creationId="{932B333B-87D5-A3AB-7BD5-947FEEE191C8}"/>
          </ac:spMkLst>
        </pc:spChg>
        <pc:spChg chg="del">
          <ac:chgData name="Chris Schulze" userId="S::chris.schulze@anaplan.com::2e58afd4-a6a0-4144-8397-35ced18d076a" providerId="AD" clId="Web-{0DB2D5E9-BB78-C4C9-F4D1-8002D5A935D5}" dt="2026-02-13T18:27:07.533" v="15"/>
          <ac:spMkLst>
            <pc:docMk/>
            <pc:sldMk cId="3090363756" sldId="277"/>
            <ac:spMk id="9" creationId="{BB9E0E91-278D-DD96-9510-CC135B85062C}"/>
          </ac:spMkLst>
        </pc:spChg>
        <pc:spChg chg="del">
          <ac:chgData name="Chris Schulze" userId="S::chris.schulze@anaplan.com::2e58afd4-a6a0-4144-8397-35ced18d076a" providerId="AD" clId="Web-{0DB2D5E9-BB78-C4C9-F4D1-8002D5A935D5}" dt="2026-02-13T18:27:07.471" v="13"/>
          <ac:spMkLst>
            <pc:docMk/>
            <pc:sldMk cId="3090363756" sldId="277"/>
            <ac:spMk id="10" creationId="{22BC14A9-009A-90B3-33D3-F6D79842071E}"/>
          </ac:spMkLst>
        </pc:spChg>
        <pc:spChg chg="mod">
          <ac:chgData name="Chris Schulze" userId="S::chris.schulze@anaplan.com::2e58afd4-a6a0-4144-8397-35ced18d076a" providerId="AD" clId="Web-{0DB2D5E9-BB78-C4C9-F4D1-8002D5A935D5}" dt="2026-02-13T18:27:07.346" v="10" actId="20577"/>
          <ac:spMkLst>
            <pc:docMk/>
            <pc:sldMk cId="3090363756" sldId="277"/>
            <ac:spMk id="14" creationId="{CEF36DE1-4B81-D35C-2624-8BA0B673BDF4}"/>
          </ac:spMkLst>
        </pc:spChg>
        <pc:picChg chg="del">
          <ac:chgData name="Chris Schulze" userId="S::chris.schulze@anaplan.com::2e58afd4-a6a0-4144-8397-35ced18d076a" providerId="AD" clId="Web-{0DB2D5E9-BB78-C4C9-F4D1-8002D5A935D5}" dt="2026-02-13T18:27:07.455" v="12"/>
          <ac:picMkLst>
            <pc:docMk/>
            <pc:sldMk cId="3090363756" sldId="277"/>
            <ac:picMk id="3" creationId="{5C766E41-2BA0-AB96-F0C1-25589948A88C}"/>
          </ac:picMkLst>
        </pc:picChg>
        <pc:picChg chg="del">
          <ac:chgData name="Chris Schulze" userId="S::chris.schulze@anaplan.com::2e58afd4-a6a0-4144-8397-35ced18d076a" providerId="AD" clId="Web-{0DB2D5E9-BB78-C4C9-F4D1-8002D5A935D5}" dt="2026-02-13T18:27:07.424" v="11"/>
          <ac:picMkLst>
            <pc:docMk/>
            <pc:sldMk cId="3090363756" sldId="277"/>
            <ac:picMk id="4" creationId="{3170064F-193C-8CB0-2B11-E6D2C6A9CDD5}"/>
          </ac:picMkLst>
        </pc:picChg>
      </pc:sldChg>
      <pc:sldChg chg="modSp">
        <pc:chgData name="Chris Schulze" userId="S::chris.schulze@anaplan.com::2e58afd4-a6a0-4144-8397-35ced18d076a" providerId="AD" clId="Web-{0DB2D5E9-BB78-C4C9-F4D1-8002D5A935D5}" dt="2026-02-13T18:26:24.126" v="5" actId="20577"/>
        <pc:sldMkLst>
          <pc:docMk/>
          <pc:sldMk cId="3398536644" sldId="2147483607"/>
        </pc:sldMkLst>
        <pc:spChg chg="mod">
          <ac:chgData name="Chris Schulze" userId="S::chris.schulze@anaplan.com::2e58afd4-a6a0-4144-8397-35ced18d076a" providerId="AD" clId="Web-{0DB2D5E9-BB78-C4C9-F4D1-8002D5A935D5}" dt="2026-02-13T18:26:24.126" v="5" actId="20577"/>
          <ac:spMkLst>
            <pc:docMk/>
            <pc:sldMk cId="3398536644" sldId="2147483607"/>
            <ac:spMk id="14" creationId="{31FA2D04-AA0F-73FB-D7D3-03FFAD1F1FA9}"/>
          </ac:spMkLst>
        </pc:spChg>
      </pc:sldChg>
      <pc:sldChg chg="modSp">
        <pc:chgData name="Chris Schulze" userId="S::chris.schulze@anaplan.com::2e58afd4-a6a0-4144-8397-35ced18d076a" providerId="AD" clId="Web-{0DB2D5E9-BB78-C4C9-F4D1-8002D5A935D5}" dt="2026-02-13T18:26:13.829" v="3" actId="20577"/>
        <pc:sldMkLst>
          <pc:docMk/>
          <pc:sldMk cId="4250276215" sldId="2147483609"/>
        </pc:sldMkLst>
        <pc:spChg chg="mod">
          <ac:chgData name="Chris Schulze" userId="S::chris.schulze@anaplan.com::2e58afd4-a6a0-4144-8397-35ced18d076a" providerId="AD" clId="Web-{0DB2D5E9-BB78-C4C9-F4D1-8002D5A935D5}" dt="2026-02-13T18:26:13.829" v="3" actId="20577"/>
          <ac:spMkLst>
            <pc:docMk/>
            <pc:sldMk cId="4250276215" sldId="2147483609"/>
            <ac:spMk id="2" creationId="{84C79B2A-48DA-A44A-EC2A-B046F9FD5C99}"/>
          </ac:spMkLst>
        </pc:spChg>
        <pc:spChg chg="mod">
          <ac:chgData name="Chris Schulze" userId="S::chris.schulze@anaplan.com::2e58afd4-a6a0-4144-8397-35ced18d076a" providerId="AD" clId="Web-{0DB2D5E9-BB78-C4C9-F4D1-8002D5A935D5}" dt="2026-02-13T18:24:54.952" v="0" actId="20577"/>
          <ac:spMkLst>
            <pc:docMk/>
            <pc:sldMk cId="4250276215" sldId="2147483609"/>
            <ac:spMk id="14" creationId="{31FA2D04-AA0F-73FB-D7D3-03FFAD1F1FA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0C85E-0515-6D4C-94EF-846980339B3A}"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142F1-AB3B-4D43-82C4-3A889A9667F3}" type="slidenum">
              <a:rPr lang="en-US" smtClean="0"/>
              <a:t>‹#›</a:t>
            </a:fld>
            <a:endParaRPr lang="en-US"/>
          </a:p>
        </p:txBody>
      </p:sp>
    </p:spTree>
    <p:extLst>
      <p:ext uri="{BB962C8B-B14F-4D97-AF65-F5344CB8AC3E}">
        <p14:creationId xmlns:p14="http://schemas.microsoft.com/office/powerpoint/2010/main" val="2990807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C142F1-AB3B-4D43-82C4-3A889A9667F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6696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4C15-1559-35C3-127B-F3ACE4606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A86C3-BEB4-A55D-33EC-9131FAD66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49531-9752-64FD-A34E-EA4591338796}"/>
              </a:ext>
            </a:extLst>
          </p:cNvPr>
          <p:cNvSpPr>
            <a:spLocks noGrp="1"/>
          </p:cNvSpPr>
          <p:nvPr>
            <p:ph type="body" idx="1"/>
          </p:nvPr>
        </p:nvSpPr>
        <p:spPr/>
        <p:txBody>
          <a:bodyPr/>
          <a:lstStyle/>
          <a:p>
            <a:r>
              <a:rPr lang="en-US"/>
              <a:t>  </a:t>
            </a:r>
          </a:p>
          <a:p>
            <a:r>
              <a:rPr lang="en-US"/>
              <a:t>    </a:t>
            </a:r>
          </a:p>
        </p:txBody>
      </p:sp>
      <p:sp>
        <p:nvSpPr>
          <p:cNvPr id="4" name="Slide Number Placeholder 3">
            <a:extLst>
              <a:ext uri="{FF2B5EF4-FFF2-40B4-BE49-F238E27FC236}">
                <a16:creationId xmlns:a16="http://schemas.microsoft.com/office/drawing/2014/main" id="{38FDEB1F-A425-25AD-D0E2-7609307CA3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383747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5.jpeg"/><Relationship Id="rId1" Type="http://schemas.openxmlformats.org/officeDocument/2006/relationships/slideMaster" Target="../slideMasters/slideMaster2.xml"/><Relationship Id="rId4" Type="http://schemas.openxmlformats.org/officeDocument/2006/relationships/image" Target="../media/image44.sv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7.jpeg"/><Relationship Id="rId1" Type="http://schemas.openxmlformats.org/officeDocument/2006/relationships/slideMaster" Target="../slideMasters/slideMaster2.xml"/><Relationship Id="rId4" Type="http://schemas.openxmlformats.org/officeDocument/2006/relationships/image" Target="../media/image44.sv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8.jpeg"/><Relationship Id="rId1" Type="http://schemas.openxmlformats.org/officeDocument/2006/relationships/slideMaster" Target="../slideMasters/slideMaster2.xml"/><Relationship Id="rId4" Type="http://schemas.openxmlformats.org/officeDocument/2006/relationships/image" Target="../media/image44.svg"/></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9.jpeg"/><Relationship Id="rId1" Type="http://schemas.openxmlformats.org/officeDocument/2006/relationships/slideMaster" Target="../slideMasters/slideMaster2.xml"/><Relationship Id="rId4" Type="http://schemas.openxmlformats.org/officeDocument/2006/relationships/image" Target="../media/image44.svg"/></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37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16470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40549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17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10608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104455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00626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0775924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19013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7447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3418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9726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05413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4808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5756269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7651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3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415753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939556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39053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72094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318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988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893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18742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9458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022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4172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776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64545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21282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7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7730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92666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6253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57352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950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605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302408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926447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180161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7983043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230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3974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77096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0577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1160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2389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73240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2392555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4405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192272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549202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9774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656910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33983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64563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50334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437175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9926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5558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9853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885269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685753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24769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61167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78981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215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0552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17441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0242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60390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8317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8102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0249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7602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22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79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6220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6491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384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6085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157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5688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98989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6166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30443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7051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81269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8248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8079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87433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7519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369294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98787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39029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89565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7666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29898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357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181331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057447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1843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571525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7670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63872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60024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0130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4642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31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9174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87531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25094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178783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834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215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81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812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47567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87046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247078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989864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63376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92627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5317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23221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38540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440314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2648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8316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9819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182368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781029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364332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2689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33331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2858153"/>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379755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1_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08780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86022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528505074"/>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2" y="3100286"/>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2"/>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7" name="Picture 10">
            <a:extLst>
              <a:ext uri="{FF2B5EF4-FFF2-40B4-BE49-F238E27FC236}">
                <a16:creationId xmlns:a16="http://schemas.microsoft.com/office/drawing/2014/main" id="{16D85C4D-932C-0E4D-AB38-47C57364D394}"/>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426506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49778D48-5CBF-5B43-8AF5-DB11C8DCB21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425866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2" y="3100286"/>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6" name="Picture 10">
            <a:extLst>
              <a:ext uri="{FF2B5EF4-FFF2-40B4-BE49-F238E27FC236}">
                <a16:creationId xmlns:a16="http://schemas.microsoft.com/office/drawing/2014/main" id="{0908248F-22CE-5C43-A150-CCD7817145E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75239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27" y="1521"/>
            <a:ext cx="12186587" cy="6854955"/>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53501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175569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4" y="2858154"/>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2"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2" y="524936"/>
            <a:ext cx="1490804" cy="354417"/>
          </a:xfrm>
          <a:prstGeom prst="rect">
            <a:avLst/>
          </a:prstGeom>
        </p:spPr>
      </p:pic>
    </p:spTree>
    <p:extLst>
      <p:ext uri="{BB962C8B-B14F-4D97-AF65-F5344CB8AC3E}">
        <p14:creationId xmlns:p14="http://schemas.microsoft.com/office/powerpoint/2010/main" val="366943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654046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207687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A287B8-4C12-7743-B688-D372250994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3849CD1-153C-3349-A422-2878A638A6E3}"/>
              </a:ext>
            </a:extLst>
          </p:cNvPr>
          <p:cNvSpPr>
            <a:spLocks noGrp="1"/>
          </p:cNvSpPr>
          <p:nvPr>
            <p:ph type="title"/>
          </p:nvPr>
        </p:nvSpPr>
        <p:spPr>
          <a:xfrm>
            <a:off x="599860" y="3100285"/>
            <a:ext cx="637224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5" name="Subtitle 2">
            <a:extLst>
              <a:ext uri="{FF2B5EF4-FFF2-40B4-BE49-F238E27FC236}">
                <a16:creationId xmlns:a16="http://schemas.microsoft.com/office/drawing/2014/main" id="{8BD32897-7F80-E542-888D-D4E1C40AC8C8}"/>
              </a:ext>
            </a:extLst>
          </p:cNvPr>
          <p:cNvSpPr>
            <a:spLocks noGrp="1"/>
          </p:cNvSpPr>
          <p:nvPr>
            <p:ph type="subTitle" idx="1"/>
          </p:nvPr>
        </p:nvSpPr>
        <p:spPr>
          <a:xfrm>
            <a:off x="599860" y="4138731"/>
            <a:ext cx="6078059"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3" name="Picture 10">
            <a:extLst>
              <a:ext uri="{FF2B5EF4-FFF2-40B4-BE49-F238E27FC236}">
                <a16:creationId xmlns:a16="http://schemas.microsoft.com/office/drawing/2014/main" id="{D3B92ACB-D029-D548-B7FD-5F3E13800C9B}"/>
              </a:ext>
            </a:extLst>
          </p:cNvPr>
          <p:cNvSpPr/>
          <p:nvPr/>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1675307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F48F4E-3BF8-2D42-AC86-F4DBDAAA7B1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2701" y="0"/>
            <a:ext cx="12204700" cy="6858000"/>
          </a:xfrm>
          <a:prstGeom prst="rect">
            <a:avLst/>
          </a:prstGeom>
        </p:spPr>
      </p:pic>
      <p:sp>
        <p:nvSpPr>
          <p:cNvPr id="8" name="Title 1">
            <a:extLst>
              <a:ext uri="{FF2B5EF4-FFF2-40B4-BE49-F238E27FC236}">
                <a16:creationId xmlns:a16="http://schemas.microsoft.com/office/drawing/2014/main" id="{839C1ADB-680B-A14A-B1A2-8A0CD3F7DD4E}"/>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620C275E-0620-7F46-A595-C04FDB016551}"/>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01869AC6-CC32-1A44-99FE-810601471201}"/>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41344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2047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7063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Title Slide 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047"/>
            <a:ext cx="12192000" cy="6865151"/>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16615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42FDBF-8178-E743-BD8F-8866B3BDE8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523"/>
            <a:ext cx="12192000" cy="6865152"/>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7" name="Picture 10">
            <a:extLst>
              <a:ext uri="{FF2B5EF4-FFF2-40B4-BE49-F238E27FC236}">
                <a16:creationId xmlns:a16="http://schemas.microsoft.com/office/drawing/2014/main" id="{D136F61C-EB2F-B44E-82C6-D148BAF30FAE}"/>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D012A616-5304-9295-30AB-2A96E62A7491}"/>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39674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lide - Green">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0"/>
            <a:ext cx="12179300" cy="6858000"/>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313CEC4A-55C4-064D-8DB3-0FEBAA882C5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12F89680-407C-CFA0-4556-50B2189C4F89}"/>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214875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1"/>
            <a:ext cx="12192000" cy="6865151"/>
          </a:xfrm>
          <a:prstGeom prst="rect">
            <a:avLst/>
          </a:prstGeom>
        </p:spPr>
      </p:pic>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6" name="Picture 10">
            <a:extLst>
              <a:ext uri="{FF2B5EF4-FFF2-40B4-BE49-F238E27FC236}">
                <a16:creationId xmlns:a16="http://schemas.microsoft.com/office/drawing/2014/main" id="{FDB467B8-5DD8-7A42-9348-328DFD2D4BB7}"/>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
        <p:nvSpPr>
          <p:cNvPr id="2" name="Title 1">
            <a:extLst>
              <a:ext uri="{FF2B5EF4-FFF2-40B4-BE49-F238E27FC236}">
                <a16:creationId xmlns:a16="http://schemas.microsoft.com/office/drawing/2014/main" id="{8535814E-3239-1027-2B8B-9FC7364DAA80}"/>
              </a:ext>
            </a:extLst>
          </p:cNvPr>
          <p:cNvSpPr>
            <a:spLocks noGrp="1"/>
          </p:cNvSpPr>
          <p:nvPr>
            <p:ph type="title"/>
          </p:nvPr>
        </p:nvSpPr>
        <p:spPr>
          <a:xfrm>
            <a:off x="599863" y="3211720"/>
            <a:ext cx="10238827"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42519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Slide - Manufacturing">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9261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 FSB">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635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522901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lide - TMT">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1"/>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200034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Slide - Consumer">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0" y="800"/>
            <a:ext cx="12192000" cy="6863549"/>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DDEC51F8-143B-E743-99B4-8C89484E8E99}"/>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32770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3847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1"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49761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73473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Only - No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2" name="Rectangle 1">
            <a:extLst>
              <a:ext uri="{FF2B5EF4-FFF2-40B4-BE49-F238E27FC236}">
                <a16:creationId xmlns:a16="http://schemas.microsoft.com/office/drawing/2014/main" id="{3F59F4E9-9685-4F49-96ED-E90723A598F6}"/>
              </a:ext>
            </a:extLst>
          </p:cNvPr>
          <p:cNvSpPr/>
          <p:nvPr userDrawn="1"/>
        </p:nvSpPr>
        <p:spPr>
          <a:xfrm>
            <a:off x="10527957" y="6030099"/>
            <a:ext cx="1664043" cy="827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66025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31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0285616" y="6206837"/>
            <a:ext cx="1906385" cy="651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0873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0699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417755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3"/>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51589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21" y="839816"/>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30740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content, web product shot 2">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C51268B1-7D12-6D4E-95FD-AFC68D750EB1}"/>
              </a:ext>
            </a:extLst>
          </p:cNvPr>
          <p:cNvSpPr/>
          <p:nvPr userDrawn="1"/>
        </p:nvSpPr>
        <p:spPr>
          <a:xfrm>
            <a:off x="5234599" y="1033692"/>
            <a:ext cx="2372263" cy="1132447"/>
          </a:xfrm>
          <a:custGeom>
            <a:avLst/>
            <a:gdLst>
              <a:gd name="connsiteX0" fmla="*/ 8675561 w 8675560"/>
              <a:gd name="connsiteY0" fmla="*/ 0 h 4259198"/>
              <a:gd name="connsiteX1" fmla="*/ 2459069 w 8675560"/>
              <a:gd name="connsiteY1" fmla="*/ 0 h 4259198"/>
              <a:gd name="connsiteX2" fmla="*/ 0 w 8675560"/>
              <a:gd name="connsiteY2" fmla="*/ 4259199 h 4259198"/>
              <a:gd name="connsiteX3" fmla="*/ 6216587 w 8675560"/>
              <a:gd name="connsiteY3" fmla="*/ 4259199 h 4259198"/>
              <a:gd name="connsiteX4" fmla="*/ 6216587 w 8675560"/>
              <a:gd name="connsiteY4" fmla="*/ 4259199 h 4259198"/>
              <a:gd name="connsiteX5" fmla="*/ 8675561 w 8675560"/>
              <a:gd name="connsiteY5" fmla="*/ 0 h 425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5560" h="4259198">
                <a:moveTo>
                  <a:pt x="8675561" y="0"/>
                </a:moveTo>
                <a:lnTo>
                  <a:pt x="2459069" y="0"/>
                </a:lnTo>
                <a:lnTo>
                  <a:pt x="0" y="4259199"/>
                </a:lnTo>
                <a:lnTo>
                  <a:pt x="6216587" y="4259199"/>
                </a:lnTo>
                <a:lnTo>
                  <a:pt x="6216587" y="4259199"/>
                </a:lnTo>
                <a:lnTo>
                  <a:pt x="8675561" y="0"/>
                </a:lnTo>
                <a:close/>
              </a:path>
            </a:pathLst>
          </a:custGeom>
          <a:solidFill>
            <a:srgbClr val="F0F1F7">
              <a:alpha val="60000"/>
            </a:srgbClr>
          </a:solidFill>
          <a:ln w="9525" cap="flat">
            <a:noFill/>
            <a:prstDash val="solid"/>
            <a:miter/>
          </a:ln>
        </p:spPr>
        <p:txBody>
          <a:bodyPr rtlCol="0" anchor="ctr"/>
          <a:lstStyle/>
          <a:p>
            <a:endParaRPr lang="en-US" sz="2400"/>
          </a:p>
        </p:txBody>
      </p:sp>
      <p:pic>
        <p:nvPicPr>
          <p:cNvPr id="13" name="Picture 12" descr="A picture containing computer, laptop, keyboard, phone&#10;&#10;Description automatically generated">
            <a:extLst>
              <a:ext uri="{FF2B5EF4-FFF2-40B4-BE49-F238E27FC236}">
                <a16:creationId xmlns:a16="http://schemas.microsoft.com/office/drawing/2014/main" id="{B553D39A-50D8-C840-A35D-606FE9727F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82252" y="3987693"/>
            <a:ext cx="2109749" cy="1217760"/>
          </a:xfrm>
          <a:prstGeom prst="rect">
            <a:avLst/>
          </a:prstGeom>
        </p:spPr>
      </p:pic>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1"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1" y="1363682"/>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6" name="Content Placeholder 2">
            <a:extLst>
              <a:ext uri="{FF2B5EF4-FFF2-40B4-BE49-F238E27FC236}">
                <a16:creationId xmlns:a16="http://schemas.microsoft.com/office/drawing/2014/main" id="{73216816-7FFA-FD44-83DD-8F4DFB551181}"/>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00621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Web product shot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BD0F1D-040E-8941-8F79-50AF60E22B8A}"/>
              </a:ext>
            </a:extLst>
          </p:cNvPr>
          <p:cNvSpPr/>
          <p:nvPr userDrawn="1"/>
        </p:nvSpPr>
        <p:spPr>
          <a:xfrm>
            <a:off x="8359440" y="344243"/>
            <a:ext cx="3216275" cy="2785749"/>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DFE2EB">
              <a:alpha val="30000"/>
            </a:srgbClr>
          </a:solidFill>
          <a:ln w="13066" cap="flat">
            <a:noFill/>
            <a:prstDash val="solid"/>
            <a:miter/>
          </a:ln>
        </p:spPr>
        <p:txBody>
          <a:bodyPr rtlCol="0" anchor="ctr"/>
          <a:lstStyle/>
          <a:p>
            <a:endParaRPr lang="en-US" sz="1133" b="1">
              <a:latin typeface="Arial" panose="020B0604020202020204" pitchFamily="34" charset="0"/>
              <a:ea typeface="Verdana" panose="020B0604030504040204" pitchFamily="34" charset="0"/>
              <a:cs typeface="Arial" panose="020B0604020202020204" pitchFamily="34" charset="0"/>
            </a:endParaRPr>
          </a:p>
        </p:txBody>
      </p:sp>
      <p:pic>
        <p:nvPicPr>
          <p:cNvPr id="3" name="Picture 2" descr="A picture containing computer&#10;&#10;Description automatically generated">
            <a:extLst>
              <a:ext uri="{FF2B5EF4-FFF2-40B4-BE49-F238E27FC236}">
                <a16:creationId xmlns:a16="http://schemas.microsoft.com/office/drawing/2014/main" id="{F736930A-DD07-4942-B16F-FBA34B1482ED}"/>
              </a:ext>
            </a:extLst>
          </p:cNvPr>
          <p:cNvPicPr>
            <a:picLocks noChangeAspect="1"/>
          </p:cNvPicPr>
          <p:nvPr userDrawn="1"/>
        </p:nvPicPr>
        <p:blipFill>
          <a:blip r:embed="rId2" cstate="screen">
            <a:alphaModFix amt="60000"/>
            <a:extLst>
              <a:ext uri="{28A0092B-C50C-407E-A947-70E740481C1C}">
                <a14:useLocalDpi xmlns:a14="http://schemas.microsoft.com/office/drawing/2010/main"/>
              </a:ext>
            </a:extLst>
          </a:blip>
          <a:stretch>
            <a:fillRect/>
          </a:stretch>
        </p:blipFill>
        <p:spPr>
          <a:xfrm>
            <a:off x="616289" y="4518828"/>
            <a:ext cx="2337015" cy="2040592"/>
          </a:xfrm>
          <a:prstGeom prst="rect">
            <a:avLst/>
          </a:prstGeom>
        </p:spPr>
      </p:pic>
      <p:sp>
        <p:nvSpPr>
          <p:cNvPr id="4" name="Freeform 3">
            <a:extLst>
              <a:ext uri="{FF2B5EF4-FFF2-40B4-BE49-F238E27FC236}">
                <a16:creationId xmlns:a16="http://schemas.microsoft.com/office/drawing/2014/main" id="{CE93FC95-57D9-5F4C-9567-F6C0AEAA34E5}"/>
              </a:ext>
            </a:extLst>
          </p:cNvPr>
          <p:cNvSpPr/>
          <p:nvPr userDrawn="1"/>
        </p:nvSpPr>
        <p:spPr>
          <a:xfrm>
            <a:off x="1684199" y="672060"/>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1167683"/>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2" y="672060"/>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66982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Title, content, web product shot">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8AEA859-1D32-4F4D-B3B9-725C8822EC96}"/>
              </a:ext>
            </a:extLst>
          </p:cNvPr>
          <p:cNvSpPr/>
          <p:nvPr userDrawn="1"/>
        </p:nvSpPr>
        <p:spPr>
          <a:xfrm>
            <a:off x="5904729" y="1363680"/>
            <a:ext cx="5672171" cy="3453541"/>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4" name="Picture Placeholder 13">
            <a:extLst>
              <a:ext uri="{FF2B5EF4-FFF2-40B4-BE49-F238E27FC236}">
                <a16:creationId xmlns:a16="http://schemas.microsoft.com/office/drawing/2014/main" id="{81E538D8-1FFE-4249-9DB1-888D5743C7B6}"/>
              </a:ext>
            </a:extLst>
          </p:cNvPr>
          <p:cNvSpPr>
            <a:spLocks noGrp="1"/>
          </p:cNvSpPr>
          <p:nvPr>
            <p:ph type="pic" sz="quarter" idx="10"/>
          </p:nvPr>
        </p:nvSpPr>
        <p:spPr>
          <a:xfrm>
            <a:off x="5904260" y="1681823"/>
            <a:ext cx="5672171" cy="3135184"/>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grpSp>
        <p:nvGrpSpPr>
          <p:cNvPr id="6" name="Picture 7">
            <a:extLst>
              <a:ext uri="{FF2B5EF4-FFF2-40B4-BE49-F238E27FC236}">
                <a16:creationId xmlns:a16="http://schemas.microsoft.com/office/drawing/2014/main" id="{83E1A41B-9756-974B-8F8D-4F01D020BE63}"/>
              </a:ext>
            </a:extLst>
          </p:cNvPr>
          <p:cNvGrpSpPr/>
          <p:nvPr userDrawn="1"/>
        </p:nvGrpSpPr>
        <p:grpSpPr>
          <a:xfrm>
            <a:off x="5904730" y="1363681"/>
            <a:ext cx="5671701" cy="318788"/>
            <a:chOff x="4532006" y="1183262"/>
            <a:chExt cx="4254128" cy="239091"/>
          </a:xfrm>
        </p:grpSpPr>
        <p:sp>
          <p:nvSpPr>
            <p:cNvPr id="7" name="Freeform 6">
              <a:extLst>
                <a:ext uri="{FF2B5EF4-FFF2-40B4-BE49-F238E27FC236}">
                  <a16:creationId xmlns:a16="http://schemas.microsoft.com/office/drawing/2014/main" id="{B579A5FB-22F1-AC4F-8595-9A7591275788}"/>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7AC2945B-21E9-744B-8F68-D78928A78AF3}"/>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BBF53297-23C8-6E44-950D-346952AE696B}"/>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97C472FE-1093-2147-8306-9842756D9A06}"/>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F314963D-FD32-0349-BBB4-CBF0F323D6B6}"/>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36991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1" y="1113133"/>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608349" y="3831868"/>
            <a:ext cx="4167787" cy="2537587"/>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0" y="1103207"/>
            <a:ext cx="4167717" cy="2537884"/>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599680" y="3826088"/>
            <a:ext cx="4167717" cy="253320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837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_Title, content, phone product shot">
    <p:spTree>
      <p:nvGrpSpPr>
        <p:cNvPr id="1" name=""/>
        <p:cNvGrpSpPr/>
        <p:nvPr/>
      </p:nvGrpSpPr>
      <p:grpSpPr>
        <a:xfrm>
          <a:off x="0" y="0"/>
          <a:ext cx="0" cy="0"/>
          <a:chOff x="0" y="0"/>
          <a:chExt cx="0" cy="0"/>
        </a:xfrm>
      </p:grpSpPr>
      <p:pic>
        <p:nvPicPr>
          <p:cNvPr id="13" name="Picture 5">
            <a:extLst>
              <a:ext uri="{FF2B5EF4-FFF2-40B4-BE49-F238E27FC236}">
                <a16:creationId xmlns:a16="http://schemas.microsoft.com/office/drawing/2014/main" id="{416254A5-1955-8147-9A37-368D1212105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324709" y="939192"/>
            <a:ext cx="2883723" cy="5063023"/>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44" name="Picture Placeholder 43">
            <a:extLst>
              <a:ext uri="{FF2B5EF4-FFF2-40B4-BE49-F238E27FC236}">
                <a16:creationId xmlns:a16="http://schemas.microsoft.com/office/drawing/2014/main" id="{E7CA9CC6-2F15-C041-954E-F5B5AAC0D131}"/>
              </a:ext>
            </a:extLst>
          </p:cNvPr>
          <p:cNvSpPr>
            <a:spLocks noGrp="1"/>
          </p:cNvSpPr>
          <p:nvPr>
            <p:ph type="pic" sz="quarter" idx="10"/>
          </p:nvPr>
        </p:nvSpPr>
        <p:spPr>
          <a:xfrm>
            <a:off x="7737231" y="1260232"/>
            <a:ext cx="2025748" cy="4441873"/>
          </a:xfrm>
          <a:custGeom>
            <a:avLst/>
            <a:gdLst>
              <a:gd name="connsiteX0" fmla="*/ 121347 w 1519311"/>
              <a:gd name="connsiteY0" fmla="*/ 0 h 3331405"/>
              <a:gd name="connsiteX1" fmla="*/ 379326 w 1519311"/>
              <a:gd name="connsiteY1" fmla="*/ 0 h 3331405"/>
              <a:gd name="connsiteX2" fmla="*/ 385179 w 1519311"/>
              <a:gd name="connsiteY2" fmla="*/ 28994 h 3331405"/>
              <a:gd name="connsiteX3" fmla="*/ 468556 w 1519311"/>
              <a:gd name="connsiteY3" fmla="*/ 84260 h 3331405"/>
              <a:gd name="connsiteX4" fmla="*/ 1061303 w 1519311"/>
              <a:gd name="connsiteY4" fmla="*/ 84261 h 3331405"/>
              <a:gd name="connsiteX5" fmla="*/ 1144680 w 1519311"/>
              <a:gd name="connsiteY5" fmla="*/ 28995 h 3331405"/>
              <a:gd name="connsiteX6" fmla="*/ 1150534 w 1519311"/>
              <a:gd name="connsiteY6" fmla="*/ 0 h 3331405"/>
              <a:gd name="connsiteX7" fmla="*/ 1397964 w 1519311"/>
              <a:gd name="connsiteY7" fmla="*/ 0 h 3331405"/>
              <a:gd name="connsiteX8" fmla="*/ 1519311 w 1519311"/>
              <a:gd name="connsiteY8" fmla="*/ 121347 h 3331405"/>
              <a:gd name="connsiteX9" fmla="*/ 1519311 w 1519311"/>
              <a:gd name="connsiteY9" fmla="*/ 3210058 h 3331405"/>
              <a:gd name="connsiteX10" fmla="*/ 1397964 w 1519311"/>
              <a:gd name="connsiteY10" fmla="*/ 3331405 h 3331405"/>
              <a:gd name="connsiteX11" fmla="*/ 121347 w 1519311"/>
              <a:gd name="connsiteY11" fmla="*/ 3331405 h 3331405"/>
              <a:gd name="connsiteX12" fmla="*/ 0 w 1519311"/>
              <a:gd name="connsiteY12" fmla="*/ 3210058 h 3331405"/>
              <a:gd name="connsiteX13" fmla="*/ 0 w 1519311"/>
              <a:gd name="connsiteY13" fmla="*/ 121347 h 3331405"/>
              <a:gd name="connsiteX14" fmla="*/ 121347 w 1519311"/>
              <a:gd name="connsiteY14" fmla="*/ 0 h 3331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9311" h="3331405">
                <a:moveTo>
                  <a:pt x="121347" y="0"/>
                </a:moveTo>
                <a:lnTo>
                  <a:pt x="379326" y="0"/>
                </a:lnTo>
                <a:lnTo>
                  <a:pt x="385179" y="28994"/>
                </a:lnTo>
                <a:cubicBezTo>
                  <a:pt x="398916" y="61472"/>
                  <a:pt x="431075" y="84260"/>
                  <a:pt x="468556" y="84260"/>
                </a:cubicBezTo>
                <a:lnTo>
                  <a:pt x="1061303" y="84261"/>
                </a:lnTo>
                <a:cubicBezTo>
                  <a:pt x="1098785" y="84261"/>
                  <a:pt x="1130943" y="61473"/>
                  <a:pt x="1144680" y="28995"/>
                </a:cubicBezTo>
                <a:lnTo>
                  <a:pt x="1150534" y="0"/>
                </a:lnTo>
                <a:lnTo>
                  <a:pt x="1397964" y="0"/>
                </a:lnTo>
                <a:cubicBezTo>
                  <a:pt x="1464982" y="0"/>
                  <a:pt x="1519311" y="54329"/>
                  <a:pt x="1519311" y="121347"/>
                </a:cubicBezTo>
                <a:lnTo>
                  <a:pt x="1519311" y="3210058"/>
                </a:lnTo>
                <a:cubicBezTo>
                  <a:pt x="1519311" y="3277076"/>
                  <a:pt x="1464982" y="3331405"/>
                  <a:pt x="1397964" y="3331405"/>
                </a:cubicBezTo>
                <a:lnTo>
                  <a:pt x="121347" y="3331405"/>
                </a:lnTo>
                <a:cubicBezTo>
                  <a:pt x="54329" y="3331405"/>
                  <a:pt x="0" y="3277076"/>
                  <a:pt x="0" y="3210058"/>
                </a:cubicBezTo>
                <a:lnTo>
                  <a:pt x="0" y="121347"/>
                </a:lnTo>
                <a:cubicBezTo>
                  <a:pt x="0" y="54329"/>
                  <a:pt x="54329" y="0"/>
                  <a:pt x="121347" y="0"/>
                </a:cubicBezTo>
                <a:close/>
              </a:path>
            </a:pathLst>
          </a:custGeom>
        </p:spPr>
        <p:txBody>
          <a:bodyPr wrap="square">
            <a:noAutofit/>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4122504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Title, content, iPad product shot">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A71529F0-9E72-2E4A-9168-2918FF3527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612719" y="839814"/>
            <a:ext cx="4323463" cy="5384817"/>
          </a:xfrm>
          <a:prstGeom prst="rect">
            <a:avLst/>
          </a:prstGeom>
          <a:effectLst>
            <a:outerShdw blurRad="63500" sx="101000" sy="101000" algn="ctr" rotWithShape="0">
              <a:prstClr val="black">
                <a:alpha val="8000"/>
              </a:prstClr>
            </a:outerShdw>
          </a:effectLst>
        </p:spPr>
      </p:pic>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904C39C3-A0A0-0F4A-A2C6-7B961DE9A88B}"/>
              </a:ext>
            </a:extLst>
          </p:cNvPr>
          <p:cNvSpPr>
            <a:spLocks noGrp="1"/>
          </p:cNvSpPr>
          <p:nvPr>
            <p:ph type="pic" sz="quarter" idx="10"/>
          </p:nvPr>
        </p:nvSpPr>
        <p:spPr>
          <a:xfrm>
            <a:off x="7053943" y="1227119"/>
            <a:ext cx="3404260" cy="4580468"/>
          </a:xfrm>
          <a:prstGeom prst="roundRect">
            <a:avLst>
              <a:gd name="adj" fmla="val 1353"/>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16471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Web 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a:solidFill>
                  <a:schemeClr val="bg2"/>
                </a:solidFill>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rgbClr val="DFE1E6"/>
            </a:solidFill>
            <a:ln w="3321" cap="flat">
              <a:noFill/>
              <a:prstDash val="solid"/>
              <a:miter/>
            </a:ln>
          </p:spPr>
          <p:txBody>
            <a:bodyPr rtlCol="0" anchor="ctr"/>
            <a:lstStyle/>
            <a:p>
              <a:endParaRPr lang="en-US" sz="2400"/>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DE350B"/>
            </a:solidFill>
            <a:ln w="3321" cap="flat">
              <a:noFill/>
              <a:prstDash val="solid"/>
              <a:miter/>
            </a:ln>
          </p:spPr>
          <p:txBody>
            <a:bodyPr rtlCol="0" anchor="ctr"/>
            <a:lstStyle/>
            <a:p>
              <a:endParaRPr lang="en-US" sz="2400"/>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FFAB01"/>
            </a:solidFill>
            <a:ln w="3321" cap="flat">
              <a:noFill/>
              <a:prstDash val="solid"/>
              <a:miter/>
            </a:ln>
          </p:spPr>
          <p:txBody>
            <a:bodyPr rtlCol="0" anchor="ctr"/>
            <a:lstStyle/>
            <a:p>
              <a:endParaRPr lang="en-US" sz="2400"/>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rgbClr val="37B37F"/>
            </a:solidFill>
            <a:ln w="3321"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64319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Product shot 1">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a:solidFill>
                  <a:schemeClr val="bg2"/>
                </a:solidFill>
              </a:defRPr>
            </a:lvl1pPr>
          </a:lstStyle>
          <a:p>
            <a:endParaRPr lang="en-US"/>
          </a:p>
          <a:p>
            <a:r>
              <a:rPr lang="en-US"/>
              <a:t>Product Shot/Screenshot</a:t>
            </a:r>
          </a:p>
        </p:txBody>
      </p:sp>
    </p:spTree>
    <p:extLst>
      <p:ext uri="{BB962C8B-B14F-4D97-AF65-F5344CB8AC3E}">
        <p14:creationId xmlns:p14="http://schemas.microsoft.com/office/powerpoint/2010/main" val="385206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2" y="392855"/>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3324341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2" y="1113133"/>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43269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9"/>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82848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2604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2" y="1096440"/>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273128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7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4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597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sp>
        <p:nvSpPr>
          <p:cNvPr id="9" name="Picture 4">
            <a:extLst>
              <a:ext uri="{FF2B5EF4-FFF2-40B4-BE49-F238E27FC236}">
                <a16:creationId xmlns:a16="http://schemas.microsoft.com/office/drawing/2014/main" id="{657A6B03-4A5D-B14C-82F2-4934E510B0A1}"/>
              </a:ext>
            </a:extLst>
          </p:cNvPr>
          <p:cNvSpPr/>
          <p:nvPr userDrawn="1"/>
        </p:nvSpPr>
        <p:spPr>
          <a:xfrm>
            <a:off x="6936629" y="900180"/>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8"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4"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4" y="4508354"/>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5" y="1159023"/>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33886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wo Speaker">
    <p:spTree>
      <p:nvGrpSpPr>
        <p:cNvPr id="1" name=""/>
        <p:cNvGrpSpPr/>
        <p:nvPr/>
      </p:nvGrpSpPr>
      <p:grpSpPr>
        <a:xfrm>
          <a:off x="0" y="0"/>
          <a:ext cx="0" cy="0"/>
          <a:chOff x="0" y="0"/>
          <a:chExt cx="0" cy="0"/>
        </a:xfrm>
      </p:grpSpPr>
      <p:sp>
        <p:nvSpPr>
          <p:cNvPr id="16" name="Picture 4">
            <a:extLst>
              <a:ext uri="{FF2B5EF4-FFF2-40B4-BE49-F238E27FC236}">
                <a16:creationId xmlns:a16="http://schemas.microsoft.com/office/drawing/2014/main" id="{6DB256A9-37A1-2647-8012-3513A7CB6272}"/>
              </a:ext>
            </a:extLst>
          </p:cNvPr>
          <p:cNvSpPr/>
          <p:nvPr userDrawn="1"/>
        </p:nvSpPr>
        <p:spPr>
          <a:xfrm>
            <a:off x="4560241" y="1215342"/>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7" name="Picture 4">
            <a:extLst>
              <a:ext uri="{FF2B5EF4-FFF2-40B4-BE49-F238E27FC236}">
                <a16:creationId xmlns:a16="http://schemas.microsoft.com/office/drawing/2014/main" id="{D363ABB1-C65D-9A4A-B2B8-4029E22D25E5}"/>
              </a:ext>
            </a:extLst>
          </p:cNvPr>
          <p:cNvSpPr/>
          <p:nvPr userDrawn="1"/>
        </p:nvSpPr>
        <p:spPr>
          <a:xfrm>
            <a:off x="8991313" y="1212138"/>
            <a:ext cx="1054475" cy="51768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1"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1"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5209829"/>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9" y="4093472"/>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9" y="4573244"/>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474183"/>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24807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1_Three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652406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977420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3278285" y="143159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038851"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425737"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425737"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1960190"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280515"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667401"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667401"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201854"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529394" y="4891589"/>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916280" y="3648571"/>
            <a:ext cx="2850848" cy="361924"/>
          </a:xfrm>
          <a:prstGeom prst="rect">
            <a:avLst/>
          </a:prstGeom>
        </p:spPr>
        <p:txBody>
          <a:bodyPr lIns="0" tIns="0" rIns="0" bIns="0" anchor="t">
            <a:noAutofit/>
          </a:bodyPr>
          <a:lstStyle>
            <a:lvl1pPr marL="0" indent="0" algn="ctr">
              <a:spcBef>
                <a:spcPts val="0"/>
              </a:spcBef>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916280" y="4010495"/>
            <a:ext cx="2850848" cy="361924"/>
          </a:xfrm>
          <a:prstGeom prst="rect">
            <a:avLst/>
          </a:prstGeom>
        </p:spPr>
        <p:txBody>
          <a:bodyPr lIns="0" tIns="0" rIns="0" bIns="0" anchor="t">
            <a:noAutofit/>
          </a:bodyPr>
          <a:lstStyle>
            <a:lvl1pPr marL="0" indent="0" algn="ctr">
              <a:spcBef>
                <a:spcPts val="0"/>
              </a:spcBef>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450733" y="1657297"/>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4064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Four Speaker">
    <p:spTree>
      <p:nvGrpSpPr>
        <p:cNvPr id="1" name=""/>
        <p:cNvGrpSpPr/>
        <p:nvPr/>
      </p:nvGrpSpPr>
      <p:grpSpPr>
        <a:xfrm>
          <a:off x="0" y="0"/>
          <a:ext cx="0" cy="0"/>
          <a:chOff x="0" y="0"/>
          <a:chExt cx="0" cy="0"/>
        </a:xfrm>
      </p:grpSpPr>
      <p:sp>
        <p:nvSpPr>
          <p:cNvPr id="23" name="Picture 4">
            <a:extLst>
              <a:ext uri="{FF2B5EF4-FFF2-40B4-BE49-F238E27FC236}">
                <a16:creationId xmlns:a16="http://schemas.microsoft.com/office/drawing/2014/main" id="{6B4F0CD0-694C-D146-B927-3BEE6CE19CA9}"/>
              </a:ext>
            </a:extLst>
          </p:cNvPr>
          <p:cNvSpPr/>
          <p:nvPr userDrawn="1"/>
        </p:nvSpPr>
        <p:spPr>
          <a:xfrm>
            <a:off x="5087302"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1"/>
          </a:solidFill>
          <a:ln w="1855" cap="flat">
            <a:noFill/>
            <a:prstDash val="solid"/>
            <a:miter/>
          </a:ln>
        </p:spPr>
        <p:txBody>
          <a:bodyPr rtlCol="0" anchor="ctr"/>
          <a:lstStyle/>
          <a:p>
            <a:endParaRPr lang="en-US" sz="2400"/>
          </a:p>
        </p:txBody>
      </p:sp>
      <p:sp>
        <p:nvSpPr>
          <p:cNvPr id="24" name="Picture 4">
            <a:extLst>
              <a:ext uri="{FF2B5EF4-FFF2-40B4-BE49-F238E27FC236}">
                <a16:creationId xmlns:a16="http://schemas.microsoft.com/office/drawing/2014/main" id="{3607A9FB-1930-2047-B3D2-F143E5599A2C}"/>
              </a:ext>
            </a:extLst>
          </p:cNvPr>
          <p:cNvSpPr/>
          <p:nvPr userDrawn="1"/>
        </p:nvSpPr>
        <p:spPr>
          <a:xfrm>
            <a:off x="7991419"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3"/>
          </a:solidFill>
          <a:ln w="1855" cap="flat">
            <a:noFill/>
            <a:prstDash val="solid"/>
            <a:miter/>
          </a:ln>
        </p:spPr>
        <p:txBody>
          <a:bodyPr rtlCol="0" anchor="ctr"/>
          <a:lstStyle/>
          <a:p>
            <a:endParaRPr lang="en-US" sz="2400"/>
          </a:p>
        </p:txBody>
      </p:sp>
      <p:sp>
        <p:nvSpPr>
          <p:cNvPr id="29" name="Picture 4">
            <a:extLst>
              <a:ext uri="{FF2B5EF4-FFF2-40B4-BE49-F238E27FC236}">
                <a16:creationId xmlns:a16="http://schemas.microsoft.com/office/drawing/2014/main" id="{7D519AA9-6294-7444-8231-0397A5875056}"/>
              </a:ext>
            </a:extLst>
          </p:cNvPr>
          <p:cNvSpPr/>
          <p:nvPr userDrawn="1"/>
        </p:nvSpPr>
        <p:spPr>
          <a:xfrm>
            <a:off x="10911647" y="1247408"/>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4"/>
          </a:solidFill>
          <a:ln w="1855" cap="flat">
            <a:noFill/>
            <a:prstDash val="solid"/>
            <a:miter/>
          </a:ln>
        </p:spPr>
        <p:txBody>
          <a:bodyPr rtlCol="0" anchor="ctr"/>
          <a:lstStyle/>
          <a:p>
            <a:endParaRPr lang="en-US" sz="2400"/>
          </a:p>
        </p:txBody>
      </p:sp>
      <p:sp>
        <p:nvSpPr>
          <p:cNvPr id="14" name="Picture 4">
            <a:extLst>
              <a:ext uri="{FF2B5EF4-FFF2-40B4-BE49-F238E27FC236}">
                <a16:creationId xmlns:a16="http://schemas.microsoft.com/office/drawing/2014/main" id="{A3D84A6F-E1C1-C441-9E44-48059E22A3B0}"/>
              </a:ext>
            </a:extLst>
          </p:cNvPr>
          <p:cNvSpPr/>
          <p:nvPr userDrawn="1"/>
        </p:nvSpPr>
        <p:spPr>
          <a:xfrm>
            <a:off x="2165814" y="1248184"/>
            <a:ext cx="919468" cy="451405"/>
          </a:xfrm>
          <a:custGeom>
            <a:avLst/>
            <a:gdLst>
              <a:gd name="connsiteX0" fmla="*/ 1698193 w 1698192"/>
              <a:gd name="connsiteY0" fmla="*/ 0 h 833714"/>
              <a:gd name="connsiteX1" fmla="*/ 481349 w 1698192"/>
              <a:gd name="connsiteY1" fmla="*/ 0 h 833714"/>
              <a:gd name="connsiteX2" fmla="*/ 0 w 1698192"/>
              <a:gd name="connsiteY2" fmla="*/ 833714 h 833714"/>
              <a:gd name="connsiteX3" fmla="*/ 1216862 w 1698192"/>
              <a:gd name="connsiteY3" fmla="*/ 833714 h 833714"/>
              <a:gd name="connsiteX4" fmla="*/ 1216862 w 1698192"/>
              <a:gd name="connsiteY4" fmla="*/ 833714 h 833714"/>
              <a:gd name="connsiteX5" fmla="*/ 1698193 w 1698192"/>
              <a:gd name="connsiteY5" fmla="*/ 0 h 83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8192" h="833714">
                <a:moveTo>
                  <a:pt x="1698193" y="0"/>
                </a:moveTo>
                <a:lnTo>
                  <a:pt x="481349" y="0"/>
                </a:lnTo>
                <a:lnTo>
                  <a:pt x="0" y="833714"/>
                </a:lnTo>
                <a:lnTo>
                  <a:pt x="1216862" y="833714"/>
                </a:lnTo>
                <a:lnTo>
                  <a:pt x="1216862" y="833714"/>
                </a:lnTo>
                <a:lnTo>
                  <a:pt x="1698193" y="0"/>
                </a:lnTo>
                <a:close/>
              </a:path>
            </a:pathLst>
          </a:custGeom>
          <a:solidFill>
            <a:schemeClr val="accent2"/>
          </a:solidFill>
          <a:ln w="1855" cap="flat">
            <a:noFill/>
            <a:prstDash val="solid"/>
            <a:miter/>
          </a:ln>
        </p:spPr>
        <p:txBody>
          <a:bodyPr rtlCol="0" anchor="ctr"/>
          <a:lstStyle/>
          <a:p>
            <a:endParaRPr lang="en-US" sz="2400"/>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81"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20"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3"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2"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10"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9"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8" y="4512564"/>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7" y="1473888"/>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8520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5"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9684D9B-4D02-0E4D-A3E8-E18F26242503}"/>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FBF350D-2853-2545-8861-637ABE8481A4}"/>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32402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Quote 11">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B18EC76-FC04-B149-8548-F828EA894429}"/>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A7271039-CDE0-C647-A167-A6B37BD002B9}"/>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1C7D62C3-661D-8541-88D6-43C0DD812D5E}"/>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D7F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86680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22435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0460A93D-53EB-114B-AF74-D6AD97E2ACF2}"/>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06BEC4B5-F4BA-1F40-9F57-CE953774F588}"/>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05815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FFE8F4B1-DBBB-4468-EECE-18400001EE55}"/>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3493957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_Quote 10">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8BF90-4D21-754D-B3E0-36E4F281422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Verdana" charset="0"/>
              <a:ea typeface="Verdana" charset="0"/>
              <a:cs typeface="Verdana" charset="0"/>
            </a:endParaRPr>
          </a:p>
        </p:txBody>
      </p:sp>
      <p:sp>
        <p:nvSpPr>
          <p:cNvPr id="13" name="Freeform 12">
            <a:extLst>
              <a:ext uri="{FF2B5EF4-FFF2-40B4-BE49-F238E27FC236}">
                <a16:creationId xmlns:a16="http://schemas.microsoft.com/office/drawing/2014/main" id="{F0AF2AAC-9830-E04A-9312-93D00694C2FB}"/>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14" name="Freeform 13">
            <a:extLst>
              <a:ext uri="{FF2B5EF4-FFF2-40B4-BE49-F238E27FC236}">
                <a16:creationId xmlns:a16="http://schemas.microsoft.com/office/drawing/2014/main" id="{729163C2-72CB-EA44-BF48-FB0E2DE3B64C}"/>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1947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2" name="Title 1">
            <a:extLst>
              <a:ext uri="{FF2B5EF4-FFF2-40B4-BE49-F238E27FC236}">
                <a16:creationId xmlns:a16="http://schemas.microsoft.com/office/drawing/2014/main" id="{AF0B57CE-4B36-9B89-6B90-C2E80EFC1E02}"/>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918018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Quote 12">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4949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EB9DD56F-2186-F63B-1E99-9BE4DEDCA90C}"/>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58487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Quote 13">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75CD9E1-24DB-2E49-9B6E-413F47BEC55F}"/>
              </a:ext>
            </a:extLst>
          </p:cNvPr>
          <p:cNvSpPr/>
          <p:nvPr userDrawn="1"/>
        </p:nvSpPr>
        <p:spPr>
          <a:xfrm>
            <a:off x="0" y="0"/>
            <a:ext cx="12192000" cy="6858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sp>
        <p:nvSpPr>
          <p:cNvPr id="35" name="Freeform 34">
            <a:extLst>
              <a:ext uri="{FF2B5EF4-FFF2-40B4-BE49-F238E27FC236}">
                <a16:creationId xmlns:a16="http://schemas.microsoft.com/office/drawing/2014/main" id="{E0DD829E-A312-C947-A121-652D0A38312D}"/>
              </a:ext>
            </a:extLst>
          </p:cNvPr>
          <p:cNvSpPr/>
          <p:nvPr userDrawn="1"/>
        </p:nvSpPr>
        <p:spPr>
          <a:xfrm rot="10800000">
            <a:off x="1" y="0"/>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sp>
        <p:nvSpPr>
          <p:cNvPr id="36" name="Freeform 35">
            <a:extLst>
              <a:ext uri="{FF2B5EF4-FFF2-40B4-BE49-F238E27FC236}">
                <a16:creationId xmlns:a16="http://schemas.microsoft.com/office/drawing/2014/main" id="{75500137-ACF0-1643-8908-59F0C6C77330}"/>
              </a:ext>
            </a:extLst>
          </p:cNvPr>
          <p:cNvSpPr/>
          <p:nvPr userDrawn="1"/>
        </p:nvSpPr>
        <p:spPr>
          <a:xfrm>
            <a:off x="9706454"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rgbClr val="8214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err="1">
              <a:solidFill>
                <a:schemeClr val="bg1"/>
              </a:solidFill>
              <a:latin typeface="Arial" panose="020B0604020202020204" pitchFamily="34" charset="0"/>
              <a:ea typeface="Verdana" charset="0"/>
              <a:cs typeface="Arial" panose="020B0604020202020204" pitchFamily="34" charset="0"/>
            </a:endParaRP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99588" y="6469434"/>
            <a:ext cx="1011805" cy="240541"/>
          </a:xfrm>
          <a:prstGeom prst="rect">
            <a:avLst/>
          </a:prstGeom>
        </p:spPr>
      </p:pic>
      <p:sp>
        <p:nvSpPr>
          <p:cNvPr id="5" name="Title 1">
            <a:extLst>
              <a:ext uri="{FF2B5EF4-FFF2-40B4-BE49-F238E27FC236}">
                <a16:creationId xmlns:a16="http://schemas.microsoft.com/office/drawing/2014/main" id="{02A96D41-465F-7651-F5DB-56794B79A56F}"/>
              </a:ext>
            </a:extLst>
          </p:cNvPr>
          <p:cNvSpPr>
            <a:spLocks noGrp="1"/>
          </p:cNvSpPr>
          <p:nvPr>
            <p:ph type="title" hasCustomPrompt="1"/>
          </p:nvPr>
        </p:nvSpPr>
        <p:spPr>
          <a:xfrm>
            <a:off x="1772019"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spTree>
    <p:extLst>
      <p:ext uri="{BB962C8B-B14F-4D97-AF65-F5344CB8AC3E}">
        <p14:creationId xmlns:p14="http://schemas.microsoft.com/office/powerpoint/2010/main" val="151398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Section Break 1">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285F301C-DF95-F04C-9BB1-6CB11A42E5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tx2"/>
          </a:solidFill>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6340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34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361906359"/>
      </p:ext>
    </p:extLst>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2_Title, content, 2 product sho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343D34-2985-6945-880C-AA462C6FB5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15" name="Content Placeholder 2">
            <a:extLst>
              <a:ext uri="{FF2B5EF4-FFF2-40B4-BE49-F238E27FC236}">
                <a16:creationId xmlns:a16="http://schemas.microsoft.com/office/drawing/2014/main" id="{79CB31D3-CECA-E74D-B817-7ECE334BA708}"/>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2" name="Freeform 11">
            <a:extLst>
              <a:ext uri="{FF2B5EF4-FFF2-40B4-BE49-F238E27FC236}">
                <a16:creationId xmlns:a16="http://schemas.microsoft.com/office/drawing/2014/main" id="{E5EC75C4-121E-0C48-92AC-6E2D61207B3B}"/>
              </a:ext>
            </a:extLst>
          </p:cNvPr>
          <p:cNvSpPr/>
          <p:nvPr userDrawn="1"/>
        </p:nvSpPr>
        <p:spPr>
          <a:xfrm>
            <a:off x="6096002" y="1113133"/>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13" name="Freeform 12">
            <a:extLst>
              <a:ext uri="{FF2B5EF4-FFF2-40B4-BE49-F238E27FC236}">
                <a16:creationId xmlns:a16="http://schemas.microsoft.com/office/drawing/2014/main" id="{19321C0C-E532-E642-83FA-39A6F970EB23}"/>
              </a:ext>
            </a:extLst>
          </p:cNvPr>
          <p:cNvSpPr/>
          <p:nvPr userDrawn="1"/>
        </p:nvSpPr>
        <p:spPr>
          <a:xfrm>
            <a:off x="7790005" y="3692405"/>
            <a:ext cx="3817249" cy="2324160"/>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a:p>
        </p:txBody>
      </p:sp>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6085841" y="1103207"/>
            <a:ext cx="3817249" cy="2324471"/>
          </a:xfrm>
          <a:prstGeom prst="roundRect">
            <a:avLst>
              <a:gd name="adj" fmla="val 2655"/>
            </a:avLst>
          </a:prstGeom>
        </p:spPr>
        <p:txBody>
          <a:bodyPr/>
          <a:lstStyle>
            <a:lvl1pPr marL="0" indent="0">
              <a:buNone/>
              <a:defRPr>
                <a:solidFill>
                  <a:schemeClr val="bg2"/>
                </a:solidFill>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781335" y="3686626"/>
            <a:ext cx="3817249" cy="2320188"/>
          </a:xfrm>
          <a:prstGeom prst="roundRect">
            <a:avLst>
              <a:gd name="adj" fmla="val 2655"/>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2570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Title Slide 26">
    <p:spTree>
      <p:nvGrpSpPr>
        <p:cNvPr id="1" name=""/>
        <p:cNvGrpSpPr/>
        <p:nvPr/>
      </p:nvGrpSpPr>
      <p:grpSpPr>
        <a:xfrm>
          <a:off x="0" y="0"/>
          <a:ext cx="0" cy="0"/>
          <a:chOff x="0" y="0"/>
          <a:chExt cx="0" cy="0"/>
        </a:xfrm>
      </p:grpSpPr>
      <p:pic>
        <p:nvPicPr>
          <p:cNvPr id="7" name="Google Shape;1654;gd70c189f50_2_356">
            <a:extLst>
              <a:ext uri="{FF2B5EF4-FFF2-40B4-BE49-F238E27FC236}">
                <a16:creationId xmlns:a16="http://schemas.microsoft.com/office/drawing/2014/main" id="{4207247D-2C7F-6440-957A-E466DE645AE0}"/>
              </a:ext>
            </a:extLst>
          </p:cNvPr>
          <p:cNvPicPr preferRelativeResize="0"/>
          <p:nvPr userDrawn="1"/>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a:noFill/>
          <a:ln>
            <a:noFill/>
          </a:ln>
        </p:spPr>
      </p:pic>
      <p:sp>
        <p:nvSpPr>
          <p:cNvPr id="10" name="Title 1">
            <a:extLst>
              <a:ext uri="{FF2B5EF4-FFF2-40B4-BE49-F238E27FC236}">
                <a16:creationId xmlns:a16="http://schemas.microsoft.com/office/drawing/2014/main" id="{4C815DF7-8386-0946-8931-73C0543A949F}"/>
              </a:ext>
            </a:extLst>
          </p:cNvPr>
          <p:cNvSpPr>
            <a:spLocks noGrp="1"/>
          </p:cNvSpPr>
          <p:nvPr>
            <p:ph type="title"/>
          </p:nvPr>
        </p:nvSpPr>
        <p:spPr>
          <a:xfrm>
            <a:off x="599861" y="3100285"/>
            <a:ext cx="6361433" cy="861775"/>
          </a:xfrm>
          <a:prstGeom prst="rect">
            <a:avLst/>
          </a:prstGeom>
        </p:spPr>
        <p:txBody>
          <a:bodyPr lIns="0" anchor="b"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a:t>
            </a:r>
          </a:p>
        </p:txBody>
      </p:sp>
      <p:sp>
        <p:nvSpPr>
          <p:cNvPr id="11" name="Subtitle 2">
            <a:extLst>
              <a:ext uri="{FF2B5EF4-FFF2-40B4-BE49-F238E27FC236}">
                <a16:creationId xmlns:a16="http://schemas.microsoft.com/office/drawing/2014/main" id="{B5787527-2FA2-7048-B0B0-12D83D29155C}"/>
              </a:ext>
            </a:extLst>
          </p:cNvPr>
          <p:cNvSpPr>
            <a:spLocks noGrp="1"/>
          </p:cNvSpPr>
          <p:nvPr>
            <p:ph type="subTitle" idx="1"/>
          </p:nvPr>
        </p:nvSpPr>
        <p:spPr>
          <a:xfrm>
            <a:off x="599860" y="4138732"/>
            <a:ext cx="5827408" cy="461665"/>
          </a:xfrm>
          <a:prstGeom prst="rect">
            <a:avLst/>
          </a:prstGeom>
        </p:spPr>
        <p:txBody>
          <a:bodyPr lIns="0">
            <a:sp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8" name="Picture 10">
            <a:extLst>
              <a:ext uri="{FF2B5EF4-FFF2-40B4-BE49-F238E27FC236}">
                <a16:creationId xmlns:a16="http://schemas.microsoft.com/office/drawing/2014/main" id="{90001B32-A3AB-5847-AACE-114270C04D6B}"/>
              </a:ext>
            </a:extLst>
          </p:cNvPr>
          <p:cNvSpPr/>
          <p:nvPr userDrawn="1"/>
        </p:nvSpPr>
        <p:spPr>
          <a:xfrm>
            <a:off x="650817" y="559540"/>
            <a:ext cx="1385940" cy="293123"/>
          </a:xfrm>
          <a:custGeom>
            <a:avLst/>
            <a:gdLst>
              <a:gd name="connsiteX0" fmla="*/ 356592 w 1039455"/>
              <a:gd name="connsiteY0" fmla="*/ 90063 h 219842"/>
              <a:gd name="connsiteX1" fmla="*/ 356592 w 1039455"/>
              <a:gd name="connsiteY1" fmla="*/ 177625 h 219842"/>
              <a:gd name="connsiteX2" fmla="*/ 318059 w 1039455"/>
              <a:gd name="connsiteY2" fmla="*/ 177625 h 219842"/>
              <a:gd name="connsiteX3" fmla="*/ 318059 w 1039455"/>
              <a:gd name="connsiteY3" fmla="*/ 101947 h 219842"/>
              <a:gd name="connsiteX4" fmla="*/ 294686 w 1039455"/>
              <a:gd name="connsiteY4" fmla="*/ 74427 h 219842"/>
              <a:gd name="connsiteX5" fmla="*/ 270682 w 1039455"/>
              <a:gd name="connsiteY5" fmla="*/ 101947 h 219842"/>
              <a:gd name="connsiteX6" fmla="*/ 270682 w 1039455"/>
              <a:gd name="connsiteY6" fmla="*/ 177312 h 219842"/>
              <a:gd name="connsiteX7" fmla="*/ 232464 w 1039455"/>
              <a:gd name="connsiteY7" fmla="*/ 177312 h 219842"/>
              <a:gd name="connsiteX8" fmla="*/ 232464 w 1039455"/>
              <a:gd name="connsiteY8" fmla="*/ 42217 h 219842"/>
              <a:gd name="connsiteX9" fmla="*/ 262786 w 1039455"/>
              <a:gd name="connsiteY9" fmla="*/ 42217 h 219842"/>
              <a:gd name="connsiteX10" fmla="*/ 270998 w 1039455"/>
              <a:gd name="connsiteY10" fmla="*/ 61293 h 219842"/>
              <a:gd name="connsiteX11" fmla="*/ 310794 w 1039455"/>
              <a:gd name="connsiteY11" fmla="*/ 39715 h 219842"/>
              <a:gd name="connsiteX12" fmla="*/ 356592 w 1039455"/>
              <a:gd name="connsiteY12" fmla="*/ 90063 h 219842"/>
              <a:gd name="connsiteX13" fmla="*/ 75172 w 1039455"/>
              <a:gd name="connsiteY13" fmla="*/ 0 h 219842"/>
              <a:gd name="connsiteX14" fmla="*/ 0 w 1039455"/>
              <a:gd name="connsiteY14" fmla="*/ 177312 h 219842"/>
              <a:gd name="connsiteX15" fmla="*/ 52115 w 1039455"/>
              <a:gd name="connsiteY15" fmla="*/ 177312 h 219842"/>
              <a:gd name="connsiteX16" fmla="*/ 127287 w 1039455"/>
              <a:gd name="connsiteY16" fmla="*/ 0 h 219842"/>
              <a:gd name="connsiteX17" fmla="*/ 75172 w 1039455"/>
              <a:gd name="connsiteY17" fmla="*/ 0 h 219842"/>
              <a:gd name="connsiteX18" fmla="*/ 150660 w 1039455"/>
              <a:gd name="connsiteY18" fmla="*/ 40028 h 219842"/>
              <a:gd name="connsiteX19" fmla="*/ 123497 w 1039455"/>
              <a:gd name="connsiteY19" fmla="*/ 106012 h 219842"/>
              <a:gd name="connsiteX20" fmla="*/ 178770 w 1039455"/>
              <a:gd name="connsiteY20" fmla="*/ 106012 h 219842"/>
              <a:gd name="connsiteX21" fmla="*/ 150660 w 1039455"/>
              <a:gd name="connsiteY21" fmla="*/ 40028 h 219842"/>
              <a:gd name="connsiteX22" fmla="*/ 136131 w 1039455"/>
              <a:gd name="connsiteY22" fmla="*/ 136971 h 219842"/>
              <a:gd name="connsiteX23" fmla="*/ 153502 w 1039455"/>
              <a:gd name="connsiteY23" fmla="*/ 177625 h 219842"/>
              <a:gd name="connsiteX24" fmla="*/ 209407 w 1039455"/>
              <a:gd name="connsiteY24" fmla="*/ 177625 h 219842"/>
              <a:gd name="connsiteX25" fmla="*/ 192036 w 1039455"/>
              <a:gd name="connsiteY25" fmla="*/ 136971 h 219842"/>
              <a:gd name="connsiteX26" fmla="*/ 136131 w 1039455"/>
              <a:gd name="connsiteY26" fmla="*/ 136971 h 219842"/>
              <a:gd name="connsiteX27" fmla="*/ 489880 w 1039455"/>
              <a:gd name="connsiteY27" fmla="*/ 55977 h 219842"/>
              <a:gd name="connsiteX28" fmla="*/ 504409 w 1039455"/>
              <a:gd name="connsiteY28" fmla="*/ 99132 h 219842"/>
              <a:gd name="connsiteX29" fmla="*/ 504409 w 1039455"/>
              <a:gd name="connsiteY29" fmla="*/ 177312 h 219842"/>
              <a:gd name="connsiteX30" fmla="*/ 473456 w 1039455"/>
              <a:gd name="connsiteY30" fmla="*/ 177312 h 219842"/>
              <a:gd name="connsiteX31" fmla="*/ 467139 w 1039455"/>
              <a:gd name="connsiteY31" fmla="*/ 162614 h 219842"/>
              <a:gd name="connsiteX32" fmla="*/ 426079 w 1039455"/>
              <a:gd name="connsiteY32" fmla="*/ 179814 h 219842"/>
              <a:gd name="connsiteX33" fmla="*/ 379649 w 1039455"/>
              <a:gd name="connsiteY33" fmla="*/ 138535 h 219842"/>
              <a:gd name="connsiteX34" fmla="*/ 379649 w 1039455"/>
              <a:gd name="connsiteY34" fmla="*/ 137910 h 219842"/>
              <a:gd name="connsiteX35" fmla="*/ 434291 w 1039455"/>
              <a:gd name="connsiteY35" fmla="*/ 94754 h 219842"/>
              <a:gd name="connsiteX36" fmla="*/ 467455 w 1039455"/>
              <a:gd name="connsiteY36" fmla="*/ 100383 h 219842"/>
              <a:gd name="connsiteX37" fmla="*/ 467455 w 1039455"/>
              <a:gd name="connsiteY37" fmla="*/ 98194 h 219842"/>
              <a:gd name="connsiteX38" fmla="*/ 438397 w 1039455"/>
              <a:gd name="connsiteY38" fmla="*/ 73489 h 219842"/>
              <a:gd name="connsiteX39" fmla="*/ 403338 w 1039455"/>
              <a:gd name="connsiteY39" fmla="*/ 80056 h 219842"/>
              <a:gd name="connsiteX40" fmla="*/ 391336 w 1039455"/>
              <a:gd name="connsiteY40" fmla="*/ 51599 h 219842"/>
              <a:gd name="connsiteX41" fmla="*/ 443767 w 1039455"/>
              <a:gd name="connsiteY41" fmla="*/ 40654 h 219842"/>
              <a:gd name="connsiteX42" fmla="*/ 489880 w 1039455"/>
              <a:gd name="connsiteY42" fmla="*/ 55977 h 219842"/>
              <a:gd name="connsiteX43" fmla="*/ 468087 w 1039455"/>
              <a:gd name="connsiteY43" fmla="*/ 122899 h 219842"/>
              <a:gd name="connsiteX44" fmla="*/ 443451 w 1039455"/>
              <a:gd name="connsiteY44" fmla="*/ 117895 h 219842"/>
              <a:gd name="connsiteX45" fmla="*/ 416919 w 1039455"/>
              <a:gd name="connsiteY45" fmla="*/ 136659 h 219842"/>
              <a:gd name="connsiteX46" fmla="*/ 416919 w 1039455"/>
              <a:gd name="connsiteY46" fmla="*/ 136971 h 219842"/>
              <a:gd name="connsiteX47" fmla="*/ 437765 w 1039455"/>
              <a:gd name="connsiteY47" fmla="*/ 153233 h 219842"/>
              <a:gd name="connsiteX48" fmla="*/ 467771 w 1039455"/>
              <a:gd name="connsiteY48" fmla="*/ 129466 h 219842"/>
              <a:gd name="connsiteX49" fmla="*/ 467771 w 1039455"/>
              <a:gd name="connsiteY49" fmla="*/ 122899 h 219842"/>
              <a:gd name="connsiteX50" fmla="*/ 676547 w 1039455"/>
              <a:gd name="connsiteY50" fmla="*/ 109765 h 219842"/>
              <a:gd name="connsiteX51" fmla="*/ 676547 w 1039455"/>
              <a:gd name="connsiteY51" fmla="*/ 110390 h 219842"/>
              <a:gd name="connsiteX52" fmla="*/ 614956 w 1039455"/>
              <a:gd name="connsiteY52" fmla="*/ 180127 h 219842"/>
              <a:gd name="connsiteX53" fmla="*/ 572632 w 1039455"/>
              <a:gd name="connsiteY53" fmla="*/ 160113 h 219842"/>
              <a:gd name="connsiteX54" fmla="*/ 572632 w 1039455"/>
              <a:gd name="connsiteY54" fmla="*/ 219842 h 219842"/>
              <a:gd name="connsiteX55" fmla="*/ 534099 w 1039455"/>
              <a:gd name="connsiteY55" fmla="*/ 219842 h 219842"/>
              <a:gd name="connsiteX56" fmla="*/ 534099 w 1039455"/>
              <a:gd name="connsiteY56" fmla="*/ 42217 h 219842"/>
              <a:gd name="connsiteX57" fmla="*/ 564420 w 1039455"/>
              <a:gd name="connsiteY57" fmla="*/ 42217 h 219842"/>
              <a:gd name="connsiteX58" fmla="*/ 572632 w 1039455"/>
              <a:gd name="connsiteY58" fmla="*/ 61606 h 219842"/>
              <a:gd name="connsiteX59" fmla="*/ 614956 w 1039455"/>
              <a:gd name="connsiteY59" fmla="*/ 39715 h 219842"/>
              <a:gd name="connsiteX60" fmla="*/ 676547 w 1039455"/>
              <a:gd name="connsiteY60" fmla="*/ 109765 h 219842"/>
              <a:gd name="connsiteX61" fmla="*/ 638013 w 1039455"/>
              <a:gd name="connsiteY61" fmla="*/ 109765 h 219842"/>
              <a:gd name="connsiteX62" fmla="*/ 604849 w 1039455"/>
              <a:gd name="connsiteY62" fmla="*/ 72551 h 219842"/>
              <a:gd name="connsiteX63" fmla="*/ 572001 w 1039455"/>
              <a:gd name="connsiteY63" fmla="*/ 109765 h 219842"/>
              <a:gd name="connsiteX64" fmla="*/ 572001 w 1039455"/>
              <a:gd name="connsiteY64" fmla="*/ 110390 h 219842"/>
              <a:gd name="connsiteX65" fmla="*/ 604849 w 1039455"/>
              <a:gd name="connsiteY65" fmla="*/ 147604 h 219842"/>
              <a:gd name="connsiteX66" fmla="*/ 638013 w 1039455"/>
              <a:gd name="connsiteY66" fmla="*/ 110390 h 219842"/>
              <a:gd name="connsiteX67" fmla="*/ 638013 w 1039455"/>
              <a:gd name="connsiteY67" fmla="*/ 109765 h 219842"/>
              <a:gd name="connsiteX68" fmla="*/ 993342 w 1039455"/>
              <a:gd name="connsiteY68" fmla="*/ 39715 h 219842"/>
              <a:gd name="connsiteX69" fmla="*/ 953545 w 1039455"/>
              <a:gd name="connsiteY69" fmla="*/ 61293 h 219842"/>
              <a:gd name="connsiteX70" fmla="*/ 945333 w 1039455"/>
              <a:gd name="connsiteY70" fmla="*/ 42217 h 219842"/>
              <a:gd name="connsiteX71" fmla="*/ 915012 w 1039455"/>
              <a:gd name="connsiteY71" fmla="*/ 42217 h 219842"/>
              <a:gd name="connsiteX72" fmla="*/ 915012 w 1039455"/>
              <a:gd name="connsiteY72" fmla="*/ 177312 h 219842"/>
              <a:gd name="connsiteX73" fmla="*/ 953545 w 1039455"/>
              <a:gd name="connsiteY73" fmla="*/ 177312 h 219842"/>
              <a:gd name="connsiteX74" fmla="*/ 953545 w 1039455"/>
              <a:gd name="connsiteY74" fmla="*/ 101947 h 219842"/>
              <a:gd name="connsiteX75" fmla="*/ 977550 w 1039455"/>
              <a:gd name="connsiteY75" fmla="*/ 74427 h 219842"/>
              <a:gd name="connsiteX76" fmla="*/ 1000922 w 1039455"/>
              <a:gd name="connsiteY76" fmla="*/ 101947 h 219842"/>
              <a:gd name="connsiteX77" fmla="*/ 1000922 w 1039455"/>
              <a:gd name="connsiteY77" fmla="*/ 177312 h 219842"/>
              <a:gd name="connsiteX78" fmla="*/ 1039456 w 1039455"/>
              <a:gd name="connsiteY78" fmla="*/ 177312 h 219842"/>
              <a:gd name="connsiteX79" fmla="*/ 1039456 w 1039455"/>
              <a:gd name="connsiteY79" fmla="*/ 89751 h 219842"/>
              <a:gd name="connsiteX80" fmla="*/ 993342 w 1039455"/>
              <a:gd name="connsiteY80" fmla="*/ 39715 h 219842"/>
              <a:gd name="connsiteX81" fmla="*/ 871109 w 1039455"/>
              <a:gd name="connsiteY81" fmla="*/ 55977 h 219842"/>
              <a:gd name="connsiteX82" fmla="*/ 885638 w 1039455"/>
              <a:gd name="connsiteY82" fmla="*/ 99132 h 219842"/>
              <a:gd name="connsiteX83" fmla="*/ 885638 w 1039455"/>
              <a:gd name="connsiteY83" fmla="*/ 177312 h 219842"/>
              <a:gd name="connsiteX84" fmla="*/ 854685 w 1039455"/>
              <a:gd name="connsiteY84" fmla="*/ 177312 h 219842"/>
              <a:gd name="connsiteX85" fmla="*/ 848368 w 1039455"/>
              <a:gd name="connsiteY85" fmla="*/ 162614 h 219842"/>
              <a:gd name="connsiteX86" fmla="*/ 807308 w 1039455"/>
              <a:gd name="connsiteY86" fmla="*/ 179814 h 219842"/>
              <a:gd name="connsiteX87" fmla="*/ 760878 w 1039455"/>
              <a:gd name="connsiteY87" fmla="*/ 138535 h 219842"/>
              <a:gd name="connsiteX88" fmla="*/ 760878 w 1039455"/>
              <a:gd name="connsiteY88" fmla="*/ 137910 h 219842"/>
              <a:gd name="connsiteX89" fmla="*/ 815520 w 1039455"/>
              <a:gd name="connsiteY89" fmla="*/ 94754 h 219842"/>
              <a:gd name="connsiteX90" fmla="*/ 848684 w 1039455"/>
              <a:gd name="connsiteY90" fmla="*/ 100383 h 219842"/>
              <a:gd name="connsiteX91" fmla="*/ 848684 w 1039455"/>
              <a:gd name="connsiteY91" fmla="*/ 98194 h 219842"/>
              <a:gd name="connsiteX92" fmla="*/ 819626 w 1039455"/>
              <a:gd name="connsiteY92" fmla="*/ 73489 h 219842"/>
              <a:gd name="connsiteX93" fmla="*/ 784567 w 1039455"/>
              <a:gd name="connsiteY93" fmla="*/ 80056 h 219842"/>
              <a:gd name="connsiteX94" fmla="*/ 772564 w 1039455"/>
              <a:gd name="connsiteY94" fmla="*/ 51599 h 219842"/>
              <a:gd name="connsiteX95" fmla="*/ 824995 w 1039455"/>
              <a:gd name="connsiteY95" fmla="*/ 40654 h 219842"/>
              <a:gd name="connsiteX96" fmla="*/ 871109 w 1039455"/>
              <a:gd name="connsiteY96" fmla="*/ 55977 h 219842"/>
              <a:gd name="connsiteX97" fmla="*/ 849315 w 1039455"/>
              <a:gd name="connsiteY97" fmla="*/ 122899 h 219842"/>
              <a:gd name="connsiteX98" fmla="*/ 824679 w 1039455"/>
              <a:gd name="connsiteY98" fmla="*/ 117895 h 219842"/>
              <a:gd name="connsiteX99" fmla="*/ 798148 w 1039455"/>
              <a:gd name="connsiteY99" fmla="*/ 136659 h 219842"/>
              <a:gd name="connsiteX100" fmla="*/ 798148 w 1039455"/>
              <a:gd name="connsiteY100" fmla="*/ 136971 h 219842"/>
              <a:gd name="connsiteX101" fmla="*/ 818994 w 1039455"/>
              <a:gd name="connsiteY101" fmla="*/ 153233 h 219842"/>
              <a:gd name="connsiteX102" fmla="*/ 848999 w 1039455"/>
              <a:gd name="connsiteY102" fmla="*/ 129466 h 219842"/>
              <a:gd name="connsiteX103" fmla="*/ 849315 w 1039455"/>
              <a:gd name="connsiteY103" fmla="*/ 122899 h 219842"/>
              <a:gd name="connsiteX104" fmla="*/ 699603 w 1039455"/>
              <a:gd name="connsiteY104" fmla="*/ 177312 h 219842"/>
              <a:gd name="connsiteX105" fmla="*/ 738137 w 1039455"/>
              <a:gd name="connsiteY105" fmla="*/ 177312 h 219842"/>
              <a:gd name="connsiteX106" fmla="*/ 738137 w 1039455"/>
              <a:gd name="connsiteY106" fmla="*/ 0 h 219842"/>
              <a:gd name="connsiteX107" fmla="*/ 699603 w 1039455"/>
              <a:gd name="connsiteY107" fmla="*/ 0 h 219842"/>
              <a:gd name="connsiteX108" fmla="*/ 699603 w 1039455"/>
              <a:gd name="connsiteY108" fmla="*/ 177312 h 219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39455" h="219842">
                <a:moveTo>
                  <a:pt x="356592" y="90063"/>
                </a:moveTo>
                <a:lnTo>
                  <a:pt x="356592" y="177625"/>
                </a:lnTo>
                <a:lnTo>
                  <a:pt x="318059" y="177625"/>
                </a:lnTo>
                <a:lnTo>
                  <a:pt x="318059" y="101947"/>
                </a:lnTo>
                <a:cubicBezTo>
                  <a:pt x="318059" y="83809"/>
                  <a:pt x="309531" y="74427"/>
                  <a:pt x="294686" y="74427"/>
                </a:cubicBezTo>
                <a:cubicBezTo>
                  <a:pt x="279841" y="74427"/>
                  <a:pt x="270682" y="83809"/>
                  <a:pt x="270682" y="101947"/>
                </a:cubicBezTo>
                <a:lnTo>
                  <a:pt x="270682" y="177312"/>
                </a:lnTo>
                <a:lnTo>
                  <a:pt x="232464" y="177312"/>
                </a:lnTo>
                <a:lnTo>
                  <a:pt x="232464" y="42217"/>
                </a:lnTo>
                <a:lnTo>
                  <a:pt x="262786" y="42217"/>
                </a:lnTo>
                <a:lnTo>
                  <a:pt x="270998" y="61293"/>
                </a:lnTo>
                <a:cubicBezTo>
                  <a:pt x="279841" y="50035"/>
                  <a:pt x="291212" y="39715"/>
                  <a:pt x="310794" y="39715"/>
                </a:cubicBezTo>
                <a:cubicBezTo>
                  <a:pt x="339852" y="39715"/>
                  <a:pt x="356908" y="59104"/>
                  <a:pt x="356592" y="90063"/>
                </a:cubicBezTo>
                <a:moveTo>
                  <a:pt x="75172" y="0"/>
                </a:moveTo>
                <a:lnTo>
                  <a:pt x="0" y="177312"/>
                </a:lnTo>
                <a:lnTo>
                  <a:pt x="52115" y="177312"/>
                </a:lnTo>
                <a:lnTo>
                  <a:pt x="127287" y="0"/>
                </a:lnTo>
                <a:lnTo>
                  <a:pt x="75172" y="0"/>
                </a:lnTo>
                <a:close/>
                <a:moveTo>
                  <a:pt x="150660" y="40028"/>
                </a:moveTo>
                <a:lnTo>
                  <a:pt x="123497" y="106012"/>
                </a:lnTo>
                <a:lnTo>
                  <a:pt x="178770" y="106012"/>
                </a:lnTo>
                <a:lnTo>
                  <a:pt x="150660" y="40028"/>
                </a:lnTo>
                <a:close/>
                <a:moveTo>
                  <a:pt x="136131" y="136971"/>
                </a:moveTo>
                <a:lnTo>
                  <a:pt x="153502" y="177625"/>
                </a:lnTo>
                <a:lnTo>
                  <a:pt x="209407" y="177625"/>
                </a:lnTo>
                <a:lnTo>
                  <a:pt x="192036" y="136971"/>
                </a:lnTo>
                <a:lnTo>
                  <a:pt x="136131" y="136971"/>
                </a:lnTo>
                <a:close/>
                <a:moveTo>
                  <a:pt x="489880" y="55977"/>
                </a:moveTo>
                <a:cubicBezTo>
                  <a:pt x="499987" y="65984"/>
                  <a:pt x="504409" y="80994"/>
                  <a:pt x="504409" y="99132"/>
                </a:cubicBezTo>
                <a:lnTo>
                  <a:pt x="504409" y="177312"/>
                </a:lnTo>
                <a:lnTo>
                  <a:pt x="473456" y="177312"/>
                </a:lnTo>
                <a:lnTo>
                  <a:pt x="467139" y="162614"/>
                </a:lnTo>
                <a:cubicBezTo>
                  <a:pt x="457664" y="172934"/>
                  <a:pt x="445030" y="179814"/>
                  <a:pt x="426079" y="179814"/>
                </a:cubicBezTo>
                <a:cubicBezTo>
                  <a:pt x="400495" y="179814"/>
                  <a:pt x="379649" y="165116"/>
                  <a:pt x="379649" y="138535"/>
                </a:cubicBezTo>
                <a:lnTo>
                  <a:pt x="379649" y="137910"/>
                </a:lnTo>
                <a:cubicBezTo>
                  <a:pt x="379649" y="108514"/>
                  <a:pt x="402075" y="94754"/>
                  <a:pt x="434291" y="94754"/>
                </a:cubicBezTo>
                <a:cubicBezTo>
                  <a:pt x="445662" y="94754"/>
                  <a:pt x="456716" y="96630"/>
                  <a:pt x="467455" y="100383"/>
                </a:cubicBezTo>
                <a:lnTo>
                  <a:pt x="467455" y="98194"/>
                </a:lnTo>
                <a:cubicBezTo>
                  <a:pt x="467455" y="82245"/>
                  <a:pt x="457664" y="73489"/>
                  <a:pt x="438397" y="73489"/>
                </a:cubicBezTo>
                <a:cubicBezTo>
                  <a:pt x="426395" y="73489"/>
                  <a:pt x="414708" y="75678"/>
                  <a:pt x="403338" y="80056"/>
                </a:cubicBezTo>
                <a:lnTo>
                  <a:pt x="391336" y="51599"/>
                </a:lnTo>
                <a:cubicBezTo>
                  <a:pt x="406181" y="45032"/>
                  <a:pt x="421025" y="40654"/>
                  <a:pt x="443767" y="40654"/>
                </a:cubicBezTo>
                <a:cubicBezTo>
                  <a:pt x="464928" y="40966"/>
                  <a:pt x="480089" y="46283"/>
                  <a:pt x="489880" y="55977"/>
                </a:cubicBezTo>
                <a:moveTo>
                  <a:pt x="468087" y="122899"/>
                </a:moveTo>
                <a:cubicBezTo>
                  <a:pt x="460506" y="119459"/>
                  <a:pt x="451979" y="117895"/>
                  <a:pt x="443451" y="117895"/>
                </a:cubicBezTo>
                <a:cubicBezTo>
                  <a:pt x="427027" y="117895"/>
                  <a:pt x="416919" y="124463"/>
                  <a:pt x="416919" y="136659"/>
                </a:cubicBezTo>
                <a:lnTo>
                  <a:pt x="416919" y="136971"/>
                </a:lnTo>
                <a:cubicBezTo>
                  <a:pt x="416919" y="147291"/>
                  <a:pt x="425447" y="153233"/>
                  <a:pt x="437765" y="153233"/>
                </a:cubicBezTo>
                <a:cubicBezTo>
                  <a:pt x="455769" y="153233"/>
                  <a:pt x="467771" y="143538"/>
                  <a:pt x="467771" y="129466"/>
                </a:cubicBezTo>
                <a:lnTo>
                  <a:pt x="467771" y="122899"/>
                </a:lnTo>
                <a:close/>
                <a:moveTo>
                  <a:pt x="676547" y="109765"/>
                </a:moveTo>
                <a:lnTo>
                  <a:pt x="676547" y="110390"/>
                </a:lnTo>
                <a:cubicBezTo>
                  <a:pt x="676547" y="155422"/>
                  <a:pt x="646857" y="180127"/>
                  <a:pt x="614956" y="180127"/>
                </a:cubicBezTo>
                <a:cubicBezTo>
                  <a:pt x="594426" y="180127"/>
                  <a:pt x="581792" y="170745"/>
                  <a:pt x="572632" y="160113"/>
                </a:cubicBezTo>
                <a:lnTo>
                  <a:pt x="572632" y="219842"/>
                </a:lnTo>
                <a:lnTo>
                  <a:pt x="534099" y="219842"/>
                </a:lnTo>
                <a:lnTo>
                  <a:pt x="534099" y="42217"/>
                </a:lnTo>
                <a:lnTo>
                  <a:pt x="564420" y="42217"/>
                </a:lnTo>
                <a:lnTo>
                  <a:pt x="572632" y="61606"/>
                </a:lnTo>
                <a:cubicBezTo>
                  <a:pt x="582108" y="49097"/>
                  <a:pt x="594742" y="39715"/>
                  <a:pt x="614956" y="39715"/>
                </a:cubicBezTo>
                <a:cubicBezTo>
                  <a:pt x="646225" y="39715"/>
                  <a:pt x="676547" y="64420"/>
                  <a:pt x="676547" y="109765"/>
                </a:cubicBezTo>
                <a:moveTo>
                  <a:pt x="638013" y="109765"/>
                </a:moveTo>
                <a:cubicBezTo>
                  <a:pt x="638013" y="87249"/>
                  <a:pt x="622852" y="72551"/>
                  <a:pt x="604849" y="72551"/>
                </a:cubicBezTo>
                <a:cubicBezTo>
                  <a:pt x="586846" y="72551"/>
                  <a:pt x="572001" y="87562"/>
                  <a:pt x="572001" y="109765"/>
                </a:cubicBezTo>
                <a:lnTo>
                  <a:pt x="572001" y="110390"/>
                </a:lnTo>
                <a:cubicBezTo>
                  <a:pt x="572001" y="132906"/>
                  <a:pt x="586846" y="147604"/>
                  <a:pt x="604849" y="147604"/>
                </a:cubicBezTo>
                <a:cubicBezTo>
                  <a:pt x="622852" y="147604"/>
                  <a:pt x="638013" y="132906"/>
                  <a:pt x="638013" y="110390"/>
                </a:cubicBezTo>
                <a:lnTo>
                  <a:pt x="638013" y="109765"/>
                </a:lnTo>
                <a:close/>
                <a:moveTo>
                  <a:pt x="993342" y="39715"/>
                </a:moveTo>
                <a:cubicBezTo>
                  <a:pt x="973759" y="39715"/>
                  <a:pt x="962389" y="50035"/>
                  <a:pt x="953545" y="61293"/>
                </a:cubicBezTo>
                <a:lnTo>
                  <a:pt x="945333" y="42217"/>
                </a:lnTo>
                <a:lnTo>
                  <a:pt x="915012" y="42217"/>
                </a:lnTo>
                <a:lnTo>
                  <a:pt x="915012" y="177312"/>
                </a:lnTo>
                <a:lnTo>
                  <a:pt x="953545" y="177312"/>
                </a:lnTo>
                <a:lnTo>
                  <a:pt x="953545" y="101947"/>
                </a:lnTo>
                <a:cubicBezTo>
                  <a:pt x="953545" y="83809"/>
                  <a:pt x="963021" y="74427"/>
                  <a:pt x="977550" y="74427"/>
                </a:cubicBezTo>
                <a:cubicBezTo>
                  <a:pt x="992079" y="74427"/>
                  <a:pt x="1000922" y="83809"/>
                  <a:pt x="1000922" y="101947"/>
                </a:cubicBezTo>
                <a:lnTo>
                  <a:pt x="1000922" y="177312"/>
                </a:lnTo>
                <a:lnTo>
                  <a:pt x="1039456" y="177312"/>
                </a:lnTo>
                <a:lnTo>
                  <a:pt x="1039456" y="89751"/>
                </a:lnTo>
                <a:cubicBezTo>
                  <a:pt x="1039456" y="59104"/>
                  <a:pt x="1022400" y="39715"/>
                  <a:pt x="993342" y="39715"/>
                </a:cubicBezTo>
                <a:moveTo>
                  <a:pt x="871109" y="55977"/>
                </a:moveTo>
                <a:cubicBezTo>
                  <a:pt x="881216" y="65984"/>
                  <a:pt x="885638" y="80994"/>
                  <a:pt x="885638" y="99132"/>
                </a:cubicBezTo>
                <a:lnTo>
                  <a:pt x="885638" y="177312"/>
                </a:lnTo>
                <a:lnTo>
                  <a:pt x="854685" y="177312"/>
                </a:lnTo>
                <a:lnTo>
                  <a:pt x="848368" y="162614"/>
                </a:lnTo>
                <a:cubicBezTo>
                  <a:pt x="838892" y="172934"/>
                  <a:pt x="826258" y="179814"/>
                  <a:pt x="807308" y="179814"/>
                </a:cubicBezTo>
                <a:cubicBezTo>
                  <a:pt x="781724" y="179814"/>
                  <a:pt x="760878" y="165116"/>
                  <a:pt x="760878" y="138535"/>
                </a:cubicBezTo>
                <a:lnTo>
                  <a:pt x="760878" y="137910"/>
                </a:lnTo>
                <a:cubicBezTo>
                  <a:pt x="760878" y="108514"/>
                  <a:pt x="783303" y="94754"/>
                  <a:pt x="815520" y="94754"/>
                </a:cubicBezTo>
                <a:cubicBezTo>
                  <a:pt x="826890" y="94754"/>
                  <a:pt x="837945" y="96630"/>
                  <a:pt x="848684" y="100383"/>
                </a:cubicBezTo>
                <a:lnTo>
                  <a:pt x="848684" y="98194"/>
                </a:lnTo>
                <a:cubicBezTo>
                  <a:pt x="848684" y="82245"/>
                  <a:pt x="838892" y="73489"/>
                  <a:pt x="819626" y="73489"/>
                </a:cubicBezTo>
                <a:cubicBezTo>
                  <a:pt x="807623" y="73489"/>
                  <a:pt x="795937" y="75678"/>
                  <a:pt x="784567" y="80056"/>
                </a:cubicBezTo>
                <a:lnTo>
                  <a:pt x="772564" y="51599"/>
                </a:lnTo>
                <a:cubicBezTo>
                  <a:pt x="787409" y="45032"/>
                  <a:pt x="802254" y="40654"/>
                  <a:pt x="824995" y="40654"/>
                </a:cubicBezTo>
                <a:cubicBezTo>
                  <a:pt x="846473" y="40966"/>
                  <a:pt x="861633" y="46283"/>
                  <a:pt x="871109" y="55977"/>
                </a:cubicBezTo>
                <a:moveTo>
                  <a:pt x="849315" y="122899"/>
                </a:moveTo>
                <a:cubicBezTo>
                  <a:pt x="841735" y="119459"/>
                  <a:pt x="833207" y="117895"/>
                  <a:pt x="824679" y="117895"/>
                </a:cubicBezTo>
                <a:cubicBezTo>
                  <a:pt x="808255" y="117895"/>
                  <a:pt x="798148" y="124463"/>
                  <a:pt x="798148" y="136659"/>
                </a:cubicBezTo>
                <a:lnTo>
                  <a:pt x="798148" y="136971"/>
                </a:lnTo>
                <a:cubicBezTo>
                  <a:pt x="798148" y="147291"/>
                  <a:pt x="806676" y="153233"/>
                  <a:pt x="818994" y="153233"/>
                </a:cubicBezTo>
                <a:cubicBezTo>
                  <a:pt x="836997" y="153233"/>
                  <a:pt x="848999" y="143538"/>
                  <a:pt x="848999" y="129466"/>
                </a:cubicBezTo>
                <a:lnTo>
                  <a:pt x="849315" y="122899"/>
                </a:lnTo>
                <a:close/>
                <a:moveTo>
                  <a:pt x="699603" y="177312"/>
                </a:moveTo>
                <a:lnTo>
                  <a:pt x="738137" y="177312"/>
                </a:lnTo>
                <a:lnTo>
                  <a:pt x="738137" y="0"/>
                </a:lnTo>
                <a:lnTo>
                  <a:pt x="699603" y="0"/>
                </a:lnTo>
                <a:lnTo>
                  <a:pt x="699603" y="177312"/>
                </a:lnTo>
                <a:close/>
              </a:path>
            </a:pathLst>
          </a:custGeom>
          <a:solidFill>
            <a:schemeClr val="bg1"/>
          </a:solidFill>
          <a:ln w="3148" cap="flat">
            <a:noFill/>
            <a:prstDash val="solid"/>
            <a:miter/>
          </a:ln>
        </p:spPr>
        <p:txBody>
          <a:bodyPr rtlCol="0" anchor="ctr"/>
          <a:lstStyle/>
          <a:p>
            <a:endParaRPr lang="en-US" sz="2400"/>
          </a:p>
        </p:txBody>
      </p:sp>
    </p:spTree>
    <p:extLst>
      <p:ext uri="{BB962C8B-B14F-4D97-AF65-F5344CB8AC3E}">
        <p14:creationId xmlns:p14="http://schemas.microsoft.com/office/powerpoint/2010/main" val="419226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Thank you 5">
    <p:spTree>
      <p:nvGrpSpPr>
        <p:cNvPr id="1" name=""/>
        <p:cNvGrpSpPr/>
        <p:nvPr/>
      </p:nvGrpSpPr>
      <p:grpSpPr>
        <a:xfrm>
          <a:off x="0" y="0"/>
          <a:ext cx="0" cy="0"/>
          <a:chOff x="0" y="0"/>
          <a:chExt cx="0" cy="0"/>
        </a:xfrm>
      </p:grpSpPr>
      <p:pic>
        <p:nvPicPr>
          <p:cNvPr id="8" name="Google Shape;1236;gd30994e8e3_1_0">
            <a:extLst>
              <a:ext uri="{FF2B5EF4-FFF2-40B4-BE49-F238E27FC236}">
                <a16:creationId xmlns:a16="http://schemas.microsoft.com/office/drawing/2014/main" id="{0435B369-4DFF-3A44-81C3-E0E32BC7E2F3}"/>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749" y="-3"/>
            <a:ext cx="12213656" cy="6876288"/>
          </a:xfrm>
          <a:prstGeom prst="rect">
            <a:avLst/>
          </a:prstGeom>
          <a:noFill/>
          <a:ln>
            <a:noFill/>
          </a:ln>
        </p:spPr>
      </p:pic>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
        <p:nvSpPr>
          <p:cNvPr id="11" name="TextBox 10">
            <a:extLst>
              <a:ext uri="{FF2B5EF4-FFF2-40B4-BE49-F238E27FC236}">
                <a16:creationId xmlns:a16="http://schemas.microsoft.com/office/drawing/2014/main" id="{2FD3EA3D-67CA-C741-8D24-ACF2AA714174}"/>
              </a:ext>
            </a:extLst>
          </p:cNvPr>
          <p:cNvSpPr txBox="1"/>
          <p:nvPr userDrawn="1"/>
        </p:nvSpPr>
        <p:spPr>
          <a:xfrm>
            <a:off x="1774480" y="2792261"/>
            <a:ext cx="8643041" cy="1200329"/>
          </a:xfrm>
          <a:prstGeom prst="rect">
            <a:avLst/>
          </a:prstGeom>
          <a:noFill/>
        </p:spPr>
        <p:txBody>
          <a:bodyPr wrap="square" rtlCol="0" anchor="ctr">
            <a:spAutoFit/>
          </a:bodyPr>
          <a:lstStyle/>
          <a:p>
            <a:pPr algn="ctr" defTabSz="1219170" rtl="0" eaLnBrk="1" latinLnBrk="0" hangingPunct="1">
              <a:spcBef>
                <a:spcPct val="0"/>
              </a:spcBef>
              <a:buNone/>
            </a:pPr>
            <a:r>
              <a:rPr lang="en-US" sz="7200" b="1" i="0" kern="1200" noProof="0">
                <a:solidFill>
                  <a:schemeClr val="tx2"/>
                </a:solidFill>
                <a:latin typeface="Arial" panose="020B0604020202020204" pitchFamily="34" charset="0"/>
                <a:ea typeface="Verdana" charset="0"/>
                <a:cs typeface="Arial" panose="020B0604020202020204" pitchFamily="34" charset="0"/>
              </a:rPr>
              <a:t>Thank you!</a:t>
            </a:r>
            <a:endParaRPr lang="en-US" sz="7200" b="1" i="0" kern="120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1334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1_Title, content, image holder 1">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660F2-B19C-D348-A308-B2F694C6B297}"/>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A153D9F9-5E97-AA41-AF0F-C7537D29493B}"/>
              </a:ext>
            </a:extLst>
          </p:cNvPr>
          <p:cNvSpPr>
            <a:spLocks noGrp="1"/>
          </p:cNvSpPr>
          <p:nvPr>
            <p:ph type="title" hasCustomPrompt="1"/>
          </p:nvPr>
        </p:nvSpPr>
        <p:spPr>
          <a:xfrm>
            <a:off x="615101" y="392853"/>
            <a:ext cx="8381119"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Picture Placeholder 43">
            <a:extLst>
              <a:ext uri="{FF2B5EF4-FFF2-40B4-BE49-F238E27FC236}">
                <a16:creationId xmlns:a16="http://schemas.microsoft.com/office/drawing/2014/main" id="{33DD9F74-CA8B-FC4C-902C-67C1BB45DC5D}"/>
              </a:ext>
            </a:extLst>
          </p:cNvPr>
          <p:cNvSpPr>
            <a:spLocks noGrp="1"/>
          </p:cNvSpPr>
          <p:nvPr>
            <p:ph type="pic" sz="quarter" idx="11"/>
          </p:nvPr>
        </p:nvSpPr>
        <p:spPr>
          <a:xfrm>
            <a:off x="5546792" y="-2"/>
            <a:ext cx="6660448" cy="6858003"/>
          </a:xfrm>
          <a:custGeom>
            <a:avLst/>
            <a:gdLst>
              <a:gd name="connsiteX0" fmla="*/ 3039449 w 4995336"/>
              <a:gd name="connsiteY0" fmla="*/ 0 h 5143502"/>
              <a:gd name="connsiteX1" fmla="*/ 3700085 w 4995336"/>
              <a:gd name="connsiteY1" fmla="*/ 0 h 5143502"/>
              <a:gd name="connsiteX2" fmla="*/ 3700085 w 4995336"/>
              <a:gd name="connsiteY2" fmla="*/ 0 h 5143502"/>
              <a:gd name="connsiteX3" fmla="*/ 4992726 w 4995336"/>
              <a:gd name="connsiteY3" fmla="*/ 0 h 5143502"/>
              <a:gd name="connsiteX4" fmla="*/ 4992726 w 4995336"/>
              <a:gd name="connsiteY4" fmla="*/ 141673 h 5143502"/>
              <a:gd name="connsiteX5" fmla="*/ 4992726 w 4995336"/>
              <a:gd name="connsiteY5" fmla="*/ 2155824 h 5143502"/>
              <a:gd name="connsiteX6" fmla="*/ 4992726 w 4995336"/>
              <a:gd name="connsiteY6" fmla="*/ 2156347 h 5143502"/>
              <a:gd name="connsiteX7" fmla="*/ 4995336 w 4995336"/>
              <a:gd name="connsiteY7" fmla="*/ 2156347 h 5143502"/>
              <a:gd name="connsiteX8" fmla="*/ 4992726 w 4995336"/>
              <a:gd name="connsiteY8" fmla="*/ 2160766 h 5143502"/>
              <a:gd name="connsiteX9" fmla="*/ 4992726 w 4995336"/>
              <a:gd name="connsiteY9" fmla="*/ 2949920 h 5143502"/>
              <a:gd name="connsiteX10" fmla="*/ 4981840 w 4995336"/>
              <a:gd name="connsiteY10" fmla="*/ 2949920 h 5143502"/>
              <a:gd name="connsiteX11" fmla="*/ 3686223 w 4995336"/>
              <a:gd name="connsiteY11" fmla="*/ 5143502 h 5143502"/>
              <a:gd name="connsiteX12" fmla="*/ 2004710 w 4995336"/>
              <a:gd name="connsiteY12" fmla="*/ 5143502 h 5143502"/>
              <a:gd name="connsiteX13" fmla="*/ 2004712 w 4995336"/>
              <a:gd name="connsiteY13" fmla="*/ 5143499 h 5143502"/>
              <a:gd name="connsiteX14" fmla="*/ 0 w 4995336"/>
              <a:gd name="connsiteY14" fmla="*/ 5143499 h 5143502"/>
              <a:gd name="connsiteX15" fmla="*/ 1760782 w 4995336"/>
              <a:gd name="connsiteY15" fmla="*/ 2162356 h 5143502"/>
              <a:gd name="connsiteX16" fmla="*/ 1757107 w 4995336"/>
              <a:gd name="connsiteY16" fmla="*/ 2162356 h 514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5336" h="5143502">
                <a:moveTo>
                  <a:pt x="3039449" y="0"/>
                </a:moveTo>
                <a:lnTo>
                  <a:pt x="3700085" y="0"/>
                </a:lnTo>
                <a:lnTo>
                  <a:pt x="3700085" y="0"/>
                </a:lnTo>
                <a:lnTo>
                  <a:pt x="4992726" y="0"/>
                </a:lnTo>
                <a:lnTo>
                  <a:pt x="4992726" y="141673"/>
                </a:lnTo>
                <a:lnTo>
                  <a:pt x="4992726" y="2155824"/>
                </a:lnTo>
                <a:lnTo>
                  <a:pt x="4992726" y="2156347"/>
                </a:lnTo>
                <a:lnTo>
                  <a:pt x="4995336" y="2156347"/>
                </a:lnTo>
                <a:lnTo>
                  <a:pt x="4992726" y="2160766"/>
                </a:lnTo>
                <a:lnTo>
                  <a:pt x="4992726" y="2949920"/>
                </a:lnTo>
                <a:lnTo>
                  <a:pt x="4981840" y="2949920"/>
                </a:lnTo>
                <a:lnTo>
                  <a:pt x="3686223" y="5143502"/>
                </a:lnTo>
                <a:lnTo>
                  <a:pt x="2004710" y="5143502"/>
                </a:lnTo>
                <a:lnTo>
                  <a:pt x="2004712" y="5143499"/>
                </a:lnTo>
                <a:lnTo>
                  <a:pt x="0" y="5143499"/>
                </a:lnTo>
                <a:lnTo>
                  <a:pt x="1760782" y="2162356"/>
                </a:lnTo>
                <a:lnTo>
                  <a:pt x="1757107" y="2162356"/>
                </a:lnTo>
                <a:close/>
              </a:path>
            </a:pathLst>
          </a:custGeom>
        </p:spPr>
        <p:txBody>
          <a:bodyPr wrap="square" lIns="2834640" anchor="ctr">
            <a:noAutofit/>
          </a:bodyPr>
          <a:lstStyle>
            <a:lvl1pPr marL="0" indent="0">
              <a:buNone/>
              <a:defRPr/>
            </a:lvl1pPr>
          </a:lstStyle>
          <a:p>
            <a:endParaRPr lang="en-US"/>
          </a:p>
        </p:txBody>
      </p:sp>
    </p:spTree>
    <p:extLst>
      <p:ext uri="{BB962C8B-B14F-4D97-AF65-F5344CB8AC3E}">
        <p14:creationId xmlns:p14="http://schemas.microsoft.com/office/powerpoint/2010/main" val="362711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Title, content, image holder 4">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A1463811-5AA4-3A49-B357-D249FC151574}"/>
              </a:ext>
            </a:extLst>
          </p:cNvPr>
          <p:cNvSpPr>
            <a:spLocks noGrp="1"/>
          </p:cNvSpPr>
          <p:nvPr>
            <p:ph sz="half" idx="12"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6" name="Picture Placeholder 4">
            <a:extLst>
              <a:ext uri="{FF2B5EF4-FFF2-40B4-BE49-F238E27FC236}">
                <a16:creationId xmlns:a16="http://schemas.microsoft.com/office/drawing/2014/main" id="{FC29242A-BD66-744E-9E6C-38FA0AFDE581}"/>
              </a:ext>
            </a:extLst>
          </p:cNvPr>
          <p:cNvSpPr>
            <a:spLocks noGrp="1"/>
          </p:cNvSpPr>
          <p:nvPr>
            <p:ph type="pic" sz="quarter" idx="13"/>
          </p:nvPr>
        </p:nvSpPr>
        <p:spPr>
          <a:xfrm>
            <a:off x="615101" y="1113132"/>
            <a:ext cx="4995780" cy="4622339"/>
          </a:xfrm>
          <a:prstGeom prst="rect">
            <a:avLst/>
          </a:prstGeom>
        </p:spPr>
        <p:txBody>
          <a:bodyPr/>
          <a:lstStyle>
            <a:lvl1pPr marL="0" indent="0">
              <a:buNone/>
              <a:defRPr>
                <a:solidFill>
                  <a:schemeClr val="bg2"/>
                </a:solidFill>
              </a:defRPr>
            </a:lvl1pPr>
          </a:lstStyle>
          <a:p>
            <a:endParaRPr lang="en-US"/>
          </a:p>
        </p:txBody>
      </p:sp>
    </p:spTree>
    <p:extLst>
      <p:ext uri="{BB962C8B-B14F-4D97-AF65-F5344CB8AC3E}">
        <p14:creationId xmlns:p14="http://schemas.microsoft.com/office/powerpoint/2010/main" val="156832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Title, content, image holder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4622339"/>
          </a:xfrm>
          <a:prstGeom prst="rect">
            <a:avLst/>
          </a:prstGeom>
        </p:spPr>
        <p:txBody>
          <a:bodyPr/>
          <a:lstStyle>
            <a:lvl1pPr marL="0" indent="0">
              <a:buNone/>
              <a:defRPr>
                <a:solidFill>
                  <a:schemeClr val="bg2"/>
                </a:solidFill>
              </a:defRPr>
            </a:lvl1pPr>
          </a:lstStyle>
          <a:p>
            <a:endParaRPr lang="en-US"/>
          </a:p>
        </p:txBody>
      </p:sp>
      <p:sp>
        <p:nvSpPr>
          <p:cNvPr id="7" name="Title 1">
            <a:extLst>
              <a:ext uri="{FF2B5EF4-FFF2-40B4-BE49-F238E27FC236}">
                <a16:creationId xmlns:a16="http://schemas.microsoft.com/office/drawing/2014/main" id="{5988E5C9-B71D-3647-8232-510E76B93F3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8" name="Content Placeholder 2">
            <a:extLst>
              <a:ext uri="{FF2B5EF4-FFF2-40B4-BE49-F238E27FC236}">
                <a16:creationId xmlns:a16="http://schemas.microsoft.com/office/drawing/2014/main" id="{96D174C0-ED1E-4D49-A737-207A06B6D73D}"/>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7065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0" y="1113132"/>
            <a:ext cx="5140185" cy="5256323"/>
          </a:xfrm>
          <a:prstGeom prst="rect">
            <a:avLst/>
          </a:prstGeom>
        </p:spPr>
        <p:txBody>
          <a:bodyPr lIns="0" rIns="0">
            <a:normAutofit/>
          </a:bodyPr>
          <a:lstStyle>
            <a:lvl1pPr marL="232828" indent="-232828">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412" indent="-232828">
              <a:buClrTx/>
              <a:tabLst/>
              <a:defRPr sz="2133" b="0" i="0">
                <a:solidFill>
                  <a:schemeClr val="bg2"/>
                </a:solidFill>
                <a:latin typeface="Arial" panose="020B0604020202020204" pitchFamily="34" charset="0"/>
              </a:defRPr>
            </a:lvl2pPr>
            <a:lvl3pPr marL="1449881" indent="-230712">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0" y="1113132"/>
            <a:ext cx="5112499"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74258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_Three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69641BC-23DA-5B48-A57A-6BA72B4C300D}"/>
              </a:ext>
            </a:extLst>
          </p:cNvPr>
          <p:cNvSpPr>
            <a:spLocks noGrp="1"/>
          </p:cNvSpPr>
          <p:nvPr>
            <p:ph idx="14" hasCustomPrompt="1"/>
          </p:nvPr>
        </p:nvSpPr>
        <p:spPr>
          <a:xfrm>
            <a:off x="43519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80887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615101" y="1096438"/>
            <a:ext cx="3509884" cy="5273017"/>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7" name="Title 1">
            <a:extLst>
              <a:ext uri="{FF2B5EF4-FFF2-40B4-BE49-F238E27FC236}">
                <a16:creationId xmlns:a16="http://schemas.microsoft.com/office/drawing/2014/main" id="{FA38BA2F-6D22-4146-8B0C-D1CBAC80E8B3}"/>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54970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615100"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9" name="Content Placeholder 2">
            <a:extLst>
              <a:ext uri="{FF2B5EF4-FFF2-40B4-BE49-F238E27FC236}">
                <a16:creationId xmlns:a16="http://schemas.microsoft.com/office/drawing/2014/main" id="{53F3ECA3-0835-2745-B373-87AC50637E74}"/>
              </a:ext>
            </a:extLst>
          </p:cNvPr>
          <p:cNvSpPr>
            <a:spLocks noGrp="1"/>
          </p:cNvSpPr>
          <p:nvPr>
            <p:ph idx="21" hasCustomPrompt="1"/>
          </p:nvPr>
        </p:nvSpPr>
        <p:spPr>
          <a:xfrm>
            <a:off x="3398896"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0" name="Content Placeholder 2">
            <a:extLst>
              <a:ext uri="{FF2B5EF4-FFF2-40B4-BE49-F238E27FC236}">
                <a16:creationId xmlns:a16="http://schemas.microsoft.com/office/drawing/2014/main" id="{3C00F55E-C9D3-E045-9756-9CF329DED056}"/>
              </a:ext>
            </a:extLst>
          </p:cNvPr>
          <p:cNvSpPr>
            <a:spLocks noGrp="1"/>
          </p:cNvSpPr>
          <p:nvPr>
            <p:ph idx="22" hasCustomPrompt="1"/>
          </p:nvPr>
        </p:nvSpPr>
        <p:spPr>
          <a:xfrm>
            <a:off x="6182692" y="1096437"/>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1" name="Content Placeholder 2">
            <a:extLst>
              <a:ext uri="{FF2B5EF4-FFF2-40B4-BE49-F238E27FC236}">
                <a16:creationId xmlns:a16="http://schemas.microsoft.com/office/drawing/2014/main" id="{3911F0B5-B2C1-0E45-800C-71AFA45D328D}"/>
              </a:ext>
            </a:extLst>
          </p:cNvPr>
          <p:cNvSpPr>
            <a:spLocks noGrp="1"/>
          </p:cNvSpPr>
          <p:nvPr>
            <p:ph idx="23" hasCustomPrompt="1"/>
          </p:nvPr>
        </p:nvSpPr>
        <p:spPr>
          <a:xfrm>
            <a:off x="8966488" y="1096436"/>
            <a:ext cx="2632096" cy="5273019"/>
          </a:xfrm>
          <a:prstGeom prst="rect">
            <a:avLst/>
          </a:prstGeom>
        </p:spPr>
        <p:txBody>
          <a:bodyPr lIns="0" rIns="0"/>
          <a:lstStyle>
            <a:lvl1pPr marL="0" indent="0">
              <a:buClr>
                <a:schemeClr val="accent1"/>
              </a:buClr>
              <a:buFont typeface="Arial" panose="020B0604020202020204" pitchFamily="34" charset="0"/>
              <a:buNone/>
              <a:defRPr b="0" i="0">
                <a:solidFill>
                  <a:schemeClr val="bg2"/>
                </a:solidFill>
                <a:latin typeface="Arial" panose="020B0604020202020204" pitchFamily="34"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12" name="Title 1">
            <a:extLst>
              <a:ext uri="{FF2B5EF4-FFF2-40B4-BE49-F238E27FC236}">
                <a16:creationId xmlns:a16="http://schemas.microsoft.com/office/drawing/2014/main" id="{19FB49E7-FA5D-5E4F-B840-FC696B3D227A}"/>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9482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One Speaker">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FD752A3E-A511-AC48-BFC1-E50F010A9F5B}"/>
              </a:ext>
            </a:extLst>
          </p:cNvPr>
          <p:cNvSpPr>
            <a:spLocks noGrp="1"/>
          </p:cNvSpPr>
          <p:nvPr>
            <p:ph type="pic" sz="quarter" idx="22" hasCustomPrompt="1"/>
          </p:nvPr>
        </p:nvSpPr>
        <p:spPr>
          <a:xfrm>
            <a:off x="5244337" y="5164729"/>
            <a:ext cx="1703327" cy="708683"/>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3" name="Text Placeholder 18">
            <a:extLst>
              <a:ext uri="{FF2B5EF4-FFF2-40B4-BE49-F238E27FC236}">
                <a16:creationId xmlns:a16="http://schemas.microsoft.com/office/drawing/2014/main" id="{DC9B0B80-A388-4541-9D04-324A993BEF1D}"/>
              </a:ext>
            </a:extLst>
          </p:cNvPr>
          <p:cNvSpPr>
            <a:spLocks noGrp="1"/>
          </p:cNvSpPr>
          <p:nvPr>
            <p:ph type="body" sz="quarter" idx="23" hasCustomPrompt="1"/>
          </p:nvPr>
        </p:nvSpPr>
        <p:spPr>
          <a:xfrm>
            <a:off x="4189863" y="4027357"/>
            <a:ext cx="3812275" cy="590179"/>
          </a:xfrm>
          <a:prstGeom prst="rect">
            <a:avLst/>
          </a:prstGeom>
        </p:spPr>
        <p:txBody>
          <a:bodyPr>
            <a:normAutofit/>
          </a:bodyPr>
          <a:lstStyle>
            <a:lvl1pPr marL="0" indent="0" algn="ctr">
              <a:buNone/>
              <a:defRPr sz="2400"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4" name="Text Placeholder 18">
            <a:extLst>
              <a:ext uri="{FF2B5EF4-FFF2-40B4-BE49-F238E27FC236}">
                <a16:creationId xmlns:a16="http://schemas.microsoft.com/office/drawing/2014/main" id="{2B087DF1-BB32-6B4E-8ACF-7FBC96C6853E}"/>
              </a:ext>
            </a:extLst>
          </p:cNvPr>
          <p:cNvSpPr>
            <a:spLocks noGrp="1"/>
          </p:cNvSpPr>
          <p:nvPr>
            <p:ph type="body" sz="quarter" idx="24" hasCustomPrompt="1"/>
          </p:nvPr>
        </p:nvSpPr>
        <p:spPr>
          <a:xfrm>
            <a:off x="4189863" y="4508353"/>
            <a:ext cx="3812275" cy="590180"/>
          </a:xfrm>
          <a:prstGeom prst="rect">
            <a:avLst/>
          </a:prstGeom>
        </p:spPr>
        <p:txBody>
          <a:bodyPr>
            <a:normAutofit/>
          </a:bodyPr>
          <a:lstStyle>
            <a:lvl1pPr marL="0" indent="0" algn="ctr">
              <a:buNone/>
              <a:defRPr sz="1867"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5" name="Picture Placeholder 26">
            <a:extLst>
              <a:ext uri="{FF2B5EF4-FFF2-40B4-BE49-F238E27FC236}">
                <a16:creationId xmlns:a16="http://schemas.microsoft.com/office/drawing/2014/main" id="{44909380-3E53-0B40-9EAE-25ED6349EFE2}"/>
              </a:ext>
            </a:extLst>
          </p:cNvPr>
          <p:cNvSpPr>
            <a:spLocks noGrp="1"/>
          </p:cNvSpPr>
          <p:nvPr>
            <p:ph type="pic" sz="quarter" idx="25" hasCustomPrompt="1"/>
          </p:nvPr>
        </p:nvSpPr>
        <p:spPr>
          <a:xfrm>
            <a:off x="4728134" y="1159022"/>
            <a:ext cx="2735732" cy="2735732"/>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Title 1">
            <a:extLst>
              <a:ext uri="{FF2B5EF4-FFF2-40B4-BE49-F238E27FC236}">
                <a16:creationId xmlns:a16="http://schemas.microsoft.com/office/drawing/2014/main" id="{7E06762F-BE1F-D941-AB0F-7D3F89E2E922}"/>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8427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1_Two Speaker">
    <p:spTree>
      <p:nvGrpSpPr>
        <p:cNvPr id="1" name=""/>
        <p:cNvGrpSpPr/>
        <p:nvPr/>
      </p:nvGrpSpPr>
      <p:grpSpPr>
        <a:xfrm>
          <a:off x="0" y="0"/>
          <a:ext cx="0" cy="0"/>
          <a:chOff x="0" y="0"/>
          <a:chExt cx="0" cy="0"/>
        </a:xfrm>
      </p:grpSpPr>
      <p:sp>
        <p:nvSpPr>
          <p:cNvPr id="34" name="Picture Placeholder 16">
            <a:extLst>
              <a:ext uri="{FF2B5EF4-FFF2-40B4-BE49-F238E27FC236}">
                <a16:creationId xmlns:a16="http://schemas.microsoft.com/office/drawing/2014/main" id="{C26A6BDE-2E66-B847-A5B6-678AC828B943}"/>
              </a:ext>
            </a:extLst>
          </p:cNvPr>
          <p:cNvSpPr>
            <a:spLocks noGrp="1"/>
          </p:cNvSpPr>
          <p:nvPr>
            <p:ph type="pic" sz="quarter" idx="26" hasCustomPrompt="1"/>
          </p:nvPr>
        </p:nvSpPr>
        <p:spPr>
          <a:xfrm>
            <a:off x="7394797"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5" name="Text Placeholder 18">
            <a:extLst>
              <a:ext uri="{FF2B5EF4-FFF2-40B4-BE49-F238E27FC236}">
                <a16:creationId xmlns:a16="http://schemas.microsoft.com/office/drawing/2014/main" id="{79C66229-6B41-0B4C-99A2-5A2DC4520F58}"/>
              </a:ext>
            </a:extLst>
          </p:cNvPr>
          <p:cNvSpPr>
            <a:spLocks noGrp="1"/>
          </p:cNvSpPr>
          <p:nvPr>
            <p:ph type="body" sz="quarter" idx="27" hasCustomPrompt="1"/>
          </p:nvPr>
        </p:nvSpPr>
        <p:spPr>
          <a:xfrm>
            <a:off x="6096000"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6" name="Text Placeholder 18">
            <a:extLst>
              <a:ext uri="{FF2B5EF4-FFF2-40B4-BE49-F238E27FC236}">
                <a16:creationId xmlns:a16="http://schemas.microsoft.com/office/drawing/2014/main" id="{CD9A711F-F891-EF43-B028-FA0F16CB3AE5}"/>
              </a:ext>
            </a:extLst>
          </p:cNvPr>
          <p:cNvSpPr>
            <a:spLocks noGrp="1"/>
          </p:cNvSpPr>
          <p:nvPr>
            <p:ph type="body" sz="quarter" idx="28" hasCustomPrompt="1"/>
          </p:nvPr>
        </p:nvSpPr>
        <p:spPr>
          <a:xfrm>
            <a:off x="6096000"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7" name="Picture Placeholder 26">
            <a:extLst>
              <a:ext uri="{FF2B5EF4-FFF2-40B4-BE49-F238E27FC236}">
                <a16:creationId xmlns:a16="http://schemas.microsoft.com/office/drawing/2014/main" id="{84B56667-BA83-8A4D-858F-C1AAC58E802C}"/>
              </a:ext>
            </a:extLst>
          </p:cNvPr>
          <p:cNvSpPr>
            <a:spLocks noGrp="1"/>
          </p:cNvSpPr>
          <p:nvPr>
            <p:ph type="pic" sz="quarter" idx="29" hasCustomPrompt="1"/>
          </p:nvPr>
        </p:nvSpPr>
        <p:spPr>
          <a:xfrm>
            <a:off x="7080149"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963725" y="4921415"/>
            <a:ext cx="1809104" cy="752692"/>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664928" y="3805058"/>
            <a:ext cx="4406699" cy="605293"/>
          </a:xfrm>
          <a:prstGeom prst="rect">
            <a:avLst/>
          </a:prstGeom>
        </p:spPr>
        <p:txBody>
          <a:bodyPr>
            <a:normAutofit/>
          </a:bodyPr>
          <a:lstStyle>
            <a:lvl1pPr marL="0" indent="0" algn="ctr">
              <a:buNone/>
              <a:defRPr sz="2667"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664928" y="4284831"/>
            <a:ext cx="4406699" cy="479440"/>
          </a:xfrm>
          <a:prstGeom prst="rect">
            <a:avLst/>
          </a:prstGeom>
        </p:spPr>
        <p:txBody>
          <a:bodyPr anchor="ctr">
            <a:normAutofit/>
          </a:bodyPr>
          <a:lstStyle>
            <a:lvl1pPr marL="0" indent="0" algn="ctr">
              <a:buNone/>
              <a:defRPr sz="21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649077" y="1185769"/>
            <a:ext cx="2438400" cy="2438400"/>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18" name="Title 1">
            <a:extLst>
              <a:ext uri="{FF2B5EF4-FFF2-40B4-BE49-F238E27FC236}">
                <a16:creationId xmlns:a16="http://schemas.microsoft.com/office/drawing/2014/main" id="{14864E2B-9A0A-F746-BE6B-6510496C69CC}"/>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65277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hree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212542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151231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151231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204676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519393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458082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458082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511527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823786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762474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762474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815920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84957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1_Four Speaker">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6979A80C-A79E-4F44-9A29-99E97A54EC20}"/>
              </a:ext>
            </a:extLst>
          </p:cNvPr>
          <p:cNvSpPr>
            <a:spLocks noGrp="1"/>
          </p:cNvSpPr>
          <p:nvPr>
            <p:ph type="pic" sz="quarter" idx="30" hasCustomPrompt="1"/>
          </p:nvPr>
        </p:nvSpPr>
        <p:spPr>
          <a:xfrm>
            <a:off x="92637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11" name="Text Placeholder 18">
            <a:extLst>
              <a:ext uri="{FF2B5EF4-FFF2-40B4-BE49-F238E27FC236}">
                <a16:creationId xmlns:a16="http://schemas.microsoft.com/office/drawing/2014/main" id="{15DD3A09-D950-BD47-B0D7-92E416E9A7E7}"/>
              </a:ext>
            </a:extLst>
          </p:cNvPr>
          <p:cNvSpPr>
            <a:spLocks noGrp="1"/>
          </p:cNvSpPr>
          <p:nvPr>
            <p:ph type="body" sz="quarter" idx="31" hasCustomPrompt="1"/>
          </p:nvPr>
        </p:nvSpPr>
        <p:spPr>
          <a:xfrm>
            <a:off x="31326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12" name="Text Placeholder 18">
            <a:extLst>
              <a:ext uri="{FF2B5EF4-FFF2-40B4-BE49-F238E27FC236}">
                <a16:creationId xmlns:a16="http://schemas.microsoft.com/office/drawing/2014/main" id="{1186E754-3513-5A40-8636-3D340260AB83}"/>
              </a:ext>
            </a:extLst>
          </p:cNvPr>
          <p:cNvSpPr>
            <a:spLocks noGrp="1"/>
          </p:cNvSpPr>
          <p:nvPr>
            <p:ph type="body" sz="quarter" idx="32" hasCustomPrompt="1"/>
          </p:nvPr>
        </p:nvSpPr>
        <p:spPr>
          <a:xfrm>
            <a:off x="31326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13" name="Picture Placeholder 26">
            <a:extLst>
              <a:ext uri="{FF2B5EF4-FFF2-40B4-BE49-F238E27FC236}">
                <a16:creationId xmlns:a16="http://schemas.microsoft.com/office/drawing/2014/main" id="{15AB822E-7901-CA4C-9208-43D0D55FECA4}"/>
              </a:ext>
            </a:extLst>
          </p:cNvPr>
          <p:cNvSpPr>
            <a:spLocks noGrp="1"/>
          </p:cNvSpPr>
          <p:nvPr>
            <p:ph type="pic" sz="quarter" idx="33" hasCustomPrompt="1"/>
          </p:nvPr>
        </p:nvSpPr>
        <p:spPr>
          <a:xfrm>
            <a:off x="84771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5" name="Picture Placeholder 16">
            <a:extLst>
              <a:ext uri="{FF2B5EF4-FFF2-40B4-BE49-F238E27FC236}">
                <a16:creationId xmlns:a16="http://schemas.microsoft.com/office/drawing/2014/main" id="{EFB907AC-086F-2443-B3E7-65E41C8F7686}"/>
              </a:ext>
            </a:extLst>
          </p:cNvPr>
          <p:cNvSpPr>
            <a:spLocks noGrp="1"/>
          </p:cNvSpPr>
          <p:nvPr>
            <p:ph type="pic" sz="quarter" idx="34" hasCustomPrompt="1"/>
          </p:nvPr>
        </p:nvSpPr>
        <p:spPr>
          <a:xfrm>
            <a:off x="3843751"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26" name="Text Placeholder 18">
            <a:extLst>
              <a:ext uri="{FF2B5EF4-FFF2-40B4-BE49-F238E27FC236}">
                <a16:creationId xmlns:a16="http://schemas.microsoft.com/office/drawing/2014/main" id="{F96F8341-FFD9-E84B-BFEF-EBD6DB856C25}"/>
              </a:ext>
            </a:extLst>
          </p:cNvPr>
          <p:cNvSpPr>
            <a:spLocks noGrp="1"/>
          </p:cNvSpPr>
          <p:nvPr>
            <p:ph type="body" sz="quarter" idx="35" hasCustomPrompt="1"/>
          </p:nvPr>
        </p:nvSpPr>
        <p:spPr>
          <a:xfrm>
            <a:off x="3230637"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27" name="Text Placeholder 18">
            <a:extLst>
              <a:ext uri="{FF2B5EF4-FFF2-40B4-BE49-F238E27FC236}">
                <a16:creationId xmlns:a16="http://schemas.microsoft.com/office/drawing/2014/main" id="{18AFD2E5-D08B-4E4B-A380-D22CF343673C}"/>
              </a:ext>
            </a:extLst>
          </p:cNvPr>
          <p:cNvSpPr>
            <a:spLocks noGrp="1"/>
          </p:cNvSpPr>
          <p:nvPr>
            <p:ph type="body" sz="quarter" idx="36" hasCustomPrompt="1"/>
          </p:nvPr>
        </p:nvSpPr>
        <p:spPr>
          <a:xfrm>
            <a:off x="3230637"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28" name="Picture Placeholder 26">
            <a:extLst>
              <a:ext uri="{FF2B5EF4-FFF2-40B4-BE49-F238E27FC236}">
                <a16:creationId xmlns:a16="http://schemas.microsoft.com/office/drawing/2014/main" id="{321A6F5B-ECBC-9840-96EF-63839ACB90AF}"/>
              </a:ext>
            </a:extLst>
          </p:cNvPr>
          <p:cNvSpPr>
            <a:spLocks noGrp="1"/>
          </p:cNvSpPr>
          <p:nvPr>
            <p:ph type="pic" sz="quarter" idx="37" hasCustomPrompt="1"/>
          </p:nvPr>
        </p:nvSpPr>
        <p:spPr>
          <a:xfrm>
            <a:off x="3765090"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0" name="Picture Placeholder 16">
            <a:extLst>
              <a:ext uri="{FF2B5EF4-FFF2-40B4-BE49-F238E27FC236}">
                <a16:creationId xmlns:a16="http://schemas.microsoft.com/office/drawing/2014/main" id="{58F90725-52F2-4C4B-AC3E-39BC62C23145}"/>
              </a:ext>
            </a:extLst>
          </p:cNvPr>
          <p:cNvSpPr>
            <a:spLocks noGrp="1"/>
          </p:cNvSpPr>
          <p:nvPr>
            <p:ph type="pic" sz="quarter" idx="38" hasCustomPrompt="1"/>
          </p:nvPr>
        </p:nvSpPr>
        <p:spPr>
          <a:xfrm>
            <a:off x="6746609"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31" name="Text Placeholder 18">
            <a:extLst>
              <a:ext uri="{FF2B5EF4-FFF2-40B4-BE49-F238E27FC236}">
                <a16:creationId xmlns:a16="http://schemas.microsoft.com/office/drawing/2014/main" id="{315DD525-7AEF-594B-AB62-24D0E35D4A7B}"/>
              </a:ext>
            </a:extLst>
          </p:cNvPr>
          <p:cNvSpPr>
            <a:spLocks noGrp="1"/>
          </p:cNvSpPr>
          <p:nvPr>
            <p:ph type="body" sz="quarter" idx="39" hasCustomPrompt="1"/>
          </p:nvPr>
        </p:nvSpPr>
        <p:spPr>
          <a:xfrm>
            <a:off x="6133495"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32" name="Text Placeholder 18">
            <a:extLst>
              <a:ext uri="{FF2B5EF4-FFF2-40B4-BE49-F238E27FC236}">
                <a16:creationId xmlns:a16="http://schemas.microsoft.com/office/drawing/2014/main" id="{9413C0F9-9F58-F14F-A1D3-552B8203E510}"/>
              </a:ext>
            </a:extLst>
          </p:cNvPr>
          <p:cNvSpPr>
            <a:spLocks noGrp="1"/>
          </p:cNvSpPr>
          <p:nvPr>
            <p:ph type="body" sz="quarter" idx="40" hasCustomPrompt="1"/>
          </p:nvPr>
        </p:nvSpPr>
        <p:spPr>
          <a:xfrm>
            <a:off x="6133495"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33" name="Picture Placeholder 26">
            <a:extLst>
              <a:ext uri="{FF2B5EF4-FFF2-40B4-BE49-F238E27FC236}">
                <a16:creationId xmlns:a16="http://schemas.microsoft.com/office/drawing/2014/main" id="{33C1A2A9-A6B6-CE4C-82CD-7310DF52C1DF}"/>
              </a:ext>
            </a:extLst>
          </p:cNvPr>
          <p:cNvSpPr>
            <a:spLocks noGrp="1"/>
          </p:cNvSpPr>
          <p:nvPr>
            <p:ph type="pic" sz="quarter" idx="41" hasCustomPrompt="1"/>
          </p:nvPr>
        </p:nvSpPr>
        <p:spPr>
          <a:xfrm>
            <a:off x="6667948"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39" name="Picture Placeholder 16">
            <a:extLst>
              <a:ext uri="{FF2B5EF4-FFF2-40B4-BE49-F238E27FC236}">
                <a16:creationId xmlns:a16="http://schemas.microsoft.com/office/drawing/2014/main" id="{1DF0AD4C-F522-8440-97DC-B77E442FF683}"/>
              </a:ext>
            </a:extLst>
          </p:cNvPr>
          <p:cNvSpPr>
            <a:spLocks noGrp="1"/>
          </p:cNvSpPr>
          <p:nvPr>
            <p:ph type="pic" sz="quarter" idx="42" hasCustomPrompt="1"/>
          </p:nvPr>
        </p:nvSpPr>
        <p:spPr>
          <a:xfrm>
            <a:off x="9668097" y="4512562"/>
            <a:ext cx="1624623" cy="675937"/>
          </a:xfrm>
          <a:prstGeom prst="rect">
            <a:avLst/>
          </a:prstGeom>
        </p:spPr>
        <p:txBody>
          <a:bodyPr anchor="ctr"/>
          <a:lstStyle>
            <a:lvl1pPr marL="0" indent="0" algn="ctr">
              <a:buNone/>
              <a:defRPr b="0" i="0">
                <a:solidFill>
                  <a:schemeClr val="bg2"/>
                </a:solidFill>
                <a:latin typeface="Arial" panose="020B0604020202020204" pitchFamily="34" charset="0"/>
                <a:cs typeface="Arial" panose="020B0604020202020204" pitchFamily="34" charset="0"/>
              </a:defRPr>
            </a:lvl1pPr>
          </a:lstStyle>
          <a:p>
            <a:r>
              <a:rPr lang="en-US"/>
              <a:t>Insert logo</a:t>
            </a:r>
          </a:p>
        </p:txBody>
      </p:sp>
      <p:sp>
        <p:nvSpPr>
          <p:cNvPr id="40" name="Text Placeholder 18">
            <a:extLst>
              <a:ext uri="{FF2B5EF4-FFF2-40B4-BE49-F238E27FC236}">
                <a16:creationId xmlns:a16="http://schemas.microsoft.com/office/drawing/2014/main" id="{25B804EE-B5CD-8048-9DC2-F1D4986317FB}"/>
              </a:ext>
            </a:extLst>
          </p:cNvPr>
          <p:cNvSpPr>
            <a:spLocks noGrp="1"/>
          </p:cNvSpPr>
          <p:nvPr>
            <p:ph type="body" sz="quarter" idx="43" hasCustomPrompt="1"/>
          </p:nvPr>
        </p:nvSpPr>
        <p:spPr>
          <a:xfrm>
            <a:off x="9054983" y="3481203"/>
            <a:ext cx="2850848" cy="479440"/>
          </a:xfrm>
          <a:prstGeom prst="rect">
            <a:avLst/>
          </a:prstGeom>
        </p:spPr>
        <p:txBody>
          <a:bodyPr>
            <a:normAutofit/>
          </a:bodyPr>
          <a:lstStyle>
            <a:lvl1pPr marL="0" indent="0" algn="ctr">
              <a:buNone/>
              <a:defRPr sz="2133" b="1" i="0" baseline="0">
                <a:solidFill>
                  <a:schemeClr val="bg2"/>
                </a:solidFill>
                <a:latin typeface="Arial" panose="020B0604020202020204" pitchFamily="34" charset="0"/>
                <a:cs typeface="Arial" panose="020B0604020202020204" pitchFamily="34" charset="0"/>
              </a:defRPr>
            </a:lvl1pPr>
          </a:lstStyle>
          <a:p>
            <a:pPr lvl="0"/>
            <a:r>
              <a:rPr lang="en-US"/>
              <a:t>Speaker Name</a:t>
            </a:r>
          </a:p>
        </p:txBody>
      </p:sp>
      <p:sp>
        <p:nvSpPr>
          <p:cNvPr id="41" name="Text Placeholder 18">
            <a:extLst>
              <a:ext uri="{FF2B5EF4-FFF2-40B4-BE49-F238E27FC236}">
                <a16:creationId xmlns:a16="http://schemas.microsoft.com/office/drawing/2014/main" id="{8E5F1301-A38A-7C4B-87F7-C7D28B7030DA}"/>
              </a:ext>
            </a:extLst>
          </p:cNvPr>
          <p:cNvSpPr>
            <a:spLocks noGrp="1"/>
          </p:cNvSpPr>
          <p:nvPr>
            <p:ph type="body" sz="quarter" idx="44" hasCustomPrompt="1"/>
          </p:nvPr>
        </p:nvSpPr>
        <p:spPr>
          <a:xfrm>
            <a:off x="9054983" y="3931947"/>
            <a:ext cx="2850848" cy="361924"/>
          </a:xfrm>
          <a:prstGeom prst="rect">
            <a:avLst/>
          </a:prstGeom>
        </p:spPr>
        <p:txBody>
          <a:bodyPr anchor="ctr">
            <a:noAutofit/>
          </a:bodyPr>
          <a:lstStyle>
            <a:lvl1pPr marL="0" indent="0" algn="ctr">
              <a:buNone/>
              <a:defRPr sz="1733" b="0" i="0" baseline="0">
                <a:solidFill>
                  <a:schemeClr val="bg2"/>
                </a:solidFill>
                <a:latin typeface="Arial" panose="020B0604020202020204" pitchFamily="34" charset="0"/>
                <a:cs typeface="Arial" panose="020B0604020202020204" pitchFamily="34" charset="0"/>
              </a:defRPr>
            </a:lvl1pPr>
          </a:lstStyle>
          <a:p>
            <a:pPr lvl="0"/>
            <a:r>
              <a:rPr lang="en-US"/>
              <a:t>Speaker Title</a:t>
            </a:r>
          </a:p>
        </p:txBody>
      </p:sp>
      <p:sp>
        <p:nvSpPr>
          <p:cNvPr id="42" name="Picture Placeholder 26">
            <a:extLst>
              <a:ext uri="{FF2B5EF4-FFF2-40B4-BE49-F238E27FC236}">
                <a16:creationId xmlns:a16="http://schemas.microsoft.com/office/drawing/2014/main" id="{6371037F-80E5-7840-BFDB-E63128286B34}"/>
              </a:ext>
            </a:extLst>
          </p:cNvPr>
          <p:cNvSpPr>
            <a:spLocks noGrp="1"/>
          </p:cNvSpPr>
          <p:nvPr>
            <p:ph type="pic" sz="quarter" idx="45" hasCustomPrompt="1"/>
          </p:nvPr>
        </p:nvSpPr>
        <p:spPr>
          <a:xfrm>
            <a:off x="9589436" y="1473886"/>
            <a:ext cx="1781945" cy="1781945"/>
          </a:xfrm>
          <a:prstGeom prst="rect">
            <a:avLst/>
          </a:prstGeom>
        </p:spPr>
        <p:txBody>
          <a:bodyPr/>
          <a:lstStyle>
            <a:lvl1pPr marL="0" indent="0" algn="ctr">
              <a:buNone/>
              <a:defRPr b="0" i="0" baseline="0">
                <a:solidFill>
                  <a:schemeClr val="bg2"/>
                </a:solidFill>
                <a:latin typeface="Arial" panose="020B0604020202020204" pitchFamily="34" charset="0"/>
                <a:cs typeface="Arial" panose="020B0604020202020204" pitchFamily="34" charset="0"/>
              </a:defRPr>
            </a:lvl1pPr>
          </a:lstStyle>
          <a:p>
            <a:r>
              <a:rPr lang="en-US"/>
              <a:t>Speaker photo</a:t>
            </a:r>
          </a:p>
        </p:txBody>
      </p:sp>
      <p:sp>
        <p:nvSpPr>
          <p:cNvPr id="22" name="Title 1">
            <a:extLst>
              <a:ext uri="{FF2B5EF4-FFF2-40B4-BE49-F238E27FC236}">
                <a16:creationId xmlns:a16="http://schemas.microsoft.com/office/drawing/2014/main" id="{C46E52FE-543E-0B4D-AAE2-6BD5A654547E}"/>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3992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userDrawn="1">
  <p:cSld name="1_Quote 9">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3FB5459-6F1F-B745-BABB-D81C8059DB9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7" y="-8574"/>
            <a:ext cx="12201827" cy="6866575"/>
          </a:xfrm>
          <a:prstGeom prst="rect">
            <a:avLst/>
          </a:prstGeom>
        </p:spPr>
      </p:pic>
      <p:sp>
        <p:nvSpPr>
          <p:cNvPr id="16" name="Freeform 15">
            <a:extLst>
              <a:ext uri="{FF2B5EF4-FFF2-40B4-BE49-F238E27FC236}">
                <a16:creationId xmlns:a16="http://schemas.microsoft.com/office/drawing/2014/main" id="{3D9FE898-53F8-D04B-B7F4-F746944C7413}"/>
              </a:ext>
            </a:extLst>
          </p:cNvPr>
          <p:cNvSpPr/>
          <p:nvPr userDrawn="1"/>
        </p:nvSpPr>
        <p:spPr>
          <a:xfrm>
            <a:off x="9706455" y="2565688"/>
            <a:ext cx="2485548" cy="4292312"/>
          </a:xfrm>
          <a:custGeom>
            <a:avLst/>
            <a:gdLst>
              <a:gd name="connsiteX0" fmla="*/ 1864161 w 1864161"/>
              <a:gd name="connsiteY0" fmla="*/ 0 h 3219234"/>
              <a:gd name="connsiteX1" fmla="*/ 1864161 w 1864161"/>
              <a:gd name="connsiteY1" fmla="*/ 3219234 h 3219234"/>
              <a:gd name="connsiteX2" fmla="*/ 0 w 1864161"/>
              <a:gd name="connsiteY2" fmla="*/ 3219234 h 3219234"/>
              <a:gd name="connsiteX3" fmla="*/ 1864161 w 1864161"/>
              <a:gd name="connsiteY3" fmla="*/ 0 h 3219234"/>
            </a:gdLst>
            <a:ahLst/>
            <a:cxnLst>
              <a:cxn ang="0">
                <a:pos x="connsiteX0" y="connsiteY0"/>
              </a:cxn>
              <a:cxn ang="0">
                <a:pos x="connsiteX1" y="connsiteY1"/>
              </a:cxn>
              <a:cxn ang="0">
                <a:pos x="connsiteX2" y="connsiteY2"/>
              </a:cxn>
              <a:cxn ang="0">
                <a:pos x="connsiteX3" y="connsiteY3"/>
              </a:cxn>
            </a:cxnLst>
            <a:rect l="l" t="t" r="r" b="b"/>
            <a:pathLst>
              <a:path w="1864161" h="3219234">
                <a:moveTo>
                  <a:pt x="1864161" y="0"/>
                </a:moveTo>
                <a:lnTo>
                  <a:pt x="1864161" y="3219234"/>
                </a:lnTo>
                <a:lnTo>
                  <a:pt x="0" y="3219234"/>
                </a:lnTo>
                <a:lnTo>
                  <a:pt x="1864161"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6" y="2302933"/>
            <a:ext cx="8821331" cy="2092880"/>
          </a:xfrm>
          <a:prstGeom prst="rect">
            <a:avLst/>
          </a:prstGeom>
        </p:spPr>
        <p:txBody>
          <a:bodyPr/>
          <a:lstStyle>
            <a:lvl1pPr algn="l">
              <a:defRPr sz="4267" b="0" i="0">
                <a:solidFill>
                  <a:schemeClr val="tx2"/>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5"/>
            <a:ext cx="1011805" cy="240541"/>
          </a:xfrm>
          <a:prstGeom prst="rect">
            <a:avLst/>
          </a:prstGeom>
        </p:spPr>
      </p:pic>
    </p:spTree>
    <p:extLst>
      <p:ext uri="{BB962C8B-B14F-4D97-AF65-F5344CB8AC3E}">
        <p14:creationId xmlns:p14="http://schemas.microsoft.com/office/powerpoint/2010/main" val="64124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1917080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Section Break -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301C-DF95-F04C-9BB1-6CB11A42E5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0" y="-11723"/>
            <a:ext cx="12179300" cy="6858000"/>
          </a:xfrm>
          <a:prstGeom prst="rect">
            <a:avLst/>
          </a:prstGeom>
        </p:spPr>
      </p:pic>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6" name="Picture 10">
            <a:extLst>
              <a:ext uri="{FF2B5EF4-FFF2-40B4-BE49-F238E27FC236}">
                <a16:creationId xmlns:a16="http://schemas.microsoft.com/office/drawing/2014/main" id="{C12513C1-EFCF-5846-9E50-32BDDFCE13C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323438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69889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image" Target="../media/image1.png"/><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66.xml"/><Relationship Id="rId21" Type="http://schemas.openxmlformats.org/officeDocument/2006/relationships/slideLayout" Target="../slideLayouts/slideLayout161.xml"/><Relationship Id="rId42" Type="http://schemas.openxmlformats.org/officeDocument/2006/relationships/slideLayout" Target="../slideLayouts/slideLayout182.xml"/><Relationship Id="rId47" Type="http://schemas.openxmlformats.org/officeDocument/2006/relationships/slideLayout" Target="../slideLayouts/slideLayout187.xml"/><Relationship Id="rId63" Type="http://schemas.openxmlformats.org/officeDocument/2006/relationships/slideLayout" Target="../slideLayouts/slideLayout203.xml"/><Relationship Id="rId68" Type="http://schemas.openxmlformats.org/officeDocument/2006/relationships/slideLayout" Target="../slideLayouts/slideLayout208.xml"/><Relationship Id="rId16" Type="http://schemas.openxmlformats.org/officeDocument/2006/relationships/slideLayout" Target="../slideLayouts/slideLayout156.xml"/><Relationship Id="rId11" Type="http://schemas.openxmlformats.org/officeDocument/2006/relationships/slideLayout" Target="../slideLayouts/slideLayout151.xml"/><Relationship Id="rId24" Type="http://schemas.openxmlformats.org/officeDocument/2006/relationships/slideLayout" Target="../slideLayouts/slideLayout164.xml"/><Relationship Id="rId32" Type="http://schemas.openxmlformats.org/officeDocument/2006/relationships/slideLayout" Target="../slideLayouts/slideLayout172.xml"/><Relationship Id="rId37" Type="http://schemas.openxmlformats.org/officeDocument/2006/relationships/slideLayout" Target="../slideLayouts/slideLayout177.xml"/><Relationship Id="rId40" Type="http://schemas.openxmlformats.org/officeDocument/2006/relationships/slideLayout" Target="../slideLayouts/slideLayout180.xml"/><Relationship Id="rId45" Type="http://schemas.openxmlformats.org/officeDocument/2006/relationships/slideLayout" Target="../slideLayouts/slideLayout185.xml"/><Relationship Id="rId53" Type="http://schemas.openxmlformats.org/officeDocument/2006/relationships/slideLayout" Target="../slideLayouts/slideLayout193.xml"/><Relationship Id="rId58" Type="http://schemas.openxmlformats.org/officeDocument/2006/relationships/slideLayout" Target="../slideLayouts/slideLayout198.xml"/><Relationship Id="rId66" Type="http://schemas.openxmlformats.org/officeDocument/2006/relationships/slideLayout" Target="../slideLayouts/slideLayout206.xml"/><Relationship Id="rId74" Type="http://schemas.openxmlformats.org/officeDocument/2006/relationships/slideLayout" Target="../slideLayouts/slideLayout214.xml"/><Relationship Id="rId5" Type="http://schemas.openxmlformats.org/officeDocument/2006/relationships/slideLayout" Target="../slideLayouts/slideLayout145.xml"/><Relationship Id="rId61" Type="http://schemas.openxmlformats.org/officeDocument/2006/relationships/slideLayout" Target="../slideLayouts/slideLayout201.xml"/><Relationship Id="rId19" Type="http://schemas.openxmlformats.org/officeDocument/2006/relationships/slideLayout" Target="../slideLayouts/slideLayout159.xml"/><Relationship Id="rId14" Type="http://schemas.openxmlformats.org/officeDocument/2006/relationships/slideLayout" Target="../slideLayouts/slideLayout154.xml"/><Relationship Id="rId22" Type="http://schemas.openxmlformats.org/officeDocument/2006/relationships/slideLayout" Target="../slideLayouts/slideLayout162.xml"/><Relationship Id="rId27" Type="http://schemas.openxmlformats.org/officeDocument/2006/relationships/slideLayout" Target="../slideLayouts/slideLayout167.xml"/><Relationship Id="rId30" Type="http://schemas.openxmlformats.org/officeDocument/2006/relationships/slideLayout" Target="../slideLayouts/slideLayout170.xml"/><Relationship Id="rId35" Type="http://schemas.openxmlformats.org/officeDocument/2006/relationships/slideLayout" Target="../slideLayouts/slideLayout175.xml"/><Relationship Id="rId43" Type="http://schemas.openxmlformats.org/officeDocument/2006/relationships/slideLayout" Target="../slideLayouts/slideLayout183.xml"/><Relationship Id="rId48" Type="http://schemas.openxmlformats.org/officeDocument/2006/relationships/slideLayout" Target="../slideLayouts/slideLayout188.xml"/><Relationship Id="rId56" Type="http://schemas.openxmlformats.org/officeDocument/2006/relationships/slideLayout" Target="../slideLayouts/slideLayout196.xml"/><Relationship Id="rId64" Type="http://schemas.openxmlformats.org/officeDocument/2006/relationships/slideLayout" Target="../slideLayouts/slideLayout204.xml"/><Relationship Id="rId69" Type="http://schemas.openxmlformats.org/officeDocument/2006/relationships/slideLayout" Target="../slideLayouts/slideLayout209.xml"/><Relationship Id="rId77" Type="http://schemas.openxmlformats.org/officeDocument/2006/relationships/image" Target="../media/image21.svg"/><Relationship Id="rId8" Type="http://schemas.openxmlformats.org/officeDocument/2006/relationships/slideLayout" Target="../slideLayouts/slideLayout148.xml"/><Relationship Id="rId51" Type="http://schemas.openxmlformats.org/officeDocument/2006/relationships/slideLayout" Target="../slideLayouts/slideLayout191.xml"/><Relationship Id="rId72" Type="http://schemas.openxmlformats.org/officeDocument/2006/relationships/slideLayout" Target="../slideLayouts/slideLayout212.xml"/><Relationship Id="rId3" Type="http://schemas.openxmlformats.org/officeDocument/2006/relationships/slideLayout" Target="../slideLayouts/slideLayout143.xml"/><Relationship Id="rId12" Type="http://schemas.openxmlformats.org/officeDocument/2006/relationships/slideLayout" Target="../slideLayouts/slideLayout152.xml"/><Relationship Id="rId17" Type="http://schemas.openxmlformats.org/officeDocument/2006/relationships/slideLayout" Target="../slideLayouts/slideLayout157.xml"/><Relationship Id="rId25" Type="http://schemas.openxmlformats.org/officeDocument/2006/relationships/slideLayout" Target="../slideLayouts/slideLayout165.xml"/><Relationship Id="rId33" Type="http://schemas.openxmlformats.org/officeDocument/2006/relationships/slideLayout" Target="../slideLayouts/slideLayout173.xml"/><Relationship Id="rId38" Type="http://schemas.openxmlformats.org/officeDocument/2006/relationships/slideLayout" Target="../slideLayouts/slideLayout178.xml"/><Relationship Id="rId46" Type="http://schemas.openxmlformats.org/officeDocument/2006/relationships/slideLayout" Target="../slideLayouts/slideLayout186.xml"/><Relationship Id="rId59" Type="http://schemas.openxmlformats.org/officeDocument/2006/relationships/slideLayout" Target="../slideLayouts/slideLayout199.xml"/><Relationship Id="rId67" Type="http://schemas.openxmlformats.org/officeDocument/2006/relationships/slideLayout" Target="../slideLayouts/slideLayout207.xml"/><Relationship Id="rId20" Type="http://schemas.openxmlformats.org/officeDocument/2006/relationships/slideLayout" Target="../slideLayouts/slideLayout160.xml"/><Relationship Id="rId41" Type="http://schemas.openxmlformats.org/officeDocument/2006/relationships/slideLayout" Target="../slideLayouts/slideLayout181.xml"/><Relationship Id="rId54" Type="http://schemas.openxmlformats.org/officeDocument/2006/relationships/slideLayout" Target="../slideLayouts/slideLayout194.xml"/><Relationship Id="rId62" Type="http://schemas.openxmlformats.org/officeDocument/2006/relationships/slideLayout" Target="../slideLayouts/slideLayout202.xml"/><Relationship Id="rId70" Type="http://schemas.openxmlformats.org/officeDocument/2006/relationships/slideLayout" Target="../slideLayouts/slideLayout210.xml"/><Relationship Id="rId75" Type="http://schemas.openxmlformats.org/officeDocument/2006/relationships/theme" Target="../theme/theme2.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5" Type="http://schemas.openxmlformats.org/officeDocument/2006/relationships/slideLayout" Target="../slideLayouts/slideLayout155.xml"/><Relationship Id="rId23" Type="http://schemas.openxmlformats.org/officeDocument/2006/relationships/slideLayout" Target="../slideLayouts/slideLayout163.xml"/><Relationship Id="rId28" Type="http://schemas.openxmlformats.org/officeDocument/2006/relationships/slideLayout" Target="../slideLayouts/slideLayout168.xml"/><Relationship Id="rId36" Type="http://schemas.openxmlformats.org/officeDocument/2006/relationships/slideLayout" Target="../slideLayouts/slideLayout176.xml"/><Relationship Id="rId49" Type="http://schemas.openxmlformats.org/officeDocument/2006/relationships/slideLayout" Target="../slideLayouts/slideLayout189.xml"/><Relationship Id="rId57" Type="http://schemas.openxmlformats.org/officeDocument/2006/relationships/slideLayout" Target="../slideLayouts/slideLayout197.xml"/><Relationship Id="rId10" Type="http://schemas.openxmlformats.org/officeDocument/2006/relationships/slideLayout" Target="../slideLayouts/slideLayout150.xml"/><Relationship Id="rId31" Type="http://schemas.openxmlformats.org/officeDocument/2006/relationships/slideLayout" Target="../slideLayouts/slideLayout171.xml"/><Relationship Id="rId44" Type="http://schemas.openxmlformats.org/officeDocument/2006/relationships/slideLayout" Target="../slideLayouts/slideLayout184.xml"/><Relationship Id="rId52" Type="http://schemas.openxmlformats.org/officeDocument/2006/relationships/slideLayout" Target="../slideLayouts/slideLayout192.xml"/><Relationship Id="rId60" Type="http://schemas.openxmlformats.org/officeDocument/2006/relationships/slideLayout" Target="../slideLayouts/slideLayout200.xml"/><Relationship Id="rId65" Type="http://schemas.openxmlformats.org/officeDocument/2006/relationships/slideLayout" Target="../slideLayouts/slideLayout205.xml"/><Relationship Id="rId73" Type="http://schemas.openxmlformats.org/officeDocument/2006/relationships/slideLayout" Target="../slideLayouts/slideLayout213.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13" Type="http://schemas.openxmlformats.org/officeDocument/2006/relationships/slideLayout" Target="../slideLayouts/slideLayout153.xml"/><Relationship Id="rId18" Type="http://schemas.openxmlformats.org/officeDocument/2006/relationships/slideLayout" Target="../slideLayouts/slideLayout158.xml"/><Relationship Id="rId39" Type="http://schemas.openxmlformats.org/officeDocument/2006/relationships/slideLayout" Target="../slideLayouts/slideLayout179.xml"/><Relationship Id="rId34" Type="http://schemas.openxmlformats.org/officeDocument/2006/relationships/slideLayout" Target="../slideLayouts/slideLayout174.xml"/><Relationship Id="rId50" Type="http://schemas.openxmlformats.org/officeDocument/2006/relationships/slideLayout" Target="../slideLayouts/slideLayout190.xml"/><Relationship Id="rId55" Type="http://schemas.openxmlformats.org/officeDocument/2006/relationships/slideLayout" Target="../slideLayouts/slideLayout195.xml"/><Relationship Id="rId76" Type="http://schemas.openxmlformats.org/officeDocument/2006/relationships/image" Target="../media/image20.png"/><Relationship Id="rId7" Type="http://schemas.openxmlformats.org/officeDocument/2006/relationships/slideLayout" Target="../slideLayouts/slideLayout147.xml"/><Relationship Id="rId71" Type="http://schemas.openxmlformats.org/officeDocument/2006/relationships/slideLayout" Target="../slideLayouts/slideLayout211.xml"/><Relationship Id="rId2" Type="http://schemas.openxmlformats.org/officeDocument/2006/relationships/slideLayout" Target="../slideLayouts/slideLayout142.xml"/><Relationship Id="rId29" Type="http://schemas.openxmlformats.org/officeDocument/2006/relationships/slideLayout" Target="../slideLayouts/slideLayout1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482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8" r:id="rId137"/>
    <p:sldLayoutId id="2147483800" r:id="rId138"/>
    <p:sldLayoutId id="2147483802" r:id="rId139"/>
    <p:sldLayoutId id="2147483804" r:id="rId1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F1E00AFD-BA6C-F44A-A5F9-BF8BC669C1DD}"/>
              </a:ext>
            </a:extLst>
          </p:cNvPr>
          <p:cNvPicPr>
            <a:picLocks noChangeAspect="1"/>
          </p:cNvPicPr>
          <p:nvPr userDrawn="1"/>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p:blipFill>
        <p:spPr>
          <a:xfrm>
            <a:off x="10899588" y="6469434"/>
            <a:ext cx="1011805" cy="240541"/>
          </a:xfrm>
          <a:prstGeom prst="rect">
            <a:avLst/>
          </a:prstGeom>
        </p:spPr>
      </p:pic>
    </p:spTree>
    <p:extLst>
      <p:ext uri="{BB962C8B-B14F-4D97-AF65-F5344CB8AC3E}">
        <p14:creationId xmlns:p14="http://schemas.microsoft.com/office/powerpoint/2010/main" val="1286689546"/>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837" r:id="rId32"/>
    <p:sldLayoutId id="2147483838" r:id="rId33"/>
    <p:sldLayoutId id="2147483839" r:id="rId34"/>
    <p:sldLayoutId id="2147483840" r:id="rId35"/>
    <p:sldLayoutId id="2147483841" r:id="rId36"/>
    <p:sldLayoutId id="2147483842" r:id="rId37"/>
    <p:sldLayoutId id="2147483843" r:id="rId38"/>
    <p:sldLayoutId id="2147483844" r:id="rId39"/>
    <p:sldLayoutId id="2147483845" r:id="rId40"/>
    <p:sldLayoutId id="2147483846" r:id="rId41"/>
    <p:sldLayoutId id="2147483847" r:id="rId42"/>
    <p:sldLayoutId id="2147483848" r:id="rId43"/>
    <p:sldLayoutId id="2147483849" r:id="rId44"/>
    <p:sldLayoutId id="2147483850" r:id="rId45"/>
    <p:sldLayoutId id="2147483851" r:id="rId46"/>
    <p:sldLayoutId id="2147483852" r:id="rId47"/>
    <p:sldLayoutId id="2147483853" r:id="rId48"/>
    <p:sldLayoutId id="2147483854" r:id="rId49"/>
    <p:sldLayoutId id="2147483855" r:id="rId50"/>
    <p:sldLayoutId id="2147483856" r:id="rId51"/>
    <p:sldLayoutId id="2147483857" r:id="rId52"/>
    <p:sldLayoutId id="2147483858" r:id="rId53"/>
    <p:sldLayoutId id="2147483859" r:id="rId54"/>
    <p:sldLayoutId id="2147483860" r:id="rId55"/>
    <p:sldLayoutId id="2147483861" r:id="rId56"/>
    <p:sldLayoutId id="2147483862" r:id="rId57"/>
    <p:sldLayoutId id="2147483863" r:id="rId58"/>
    <p:sldLayoutId id="2147483864" r:id="rId59"/>
    <p:sldLayoutId id="2147483865" r:id="rId60"/>
    <p:sldLayoutId id="2147483866" r:id="rId61"/>
    <p:sldLayoutId id="2147483867" r:id="rId62"/>
    <p:sldLayoutId id="2147483868" r:id="rId63"/>
    <p:sldLayoutId id="2147483869" r:id="rId64"/>
    <p:sldLayoutId id="2147483870" r:id="rId65"/>
    <p:sldLayoutId id="2147483871" r:id="rId66"/>
    <p:sldLayoutId id="2147483872" r:id="rId67"/>
    <p:sldLayoutId id="2147483873" r:id="rId68"/>
    <p:sldLayoutId id="2147483874" r:id="rId69"/>
    <p:sldLayoutId id="2147483875" r:id="rId70"/>
    <p:sldLayoutId id="2147483876" r:id="rId71"/>
    <p:sldLayoutId id="2147483877" r:id="rId72"/>
    <p:sldLayoutId id="2147483878" r:id="rId73"/>
    <p:sldLayoutId id="2147483879" r:id="rId7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5.xml"/><Relationship Id="rId7" Type="http://schemas.openxmlformats.org/officeDocument/2006/relationships/slide" Target="slide51.xml"/><Relationship Id="rId2" Type="http://schemas.openxmlformats.org/officeDocument/2006/relationships/notesSlide" Target="../notesSlides/notesSlide1.xml"/><Relationship Id="rId1" Type="http://schemas.openxmlformats.org/officeDocument/2006/relationships/slideLayout" Target="../slideLayouts/slideLayout29.xml"/><Relationship Id="rId6" Type="http://schemas.openxmlformats.org/officeDocument/2006/relationships/slide" Target="slide38.xml"/><Relationship Id="rId5" Type="http://schemas.openxmlformats.org/officeDocument/2006/relationships/slide" Target="slide31.xml"/><Relationship Id="rId4" Type="http://schemas.openxmlformats.org/officeDocument/2006/relationships/slide" Target="slide15.xml"/><Relationship Id="rId9" Type="http://schemas.openxmlformats.org/officeDocument/2006/relationships/image" Target="../media/image5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1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4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4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0.xml"/></Relationships>
</file>

<file path=ppt/slides/_rels/slide4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43.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4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jpeg"/><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94220-9F22-C0D9-1F1D-CD1AEB426A9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6488FC0-CEFC-EA5C-35B8-E54F06673998}"/>
              </a:ext>
            </a:extLst>
          </p:cNvPr>
          <p:cNvSpPr>
            <a:spLocks noGrp="1"/>
          </p:cNvSpPr>
          <p:nvPr>
            <p:ph type="title"/>
          </p:nvPr>
        </p:nvSpPr>
        <p:spPr/>
        <p:txBody>
          <a:bodyPr anchor="ctr"/>
          <a:lstStyle/>
          <a:p>
            <a:r>
              <a:rPr lang="en-US" sz="6000"/>
              <a:t>Anaplan Sales</a:t>
            </a:r>
            <a:br>
              <a:rPr lang="en-US" sz="6000"/>
            </a:br>
            <a:r>
              <a:rPr lang="en-US" sz="6000"/>
              <a:t>Applications</a:t>
            </a:r>
          </a:p>
        </p:txBody>
      </p:sp>
      <p:sp>
        <p:nvSpPr>
          <p:cNvPr id="7" name="Subtitle 2">
            <a:extLst>
              <a:ext uri="{FF2B5EF4-FFF2-40B4-BE49-F238E27FC236}">
                <a16:creationId xmlns:a16="http://schemas.microsoft.com/office/drawing/2014/main" id="{42FCE0BB-2FF6-2DA7-DB95-D12EFDBCE1A0}"/>
              </a:ext>
            </a:extLst>
          </p:cNvPr>
          <p:cNvSpPr>
            <a:spLocks noGrp="1"/>
          </p:cNvSpPr>
          <p:nvPr>
            <p:ph type="body" sz="quarter" idx="10"/>
          </p:nvPr>
        </p:nvSpPr>
        <p:spPr/>
        <p:txBody>
          <a:bodyPr vert="horz" lIns="0" tIns="45720" rIns="91440" bIns="45720" rtlCol="0" anchor="ctr">
            <a:normAutofit/>
          </a:bodyPr>
          <a:lstStyle/>
          <a:p>
            <a:pPr>
              <a:lnSpc>
                <a:spcPts val="2500"/>
              </a:lnSpc>
            </a:pPr>
            <a:r>
              <a:rPr lang="en-US" sz="2200">
                <a:latin typeface="Arial"/>
                <a:cs typeface="Arial"/>
              </a:rPr>
              <a:t>Territory and Quota Planning</a:t>
            </a:r>
          </a:p>
          <a:p>
            <a:pPr>
              <a:lnSpc>
                <a:spcPts val="2500"/>
              </a:lnSpc>
            </a:pPr>
            <a:r>
              <a:rPr lang="en-US" sz="2200">
                <a:solidFill>
                  <a:schemeClr val="accent1"/>
                </a:solidFill>
                <a:latin typeface="Arial"/>
                <a:cs typeface="Arial"/>
              </a:rPr>
              <a:t>Post model generation updates</a:t>
            </a:r>
          </a:p>
        </p:txBody>
      </p:sp>
      <p:sp>
        <p:nvSpPr>
          <p:cNvPr id="8" name="TextBox 7">
            <a:extLst>
              <a:ext uri="{FF2B5EF4-FFF2-40B4-BE49-F238E27FC236}">
                <a16:creationId xmlns:a16="http://schemas.microsoft.com/office/drawing/2014/main" id="{517653A9-6C7D-32EF-2FCF-565691E3CA8A}"/>
              </a:ext>
            </a:extLst>
          </p:cNvPr>
          <p:cNvSpPr txBox="1"/>
          <p:nvPr/>
        </p:nvSpPr>
        <p:spPr>
          <a:xfrm>
            <a:off x="7674243" y="6198173"/>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2.1.0</a:t>
            </a:r>
          </a:p>
          <a:p>
            <a:r>
              <a:rPr lang="en-US" sz="1200">
                <a:solidFill>
                  <a:schemeClr val="bg2"/>
                </a:solidFill>
                <a:ea typeface="Calibri"/>
                <a:cs typeface="Calibri"/>
              </a:rPr>
              <a:t>Last updated August 26, 2025</a:t>
            </a:r>
          </a:p>
        </p:txBody>
      </p:sp>
    </p:spTree>
    <p:extLst>
      <p:ext uri="{BB962C8B-B14F-4D97-AF65-F5344CB8AC3E}">
        <p14:creationId xmlns:p14="http://schemas.microsoft.com/office/powerpoint/2010/main" val="32977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623733"/>
            <a:ext cx="8228710" cy="2246769"/>
          </a:xfrm>
          <a:prstGeom prst="rect">
            <a:avLst/>
          </a:prstGeom>
          <a:noFill/>
        </p:spPr>
        <p:txBody>
          <a:bodyPr wrap="square" lIns="0" tIns="45720" rIns="91440" bIns="45720" rtlCol="0" anchor="t">
            <a:spAutoFit/>
          </a:bodyPr>
          <a:lstStyle/>
          <a:p>
            <a:pPr>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and any related materials are provided solely for the use of authorized Anaplan customers who have purchased the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Anaplan </a:t>
            </a:r>
            <a:r>
              <a:rPr lang="en-US" sz="1000" b="1">
                <a:solidFill>
                  <a:srgbClr val="0A2F46"/>
                </a:solidFill>
                <a:latin typeface="Arial" panose="020B0604020202020204"/>
              </a:rPr>
              <a:t>Territory and Quota Planning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and are considered Anaplan proprietary information</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The information contained herein is intended exclusively for the purpose of implementing the 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by authorized customers</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 Any use outside of this intended purpose is strictly prohibited</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including but not limited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Sharing, distributing, or disclosing this content with or to individuals or entities not directly involved in the customer’s authorized implementation.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Using the documentation, in whole or in part, to replicate, retrofit, or reverse-engineer the functionality in other models, environments, or platforms.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000" b="0" i="0" u="none" strike="noStrike" kern="1200" cap="none" spc="0" normalizeH="0" baseline="0" noProof="0">
                <a:ln>
                  <a:noFill/>
                </a:ln>
                <a:effectLst/>
                <a:uLnTx/>
                <a:uFillTx/>
                <a:latin typeface="Arial" panose="020B0604020202020204"/>
              </a:rPr>
            </a:b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contains proprietary information of Anaplan and is protected by applicable intellectual property laws. Any unauthorized use, reproduction, or dissemination is a violation of these terms and may result in legal action. </a:t>
            </a:r>
            <a:br>
              <a:rPr lang="en-US" sz="1000" b="0" i="0" u="none" strike="noStrike" kern="1200" cap="none" spc="0" normalizeH="0" baseline="0" noProof="0">
                <a:ln>
                  <a:noFill/>
                </a:ln>
                <a:effectLst/>
                <a:uLnTx/>
                <a:uFillTx/>
                <a:latin typeface="Arial" panose="020B0604020202020204"/>
              </a:rPr>
            </a:b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08885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856D-BFF9-E399-C7BA-6B117B5D3AB5}"/>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916ED981-C2CD-84AB-CD07-B4D741563948}"/>
              </a:ext>
            </a:extLst>
          </p:cNvPr>
          <p:cNvGrpSpPr/>
          <p:nvPr/>
        </p:nvGrpSpPr>
        <p:grpSpPr>
          <a:xfrm>
            <a:off x="610649" y="867286"/>
            <a:ext cx="5989320" cy="617517"/>
            <a:chOff x="665018" y="1199408"/>
            <a:chExt cx="5989320" cy="617517"/>
          </a:xfrm>
        </p:grpSpPr>
        <p:cxnSp>
          <p:nvCxnSpPr>
            <p:cNvPr id="4" name="Straight Connector 3">
              <a:extLst>
                <a:ext uri="{FF2B5EF4-FFF2-40B4-BE49-F238E27FC236}">
                  <a16:creationId xmlns:a16="http://schemas.microsoft.com/office/drawing/2014/main" id="{EDF00A99-C6D3-16E7-6710-4D2EC1D8A237}"/>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9786DB6-BFC8-E34E-0EE8-002C9D65DA5D}"/>
                </a:ext>
              </a:extLst>
            </p:cNvPr>
            <p:cNvSpPr txBox="1"/>
            <p:nvPr/>
          </p:nvSpPr>
          <p:spPr>
            <a:xfrm>
              <a:off x="665018" y="1199408"/>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FF51F142-F692-3E36-8ABD-1D3765EF1AC1}"/>
                </a:ext>
              </a:extLst>
            </p:cNvPr>
            <p:cNvSpPr txBox="1"/>
            <p:nvPr/>
          </p:nvSpPr>
          <p:spPr>
            <a:xfrm>
              <a:off x="1196788" y="1199408"/>
              <a:ext cx="5455522"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Miscellaneous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3" name="Group 32">
            <a:extLst>
              <a:ext uri="{FF2B5EF4-FFF2-40B4-BE49-F238E27FC236}">
                <a16:creationId xmlns:a16="http://schemas.microsoft.com/office/drawing/2014/main" id="{3EF742ED-0BC3-CE41-B292-4C77342B7326}"/>
              </a:ext>
            </a:extLst>
          </p:cNvPr>
          <p:cNvGrpSpPr/>
          <p:nvPr/>
        </p:nvGrpSpPr>
        <p:grpSpPr>
          <a:xfrm>
            <a:off x="610649" y="1808950"/>
            <a:ext cx="5990738" cy="741025"/>
            <a:chOff x="665018" y="1954270"/>
            <a:chExt cx="5990738" cy="741025"/>
          </a:xfrm>
        </p:grpSpPr>
        <p:cxnSp>
          <p:nvCxnSpPr>
            <p:cNvPr id="6" name="Straight Connector 5">
              <a:extLst>
                <a:ext uri="{FF2B5EF4-FFF2-40B4-BE49-F238E27FC236}">
                  <a16:creationId xmlns:a16="http://schemas.microsoft.com/office/drawing/2014/main" id="{CD86D70A-2ED7-F2BF-D80E-57E9262D2854}"/>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68E0653-DF54-9F8E-2857-739531C16F68}"/>
                </a:ext>
              </a:extLst>
            </p:cNvPr>
            <p:cNvSpPr txBox="1"/>
            <p:nvPr/>
          </p:nvSpPr>
          <p:spPr>
            <a:xfrm>
              <a:off x="665018" y="1954270"/>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C63D3CE-B326-4383-0189-11AB1179E4BA}"/>
                </a:ext>
              </a:extLst>
            </p:cNvPr>
            <p:cNvSpPr txBox="1"/>
            <p:nvPr/>
          </p:nvSpPr>
          <p:spPr>
            <a:xfrm>
              <a:off x="1196788" y="198504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Saved View </a:t>
              </a:r>
              <a:r>
                <a:rPr lang="en-US" sz="2600">
                  <a:solidFill>
                    <a:srgbClr val="0A2F46"/>
                  </a:solidFill>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&amp; </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Actions</a:t>
              </a:r>
              <a:r>
                <a:rPr lang="en-US" sz="2600">
                  <a:solidFill>
                    <a:srgbClr val="0A2F46"/>
                  </a:solidFill>
                  <a:latin typeface="Arial"/>
                  <a:ea typeface="Inter Light" panose="02000503000000020004" pitchFamily="2" charset="0"/>
                  <a:cs typeface="Arial"/>
                </a:rPr>
                <a:t> update</a:t>
              </a:r>
              <a:endParaRPr lang="en-US" sz="2600"/>
            </a:p>
          </p:txBody>
        </p:sp>
      </p:grpSp>
      <p:grpSp>
        <p:nvGrpSpPr>
          <p:cNvPr id="34" name="Group 33">
            <a:extLst>
              <a:ext uri="{FF2B5EF4-FFF2-40B4-BE49-F238E27FC236}">
                <a16:creationId xmlns:a16="http://schemas.microsoft.com/office/drawing/2014/main" id="{FE472167-E7DE-507C-0C73-99A718834054}"/>
              </a:ext>
            </a:extLst>
          </p:cNvPr>
          <p:cNvGrpSpPr/>
          <p:nvPr/>
        </p:nvGrpSpPr>
        <p:grpSpPr>
          <a:xfrm>
            <a:off x="610649" y="2761660"/>
            <a:ext cx="5990738" cy="747145"/>
            <a:chOff x="665018" y="2920817"/>
            <a:chExt cx="5990738" cy="747145"/>
          </a:xfrm>
        </p:grpSpPr>
        <p:cxnSp>
          <p:nvCxnSpPr>
            <p:cNvPr id="8" name="Straight Connector 7">
              <a:extLst>
                <a:ext uri="{FF2B5EF4-FFF2-40B4-BE49-F238E27FC236}">
                  <a16:creationId xmlns:a16="http://schemas.microsoft.com/office/drawing/2014/main" id="{9B7B9426-D39C-3D57-DDC3-5CF7FD854165}"/>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9CF80F-4EF1-4189-2599-6ABB9AB67BCE}"/>
                </a:ext>
              </a:extLst>
            </p:cNvPr>
            <p:cNvSpPr txBox="1"/>
            <p:nvPr/>
          </p:nvSpPr>
          <p:spPr>
            <a:xfrm>
              <a:off x="665018" y="2920817"/>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A1B91D8-FD75-DB54-21CD-BE678E67658C}"/>
                </a:ext>
              </a:extLst>
            </p:cNvPr>
            <p:cNvSpPr txBox="1"/>
            <p:nvPr/>
          </p:nvSpPr>
          <p:spPr>
            <a:xfrm>
              <a:off x="1196788" y="2920817"/>
              <a:ext cx="5458968" cy="492443"/>
            </a:xfrm>
            <a:prstGeom prst="rect">
              <a:avLst/>
            </a:prstGeom>
            <a:noFill/>
          </p:spPr>
          <p:txBody>
            <a:bodyPr wrap="square" lIns="0" tIns="45720" rIns="91440" bIns="45720" rtlCol="0" anchor="t">
              <a:spAutoFit/>
            </a:bodyPr>
            <a:lstStyle/>
            <a:p>
              <a:pPr>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Lists </a:t>
              </a:r>
              <a:r>
                <a:rPr lang="en-US" sz="2600">
                  <a:solidFill>
                    <a:srgbClr val="0A2F46"/>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&amp; Data updates</a:t>
              </a:r>
              <a:endParaRPr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5" name="Group 34">
            <a:extLst>
              <a:ext uri="{FF2B5EF4-FFF2-40B4-BE49-F238E27FC236}">
                <a16:creationId xmlns:a16="http://schemas.microsoft.com/office/drawing/2014/main" id="{CDEA85C5-ACA2-8A7C-9DA3-5FC02285FF29}"/>
              </a:ext>
            </a:extLst>
          </p:cNvPr>
          <p:cNvGrpSpPr/>
          <p:nvPr/>
        </p:nvGrpSpPr>
        <p:grpSpPr>
          <a:xfrm>
            <a:off x="610649" y="4654662"/>
            <a:ext cx="5990738" cy="771803"/>
            <a:chOff x="665018" y="3963123"/>
            <a:chExt cx="5990738" cy="771803"/>
          </a:xfrm>
        </p:grpSpPr>
        <p:cxnSp>
          <p:nvCxnSpPr>
            <p:cNvPr id="10" name="Straight Connector 9">
              <a:extLst>
                <a:ext uri="{FF2B5EF4-FFF2-40B4-BE49-F238E27FC236}">
                  <a16:creationId xmlns:a16="http://schemas.microsoft.com/office/drawing/2014/main" id="{12D91B9E-36F4-43DD-0245-D4B5008CE9EE}"/>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FDE425-D440-C6AB-C687-169C55106692}"/>
                </a:ext>
              </a:extLst>
            </p:cNvPr>
            <p:cNvSpPr txBox="1"/>
            <p:nvPr/>
          </p:nvSpPr>
          <p:spPr>
            <a:xfrm>
              <a:off x="665018" y="3963123"/>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5 </a:t>
              </a:r>
            </a:p>
          </p:txBody>
        </p:sp>
        <p:sp>
          <p:nvSpPr>
            <p:cNvPr id="17" name="TextBox 16">
              <a:extLst>
                <a:ext uri="{FF2B5EF4-FFF2-40B4-BE49-F238E27FC236}">
                  <a16:creationId xmlns:a16="http://schemas.microsoft.com/office/drawing/2014/main" id="{1DCEA953-D365-79CD-D88D-A34275AAE207}"/>
                </a:ext>
              </a:extLst>
            </p:cNvPr>
            <p:cNvSpPr txBox="1"/>
            <p:nvPr/>
          </p:nvSpPr>
          <p:spPr>
            <a:xfrm>
              <a:off x="1196788" y="3963123"/>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App Pa</a:t>
              </a:r>
              <a:r>
                <a:rPr kumimoji="0" lang="en-US" sz="2600" b="0" i="0"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g</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6" action="ppaction://hlinksldjump">
                    <a:extLst>
                      <a:ext uri="{A12FA001-AC4F-418D-AE19-62706E023703}">
                        <ahyp:hlinkClr xmlns:ahyp="http://schemas.microsoft.com/office/drawing/2018/hyperlinkcolor" val="tx"/>
                      </a:ext>
                    </a:extLst>
                  </a:hlinkClick>
                </a:rPr>
                <a:t>es</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grpSp>
        <p:nvGrpSpPr>
          <p:cNvPr id="36" name="Group 35">
            <a:extLst>
              <a:ext uri="{FF2B5EF4-FFF2-40B4-BE49-F238E27FC236}">
                <a16:creationId xmlns:a16="http://schemas.microsoft.com/office/drawing/2014/main" id="{2B8372E9-314C-3652-F998-DC00CB595ACF}"/>
              </a:ext>
            </a:extLst>
          </p:cNvPr>
          <p:cNvGrpSpPr/>
          <p:nvPr/>
        </p:nvGrpSpPr>
        <p:grpSpPr>
          <a:xfrm>
            <a:off x="610649" y="5638150"/>
            <a:ext cx="5990738" cy="747144"/>
            <a:chOff x="665018" y="5054746"/>
            <a:chExt cx="5990738" cy="747144"/>
          </a:xfrm>
        </p:grpSpPr>
        <p:cxnSp>
          <p:nvCxnSpPr>
            <p:cNvPr id="12" name="Straight Connector 11">
              <a:extLst>
                <a:ext uri="{FF2B5EF4-FFF2-40B4-BE49-F238E27FC236}">
                  <a16:creationId xmlns:a16="http://schemas.microsoft.com/office/drawing/2014/main" id="{93B4947D-671B-9AA4-DD2A-1445FD7AA69C}"/>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1296509-D519-1E2A-5A58-FA2705AB22E4}"/>
                </a:ext>
              </a:extLst>
            </p:cNvPr>
            <p:cNvSpPr txBox="1"/>
            <p:nvPr/>
          </p:nvSpPr>
          <p:spPr>
            <a:xfrm>
              <a:off x="665018" y="5054746"/>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6 </a:t>
              </a:r>
            </a:p>
          </p:txBody>
        </p:sp>
        <p:sp>
          <p:nvSpPr>
            <p:cNvPr id="18" name="TextBox 17">
              <a:extLst>
                <a:ext uri="{FF2B5EF4-FFF2-40B4-BE49-F238E27FC236}">
                  <a16:creationId xmlns:a16="http://schemas.microsoft.com/office/drawing/2014/main" id="{B914E6C9-9718-7B9B-CBB2-3D7175D0BAF8}"/>
                </a:ext>
              </a:extLst>
            </p:cNvPr>
            <p:cNvSpPr txBox="1"/>
            <p:nvPr/>
          </p:nvSpPr>
          <p:spPr>
            <a:xfrm>
              <a:off x="1196788" y="5054746"/>
              <a:ext cx="5458968" cy="492443"/>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hlinkClick r:id="rId7" action="ppaction://hlinksldjump">
                    <a:extLst>
                      <a:ext uri="{A12FA001-AC4F-418D-AE19-62706E023703}">
                        <ahyp:hlinkClr xmlns:ahyp="http://schemas.microsoft.com/office/drawing/2018/hyperlinkcolor" val="tx"/>
                      </a:ext>
                    </a:extLst>
                  </a:hlinkClick>
                </a:rPr>
                <a:t>Security</a:t>
              </a:r>
              <a:r>
                <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rPr>
                <a:t> </a:t>
              </a:r>
              <a:r>
                <a:rPr lang="en-US" sz="2600">
                  <a:solidFill>
                    <a:srgbClr val="0A2F46"/>
                  </a:solidFill>
                  <a:latin typeface="Arial"/>
                  <a:ea typeface="Inter Light" panose="02000503000000020004" pitchFamily="2" charset="0"/>
                  <a:cs typeface="Arial"/>
                </a:rPr>
                <a:t>updates</a:t>
              </a:r>
              <a:endParaRPr kumimoji="0" lang="en-US" sz="2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grpSp>
      <p:sp>
        <p:nvSpPr>
          <p:cNvPr id="19" name="Title 18">
            <a:extLst>
              <a:ext uri="{FF2B5EF4-FFF2-40B4-BE49-F238E27FC236}">
                <a16:creationId xmlns:a16="http://schemas.microsoft.com/office/drawing/2014/main" id="{6A298C28-3F44-B676-BE5B-8C732AAB0B70}"/>
              </a:ext>
            </a:extLst>
          </p:cNvPr>
          <p:cNvSpPr>
            <a:spLocks noGrp="1"/>
          </p:cNvSpPr>
          <p:nvPr>
            <p:ph type="title"/>
          </p:nvPr>
        </p:nvSpPr>
        <p:spPr>
          <a:xfrm>
            <a:off x="542829" y="156841"/>
            <a:ext cx="10871201" cy="451405"/>
          </a:xfrm>
        </p:spPr>
        <p:txBody>
          <a:bodyPr/>
          <a:lstStyle/>
          <a:p>
            <a:r>
              <a:rPr lang="en-US" b="1">
                <a:solidFill>
                  <a:schemeClr val="tx2"/>
                </a:solidFill>
              </a:rPr>
              <a:t>Post model generation updates</a:t>
            </a:r>
          </a:p>
        </p:txBody>
      </p:sp>
      <p:grpSp>
        <p:nvGrpSpPr>
          <p:cNvPr id="2" name="Group 1">
            <a:extLst>
              <a:ext uri="{FF2B5EF4-FFF2-40B4-BE49-F238E27FC236}">
                <a16:creationId xmlns:a16="http://schemas.microsoft.com/office/drawing/2014/main" id="{0E13A77A-C37C-521B-9DD1-F7F4FEDD4680}"/>
              </a:ext>
            </a:extLst>
          </p:cNvPr>
          <p:cNvGrpSpPr/>
          <p:nvPr/>
        </p:nvGrpSpPr>
        <p:grpSpPr>
          <a:xfrm>
            <a:off x="610649" y="3726610"/>
            <a:ext cx="5990738" cy="741025"/>
            <a:chOff x="665018" y="5060865"/>
            <a:chExt cx="5990738" cy="741025"/>
          </a:xfrm>
        </p:grpSpPr>
        <p:cxnSp>
          <p:nvCxnSpPr>
            <p:cNvPr id="3" name="Straight Connector 2">
              <a:extLst>
                <a:ext uri="{FF2B5EF4-FFF2-40B4-BE49-F238E27FC236}">
                  <a16:creationId xmlns:a16="http://schemas.microsoft.com/office/drawing/2014/main" id="{C37CCC2B-6A7C-FF9C-90D1-F2B0361932F1}"/>
                </a:ext>
              </a:extLst>
            </p:cNvPr>
            <p:cNvCxnSpPr>
              <a:cxnSpLocks/>
            </p:cNvCxnSpPr>
            <p:nvPr/>
          </p:nvCxnSpPr>
          <p:spPr>
            <a:xfrm>
              <a:off x="665018" y="5801890"/>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E1A6B48-51EE-5D20-A073-27F6917F6400}"/>
                </a:ext>
              </a:extLst>
            </p:cNvPr>
            <p:cNvSpPr txBox="1"/>
            <p:nvPr/>
          </p:nvSpPr>
          <p:spPr>
            <a:xfrm>
              <a:off x="665018" y="5060865"/>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4 </a:t>
              </a:r>
            </a:p>
          </p:txBody>
        </p:sp>
        <p:sp>
          <p:nvSpPr>
            <p:cNvPr id="21" name="TextBox 20">
              <a:extLst>
                <a:ext uri="{FF2B5EF4-FFF2-40B4-BE49-F238E27FC236}">
                  <a16:creationId xmlns:a16="http://schemas.microsoft.com/office/drawing/2014/main" id="{D8C9A400-51FB-5827-5335-3B7A2535819B}"/>
                </a:ext>
              </a:extLst>
            </p:cNvPr>
            <p:cNvSpPr txBox="1"/>
            <p:nvPr/>
          </p:nvSpPr>
          <p:spPr>
            <a:xfrm>
              <a:off x="1196788" y="5060865"/>
              <a:ext cx="5458968" cy="492443"/>
            </a:xfrm>
            <a:prstGeom prst="rect">
              <a:avLst/>
            </a:prstGeom>
            <a:noFill/>
          </p:spPr>
          <p:txBody>
            <a:bodyPr wrap="square" lIns="0" tIns="45720" rIns="91440" bIns="45720" rtlCol="0" anchor="t">
              <a:spAutoFit/>
            </a:bodyPr>
            <a:lstStyle/>
            <a:p>
              <a:pPr>
                <a:defRPr/>
              </a:pPr>
              <a:r>
                <a:rPr lang="en-US" sz="2600">
                  <a:solidFill>
                    <a:srgbClr val="0A2F46"/>
                  </a:solidFill>
                  <a:latin typeface="Arial"/>
                  <a:ea typeface="Inter Light" panose="02000503000000020004" pitchFamily="2" charset="0"/>
                  <a:cs typeface="Arial"/>
                  <a:hlinkClick r:id="rId8" action="ppaction://hlinksldjump">
                    <a:extLst>
                      <a:ext uri="{A12FA001-AC4F-418D-AE19-62706E023703}">
                        <ahyp:hlinkClr xmlns:ahyp="http://schemas.microsoft.com/office/drawing/2018/hyperlinkcolor" val="tx"/>
                      </a:ext>
                    </a:extLst>
                  </a:hlinkClick>
                </a:rPr>
                <a:t>Module &amp; Li</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ne</a:t>
              </a:r>
              <a:r>
                <a:rPr kumimoji="0" lang="en-US" sz="26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 </a:t>
              </a:r>
              <a:r>
                <a:rPr lang="en-US" sz="2600">
                  <a:solidFill>
                    <a:schemeClr val="tx2"/>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Item</a:t>
              </a:r>
              <a:r>
                <a:rPr lang="en-US" sz="2600">
                  <a:solidFill>
                    <a:schemeClr val="tx2"/>
                  </a:solidFill>
                  <a:latin typeface="Arial"/>
                  <a:ea typeface="Inter Light" panose="02000503000000020004" pitchFamily="2" charset="0"/>
                  <a:cs typeface="Arial"/>
                </a:rPr>
                <a:t> u</a:t>
              </a:r>
              <a:r>
                <a:rPr lang="en-US" sz="2600">
                  <a:solidFill>
                    <a:srgbClr val="0A2F46"/>
                  </a:solidFill>
                  <a:latin typeface="Arial"/>
                  <a:ea typeface="Inter Light" panose="02000503000000020004" pitchFamily="2" charset="0"/>
                  <a:cs typeface="Arial"/>
                </a:rPr>
                <a:t>pdates</a:t>
              </a:r>
              <a:endParaRPr kumimoji="0" lang="en-US" sz="2600" b="0" i="0" u="none" strike="noStrike" kern="1200" cap="none" spc="0" normalizeH="0" baseline="0" noProof="0">
                <a:ln>
                  <a:noFill/>
                </a:ln>
                <a:solidFill>
                  <a:srgbClr val="0A2F46"/>
                </a:solidFill>
                <a:effectLst/>
                <a:uLnTx/>
                <a:uFillTx/>
                <a:latin typeface="Arial"/>
                <a:ea typeface="Inter Light" panose="02000503000000020004" pitchFamily="2" charset="0"/>
                <a:cs typeface="Arial"/>
              </a:endParaRPr>
            </a:p>
          </p:txBody>
        </p:sp>
      </p:grpSp>
      <p:pic>
        <p:nvPicPr>
          <p:cNvPr id="14338" name="Picture 2">
            <a:extLst>
              <a:ext uri="{FF2B5EF4-FFF2-40B4-BE49-F238E27FC236}">
                <a16:creationId xmlns:a16="http://schemas.microsoft.com/office/drawing/2014/main" id="{DD5E52DA-7722-0A39-925A-962754A644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42319" y="557352"/>
            <a:ext cx="4839032" cy="5743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85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C016-DD55-F1C3-51A4-9A21E812EAB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1896CB12-CBE4-9E86-7086-B02ACA90527D}"/>
              </a:ext>
            </a:extLst>
          </p:cNvPr>
          <p:cNvSpPr/>
          <p:nvPr/>
        </p:nvSpPr>
        <p:spPr>
          <a:xfrm>
            <a:off x="8815876" y="1780760"/>
            <a:ext cx="2614124" cy="4310631"/>
          </a:xfrm>
          <a:prstGeom prst="roundRect">
            <a:avLst>
              <a:gd name="adj" fmla="val 513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243840" tIns="243840" rIns="243840" rtlCol="0" anchor="t"/>
          <a:lstStyle/>
          <a:p>
            <a:pPr defTabSz="1219140">
              <a:spcBef>
                <a:spcPts val="1200"/>
              </a:spcBef>
              <a:spcAft>
                <a:spcPts val="4800"/>
              </a:spcAft>
              <a:defRPr/>
            </a:pP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*As a rough estimate, </a:t>
            </a:r>
            <a:r>
              <a:rPr lang="en-US" sz="2000" b="1">
                <a:solidFill>
                  <a:srgbClr val="FF721C"/>
                </a:solidFill>
                <a:latin typeface="Arial" panose="020B0604020202020204" pitchFamily="34" charset="0"/>
                <a:ea typeface="Inter Medium" panose="02000503000000020004" pitchFamily="2" charset="0"/>
                <a:cs typeface="Arial" panose="020B0604020202020204" pitchFamily="34" charset="0"/>
              </a:rPr>
              <a:t>budget at least a day</a:t>
            </a:r>
            <a:r>
              <a:rPr lang="en-US" sz="2000">
                <a:solidFill>
                  <a:srgbClr val="FF721C"/>
                </a:solidFill>
                <a:latin typeface="Arial" panose="020B0604020202020204" pitchFamily="34" charset="0"/>
                <a:ea typeface="Inter Medium" panose="02000503000000020004" pitchFamily="2" charset="0"/>
                <a:cs typeface="Arial" panose="020B0604020202020204" pitchFamily="34" charset="0"/>
              </a:rPr>
              <a:t> </a:t>
            </a:r>
            <a:r>
              <a:rPr lang="en-US" sz="2000">
                <a:solidFill>
                  <a:schemeClr val="bg1"/>
                </a:solidFill>
                <a:latin typeface="Arial" panose="020B0604020202020204" pitchFamily="34" charset="0"/>
                <a:ea typeface="Inter Medium" panose="02000503000000020004" pitchFamily="2" charset="0"/>
                <a:cs typeface="Arial" panose="020B0604020202020204" pitchFamily="34" charset="0"/>
              </a:rPr>
              <a:t>to complete those changes after generation.</a:t>
            </a:r>
          </a:p>
        </p:txBody>
      </p:sp>
      <p:sp>
        <p:nvSpPr>
          <p:cNvPr id="14" name="Rounded Rectangle 13">
            <a:extLst>
              <a:ext uri="{FF2B5EF4-FFF2-40B4-BE49-F238E27FC236}">
                <a16:creationId xmlns:a16="http://schemas.microsoft.com/office/drawing/2014/main" id="{C4877710-D12B-8847-E2D1-7AF768C7DD86}"/>
              </a:ext>
            </a:extLst>
          </p:cNvPr>
          <p:cNvSpPr/>
          <p:nvPr/>
        </p:nvSpPr>
        <p:spPr>
          <a:xfrm>
            <a:off x="558801" y="1780760"/>
            <a:ext cx="7995264" cy="4310631"/>
          </a:xfrm>
          <a:prstGeom prst="roundRect">
            <a:avLst>
              <a:gd name="adj" fmla="val 3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A304CDBD-D439-2301-4107-A7C37DED1CCD}"/>
              </a:ext>
            </a:extLst>
          </p:cNvPr>
          <p:cNvSpPr txBox="1"/>
          <p:nvPr/>
        </p:nvSpPr>
        <p:spPr>
          <a:xfrm>
            <a:off x="848167" y="2061444"/>
            <a:ext cx="7098800" cy="3416320"/>
          </a:xfrm>
          <a:prstGeom prst="rect">
            <a:avLst/>
          </a:prstGeom>
          <a:noFill/>
        </p:spPr>
        <p:txBody>
          <a:bodyPr wrap="square" lIns="91440" tIns="45720" rIns="91440" bIns="45720" rtlCol="0" anchor="t">
            <a:spAutoFit/>
          </a:bodyPr>
          <a:lstStyle/>
          <a:p>
            <a:pPr defTabSz="1219140">
              <a:spcBef>
                <a:spcPts val="1200"/>
              </a:spcBef>
              <a:spcAft>
                <a:spcPts val="4800"/>
              </a:spcAft>
              <a:defRPr/>
            </a:pP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Multiple areas will require updates to both the structure and user experience that are not generated with the models and application pages. </a:t>
            </a: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b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br>
            <a:r>
              <a:rPr lang="en-US" sz="2400">
                <a:solidFill>
                  <a:srgbClr val="0A2F46"/>
                </a:solidFill>
                <a:latin typeface="Arial" panose="020B0604020202020204" pitchFamily="34" charset="0"/>
                <a:ea typeface="Inter Medium" panose="02000503000000020004" pitchFamily="2" charset="0"/>
                <a:cs typeface="Arial" panose="020B0604020202020204" pitchFamily="34" charset="0"/>
              </a:rPr>
              <a:t>Depending on the level of configuration a customer has and how familiar the page builder is with the changes needed, the time to make the required changes so that the model will function as expected may vary.</a:t>
            </a:r>
          </a:p>
        </p:txBody>
      </p:sp>
      <p:sp>
        <p:nvSpPr>
          <p:cNvPr id="3" name="Title 2">
            <a:extLst>
              <a:ext uri="{FF2B5EF4-FFF2-40B4-BE49-F238E27FC236}">
                <a16:creationId xmlns:a16="http://schemas.microsoft.com/office/drawing/2014/main" id="{826B8B6F-AA54-E883-0131-4F31A981E3FC}"/>
              </a:ext>
            </a:extLst>
          </p:cNvPr>
          <p:cNvSpPr>
            <a:spLocks noGrp="1"/>
          </p:cNvSpPr>
          <p:nvPr>
            <p:ph type="title"/>
          </p:nvPr>
        </p:nvSpPr>
        <p:spPr>
          <a:xfrm>
            <a:off x="558801" y="392854"/>
            <a:ext cx="10871201" cy="451405"/>
          </a:xfrm>
        </p:spPr>
        <p:txBody>
          <a:bodyPr/>
          <a:lstStyle/>
          <a:p>
            <a:r>
              <a:rPr lang="en-US" b="1">
                <a:latin typeface="Arial" panose="020B0604020202020204" pitchFamily="34" charset="0"/>
              </a:rPr>
              <a:t>Time and effort estimation​</a:t>
            </a:r>
          </a:p>
        </p:txBody>
      </p:sp>
    </p:spTree>
    <p:extLst>
      <p:ext uri="{BB962C8B-B14F-4D97-AF65-F5344CB8AC3E}">
        <p14:creationId xmlns:p14="http://schemas.microsoft.com/office/powerpoint/2010/main" val="2087644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C4152-F76C-BE34-6BAC-42013628BC5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76CD6A9-8857-0F2C-A944-200340C5B228}"/>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Miscellaneous updates</a:t>
            </a:r>
            <a:endParaRPr lang="en-US" sz="4200"/>
          </a:p>
        </p:txBody>
      </p:sp>
      <p:sp>
        <p:nvSpPr>
          <p:cNvPr id="3" name="Text Placeholder 2">
            <a:extLst>
              <a:ext uri="{FF2B5EF4-FFF2-40B4-BE49-F238E27FC236}">
                <a16:creationId xmlns:a16="http://schemas.microsoft.com/office/drawing/2014/main" id="{FCF1E74E-E2B5-77C0-BF1D-4DCDB125730D}"/>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1</a:t>
            </a:r>
          </a:p>
        </p:txBody>
      </p:sp>
    </p:spTree>
    <p:extLst>
      <p:ext uri="{BB962C8B-B14F-4D97-AF65-F5344CB8AC3E}">
        <p14:creationId xmlns:p14="http://schemas.microsoft.com/office/powerpoint/2010/main" val="84790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12E51-C4C6-6801-DF4F-4936B712B9B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A6D495E-7936-1FD5-0B4B-DFB0CC72C32E}"/>
              </a:ext>
            </a:extLst>
          </p:cNvPr>
          <p:cNvSpPr txBox="1"/>
          <p:nvPr/>
        </p:nvSpPr>
        <p:spPr>
          <a:xfrm>
            <a:off x="508716" y="1212623"/>
            <a:ext cx="5682537" cy="156966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lvl="0">
              <a:spcAft>
                <a:spcPts val="800"/>
              </a:spcAft>
              <a:defRPr/>
            </a:pPr>
            <a:r>
              <a:rPr lang="en-US" sz="1400"/>
              <a:t>In certain situations, an application may not generate the appropriate pages or may generate pages with objects mapped to incorrect modules.</a:t>
            </a:r>
            <a:endParaRPr lang="en-GB" sz="900" kern="0">
              <a:solidFill>
                <a:srgbClr val="FFFFFF"/>
              </a:solidFill>
              <a:cs typeface="Arial"/>
            </a:endParaRPr>
          </a:p>
          <a:p>
            <a:pPr lvl="0">
              <a:spcAft>
                <a:spcPts val="800"/>
              </a:spcAft>
              <a:defRPr/>
            </a:pPr>
            <a:endParaRPr kumimoji="0" lang="en-GB" sz="900" b="0" i="0" u="none" strike="noStrike" kern="0" cap="none" spc="0" normalizeH="0" baseline="0" noProof="0">
              <a:ln>
                <a:noFill/>
              </a:ln>
              <a:solidFill>
                <a:srgbClr val="FFFFFF"/>
              </a:solidFill>
              <a:effectLst/>
              <a:uLnTx/>
              <a:uFillTx/>
              <a:cs typeface="Arial"/>
            </a:endParaRPr>
          </a:p>
          <a:p>
            <a:pPr lvl="0">
              <a:spcAft>
                <a:spcPts val="800"/>
              </a:spcAft>
              <a:defRPr/>
            </a:pPr>
            <a:endParaRPr kumimoji="0" lang="en-GB" sz="900" b="0" i="0" u="none" strike="noStrike" kern="0" cap="none" spc="0" normalizeH="0" baseline="0" noProof="0">
              <a:ln>
                <a:noFill/>
              </a:ln>
              <a:solidFill>
                <a:srgbClr val="FFFFFF"/>
              </a:solidFill>
              <a:effectLst/>
              <a:uLnTx/>
              <a:uFillTx/>
              <a:cs typeface="Arial"/>
            </a:endParaRPr>
          </a:p>
        </p:txBody>
      </p:sp>
      <p:sp>
        <p:nvSpPr>
          <p:cNvPr id="13" name="TextBox 12">
            <a:extLst>
              <a:ext uri="{FF2B5EF4-FFF2-40B4-BE49-F238E27FC236}">
                <a16:creationId xmlns:a16="http://schemas.microsoft.com/office/drawing/2014/main" id="{49FE05D7-8557-DC5E-63AB-FDE3133FD68A}"/>
              </a:ext>
            </a:extLst>
          </p:cNvPr>
          <p:cNvSpPr txBox="1"/>
          <p:nvPr/>
        </p:nvSpPr>
        <p:spPr>
          <a:xfrm>
            <a:off x="544674" y="4148304"/>
            <a:ext cx="5551325" cy="172354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Action required:</a:t>
            </a:r>
          </a:p>
          <a:p>
            <a:pPr marR="0" lvl="0" defTabSz="914400" eaLnBrk="1" fontAlgn="auto" latinLnBrk="0" hangingPunct="1">
              <a:lnSpc>
                <a:spcPct val="100000"/>
              </a:lnSpc>
              <a:spcBef>
                <a:spcPts val="0"/>
              </a:spcBef>
              <a:spcAft>
                <a:spcPts val="800"/>
              </a:spcAft>
              <a:buClrTx/>
              <a:buSzTx/>
              <a:tabLst/>
              <a:defRPr/>
            </a:pPr>
            <a:r>
              <a:rPr kumimoji="0" lang="en-GB" sz="1400" b="0" i="0" u="none" strike="noStrike" kern="0" cap="none" spc="0" normalizeH="0" baseline="0" noProof="0">
                <a:ln>
                  <a:noFill/>
                </a:ln>
                <a:solidFill>
                  <a:srgbClr val="FFFFFF"/>
                </a:solidFill>
                <a:effectLst/>
                <a:uLnTx/>
                <a:uFillTx/>
                <a:cs typeface="Arial"/>
              </a:rPr>
              <a:t>Before you </a:t>
            </a:r>
            <a:r>
              <a:rPr lang="en-GB" sz="1400" kern="0">
                <a:solidFill>
                  <a:srgbClr val="FFFFFF"/>
                </a:solidFill>
                <a:cs typeface="Arial"/>
              </a:rPr>
              <a:t>modify anything else in the model or application: </a:t>
            </a:r>
          </a:p>
          <a:p>
            <a:pPr marL="342900" marR="0" lvl="0" indent="-342900" defTabSz="914400" eaLnBrk="1" fontAlgn="auto" latinLnBrk="0" hangingPunct="1">
              <a:lnSpc>
                <a:spcPct val="100000"/>
              </a:lnSpc>
              <a:spcBef>
                <a:spcPts val="0"/>
              </a:spcBef>
              <a:spcAft>
                <a:spcPts val="800"/>
              </a:spcAft>
              <a:buClrTx/>
              <a:buSzTx/>
              <a:buFont typeface="+mj-lt"/>
              <a:buAutoNum type="arabicPeriod"/>
              <a:tabLst/>
              <a:defRPr/>
            </a:pPr>
            <a:r>
              <a:rPr lang="en-GB" sz="1400" kern="0">
                <a:solidFill>
                  <a:srgbClr val="FFFFFF"/>
                </a:solidFill>
                <a:cs typeface="Arial"/>
              </a:rPr>
              <a:t>Verify that all pages have generated based on the selections and entries made in the configuration model. </a:t>
            </a:r>
          </a:p>
          <a:p>
            <a:pPr marL="342900" marR="0" lvl="0" indent="-342900" defTabSz="914400" eaLnBrk="1" fontAlgn="auto" latinLnBrk="0" hangingPunct="1">
              <a:lnSpc>
                <a:spcPct val="100000"/>
              </a:lnSpc>
              <a:spcBef>
                <a:spcPts val="0"/>
              </a:spcBef>
              <a:spcAft>
                <a:spcPts val="800"/>
              </a:spcAft>
              <a:buClrTx/>
              <a:buSzTx/>
              <a:buFont typeface="+mj-lt"/>
              <a:buAutoNum type="arabicPeriod"/>
              <a:tabLst/>
              <a:defRPr/>
            </a:pPr>
            <a:r>
              <a:rPr lang="en-GB" sz="1400" kern="0">
                <a:solidFill>
                  <a:srgbClr val="FFFFFF"/>
                </a:solidFill>
                <a:cs typeface="Arial"/>
              </a:rPr>
              <a:t>Validate that the grids in the UX pages are referencing the expected and appropriate modules. </a:t>
            </a:r>
          </a:p>
        </p:txBody>
      </p:sp>
      <p:sp>
        <p:nvSpPr>
          <p:cNvPr id="14" name="Title 67">
            <a:extLst>
              <a:ext uri="{FF2B5EF4-FFF2-40B4-BE49-F238E27FC236}">
                <a16:creationId xmlns:a16="http://schemas.microsoft.com/office/drawing/2014/main" id="{FB48859C-E607-C852-51C8-06F582A721F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application generation errors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D67CFD53-2139-3457-A1B7-3BF2F56649EE}"/>
              </a:ext>
            </a:extLst>
          </p:cNvPr>
          <p:cNvSpPr txBox="1"/>
          <p:nvPr/>
        </p:nvSpPr>
        <p:spPr>
          <a:xfrm>
            <a:off x="580634" y="2624038"/>
            <a:ext cx="5420115" cy="1087477"/>
          </a:xfrm>
          <a:prstGeom prst="rect">
            <a:avLst/>
          </a:prstGeom>
          <a:noFill/>
        </p:spPr>
        <p:txBody>
          <a:bodyPr wrap="square" lIns="91440" tIns="45720" rIns="91440" bIns="45720" anchor="t">
            <a:spAutoFit/>
          </a:bodyPr>
          <a:lstStyle/>
          <a:p>
            <a:pPr lvl="0">
              <a:spcAft>
                <a:spcPts val="800"/>
              </a:spcAft>
              <a:defRPr/>
            </a:pPr>
            <a:r>
              <a:rPr lang="en-US" sz="1600" b="1">
                <a:solidFill>
                  <a:schemeClr val="accent1"/>
                </a:solidFill>
              </a:rPr>
              <a:t>Example: </a:t>
            </a:r>
          </a:p>
          <a:p>
            <a:pPr lvl="0">
              <a:spcAft>
                <a:spcPts val="800"/>
              </a:spcAft>
              <a:defRPr/>
            </a:pPr>
            <a:r>
              <a:rPr lang="en-US" sz="1400"/>
              <a:t>Sales Role Load page, should generate with the grid sourced from SYS by Sales Role Flat, instead this grid may be pointing to a different, unrelated module.  </a:t>
            </a:r>
            <a:endParaRPr lang="en-US" sz="1400">
              <a:cs typeface="Arial"/>
            </a:endParaRPr>
          </a:p>
        </p:txBody>
      </p:sp>
      <p:sp>
        <p:nvSpPr>
          <p:cNvPr id="3" name="Rounded Rectangle 2">
            <a:extLst>
              <a:ext uri="{FF2B5EF4-FFF2-40B4-BE49-F238E27FC236}">
                <a16:creationId xmlns:a16="http://schemas.microsoft.com/office/drawing/2014/main" id="{CFF11072-0372-50E9-59A9-F819A1AEBF16}"/>
              </a:ext>
            </a:extLst>
          </p:cNvPr>
          <p:cNvSpPr/>
          <p:nvPr/>
        </p:nvSpPr>
        <p:spPr>
          <a:xfrm>
            <a:off x="7627860" y="2782283"/>
            <a:ext cx="3139200" cy="3248203"/>
          </a:xfrm>
          <a:prstGeom prst="roundRect">
            <a:avLst>
              <a:gd name="adj" fmla="val 513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43840" tIns="243840" rIns="243840" rtlCol="0" anchor="t"/>
          <a:lstStyle/>
          <a:p>
            <a:pPr defTabSz="1219140">
              <a:spcBef>
                <a:spcPts val="1200"/>
              </a:spcBef>
              <a:spcAft>
                <a:spcPts val="1200"/>
              </a:spcAft>
              <a:defRPr/>
            </a:pPr>
            <a:r>
              <a:rPr lang="en-US" sz="2000">
                <a:solidFill>
                  <a:schemeClr val="bg1"/>
                </a:solidFill>
                <a:latin typeface="Arial" panose="020B0604020202020204" pitchFamily="34" charset="0"/>
                <a:cs typeface="Arial" panose="020B0604020202020204" pitchFamily="34" charset="0"/>
              </a:rPr>
              <a:t>*</a:t>
            </a:r>
            <a:r>
              <a:rPr lang="en-US" sz="2000" b="1">
                <a:solidFill>
                  <a:schemeClr val="bg2"/>
                </a:solidFill>
                <a:latin typeface="Arial" panose="020B0604020202020204" pitchFamily="34" charset="0"/>
                <a:cs typeface="Arial" panose="020B0604020202020204" pitchFamily="34" charset="0"/>
              </a:rPr>
              <a:t>How to fix this</a:t>
            </a:r>
            <a:r>
              <a:rPr lang="en-US" sz="2000" b="1">
                <a:solidFill>
                  <a:schemeClr val="bg2"/>
                </a:solidFill>
              </a:rPr>
              <a:t>: </a:t>
            </a:r>
          </a:p>
          <a:p>
            <a:pPr marL="457200" indent="-457200" defTabSz="1219140">
              <a:spcBef>
                <a:spcPts val="1200"/>
              </a:spcBef>
              <a:spcAft>
                <a:spcPts val="1200"/>
              </a:spcAft>
              <a:buClr>
                <a:schemeClr val="bg2"/>
              </a:buClr>
              <a:buFont typeface="+mj-lt"/>
              <a:buAutoNum type="arabicPeriod"/>
              <a:defRPr/>
            </a:pPr>
            <a:r>
              <a:rPr lang="en-US" sz="2000" b="1">
                <a:solidFill>
                  <a:schemeClr val="accent1"/>
                </a:solidFill>
              </a:rPr>
              <a:t>Delete</a:t>
            </a:r>
            <a:r>
              <a:rPr lang="en-US" sz="2000">
                <a:solidFill>
                  <a:schemeClr val="bg2"/>
                </a:solidFill>
              </a:rPr>
              <a:t> the model and the application</a:t>
            </a:r>
          </a:p>
          <a:p>
            <a:pPr marL="457200" indent="-457200" defTabSz="1219140">
              <a:spcBef>
                <a:spcPts val="1200"/>
              </a:spcBef>
              <a:spcAft>
                <a:spcPts val="1200"/>
              </a:spcAft>
              <a:buClr>
                <a:schemeClr val="bg2"/>
              </a:buClr>
              <a:buFont typeface="+mj-lt"/>
              <a:buAutoNum type="arabicPeriod"/>
              <a:defRPr/>
            </a:pPr>
            <a:r>
              <a:rPr lang="en-US" sz="2000" b="1">
                <a:solidFill>
                  <a:schemeClr val="accent1"/>
                </a:solidFill>
              </a:rPr>
              <a:t>Regenerate</a:t>
            </a:r>
            <a:r>
              <a:rPr lang="en-US" sz="2000">
                <a:solidFill>
                  <a:schemeClr val="bg2"/>
                </a:solidFill>
              </a:rPr>
              <a:t> the applications and models.</a:t>
            </a:r>
            <a:endParaRPr lang="en-US" sz="2000">
              <a:solidFill>
                <a:schemeClr val="bg2"/>
              </a:solidFill>
              <a:latin typeface="Arial" panose="020B0604020202020204" pitchFamily="34" charset="0"/>
              <a:ea typeface="Inter Medium" panose="02000503000000020004" pitchFamily="2" charset="0"/>
              <a:cs typeface="Arial" panose="020B0604020202020204" pitchFamily="34" charset="0"/>
            </a:endParaRPr>
          </a:p>
        </p:txBody>
      </p:sp>
      <p:sp>
        <p:nvSpPr>
          <p:cNvPr id="4" name="TextBox 3">
            <a:extLst>
              <a:ext uri="{FF2B5EF4-FFF2-40B4-BE49-F238E27FC236}">
                <a16:creationId xmlns:a16="http://schemas.microsoft.com/office/drawing/2014/main" id="{D1FAC31C-9C34-7256-D982-54645D834DBF}"/>
              </a:ext>
            </a:extLst>
          </p:cNvPr>
          <p:cNvSpPr txBox="1"/>
          <p:nvPr/>
        </p:nvSpPr>
        <p:spPr>
          <a:xfrm>
            <a:off x="7035268" y="1397773"/>
            <a:ext cx="4324383" cy="830997"/>
          </a:xfrm>
          <a:prstGeom prst="rect">
            <a:avLst/>
          </a:prstGeom>
          <a:noFill/>
          <a:ln>
            <a:solidFill>
              <a:srgbClr val="FF721C"/>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a:ln>
                  <a:noFill/>
                </a:ln>
                <a:solidFill>
                  <a:srgbClr val="FF721C"/>
                </a:solidFill>
                <a:effectLst/>
                <a:uLnTx/>
                <a:uFillTx/>
                <a:latin typeface="Arial"/>
                <a:ea typeface="Verdana"/>
                <a:cs typeface="Arial"/>
              </a:rPr>
              <a:t>Note: </a:t>
            </a:r>
            <a:r>
              <a:rPr lang="en-US" sz="2400">
                <a:latin typeface="Arial"/>
                <a:ea typeface="Verdana"/>
                <a:cs typeface="Arial"/>
              </a:rPr>
              <a:t>Check this first before making any other updates</a:t>
            </a:r>
            <a:endParaRPr lang="en-US" sz="240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99101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4EF2-D895-D3D3-3793-F5049B14F9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F8AA596-7604-F870-C8DC-4A1E488087E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page number ordering </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F8DCBB73-6C39-6AC9-9A55-990155AA0FBD}"/>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8E3ABA9F-615A-78AE-F068-406CE3900C76}"/>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E3568F92-FB38-99FA-DA05-1B4C877DE763}"/>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2953414A-420E-8E5A-24EC-A2714937F0E9}"/>
                </a:ext>
              </a:extLst>
            </p:cNvPr>
            <p:cNvSpPr txBox="1"/>
            <p:nvPr/>
          </p:nvSpPr>
          <p:spPr>
            <a:xfrm>
              <a:off x="6622417" y="2597503"/>
              <a:ext cx="4921800" cy="1384995"/>
            </a:xfrm>
            <a:prstGeom prst="rect">
              <a:avLst/>
            </a:prstGeom>
            <a:noFill/>
          </p:spPr>
          <p:txBody>
            <a:bodyPr wrap="square" lIns="91440" tIns="45720" rIns="91440" bIns="45720" rtlCol="0" anchor="t">
              <a:spAutoFit/>
            </a:bodyPr>
            <a:lstStyle/>
            <a:p>
              <a:pPr algn="ctr"/>
              <a:r>
                <a:rPr lang="en-US" sz="2400">
                  <a:ea typeface="Verdana"/>
                  <a:cs typeface="Arial"/>
                </a:rPr>
                <a:t>Pages generate within their category in randomized order. They must be manually reordered.</a:t>
              </a:r>
              <a:br>
                <a:rPr lang="en-US" sz="2400">
                  <a:ea typeface="Verdana"/>
                  <a:cs typeface="Arial"/>
                </a:rPr>
              </a:br>
              <a:r>
                <a:rPr lang="en-US" sz="1200">
                  <a:solidFill>
                    <a:schemeClr val="tx2"/>
                  </a:solidFill>
                  <a:ea typeface="Verdana"/>
                  <a:cs typeface="Arial"/>
                </a:rPr>
                <a:t>(</a:t>
              </a:r>
              <a:r>
                <a:rPr lang="en-US" sz="1200">
                  <a:ea typeface="+mn-lt"/>
                  <a:cs typeface="+mn-lt"/>
                </a:rPr>
                <a:t>SPT-764</a:t>
              </a:r>
              <a:r>
                <a:rPr lang="en-US" sz="1200">
                  <a:solidFill>
                    <a:schemeClr val="tx2"/>
                  </a:solidFill>
                  <a:ea typeface="Verdana"/>
                  <a:cs typeface="Arial"/>
                </a:rPr>
                <a:t>)</a:t>
              </a:r>
              <a:endParaRPr lang="en-US" sz="1200">
                <a:solidFill>
                  <a:schemeClr val="tx2"/>
                </a:solidFill>
              </a:endParaRPr>
            </a:p>
          </p:txBody>
        </p:sp>
      </p:grpSp>
      <p:sp>
        <p:nvSpPr>
          <p:cNvPr id="9" name="Rounded Rectangle 8">
            <a:extLst>
              <a:ext uri="{FF2B5EF4-FFF2-40B4-BE49-F238E27FC236}">
                <a16:creationId xmlns:a16="http://schemas.microsoft.com/office/drawing/2014/main" id="{D85D4643-6611-7F49-BE76-7C19C344C21D}"/>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a:t>
            </a:r>
            <a:r>
              <a:rPr lang="en-GB" sz="1400">
                <a:solidFill>
                  <a:srgbClr val="FFFFFF"/>
                </a:solidFill>
                <a:latin typeface="Arial" panose="020B0604020202020204"/>
                <a:ea typeface="Verdana"/>
                <a:cs typeface="Verdana" panose="020B0604030504040204" pitchFamily="34" charset="0"/>
              </a:rPr>
              <a:t>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158AAC0A-D94B-9096-26A2-91F17AAF1C92}"/>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269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19A1A-CD40-8156-AD89-6E59200987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D1D779-1B2E-3466-61F4-00EEBC3D95A1}"/>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latin typeface="Arial"/>
                <a:ea typeface="Verdana"/>
                <a:cs typeface="Arial"/>
              </a:rPr>
              <a:t>Add page navigation buttons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C746EDDB-ACBF-C581-56FA-4590AEBFBB40}"/>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36AE9972-47E7-F4DB-9B7B-05608AFB2703}"/>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20C22E15-F783-5177-347D-3034449B269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18DD393-5A93-A1F8-083A-855844C8E828}"/>
                </a:ext>
              </a:extLst>
            </p:cNvPr>
            <p:cNvSpPr txBox="1"/>
            <p:nvPr/>
          </p:nvSpPr>
          <p:spPr>
            <a:xfrm>
              <a:off x="6541697" y="2328953"/>
              <a:ext cx="5083240" cy="1938992"/>
            </a:xfrm>
            <a:prstGeom prst="rect">
              <a:avLst/>
            </a:prstGeom>
            <a:noFill/>
          </p:spPr>
          <p:txBody>
            <a:bodyPr wrap="square" lIns="91440" tIns="45720" rIns="91440" bIns="45720" rtlCol="0" anchor="t">
              <a:spAutoFit/>
            </a:bodyPr>
            <a:lstStyle/>
            <a:p>
              <a:pPr algn="ctr"/>
              <a:r>
                <a:rPr lang="en-US" sz="2400">
                  <a:ea typeface="Verdana"/>
                  <a:cs typeface="Arial"/>
                </a:rPr>
                <a:t>Navigation buttons are not included in the application. For improved user flow it is recommended to add navigation buttons between relevant pages.  </a:t>
              </a:r>
              <a:r>
                <a:rPr lang="en-US" sz="1600">
                  <a:ea typeface="Verdana"/>
                  <a:cs typeface="Arial"/>
                </a:rPr>
                <a:t>(SPT-222) </a:t>
              </a:r>
            </a:p>
          </p:txBody>
        </p:sp>
      </p:grpSp>
      <p:sp>
        <p:nvSpPr>
          <p:cNvPr id="9" name="Rounded Rectangle 8">
            <a:extLst>
              <a:ext uri="{FF2B5EF4-FFF2-40B4-BE49-F238E27FC236}">
                <a16:creationId xmlns:a16="http://schemas.microsoft.com/office/drawing/2014/main" id="{0D41E920-9DB9-87C9-0604-B94AEDBB6016}"/>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a:t>
            </a:r>
            <a:r>
              <a:rPr lang="en-GB" sz="1400">
                <a:solidFill>
                  <a:srgbClr val="FF6101"/>
                </a:solidFill>
                <a:latin typeface="Arial" panose="020B0604020202020204"/>
                <a:ea typeface="Verdana"/>
                <a:cs typeface="Verdana" panose="020B0604030504040204" pitchFamily="34" charset="0"/>
              </a:rPr>
              <a:t>tip</a:t>
            </a:r>
            <a:endParaRPr kumimoji="0" lang="en-GB" sz="1400" b="0" i="0" u="none" strike="noStrike" kern="1200" cap="none" spc="0" normalizeH="0" baseline="0" noProof="0">
              <a:ln>
                <a:noFill/>
              </a:ln>
              <a:solidFill>
                <a:srgbClr val="FF6101"/>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5E8EB272-D232-B3AA-B0EA-63490EDF89DD}"/>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408642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E79483-D9F8-6916-8230-EC04AA119AE6}"/>
              </a:ext>
            </a:extLst>
          </p:cNvPr>
          <p:cNvSpPr txBox="1"/>
          <p:nvPr/>
        </p:nvSpPr>
        <p:spPr>
          <a:xfrm>
            <a:off x="508716" y="1212623"/>
            <a:ext cx="4607813" cy="197490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1400" b="0" i="0" u="none" strike="noStrike" kern="0" cap="none" spc="0" normalizeH="0" baseline="0" noProof="0">
                <a:ln>
                  <a:noFill/>
                </a:ln>
                <a:solidFill>
                  <a:srgbClr val="FFFFFF"/>
                </a:solidFill>
                <a:effectLst/>
                <a:uLnTx/>
                <a:uFillTx/>
                <a:cs typeface="Arial"/>
              </a:rPr>
              <a:t>We have seen cases where a generated model, when imported to another workspace, is unable to execute any imports from itself (for example, from a saved view to a list). This happens because the source model's entry that you would need to edit is no longer visible, so you cannot edit it. </a:t>
            </a:r>
          </a:p>
          <a:p>
            <a:pPr>
              <a:spcAft>
                <a:spcPts val="800"/>
              </a:spcAft>
              <a:defRPr/>
            </a:pPr>
            <a:r>
              <a:rPr kumimoji="0" lang="en-GB" sz="900" b="0" i="0" u="none" strike="noStrike" kern="0" cap="none" spc="0" normalizeH="0" baseline="0" noProof="0">
                <a:ln>
                  <a:noFill/>
                </a:ln>
                <a:solidFill>
                  <a:srgbClr val="FFFFFF"/>
                </a:solidFill>
                <a:effectLst/>
                <a:uLnTx/>
                <a:uFillTx/>
                <a:cs typeface="Arial"/>
              </a:rPr>
              <a:t>(SPT-477, SPT-581</a:t>
            </a:r>
            <a:r>
              <a:rPr lang="en-GB" sz="900" kern="0">
                <a:solidFill>
                  <a:srgbClr val="FFFFFF"/>
                </a:solidFill>
                <a:cs typeface="Arial"/>
              </a:rPr>
              <a:t>, </a:t>
            </a:r>
            <a:r>
              <a:rPr lang="en-GB" sz="900" kern="0">
                <a:solidFill>
                  <a:srgbClr val="FFFFFF"/>
                </a:solidFill>
                <a:ea typeface="+mn-lt"/>
                <a:cs typeface="+mn-lt"/>
              </a:rPr>
              <a:t>SPT-2566</a:t>
            </a:r>
            <a:r>
              <a:rPr lang="en-GB" sz="900" kern="0">
                <a:solidFill>
                  <a:srgbClr val="FFFFFF"/>
                </a:solidFill>
                <a:cs typeface="Arial"/>
              </a:rPr>
              <a:t>)</a:t>
            </a:r>
            <a:endParaRPr lang="en-GB" sz="900" b="0" i="0" u="none" strike="noStrike" kern="0" cap="none" spc="0" normalizeH="0" baseline="0" noProof="0">
              <a:ln>
                <a:noFill/>
              </a:ln>
              <a:solidFill>
                <a:srgbClr val="FFFFFF"/>
              </a:solidFill>
              <a:effectLst/>
              <a:uLnTx/>
              <a:uFillTx/>
              <a:cs typeface="Arial"/>
            </a:endParaRPr>
          </a:p>
        </p:txBody>
      </p:sp>
      <p:sp>
        <p:nvSpPr>
          <p:cNvPr id="13" name="TextBox 12">
            <a:extLst>
              <a:ext uri="{FF2B5EF4-FFF2-40B4-BE49-F238E27FC236}">
                <a16:creationId xmlns:a16="http://schemas.microsoft.com/office/drawing/2014/main" id="{718BF22E-C7EE-5CF7-F3D4-7064BD7FA1A8}"/>
              </a:ext>
            </a:extLst>
          </p:cNvPr>
          <p:cNvSpPr txBox="1"/>
          <p:nvPr/>
        </p:nvSpPr>
        <p:spPr>
          <a:xfrm>
            <a:off x="508716" y="3429000"/>
            <a:ext cx="4535894" cy="2903359"/>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How do I fix it?</a:t>
            </a:r>
          </a:p>
          <a:p>
            <a:pPr marL="342900" marR="0" lvl="0" indent="-342900" defTabSz="914400" eaLnBrk="1" fontAlgn="auto" latinLnBrk="0" hangingPunct="1">
              <a:lnSpc>
                <a:spcPct val="100000"/>
              </a:lnSpc>
              <a:spcBef>
                <a:spcPts val="0"/>
              </a:spcBef>
              <a:spcAft>
                <a:spcPts val="800"/>
              </a:spcAft>
              <a:buClrTx/>
              <a:buSzTx/>
              <a:buFont typeface="+mj-lt"/>
              <a:buAutoNum type="arabicPeriod"/>
              <a:tabLst/>
              <a:defRPr/>
            </a:pPr>
            <a:r>
              <a:rPr kumimoji="0" lang="en-GB" sz="1400" b="0" i="0" u="none" strike="noStrike" kern="0" cap="none" spc="0" normalizeH="0" baseline="0" noProof="0">
                <a:ln>
                  <a:noFill/>
                </a:ln>
                <a:solidFill>
                  <a:srgbClr val="FFFFFF"/>
                </a:solidFill>
                <a:effectLst/>
                <a:uLnTx/>
                <a:uFillTx/>
                <a:cs typeface="Arial"/>
              </a:rPr>
              <a:t> Before you do anything else, either:</a:t>
            </a:r>
          </a:p>
          <a:p>
            <a:pPr marL="742315" lvl="1" indent="-285115">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Easy: </a:t>
            </a:r>
            <a:r>
              <a:rPr kumimoji="0" lang="en-GB" sz="1400" b="0" i="0" u="none" strike="noStrike" kern="0" cap="none" spc="0" normalizeH="0" baseline="0" noProof="0">
                <a:ln>
                  <a:noFill/>
                </a:ln>
                <a:solidFill>
                  <a:srgbClr val="FFFFFF"/>
                </a:solidFill>
                <a:effectLst/>
                <a:uLnTx/>
                <a:uFillTx/>
                <a:cs typeface="Arial"/>
              </a:rPr>
              <a:t>Rename your generated data hub &amp; spoke models</a:t>
            </a:r>
            <a:endParaRPr lang="en-GB" sz="1400" b="0" i="0" u="none" strike="noStrike" kern="0" cap="none" spc="0" normalizeH="0" baseline="0" noProof="0">
              <a:ln>
                <a:noFill/>
              </a:ln>
              <a:solidFill>
                <a:srgbClr val="FFFFFF"/>
              </a:solidFill>
              <a:effectLst/>
              <a:uLnTx/>
              <a:uFillTx/>
              <a:cs typeface="Arial"/>
            </a:endParaRPr>
          </a:p>
          <a:p>
            <a:pPr marL="742315" lvl="1" indent="-285115">
              <a:spcAft>
                <a:spcPts val="800"/>
              </a:spcAft>
              <a:buFont typeface="Arial,Sans-Serif" panose="020B0604020202020204" pitchFamily="34" charset="0"/>
              <a:buChar char="•"/>
              <a:defRPr/>
            </a:pPr>
            <a:r>
              <a:rPr kumimoji="0" lang="en-GB" sz="1400" b="1" i="0" u="none" strike="noStrike" kern="0" cap="none" spc="0" normalizeH="0" baseline="0" noProof="0">
                <a:ln>
                  <a:noFill/>
                </a:ln>
                <a:solidFill>
                  <a:srgbClr val="FFFFFF"/>
                </a:solidFill>
                <a:effectLst/>
                <a:uLnTx/>
                <a:uFillTx/>
                <a:cs typeface="Arial"/>
              </a:rPr>
              <a:t>Less easy: </a:t>
            </a:r>
            <a:r>
              <a:rPr kumimoji="0" lang="en-GB" sz="1400" b="0" i="0" u="none" strike="noStrike" kern="0" cap="none" spc="0" normalizeH="0" baseline="0" noProof="0">
                <a:ln>
                  <a:noFill/>
                </a:ln>
                <a:solidFill>
                  <a:srgbClr val="FFFFFF"/>
                </a:solidFill>
                <a:effectLst/>
                <a:uLnTx/>
                <a:uFillTx/>
                <a:cs typeface="Arial"/>
              </a:rPr>
              <a:t>Copy generated data hub and spoke models or import the models to another workspace.</a:t>
            </a:r>
            <a:endParaRPr lang="en-GB" sz="1400" b="0" i="0" u="none" strike="noStrike" kern="0" cap="none" spc="0" normalizeH="0" baseline="0" noProof="0">
              <a:ln>
                <a:noFill/>
              </a:ln>
              <a:solidFill>
                <a:srgbClr val="FFFFFF"/>
              </a:solidFill>
              <a:effectLst/>
              <a:uLnTx/>
              <a:uFillTx/>
              <a:cs typeface="Arial"/>
            </a:endParaRPr>
          </a:p>
          <a:p>
            <a:pPr marL="342900" indent="-342900">
              <a:spcAft>
                <a:spcPts val="800"/>
              </a:spcAft>
              <a:buFont typeface="+mj-lt"/>
              <a:buAutoNum type="arabicPeriod"/>
              <a:defRPr/>
            </a:pPr>
            <a:r>
              <a:rPr kumimoji="0" lang="en-GB" sz="1400" b="0" i="0" u="none" strike="noStrike" kern="0" cap="none" spc="0" normalizeH="0" baseline="0" noProof="0">
                <a:ln>
                  <a:noFill/>
                </a:ln>
                <a:solidFill>
                  <a:srgbClr val="FFFFFF"/>
                </a:solidFill>
                <a:effectLst/>
                <a:uLnTx/>
                <a:uFillTx/>
                <a:cs typeface="Arial"/>
              </a:rPr>
              <a:t>In each renamed/copied/imported model, go to the </a:t>
            </a:r>
            <a:r>
              <a:rPr kumimoji="0" lang="en-GB" sz="1400" b="1" i="0" u="none" strike="noStrike" kern="0" cap="none" spc="0" normalizeH="0" baseline="0" noProof="0">
                <a:ln>
                  <a:noFill/>
                </a:ln>
                <a:solidFill>
                  <a:srgbClr val="FFFFFF"/>
                </a:solidFill>
                <a:effectLst/>
                <a:uLnTx/>
                <a:uFillTx/>
                <a:cs typeface="Arial"/>
              </a:rPr>
              <a:t>Source Models </a:t>
            </a:r>
            <a:r>
              <a:rPr kumimoji="0" lang="en-GB" sz="1400" b="0" i="0" u="none" strike="noStrike" kern="0" cap="none" spc="0" normalizeH="0" baseline="0" noProof="0">
                <a:ln>
                  <a:noFill/>
                </a:ln>
                <a:solidFill>
                  <a:srgbClr val="FFFFFF"/>
                </a:solidFill>
                <a:effectLst/>
                <a:uLnTx/>
                <a:uFillTx/>
                <a:cs typeface="Arial"/>
              </a:rPr>
              <a:t>tab, edit all entries to point to the names or copies you just made so that the </a:t>
            </a:r>
            <a:r>
              <a:rPr kumimoji="0" lang="en-GB" sz="1400" b="1" i="0" u="none" strike="noStrike" kern="0" cap="none" spc="0" normalizeH="0" baseline="0" noProof="0">
                <a:ln>
                  <a:noFill/>
                </a:ln>
                <a:solidFill>
                  <a:srgbClr val="FFFFFF"/>
                </a:solidFill>
                <a:effectLst/>
                <a:uLnTx/>
                <a:uFillTx/>
                <a:cs typeface="Arial"/>
              </a:rPr>
              <a:t>Mapped to</a:t>
            </a:r>
            <a:r>
              <a:rPr kumimoji="0" lang="en-GB" sz="1400" b="0" i="0" u="none" strike="noStrike" kern="0" cap="none" spc="0" normalizeH="0" baseline="0" noProof="0">
                <a:ln>
                  <a:noFill/>
                </a:ln>
                <a:solidFill>
                  <a:srgbClr val="FFFFFF"/>
                </a:solidFill>
                <a:effectLst/>
                <a:uLnTx/>
                <a:uFillTx/>
                <a:cs typeface="Arial"/>
              </a:rPr>
              <a:t> column on the right is not blank.</a:t>
            </a:r>
            <a:endParaRPr kumimoji="0" lang="en-GB" sz="16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15" name="Picture 14" descr="A screenshot of a computer&#10;&#10;AI-generated content may be incorrect.">
            <a:extLst>
              <a:ext uri="{FF2B5EF4-FFF2-40B4-BE49-F238E27FC236}">
                <a16:creationId xmlns:a16="http://schemas.microsoft.com/office/drawing/2014/main" id="{9D9904CC-5917-5B47-BA1A-A71A0D1D500D}"/>
              </a:ext>
            </a:extLst>
          </p:cNvPr>
          <p:cNvPicPr>
            <a:picLocks noChangeAspect="1"/>
          </p:cNvPicPr>
          <p:nvPr/>
        </p:nvPicPr>
        <p:blipFill>
          <a:blip r:embed="rId2"/>
          <a:stretch>
            <a:fillRect/>
          </a:stretch>
        </p:blipFill>
        <p:spPr>
          <a:xfrm>
            <a:off x="5527498" y="2200073"/>
            <a:ext cx="6155786" cy="2571493"/>
          </a:xfrm>
          <a:prstGeom prst="roundRect">
            <a:avLst>
              <a:gd name="adj" fmla="val 2820"/>
            </a:avLst>
          </a:prstGeom>
        </p:spPr>
      </p:pic>
    </p:spTree>
    <p:extLst>
      <p:ext uri="{BB962C8B-B14F-4D97-AF65-F5344CB8AC3E}">
        <p14:creationId xmlns:p14="http://schemas.microsoft.com/office/powerpoint/2010/main" val="50267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0E63-39DB-1E3C-643F-E9899C08C9BF}"/>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38562EF4-0E76-AA60-7779-FB743F32416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Possible self-to-self import issue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9819E99D-DC99-C33D-1DF7-C1AB1054E2E7}"/>
              </a:ext>
            </a:extLst>
          </p:cNvPr>
          <p:cNvSpPr txBox="1"/>
          <p:nvPr/>
        </p:nvSpPr>
        <p:spPr>
          <a:xfrm>
            <a:off x="512360" y="1030939"/>
            <a:ext cx="6515164" cy="5308216"/>
          </a:xfrm>
          <a:prstGeom prst="rect">
            <a:avLst/>
          </a:prstGeom>
        </p:spPr>
        <p:txBody>
          <a:bodyPr rot="0" spcFirstLastPara="0" vertOverflow="overflow" horzOverflow="overflow" vert="horz" lIns="0" tIns="45720" rIns="0" bIns="45720" numCol="1" spcCol="0" rtlCol="0" fromWordArt="0" anchor="t" anchorCtr="0" forceAA="0" compatLnSpc="1">
            <a:prstTxWarp prst="textNoShape">
              <a:avLst/>
            </a:prstTxWarp>
            <a:normAutofit/>
          </a:bodyPr>
          <a:lstStyle/>
          <a:p>
            <a:pPr defTabSz="1219140">
              <a:lnSpc>
                <a:spcPts val="1700"/>
              </a:lnSpc>
              <a:spcBef>
                <a:spcPct val="20000"/>
              </a:spcBef>
              <a:defRPr/>
            </a:pPr>
            <a:r>
              <a:rPr kumimoji="0" lang="en-US" sz="1600" b="1" i="0" u="none" strike="noStrike" kern="1200" cap="none" spc="0" normalizeH="0" baseline="0" noProof="0">
                <a:ln>
                  <a:noFill/>
                </a:ln>
                <a:effectLst/>
                <a:uLnTx/>
                <a:uFillTx/>
                <a:latin typeface="Arial"/>
                <a:ea typeface="Verdana"/>
                <a:cs typeface="Arial"/>
              </a:rPr>
              <a:t>What if I already have the </a:t>
            </a:r>
            <a:r>
              <a:rPr lang="en-US" sz="1600" b="1">
                <a:latin typeface="Arial"/>
                <a:ea typeface="Verdana"/>
                <a:cs typeface="Arial"/>
              </a:rPr>
              <a:t>problem where a source</a:t>
            </a:r>
            <a:r>
              <a:rPr kumimoji="0" lang="en-US" sz="1600" b="1" i="0" u="none" strike="noStrike" kern="1200" cap="none" spc="0" normalizeH="0" baseline="0" noProof="0">
                <a:ln>
                  <a:noFill/>
                </a:ln>
                <a:effectLst/>
                <a:uLnTx/>
                <a:uFillTx/>
                <a:latin typeface="Arial"/>
                <a:ea typeface="Verdana"/>
                <a:cs typeface="Arial"/>
              </a:rPr>
              <a:t> </a:t>
            </a:r>
            <a:r>
              <a:rPr lang="en-US" sz="1600" b="1">
                <a:latin typeface="Arial"/>
                <a:ea typeface="Verdana"/>
                <a:cs typeface="Arial"/>
              </a:rPr>
              <a:t>model's</a:t>
            </a:r>
            <a:r>
              <a:rPr kumimoji="0" lang="en-US" sz="1600" b="1" i="0" u="none" strike="noStrike" kern="1200" cap="none" spc="0" normalizeH="0" baseline="0" noProof="0">
                <a:ln>
                  <a:noFill/>
                </a:ln>
                <a:effectLst/>
                <a:uLnTx/>
                <a:uFillTx/>
                <a:latin typeface="Arial"/>
                <a:ea typeface="Verdana"/>
                <a:cs typeface="Arial"/>
              </a:rPr>
              <a:t> screen is missing the entry to edit? You have two options:</a:t>
            </a:r>
            <a:br>
              <a:rPr kumimoji="0" lang="en-US" sz="1600" b="1" i="0" u="none" strike="noStrike" kern="1200" cap="none" spc="0" normalizeH="0" baseline="0" noProof="0">
                <a:ln>
                  <a:noFill/>
                </a:ln>
                <a:effectLst/>
                <a:uLnTx/>
                <a:uFillTx/>
                <a:latin typeface="Arial"/>
                <a:ea typeface="Verdana"/>
                <a:cs typeface="Arial"/>
              </a:rPr>
            </a:br>
            <a:endParaRPr kumimoji="0" lang="en-US" sz="1400" b="1" i="0" u="none" strike="noStrike" kern="1200" cap="none" spc="0" normalizeH="0" baseline="0" noProof="0">
              <a:ln>
                <a:noFill/>
              </a:ln>
              <a:effectLst/>
              <a:uLnTx/>
              <a:uFillTx/>
              <a:latin typeface="Arial"/>
              <a:ea typeface="Verdana"/>
              <a:cs typeface="Arial"/>
            </a:endParaRPr>
          </a:p>
          <a:p>
            <a:pPr marL="342900" marR="0" lvl="0" indent="-342900" algn="l" defTabSz="1219140" rtl="0" eaLnBrk="1" fontAlgn="auto" latinLnBrk="0" hangingPunct="1">
              <a:lnSpc>
                <a:spcPts val="1600"/>
              </a:lnSpc>
              <a:spcBef>
                <a:spcPct val="20000"/>
              </a:spcBef>
              <a:spcAft>
                <a:spcPts val="0"/>
              </a:spcAft>
              <a:buClrTx/>
              <a:buSzTx/>
              <a:buAutoNum type="arabicPeriod"/>
              <a:tabLst/>
              <a:defRPr/>
            </a:pPr>
            <a:r>
              <a:rPr kumimoji="0" lang="en-US" sz="1400" b="1" i="0" u="none" strike="noStrike" kern="1200" cap="none" spc="0" normalizeH="0" baseline="0" noProof="0">
                <a:ln>
                  <a:noFill/>
                </a:ln>
                <a:solidFill>
                  <a:srgbClr val="FF721C"/>
                </a:solidFill>
                <a:effectLst/>
                <a:uLnTx/>
                <a:uFillTx/>
                <a:latin typeface="Arial"/>
                <a:ea typeface="Verdana"/>
                <a:cs typeface="Arial"/>
              </a:rPr>
              <a:t>Restore each affected model</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Restore the models to a history ID </a:t>
            </a:r>
            <a:r>
              <a:rPr lang="en-US" sz="1400" b="1" i="1">
                <a:latin typeface="Arial"/>
                <a:ea typeface="Verdana"/>
                <a:cs typeface="Arial"/>
              </a:rPr>
              <a:t>before</a:t>
            </a:r>
            <a:r>
              <a:rPr lang="en-US" sz="1400" i="1">
                <a:latin typeface="Arial"/>
                <a:ea typeface="Verdana"/>
                <a:cs typeface="Arial"/>
              </a:rPr>
              <a:t> </a:t>
            </a:r>
            <a:r>
              <a:rPr lang="en-US" sz="1400">
                <a:latin typeface="Arial"/>
                <a:ea typeface="Verdana"/>
                <a:cs typeface="Arial"/>
              </a:rPr>
              <a:t>the</a:t>
            </a:r>
            <a:r>
              <a:rPr kumimoji="0" lang="en-US" sz="1400" b="0" i="0" u="none" strike="noStrike" kern="1200" cap="none" spc="0" normalizeH="0" baseline="0" noProof="0">
                <a:ln>
                  <a:noFill/>
                </a:ln>
                <a:effectLst/>
                <a:uLnTx/>
                <a:uFillTx/>
                <a:latin typeface="Arial"/>
                <a:ea typeface="Verdana"/>
                <a:cs typeface="Arial"/>
              </a:rPr>
              <a:t> first time a self-to-self import runs. Up until this point, the Source Model screen works.</a:t>
            </a: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800100" lvl="1" indent="-34290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restored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lang="en-US" sz="1400" b="0" i="0" u="none" strike="noStrike" kern="1200" cap="none" spc="0" normalizeH="0" baseline="0" noProof="0">
              <a:ln>
                <a:noFill/>
              </a:ln>
              <a:effectLst/>
              <a:uLnTx/>
              <a:uFillTx/>
              <a:latin typeface="Arial"/>
              <a:ea typeface="Verdana"/>
              <a:cs typeface="Arial"/>
            </a:endParaRPr>
          </a:p>
          <a:p>
            <a:pPr marL="800100" marR="0" lvl="1" indent="-34290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br>
              <a:rPr kumimoji="0" lang="en-US" sz="1400" b="0" i="0" u="none" strike="noStrike" kern="1200" cap="none" spc="0" normalizeH="0" baseline="0" noProof="0">
                <a:ln>
                  <a:noFill/>
                </a:ln>
                <a:effectLst/>
                <a:uLnTx/>
                <a:uFillTx/>
                <a:latin typeface="Arial"/>
                <a:ea typeface="Verdana"/>
                <a:cs typeface="Arial"/>
              </a:rPr>
            </a:br>
            <a:endParaRPr kumimoji="0" lang="en-US" sz="1400" b="0" i="0" u="none" strike="noStrike" kern="1200" cap="none" spc="0" normalizeH="0" baseline="0" noProof="0">
              <a:ln>
                <a:noFill/>
              </a:ln>
              <a:effectLst/>
              <a:uLnTx/>
              <a:uFillTx/>
              <a:latin typeface="Arial" panose="020B0604020202020204"/>
              <a:ea typeface="+mn-ea"/>
              <a:cs typeface="+mn-cs"/>
            </a:endParaRPr>
          </a:p>
          <a:p>
            <a:pPr marL="232410" indent="-232410" defTabSz="1219140">
              <a:lnSpc>
                <a:spcPts val="1600"/>
              </a:lnSpc>
              <a:spcBef>
                <a:spcPct val="20000"/>
              </a:spcBef>
              <a:buFontTx/>
              <a:buAutoNum type="arabicPeriod"/>
              <a:defRPr/>
            </a:pPr>
            <a:r>
              <a:rPr lang="en-US" sz="1400" b="1">
                <a:solidFill>
                  <a:srgbClr val="FF721C"/>
                </a:solidFill>
                <a:latin typeface="Arial"/>
                <a:ea typeface="Verdana"/>
                <a:cs typeface="Arial"/>
              </a:rPr>
              <a:t>  </a:t>
            </a:r>
            <a:r>
              <a:rPr kumimoji="0" lang="en-US" sz="1400" b="1" i="0" u="none" strike="noStrike" kern="1200" cap="none" spc="0" normalizeH="0" baseline="0" noProof="0">
                <a:ln>
                  <a:noFill/>
                </a:ln>
                <a:solidFill>
                  <a:srgbClr val="FF721C"/>
                </a:solidFill>
                <a:effectLst/>
                <a:uLnTx/>
                <a:uFillTx/>
                <a:latin typeface="Arial"/>
                <a:ea typeface="Verdana"/>
                <a:cs typeface="Arial"/>
              </a:rPr>
              <a:t>Don't restore, fix</a:t>
            </a:r>
            <a:endParaRPr lang="en-US" sz="1400" b="1" i="0" u="none" strike="noStrike" kern="1200" cap="none" spc="0" normalizeH="0" baseline="0" noProof="0">
              <a:ln>
                <a:noFill/>
              </a:ln>
              <a:solidFill>
                <a:srgbClr val="FF721C"/>
              </a:solidFill>
              <a:effectLst/>
              <a:uLnTx/>
              <a:uFillTx/>
              <a:latin typeface="Arial"/>
              <a:ea typeface="Verdana"/>
              <a:cs typeface="Arial"/>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Make a copy of the models in the same workspace</a:t>
            </a:r>
            <a:r>
              <a:rPr lang="en-US" sz="1400">
                <a:latin typeface="Arial"/>
                <a:ea typeface="Verdana"/>
                <a:cs typeface="Arial"/>
              </a:rPr>
              <a:t> or</a:t>
            </a:r>
            <a:r>
              <a:rPr kumimoji="0" lang="en-US" sz="1400" b="0" i="0" u="none" strike="noStrike" kern="1200" cap="none" spc="0" normalizeH="0" baseline="0" noProof="0">
                <a:ln>
                  <a:noFill/>
                </a:ln>
                <a:effectLst/>
                <a:uLnTx/>
                <a:uFillTx/>
                <a:latin typeface="Arial"/>
                <a:ea typeface="Verdana"/>
                <a:cs typeface="Arial"/>
              </a:rPr>
              <a:t> import to another workspace.</a:t>
            </a:r>
            <a:endParaRPr kumimoji="0" lang="en-US" sz="1400" b="0" i="0" u="none" strike="noStrike" kern="1200" cap="none" spc="0" normalizeH="0" baseline="0" noProof="0">
              <a:ln>
                <a:noFill/>
              </a:ln>
              <a:effectLst/>
              <a:uLnTx/>
              <a:uFillTx/>
              <a:latin typeface="Arial" panose="020B0604020202020204"/>
              <a:ea typeface="+mn-ea"/>
              <a:cs typeface="+mn-cs"/>
            </a:endParaRPr>
          </a:p>
          <a:p>
            <a:pPr marL="689610" marR="0" lvl="1" indent="-232410" algn="l" defTabSz="1219140" rtl="0" eaLnBrk="1" fontAlgn="auto" latinLnBrk="0" hangingPunct="1">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Go to </a:t>
            </a:r>
            <a:r>
              <a:rPr lang="en-US" sz="1400" b="1">
                <a:latin typeface="Arial"/>
                <a:ea typeface="Verdana"/>
                <a:cs typeface="Arial"/>
              </a:rPr>
              <a:t>Actions-&gt;Import</a:t>
            </a:r>
            <a:r>
              <a:rPr kumimoji="0" lang="en-US" sz="1400" b="1" i="0" u="none" strike="noStrike" kern="1200" cap="none" spc="0" normalizeH="0" baseline="0" noProof="0">
                <a:ln>
                  <a:noFill/>
                </a:ln>
                <a:effectLst/>
                <a:uLnTx/>
                <a:uFillTx/>
                <a:latin typeface="Arial"/>
                <a:ea typeface="Verdana"/>
                <a:cs typeface="Arial"/>
              </a:rPr>
              <a:t> Data Sources</a:t>
            </a:r>
            <a:r>
              <a:rPr kumimoji="0" lang="en-US" sz="1400" b="0" i="0" u="none" strike="noStrike" kern="1200" cap="none" spc="0" normalizeH="0" baseline="0" noProof="0">
                <a:ln>
                  <a:noFill/>
                </a:ln>
                <a:effectLst/>
                <a:uLnTx/>
                <a:uFillTx/>
                <a:latin typeface="Arial"/>
                <a:ea typeface="Verdana"/>
                <a:cs typeface="Arial"/>
              </a:rPr>
              <a:t>.</a:t>
            </a:r>
            <a:endParaRPr kumimoji="0" lang="en-US" sz="1400" b="0" i="0" u="none" strike="noStrike" kern="1200" cap="none" spc="0" normalizeH="0" baseline="0" noProof="0">
              <a:ln>
                <a:noFill/>
              </a:ln>
              <a:effectLst/>
              <a:uLnTx/>
              <a:uFillTx/>
              <a:latin typeface="Arial" panose="020B0604020202020204"/>
              <a:ea typeface="+mn-ea"/>
              <a:cs typeface="Arial" panose="020B0604020202020204"/>
            </a:endParaRPr>
          </a:p>
          <a:p>
            <a:pPr marL="689610" lvl="1" indent="-232410" defTabSz="1219140">
              <a:lnSpc>
                <a:spcPts val="1600"/>
              </a:lnSpc>
              <a:spcBef>
                <a:spcPct val="20000"/>
              </a:spcBef>
              <a:buFontTx/>
              <a:buAutoNum type="alphaLcPeriod"/>
              <a:defRPr/>
            </a:pPr>
            <a:r>
              <a:rPr kumimoji="0" lang="en-US" sz="1400" b="0" i="0" u="none" strike="noStrike" kern="1200" cap="none" spc="0" normalizeH="0" baseline="0" noProof="0">
                <a:ln>
                  <a:noFill/>
                </a:ln>
                <a:effectLst/>
                <a:uLnTx/>
                <a:uFillTx/>
                <a:latin typeface="Arial"/>
                <a:ea typeface="Verdana"/>
                <a:cs typeface="Arial"/>
              </a:rPr>
              <a:t>For each entry that serves a self-to-self import, copy the name of the source saved view from the </a:t>
            </a:r>
            <a:r>
              <a:rPr kumimoji="0" lang="en-US" sz="1400" b="1" i="0" u="none" strike="noStrike" kern="1200" cap="none" spc="0" normalizeH="0" baseline="0" noProof="0">
                <a:ln>
                  <a:noFill/>
                </a:ln>
                <a:effectLst/>
                <a:uLnTx/>
                <a:uFillTx/>
                <a:latin typeface="Arial"/>
                <a:ea typeface="Verdana"/>
                <a:cs typeface="Arial"/>
              </a:rPr>
              <a:t>Source Object Name</a:t>
            </a:r>
            <a:r>
              <a:rPr kumimoji="0" lang="en-US" sz="1400" b="0" i="0" u="none" strike="noStrike" kern="1200" cap="none" spc="0" normalizeH="0" baseline="0" noProof="0">
                <a:ln>
                  <a:noFill/>
                </a:ln>
                <a:effectLst/>
                <a:uLnTx/>
                <a:uFillTx/>
                <a:latin typeface="Arial"/>
                <a:ea typeface="Verdana"/>
                <a:cs typeface="Arial"/>
              </a:rPr>
              <a:t> column, edit the import data source, change to the correct copied/imported model, and reselect the correct saved view in this model copy.</a:t>
            </a:r>
            <a:endParaRPr lang="en-US" sz="1400">
              <a:latin typeface="Arial"/>
              <a:ea typeface="Verdana"/>
              <a:cs typeface="Arial"/>
            </a:endParaRPr>
          </a:p>
          <a:p>
            <a:pPr marL="689610" marR="0" lvl="1" indent="-232410" algn="l" defTabSz="1219140">
              <a:lnSpc>
                <a:spcPts val="1600"/>
              </a:lnSpc>
              <a:spcBef>
                <a:spcPct val="20000"/>
              </a:spcBef>
              <a:spcAft>
                <a:spcPts val="0"/>
              </a:spcAft>
              <a:buClrTx/>
              <a:buSzTx/>
              <a:buFontTx/>
              <a:buAutoNum type="alphaLcPeriod"/>
              <a:tabLst/>
              <a:defRPr/>
            </a:pPr>
            <a:r>
              <a:rPr kumimoji="0" lang="en-US" sz="1400" b="0" i="0" u="none" strike="noStrike" kern="1200" cap="none" spc="0" normalizeH="0" baseline="0" noProof="0">
                <a:ln>
                  <a:noFill/>
                </a:ln>
                <a:effectLst/>
                <a:uLnTx/>
                <a:uFillTx/>
                <a:latin typeface="Arial"/>
                <a:ea typeface="Verdana"/>
                <a:cs typeface="Arial"/>
              </a:rPr>
              <a:t>In the copied/imported models, edit the Source Model screen to map</a:t>
            </a:r>
            <a:br>
              <a:rPr kumimoji="0" lang="en-US" sz="1400" b="0" i="0" u="none" strike="noStrike" kern="1200" cap="none" spc="0" normalizeH="0" baseline="0" noProof="0">
                <a:ln>
                  <a:noFill/>
                </a:ln>
                <a:effectLst/>
                <a:uLnTx/>
                <a:uFillTx/>
                <a:latin typeface="Arial"/>
                <a:ea typeface="Verdana"/>
                <a:cs typeface="Arial"/>
              </a:rPr>
            </a:br>
            <a:r>
              <a:rPr kumimoji="0" lang="en-US" sz="1400" b="0" i="0" u="none" strike="noStrike" kern="1200" cap="none" spc="0" normalizeH="0" baseline="0" noProof="0">
                <a:ln>
                  <a:noFill/>
                </a:ln>
                <a:effectLst/>
                <a:uLnTx/>
                <a:uFillTx/>
                <a:latin typeface="Arial"/>
                <a:ea typeface="Verdana"/>
                <a:cs typeface="Arial"/>
              </a:rPr>
              <a:t>to this new instance instead of the original one.</a:t>
            </a:r>
            <a:endParaRPr lang="en-US" sz="1400" b="0" i="0" u="none" strike="noStrike" kern="1200" cap="none" spc="0" normalizeH="0" baseline="0" noProof="0">
              <a:ln>
                <a:noFill/>
              </a:ln>
              <a:effectLst/>
              <a:uLnTx/>
              <a:uFillTx/>
              <a:latin typeface="Arial"/>
              <a:ea typeface="Verdana"/>
              <a:cs typeface="Arial"/>
            </a:endParaRPr>
          </a:p>
          <a:p>
            <a:pPr marL="232410" marR="0" lvl="0" indent="-232410" algn="l" defTabSz="1219140" rtl="0" eaLnBrk="1" fontAlgn="auto" latinLnBrk="0" hangingPunct="1">
              <a:lnSpc>
                <a:spcPts val="1600"/>
              </a:lnSpc>
              <a:spcBef>
                <a:spcPct val="20000"/>
              </a:spcBef>
              <a:spcAft>
                <a:spcPts val="0"/>
              </a:spcAft>
              <a:buClrTx/>
              <a:buSzTx/>
              <a:buFontTx/>
              <a:buAutoNum type="arabicPeriod"/>
              <a:tabLst/>
              <a:defRPr/>
            </a:pPr>
            <a:endParaRPr kumimoji="0" lang="en-US" sz="12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1219140" rtl="0" eaLnBrk="1" fontAlgn="auto" latinLnBrk="0" hangingPunct="1">
              <a:lnSpc>
                <a:spcPts val="1600"/>
              </a:lnSpc>
              <a:spcBef>
                <a:spcPct val="20000"/>
              </a:spcBef>
              <a:spcAft>
                <a:spcPts val="0"/>
              </a:spcAft>
              <a:buClrTx/>
              <a:buSzTx/>
              <a:buFontTx/>
              <a:buNone/>
              <a:tabLst/>
              <a:defRPr/>
            </a:pPr>
            <a:r>
              <a:rPr kumimoji="0" lang="en-US" sz="900" b="0" i="0" u="none" strike="noStrike" kern="1200" cap="none" spc="0" normalizeH="0" baseline="0" noProof="0">
                <a:ln>
                  <a:noFill/>
                </a:ln>
                <a:effectLst/>
                <a:uLnTx/>
                <a:uFillTx/>
                <a:latin typeface="Arial"/>
                <a:ea typeface="Verdana"/>
                <a:cs typeface="Arial"/>
              </a:rPr>
              <a:t>(SPT-477, SPT-581)</a:t>
            </a:r>
            <a:endParaRPr lang="en-US" sz="900" b="0" i="0" u="none" strike="noStrike" kern="1200" cap="none" spc="0" normalizeH="0" baseline="0" noProof="0">
              <a:ln>
                <a:noFill/>
              </a:ln>
              <a:effectLst/>
              <a:uLnTx/>
              <a:uFillTx/>
              <a:latin typeface="Arial"/>
              <a:ea typeface="Verdana"/>
              <a:cs typeface="Arial"/>
            </a:endParaRPr>
          </a:p>
        </p:txBody>
      </p:sp>
      <p:grpSp>
        <p:nvGrpSpPr>
          <p:cNvPr id="5" name="Group 4">
            <a:extLst>
              <a:ext uri="{FF2B5EF4-FFF2-40B4-BE49-F238E27FC236}">
                <a16:creationId xmlns:a16="http://schemas.microsoft.com/office/drawing/2014/main" id="{7964F0B0-D2A0-0457-AE07-4D5FE7211CB8}"/>
              </a:ext>
            </a:extLst>
          </p:cNvPr>
          <p:cNvGrpSpPr/>
          <p:nvPr/>
        </p:nvGrpSpPr>
        <p:grpSpPr>
          <a:xfrm>
            <a:off x="7191910" y="1726057"/>
            <a:ext cx="3949419" cy="4440977"/>
            <a:chOff x="6389718" y="1315553"/>
            <a:chExt cx="4751611" cy="4851482"/>
          </a:xfrm>
        </p:grpSpPr>
        <p:pic>
          <p:nvPicPr>
            <p:cNvPr id="2" name="Picture 1" descr="A screenshot of a computer&#10;&#10;Description automatically generated">
              <a:extLst>
                <a:ext uri="{FF2B5EF4-FFF2-40B4-BE49-F238E27FC236}">
                  <a16:creationId xmlns:a16="http://schemas.microsoft.com/office/drawing/2014/main" id="{1431D519-8254-7D57-E2D9-AB7F087C6B67}"/>
                </a:ext>
              </a:extLst>
            </p:cNvPr>
            <p:cNvPicPr>
              <a:picLocks noChangeAspect="1"/>
            </p:cNvPicPr>
            <p:nvPr/>
          </p:nvPicPr>
          <p:blipFill>
            <a:blip r:embed="rId2"/>
            <a:stretch>
              <a:fillRect/>
            </a:stretch>
          </p:blipFill>
          <p:spPr>
            <a:xfrm>
              <a:off x="6389718" y="1315553"/>
              <a:ext cx="4751611" cy="4851482"/>
            </a:xfrm>
            <a:prstGeom prst="roundRect">
              <a:avLst>
                <a:gd name="adj" fmla="val 1285"/>
              </a:avLst>
            </a:prstGeom>
            <a:noFill/>
          </p:spPr>
        </p:pic>
        <p:sp>
          <p:nvSpPr>
            <p:cNvPr id="4" name="Rectangle 3">
              <a:extLst>
                <a:ext uri="{FF2B5EF4-FFF2-40B4-BE49-F238E27FC236}">
                  <a16:creationId xmlns:a16="http://schemas.microsoft.com/office/drawing/2014/main" id="{A4D9273F-9213-C1F0-CDF2-1DD08C7A02BD}"/>
                </a:ext>
              </a:extLst>
            </p:cNvPr>
            <p:cNvSpPr/>
            <p:nvPr/>
          </p:nvSpPr>
          <p:spPr>
            <a:xfrm>
              <a:off x="10712138" y="1348208"/>
              <a:ext cx="409598" cy="2223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grpSp>
    </p:spTree>
    <p:extLst>
      <p:ext uri="{BB962C8B-B14F-4D97-AF65-F5344CB8AC3E}">
        <p14:creationId xmlns:p14="http://schemas.microsoft.com/office/powerpoint/2010/main" val="268679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F356-4BCB-A205-4A85-3D58678D94B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172EC5B7-1A05-30C4-01B6-E729AFF25104}"/>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time settings &amp; time ranges to match customer needs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E9B9FC68-1B31-DF30-02E4-16D721C8B4E2}"/>
              </a:ext>
            </a:extLst>
          </p:cNvPr>
          <p:cNvSpPr txBox="1"/>
          <p:nvPr/>
        </p:nvSpPr>
        <p:spPr>
          <a:xfrm>
            <a:off x="6687351" y="4860684"/>
            <a:ext cx="520823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a:solidFill>
                  <a:schemeClr val="tx2"/>
                </a:solidFill>
                <a:cs typeface="Arial"/>
              </a:rPr>
              <a:t>Update </a:t>
            </a:r>
            <a:r>
              <a:rPr lang="en-US" sz="1400" b="1">
                <a:solidFill>
                  <a:schemeClr val="tx2"/>
                </a:solidFill>
                <a:cs typeface="Arial"/>
              </a:rPr>
              <a:t>Current Fiscal Year - </a:t>
            </a:r>
            <a:r>
              <a:rPr lang="en-US" sz="1400">
                <a:solidFill>
                  <a:schemeClr val="tx2"/>
                </a:solidFill>
                <a:ea typeface="Verdana"/>
                <a:cs typeface="Arial"/>
              </a:rPr>
              <a:t>match to customer</a:t>
            </a:r>
            <a:endParaRPr lang="en-US" sz="1400" b="1">
              <a:solidFill>
                <a:schemeClr val="tx2"/>
              </a:solidFill>
              <a:cs typeface="Arial"/>
            </a:endParaRPr>
          </a:p>
          <a:p>
            <a:pPr marL="285750" indent="-285750">
              <a:buFont typeface="Arial" panose="020B0604020202020204" pitchFamily="34" charset="0"/>
              <a:buChar char="•"/>
            </a:pPr>
            <a:r>
              <a:rPr lang="en-US" sz="1400">
                <a:solidFill>
                  <a:schemeClr val="tx2"/>
                </a:solidFill>
                <a:cs typeface="Arial"/>
              </a:rPr>
              <a:t>Update</a:t>
            </a:r>
            <a:r>
              <a:rPr lang="en-US" sz="1400" b="1">
                <a:solidFill>
                  <a:schemeClr val="tx2"/>
                </a:solidFill>
                <a:cs typeface="Arial"/>
              </a:rPr>
              <a:t> Fiscal Year Start Month - </a:t>
            </a:r>
            <a:r>
              <a:rPr lang="en-US" sz="1400">
                <a:solidFill>
                  <a:schemeClr val="tx2"/>
                </a:solidFill>
                <a:ea typeface="Verdana"/>
                <a:cs typeface="Arial"/>
              </a:rPr>
              <a:t>match to customer</a:t>
            </a:r>
            <a:endParaRPr lang="en-US" sz="1400" b="1">
              <a:solidFill>
                <a:schemeClr val="tx2"/>
              </a:solidFill>
              <a:cs typeface="Arial"/>
            </a:endParaRPr>
          </a:p>
          <a:p>
            <a:pPr marL="285750" indent="-285750">
              <a:buFont typeface="Arial" panose="020B0604020202020204" pitchFamily="34" charset="0"/>
              <a:buChar char="•"/>
            </a:pPr>
            <a:r>
              <a:rPr lang="en-US" sz="1400">
                <a:solidFill>
                  <a:schemeClr val="tx2"/>
                </a:solidFill>
                <a:cs typeface="Arial"/>
              </a:rPr>
              <a:t>Number of </a:t>
            </a:r>
            <a:r>
              <a:rPr lang="en-US" sz="1400" b="1">
                <a:solidFill>
                  <a:schemeClr val="tx2"/>
                </a:solidFill>
                <a:cs typeface="Arial"/>
              </a:rPr>
              <a:t>Past Years – 1 to 2</a:t>
            </a:r>
          </a:p>
          <a:p>
            <a:pPr marL="285750" indent="-285750">
              <a:buFont typeface="Arial" panose="020B0604020202020204" pitchFamily="34" charset="0"/>
              <a:buChar char="•"/>
            </a:pPr>
            <a:r>
              <a:rPr lang="en-US" sz="1400">
                <a:solidFill>
                  <a:schemeClr val="tx2"/>
                </a:solidFill>
                <a:cs typeface="Arial"/>
              </a:rPr>
              <a:t>Number of </a:t>
            </a:r>
            <a:r>
              <a:rPr lang="en-US" sz="1400" b="1">
                <a:solidFill>
                  <a:schemeClr val="tx2"/>
                </a:solidFill>
                <a:cs typeface="Arial"/>
              </a:rPr>
              <a:t>Future Years –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effectLst/>
                <a:uLnTx/>
                <a:uFillTx/>
                <a:latin typeface="Arial"/>
                <a:ea typeface="Verdana"/>
                <a:cs typeface="Arial"/>
              </a:rPr>
              <a:t>Select </a:t>
            </a:r>
            <a:r>
              <a:rPr lang="en-US" sz="1400" b="1">
                <a:latin typeface="Arial"/>
                <a:ea typeface="Verdana"/>
                <a:cs typeface="Arial"/>
              </a:rPr>
              <a:t>Total</a:t>
            </a:r>
            <a:r>
              <a:rPr kumimoji="0" lang="en-US" sz="1400" b="1" i="0" u="none" strike="noStrike" kern="1200" cap="none" spc="0" normalizeH="0" baseline="0" noProof="0">
                <a:ln>
                  <a:noFill/>
                </a:ln>
                <a:effectLst/>
                <a:uLnTx/>
                <a:uFillTx/>
                <a:latin typeface="Arial"/>
                <a:ea typeface="Verdana"/>
                <a:cs typeface="Arial"/>
              </a:rPr>
              <a:t> of All Periods</a:t>
            </a:r>
            <a:endParaRPr kumimoji="0" lang="en-US" sz="1400" b="1"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47E713A7-86A8-CD21-BFAB-867250D6A8B0}"/>
              </a:ext>
            </a:extLst>
          </p:cNvPr>
          <p:cNvSpPr txBox="1"/>
          <p:nvPr/>
        </p:nvSpPr>
        <p:spPr>
          <a:xfrm>
            <a:off x="6637134" y="980152"/>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6">
                    <a:lumMod val="90000"/>
                  </a:schemeClr>
                </a:solidFill>
                <a:effectLst/>
                <a:uLnTx/>
                <a:uFillTx/>
                <a:latin typeface="Arial"/>
                <a:ea typeface="Verdana"/>
                <a:cs typeface="Arial"/>
              </a:rPr>
              <a:t>Spoke </a:t>
            </a:r>
            <a:r>
              <a:rPr lang="en-US" sz="1600" b="1">
                <a:solidFill>
                  <a:schemeClr val="accent6">
                    <a:lumMod val="90000"/>
                  </a:schemeClr>
                </a:solidFill>
                <a:latin typeface="Arial"/>
                <a:ea typeface="Verdana"/>
                <a:cs typeface="Arial"/>
              </a:rPr>
              <a:t>model</a:t>
            </a:r>
            <a:endParaRPr kumimoji="0" lang="en-US" sz="1600" b="1" i="0" u="none" strike="noStrike" kern="1200" cap="none" spc="0" normalizeH="0" baseline="0" noProof="0">
              <a:ln>
                <a:noFill/>
              </a:ln>
              <a:solidFill>
                <a:schemeClr val="accent6">
                  <a:lumMod val="90000"/>
                </a:schemeClr>
              </a:solidFill>
              <a:effectLst/>
              <a:uLnTx/>
              <a:uFillTx/>
              <a:latin typeface="Arial" panose="020B0604020202020204" pitchFamily="34"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53996123-BF6D-CDE9-03B4-850FC0C5CDEF}"/>
              </a:ext>
            </a:extLst>
          </p:cNvPr>
          <p:cNvSpPr txBox="1"/>
          <p:nvPr/>
        </p:nvSpPr>
        <p:spPr>
          <a:xfrm>
            <a:off x="562161" y="980152"/>
            <a:ext cx="41429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kumimoji="0" lang="en-US" sz="1600" b="1" i="0" u="none" strike="noStrike" kern="1200" cap="none" spc="0" normalizeH="0" baseline="0" noProof="0">
                <a:ln>
                  <a:noFill/>
                </a:ln>
                <a:solidFill>
                  <a:srgbClr val="FF721C"/>
                </a:solidFill>
                <a:effectLst/>
                <a:uLnTx/>
                <a:uFillTx/>
                <a:latin typeface="Arial"/>
                <a:ea typeface="Verdana"/>
                <a:cs typeface="Arial"/>
              </a:rPr>
              <a:t>Data </a:t>
            </a:r>
            <a:r>
              <a:rPr lang="en-US" sz="1600" b="1">
                <a:solidFill>
                  <a:srgbClr val="FF721C"/>
                </a:solidFill>
                <a:latin typeface="Arial"/>
                <a:ea typeface="Verdana"/>
                <a:cs typeface="Arial"/>
              </a:rPr>
              <a:t>Hub model</a:t>
            </a:r>
            <a:endParaRPr kumimoji="0" lang="en-US" sz="1800" b="1" i="0" u="none" strike="noStrike" kern="1200" cap="none" spc="0" normalizeH="0" baseline="0" noProof="0">
              <a:ln>
                <a:noFill/>
              </a:ln>
              <a:solidFill>
                <a:srgbClr val="FF721C"/>
              </a:solidFill>
              <a:effectLst/>
              <a:uLnTx/>
              <a:uFillTx/>
              <a:latin typeface="Arial" panose="020B0604020202020204"/>
              <a:ea typeface="+mn-ea"/>
              <a:cs typeface="Arial"/>
            </a:endParaRPr>
          </a:p>
        </p:txBody>
      </p:sp>
      <p:sp>
        <p:nvSpPr>
          <p:cNvPr id="5" name="TextBox 4">
            <a:extLst>
              <a:ext uri="{FF2B5EF4-FFF2-40B4-BE49-F238E27FC236}">
                <a16:creationId xmlns:a16="http://schemas.microsoft.com/office/drawing/2014/main" id="{054CBE3C-55EC-7077-39BD-67FC333C22C0}"/>
              </a:ext>
            </a:extLst>
          </p:cNvPr>
          <p:cNvSpPr txBox="1"/>
          <p:nvPr/>
        </p:nvSpPr>
        <p:spPr>
          <a:xfrm>
            <a:off x="669571" y="4828081"/>
            <a:ext cx="520823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effectLst/>
                <a:uLnTx/>
                <a:uFillTx/>
                <a:latin typeface="Arial"/>
                <a:ea typeface="Verdana"/>
                <a:cs typeface="Arial"/>
              </a:rPr>
              <a:t>Fiscal Year Start Month – match to customer</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effectLst/>
                <a:uLnTx/>
                <a:uFillTx/>
                <a:latin typeface="Arial"/>
                <a:ea typeface="Verdana"/>
                <a:cs typeface="Arial"/>
              </a:rPr>
              <a:t>Current Fiscal Year – match to customer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CC3DBDC6-A55E-F78D-65CE-928E33B8F689}"/>
              </a:ext>
            </a:extLst>
          </p:cNvPr>
          <p:cNvSpPr txBox="1"/>
          <p:nvPr/>
        </p:nvSpPr>
        <p:spPr>
          <a:xfrm>
            <a:off x="607540" y="5903919"/>
            <a:ext cx="4535960" cy="830997"/>
          </a:xfrm>
          <a:prstGeom prst="rect">
            <a:avLst/>
          </a:prstGeom>
          <a:noFill/>
          <a:ln>
            <a:solidFill>
              <a:srgbClr val="FF721C"/>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a:ln>
                  <a:noFill/>
                </a:ln>
                <a:solidFill>
                  <a:srgbClr val="FF721C"/>
                </a:solidFill>
                <a:effectLst/>
                <a:uLnTx/>
                <a:uFillTx/>
                <a:latin typeface="Arial"/>
                <a:ea typeface="Verdana"/>
                <a:cs typeface="Arial"/>
              </a:rPr>
              <a:t>Note: </a:t>
            </a:r>
            <a:r>
              <a:rPr lang="en-US" sz="2400">
                <a:latin typeface="Arial"/>
                <a:ea typeface="Verdana"/>
                <a:cs typeface="Arial"/>
              </a:rPr>
              <a:t>Make</a:t>
            </a:r>
            <a:r>
              <a:rPr kumimoji="0" lang="en-US" sz="2400" u="none" strike="noStrike" kern="1200" cap="none" spc="0" normalizeH="0" baseline="0" noProof="0">
                <a:ln>
                  <a:noFill/>
                </a:ln>
                <a:effectLst/>
                <a:uLnTx/>
                <a:uFillTx/>
                <a:latin typeface="Arial"/>
                <a:ea typeface="Verdana"/>
                <a:cs typeface="Arial"/>
              </a:rPr>
              <a:t> time changes before the first data load.</a:t>
            </a:r>
            <a:endParaRPr lang="en-US" sz="2400" u="none" strike="noStrike" kern="1200" cap="none" spc="0" normalizeH="0" baseline="0" noProof="0">
              <a:ln>
                <a:noFill/>
              </a:ln>
              <a:effectLst/>
              <a:uLnTx/>
              <a:uFillTx/>
              <a:latin typeface="Arial" panose="020B0604020202020204" pitchFamily="34" charset="0"/>
              <a:ea typeface="Verdana" charset="0"/>
              <a:cs typeface="Arial" panose="020B0604020202020204" pitchFamily="34" charset="0"/>
            </a:endParaRPr>
          </a:p>
        </p:txBody>
      </p:sp>
      <p:pic>
        <p:nvPicPr>
          <p:cNvPr id="9" name="Picture 8" descr="A screenshot of a calendar&#10;&#10;AI-generated content may be incorrect.">
            <a:extLst>
              <a:ext uri="{FF2B5EF4-FFF2-40B4-BE49-F238E27FC236}">
                <a16:creationId xmlns:a16="http://schemas.microsoft.com/office/drawing/2014/main" id="{9BA32C46-B151-65C6-E8EB-C8EF6336850A}"/>
              </a:ext>
            </a:extLst>
          </p:cNvPr>
          <p:cNvPicPr>
            <a:picLocks noChangeAspect="1"/>
          </p:cNvPicPr>
          <p:nvPr/>
        </p:nvPicPr>
        <p:blipFill>
          <a:blip r:embed="rId2"/>
          <a:stretch>
            <a:fillRect/>
          </a:stretch>
        </p:blipFill>
        <p:spPr>
          <a:xfrm>
            <a:off x="597971" y="1322717"/>
            <a:ext cx="3893643" cy="3364303"/>
          </a:xfrm>
          <a:prstGeom prst="rect">
            <a:avLst/>
          </a:prstGeom>
        </p:spPr>
      </p:pic>
      <p:pic>
        <p:nvPicPr>
          <p:cNvPr id="10" name="Picture 9" descr="A screenshot of a calendar&#10;&#10;AI-generated content may be incorrect.">
            <a:extLst>
              <a:ext uri="{FF2B5EF4-FFF2-40B4-BE49-F238E27FC236}">
                <a16:creationId xmlns:a16="http://schemas.microsoft.com/office/drawing/2014/main" id="{0B8A67D4-F679-EBF5-A8CD-F7BCF3999122}"/>
              </a:ext>
            </a:extLst>
          </p:cNvPr>
          <p:cNvPicPr>
            <a:picLocks noChangeAspect="1"/>
          </p:cNvPicPr>
          <p:nvPr/>
        </p:nvPicPr>
        <p:blipFill>
          <a:blip r:embed="rId3"/>
          <a:stretch>
            <a:fillRect/>
          </a:stretch>
        </p:blipFill>
        <p:spPr>
          <a:xfrm>
            <a:off x="6774890" y="1322717"/>
            <a:ext cx="3631164" cy="3364303"/>
          </a:xfrm>
          <a:prstGeom prst="rect">
            <a:avLst/>
          </a:prstGeom>
        </p:spPr>
      </p:pic>
    </p:spTree>
    <p:extLst>
      <p:ext uri="{BB962C8B-B14F-4D97-AF65-F5344CB8AC3E}">
        <p14:creationId xmlns:p14="http://schemas.microsoft.com/office/powerpoint/2010/main" val="72372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kumimoji="0" lang="en-GB" sz="2400" b="1" i="0" u="none" strike="noStrike" kern="1200" cap="none" spc="0" normalizeH="0" baseline="0" noProof="0">
                <a:ln>
                  <a:noFill/>
                </a:ln>
                <a:solidFill>
                  <a:srgbClr val="FFFFFF"/>
                </a:solidFill>
                <a:effectLst/>
                <a:uLnTx/>
                <a:uFillTx/>
                <a:latin typeface="Arial"/>
                <a:ea typeface="Verdana"/>
                <a:cs typeface="Arial"/>
              </a:rPr>
              <a:t>Time </a:t>
            </a:r>
            <a:r>
              <a:rPr lang="en-GB">
                <a:solidFill>
                  <a:srgbClr val="FFFFFF"/>
                </a:solidFill>
                <a:latin typeface="Arial"/>
                <a:ea typeface="Verdana"/>
                <a:cs typeface="Arial"/>
              </a:rPr>
              <a:t>ranges -</a:t>
            </a:r>
            <a:r>
              <a:rPr kumimoji="0" lang="en-GB" sz="2400" b="1" i="0" u="none" strike="noStrike" kern="1200" cap="none" spc="0" normalizeH="0" baseline="0" noProof="0">
                <a:ln>
                  <a:noFill/>
                </a:ln>
                <a:solidFill>
                  <a:srgbClr val="FFFFFF"/>
                </a:solidFill>
                <a:effectLst/>
                <a:uLnTx/>
                <a:uFillTx/>
                <a:latin typeface="Arial"/>
                <a:ea typeface="Verdana"/>
                <a:cs typeface="Arial"/>
              </a:rPr>
              <a:t> </a:t>
            </a:r>
            <a:r>
              <a:rPr lang="en-GB">
                <a:solidFill>
                  <a:srgbClr val="FFFFFF"/>
                </a:solidFill>
                <a:latin typeface="Arial"/>
                <a:ea typeface="Verdana"/>
                <a:cs typeface="Arial"/>
              </a:rPr>
              <a:t>Spoke </a:t>
            </a:r>
            <a:endParaRPr kumimoji="0" lang="en-GB" sz="2400" b="0" i="0" u="none" strike="noStrike" kern="1200" cap="none" spc="0" normalizeH="0" baseline="0" noProof="0">
              <a:ln>
                <a:noFill/>
              </a:ln>
              <a:solidFill>
                <a:srgbClr val="FFFFFF"/>
              </a:solidFill>
              <a:effectLst/>
              <a:uLnTx/>
              <a:uFillTx/>
              <a:latin typeface="Arial"/>
              <a:ea typeface="Verdana"/>
              <a:cs typeface="Arial"/>
            </a:endParaRPr>
          </a:p>
        </p:txBody>
      </p:sp>
      <p:pic>
        <p:nvPicPr>
          <p:cNvPr id="15362" name="Picture 2" descr="A screenshot of a computer&#10;&#10;AI-generated content may be incorrect.">
            <a:extLst>
              <a:ext uri="{FF2B5EF4-FFF2-40B4-BE49-F238E27FC236}">
                <a16:creationId xmlns:a16="http://schemas.microsoft.com/office/drawing/2014/main" id="{ECB95441-ABBD-F715-3E66-D400255D3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14" y="3280815"/>
            <a:ext cx="11231572" cy="2149793"/>
          </a:xfrm>
          <a:prstGeom prst="roundRect">
            <a:avLst>
              <a:gd name="adj" fmla="val 6565"/>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D1F87AD-0B7E-864A-1C87-74A76A5B5C15}"/>
              </a:ext>
            </a:extLst>
          </p:cNvPr>
          <p:cNvSpPr txBox="1"/>
          <p:nvPr/>
        </p:nvSpPr>
        <p:spPr>
          <a:xfrm>
            <a:off x="480214" y="1427392"/>
            <a:ext cx="10858346" cy="1261884"/>
          </a:xfrm>
          <a:prstGeom prst="rect">
            <a:avLst/>
          </a:prstGeom>
          <a:noFill/>
        </p:spPr>
        <p:txBody>
          <a:bodyPr wrap="square" lIns="91440" tIns="45720" rIns="91440" bIns="45720" anchor="t">
            <a:spAutoFit/>
          </a:bodyPr>
          <a:lstStyle/>
          <a:p>
            <a:r>
              <a:rPr lang="en-US" sz="1600" b="1" i="0" u="none" strike="noStrike">
                <a:solidFill>
                  <a:schemeClr val="accent1"/>
                </a:solidFill>
                <a:effectLst/>
                <a:latin typeface="Arial" panose="020B0604020202020204" pitchFamily="34" charset="0"/>
              </a:rPr>
              <a:t>Overview: </a:t>
            </a:r>
          </a:p>
          <a:p>
            <a:r>
              <a:rPr lang="en-US" sz="1400">
                <a:solidFill>
                  <a:schemeClr val="tx2"/>
                </a:solidFill>
                <a:latin typeface="Arial"/>
                <a:cs typeface="Arial"/>
              </a:rPr>
              <a:t>Time ranges, like model calendars, may need to be updated after generation (</a:t>
            </a:r>
            <a:r>
              <a:rPr lang="en-US" sz="1400">
                <a:solidFill>
                  <a:schemeClr val="tx2"/>
                </a:solidFill>
                <a:ea typeface="+mn-lt"/>
                <a:cs typeface="+mn-lt"/>
              </a:rPr>
              <a:t>SPT-1681</a:t>
            </a:r>
            <a:r>
              <a:rPr lang="en-US" sz="1400">
                <a:solidFill>
                  <a:schemeClr val="tx2"/>
                </a:solidFill>
                <a:latin typeface="Arial"/>
                <a:cs typeface="Arial"/>
              </a:rPr>
              <a:t>). </a:t>
            </a:r>
            <a:endParaRPr lang="en-US" sz="1400" i="0" u="none" strike="noStrike">
              <a:solidFill>
                <a:schemeClr val="tx2"/>
              </a:solidFill>
              <a:effectLst/>
              <a:latin typeface="Arial"/>
              <a:cs typeface="Arial"/>
            </a:endParaRPr>
          </a:p>
          <a:p>
            <a:endParaRPr lang="en-US" sz="1600">
              <a:solidFill>
                <a:schemeClr val="tx2"/>
              </a:solidFill>
              <a:latin typeface="Arial" panose="020B0604020202020204" pitchFamily="34" charset="0"/>
            </a:endParaRPr>
          </a:p>
          <a:p>
            <a:r>
              <a:rPr lang="en-US" sz="1600" b="1" i="0" u="none" strike="noStrike">
                <a:solidFill>
                  <a:schemeClr val="accent1"/>
                </a:solidFill>
                <a:effectLst/>
                <a:latin typeface="Arial" panose="020B0604020202020204" pitchFamily="34" charset="0"/>
              </a:rPr>
              <a:t>Action required: </a:t>
            </a:r>
          </a:p>
          <a:p>
            <a:r>
              <a:rPr lang="en-US" sz="1400" b="0" i="0" u="none" strike="noStrike">
                <a:solidFill>
                  <a:schemeClr val="tx2"/>
                </a:solidFill>
                <a:effectLst/>
                <a:latin typeface="Arial" panose="020B0604020202020204" pitchFamily="34" charset="0"/>
              </a:rPr>
              <a:t>Enter or update time ranges to align with the current appropriate planning periods based on </a:t>
            </a:r>
            <a:r>
              <a:rPr lang="en-US" sz="1400">
                <a:solidFill>
                  <a:schemeClr val="tx2"/>
                </a:solidFill>
                <a:latin typeface="Arial" panose="020B0604020202020204" pitchFamily="34" charset="0"/>
              </a:rPr>
              <a:t>the customer's </a:t>
            </a:r>
            <a:r>
              <a:rPr lang="en-US" sz="1400" b="0" i="0" u="none" strike="noStrike">
                <a:solidFill>
                  <a:schemeClr val="tx2"/>
                </a:solidFill>
                <a:effectLst/>
                <a:latin typeface="Arial" panose="020B0604020202020204" pitchFamily="34" charset="0"/>
              </a:rPr>
              <a:t>calendar settings. </a:t>
            </a:r>
            <a:endParaRPr lang="en-US" sz="1400">
              <a:solidFill>
                <a:schemeClr val="tx2"/>
              </a:solidFill>
            </a:endParaRPr>
          </a:p>
        </p:txBody>
      </p:sp>
    </p:spTree>
    <p:extLst>
      <p:ext uri="{BB962C8B-B14F-4D97-AF65-F5344CB8AC3E}">
        <p14:creationId xmlns:p14="http://schemas.microsoft.com/office/powerpoint/2010/main" val="419417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E79483-D9F8-6916-8230-EC04AA119AE6}"/>
              </a:ext>
            </a:extLst>
          </p:cNvPr>
          <p:cNvSpPr txBox="1"/>
          <p:nvPr/>
        </p:nvSpPr>
        <p:spPr>
          <a:xfrm>
            <a:off x="615102" y="1561945"/>
            <a:ext cx="4614444" cy="1302921"/>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p>
          <a:p>
            <a:pPr marL="0" marR="0" lvl="0" indent="0" defTabSz="914400" eaLnBrk="1" fontAlgn="auto" latinLnBrk="0" hangingPunct="1">
              <a:lnSpc>
                <a:spcPct val="100000"/>
              </a:lnSpc>
              <a:spcBef>
                <a:spcPts val="0"/>
              </a:spcBef>
              <a:spcAft>
                <a:spcPts val="800"/>
              </a:spcAft>
              <a:buClrTx/>
              <a:buSzTx/>
              <a:buFontTx/>
              <a:buNone/>
              <a:tabLst/>
              <a:defRPr/>
            </a:pPr>
            <a:r>
              <a:rPr kumimoji="0" lang="en-GB" sz="1400" b="1" i="0" u="none" strike="noStrike" kern="0" cap="none" spc="0" normalizeH="0" baseline="0" noProof="0">
                <a:ln>
                  <a:noFill/>
                </a:ln>
                <a:solidFill>
                  <a:srgbClr val="FFFFFF"/>
                </a:solidFill>
                <a:effectLst/>
                <a:uLnTx/>
                <a:uFillTx/>
                <a:cs typeface="Arial"/>
              </a:rPr>
              <a:t>Current Period</a:t>
            </a:r>
            <a:r>
              <a:rPr kumimoji="0" lang="en-GB" sz="1400" b="0" i="0" u="none" strike="noStrike" kern="0" cap="none" spc="0" normalizeH="0" baseline="0" noProof="0">
                <a:ln>
                  <a:noFill/>
                </a:ln>
                <a:solidFill>
                  <a:srgbClr val="FFFFFF"/>
                </a:solidFill>
                <a:effectLst/>
                <a:uLnTx/>
                <a:uFillTx/>
                <a:cs typeface="Arial"/>
              </a:rPr>
              <a:t> and </a:t>
            </a:r>
            <a:r>
              <a:rPr kumimoji="0" lang="en-GB" sz="1400" b="1" i="0" u="none" strike="noStrike" kern="0" cap="none" spc="0" normalizeH="0" baseline="0" noProof="0">
                <a:ln>
                  <a:noFill/>
                </a:ln>
                <a:solidFill>
                  <a:srgbClr val="FFFFFF"/>
                </a:solidFill>
                <a:effectLst/>
                <a:uLnTx/>
                <a:uFillTx/>
                <a:cs typeface="Arial"/>
              </a:rPr>
              <a:t>Goal Sheet Period</a:t>
            </a:r>
            <a:r>
              <a:rPr kumimoji="0" lang="en-GB" sz="1400" b="0" i="0" u="none" strike="noStrike" kern="0" cap="none" spc="0" normalizeH="0" baseline="0" noProof="0">
                <a:ln>
                  <a:noFill/>
                </a:ln>
                <a:solidFill>
                  <a:srgbClr val="FFFFFF"/>
                </a:solidFill>
                <a:effectLst/>
                <a:uLnTx/>
                <a:uFillTx/>
                <a:cs typeface="Arial"/>
              </a:rPr>
              <a:t> should be set in the </a:t>
            </a:r>
            <a:r>
              <a:rPr lang="en-GB" sz="1400" kern="0">
                <a:solidFill>
                  <a:srgbClr val="FFFFFF"/>
                </a:solidFill>
                <a:cs typeface="Arial"/>
              </a:rPr>
              <a:t>time</a:t>
            </a:r>
            <a:r>
              <a:rPr kumimoji="0" lang="en-GB" sz="1400" b="0" i="0" u="none" strike="noStrike" kern="0" cap="none" spc="0" normalizeH="0" baseline="0" noProof="0">
                <a:ln>
                  <a:noFill/>
                </a:ln>
                <a:solidFill>
                  <a:srgbClr val="FFFFFF"/>
                </a:solidFill>
                <a:effectLst/>
                <a:uLnTx/>
                <a:uFillTx/>
                <a:cs typeface="Arial"/>
              </a:rPr>
              <a:t> </a:t>
            </a:r>
            <a:r>
              <a:rPr lang="en-GB" sz="1400" kern="0">
                <a:solidFill>
                  <a:srgbClr val="FFFFFF"/>
                </a:solidFill>
                <a:cs typeface="Arial"/>
              </a:rPr>
              <a:t>settings</a:t>
            </a:r>
            <a:r>
              <a:rPr kumimoji="0" lang="en-GB" sz="1400" b="0" i="0" u="none" strike="noStrike" kern="0" cap="none" spc="0" normalizeH="0" baseline="0" noProof="0">
                <a:ln>
                  <a:noFill/>
                </a:ln>
                <a:solidFill>
                  <a:srgbClr val="FFFFFF"/>
                </a:solidFill>
                <a:effectLst/>
                <a:uLnTx/>
                <a:uFillTx/>
                <a:cs typeface="Arial"/>
              </a:rPr>
              <a:t> module, or in pages </a:t>
            </a:r>
            <a:r>
              <a:rPr kumimoji="0" lang="en-GB" sz="1400" b="1" i="0" u="none" strike="noStrike" kern="0" cap="none" spc="0" normalizeH="0" baseline="0" noProof="0">
                <a:ln>
                  <a:noFill/>
                </a:ln>
                <a:solidFill>
                  <a:srgbClr val="FFFFFF"/>
                </a:solidFill>
                <a:effectLst/>
                <a:uLnTx/>
                <a:uFillTx/>
                <a:cs typeface="Arial"/>
              </a:rPr>
              <a:t>Model Assumptions and Inputs</a:t>
            </a:r>
            <a:r>
              <a:rPr kumimoji="0" lang="en-GB" sz="1400" b="0" i="0" u="none" strike="noStrike" kern="0" cap="none" spc="0" normalizeH="0" baseline="0" noProof="0">
                <a:ln>
                  <a:noFill/>
                </a:ln>
                <a:solidFill>
                  <a:srgbClr val="FFFFFF"/>
                </a:solidFill>
                <a:effectLst/>
                <a:uLnTx/>
                <a:uFillTx/>
                <a:cs typeface="Arial"/>
              </a:rPr>
              <a:t> and </a:t>
            </a:r>
            <a:r>
              <a:rPr kumimoji="0" lang="en-GB" sz="1400" b="1" i="0" u="none" strike="noStrike" kern="0" cap="none" spc="0" normalizeH="0" baseline="0" noProof="0">
                <a:ln>
                  <a:noFill/>
                </a:ln>
                <a:solidFill>
                  <a:srgbClr val="FFFFFF"/>
                </a:solidFill>
                <a:effectLst/>
                <a:uLnTx/>
                <a:uFillTx/>
                <a:cs typeface="Arial"/>
              </a:rPr>
              <a:t>10.6 Quota Approval and Export</a:t>
            </a:r>
            <a:r>
              <a:rPr lang="en-GB" sz="1400" kern="0">
                <a:solidFill>
                  <a:srgbClr val="FFFFFF"/>
                </a:solidFill>
                <a:cs typeface="Arial"/>
              </a:rPr>
              <a:t>,</a:t>
            </a:r>
            <a:r>
              <a:rPr kumimoji="0" lang="en-GB" sz="1400" b="0" i="0" u="none" strike="noStrike" kern="0" cap="none" spc="0" normalizeH="0" baseline="0" noProof="0">
                <a:ln>
                  <a:noFill/>
                </a:ln>
                <a:solidFill>
                  <a:srgbClr val="FFFFFF"/>
                </a:solidFill>
                <a:effectLst/>
                <a:uLnTx/>
                <a:uFillTx/>
                <a:cs typeface="Arial"/>
              </a:rPr>
              <a:t> respectively.</a:t>
            </a:r>
            <a:endParaRPr lang="en-GB" sz="14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Time settings </a:t>
            </a:r>
            <a:r>
              <a:rPr lang="en-GB">
                <a:solidFill>
                  <a:srgbClr val="FFFFFF"/>
                </a:solidFill>
              </a:rPr>
              <a:t>m</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odule</a:t>
            </a: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 spoke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2" name="Content Placeholder 6" descr="A screenshot of a computer&#10;&#10;Description automatically generated">
            <a:extLst>
              <a:ext uri="{FF2B5EF4-FFF2-40B4-BE49-F238E27FC236}">
                <a16:creationId xmlns:a16="http://schemas.microsoft.com/office/drawing/2014/main" id="{1C5EDE6C-DFD4-51D9-AEAF-D3DD182E115B}"/>
              </a:ext>
            </a:extLst>
          </p:cNvPr>
          <p:cNvPicPr>
            <a:picLocks noGrp="1" noChangeAspect="1"/>
          </p:cNvPicPr>
          <p:nvPr>
            <p:ph idx="1"/>
          </p:nvPr>
        </p:nvPicPr>
        <p:blipFill>
          <a:blip r:embed="rId2"/>
          <a:stretch>
            <a:fillRect/>
          </a:stretch>
        </p:blipFill>
        <p:spPr>
          <a:xfrm>
            <a:off x="7035773" y="1355064"/>
            <a:ext cx="3807224" cy="4147871"/>
          </a:xfrm>
          <a:prstGeom prst="roundRect">
            <a:avLst>
              <a:gd name="adj" fmla="val 2553"/>
            </a:avLst>
          </a:prstGeom>
        </p:spPr>
      </p:pic>
    </p:spTree>
    <p:extLst>
      <p:ext uri="{BB962C8B-B14F-4D97-AF65-F5344CB8AC3E}">
        <p14:creationId xmlns:p14="http://schemas.microsoft.com/office/powerpoint/2010/main" val="257387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90B3-F391-CC3B-E299-EB417B82727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2D7BA0C-ECB6-6433-DCB5-8E0B7ED88B73}"/>
              </a:ext>
            </a:extLst>
          </p:cNvPr>
          <p:cNvSpPr txBox="1"/>
          <p:nvPr/>
        </p:nvSpPr>
        <p:spPr>
          <a:xfrm>
            <a:off x="615102" y="1520848"/>
            <a:ext cx="3907640" cy="3118803"/>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rgbClr val="FF721C"/>
                </a:solidFill>
                <a:effectLst/>
                <a:uLnTx/>
                <a:uFillTx/>
              </a:rPr>
              <a:t>Overview</a:t>
            </a:r>
            <a:br>
              <a:rPr lang="en-GB" sz="2000" b="1" i="0" u="none" strike="noStrike" kern="0" cap="none" spc="0" normalizeH="0" baseline="0" noProof="0">
                <a:ln>
                  <a:noFill/>
                </a:ln>
                <a:effectLst/>
                <a:uLnTx/>
                <a:uFillTx/>
              </a:rPr>
            </a:br>
            <a:endParaRPr kumimoji="0" lang="en-GB" sz="1400" b="1" i="0" u="none" strike="noStrike" kern="0" cap="none" spc="0" normalizeH="0" baseline="0" noProof="0">
              <a:ln>
                <a:noFill/>
              </a:ln>
              <a:solidFill>
                <a:srgbClr val="FF721C"/>
              </a:solidFill>
              <a:effectLst/>
              <a:uLnTx/>
              <a:uFillTx/>
            </a:endParaRP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The spoke has a simple way to store today's date: </a:t>
            </a:r>
            <a:r>
              <a:rPr kumimoji="0" lang="en-GB" sz="1400" b="1" i="0" u="none" strike="noStrike" kern="0" cap="none" spc="0" normalizeH="0" baseline="0" noProof="0">
                <a:ln>
                  <a:noFill/>
                </a:ln>
                <a:solidFill>
                  <a:srgbClr val="FFFFFF"/>
                </a:solidFill>
                <a:effectLst/>
                <a:uLnTx/>
                <a:uFillTx/>
                <a:cs typeface="Arial"/>
              </a:rPr>
              <a:t>Model Settings &gt; </a:t>
            </a:r>
            <a:r>
              <a:rPr lang="en-GB" sz="1400" b="1" kern="0">
                <a:solidFill>
                  <a:srgbClr val="FFFFFF"/>
                </a:solidFill>
                <a:cs typeface="Arial"/>
              </a:rPr>
              <a:t>Todays</a:t>
            </a:r>
            <a:r>
              <a:rPr kumimoji="0" lang="en-GB" sz="1400" b="1" i="0" u="none" strike="noStrike" kern="0" cap="none" spc="0" normalizeH="0" baseline="0" noProof="0">
                <a:ln>
                  <a:noFill/>
                </a:ln>
                <a:solidFill>
                  <a:srgbClr val="FFFFFF"/>
                </a:solidFill>
                <a:effectLst/>
                <a:uLnTx/>
                <a:uFillTx/>
                <a:cs typeface="Arial"/>
              </a:rPr>
              <a:t> Date.</a:t>
            </a:r>
            <a:endParaRPr lang="en-GB" sz="1400" b="1" i="0" u="none" strike="noStrike" kern="0" cap="none" spc="0" normalizeH="0" baseline="0" noProof="0">
              <a:ln>
                <a:noFill/>
              </a:ln>
              <a:solidFill>
                <a:srgbClr val="FFFFFF"/>
              </a:solidFill>
              <a:effectLst/>
              <a:uLnTx/>
              <a:uFillTx/>
              <a:cs typeface="Arial"/>
            </a:endParaRP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b="0" i="0" u="none" strike="noStrike" kern="0" cap="none" spc="0" normalizeH="0" baseline="0" noProof="0">
                <a:ln>
                  <a:noFill/>
                </a:ln>
                <a:solidFill>
                  <a:srgbClr val="FFFFFF"/>
                </a:solidFill>
                <a:effectLst/>
                <a:uLnTx/>
                <a:uFillTx/>
                <a:cs typeface="Arial"/>
              </a:rPr>
              <a:t>This is used to keep a record of when items are updated in the model.</a:t>
            </a:r>
            <a:endParaRPr lang="en-GB" sz="1400" b="0" i="0" u="none" strike="noStrike" kern="0" cap="none" spc="0" normalizeH="0" baseline="0" noProof="0">
              <a:ln>
                <a:noFill/>
              </a:ln>
              <a:solidFill>
                <a:srgbClr val="FFFFFF"/>
              </a:solidFill>
              <a:effectLst/>
              <a:uLnTx/>
              <a:uFillTx/>
              <a:cs typeface="Arial"/>
            </a:endParaRPr>
          </a:p>
          <a:p>
            <a:pPr marL="285750" indent="-285750">
              <a:spcAft>
                <a:spcPts val="800"/>
              </a:spcAft>
              <a:buFont typeface="Arial" panose="020B0604020202020204" pitchFamily="34" charset="0"/>
              <a:buChar char="•"/>
              <a:defRPr/>
            </a:pPr>
            <a:r>
              <a:rPr kumimoji="0" lang="en-GB" sz="1400" b="0" i="0" u="none" strike="noStrike" kern="0" cap="none" spc="0" normalizeH="0" baseline="0" noProof="0">
                <a:ln>
                  <a:noFill/>
                </a:ln>
                <a:solidFill>
                  <a:srgbClr val="FFFFFF"/>
                </a:solidFill>
                <a:effectLst/>
                <a:uLnTx/>
                <a:uFillTx/>
                <a:cs typeface="Arial"/>
              </a:rPr>
              <a:t>An automated daily load should be created to update the date in this module. This can be done with </a:t>
            </a:r>
            <a:r>
              <a:rPr lang="en-GB" sz="1400" kern="0" err="1">
                <a:solidFill>
                  <a:srgbClr val="FFFFFF"/>
                </a:solidFill>
                <a:cs typeface="Arial"/>
              </a:rPr>
              <a:t>CloudWorks</a:t>
            </a:r>
            <a:r>
              <a:rPr lang="en-GB" sz="1400" kern="0">
                <a:solidFill>
                  <a:srgbClr val="FFFFFF"/>
                </a:solidFill>
                <a:cs typeface="Arial"/>
              </a:rPr>
              <a:t>™.</a:t>
            </a:r>
          </a:p>
          <a:p>
            <a:pPr marL="285750" indent="-285750">
              <a:spcAft>
                <a:spcPts val="800"/>
              </a:spcAft>
              <a:buFont typeface="Arial" panose="020B0604020202020204" pitchFamily="34" charset="0"/>
              <a:buChar char="•"/>
              <a:defRPr/>
            </a:pPr>
            <a:r>
              <a:rPr kumimoji="0" lang="en-GB" sz="1400" b="0" i="0" u="none" strike="noStrike" kern="0" cap="none" spc="0" normalizeH="0" baseline="0" noProof="0">
                <a:ln>
                  <a:noFill/>
                </a:ln>
                <a:solidFill>
                  <a:srgbClr val="FFFFFF"/>
                </a:solidFill>
                <a:effectLst/>
                <a:uLnTx/>
                <a:uFillTx/>
                <a:cs typeface="Arial"/>
              </a:rPr>
              <a:t>The screenshots show an </a:t>
            </a:r>
            <a:r>
              <a:rPr lang="en-GB" sz="1400" kern="0">
                <a:solidFill>
                  <a:srgbClr val="FFFFFF"/>
                </a:solidFill>
                <a:cs typeface="Arial"/>
              </a:rPr>
              <a:t>example</a:t>
            </a:r>
            <a:br>
              <a:rPr lang="en-GB" sz="1400" b="0" i="0" u="none" strike="noStrike" kern="0" cap="none" spc="0" normalizeH="0" baseline="0" noProof="0">
                <a:ln>
                  <a:noFill/>
                </a:ln>
                <a:effectLst/>
                <a:uLnTx/>
                <a:uFillTx/>
                <a:cs typeface="Arial"/>
              </a:rPr>
            </a:br>
            <a:r>
              <a:rPr kumimoji="0" lang="en-GB" sz="1400" b="0" i="0" u="none" strike="noStrike" kern="0" cap="none" spc="0" normalizeH="0" baseline="0" noProof="0">
                <a:ln>
                  <a:noFill/>
                </a:ln>
                <a:solidFill>
                  <a:srgbClr val="FFFFFF"/>
                </a:solidFill>
                <a:effectLst/>
                <a:uLnTx/>
                <a:uFillTx/>
                <a:cs typeface="Arial"/>
              </a:rPr>
              <a:t>of setup using </a:t>
            </a:r>
            <a:r>
              <a:rPr kumimoji="0" lang="en-GB" sz="1400" b="0" i="0" u="none" strike="noStrike" kern="0" cap="none" spc="0" normalizeH="0" baseline="0" noProof="0" err="1">
                <a:ln>
                  <a:noFill/>
                </a:ln>
                <a:solidFill>
                  <a:srgbClr val="FFFFFF"/>
                </a:solidFill>
                <a:effectLst/>
                <a:uLnTx/>
                <a:uFillTx/>
                <a:cs typeface="Arial"/>
              </a:rPr>
              <a:t>CloudWorks</a:t>
            </a:r>
            <a:r>
              <a:rPr lang="en-GB" sz="1400" kern="0">
                <a:solidFill>
                  <a:srgbClr val="FFFFFF"/>
                </a:solidFill>
                <a:cs typeface="Arial"/>
              </a:rPr>
              <a:t>™</a:t>
            </a:r>
            <a:r>
              <a:rPr kumimoji="0" lang="en-GB" sz="1400" b="0" i="0" u="none" strike="noStrike" kern="0" cap="none" spc="0" normalizeH="0" baseline="0" noProof="0">
                <a:ln>
                  <a:noFill/>
                </a:ln>
                <a:solidFill>
                  <a:srgbClr val="FFFFFF"/>
                </a:solidFill>
                <a:effectLst/>
                <a:uLnTx/>
                <a:uFillTx/>
                <a:cs typeface="Arial"/>
              </a:rPr>
              <a:t>:</a:t>
            </a:r>
            <a:endParaRPr lang="en-GB" sz="1400" b="0" i="0" u="none" strike="noStrike" kern="0" cap="none" spc="0" normalizeH="0" baseline="0" noProof="0">
              <a:ln>
                <a:noFill/>
              </a:ln>
              <a:solidFill>
                <a:srgbClr val="FFFFFF"/>
              </a:solidFill>
              <a:effectLst/>
              <a:uLnTx/>
              <a:uFillTx/>
              <a:cs typeface="Arial"/>
            </a:endParaRPr>
          </a:p>
        </p:txBody>
      </p:sp>
      <p:sp>
        <p:nvSpPr>
          <p:cNvPr id="14" name="Title 67">
            <a:extLst>
              <a:ext uri="{FF2B5EF4-FFF2-40B4-BE49-F238E27FC236}">
                <a16:creationId xmlns:a16="http://schemas.microsoft.com/office/drawing/2014/main" id="{4621B29D-A48A-32FB-17E0-D4B86C93FF4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Load ‘Today's Date’ </a:t>
            </a:r>
            <a:r>
              <a:rPr lang="en-GB">
                <a:solidFill>
                  <a:srgbClr val="FFFFFF"/>
                </a:solidFill>
              </a:rPr>
              <a:t>m</a:t>
            </a:r>
            <a:r>
              <a:rPr kumimoji="0" lang="en-GB" sz="2400"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odule</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nvGrpSpPr>
          <p:cNvPr id="10" name="Group 9">
            <a:extLst>
              <a:ext uri="{FF2B5EF4-FFF2-40B4-BE49-F238E27FC236}">
                <a16:creationId xmlns:a16="http://schemas.microsoft.com/office/drawing/2014/main" id="{C7A5F82B-B0DE-4B0E-845A-D08972F704DE}"/>
              </a:ext>
            </a:extLst>
          </p:cNvPr>
          <p:cNvGrpSpPr/>
          <p:nvPr/>
        </p:nvGrpSpPr>
        <p:grpSpPr>
          <a:xfrm>
            <a:off x="5599416" y="1448656"/>
            <a:ext cx="5800958" cy="4224540"/>
            <a:chOff x="5493047" y="1765148"/>
            <a:chExt cx="5553851" cy="3829790"/>
          </a:xfrm>
        </p:grpSpPr>
        <p:pic>
          <p:nvPicPr>
            <p:cNvPr id="5" name="Picture 4" descr="A screenshot of a test&#10;&#10;Description automatically generated">
              <a:extLst>
                <a:ext uri="{FF2B5EF4-FFF2-40B4-BE49-F238E27FC236}">
                  <a16:creationId xmlns:a16="http://schemas.microsoft.com/office/drawing/2014/main" id="{D0443B74-7A66-757D-6947-8ABDB50F096A}"/>
                </a:ext>
              </a:extLst>
            </p:cNvPr>
            <p:cNvPicPr>
              <a:picLocks noChangeAspect="1"/>
            </p:cNvPicPr>
            <p:nvPr/>
          </p:nvPicPr>
          <p:blipFill>
            <a:blip r:embed="rId2"/>
            <a:stretch>
              <a:fillRect/>
            </a:stretch>
          </p:blipFill>
          <p:spPr>
            <a:xfrm>
              <a:off x="5493047" y="2705651"/>
              <a:ext cx="2385152" cy="2781577"/>
            </a:xfrm>
            <a:prstGeom prst="roundRect">
              <a:avLst>
                <a:gd name="adj" fmla="val 2800"/>
              </a:avLst>
            </a:prstGeom>
          </p:spPr>
        </p:pic>
        <p:pic>
          <p:nvPicPr>
            <p:cNvPr id="6" name="Picture 5" descr="A screenshot of a schedule&#10;&#10;Description automatically generated">
              <a:extLst>
                <a:ext uri="{FF2B5EF4-FFF2-40B4-BE49-F238E27FC236}">
                  <a16:creationId xmlns:a16="http://schemas.microsoft.com/office/drawing/2014/main" id="{55B41629-7112-4F3D-7470-DCB440D39A3F}"/>
                </a:ext>
              </a:extLst>
            </p:cNvPr>
            <p:cNvPicPr>
              <a:picLocks noChangeAspect="1"/>
            </p:cNvPicPr>
            <p:nvPr/>
          </p:nvPicPr>
          <p:blipFill>
            <a:blip r:embed="rId3"/>
            <a:stretch>
              <a:fillRect/>
            </a:stretch>
          </p:blipFill>
          <p:spPr>
            <a:xfrm>
              <a:off x="8303698" y="1765148"/>
              <a:ext cx="2743200" cy="2362565"/>
            </a:xfrm>
            <a:prstGeom prst="roundRect">
              <a:avLst>
                <a:gd name="adj" fmla="val 3903"/>
              </a:avLst>
            </a:prstGeom>
          </p:spPr>
        </p:pic>
        <p:sp>
          <p:nvSpPr>
            <p:cNvPr id="9" name="Left Arrow 8">
              <a:extLst>
                <a:ext uri="{FF2B5EF4-FFF2-40B4-BE49-F238E27FC236}">
                  <a16:creationId xmlns:a16="http://schemas.microsoft.com/office/drawing/2014/main" id="{4FA24825-5163-355B-DEEE-59E101EB9468}"/>
                </a:ext>
              </a:extLst>
            </p:cNvPr>
            <p:cNvSpPr/>
            <p:nvPr/>
          </p:nvSpPr>
          <p:spPr>
            <a:xfrm>
              <a:off x="8104472" y="4985844"/>
              <a:ext cx="1438364" cy="609094"/>
            </a:xfrm>
            <a:prstGeom prst="leftArrow">
              <a:avLst>
                <a:gd name="adj1" fmla="val 57173"/>
                <a:gd name="adj2" fmla="val 47590"/>
              </a:avLst>
            </a:prstGeom>
            <a:noFill/>
            <a:ln w="12700">
              <a:solidFill>
                <a:srgbClr val="FF721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721C"/>
                  </a:solidFill>
                  <a:latin typeface="Arial" panose="020B0604020202020204" pitchFamily="34" charset="0"/>
                  <a:ea typeface="Verdana" charset="0"/>
                  <a:cs typeface="Arial" panose="020B0604020202020204" pitchFamily="34" charset="0"/>
                </a:rPr>
                <a:t>Process</a:t>
              </a:r>
            </a:p>
          </p:txBody>
        </p:sp>
      </p:grpSp>
    </p:spTree>
    <p:extLst>
      <p:ext uri="{BB962C8B-B14F-4D97-AF65-F5344CB8AC3E}">
        <p14:creationId xmlns:p14="http://schemas.microsoft.com/office/powerpoint/2010/main" val="84177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F839-88E2-709B-AB7D-1CE8A0D7EED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D7D23EF-A561-D9E4-EC91-9D11150F87F9}"/>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Saved view &amp; action updates</a:t>
            </a:r>
            <a:endParaRPr lang="en-US" sz="4200"/>
          </a:p>
        </p:txBody>
      </p:sp>
      <p:sp>
        <p:nvSpPr>
          <p:cNvPr id="3" name="Text Placeholder 2">
            <a:extLst>
              <a:ext uri="{FF2B5EF4-FFF2-40B4-BE49-F238E27FC236}">
                <a16:creationId xmlns:a16="http://schemas.microsoft.com/office/drawing/2014/main" id="{BF10FC43-B972-3F26-BCEF-97758DA6EECC}"/>
              </a:ext>
            </a:extLst>
          </p:cNvPr>
          <p:cNvSpPr>
            <a:spLocks noGrp="1"/>
          </p:cNvSpPr>
          <p:nvPr>
            <p:ph type="body" sz="quarter" idx="11"/>
          </p:nvPr>
        </p:nvSpPr>
        <p:spPr>
          <a:xfrm>
            <a:off x="4485135" y="2549243"/>
            <a:ext cx="6601856" cy="509871"/>
          </a:xfrm>
        </p:spPr>
        <p:txBody>
          <a:bodyPr/>
          <a:lstStyle/>
          <a:p>
            <a:r>
              <a:rPr lang="en-US">
                <a:solidFill>
                  <a:schemeClr val="accent1"/>
                </a:solidFill>
              </a:rPr>
              <a:t>Section 2</a:t>
            </a:r>
          </a:p>
        </p:txBody>
      </p:sp>
    </p:spTree>
    <p:extLst>
      <p:ext uri="{BB962C8B-B14F-4D97-AF65-F5344CB8AC3E}">
        <p14:creationId xmlns:p14="http://schemas.microsoft.com/office/powerpoint/2010/main" val="1114497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7EC3-0CFC-675D-8F08-B7F7B25A85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BFB1C6A-BA37-49A8-93A3-8CAAC5D12897}"/>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rPr>
              <a:t>Add notify actions</a:t>
            </a:r>
          </a:p>
        </p:txBody>
      </p:sp>
      <p:grpSp>
        <p:nvGrpSpPr>
          <p:cNvPr id="5" name="Group 4">
            <a:extLst>
              <a:ext uri="{FF2B5EF4-FFF2-40B4-BE49-F238E27FC236}">
                <a16:creationId xmlns:a16="http://schemas.microsoft.com/office/drawing/2014/main" id="{C1BE19BC-7675-3868-DDA5-014DCF9C7C24}"/>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E15B43F1-076B-3E57-AEFC-713E21220EAD}"/>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0A2CBECB-6A3F-6F8C-4678-7F59599E58B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78105C1E-8DF3-6CC6-C384-B170F5FEA4E8}"/>
                </a:ext>
              </a:extLst>
            </p:cNvPr>
            <p:cNvSpPr txBox="1"/>
            <p:nvPr/>
          </p:nvSpPr>
          <p:spPr>
            <a:xfrm>
              <a:off x="6575987" y="2504396"/>
              <a:ext cx="5014660" cy="1200329"/>
            </a:xfrm>
            <a:prstGeom prst="rect">
              <a:avLst/>
            </a:prstGeom>
            <a:noFill/>
          </p:spPr>
          <p:txBody>
            <a:bodyPr wrap="square" rtlCol="0">
              <a:spAutoFit/>
            </a:bodyPr>
            <a:lstStyle/>
            <a:p>
              <a:pPr algn="ctr"/>
              <a:r>
                <a:rPr lang="en-US" sz="2400">
                  <a:ea typeface="Verdana"/>
                  <a:cs typeface="Arial"/>
                </a:rPr>
                <a:t>Notify actions will need to be added manually after generating the model (applies to target approvals). </a:t>
              </a:r>
              <a:endParaRPr lang="en-US" sz="2400">
                <a:solidFill>
                  <a:schemeClr val="tx2"/>
                </a:solidFill>
              </a:endParaRPr>
            </a:p>
          </p:txBody>
        </p:sp>
      </p:grpSp>
      <p:sp>
        <p:nvSpPr>
          <p:cNvPr id="9" name="Rounded Rectangle 8">
            <a:extLst>
              <a:ext uri="{FF2B5EF4-FFF2-40B4-BE49-F238E27FC236}">
                <a16:creationId xmlns:a16="http://schemas.microsoft.com/office/drawing/2014/main" id="{891CF404-6DFD-12E8-A07F-63204F14D501}"/>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42EDD810-6C9E-BEF8-2A13-F4BE99040806}"/>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3" name="TextBox 2">
            <a:extLst>
              <a:ext uri="{FF2B5EF4-FFF2-40B4-BE49-F238E27FC236}">
                <a16:creationId xmlns:a16="http://schemas.microsoft.com/office/drawing/2014/main" id="{225F65D4-9563-4868-536D-94A31883D3EF}"/>
              </a:ext>
            </a:extLst>
          </p:cNvPr>
          <p:cNvSpPr txBox="1"/>
          <p:nvPr/>
        </p:nvSpPr>
        <p:spPr>
          <a:xfrm>
            <a:off x="762273" y="5503431"/>
            <a:ext cx="6097904" cy="230832"/>
          </a:xfrm>
          <a:prstGeom prst="rect">
            <a:avLst/>
          </a:prstGeom>
          <a:noFill/>
        </p:spPr>
        <p:txBody>
          <a:bodyPr wrap="square">
            <a:spAutoFit/>
          </a:bodyPr>
          <a:lstStyle/>
          <a:p>
            <a:r>
              <a:rPr lang="en-US" sz="900">
                <a:ea typeface="Verdana"/>
                <a:cs typeface="Arial"/>
              </a:rPr>
              <a:t>(SPT-270)</a:t>
            </a:r>
            <a:endParaRPr lang="en-US" sz="900"/>
          </a:p>
        </p:txBody>
      </p:sp>
    </p:spTree>
    <p:extLst>
      <p:ext uri="{BB962C8B-B14F-4D97-AF65-F5344CB8AC3E}">
        <p14:creationId xmlns:p14="http://schemas.microsoft.com/office/powerpoint/2010/main" val="305944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saved views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C7A1F1F3-B26B-FD83-DEED-4F74E2A55607}"/>
              </a:ext>
            </a:extLst>
          </p:cNvPr>
          <p:cNvSpPr txBox="1"/>
          <p:nvPr/>
        </p:nvSpPr>
        <p:spPr>
          <a:xfrm>
            <a:off x="640080" y="1492511"/>
            <a:ext cx="4625941" cy="677108"/>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latin typeface="Arial"/>
                <a:ea typeface="Verdana"/>
                <a:cs typeface="Arial"/>
              </a:rPr>
              <a:t>This should be done after loading data to the model so that lists are populated.</a:t>
            </a:r>
          </a:p>
        </p:txBody>
      </p:sp>
      <p:pic>
        <p:nvPicPr>
          <p:cNvPr id="1026" name="Picture 2" descr="A screenshot of a computer&#10;&#10;Description automatically generated">
            <a:extLst>
              <a:ext uri="{FF2B5EF4-FFF2-40B4-BE49-F238E27FC236}">
                <a16:creationId xmlns:a16="http://schemas.microsoft.com/office/drawing/2014/main" id="{07EBFDE2-4C5D-5752-D1B0-E61B4E16D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 y="4995376"/>
            <a:ext cx="10798486" cy="1272478"/>
          </a:xfrm>
          <a:prstGeom prst="roundRect">
            <a:avLst>
              <a:gd name="adj" fmla="val 5456"/>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AA1F52D-2A5C-831B-3AA0-C3ADA8E1BE81}"/>
              </a:ext>
            </a:extLst>
          </p:cNvPr>
          <p:cNvSpPr txBox="1"/>
          <p:nvPr/>
        </p:nvSpPr>
        <p:spPr>
          <a:xfrm>
            <a:off x="615102" y="2551446"/>
            <a:ext cx="11247706" cy="2062103"/>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All exports necessary to know how to update saved views are conveniently located in the configurator app </a:t>
            </a:r>
            <a:r>
              <a:rPr lang="en-US" sz="1400">
                <a:solidFill>
                  <a:schemeClr val="tx2"/>
                </a:solidFill>
              </a:rPr>
              <a:t>page</a:t>
            </a:r>
            <a:r>
              <a:rPr lang="en-US" sz="1400" b="1">
                <a:solidFill>
                  <a:schemeClr val="accent1"/>
                </a:solidFill>
              </a:rPr>
              <a:t> 1.12. Exports for Generated Models</a:t>
            </a:r>
            <a:r>
              <a:rPr lang="en-US" sz="1400"/>
              <a:t>.​</a:t>
            </a:r>
          </a:p>
          <a:p>
            <a:pPr fontAlgn="base"/>
            <a:endParaRPr lang="en-US" sz="1400"/>
          </a:p>
          <a:p>
            <a:pPr marL="285750" indent="-285750" fontAlgn="base">
              <a:buFont typeface="Arial" panose="020B0604020202020204" pitchFamily="34" charset="0"/>
              <a:buChar char="•"/>
            </a:pPr>
            <a:r>
              <a:rPr lang="en-US" sz="1400"/>
              <a:t>Run "Saved Views Select Levels to Show" to see which should be updated to include 'Select Levels to show'. </a:t>
            </a:r>
            <a:r>
              <a:rPr lang="en-US" sz="900"/>
              <a:t>(SPT-287)​</a:t>
            </a:r>
          </a:p>
          <a:p>
            <a:pPr marL="285750" indent="-285750" fontAlgn="base">
              <a:buFont typeface="Arial" panose="020B0604020202020204" pitchFamily="34" charset="0"/>
              <a:buChar char="•"/>
            </a:pPr>
            <a:r>
              <a:rPr lang="en-US" sz="1400"/>
              <a:t>Run the export for saved views for line item selection.  Changing line item selection can affect imports because some imports map on column number, so make sure to check any dependent imports, particularly to see that list mapping is still working. </a:t>
            </a:r>
            <a:r>
              <a:rPr lang="en-US" sz="900"/>
              <a:t>(SPT-286)​</a:t>
            </a:r>
          </a:p>
          <a:p>
            <a:pPr marL="285750" indent="-285750" fontAlgn="base">
              <a:buFont typeface="Arial" panose="020B0604020202020204" pitchFamily="34" charset="0"/>
              <a:buChar char="•"/>
            </a:pPr>
            <a:r>
              <a:rPr lang="en-US" sz="1400"/>
              <a:t>Check that column filters in particular are applied correctly to saved views. </a:t>
            </a:r>
            <a:r>
              <a:rPr lang="en-US" sz="900"/>
              <a:t>(SPT-323)</a:t>
            </a:r>
          </a:p>
        </p:txBody>
      </p:sp>
    </p:spTree>
    <p:extLst>
      <p:ext uri="{BB962C8B-B14F-4D97-AF65-F5344CB8AC3E}">
        <p14:creationId xmlns:p14="http://schemas.microsoft.com/office/powerpoint/2010/main" val="31139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713523" y="1034304"/>
            <a:ext cx="3907640" cy="1436291"/>
          </a:xfrm>
          <a:prstGeom prst="rect">
            <a:avLst/>
          </a:prstGeom>
          <a:noFill/>
        </p:spPr>
        <p:txBody>
          <a:bodyPr wrap="square" lIns="91440" tIns="45720" rIns="91440" bIns="45720" anchor="t">
            <a:spAutoFit/>
          </a:bodyPr>
          <a:lstStyle/>
          <a:p>
            <a:pPr marR="0" lvl="0" defTabSz="914400" eaLnBrk="1" fontAlgn="auto" latinLnBrk="0" hangingPunct="1">
              <a:lnSpc>
                <a:spcPct val="100000"/>
              </a:lnSpc>
              <a:spcBef>
                <a:spcPts val="0"/>
              </a:spcBef>
              <a:spcAft>
                <a:spcPts val="800"/>
              </a:spcAft>
              <a:buClrTx/>
              <a:buSzTx/>
              <a:tabLst/>
              <a:defRPr/>
            </a:pPr>
            <a:r>
              <a:rPr kumimoji="0" lang="en-GB" sz="1600" b="1" i="0" u="none" strike="noStrike" kern="0" cap="none" spc="0" normalizeH="0" baseline="0" noProof="0">
                <a:ln>
                  <a:noFill/>
                </a:ln>
                <a:solidFill>
                  <a:schemeClr val="accent1"/>
                </a:solidFill>
                <a:effectLst/>
                <a:uLnTx/>
                <a:uFillTx/>
                <a:cs typeface="Arial"/>
              </a:rPr>
              <a:t>Sort:</a:t>
            </a:r>
          </a:p>
          <a:p>
            <a:pPr marR="0" lvl="0" defTabSz="914400" eaLnBrk="1" fontAlgn="auto" latinLnBrk="0" hangingPunct="1">
              <a:lnSpc>
                <a:spcPct val="100000"/>
              </a:lnSpc>
              <a:spcBef>
                <a:spcPts val="0"/>
              </a:spcBef>
              <a:spcAft>
                <a:spcPts val="800"/>
              </a:spcAft>
              <a:buClrTx/>
              <a:buSzTx/>
              <a:tabLst/>
              <a:defRPr/>
            </a:pPr>
            <a:r>
              <a:rPr kumimoji="0" lang="en-GB" sz="1400" b="0" i="0" u="none" strike="noStrike" kern="0" cap="none" spc="0" normalizeH="0" baseline="0" noProof="0">
                <a:ln>
                  <a:noFill/>
                </a:ln>
                <a:solidFill>
                  <a:srgbClr val="FFFFFF"/>
                </a:solidFill>
                <a:effectLst/>
                <a:uLnTx/>
                <a:uFillTx/>
                <a:cs typeface="Arial"/>
              </a:rPr>
              <a:t>On the Actions screen, select the reorder button and sort in ascending order. Do this for processes, actions, exports, and other actions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endParaRPr kumimoji="0" lang="en-GB" sz="1600" b="0" i="0" u="none" strike="noStrike" kern="0" cap="none" spc="0" normalizeH="0" baseline="0" noProof="0">
              <a:ln>
                <a:noFill/>
              </a:ln>
              <a:solidFill>
                <a:srgbClr val="FFFFFF"/>
              </a:solidFill>
              <a:effectLst/>
              <a:uLnTx/>
              <a:uFillTx/>
              <a:cs typeface="Arial"/>
            </a:endParaRPr>
          </a:p>
        </p:txBody>
      </p:sp>
      <p:grpSp>
        <p:nvGrpSpPr>
          <p:cNvPr id="11" name="Group 10">
            <a:extLst>
              <a:ext uri="{FF2B5EF4-FFF2-40B4-BE49-F238E27FC236}">
                <a16:creationId xmlns:a16="http://schemas.microsoft.com/office/drawing/2014/main" id="{A025D017-4490-F3D2-49C9-9EDC3083F203}"/>
              </a:ext>
            </a:extLst>
          </p:cNvPr>
          <p:cNvGrpSpPr/>
          <p:nvPr/>
        </p:nvGrpSpPr>
        <p:grpSpPr>
          <a:xfrm>
            <a:off x="718644" y="2512049"/>
            <a:ext cx="3914006" cy="1880988"/>
            <a:chOff x="718644" y="3356800"/>
            <a:chExt cx="2565647" cy="1232995"/>
          </a:xfrm>
        </p:grpSpPr>
        <p:pic>
          <p:nvPicPr>
            <p:cNvPr id="6" name="Picture 5" descr="A screenshot of a computer&#10;&#10;Description automatically generated">
              <a:extLst>
                <a:ext uri="{FF2B5EF4-FFF2-40B4-BE49-F238E27FC236}">
                  <a16:creationId xmlns:a16="http://schemas.microsoft.com/office/drawing/2014/main" id="{5C695FE1-9A20-E8ED-2A84-1CECC1089036}"/>
                </a:ext>
              </a:extLst>
            </p:cNvPr>
            <p:cNvPicPr>
              <a:picLocks noChangeAspect="1"/>
            </p:cNvPicPr>
            <p:nvPr/>
          </p:nvPicPr>
          <p:blipFill>
            <a:blip r:embed="rId2"/>
            <a:stretch>
              <a:fillRect/>
            </a:stretch>
          </p:blipFill>
          <p:spPr>
            <a:xfrm>
              <a:off x="718644" y="3356800"/>
              <a:ext cx="2565647" cy="1232995"/>
            </a:xfrm>
            <a:prstGeom prst="roundRect">
              <a:avLst>
                <a:gd name="adj" fmla="val 4809"/>
              </a:avLst>
            </a:prstGeom>
          </p:spPr>
        </p:pic>
        <p:sp>
          <p:nvSpPr>
            <p:cNvPr id="8" name="Rectangle 7">
              <a:extLst>
                <a:ext uri="{FF2B5EF4-FFF2-40B4-BE49-F238E27FC236}">
                  <a16:creationId xmlns:a16="http://schemas.microsoft.com/office/drawing/2014/main" id="{3E84AB0B-9210-98E1-E895-F7DB95AB3C69}"/>
                </a:ext>
              </a:extLst>
            </p:cNvPr>
            <p:cNvSpPr/>
            <p:nvPr/>
          </p:nvSpPr>
          <p:spPr>
            <a:xfrm>
              <a:off x="2759426" y="3923641"/>
              <a:ext cx="418497"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grpSp>
        <p:nvGrpSpPr>
          <p:cNvPr id="10" name="Group 9">
            <a:extLst>
              <a:ext uri="{FF2B5EF4-FFF2-40B4-BE49-F238E27FC236}">
                <a16:creationId xmlns:a16="http://schemas.microsoft.com/office/drawing/2014/main" id="{81C13C98-AFDC-F875-9E3A-1D8B410E3FD0}"/>
              </a:ext>
            </a:extLst>
          </p:cNvPr>
          <p:cNvGrpSpPr/>
          <p:nvPr/>
        </p:nvGrpSpPr>
        <p:grpSpPr>
          <a:xfrm>
            <a:off x="718643" y="4871768"/>
            <a:ext cx="3902520" cy="1211353"/>
            <a:chOff x="3898768" y="3410916"/>
            <a:chExt cx="2743200" cy="851497"/>
          </a:xfrm>
        </p:grpSpPr>
        <p:pic>
          <p:nvPicPr>
            <p:cNvPr id="5" name="Picture 4" descr="A close-up of a computer screen&#10;&#10;Description automatically generated">
              <a:extLst>
                <a:ext uri="{FF2B5EF4-FFF2-40B4-BE49-F238E27FC236}">
                  <a16:creationId xmlns:a16="http://schemas.microsoft.com/office/drawing/2014/main" id="{61860495-6EB9-71B8-DCCD-5BE1CCDFBCAC}"/>
                </a:ext>
              </a:extLst>
            </p:cNvPr>
            <p:cNvPicPr>
              <a:picLocks noChangeAspect="1"/>
            </p:cNvPicPr>
            <p:nvPr/>
          </p:nvPicPr>
          <p:blipFill>
            <a:blip r:embed="rId3"/>
            <a:stretch>
              <a:fillRect/>
            </a:stretch>
          </p:blipFill>
          <p:spPr>
            <a:xfrm>
              <a:off x="3898768" y="3410916"/>
              <a:ext cx="2743200" cy="851497"/>
            </a:xfrm>
            <a:prstGeom prst="roundRect">
              <a:avLst>
                <a:gd name="adj" fmla="val 4069"/>
              </a:avLst>
            </a:prstGeom>
          </p:spPr>
        </p:pic>
        <p:sp>
          <p:nvSpPr>
            <p:cNvPr id="9" name="Rectangle 8">
              <a:extLst>
                <a:ext uri="{FF2B5EF4-FFF2-40B4-BE49-F238E27FC236}">
                  <a16:creationId xmlns:a16="http://schemas.microsoft.com/office/drawing/2014/main" id="{43D8FA6C-DC34-BD20-F4B7-8AF32978A578}"/>
                </a:ext>
              </a:extLst>
            </p:cNvPr>
            <p:cNvSpPr/>
            <p:nvPr/>
          </p:nvSpPr>
          <p:spPr>
            <a:xfrm>
              <a:off x="5981841" y="3745970"/>
              <a:ext cx="551544" cy="176592"/>
            </a:xfrm>
            <a:prstGeom prst="rect">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grpSp>
    </p:spTree>
    <p:extLst>
      <p:ext uri="{BB962C8B-B14F-4D97-AF65-F5344CB8AC3E}">
        <p14:creationId xmlns:p14="http://schemas.microsoft.com/office/powerpoint/2010/main" val="319583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Update actions (cont.)</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1967060"/>
            <a:ext cx="4384296" cy="2923877"/>
          </a:xfrm>
          <a:prstGeom prst="rect">
            <a:avLst/>
          </a:prstGeom>
          <a:noFill/>
        </p:spPr>
        <p:txBody>
          <a:bodyPr wrap="square" lIns="91440" tIns="45720" rIns="91440" bIns="45720" anchor="t">
            <a:spAutoFit/>
          </a:bodyPr>
          <a:lstStyle/>
          <a:p>
            <a:r>
              <a:rPr lang="en-US" sz="1600" b="1">
                <a:solidFill>
                  <a:schemeClr val="accent1"/>
                </a:solidFill>
                <a:ea typeface="Verdana"/>
                <a:cs typeface="Arial"/>
              </a:rPr>
              <a:t>Column position mapping:</a:t>
            </a:r>
          </a:p>
          <a:p>
            <a:endParaRPr lang="en-US" sz="1400">
              <a:ea typeface="Verdana"/>
              <a:cs typeface="Arial"/>
            </a:endParaRPr>
          </a:p>
          <a:p>
            <a:pPr marL="285750" indent="-285750">
              <a:buFont typeface="Arial" panose="020B0604020202020204" pitchFamily="34" charset="0"/>
              <a:buChar char="•"/>
            </a:pPr>
            <a:r>
              <a:rPr lang="en-US" sz="1400">
                <a:ea typeface="Verdana"/>
                <a:cs typeface="Arial"/>
              </a:rPr>
              <a:t>Some imports may be sensitive to column position, for example, if you add a new line item to a saved view, try to add it to the end, so that existing columns do not change position.</a:t>
            </a:r>
          </a:p>
          <a:p>
            <a:pPr marL="285750" indent="-285750">
              <a:buFont typeface="Arial" panose="020B0604020202020204" pitchFamily="34" charset="0"/>
              <a:buChar char="•"/>
            </a:pPr>
            <a:endParaRPr lang="en-US" sz="1400">
              <a:ea typeface="Verdana"/>
              <a:cs typeface="Arial"/>
            </a:endParaRPr>
          </a:p>
          <a:p>
            <a:pPr marL="285750" indent="-285750">
              <a:buFont typeface="Arial" panose="020B0604020202020204" pitchFamily="34" charset="0"/>
              <a:buChar char="•"/>
            </a:pPr>
            <a:r>
              <a:rPr lang="en-US" sz="1400">
                <a:ea typeface="Verdana"/>
                <a:cs typeface="Arial"/>
              </a:rPr>
              <a:t>A similar situation exists for file imports to the data hub – except that for these imports, it is specifically the list mapping column that must be in column 2 of the source CSV file (may be resolved already).</a:t>
            </a:r>
          </a:p>
          <a:p>
            <a:pPr marL="285750" indent="-285750">
              <a:buFont typeface="Arial" panose="020B0604020202020204" pitchFamily="34" charset="0"/>
              <a:buChar char="•"/>
            </a:pPr>
            <a:endParaRPr lang="en-US" sz="1400">
              <a:ea typeface="Verdana"/>
              <a:cs typeface="Arial"/>
            </a:endParaRPr>
          </a:p>
        </p:txBody>
      </p:sp>
      <p:pic>
        <p:nvPicPr>
          <p:cNvPr id="5" name="Picture 4" descr="A screenshot of a computer&#10;&#10;Description automatically generated">
            <a:extLst>
              <a:ext uri="{FF2B5EF4-FFF2-40B4-BE49-F238E27FC236}">
                <a16:creationId xmlns:a16="http://schemas.microsoft.com/office/drawing/2014/main" id="{BFF63C69-4100-02A3-D239-D5B09D2D6F01}"/>
              </a:ext>
            </a:extLst>
          </p:cNvPr>
          <p:cNvPicPr>
            <a:picLocks noChangeAspect="1"/>
          </p:cNvPicPr>
          <p:nvPr/>
        </p:nvPicPr>
        <p:blipFill>
          <a:blip r:embed="rId2"/>
          <a:stretch>
            <a:fillRect/>
          </a:stretch>
        </p:blipFill>
        <p:spPr>
          <a:xfrm>
            <a:off x="5945993" y="2368310"/>
            <a:ext cx="5437518" cy="2121379"/>
          </a:xfrm>
          <a:prstGeom prst="roundRect">
            <a:avLst>
              <a:gd name="adj" fmla="val 5662"/>
            </a:avLst>
          </a:prstGeom>
        </p:spPr>
      </p:pic>
    </p:spTree>
    <p:extLst>
      <p:ext uri="{BB962C8B-B14F-4D97-AF65-F5344CB8AC3E}">
        <p14:creationId xmlns:p14="http://schemas.microsoft.com/office/powerpoint/2010/main" val="74965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kumimoji="0" lang="en-GB" sz="2400" b="1" i="0" u="none" strike="noStrike" kern="1200" cap="none" spc="0" normalizeH="0" baseline="0" noProof="0" dirty="0">
                <a:ln>
                  <a:noFill/>
                </a:ln>
                <a:solidFill>
                  <a:srgbClr val="FFFFFF"/>
                </a:solidFill>
                <a:effectLst/>
                <a:uLnTx/>
                <a:uFillTx/>
                <a:latin typeface="Arial"/>
                <a:ea typeface="Verdana"/>
                <a:cs typeface="Arial"/>
              </a:rPr>
              <a:t>Update </a:t>
            </a:r>
            <a:r>
              <a:rPr lang="en-GB" dirty="0">
                <a:solidFill>
                  <a:srgbClr val="FFFFFF"/>
                </a:solidFill>
                <a:latin typeface="Arial"/>
                <a:ea typeface="Verdana"/>
                <a:cs typeface="Arial"/>
              </a:rPr>
              <a:t>Actions</a:t>
            </a:r>
            <a:r>
              <a:rPr kumimoji="0" lang="en-GB" sz="2400" b="1" i="0" u="none" strike="noStrike" kern="1200" cap="none" spc="0" normalizeH="0" baseline="0" noProof="0" dirty="0">
                <a:ln>
                  <a:noFill/>
                </a:ln>
                <a:solidFill>
                  <a:srgbClr val="FFFFFF"/>
                </a:solidFill>
                <a:effectLst/>
                <a:uLnTx/>
                <a:uFillTx/>
                <a:latin typeface="Arial"/>
                <a:ea typeface="Verdana"/>
                <a:cs typeface="Arial"/>
              </a:rPr>
              <a:t> (cont.)</a:t>
            </a:r>
            <a:endParaRPr kumimoji="0" lang="en-GB" sz="2400" b="0" i="0" u="none" strike="noStrike" kern="1200" cap="none" spc="0" normalizeH="0" baseline="0" noProof="0" dirty="0">
              <a:ln>
                <a:noFill/>
              </a:ln>
              <a:solidFill>
                <a:srgbClr val="FFFFFF"/>
              </a:solidFill>
              <a:effectLst/>
              <a:uLnTx/>
              <a:uFillTx/>
              <a:latin typeface="Arial"/>
              <a:ea typeface="Verdana"/>
              <a:cs typeface="Arial"/>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6" y="1296011"/>
            <a:ext cx="4753947" cy="4539704"/>
          </a:xfrm>
          <a:prstGeom prst="rect">
            <a:avLst/>
          </a:prstGeom>
          <a:noFill/>
        </p:spPr>
        <p:txBody>
          <a:bodyPr wrap="square" lIns="91440" tIns="45720" rIns="91440" bIns="45720" anchor="t">
            <a:spAutoFit/>
          </a:bodyPr>
          <a:lstStyle/>
          <a:p>
            <a:r>
              <a:rPr lang="en-US" sz="1400" b="1" dirty="0">
                <a:ea typeface="Verdana"/>
                <a:cs typeface="Arial"/>
              </a:rPr>
              <a:t>On import from saved views to modules, up to 6 manually mapped line items are supported. When the mapping is &gt; 6 items, only the first 6 will be generated. </a:t>
            </a:r>
          </a:p>
          <a:p>
            <a:endParaRPr lang="en-US" sz="1400">
              <a:ea typeface="Verdana"/>
              <a:cs typeface="Arial"/>
            </a:endParaRPr>
          </a:p>
          <a:p>
            <a:r>
              <a:rPr lang="en-US" sz="1400" dirty="0">
                <a:ea typeface="Verdana"/>
                <a:cs typeface="Arial"/>
              </a:rPr>
              <a:t>To know which actions to fix and how to fix them, run export </a:t>
            </a:r>
            <a:r>
              <a:rPr lang="en-US" sz="1400" b="1" dirty="0">
                <a:solidFill>
                  <a:schemeClr val="accent1"/>
                </a:solidFill>
              </a:rPr>
              <a:t>Module Imports Map GT 6</a:t>
            </a:r>
            <a:r>
              <a:rPr lang="en-US" sz="1400" b="1" dirty="0">
                <a:solidFill>
                  <a:schemeClr val="accent1"/>
                </a:solidFill>
                <a:ea typeface="Verdana"/>
                <a:cs typeface="Arial"/>
              </a:rPr>
              <a:t> </a:t>
            </a:r>
            <a:r>
              <a:rPr lang="en-US" sz="1400" dirty="0">
                <a:ea typeface="Verdana"/>
                <a:cs typeface="Arial"/>
              </a:rPr>
              <a:t>from the generator and use its guidance to update the generated actions.</a:t>
            </a:r>
          </a:p>
          <a:p>
            <a:endParaRPr lang="en-US" sz="1400">
              <a:ea typeface="Verdana"/>
              <a:cs typeface="Arial"/>
            </a:endParaRPr>
          </a:p>
          <a:p>
            <a:r>
              <a:rPr lang="en-US" sz="1400" dirty="0"/>
              <a:t>This export is conveniently located in configurator app </a:t>
            </a:r>
            <a:r>
              <a:rPr lang="en-US" sz="1400" b="1" dirty="0">
                <a:solidFill>
                  <a:schemeClr val="accent1"/>
                </a:solidFill>
              </a:rPr>
              <a:t>page 1.12. Exports for Generated Models</a:t>
            </a:r>
            <a:r>
              <a:rPr lang="en-US" sz="1400" dirty="0"/>
              <a:t>. </a:t>
            </a:r>
            <a:endParaRPr lang="en-US" sz="1400" dirty="0">
              <a:ea typeface="Verdana"/>
              <a:cs typeface="Arial"/>
            </a:endParaRPr>
          </a:p>
          <a:p>
            <a:endParaRPr lang="en-US" sz="1400">
              <a:ea typeface="Verdana"/>
              <a:cs typeface="Arial"/>
            </a:endParaRPr>
          </a:p>
          <a:p>
            <a:r>
              <a:rPr lang="en-US" sz="1400" dirty="0">
                <a:ea typeface="Verdana"/>
                <a:cs typeface="Arial"/>
              </a:rPr>
              <a:t>In the example to the right, you can see that "ignored" does not count as 1 of the 6 mappings.</a:t>
            </a:r>
            <a:br>
              <a:rPr lang="en-US" sz="1400" dirty="0">
                <a:ea typeface="Verdana"/>
                <a:cs typeface="Arial"/>
              </a:rPr>
            </a:br>
            <a:br>
              <a:rPr lang="en-US" sz="1400" dirty="0">
                <a:ea typeface="Verdana"/>
                <a:cs typeface="Arial"/>
              </a:rPr>
            </a:br>
            <a:r>
              <a:rPr lang="en-US" sz="1400" dirty="0">
                <a:ea typeface="Verdana"/>
                <a:cs typeface="Arial"/>
              </a:rPr>
              <a:t>(Unmapped rows are because saved views are generated without line-item choices, or there were more than 6 mappings.)</a:t>
            </a:r>
          </a:p>
          <a:p>
            <a:pPr marL="285750" indent="-285750">
              <a:buFont typeface="Arial" panose="020B0604020202020204" pitchFamily="34" charset="0"/>
              <a:buChar char="•"/>
            </a:pPr>
            <a:endParaRPr lang="en-US" sz="1400">
              <a:ea typeface="Verdana"/>
              <a:cs typeface="Arial"/>
            </a:endParaRPr>
          </a:p>
          <a:p>
            <a:r>
              <a:rPr lang="en-US" sz="900" dirty="0">
                <a:ea typeface="Verdana"/>
                <a:cs typeface="Arial"/>
              </a:rPr>
              <a:t>(SPT-1052)</a:t>
            </a:r>
          </a:p>
          <a:p>
            <a:pPr marL="285750" indent="-285750">
              <a:buFont typeface="Arial" panose="020B0604020202020204" pitchFamily="34" charset="0"/>
              <a:buChar char="•"/>
            </a:pPr>
            <a:endParaRPr lang="en-US" sz="1400">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D5600DA2-10E0-8054-4C4F-1AE6D4D79758}"/>
              </a:ext>
            </a:extLst>
          </p:cNvPr>
          <p:cNvPicPr>
            <a:picLocks noChangeAspect="1"/>
          </p:cNvPicPr>
          <p:nvPr/>
        </p:nvPicPr>
        <p:blipFill>
          <a:blip r:embed="rId2"/>
          <a:stretch>
            <a:fillRect/>
          </a:stretch>
        </p:blipFill>
        <p:spPr>
          <a:xfrm>
            <a:off x="6414116" y="407815"/>
            <a:ext cx="3649960" cy="6057330"/>
          </a:xfrm>
          <a:prstGeom prst="roundRect">
            <a:avLst>
              <a:gd name="adj" fmla="val 2009"/>
            </a:avLst>
          </a:prstGeom>
        </p:spPr>
      </p:pic>
    </p:spTree>
    <p:extLst>
      <p:ext uri="{BB962C8B-B14F-4D97-AF65-F5344CB8AC3E}">
        <p14:creationId xmlns:p14="http://schemas.microsoft.com/office/powerpoint/2010/main" val="4250276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dirty="0">
                <a:solidFill>
                  <a:srgbClr val="FFFFFF"/>
                </a:solidFill>
                <a:latin typeface="Arial"/>
                <a:cs typeface="Arial"/>
              </a:rPr>
              <a:t>Update Actions (cont.) - </a:t>
            </a:r>
            <a:r>
              <a:rPr kumimoji="0" lang="en-GB" sz="2400" b="1" i="0" u="none" strike="noStrike" kern="1200" cap="none" spc="0" normalizeH="0" baseline="0" noProof="0" dirty="0">
                <a:ln>
                  <a:noFill/>
                </a:ln>
                <a:solidFill>
                  <a:srgbClr val="FFFFFF"/>
                </a:solidFill>
                <a:effectLst/>
                <a:uLnTx/>
                <a:uFillTx/>
                <a:latin typeface="Arial"/>
                <a:ea typeface="Verdana"/>
                <a:cs typeface="Arial"/>
              </a:rPr>
              <a:t>Ignore </a:t>
            </a:r>
            <a:r>
              <a:rPr lang="en-GB" dirty="0">
                <a:solidFill>
                  <a:srgbClr val="FFFFFF"/>
                </a:solidFill>
                <a:latin typeface="Arial"/>
                <a:ea typeface="Verdana"/>
                <a:cs typeface="Arial"/>
              </a:rPr>
              <a:t>Unmatched </a:t>
            </a:r>
            <a:r>
              <a:rPr kumimoji="0" lang="en-GB" sz="2400" b="1" i="0" u="none" strike="noStrike" kern="1200" cap="none" spc="0" normalizeH="0" baseline="0" noProof="0" dirty="0">
                <a:ln>
                  <a:noFill/>
                </a:ln>
                <a:solidFill>
                  <a:srgbClr val="FFFFFF"/>
                </a:solidFill>
                <a:effectLst/>
                <a:uLnTx/>
                <a:uFillTx/>
                <a:latin typeface="Arial"/>
                <a:ea typeface="Verdana"/>
                <a:cs typeface="Arial"/>
              </a:rPr>
              <a:t>on </a:t>
            </a:r>
            <a:r>
              <a:rPr lang="en-GB" dirty="0">
                <a:solidFill>
                  <a:srgbClr val="FFFFFF"/>
                </a:solidFill>
                <a:latin typeface="Arial"/>
                <a:ea typeface="Verdana"/>
                <a:cs typeface="Arial"/>
              </a:rPr>
              <a:t>Imports</a:t>
            </a:r>
            <a:endParaRPr lang="en-GB" sz="2400" b="0" i="0" u="none" strike="noStrike" kern="1200" cap="none" spc="0" normalizeH="0" baseline="0" noProof="0" dirty="0">
              <a:ln>
                <a:noFill/>
              </a:ln>
              <a:solidFill>
                <a:srgbClr val="FFFFFF"/>
              </a:solidFill>
              <a:effectLst/>
              <a:uLnTx/>
              <a:uFillTx/>
              <a:latin typeface="Arial"/>
              <a:ea typeface="Verdana"/>
              <a:cs typeface="Arial"/>
            </a:endParaRPr>
          </a:p>
        </p:txBody>
      </p:sp>
      <p:sp>
        <p:nvSpPr>
          <p:cNvPr id="2" name="TextBox 1">
            <a:extLst>
              <a:ext uri="{FF2B5EF4-FFF2-40B4-BE49-F238E27FC236}">
                <a16:creationId xmlns:a16="http://schemas.microsoft.com/office/drawing/2014/main" id="{84C79B2A-48DA-A44A-EC2A-B046F9FD5C99}"/>
              </a:ext>
            </a:extLst>
          </p:cNvPr>
          <p:cNvSpPr txBox="1"/>
          <p:nvPr/>
        </p:nvSpPr>
        <p:spPr>
          <a:xfrm>
            <a:off x="508717" y="1212623"/>
            <a:ext cx="3907640" cy="2000548"/>
          </a:xfrm>
          <a:prstGeom prst="rect">
            <a:avLst/>
          </a:prstGeom>
          <a:noFill/>
        </p:spPr>
        <p:txBody>
          <a:bodyPr wrap="square" lIns="91440" tIns="45720" rIns="91440" bIns="45720" anchor="t">
            <a:spAutoFit/>
          </a:bodyPr>
          <a:lstStyle/>
          <a:p>
            <a:r>
              <a:rPr lang="en-US" sz="1600" b="1">
                <a:solidFill>
                  <a:srgbClr val="FF721C"/>
                </a:solidFill>
                <a:ea typeface="Verdana"/>
                <a:cs typeface="Arial"/>
              </a:rPr>
              <a:t>Ignore unmapped settings:</a:t>
            </a:r>
          </a:p>
          <a:p>
            <a:endParaRPr lang="en-US" sz="1600">
              <a:solidFill>
                <a:srgbClr val="FF721C"/>
              </a:solidFill>
              <a:ea typeface="Verdana"/>
              <a:cs typeface="Arial"/>
            </a:endParaRPr>
          </a:p>
          <a:p>
            <a:r>
              <a:rPr lang="en-US" sz="1400">
                <a:solidFill>
                  <a:schemeClr val="tx2"/>
                </a:solidFill>
                <a:ea typeface="Verdana"/>
                <a:cs typeface="Arial"/>
              </a:rPr>
              <a:t>For spoke imports, you may add </a:t>
            </a:r>
            <a:r>
              <a:rPr lang="en-US" sz="1400" b="1">
                <a:solidFill>
                  <a:schemeClr val="tx2"/>
                </a:solidFill>
                <a:ea typeface="Verdana"/>
                <a:cs typeface="Arial"/>
              </a:rPr>
              <a:t>"Ignore Unmapped" </a:t>
            </a:r>
            <a:r>
              <a:rPr lang="en-US" sz="1400">
                <a:solidFill>
                  <a:schemeClr val="tx2"/>
                </a:solidFill>
                <a:ea typeface="Verdana"/>
                <a:cs typeface="Arial"/>
              </a:rPr>
              <a:t>to the import settings to:</a:t>
            </a:r>
          </a:p>
          <a:p>
            <a:endParaRPr lang="en-US" b="1">
              <a:solidFill>
                <a:srgbClr val="FF721C"/>
              </a:solidFill>
              <a:ea typeface="Verdana"/>
              <a:cs typeface="Arial"/>
            </a:endParaRPr>
          </a:p>
          <a:p>
            <a:pPr marL="800100" lvl="1" indent="-285750">
              <a:buFont typeface="Arial" panose="020B0604020202020204" pitchFamily="34" charset="0"/>
              <a:buChar char="•"/>
            </a:pPr>
            <a:r>
              <a:rPr lang="en-US" sz="1400">
                <a:ea typeface="Verdana"/>
                <a:cs typeface="Arial"/>
              </a:rPr>
              <a:t>Reduce noise from warnings</a:t>
            </a:r>
          </a:p>
          <a:p>
            <a:pPr marL="800100" lvl="1" indent="-285750">
              <a:buFont typeface="Arial" panose="020B0604020202020204" pitchFamily="34" charset="0"/>
              <a:buChar char="•"/>
            </a:pPr>
            <a:r>
              <a:rPr lang="en-US" sz="1400">
                <a:ea typeface="Verdana"/>
                <a:cs typeface="Arial"/>
              </a:rPr>
              <a:t>Decrease execution time</a:t>
            </a:r>
          </a:p>
          <a:p>
            <a:pPr marL="800100" lvl="1" indent="-285750"/>
            <a:endParaRPr lang="en-US" sz="1400">
              <a:ea typeface="Verdana"/>
              <a:cs typeface="Arial"/>
            </a:endParaRPr>
          </a:p>
        </p:txBody>
      </p:sp>
      <p:pic>
        <p:nvPicPr>
          <p:cNvPr id="3" name="Picture 2">
            <a:extLst>
              <a:ext uri="{FF2B5EF4-FFF2-40B4-BE49-F238E27FC236}">
                <a16:creationId xmlns:a16="http://schemas.microsoft.com/office/drawing/2014/main" id="{7E3C98A7-79AA-4F3E-D659-FE99F2F76D64}"/>
              </a:ext>
            </a:extLst>
          </p:cNvPr>
          <p:cNvPicPr>
            <a:picLocks noChangeAspect="1"/>
          </p:cNvPicPr>
          <p:nvPr/>
        </p:nvPicPr>
        <p:blipFill>
          <a:blip r:embed="rId2"/>
          <a:stretch>
            <a:fillRect/>
          </a:stretch>
        </p:blipFill>
        <p:spPr>
          <a:xfrm>
            <a:off x="5323288" y="3840354"/>
            <a:ext cx="5662155" cy="2770976"/>
          </a:xfrm>
          <a:prstGeom prst="roundRect">
            <a:avLst>
              <a:gd name="adj" fmla="val 2312"/>
            </a:avLst>
          </a:prstGeom>
        </p:spPr>
      </p:pic>
      <p:pic>
        <p:nvPicPr>
          <p:cNvPr id="4" name="Picture 3" descr="A screenshot of a computer&#10;&#10;Description automatically generated">
            <a:extLst>
              <a:ext uri="{FF2B5EF4-FFF2-40B4-BE49-F238E27FC236}">
                <a16:creationId xmlns:a16="http://schemas.microsoft.com/office/drawing/2014/main" id="{3B5767DD-A3F0-C1B8-D25A-2226EEAD4383}"/>
              </a:ext>
            </a:extLst>
          </p:cNvPr>
          <p:cNvPicPr>
            <a:picLocks noChangeAspect="1"/>
          </p:cNvPicPr>
          <p:nvPr/>
        </p:nvPicPr>
        <p:blipFill>
          <a:blip r:embed="rId3"/>
          <a:stretch>
            <a:fillRect/>
          </a:stretch>
        </p:blipFill>
        <p:spPr>
          <a:xfrm>
            <a:off x="5081203" y="1255614"/>
            <a:ext cx="6405678" cy="2173386"/>
          </a:xfrm>
          <a:prstGeom prst="roundRect">
            <a:avLst>
              <a:gd name="adj" fmla="val 3206"/>
            </a:avLst>
          </a:prstGeom>
        </p:spPr>
      </p:pic>
      <p:sp>
        <p:nvSpPr>
          <p:cNvPr id="7" name="TextBox 6">
            <a:extLst>
              <a:ext uri="{FF2B5EF4-FFF2-40B4-BE49-F238E27FC236}">
                <a16:creationId xmlns:a16="http://schemas.microsoft.com/office/drawing/2014/main" id="{E5D61697-8852-9E21-458D-566E1E4C4BE5}"/>
              </a:ext>
            </a:extLst>
          </p:cNvPr>
          <p:cNvSpPr txBox="1"/>
          <p:nvPr/>
        </p:nvSpPr>
        <p:spPr>
          <a:xfrm>
            <a:off x="508717" y="3429000"/>
            <a:ext cx="3907640" cy="1261884"/>
          </a:xfrm>
          <a:prstGeom prst="rect">
            <a:avLst/>
          </a:prstGeom>
          <a:noFill/>
        </p:spPr>
        <p:txBody>
          <a:bodyPr wrap="square" lIns="91440" tIns="45720" rIns="91440" bIns="45720" anchor="t">
            <a:spAutoFit/>
          </a:bodyPr>
          <a:lstStyle/>
          <a:p>
            <a:r>
              <a:rPr lang="en-US" sz="1600">
                <a:solidFill>
                  <a:srgbClr val="FF721C"/>
                </a:solidFill>
                <a:ea typeface="Verdana"/>
                <a:cs typeface="Arial"/>
              </a:rPr>
              <a:t>Search imports for:</a:t>
            </a:r>
          </a:p>
          <a:p>
            <a:endParaRPr lang="en-US" b="1">
              <a:solidFill>
                <a:srgbClr val="FF721C"/>
              </a:solidFill>
              <a:ea typeface="Verdana"/>
              <a:cs typeface="Arial"/>
            </a:endParaRPr>
          </a:p>
          <a:p>
            <a:pPr marL="857250" lvl="1" indent="-342900">
              <a:buFont typeface="+mj-lt"/>
              <a:buAutoNum type="arabicPeriod"/>
            </a:pPr>
            <a:r>
              <a:rPr lang="en-US" sz="1400">
                <a:solidFill>
                  <a:schemeClr val="tx2"/>
                </a:solidFill>
                <a:ea typeface="Verdana"/>
                <a:cs typeface="Arial"/>
              </a:rPr>
              <a:t>“</a:t>
            </a:r>
            <a:r>
              <a:rPr lang="en-US" sz="1400" b="1" err="1">
                <a:solidFill>
                  <a:schemeClr val="tx2"/>
                </a:solidFill>
                <a:ea typeface="Verdana"/>
                <a:cs typeface="Arial"/>
              </a:rPr>
              <a:t>import_attr</a:t>
            </a:r>
            <a:r>
              <a:rPr lang="en-US" sz="1400">
                <a:solidFill>
                  <a:schemeClr val="tx2"/>
                </a:solidFill>
                <a:ea typeface="Verdana"/>
                <a:cs typeface="Arial"/>
              </a:rPr>
              <a:t>”</a:t>
            </a:r>
          </a:p>
          <a:p>
            <a:pPr marL="857250" lvl="1" indent="-342900">
              <a:buFont typeface="+mj-lt"/>
              <a:buAutoNum type="arabicPeriod"/>
            </a:pPr>
            <a:r>
              <a:rPr lang="en-US" sz="1400">
                <a:solidFill>
                  <a:schemeClr val="tx2"/>
                </a:solidFill>
                <a:ea typeface="Verdana"/>
                <a:cs typeface="Arial"/>
              </a:rPr>
              <a:t>“</a:t>
            </a:r>
            <a:r>
              <a:rPr lang="en-US" sz="1400" b="1">
                <a:solidFill>
                  <a:schemeClr val="tx2"/>
                </a:solidFill>
                <a:ea typeface="Verdana"/>
                <a:cs typeface="Arial"/>
              </a:rPr>
              <a:t>rule</a:t>
            </a:r>
            <a:r>
              <a:rPr lang="en-US" sz="1400">
                <a:solidFill>
                  <a:schemeClr val="tx2"/>
                </a:solidFill>
                <a:ea typeface="Verdana"/>
                <a:cs typeface="Arial"/>
              </a:rPr>
              <a:t>”</a:t>
            </a:r>
            <a:endParaRPr lang="en-US" sz="1400">
              <a:ea typeface="Verdana"/>
              <a:cs typeface="Arial"/>
            </a:endParaRPr>
          </a:p>
          <a:p>
            <a:pPr marL="800100" lvl="1" indent="-285750"/>
            <a:endParaRPr lang="en-US" sz="1400">
              <a:ea typeface="Verdana"/>
              <a:cs typeface="Arial"/>
            </a:endParaRPr>
          </a:p>
        </p:txBody>
      </p:sp>
      <p:sp>
        <p:nvSpPr>
          <p:cNvPr id="6" name="TextBox 5">
            <a:extLst>
              <a:ext uri="{FF2B5EF4-FFF2-40B4-BE49-F238E27FC236}">
                <a16:creationId xmlns:a16="http://schemas.microsoft.com/office/drawing/2014/main" id="{D085F52F-D7E5-1A77-3C52-BC44ECE95062}"/>
              </a:ext>
            </a:extLst>
          </p:cNvPr>
          <p:cNvSpPr txBox="1"/>
          <p:nvPr/>
        </p:nvSpPr>
        <p:spPr>
          <a:xfrm>
            <a:off x="508717" y="2943383"/>
            <a:ext cx="6097904" cy="230832"/>
          </a:xfrm>
          <a:prstGeom prst="rect">
            <a:avLst/>
          </a:prstGeom>
          <a:noFill/>
        </p:spPr>
        <p:txBody>
          <a:bodyPr wrap="square">
            <a:spAutoFit/>
          </a:bodyPr>
          <a:lstStyle/>
          <a:p>
            <a:r>
              <a:rPr lang="en-US" sz="900" b="0" i="0" u="none" strike="noStrike">
                <a:solidFill>
                  <a:schemeClr val="tx2"/>
                </a:solidFill>
                <a:effectLst/>
                <a:latin typeface="Arial" panose="020B0604020202020204" pitchFamily="34" charset="0"/>
              </a:rPr>
              <a:t>(SPT-51)</a:t>
            </a:r>
            <a:endParaRPr lang="en-US" sz="900">
              <a:solidFill>
                <a:schemeClr val="tx2"/>
              </a:solidFill>
            </a:endParaRPr>
          </a:p>
        </p:txBody>
      </p:sp>
      <p:sp>
        <p:nvSpPr>
          <p:cNvPr id="9" name="TextBox 8">
            <a:extLst>
              <a:ext uri="{FF2B5EF4-FFF2-40B4-BE49-F238E27FC236}">
                <a16:creationId xmlns:a16="http://schemas.microsoft.com/office/drawing/2014/main" id="{847512BF-B9C6-F7B0-CB14-B4D2289FA5FD}"/>
              </a:ext>
            </a:extLst>
          </p:cNvPr>
          <p:cNvSpPr txBox="1"/>
          <p:nvPr/>
        </p:nvSpPr>
        <p:spPr>
          <a:xfrm>
            <a:off x="615102" y="4460052"/>
            <a:ext cx="6097904" cy="230832"/>
          </a:xfrm>
          <a:prstGeom prst="rect">
            <a:avLst/>
          </a:prstGeom>
          <a:noFill/>
        </p:spPr>
        <p:txBody>
          <a:bodyPr wrap="square">
            <a:spAutoFit/>
          </a:bodyPr>
          <a:lstStyle/>
          <a:p>
            <a:r>
              <a:rPr lang="en-US" sz="900" b="0" i="0" u="none" strike="noStrike">
                <a:solidFill>
                  <a:schemeClr val="tx2"/>
                </a:solidFill>
                <a:effectLst/>
                <a:latin typeface="Arial" panose="020B0604020202020204" pitchFamily="34" charset="0"/>
              </a:rPr>
              <a:t>(SPT-48)</a:t>
            </a:r>
            <a:endParaRPr lang="en-US" sz="900">
              <a:solidFill>
                <a:schemeClr val="tx2"/>
              </a:solidFill>
            </a:endParaRPr>
          </a:p>
        </p:txBody>
      </p:sp>
      <p:sp>
        <p:nvSpPr>
          <p:cNvPr id="10" name="TextBox 9">
            <a:extLst>
              <a:ext uri="{FF2B5EF4-FFF2-40B4-BE49-F238E27FC236}">
                <a16:creationId xmlns:a16="http://schemas.microsoft.com/office/drawing/2014/main" id="{ED957418-3742-ADC4-92A7-9C28FFE39D04}"/>
              </a:ext>
            </a:extLst>
          </p:cNvPr>
          <p:cNvSpPr txBox="1"/>
          <p:nvPr/>
        </p:nvSpPr>
        <p:spPr>
          <a:xfrm>
            <a:off x="508717" y="5398391"/>
            <a:ext cx="4459638" cy="1169551"/>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lang="en-US" sz="1600">
                <a:latin typeface="Arial"/>
                <a:ea typeface="Verdana"/>
                <a:cs typeface="Arial"/>
              </a:rPr>
              <a:t>There may be additional unmapped items present in other imports – please validate that these are intended to be unmapped before ignoring. </a:t>
            </a:r>
          </a:p>
        </p:txBody>
      </p:sp>
    </p:spTree>
    <p:extLst>
      <p:ext uri="{BB962C8B-B14F-4D97-AF65-F5344CB8AC3E}">
        <p14:creationId xmlns:p14="http://schemas.microsoft.com/office/powerpoint/2010/main" val="3398536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170C9-78A5-6666-B8E0-BDAFC164601E}"/>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CEF36DE1-4B81-D35C-2624-8BA0B673BDF4}"/>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dirty="0">
                <a:solidFill>
                  <a:srgbClr val="FFFFFF"/>
                </a:solidFill>
                <a:latin typeface="Arial"/>
                <a:ea typeface="Verdana"/>
                <a:cs typeface="Arial"/>
              </a:rPr>
              <a:t>Update Actions (cont.) - Target Imports</a:t>
            </a:r>
            <a:endParaRPr lang="en-GB" sz="2400" b="0" i="0" u="none" strike="noStrike" kern="1200" cap="none" spc="0" normalizeH="0" baseline="0" noProof="0" dirty="0">
              <a:ln>
                <a:noFill/>
              </a:ln>
              <a:solidFill>
                <a:srgbClr val="FFFFFF"/>
              </a:solidFill>
              <a:effectLst/>
              <a:uLnTx/>
              <a:uFillTx/>
              <a:latin typeface="Arial"/>
              <a:ea typeface="Verdana"/>
              <a:cs typeface="Arial"/>
            </a:endParaRPr>
          </a:p>
        </p:txBody>
      </p:sp>
      <p:sp>
        <p:nvSpPr>
          <p:cNvPr id="2" name="TextBox 1">
            <a:extLst>
              <a:ext uri="{FF2B5EF4-FFF2-40B4-BE49-F238E27FC236}">
                <a16:creationId xmlns:a16="http://schemas.microsoft.com/office/drawing/2014/main" id="{8EFAA5B2-359F-2688-0183-01D8BF30E47A}"/>
              </a:ext>
            </a:extLst>
          </p:cNvPr>
          <p:cNvSpPr txBox="1"/>
          <p:nvPr/>
        </p:nvSpPr>
        <p:spPr>
          <a:xfrm>
            <a:off x="508717" y="1212623"/>
            <a:ext cx="3907640" cy="800219"/>
          </a:xfrm>
          <a:prstGeom prst="rect">
            <a:avLst/>
          </a:prstGeom>
          <a:noFill/>
        </p:spPr>
        <p:txBody>
          <a:bodyPr wrap="square" lIns="91440" tIns="45720" rIns="91440" bIns="45720" anchor="t">
            <a:spAutoFit/>
          </a:bodyPr>
          <a:lstStyle/>
          <a:p>
            <a:r>
              <a:rPr lang="en-US" sz="1600" b="1">
                <a:solidFill>
                  <a:srgbClr val="FF721C"/>
                </a:solidFill>
                <a:ea typeface="Verdana"/>
                <a:cs typeface="Arial"/>
              </a:rPr>
              <a:t>Orange:</a:t>
            </a:r>
          </a:p>
          <a:p>
            <a:endParaRPr lang="en-US" sz="1600">
              <a:solidFill>
                <a:srgbClr val="FF721C"/>
              </a:solidFill>
              <a:ea typeface="Verdana"/>
              <a:cs typeface="Arial"/>
            </a:endParaRPr>
          </a:p>
          <a:p>
            <a:r>
              <a:rPr lang="en-US" sz="1400">
                <a:solidFill>
                  <a:schemeClr val="tx2"/>
                </a:solidFill>
                <a:ea typeface="Verdana"/>
                <a:cs typeface="Arial"/>
              </a:rPr>
              <a:t>White</a:t>
            </a:r>
            <a:endParaRPr lang="en-US" sz="1400" dirty="0">
              <a:solidFill>
                <a:schemeClr val="tx2"/>
              </a:solidFill>
              <a:ea typeface="Verdana"/>
              <a:cs typeface="Arial"/>
            </a:endParaRPr>
          </a:p>
        </p:txBody>
      </p:sp>
      <p:sp>
        <p:nvSpPr>
          <p:cNvPr id="6" name="TextBox 5">
            <a:extLst>
              <a:ext uri="{FF2B5EF4-FFF2-40B4-BE49-F238E27FC236}">
                <a16:creationId xmlns:a16="http://schemas.microsoft.com/office/drawing/2014/main" id="{4B362109-2912-5327-A388-C3986FAC02F3}"/>
              </a:ext>
            </a:extLst>
          </p:cNvPr>
          <p:cNvSpPr txBox="1"/>
          <p:nvPr/>
        </p:nvSpPr>
        <p:spPr>
          <a:xfrm>
            <a:off x="508717" y="2943383"/>
            <a:ext cx="6097904" cy="230832"/>
          </a:xfrm>
          <a:prstGeom prst="rect">
            <a:avLst/>
          </a:prstGeom>
          <a:noFill/>
        </p:spPr>
        <p:txBody>
          <a:bodyPr wrap="square" lIns="91440" tIns="45720" rIns="91440" bIns="45720" anchor="t">
            <a:spAutoFit/>
          </a:bodyPr>
          <a:lstStyle/>
          <a:p>
            <a:r>
              <a:rPr lang="en-US" sz="900" b="0" i="0" u="none" strike="noStrike" dirty="0">
                <a:solidFill>
                  <a:schemeClr val="tx2"/>
                </a:solidFill>
                <a:effectLst/>
                <a:latin typeface="Arial"/>
                <a:cs typeface="Arial"/>
              </a:rPr>
              <a:t>(</a:t>
            </a:r>
            <a:r>
              <a:rPr lang="en-US" sz="900" dirty="0">
                <a:solidFill>
                  <a:schemeClr val="tx2"/>
                </a:solidFill>
                <a:latin typeface="Arial"/>
                <a:cs typeface="Arial"/>
              </a:rPr>
              <a:t>SPT-2710</a:t>
            </a:r>
            <a:r>
              <a:rPr lang="en-US" sz="900" b="0" i="0" u="none" strike="noStrike" dirty="0">
                <a:solidFill>
                  <a:schemeClr val="tx2"/>
                </a:solidFill>
                <a:effectLst/>
                <a:latin typeface="Arial"/>
                <a:cs typeface="Arial"/>
              </a:rPr>
              <a:t>)</a:t>
            </a:r>
            <a:endParaRPr lang="en-US" sz="900" dirty="0">
              <a:solidFill>
                <a:schemeClr val="tx2"/>
              </a:solidFill>
              <a:latin typeface="Arial"/>
              <a:cs typeface="Arial"/>
            </a:endParaRPr>
          </a:p>
        </p:txBody>
      </p:sp>
    </p:spTree>
    <p:extLst>
      <p:ext uri="{BB962C8B-B14F-4D97-AF65-F5344CB8AC3E}">
        <p14:creationId xmlns:p14="http://schemas.microsoft.com/office/powerpoint/2010/main" val="3090363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BA085-B7C9-7CF3-39AB-46B07B0BF75B}"/>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47C92F16-C3DE-D32C-8BB9-00559EFB5DA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rPr>
              <a:t>Add filters to import saved views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182B6616-3186-D696-6EF9-5698ED4CBA49}"/>
              </a:ext>
            </a:extLst>
          </p:cNvPr>
          <p:cNvSpPr txBox="1"/>
          <p:nvPr/>
        </p:nvSpPr>
        <p:spPr>
          <a:xfrm>
            <a:off x="615102" y="1576776"/>
            <a:ext cx="3907640" cy="1231106"/>
          </a:xfrm>
          <a:prstGeom prst="rect">
            <a:avLst/>
          </a:prstGeom>
          <a:noFill/>
        </p:spPr>
        <p:txBody>
          <a:bodyPr wrap="square" lIns="91440" tIns="45720" rIns="91440" bIns="45720" anchor="t">
            <a:spAutoFit/>
          </a:bodyPr>
          <a:lstStyle/>
          <a:p>
            <a:r>
              <a:rPr lang="en-US" sz="1600" b="1">
                <a:solidFill>
                  <a:srgbClr val="FF721C"/>
                </a:solidFill>
                <a:ea typeface="Verdana"/>
                <a:cs typeface="Arial"/>
              </a:rPr>
              <a:t>Update filters for saved views:</a:t>
            </a:r>
          </a:p>
          <a:p>
            <a:endParaRPr lang="en-US" sz="1600">
              <a:solidFill>
                <a:srgbClr val="FF721C"/>
              </a:solidFill>
              <a:ea typeface="Verdana"/>
              <a:cs typeface="Arial"/>
            </a:endParaRPr>
          </a:p>
          <a:p>
            <a:r>
              <a:rPr lang="en-US" sz="1400">
                <a:solidFill>
                  <a:schemeClr val="tx2"/>
                </a:solidFill>
                <a:ea typeface="Verdana"/>
                <a:cs typeface="Arial"/>
              </a:rPr>
              <a:t>Add the filters for the following saved views: </a:t>
            </a:r>
          </a:p>
          <a:p>
            <a:pPr marL="800100" lvl="1" indent="-285750"/>
            <a:endParaRPr lang="en-US" sz="1400">
              <a:ea typeface="Verdana"/>
              <a:cs typeface="Arial"/>
            </a:endParaRPr>
          </a:p>
          <a:p>
            <a:pPr marL="800100" lvl="1" indent="-285750"/>
            <a:endParaRPr lang="en-US" sz="1400">
              <a:ea typeface="Verdana"/>
              <a:cs typeface="Arial"/>
            </a:endParaRPr>
          </a:p>
        </p:txBody>
      </p:sp>
      <p:sp>
        <p:nvSpPr>
          <p:cNvPr id="10" name="TextBox 9">
            <a:extLst>
              <a:ext uri="{FF2B5EF4-FFF2-40B4-BE49-F238E27FC236}">
                <a16:creationId xmlns:a16="http://schemas.microsoft.com/office/drawing/2014/main" id="{E1947C8C-417E-78C3-8B0C-6B3C76CA3041}"/>
              </a:ext>
            </a:extLst>
          </p:cNvPr>
          <p:cNvSpPr txBox="1"/>
          <p:nvPr/>
        </p:nvSpPr>
        <p:spPr>
          <a:xfrm>
            <a:off x="6906278" y="1720305"/>
            <a:ext cx="4459638" cy="677108"/>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kumimoji="0" lang="en-US" sz="1600" u="none" strike="noStrike" kern="1200" cap="none" spc="0" normalizeH="0" baseline="0" noProof="0">
                <a:ln>
                  <a:noFill/>
                </a:ln>
                <a:solidFill>
                  <a:schemeClr val="tx2"/>
                </a:solidFill>
                <a:effectLst/>
                <a:uLnTx/>
                <a:uFillTx/>
                <a:latin typeface="Arial"/>
                <a:ea typeface="Verdana"/>
                <a:cs typeface="Arial"/>
              </a:rPr>
              <a:t>Module names may differ in the generated models. </a:t>
            </a:r>
            <a:endParaRPr lang="en-US" sz="1600">
              <a:solidFill>
                <a:schemeClr val="tx2"/>
              </a:solidFill>
              <a:latin typeface="Arial"/>
              <a:ea typeface="Verdana"/>
              <a:cs typeface="Arial"/>
            </a:endParaRPr>
          </a:p>
        </p:txBody>
      </p:sp>
      <p:graphicFrame>
        <p:nvGraphicFramePr>
          <p:cNvPr id="5" name="Table 4">
            <a:extLst>
              <a:ext uri="{FF2B5EF4-FFF2-40B4-BE49-F238E27FC236}">
                <a16:creationId xmlns:a16="http://schemas.microsoft.com/office/drawing/2014/main" id="{6B922E61-B189-A035-5971-F1865C348A57}"/>
              </a:ext>
            </a:extLst>
          </p:cNvPr>
          <p:cNvGraphicFramePr>
            <a:graphicFrameLocks noGrp="1"/>
          </p:cNvGraphicFramePr>
          <p:nvPr/>
        </p:nvGraphicFramePr>
        <p:xfrm>
          <a:off x="615102" y="2877552"/>
          <a:ext cx="10753528" cy="1648817"/>
        </p:xfrm>
        <a:graphic>
          <a:graphicData uri="http://schemas.openxmlformats.org/drawingml/2006/table">
            <a:tbl>
              <a:tblPr firstRow="1" bandRow="1">
                <a:tableStyleId>{D7AC3CCA-C797-4891-BE02-D94E43425B78}</a:tableStyleId>
              </a:tblPr>
              <a:tblGrid>
                <a:gridCol w="5009521">
                  <a:extLst>
                    <a:ext uri="{9D8B030D-6E8A-4147-A177-3AD203B41FA5}">
                      <a16:colId xmlns:a16="http://schemas.microsoft.com/office/drawing/2014/main" val="3666017874"/>
                    </a:ext>
                  </a:extLst>
                </a:gridCol>
                <a:gridCol w="5744007">
                  <a:extLst>
                    <a:ext uri="{9D8B030D-6E8A-4147-A177-3AD203B41FA5}">
                      <a16:colId xmlns:a16="http://schemas.microsoft.com/office/drawing/2014/main" val="762500703"/>
                    </a:ext>
                  </a:extLst>
                </a:gridCol>
              </a:tblGrid>
              <a:tr h="524867">
                <a:tc>
                  <a:txBody>
                    <a:bodyPr/>
                    <a:lstStyle/>
                    <a:p>
                      <a:pPr algn="l" fontAlgn="base">
                        <a:lnSpc>
                          <a:spcPts val="1425"/>
                        </a:lnSpc>
                        <a:buNone/>
                      </a:pPr>
                      <a:r>
                        <a:rPr lang="en-US" sz="1200" b="1">
                          <a:solidFill>
                            <a:srgbClr val="FFFFFF"/>
                          </a:solidFill>
                          <a:effectLst/>
                        </a:rPr>
                        <a:t>Saved View Name ​</a:t>
                      </a:r>
                      <a:endParaRPr lang="en-US" b="1" i="0">
                        <a:solidFill>
                          <a:srgbClr val="FFFFFF"/>
                        </a:solidFill>
                        <a:effectLst/>
                      </a:endParaRPr>
                    </a:p>
                  </a:txBody>
                  <a:tcPr anchor="ctr">
                    <a:solidFill>
                      <a:schemeClr val="tx2"/>
                    </a:solidFill>
                  </a:tcPr>
                </a:tc>
                <a:tc>
                  <a:txBody>
                    <a:bodyPr/>
                    <a:lstStyle/>
                    <a:p>
                      <a:pPr algn="l" fontAlgn="base">
                        <a:lnSpc>
                          <a:spcPts val="1425"/>
                        </a:lnSpc>
                        <a:buNone/>
                      </a:pPr>
                      <a:r>
                        <a:rPr lang="en-US" sz="1200" b="1">
                          <a:solidFill>
                            <a:srgbClr val="FFFFFF"/>
                          </a:solidFill>
                          <a:effectLst/>
                        </a:rPr>
                        <a:t>Filter Name​</a:t>
                      </a:r>
                      <a:endParaRPr lang="en-US" b="1" i="0">
                        <a:solidFill>
                          <a:srgbClr val="FFFFFF"/>
                        </a:solidFill>
                        <a:effectLst/>
                      </a:endParaRPr>
                    </a:p>
                  </a:txBody>
                  <a:tcPr anchor="ctr">
                    <a:solidFill>
                      <a:schemeClr val="tx2"/>
                    </a:solidFill>
                  </a:tcPr>
                </a:tc>
                <a:extLst>
                  <a:ext uri="{0D108BD9-81ED-4DB2-BD59-A6C34878D82A}">
                    <a16:rowId xmlns:a16="http://schemas.microsoft.com/office/drawing/2014/main" val="1191302212"/>
                  </a:ext>
                </a:extLst>
              </a:tr>
              <a:tr h="514350">
                <a:tc>
                  <a:txBody>
                    <a:bodyPr/>
                    <a:lstStyle/>
                    <a:p>
                      <a:pPr algn="l" fontAlgn="base">
                        <a:lnSpc>
                          <a:spcPts val="1425"/>
                        </a:lnSpc>
                        <a:buNone/>
                      </a:pPr>
                      <a:r>
                        <a:rPr lang="en-US" sz="1200" b="0">
                          <a:solidFill>
                            <a:srgbClr val="0A2F46"/>
                          </a:solidFill>
                          <a:effectLst/>
                        </a:rPr>
                        <a:t>Target </a:t>
                      </a:r>
                      <a:r>
                        <a:rPr lang="en-US" sz="1200" b="0" err="1">
                          <a:solidFill>
                            <a:srgbClr val="0A2F46"/>
                          </a:solidFill>
                          <a:effectLst/>
                        </a:rPr>
                        <a:t>Imports.Target</a:t>
                      </a:r>
                      <a:r>
                        <a:rPr lang="en-US" sz="1200" b="0">
                          <a:solidFill>
                            <a:srgbClr val="0A2F46"/>
                          </a:solidFill>
                          <a:effectLst/>
                        </a:rPr>
                        <a:t> Import by Territory, Time and other​</a:t>
                      </a:r>
                      <a:endParaRPr lang="en-US" b="0" i="0">
                        <a:solidFill>
                          <a:srgbClr val="0A2F46"/>
                        </a:solidFill>
                        <a:effectLst/>
                      </a:endParaRPr>
                    </a:p>
                  </a:txBody>
                  <a:tcPr anchor="b"/>
                </a:tc>
                <a:tc>
                  <a:txBody>
                    <a:bodyPr/>
                    <a:lstStyle/>
                    <a:p>
                      <a:pPr algn="l" fontAlgn="base">
                        <a:lnSpc>
                          <a:spcPts val="1425"/>
                        </a:lnSpc>
                        <a:buNone/>
                      </a:pPr>
                      <a:r>
                        <a:rPr lang="en-US" sz="1200" b="0">
                          <a:solidFill>
                            <a:srgbClr val="0A2F46"/>
                          </a:solidFill>
                          <a:effectLst/>
                        </a:rPr>
                        <a:t>Time Filters and Settings by </a:t>
                      </a:r>
                      <a:r>
                        <a:rPr lang="en-US" sz="1200" b="0" err="1">
                          <a:solidFill>
                            <a:srgbClr val="0A2F46"/>
                          </a:solidFill>
                          <a:effectLst/>
                        </a:rPr>
                        <a:t>Quarter.Is</a:t>
                      </a:r>
                      <a:r>
                        <a:rPr lang="en-US" sz="1200" b="0">
                          <a:solidFill>
                            <a:srgbClr val="0A2F46"/>
                          </a:solidFill>
                          <a:effectLst/>
                        </a:rPr>
                        <a:t> Quarter​</a:t>
                      </a:r>
                      <a:endParaRPr lang="en-US" b="0" i="0">
                        <a:solidFill>
                          <a:srgbClr val="0A2F46"/>
                        </a:solidFill>
                        <a:effectLst/>
                      </a:endParaRPr>
                    </a:p>
                  </a:txBody>
                  <a:tcPr anchor="b"/>
                </a:tc>
                <a:extLst>
                  <a:ext uri="{0D108BD9-81ED-4DB2-BD59-A6C34878D82A}">
                    <a16:rowId xmlns:a16="http://schemas.microsoft.com/office/drawing/2014/main" val="1933445749"/>
                  </a:ext>
                </a:extLst>
              </a:tr>
              <a:tr h="609600">
                <a:tc>
                  <a:txBody>
                    <a:bodyPr/>
                    <a:lstStyle/>
                    <a:p>
                      <a:pPr algn="l" fontAlgn="base">
                        <a:lnSpc>
                          <a:spcPts val="1425"/>
                        </a:lnSpc>
                        <a:buNone/>
                      </a:pPr>
                      <a:r>
                        <a:rPr lang="en-US" sz="1200" b="0">
                          <a:solidFill>
                            <a:srgbClr val="0A2F46"/>
                          </a:solidFill>
                          <a:effectLst/>
                        </a:rPr>
                        <a:t>Target Imports 2.Target Import by Territory, Time and other​</a:t>
                      </a:r>
                      <a:endParaRPr lang="en-US" b="0" i="0">
                        <a:solidFill>
                          <a:srgbClr val="0A2F46"/>
                        </a:solidFill>
                        <a:effectLst/>
                      </a:endParaRPr>
                    </a:p>
                  </a:txBody>
                  <a:tcPr anchor="b"/>
                </a:tc>
                <a:tc>
                  <a:txBody>
                    <a:bodyPr/>
                    <a:lstStyle/>
                    <a:p>
                      <a:pPr algn="l" fontAlgn="base">
                        <a:lnSpc>
                          <a:spcPts val="1425"/>
                        </a:lnSpc>
                        <a:buNone/>
                      </a:pPr>
                      <a:r>
                        <a:rPr lang="en-US" sz="1200" b="0">
                          <a:solidFill>
                            <a:srgbClr val="0A2F46"/>
                          </a:solidFill>
                          <a:effectLst/>
                        </a:rPr>
                        <a:t>Time Filters and Settings by </a:t>
                      </a:r>
                      <a:r>
                        <a:rPr lang="en-US" sz="1200" b="0" err="1">
                          <a:solidFill>
                            <a:srgbClr val="0A2F46"/>
                          </a:solidFill>
                          <a:effectLst/>
                        </a:rPr>
                        <a:t>Quarter.Is</a:t>
                      </a:r>
                      <a:r>
                        <a:rPr lang="en-US" sz="1200" b="0">
                          <a:solidFill>
                            <a:srgbClr val="0A2F46"/>
                          </a:solidFill>
                          <a:effectLst/>
                        </a:rPr>
                        <a:t> Quarter​</a:t>
                      </a:r>
                      <a:endParaRPr lang="en-US" b="0" i="0">
                        <a:solidFill>
                          <a:srgbClr val="0A2F46"/>
                        </a:solidFill>
                        <a:effectLst/>
                      </a:endParaRPr>
                    </a:p>
                  </a:txBody>
                  <a:tcPr anchor="b"/>
                </a:tc>
                <a:extLst>
                  <a:ext uri="{0D108BD9-81ED-4DB2-BD59-A6C34878D82A}">
                    <a16:rowId xmlns:a16="http://schemas.microsoft.com/office/drawing/2014/main" val="2343242258"/>
                  </a:ext>
                </a:extLst>
              </a:tr>
            </a:tbl>
          </a:graphicData>
        </a:graphic>
      </p:graphicFrame>
      <p:sp>
        <p:nvSpPr>
          <p:cNvPr id="8" name="Rectangle 1">
            <a:extLst>
              <a:ext uri="{FF2B5EF4-FFF2-40B4-BE49-F238E27FC236}">
                <a16:creationId xmlns:a16="http://schemas.microsoft.com/office/drawing/2014/main" id="{1B11287F-A58B-993A-8B4E-36EA098305C9}"/>
              </a:ext>
            </a:extLst>
          </p:cNvPr>
          <p:cNvSpPr>
            <a:spLocks noChangeArrowheads="1"/>
          </p:cNvSpPr>
          <p:nvPr/>
        </p:nvSpPr>
        <p:spPr bwMode="auto">
          <a:xfrm>
            <a:off x="719236" y="1940928"/>
            <a:ext cx="174898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9613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D6201-9B09-8F8A-ACD4-0B46BAD782F1}"/>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EB456533-7F00-6E2E-9278-E815872D5CCD}"/>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rPr>
              <a:t>Create list ordering actions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2" name="TextBox 1">
            <a:extLst>
              <a:ext uri="{FF2B5EF4-FFF2-40B4-BE49-F238E27FC236}">
                <a16:creationId xmlns:a16="http://schemas.microsoft.com/office/drawing/2014/main" id="{483A72B6-71A1-C9ED-FA1B-AD92C88C56B9}"/>
              </a:ext>
            </a:extLst>
          </p:cNvPr>
          <p:cNvSpPr txBox="1"/>
          <p:nvPr/>
        </p:nvSpPr>
        <p:spPr>
          <a:xfrm>
            <a:off x="615101" y="1576776"/>
            <a:ext cx="8784079" cy="2554545"/>
          </a:xfrm>
          <a:prstGeom prst="rect">
            <a:avLst/>
          </a:prstGeom>
          <a:noFill/>
        </p:spPr>
        <p:txBody>
          <a:bodyPr wrap="square" lIns="91440" tIns="45720" rIns="91440" bIns="45720" anchor="t">
            <a:spAutoFit/>
          </a:bodyPr>
          <a:lstStyle/>
          <a:p>
            <a:r>
              <a:rPr lang="en-US" sz="1600" b="1">
                <a:solidFill>
                  <a:srgbClr val="FF721C"/>
                </a:solidFill>
                <a:ea typeface="Verdana"/>
                <a:cs typeface="Arial"/>
              </a:rPr>
              <a:t>Overview:</a:t>
            </a:r>
          </a:p>
          <a:p>
            <a:endParaRPr lang="en-US" sz="1600">
              <a:solidFill>
                <a:srgbClr val="FF721C"/>
              </a:solidFill>
              <a:ea typeface="Verdana"/>
              <a:cs typeface="Arial"/>
            </a:endParaRPr>
          </a:p>
          <a:p>
            <a:r>
              <a:rPr lang="en-US" sz="1400">
                <a:solidFill>
                  <a:schemeClr val="tx2"/>
                </a:solidFill>
                <a:ea typeface="Verdana"/>
                <a:cs typeface="Arial"/>
              </a:rPr>
              <a:t>Actions to reorder lists cannot be generated and must be added.  </a:t>
            </a:r>
          </a:p>
          <a:p>
            <a:endParaRPr lang="en-US" sz="1400">
              <a:solidFill>
                <a:schemeClr val="tx2"/>
              </a:solidFill>
              <a:ea typeface="Verdana"/>
              <a:cs typeface="Arial"/>
            </a:endParaRPr>
          </a:p>
          <a:p>
            <a:r>
              <a:rPr lang="en-US" sz="1600" b="1">
                <a:solidFill>
                  <a:schemeClr val="accent1"/>
                </a:solidFill>
                <a:ea typeface="Verdana"/>
                <a:cs typeface="Arial"/>
              </a:rPr>
              <a:t>Action required: </a:t>
            </a:r>
          </a:p>
          <a:p>
            <a:endParaRPr lang="en-US" sz="1400">
              <a:solidFill>
                <a:schemeClr val="tx2"/>
              </a:solidFill>
              <a:ea typeface="Verdana"/>
              <a:cs typeface="Arial"/>
            </a:endParaRPr>
          </a:p>
          <a:p>
            <a:r>
              <a:rPr lang="en-US" sz="1400">
                <a:solidFill>
                  <a:schemeClr val="tx2"/>
                </a:solidFill>
                <a:ea typeface="Verdana"/>
                <a:cs typeface="Arial"/>
              </a:rPr>
              <a:t>The following ordering actions should be created:  </a:t>
            </a:r>
          </a:p>
          <a:p>
            <a:endParaRPr lang="en-US" sz="1400">
              <a:solidFill>
                <a:schemeClr val="tx2"/>
              </a:solidFill>
              <a:ea typeface="Verdana"/>
              <a:cs typeface="Arial"/>
            </a:endParaRPr>
          </a:p>
          <a:p>
            <a:r>
              <a:rPr lang="en-US" sz="1400">
                <a:solidFill>
                  <a:schemeClr val="tx2"/>
                </a:solidFill>
                <a:ea typeface="Verdana"/>
                <a:cs typeface="Arial"/>
              </a:rPr>
              <a:t> </a:t>
            </a:r>
          </a:p>
          <a:p>
            <a:pPr marL="800100" lvl="1" indent="-285750"/>
            <a:endParaRPr lang="en-US" sz="1400">
              <a:ea typeface="Verdana"/>
              <a:cs typeface="Arial"/>
            </a:endParaRPr>
          </a:p>
          <a:p>
            <a:pPr marL="800100" lvl="1" indent="-285750"/>
            <a:endParaRPr lang="en-US" sz="1400">
              <a:ea typeface="Verdana"/>
              <a:cs typeface="Arial"/>
            </a:endParaRPr>
          </a:p>
        </p:txBody>
      </p:sp>
      <p:sp>
        <p:nvSpPr>
          <p:cNvPr id="8" name="Rectangle 1">
            <a:extLst>
              <a:ext uri="{FF2B5EF4-FFF2-40B4-BE49-F238E27FC236}">
                <a16:creationId xmlns:a16="http://schemas.microsoft.com/office/drawing/2014/main" id="{4C8798D5-8326-196B-D3F7-5A34CB152263}"/>
              </a:ext>
            </a:extLst>
          </p:cNvPr>
          <p:cNvSpPr>
            <a:spLocks noChangeArrowheads="1"/>
          </p:cNvSpPr>
          <p:nvPr/>
        </p:nvSpPr>
        <p:spPr bwMode="auto">
          <a:xfrm>
            <a:off x="719236" y="1940928"/>
            <a:ext cx="174898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2B9F052D-4F84-B0E7-A823-374EF36F64A0}"/>
              </a:ext>
            </a:extLst>
          </p:cNvPr>
          <p:cNvGraphicFramePr>
            <a:graphicFrameLocks noGrp="1"/>
          </p:cNvGraphicFramePr>
          <p:nvPr/>
        </p:nvGraphicFramePr>
        <p:xfrm>
          <a:off x="615101" y="3667230"/>
          <a:ext cx="10846796" cy="1931512"/>
        </p:xfrm>
        <a:graphic>
          <a:graphicData uri="http://schemas.openxmlformats.org/drawingml/2006/table">
            <a:tbl>
              <a:tblPr>
                <a:tableStyleId>{D7AC3CCA-C797-4891-BE02-D94E43425B78}</a:tableStyleId>
              </a:tblPr>
              <a:tblGrid>
                <a:gridCol w="2725847">
                  <a:extLst>
                    <a:ext uri="{9D8B030D-6E8A-4147-A177-3AD203B41FA5}">
                      <a16:colId xmlns:a16="http://schemas.microsoft.com/office/drawing/2014/main" val="4039771994"/>
                    </a:ext>
                  </a:extLst>
                </a:gridCol>
                <a:gridCol w="2424023">
                  <a:extLst>
                    <a:ext uri="{9D8B030D-6E8A-4147-A177-3AD203B41FA5}">
                      <a16:colId xmlns:a16="http://schemas.microsoft.com/office/drawing/2014/main" val="868710318"/>
                    </a:ext>
                  </a:extLst>
                </a:gridCol>
                <a:gridCol w="1810943">
                  <a:extLst>
                    <a:ext uri="{9D8B030D-6E8A-4147-A177-3AD203B41FA5}">
                      <a16:colId xmlns:a16="http://schemas.microsoft.com/office/drawing/2014/main" val="1777458188"/>
                    </a:ext>
                  </a:extLst>
                </a:gridCol>
                <a:gridCol w="1132151">
                  <a:extLst>
                    <a:ext uri="{9D8B030D-6E8A-4147-A177-3AD203B41FA5}">
                      <a16:colId xmlns:a16="http://schemas.microsoft.com/office/drawing/2014/main" val="2852140887"/>
                    </a:ext>
                  </a:extLst>
                </a:gridCol>
                <a:gridCol w="2753832">
                  <a:extLst>
                    <a:ext uri="{9D8B030D-6E8A-4147-A177-3AD203B41FA5}">
                      <a16:colId xmlns:a16="http://schemas.microsoft.com/office/drawing/2014/main" val="2275901540"/>
                    </a:ext>
                  </a:extLst>
                </a:gridCol>
              </a:tblGrid>
              <a:tr h="411480">
                <a:tc>
                  <a:txBody>
                    <a:bodyPr/>
                    <a:lstStyle/>
                    <a:p>
                      <a:pPr algn="l" fontAlgn="base">
                        <a:lnSpc>
                          <a:spcPts val="1950"/>
                        </a:lnSpc>
                        <a:buNone/>
                      </a:pPr>
                      <a:r>
                        <a:rPr lang="en-US" sz="1600" b="0" u="none" strike="noStrike">
                          <a:solidFill>
                            <a:srgbClr val="F2F1EE"/>
                          </a:solidFill>
                          <a:effectLst/>
                        </a:rPr>
                        <a:t>Name</a:t>
                      </a:r>
                      <a:r>
                        <a:rPr lang="en-US" sz="1600" b="0">
                          <a:solidFill>
                            <a:srgbClr val="0A2F46"/>
                          </a:solidFill>
                          <a:effectLst/>
                        </a:rPr>
                        <a:t>​</a:t>
                      </a:r>
                      <a:endParaRPr lang="en-US" sz="2400" b="0" i="0">
                        <a:solidFill>
                          <a:srgbClr val="0A2F46"/>
                        </a:solidFill>
                        <a:effectLst/>
                      </a:endParaRPr>
                    </a:p>
                  </a:txBody>
                  <a:tcPr marL="87782" marR="87782" marT="43891" marB="43891" anchor="ctr">
                    <a:solidFill>
                      <a:schemeClr val="tx2"/>
                    </a:solidFill>
                  </a:tcPr>
                </a:tc>
                <a:tc>
                  <a:txBody>
                    <a:bodyPr/>
                    <a:lstStyle/>
                    <a:p>
                      <a:pPr algn="l" fontAlgn="base">
                        <a:lnSpc>
                          <a:spcPts val="1950"/>
                        </a:lnSpc>
                        <a:buNone/>
                      </a:pPr>
                      <a:r>
                        <a:rPr lang="en-US" sz="1600" b="0" u="none" strike="noStrike">
                          <a:solidFill>
                            <a:srgbClr val="F2F1EE"/>
                          </a:solidFill>
                          <a:effectLst/>
                        </a:rPr>
                        <a:t>List</a:t>
                      </a:r>
                      <a:r>
                        <a:rPr lang="en-US" sz="1600" b="0">
                          <a:solidFill>
                            <a:srgbClr val="0A2F46"/>
                          </a:solidFill>
                          <a:effectLst/>
                        </a:rPr>
                        <a:t>​</a:t>
                      </a:r>
                      <a:endParaRPr lang="en-US" sz="2400" b="0" i="0">
                        <a:solidFill>
                          <a:srgbClr val="0A2F46"/>
                        </a:solidFill>
                        <a:effectLst/>
                      </a:endParaRPr>
                    </a:p>
                  </a:txBody>
                  <a:tcPr marL="87782" marR="87782" marT="43891" marB="43891" anchor="ctr">
                    <a:solidFill>
                      <a:schemeClr val="tx2"/>
                    </a:solidFill>
                  </a:tcPr>
                </a:tc>
                <a:tc>
                  <a:txBody>
                    <a:bodyPr/>
                    <a:lstStyle/>
                    <a:p>
                      <a:pPr algn="l" fontAlgn="base">
                        <a:lnSpc>
                          <a:spcPts val="1950"/>
                        </a:lnSpc>
                        <a:buNone/>
                      </a:pPr>
                      <a:r>
                        <a:rPr lang="en-US" sz="1600" b="0" u="none" strike="noStrike">
                          <a:solidFill>
                            <a:srgbClr val="F2F1EE"/>
                          </a:solidFill>
                          <a:effectLst/>
                        </a:rPr>
                        <a:t>In Process</a:t>
                      </a:r>
                      <a:r>
                        <a:rPr lang="en-US" sz="1600" b="0">
                          <a:solidFill>
                            <a:srgbClr val="0A2F46"/>
                          </a:solidFill>
                          <a:effectLst/>
                        </a:rPr>
                        <a:t>​</a:t>
                      </a:r>
                      <a:endParaRPr lang="en-US" sz="2400" b="0" i="0">
                        <a:solidFill>
                          <a:srgbClr val="0A2F46"/>
                        </a:solidFill>
                        <a:effectLst/>
                      </a:endParaRPr>
                    </a:p>
                  </a:txBody>
                  <a:tcPr marL="87782" marR="87782" marT="43891" marB="43891" anchor="ctr">
                    <a:solidFill>
                      <a:schemeClr val="tx2"/>
                    </a:solidFill>
                  </a:tcPr>
                </a:tc>
                <a:tc>
                  <a:txBody>
                    <a:bodyPr/>
                    <a:lstStyle/>
                    <a:p>
                      <a:pPr algn="l" fontAlgn="base">
                        <a:lnSpc>
                          <a:spcPts val="1950"/>
                        </a:lnSpc>
                        <a:buNone/>
                      </a:pPr>
                      <a:r>
                        <a:rPr lang="en-US" sz="1600" b="0" u="none" strike="noStrike">
                          <a:solidFill>
                            <a:srgbClr val="F2F1EE"/>
                          </a:solidFill>
                          <a:effectLst/>
                        </a:rPr>
                        <a:t>Direction</a:t>
                      </a:r>
                      <a:r>
                        <a:rPr lang="en-US" sz="1600" b="0">
                          <a:solidFill>
                            <a:srgbClr val="0A2F46"/>
                          </a:solidFill>
                          <a:effectLst/>
                        </a:rPr>
                        <a:t>​</a:t>
                      </a:r>
                      <a:endParaRPr lang="en-US" sz="2400" b="0" i="0">
                        <a:solidFill>
                          <a:srgbClr val="0A2F46"/>
                        </a:solidFill>
                        <a:effectLst/>
                      </a:endParaRPr>
                    </a:p>
                  </a:txBody>
                  <a:tcPr marL="87782" marR="87782" marT="43891" marB="43891" anchor="ctr">
                    <a:solidFill>
                      <a:schemeClr val="tx2"/>
                    </a:solidFill>
                  </a:tcPr>
                </a:tc>
                <a:tc>
                  <a:txBody>
                    <a:bodyPr/>
                    <a:lstStyle/>
                    <a:p>
                      <a:pPr algn="l" fontAlgn="base">
                        <a:lnSpc>
                          <a:spcPts val="1950"/>
                        </a:lnSpc>
                        <a:buNone/>
                      </a:pPr>
                      <a:r>
                        <a:rPr lang="en-US" sz="1600" b="0" u="none" strike="noStrike">
                          <a:solidFill>
                            <a:srgbClr val="F2F1EE"/>
                          </a:solidFill>
                          <a:effectLst/>
                        </a:rPr>
                        <a:t>Line Item Driver</a:t>
                      </a:r>
                      <a:r>
                        <a:rPr lang="en-US" sz="1600" b="0">
                          <a:solidFill>
                            <a:srgbClr val="0A2F46"/>
                          </a:solidFill>
                          <a:effectLst/>
                        </a:rPr>
                        <a:t>​</a:t>
                      </a:r>
                      <a:endParaRPr lang="en-US" sz="2400" b="0" i="0">
                        <a:solidFill>
                          <a:srgbClr val="0A2F46"/>
                        </a:solidFill>
                        <a:effectLst/>
                      </a:endParaRPr>
                    </a:p>
                  </a:txBody>
                  <a:tcPr marL="87782" marR="87782" marT="43891" marB="43891" anchor="ctr">
                    <a:solidFill>
                      <a:schemeClr val="tx2"/>
                    </a:solidFill>
                  </a:tcPr>
                </a:tc>
                <a:extLst>
                  <a:ext uri="{0D108BD9-81ED-4DB2-BD59-A6C34878D82A}">
                    <a16:rowId xmlns:a16="http://schemas.microsoft.com/office/drawing/2014/main" val="1461944494"/>
                  </a:ext>
                </a:extLst>
              </a:tr>
              <a:tr h="535820">
                <a:tc>
                  <a:txBody>
                    <a:bodyPr/>
                    <a:lstStyle/>
                    <a:p>
                      <a:pPr algn="l" fontAlgn="base">
                        <a:lnSpc>
                          <a:spcPts val="1950"/>
                        </a:lnSpc>
                        <a:buNone/>
                      </a:pPr>
                      <a:r>
                        <a:rPr lang="en-US" sz="1400" b="0" u="none" strike="noStrike">
                          <a:solidFill>
                            <a:srgbClr val="000000"/>
                          </a:solidFill>
                          <a:effectLst/>
                        </a:rPr>
                        <a:t>Reorder To-Be assignments</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base">
                        <a:lnSpc>
                          <a:spcPts val="1950"/>
                        </a:lnSpc>
                        <a:buNone/>
                      </a:pPr>
                      <a:r>
                        <a:rPr lang="en-US" sz="1400" b="0" u="none" strike="noStrike">
                          <a:solidFill>
                            <a:srgbClr val="000000"/>
                          </a:solidFill>
                          <a:effectLst/>
                        </a:rPr>
                        <a:t>To-Be Account to Territory</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base">
                        <a:lnSpc>
                          <a:spcPts val="1950"/>
                        </a:lnSpc>
                        <a:buNone/>
                      </a:pPr>
                      <a:r>
                        <a:rPr lang="en-US" sz="1400" b="0" u="none" strike="noStrike">
                          <a:solidFill>
                            <a:srgbClr val="000000"/>
                          </a:solidFill>
                          <a:effectLst/>
                        </a:rPr>
                        <a:t>N/A</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auto">
                        <a:lnSpc>
                          <a:spcPts val="1950"/>
                        </a:lnSpc>
                        <a:buNone/>
                      </a:pPr>
                      <a:r>
                        <a:rPr lang="en-US" sz="1400" b="0" u="none" strike="noStrike">
                          <a:solidFill>
                            <a:srgbClr val="000000"/>
                          </a:solidFill>
                          <a:effectLst/>
                        </a:rPr>
                        <a:t>​</a:t>
                      </a:r>
                      <a:endParaRPr lang="en-US" sz="1400" b="0" i="0" u="none" strike="noStrike">
                        <a:solidFill>
                          <a:srgbClr val="000000"/>
                        </a:solidFill>
                        <a:effectLst/>
                        <a:latin typeface="Arial" panose="020B0604020202020204" pitchFamily="34" charset="0"/>
                      </a:endParaRPr>
                    </a:p>
                  </a:txBody>
                  <a:tcPr marL="87782" marR="87782" marT="43891" marB="43891" anchor="ctr"/>
                </a:tc>
                <a:tc>
                  <a:txBody>
                    <a:bodyPr/>
                    <a:lstStyle/>
                    <a:p>
                      <a:pPr algn="l" fontAlgn="auto">
                        <a:lnSpc>
                          <a:spcPts val="1950"/>
                        </a:lnSpc>
                        <a:buNone/>
                      </a:pPr>
                      <a:r>
                        <a:rPr lang="en-US" sz="1400" b="0" u="none" strike="noStrike">
                          <a:solidFill>
                            <a:srgbClr val="000000"/>
                          </a:solidFill>
                          <a:effectLst/>
                        </a:rPr>
                        <a:t>​</a:t>
                      </a:r>
                      <a:endParaRPr lang="en-US" sz="1400" b="0" i="0" u="none" strike="noStrike">
                        <a:solidFill>
                          <a:srgbClr val="000000"/>
                        </a:solidFill>
                        <a:effectLst/>
                        <a:latin typeface="Arial" panose="020B0604020202020204" pitchFamily="34" charset="0"/>
                      </a:endParaRPr>
                    </a:p>
                  </a:txBody>
                  <a:tcPr marL="87782" marR="87782" marT="43891" marB="43891" anchor="ctr"/>
                </a:tc>
                <a:extLst>
                  <a:ext uri="{0D108BD9-81ED-4DB2-BD59-A6C34878D82A}">
                    <a16:rowId xmlns:a16="http://schemas.microsoft.com/office/drawing/2014/main" val="3902304618"/>
                  </a:ext>
                </a:extLst>
              </a:tr>
              <a:tr h="563526">
                <a:tc>
                  <a:txBody>
                    <a:bodyPr/>
                    <a:lstStyle/>
                    <a:p>
                      <a:pPr algn="l" fontAlgn="base">
                        <a:lnSpc>
                          <a:spcPts val="1950"/>
                        </a:lnSpc>
                        <a:buNone/>
                      </a:pPr>
                      <a:r>
                        <a:rPr lang="en-US" sz="1400" b="0" u="none" strike="noStrike">
                          <a:solidFill>
                            <a:srgbClr val="000000"/>
                          </a:solidFill>
                          <a:effectLst/>
                        </a:rPr>
                        <a:t>11.3 Reorder Combinations</a:t>
                      </a:r>
                      <a:r>
                        <a:rPr lang="en-US" sz="1400" b="0">
                          <a:solidFill>
                            <a:srgbClr val="0A2F46"/>
                          </a:solidFill>
                          <a:effectLst/>
                        </a:rPr>
                        <a:t>​</a:t>
                      </a:r>
                      <a:endParaRPr lang="en-US" sz="2000" b="0" i="0">
                        <a:solidFill>
                          <a:srgbClr val="0A2F46"/>
                        </a:solidFill>
                        <a:effectLst/>
                      </a:endParaRPr>
                    </a:p>
                  </a:txBody>
                  <a:tcPr marL="87782" marR="87782" marT="43891" marB="43891" anchor="ctr">
                    <a:solidFill>
                      <a:schemeClr val="bg1"/>
                    </a:solidFill>
                  </a:tcPr>
                </a:tc>
                <a:tc>
                  <a:txBody>
                    <a:bodyPr/>
                    <a:lstStyle/>
                    <a:p>
                      <a:pPr algn="l" fontAlgn="base">
                        <a:lnSpc>
                          <a:spcPts val="1950"/>
                        </a:lnSpc>
                        <a:buNone/>
                      </a:pPr>
                      <a:r>
                        <a:rPr lang="en-US" sz="1400" b="0" u="none" strike="noStrike">
                          <a:solidFill>
                            <a:srgbClr val="000000"/>
                          </a:solidFill>
                          <a:effectLst/>
                        </a:rPr>
                        <a:t>Combinations</a:t>
                      </a:r>
                      <a:r>
                        <a:rPr lang="en-US" sz="1400" b="0">
                          <a:solidFill>
                            <a:srgbClr val="0A2F46"/>
                          </a:solidFill>
                          <a:effectLst/>
                        </a:rPr>
                        <a:t>​</a:t>
                      </a:r>
                      <a:endParaRPr lang="en-US" sz="2000" b="0" i="0">
                        <a:solidFill>
                          <a:srgbClr val="0A2F46"/>
                        </a:solidFill>
                        <a:effectLst/>
                      </a:endParaRPr>
                    </a:p>
                  </a:txBody>
                  <a:tcPr marL="87782" marR="87782" marT="43891" marB="43891" anchor="ctr">
                    <a:solidFill>
                      <a:schemeClr val="bg1"/>
                    </a:solidFill>
                  </a:tcPr>
                </a:tc>
                <a:tc>
                  <a:txBody>
                    <a:bodyPr/>
                    <a:lstStyle/>
                    <a:p>
                      <a:pPr algn="l" fontAlgn="base">
                        <a:lnSpc>
                          <a:spcPts val="1950"/>
                        </a:lnSpc>
                        <a:buNone/>
                      </a:pPr>
                      <a:r>
                        <a:rPr lang="en-US" sz="1400" b="0" u="none" strike="noStrike">
                          <a:solidFill>
                            <a:srgbClr val="000000"/>
                          </a:solidFill>
                          <a:effectLst/>
                        </a:rPr>
                        <a:t>6.3 Reorder Rule Combinations</a:t>
                      </a:r>
                      <a:r>
                        <a:rPr lang="en-US" sz="1400" b="0">
                          <a:solidFill>
                            <a:srgbClr val="0A2F46"/>
                          </a:solidFill>
                          <a:effectLst/>
                        </a:rPr>
                        <a:t>​</a:t>
                      </a:r>
                      <a:endParaRPr lang="en-US" sz="2000" b="0" i="0">
                        <a:solidFill>
                          <a:srgbClr val="0A2F46"/>
                        </a:solidFill>
                        <a:effectLst/>
                      </a:endParaRPr>
                    </a:p>
                  </a:txBody>
                  <a:tcPr marL="87782" marR="87782" marT="43891" marB="43891" anchor="ctr">
                    <a:solidFill>
                      <a:schemeClr val="bg1"/>
                    </a:solidFill>
                  </a:tcPr>
                </a:tc>
                <a:tc>
                  <a:txBody>
                    <a:bodyPr/>
                    <a:lstStyle/>
                    <a:p>
                      <a:pPr algn="l" fontAlgn="base">
                        <a:lnSpc>
                          <a:spcPts val="1950"/>
                        </a:lnSpc>
                        <a:buNone/>
                      </a:pPr>
                      <a:r>
                        <a:rPr lang="en-US" sz="1400" b="0" u="none" strike="noStrike">
                          <a:solidFill>
                            <a:srgbClr val="000000"/>
                          </a:solidFill>
                          <a:effectLst/>
                        </a:rPr>
                        <a:t>Ascending</a:t>
                      </a:r>
                      <a:r>
                        <a:rPr lang="en-US" sz="1400" b="0">
                          <a:solidFill>
                            <a:srgbClr val="0A2F46"/>
                          </a:solidFill>
                          <a:effectLst/>
                        </a:rPr>
                        <a:t>​</a:t>
                      </a:r>
                      <a:endParaRPr lang="en-US" sz="2000" b="0" i="0">
                        <a:solidFill>
                          <a:srgbClr val="0A2F46"/>
                        </a:solidFill>
                        <a:effectLst/>
                      </a:endParaRPr>
                    </a:p>
                  </a:txBody>
                  <a:tcPr marL="87782" marR="87782" marT="43891" marB="43891" anchor="ctr">
                    <a:solidFill>
                      <a:schemeClr val="bg1"/>
                    </a:solidFill>
                  </a:tcPr>
                </a:tc>
                <a:tc>
                  <a:txBody>
                    <a:bodyPr/>
                    <a:lstStyle/>
                    <a:p>
                      <a:pPr algn="l" fontAlgn="base">
                        <a:lnSpc>
                          <a:spcPts val="1950"/>
                        </a:lnSpc>
                        <a:buNone/>
                      </a:pPr>
                      <a:r>
                        <a:rPr lang="en-US" sz="1400" b="0" u="none" strike="noStrike">
                          <a:solidFill>
                            <a:srgbClr val="000000"/>
                          </a:solidFill>
                          <a:effectLst/>
                        </a:rPr>
                        <a:t>SYS: </a:t>
                      </a:r>
                      <a:r>
                        <a:rPr lang="en-US" sz="1400" b="0" u="none" strike="noStrike" err="1">
                          <a:solidFill>
                            <a:srgbClr val="000000"/>
                          </a:solidFill>
                          <a:effectLst/>
                        </a:rPr>
                        <a:t>Combinations.Final</a:t>
                      </a:r>
                      <a:r>
                        <a:rPr lang="en-US" sz="1400" b="0" u="none" strike="noStrike">
                          <a:solidFill>
                            <a:srgbClr val="000000"/>
                          </a:solidFill>
                          <a:effectLst/>
                        </a:rPr>
                        <a:t> Rank</a:t>
                      </a:r>
                      <a:r>
                        <a:rPr lang="en-US" sz="1400" b="0">
                          <a:solidFill>
                            <a:srgbClr val="0A2F46"/>
                          </a:solidFill>
                          <a:effectLst/>
                        </a:rPr>
                        <a:t>​</a:t>
                      </a:r>
                      <a:endParaRPr lang="en-US" sz="2000" b="0" i="0">
                        <a:solidFill>
                          <a:srgbClr val="0A2F46"/>
                        </a:solidFill>
                        <a:effectLst/>
                      </a:endParaRPr>
                    </a:p>
                  </a:txBody>
                  <a:tcPr marL="87782" marR="87782" marT="43891" marB="43891" anchor="ctr">
                    <a:solidFill>
                      <a:schemeClr val="bg1"/>
                    </a:solidFill>
                  </a:tcPr>
                </a:tc>
                <a:extLst>
                  <a:ext uri="{0D108BD9-81ED-4DB2-BD59-A6C34878D82A}">
                    <a16:rowId xmlns:a16="http://schemas.microsoft.com/office/drawing/2014/main" val="4020836513"/>
                  </a:ext>
                </a:extLst>
              </a:tr>
              <a:tr h="411480">
                <a:tc>
                  <a:txBody>
                    <a:bodyPr/>
                    <a:lstStyle/>
                    <a:p>
                      <a:pPr algn="l" fontAlgn="base">
                        <a:lnSpc>
                          <a:spcPts val="1950"/>
                        </a:lnSpc>
                        <a:buNone/>
                      </a:pPr>
                      <a:r>
                        <a:rPr lang="en-US" sz="1400" b="0" u="none" strike="noStrike">
                          <a:solidFill>
                            <a:srgbClr val="000000"/>
                          </a:solidFill>
                          <a:effectLst/>
                        </a:rPr>
                        <a:t>Sort State list</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base">
                        <a:lnSpc>
                          <a:spcPts val="1950"/>
                        </a:lnSpc>
                        <a:buNone/>
                      </a:pPr>
                      <a:r>
                        <a:rPr lang="en-US" sz="1400" b="0" u="none" strike="noStrike">
                          <a:solidFill>
                            <a:srgbClr val="000000"/>
                          </a:solidFill>
                          <a:effectLst/>
                        </a:rPr>
                        <a:t>State</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base">
                        <a:lnSpc>
                          <a:spcPts val="1950"/>
                        </a:lnSpc>
                        <a:buNone/>
                      </a:pPr>
                      <a:r>
                        <a:rPr lang="en-US" sz="1400" b="0" u="none" strike="noStrike">
                          <a:solidFill>
                            <a:srgbClr val="000000"/>
                          </a:solidFill>
                          <a:effectLst/>
                        </a:rPr>
                        <a:t>N/A</a:t>
                      </a:r>
                      <a:r>
                        <a:rPr lang="en-US" sz="1400" b="0">
                          <a:solidFill>
                            <a:srgbClr val="0A2F46"/>
                          </a:solidFill>
                          <a:effectLst/>
                        </a:rPr>
                        <a:t>​</a:t>
                      </a:r>
                      <a:endParaRPr lang="en-US" sz="2000" b="0" i="0">
                        <a:solidFill>
                          <a:srgbClr val="0A2F46"/>
                        </a:solidFill>
                        <a:effectLst/>
                      </a:endParaRPr>
                    </a:p>
                  </a:txBody>
                  <a:tcPr marL="87782" marR="87782" marT="43891" marB="43891" anchor="ctr"/>
                </a:tc>
                <a:tc>
                  <a:txBody>
                    <a:bodyPr/>
                    <a:lstStyle/>
                    <a:p>
                      <a:pPr algn="l" fontAlgn="auto">
                        <a:lnSpc>
                          <a:spcPts val="1950"/>
                        </a:lnSpc>
                        <a:buNone/>
                      </a:pPr>
                      <a:r>
                        <a:rPr lang="en-US" sz="1400" b="0" u="none" strike="noStrike">
                          <a:solidFill>
                            <a:srgbClr val="000000"/>
                          </a:solidFill>
                          <a:effectLst/>
                        </a:rPr>
                        <a:t>​</a:t>
                      </a:r>
                      <a:endParaRPr lang="en-US" sz="1400" b="0" i="0" u="none" strike="noStrike">
                        <a:solidFill>
                          <a:srgbClr val="000000"/>
                        </a:solidFill>
                        <a:effectLst/>
                        <a:latin typeface="Arial" panose="020B0604020202020204" pitchFamily="34" charset="0"/>
                      </a:endParaRPr>
                    </a:p>
                  </a:txBody>
                  <a:tcPr marL="87782" marR="87782" marT="43891" marB="43891" anchor="ctr"/>
                </a:tc>
                <a:tc>
                  <a:txBody>
                    <a:bodyPr/>
                    <a:lstStyle/>
                    <a:p>
                      <a:pPr algn="l" fontAlgn="auto">
                        <a:lnSpc>
                          <a:spcPts val="1950"/>
                        </a:lnSpc>
                        <a:buNone/>
                      </a:pPr>
                      <a:r>
                        <a:rPr lang="en-US" sz="1400" b="0" u="none" strike="noStrike">
                          <a:solidFill>
                            <a:srgbClr val="000000"/>
                          </a:solidFill>
                          <a:effectLst/>
                        </a:rPr>
                        <a:t>​</a:t>
                      </a:r>
                      <a:endParaRPr lang="en-US" sz="1400" b="0" i="0" u="none" strike="noStrike">
                        <a:solidFill>
                          <a:srgbClr val="000000"/>
                        </a:solidFill>
                        <a:effectLst/>
                        <a:latin typeface="Arial" panose="020B0604020202020204" pitchFamily="34" charset="0"/>
                      </a:endParaRPr>
                    </a:p>
                  </a:txBody>
                  <a:tcPr marL="87782" marR="87782" marT="43891" marB="43891" anchor="ctr"/>
                </a:tc>
                <a:extLst>
                  <a:ext uri="{0D108BD9-81ED-4DB2-BD59-A6C34878D82A}">
                    <a16:rowId xmlns:a16="http://schemas.microsoft.com/office/drawing/2014/main" val="3535253220"/>
                  </a:ext>
                </a:extLst>
              </a:tr>
            </a:tbl>
          </a:graphicData>
        </a:graphic>
      </p:graphicFrame>
      <p:sp>
        <p:nvSpPr>
          <p:cNvPr id="4" name="Rectangle 1">
            <a:extLst>
              <a:ext uri="{FF2B5EF4-FFF2-40B4-BE49-F238E27FC236}">
                <a16:creationId xmlns:a16="http://schemas.microsoft.com/office/drawing/2014/main" id="{4F511DDB-03CF-14F0-0555-FD1B3B9294B6}"/>
              </a:ext>
            </a:extLst>
          </p:cNvPr>
          <p:cNvSpPr>
            <a:spLocks noChangeArrowheads="1"/>
          </p:cNvSpPr>
          <p:nvPr/>
        </p:nvSpPr>
        <p:spPr bwMode="auto">
          <a:xfrm>
            <a:off x="615100" y="3344491"/>
            <a:ext cx="125759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89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AE3E-BE3F-4F28-3C39-41327EC35620}"/>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AF19FAE3-EF4E-7BCF-6E96-F31C5271F590}"/>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Required updates </a:t>
            </a:r>
            <a:r>
              <a:rPr lang="en-GB">
                <a:solidFill>
                  <a:srgbClr val="FFFFFF"/>
                </a:solidFill>
              </a:rPr>
              <a:t>for a</a:t>
            </a:r>
            <a:r>
              <a:rPr kumimoji="0" lang="en-GB" sz="240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ctions</a:t>
            </a: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 with match on names</a:t>
            </a:r>
          </a:p>
        </p:txBody>
      </p:sp>
      <p:sp>
        <p:nvSpPr>
          <p:cNvPr id="11" name="TextBox 10">
            <a:extLst>
              <a:ext uri="{FF2B5EF4-FFF2-40B4-BE49-F238E27FC236}">
                <a16:creationId xmlns:a16="http://schemas.microsoft.com/office/drawing/2014/main" id="{79B91779-922C-2654-EB12-846C0A4748A8}"/>
              </a:ext>
            </a:extLst>
          </p:cNvPr>
          <p:cNvSpPr txBox="1"/>
          <p:nvPr/>
        </p:nvSpPr>
        <p:spPr>
          <a:xfrm>
            <a:off x="615102" y="1785902"/>
            <a:ext cx="10081251" cy="2062103"/>
          </a:xfrm>
          <a:prstGeom prst="rect">
            <a:avLst/>
          </a:prstGeom>
          <a:noFill/>
        </p:spPr>
        <p:txBody>
          <a:bodyPr wrap="square" lIns="91440" tIns="45720" rIns="91440" bIns="45720" anchor="t">
            <a:spAutoFit/>
          </a:bodyPr>
          <a:lstStyle/>
          <a:p>
            <a:pPr fontAlgn="base"/>
            <a:r>
              <a:rPr lang="en-US" sz="1600" b="1" dirty="0">
                <a:solidFill>
                  <a:schemeClr val="accent1"/>
                </a:solidFill>
              </a:rPr>
              <a:t>Overview</a:t>
            </a:r>
          </a:p>
          <a:p>
            <a:pPr fontAlgn="base"/>
            <a:endParaRPr lang="en-US" sz="1400"/>
          </a:p>
          <a:p>
            <a:pPr fontAlgn="base"/>
            <a:r>
              <a:rPr lang="en-US" sz="1400"/>
              <a:t>Actions set to match on names may be generated as match manually.  This might occur if file headers don’t match the import </a:t>
            </a:r>
            <a:r>
              <a:rPr lang="en-US" sz="1400" dirty="0"/>
              <a:t>specification in the data hub.   </a:t>
            </a:r>
            <a:r>
              <a:rPr lang="en-US" sz="1400" b="1" dirty="0">
                <a:solidFill>
                  <a:schemeClr val="accent1"/>
                </a:solidFill>
              </a:rPr>
              <a:t> </a:t>
            </a:r>
            <a:br>
              <a:rPr lang="en-US" sz="1400" b="1" dirty="0"/>
            </a:br>
            <a:br>
              <a:rPr lang="en-US" sz="1400" b="1" dirty="0"/>
            </a:br>
            <a:r>
              <a:rPr lang="en-US" sz="1400" b="1" dirty="0">
                <a:solidFill>
                  <a:schemeClr val="accent1"/>
                </a:solidFill>
              </a:rPr>
              <a:t>To fix this: </a:t>
            </a:r>
            <a:endParaRPr lang="en-US" sz="1400" b="1" dirty="0">
              <a:solidFill>
                <a:schemeClr val="accent1"/>
              </a:solidFill>
              <a:cs typeface="Arial"/>
            </a:endParaRPr>
          </a:p>
          <a:p>
            <a:pPr marL="285750" indent="-285750" fontAlgn="base">
              <a:buFont typeface="Arial" panose="020B0604020202020204" pitchFamily="34" charset="0"/>
              <a:buChar char="•"/>
            </a:pPr>
            <a:r>
              <a:rPr lang="en-US" sz="1400" dirty="0"/>
              <a:t>Update the header to match what is seen on the </a:t>
            </a:r>
            <a:r>
              <a:rPr lang="en-US" sz="1400" b="1" dirty="0">
                <a:solidFill>
                  <a:schemeClr val="accent1"/>
                </a:solidFill>
              </a:rPr>
              <a:t>configurator page 3.05</a:t>
            </a:r>
            <a:endParaRPr lang="en-US" sz="1400" b="1" dirty="0">
              <a:solidFill>
                <a:schemeClr val="accent1"/>
              </a:solidFill>
              <a:cs typeface="Arial"/>
            </a:endParaRPr>
          </a:p>
          <a:p>
            <a:pPr marL="285750" indent="-285750" fontAlgn="base">
              <a:buFont typeface="Arial" panose="020B0604020202020204" pitchFamily="34" charset="0"/>
              <a:buChar char="•"/>
            </a:pPr>
            <a:r>
              <a:rPr lang="en-US" sz="1400" dirty="0"/>
              <a:t>Reload the data file</a:t>
            </a:r>
            <a:endParaRPr lang="en-US" sz="1400" dirty="0">
              <a:cs typeface="Arial"/>
            </a:endParaRPr>
          </a:p>
          <a:p>
            <a:pPr marL="285750" indent="-285750" fontAlgn="base">
              <a:buFont typeface="Arial" panose="020B0604020202020204" pitchFamily="34" charset="0"/>
              <a:buChar char="•"/>
            </a:pPr>
            <a:r>
              <a:rPr lang="en-US" sz="1400" dirty="0"/>
              <a:t>Edit the import action</a:t>
            </a:r>
            <a:endParaRPr lang="en-US" sz="1400" dirty="0">
              <a:cs typeface="Arial"/>
            </a:endParaRPr>
          </a:p>
        </p:txBody>
      </p:sp>
    </p:spTree>
    <p:extLst>
      <p:ext uri="{BB962C8B-B14F-4D97-AF65-F5344CB8AC3E}">
        <p14:creationId xmlns:p14="http://schemas.microsoft.com/office/powerpoint/2010/main" val="207285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33270-034A-824A-F53F-887E713A701A}"/>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19E59001-1185-8CDE-BAF7-77140223B917}"/>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rPr>
              <a:t>Create mandatory export actions</a:t>
            </a:r>
          </a:p>
        </p:txBody>
      </p:sp>
      <p:sp>
        <p:nvSpPr>
          <p:cNvPr id="11" name="TextBox 10">
            <a:extLst>
              <a:ext uri="{FF2B5EF4-FFF2-40B4-BE49-F238E27FC236}">
                <a16:creationId xmlns:a16="http://schemas.microsoft.com/office/drawing/2014/main" id="{A063A498-A013-2614-A30F-676F5B0005C2}"/>
              </a:ext>
            </a:extLst>
          </p:cNvPr>
          <p:cNvSpPr txBox="1"/>
          <p:nvPr/>
        </p:nvSpPr>
        <p:spPr>
          <a:xfrm>
            <a:off x="715806" y="1220719"/>
            <a:ext cx="10081251" cy="1200329"/>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The following exports should be created.   </a:t>
            </a:r>
            <a:r>
              <a:rPr lang="en-US" sz="1400" b="1">
                <a:solidFill>
                  <a:schemeClr val="accent1"/>
                </a:solidFill>
              </a:rPr>
              <a:t> </a:t>
            </a:r>
            <a:br>
              <a:rPr lang="en-US" sz="1400" b="1">
                <a:solidFill>
                  <a:schemeClr val="accent1"/>
                </a:solidFill>
              </a:rPr>
            </a:br>
            <a:br>
              <a:rPr lang="en-US" sz="1400" b="1">
                <a:solidFill>
                  <a:schemeClr val="accent1"/>
                </a:solidFill>
              </a:rPr>
            </a:br>
            <a:endParaRPr lang="en-US" sz="1400"/>
          </a:p>
        </p:txBody>
      </p:sp>
      <p:graphicFrame>
        <p:nvGraphicFramePr>
          <p:cNvPr id="3" name="Table 2">
            <a:extLst>
              <a:ext uri="{FF2B5EF4-FFF2-40B4-BE49-F238E27FC236}">
                <a16:creationId xmlns:a16="http://schemas.microsoft.com/office/drawing/2014/main" id="{371161F9-984B-3791-28D1-AD894902794E}"/>
              </a:ext>
            </a:extLst>
          </p:cNvPr>
          <p:cNvGraphicFramePr>
            <a:graphicFrameLocks noGrp="1"/>
          </p:cNvGraphicFramePr>
          <p:nvPr/>
        </p:nvGraphicFramePr>
        <p:xfrm>
          <a:off x="715806" y="2466735"/>
          <a:ext cx="10882780" cy="3360273"/>
        </p:xfrm>
        <a:graphic>
          <a:graphicData uri="http://schemas.openxmlformats.org/drawingml/2006/table">
            <a:tbl>
              <a:tblPr>
                <a:tableStyleId>{D7AC3CCA-C797-4891-BE02-D94E43425B78}</a:tableStyleId>
              </a:tblPr>
              <a:tblGrid>
                <a:gridCol w="1474501">
                  <a:extLst>
                    <a:ext uri="{9D8B030D-6E8A-4147-A177-3AD203B41FA5}">
                      <a16:colId xmlns:a16="http://schemas.microsoft.com/office/drawing/2014/main" val="388973580"/>
                    </a:ext>
                  </a:extLst>
                </a:gridCol>
                <a:gridCol w="1963665">
                  <a:extLst>
                    <a:ext uri="{9D8B030D-6E8A-4147-A177-3AD203B41FA5}">
                      <a16:colId xmlns:a16="http://schemas.microsoft.com/office/drawing/2014/main" val="3310698071"/>
                    </a:ext>
                  </a:extLst>
                </a:gridCol>
                <a:gridCol w="994068">
                  <a:extLst>
                    <a:ext uri="{9D8B030D-6E8A-4147-A177-3AD203B41FA5}">
                      <a16:colId xmlns:a16="http://schemas.microsoft.com/office/drawing/2014/main" val="1850314714"/>
                    </a:ext>
                  </a:extLst>
                </a:gridCol>
                <a:gridCol w="483907">
                  <a:extLst>
                    <a:ext uri="{9D8B030D-6E8A-4147-A177-3AD203B41FA5}">
                      <a16:colId xmlns:a16="http://schemas.microsoft.com/office/drawing/2014/main" val="1286238377"/>
                    </a:ext>
                  </a:extLst>
                </a:gridCol>
                <a:gridCol w="709731">
                  <a:extLst>
                    <a:ext uri="{9D8B030D-6E8A-4147-A177-3AD203B41FA5}">
                      <a16:colId xmlns:a16="http://schemas.microsoft.com/office/drawing/2014/main" val="2139476593"/>
                    </a:ext>
                  </a:extLst>
                </a:gridCol>
                <a:gridCol w="776842">
                  <a:extLst>
                    <a:ext uri="{9D8B030D-6E8A-4147-A177-3AD203B41FA5}">
                      <a16:colId xmlns:a16="http://schemas.microsoft.com/office/drawing/2014/main" val="857934618"/>
                    </a:ext>
                  </a:extLst>
                </a:gridCol>
                <a:gridCol w="959124">
                  <a:extLst>
                    <a:ext uri="{9D8B030D-6E8A-4147-A177-3AD203B41FA5}">
                      <a16:colId xmlns:a16="http://schemas.microsoft.com/office/drawing/2014/main" val="1097968526"/>
                    </a:ext>
                  </a:extLst>
                </a:gridCol>
                <a:gridCol w="1364068">
                  <a:extLst>
                    <a:ext uri="{9D8B030D-6E8A-4147-A177-3AD203B41FA5}">
                      <a16:colId xmlns:a16="http://schemas.microsoft.com/office/drawing/2014/main" val="1632264301"/>
                    </a:ext>
                  </a:extLst>
                </a:gridCol>
                <a:gridCol w="2156874">
                  <a:extLst>
                    <a:ext uri="{9D8B030D-6E8A-4147-A177-3AD203B41FA5}">
                      <a16:colId xmlns:a16="http://schemas.microsoft.com/office/drawing/2014/main" val="2376629346"/>
                    </a:ext>
                  </a:extLst>
                </a:gridCol>
              </a:tblGrid>
              <a:tr h="521734">
                <a:tc>
                  <a:txBody>
                    <a:bodyPr/>
                    <a:lstStyle/>
                    <a:p>
                      <a:pPr algn="l" rtl="0" fontAlgn="base">
                        <a:lnSpc>
                          <a:spcPts val="1500"/>
                        </a:lnSpc>
                        <a:buNone/>
                      </a:pPr>
                      <a:r>
                        <a:rPr lang="en-US" sz="1100" b="1">
                          <a:solidFill>
                            <a:srgbClr val="FFFFFF"/>
                          </a:solidFill>
                          <a:effectLst/>
                        </a:rPr>
                        <a:t>Export Name​</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Reference Saved View​</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Line Item​</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File type​</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Layout​</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Pages​</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Omit Summary Items​</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Empty Rows​</a:t>
                      </a:r>
                      <a:endParaRPr lang="en-US" sz="2200" b="1" i="0">
                        <a:solidFill>
                          <a:srgbClr val="FFFFFF"/>
                        </a:solidFill>
                        <a:effectLst/>
                      </a:endParaRPr>
                    </a:p>
                  </a:txBody>
                  <a:tcPr marL="83128" marR="83128" marT="41564" marB="41564" anchor="ctr">
                    <a:solidFill>
                      <a:schemeClr val="tx2"/>
                    </a:solidFill>
                  </a:tcPr>
                </a:tc>
                <a:tc>
                  <a:txBody>
                    <a:bodyPr/>
                    <a:lstStyle/>
                    <a:p>
                      <a:pPr algn="l" rtl="0" fontAlgn="base">
                        <a:lnSpc>
                          <a:spcPts val="1500"/>
                        </a:lnSpc>
                        <a:buNone/>
                      </a:pPr>
                      <a:r>
                        <a:rPr lang="en-US" sz="1100" b="1">
                          <a:solidFill>
                            <a:srgbClr val="FFFFFF"/>
                          </a:solidFill>
                          <a:effectLst/>
                        </a:rPr>
                        <a:t>Include Row Label Headers​</a:t>
                      </a:r>
                      <a:endParaRPr lang="en-US" sz="2200" b="1" i="0">
                        <a:solidFill>
                          <a:srgbClr val="FFFFFF"/>
                        </a:solidFill>
                        <a:effectLst/>
                      </a:endParaRPr>
                    </a:p>
                  </a:txBody>
                  <a:tcPr marL="83128" marR="83128" marT="41564" marB="41564" anchor="ctr">
                    <a:solidFill>
                      <a:schemeClr val="tx2"/>
                    </a:solidFill>
                  </a:tcPr>
                </a:tc>
                <a:extLst>
                  <a:ext uri="{0D108BD9-81ED-4DB2-BD59-A6C34878D82A}">
                    <a16:rowId xmlns:a16="http://schemas.microsoft.com/office/drawing/2014/main" val="3507292018"/>
                  </a:ext>
                </a:extLst>
              </a:tr>
              <a:tr h="527969">
                <a:tc>
                  <a:txBody>
                    <a:bodyPr/>
                    <a:lstStyle/>
                    <a:p>
                      <a:pPr algn="l" rtl="0" fontAlgn="base">
                        <a:lnSpc>
                          <a:spcPts val="1500"/>
                        </a:lnSpc>
                        <a:buNone/>
                      </a:pPr>
                      <a:r>
                        <a:rPr lang="en-US" sz="1100" b="0">
                          <a:solidFill>
                            <a:srgbClr val="0A2F46"/>
                          </a:solidFill>
                          <a:effectLst/>
                        </a:rPr>
                        <a:t>Final Quota Export​</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u="none" strike="noStrike">
                          <a:solidFill>
                            <a:srgbClr val="0A2F46"/>
                          </a:solidFill>
                          <a:effectLst/>
                        </a:rPr>
                        <a:t>Quota Export </a:t>
                      </a:r>
                      <a:r>
                        <a:rPr lang="en-US" sz="1100" b="0" u="none" strike="noStrike" err="1">
                          <a:solidFill>
                            <a:srgbClr val="0A2F46"/>
                          </a:solidFill>
                          <a:effectLst/>
                        </a:rPr>
                        <a:t>View.Quota</a:t>
                      </a:r>
                      <a:r>
                        <a:rPr lang="en-US" sz="1100" b="0" u="none" strike="noStrike">
                          <a:solidFill>
                            <a:srgbClr val="0A2F46"/>
                          </a:solidFill>
                          <a:effectLst/>
                        </a:rPr>
                        <a:t> by Quota Types</a:t>
                      </a:r>
                      <a:r>
                        <a:rPr lang="en-US" sz="1100" b="0">
                          <a:solidFill>
                            <a:srgbClr val="0A2F46"/>
                          </a:solidFill>
                          <a:effectLst/>
                        </a:rPr>
                        <a:t>​</a:t>
                      </a:r>
                      <a:endParaRPr lang="en-US" sz="2200" b="0" i="0">
                        <a:solidFill>
                          <a:srgbClr val="0A2F46"/>
                        </a:solidFill>
                        <a:effectLst/>
                      </a:endParaRPr>
                    </a:p>
                  </a:txBody>
                  <a:tcPr marL="83128" marR="83128" marT="41564" marB="41564" anchor="ctr"/>
                </a:tc>
                <a:tc>
                  <a:txBody>
                    <a:bodyPr/>
                    <a:lstStyle/>
                    <a:p>
                      <a:pPr algn="l" rtl="0" fontAlgn="auto">
                        <a:lnSpc>
                          <a:spcPts val="1500"/>
                        </a:lnSpc>
                        <a:buNone/>
                      </a:pPr>
                      <a:r>
                        <a:rPr lang="en-US" sz="1100" b="0">
                          <a:solidFill>
                            <a:srgbClr val="0A2F46"/>
                          </a:solidFill>
                          <a:effectLst/>
                        </a:rPr>
                        <a:t>​</a:t>
                      </a:r>
                      <a:endParaRPr lang="en-US" sz="1100" b="0" i="0">
                        <a:solidFill>
                          <a:srgbClr val="0A2F46"/>
                        </a:solidFill>
                        <a:effectLst/>
                        <a:latin typeface="Arial" panose="020B0604020202020204" pitchFamily="34" charset="0"/>
                      </a:endParaRPr>
                    </a:p>
                  </a:txBody>
                  <a:tcPr marL="83128" marR="83128" marT="41564" marB="41564" anchor="ctr"/>
                </a:tc>
                <a:tc>
                  <a:txBody>
                    <a:bodyPr/>
                    <a:lstStyle/>
                    <a:p>
                      <a:pPr algn="l" rtl="0" fontAlgn="base">
                        <a:lnSpc>
                          <a:spcPts val="1500"/>
                        </a:lnSpc>
                        <a:buNone/>
                      </a:pPr>
                      <a:r>
                        <a:rPr lang="en-US" sz="1100" b="0">
                          <a:solidFill>
                            <a:srgbClr val="0A2F46"/>
                          </a:solidFill>
                          <a:effectLst/>
                        </a:rPr>
                        <a:t>csv​</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Grid​</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Current Page​</a:t>
                      </a:r>
                      <a:endParaRPr lang="en-US" sz="2200" b="0" i="0">
                        <a:solidFill>
                          <a:srgbClr val="0A2F46"/>
                        </a:solidFill>
                        <a:effectLst/>
                      </a:endParaRPr>
                    </a:p>
                  </a:txBody>
                  <a:tcPr marL="83128" marR="83128" marT="41564" marB="41564" anchor="ctr"/>
                </a:tc>
                <a:tc>
                  <a:txBody>
                    <a:bodyPr/>
                    <a:lstStyle/>
                    <a:p>
                      <a:pPr algn="ctr" rtl="0" fontAlgn="base">
                        <a:lnSpc>
                          <a:spcPts val="1500"/>
                        </a:lnSpc>
                        <a:buNone/>
                      </a:pPr>
                      <a:r>
                        <a:rPr lang="en-US" sz="1100" b="0">
                          <a:solidFill>
                            <a:srgbClr val="0A2F46"/>
                          </a:solidFill>
                          <a:effectLst/>
                        </a:rPr>
                        <a:t>FALSE​</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1">
                          <a:solidFill>
                            <a:srgbClr val="0A2F46"/>
                          </a:solidFill>
                          <a:effectLst/>
                        </a:rPr>
                        <a:t>Omit</a:t>
                      </a:r>
                      <a:r>
                        <a:rPr lang="en-US" sz="1100" b="0">
                          <a:solidFill>
                            <a:srgbClr val="0A2F46"/>
                          </a:solidFill>
                          <a:effectLst/>
                        </a:rPr>
                        <a:t> Empty Rows​</a:t>
                      </a:r>
                      <a:endParaRPr lang="en-US" sz="2200" b="0" i="0">
                        <a:solidFill>
                          <a:srgbClr val="0A2F46"/>
                        </a:solidFill>
                        <a:effectLst/>
                      </a:endParaRPr>
                    </a:p>
                  </a:txBody>
                  <a:tcPr marL="83128" marR="83128" marT="41564" marB="41564" anchor="ctr"/>
                </a:tc>
                <a:tc>
                  <a:txBody>
                    <a:bodyPr/>
                    <a:lstStyle/>
                    <a:p>
                      <a:pPr algn="ctr" rtl="0" fontAlgn="base">
                        <a:lnSpc>
                          <a:spcPts val="1500"/>
                        </a:lnSpc>
                        <a:buNone/>
                      </a:pPr>
                      <a:r>
                        <a:rPr lang="en-US" sz="1100" b="0" u="none" strike="noStrike">
                          <a:solidFill>
                            <a:srgbClr val="000000"/>
                          </a:solidFill>
                          <a:effectLst/>
                        </a:rPr>
                        <a:t>TRUE; Employee Flat Name and Code, Quota Types Name</a:t>
                      </a:r>
                      <a:r>
                        <a:rPr lang="en-US" sz="1100" b="0">
                          <a:solidFill>
                            <a:srgbClr val="0A2F46"/>
                          </a:solidFill>
                          <a:effectLst/>
                        </a:rPr>
                        <a:t>​</a:t>
                      </a:r>
                      <a:endParaRPr lang="en-US" sz="2200" b="0" i="0">
                        <a:solidFill>
                          <a:srgbClr val="0A2F46"/>
                        </a:solidFill>
                        <a:effectLst/>
                      </a:endParaRPr>
                    </a:p>
                  </a:txBody>
                  <a:tcPr marL="83128" marR="83128" marT="41564" marB="41564" anchor="ctr"/>
                </a:tc>
                <a:extLst>
                  <a:ext uri="{0D108BD9-81ED-4DB2-BD59-A6C34878D82A}">
                    <a16:rowId xmlns:a16="http://schemas.microsoft.com/office/drawing/2014/main" val="2988005049"/>
                  </a:ext>
                </a:extLst>
              </a:tr>
              <a:tr h="678757">
                <a:tc>
                  <a:txBody>
                    <a:bodyPr/>
                    <a:lstStyle/>
                    <a:p>
                      <a:pPr algn="l" rtl="0" fontAlgn="base">
                        <a:lnSpc>
                          <a:spcPts val="1500"/>
                        </a:lnSpc>
                        <a:buNone/>
                      </a:pPr>
                      <a:r>
                        <a:rPr lang="en-US" sz="1100" b="0">
                          <a:solidFill>
                            <a:srgbClr val="0A2F46"/>
                          </a:solidFill>
                          <a:effectLst/>
                        </a:rPr>
                        <a:t>Target Export - </a:t>
                      </a:r>
                      <a:r>
                        <a:rPr lang="en-US" sz="1100" b="0" err="1">
                          <a:solidFill>
                            <a:srgbClr val="0A2F46"/>
                          </a:solidFill>
                          <a:effectLst/>
                        </a:rPr>
                        <a:t>Qtr</a:t>
                      </a:r>
                      <a:r>
                        <a:rPr lang="en-US" sz="1100" b="0">
                          <a:solidFill>
                            <a:srgbClr val="0A2F46"/>
                          </a:solidFill>
                          <a:effectLst/>
                        </a:rPr>
                        <a:t>​</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Target Export Template - </a:t>
                      </a:r>
                      <a:r>
                        <a:rPr lang="en-US" sz="1100" b="0" err="1">
                          <a:solidFill>
                            <a:srgbClr val="0A2F46"/>
                          </a:solidFill>
                          <a:effectLst/>
                        </a:rPr>
                        <a:t>Qtr.Target</a:t>
                      </a:r>
                      <a:r>
                        <a:rPr lang="en-US" sz="1100" b="0">
                          <a:solidFill>
                            <a:srgbClr val="0A2F46"/>
                          </a:solidFill>
                          <a:effectLst/>
                        </a:rPr>
                        <a:t> Import by Territory, Time and other​</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Imported Target​</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csv​</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Tabular Multiple Column​</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N/A​</a:t>
                      </a:r>
                      <a:endParaRPr lang="en-US" sz="2200" b="0" i="0">
                        <a:solidFill>
                          <a:srgbClr val="0A2F46"/>
                        </a:solidFill>
                        <a:effectLst/>
                      </a:endParaRPr>
                    </a:p>
                  </a:txBody>
                  <a:tcPr marL="83128" marR="83128" marT="41564" marB="41564" anchor="ctr">
                    <a:solidFill>
                      <a:schemeClr val="bg1"/>
                    </a:solidFill>
                  </a:tcPr>
                </a:tc>
                <a:tc>
                  <a:txBody>
                    <a:bodyPr/>
                    <a:lstStyle/>
                    <a:p>
                      <a:pPr algn="ctr" rtl="0" fontAlgn="base">
                        <a:lnSpc>
                          <a:spcPts val="1500"/>
                        </a:lnSpc>
                        <a:buNone/>
                      </a:pPr>
                      <a:r>
                        <a:rPr lang="en-US" sz="1100" b="0">
                          <a:solidFill>
                            <a:srgbClr val="0A2F46"/>
                          </a:solidFill>
                          <a:effectLst/>
                        </a:rPr>
                        <a:t>FALSE​</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1">
                          <a:solidFill>
                            <a:srgbClr val="0A2F46"/>
                          </a:solidFill>
                          <a:effectLst/>
                        </a:rPr>
                        <a:t>Include</a:t>
                      </a:r>
                      <a:r>
                        <a:rPr lang="en-US" sz="1100" b="0">
                          <a:solidFill>
                            <a:srgbClr val="0A2F46"/>
                          </a:solidFill>
                          <a:effectLst/>
                        </a:rPr>
                        <a:t> Empty Rows​</a:t>
                      </a:r>
                      <a:endParaRPr lang="en-US" sz="2200" b="0" i="0">
                        <a:solidFill>
                          <a:srgbClr val="0A2F46"/>
                        </a:solidFill>
                        <a:effectLst/>
                      </a:endParaRPr>
                    </a:p>
                  </a:txBody>
                  <a:tcPr marL="83128" marR="83128" marT="41564" marB="41564" anchor="ctr">
                    <a:solidFill>
                      <a:schemeClr val="bg1"/>
                    </a:solidFill>
                  </a:tcPr>
                </a:tc>
                <a:tc>
                  <a:txBody>
                    <a:bodyPr/>
                    <a:lstStyle/>
                    <a:p>
                      <a:pPr algn="ctr" rtl="0" fontAlgn="base">
                        <a:lnSpc>
                          <a:spcPts val="1500"/>
                        </a:lnSpc>
                        <a:buNone/>
                      </a:pPr>
                      <a:r>
                        <a:rPr lang="en-US" sz="1100" b="0">
                          <a:solidFill>
                            <a:srgbClr val="0A2F46"/>
                          </a:solidFill>
                          <a:effectLst/>
                        </a:rPr>
                        <a:t>TRUE​</a:t>
                      </a:r>
                      <a:endParaRPr lang="en-US" sz="2200" b="0" i="0">
                        <a:solidFill>
                          <a:srgbClr val="0A2F46"/>
                        </a:solidFill>
                        <a:effectLst/>
                      </a:endParaRPr>
                    </a:p>
                  </a:txBody>
                  <a:tcPr marL="83128" marR="83128" marT="41564" marB="41564" anchor="ctr">
                    <a:solidFill>
                      <a:schemeClr val="bg1"/>
                    </a:solidFill>
                  </a:tcPr>
                </a:tc>
                <a:extLst>
                  <a:ext uri="{0D108BD9-81ED-4DB2-BD59-A6C34878D82A}">
                    <a16:rowId xmlns:a16="http://schemas.microsoft.com/office/drawing/2014/main" val="2501144467"/>
                  </a:ext>
                </a:extLst>
              </a:tr>
              <a:tr h="801755">
                <a:tc>
                  <a:txBody>
                    <a:bodyPr/>
                    <a:lstStyle/>
                    <a:p>
                      <a:pPr algn="l" rtl="0" fontAlgn="base">
                        <a:lnSpc>
                          <a:spcPts val="1500"/>
                        </a:lnSpc>
                        <a:buNone/>
                      </a:pPr>
                      <a:r>
                        <a:rPr lang="en-US" sz="1100" b="0" u="none" strike="noStrike">
                          <a:solidFill>
                            <a:srgbClr val="0A2F46"/>
                          </a:solidFill>
                          <a:effectLst/>
                        </a:rPr>
                        <a:t>Target Export - Annual</a:t>
                      </a:r>
                      <a:r>
                        <a:rPr lang="en-US" sz="1100" b="0">
                          <a:solidFill>
                            <a:srgbClr val="0A2F46"/>
                          </a:solidFill>
                          <a:effectLst/>
                        </a:rPr>
                        <a:t>​</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Make your own...Filter Not Quarter...choose Imported Target line item only...only bottom levels of hierarchies​</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Imported Target​</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csv​</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Tabular Multiple Column​</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0">
                          <a:solidFill>
                            <a:srgbClr val="0A2F46"/>
                          </a:solidFill>
                          <a:effectLst/>
                        </a:rPr>
                        <a:t>N/A​</a:t>
                      </a:r>
                      <a:endParaRPr lang="en-US" sz="2200" b="0" i="0">
                        <a:solidFill>
                          <a:srgbClr val="0A2F46"/>
                        </a:solidFill>
                        <a:effectLst/>
                      </a:endParaRPr>
                    </a:p>
                  </a:txBody>
                  <a:tcPr marL="83128" marR="83128" marT="41564" marB="41564" anchor="ctr"/>
                </a:tc>
                <a:tc>
                  <a:txBody>
                    <a:bodyPr/>
                    <a:lstStyle/>
                    <a:p>
                      <a:pPr algn="ctr" rtl="0" fontAlgn="base">
                        <a:lnSpc>
                          <a:spcPts val="1500"/>
                        </a:lnSpc>
                        <a:buNone/>
                      </a:pPr>
                      <a:r>
                        <a:rPr lang="en-US" sz="1100" b="0">
                          <a:solidFill>
                            <a:srgbClr val="0A2F46"/>
                          </a:solidFill>
                          <a:effectLst/>
                        </a:rPr>
                        <a:t>FALSE​</a:t>
                      </a:r>
                      <a:endParaRPr lang="en-US" sz="2200" b="0" i="0">
                        <a:solidFill>
                          <a:srgbClr val="0A2F46"/>
                        </a:solidFill>
                        <a:effectLst/>
                      </a:endParaRPr>
                    </a:p>
                  </a:txBody>
                  <a:tcPr marL="83128" marR="83128" marT="41564" marB="41564" anchor="ctr"/>
                </a:tc>
                <a:tc>
                  <a:txBody>
                    <a:bodyPr/>
                    <a:lstStyle/>
                    <a:p>
                      <a:pPr algn="l" rtl="0" fontAlgn="base">
                        <a:lnSpc>
                          <a:spcPts val="1500"/>
                        </a:lnSpc>
                        <a:buNone/>
                      </a:pPr>
                      <a:r>
                        <a:rPr lang="en-US" sz="1100" b="1">
                          <a:solidFill>
                            <a:srgbClr val="0A2F46"/>
                          </a:solidFill>
                          <a:effectLst/>
                        </a:rPr>
                        <a:t>Include</a:t>
                      </a:r>
                      <a:r>
                        <a:rPr lang="en-US" sz="1100" b="0">
                          <a:solidFill>
                            <a:srgbClr val="0A2F46"/>
                          </a:solidFill>
                          <a:effectLst/>
                        </a:rPr>
                        <a:t> Empty Rows​</a:t>
                      </a:r>
                      <a:endParaRPr lang="en-US" sz="2200" b="0" i="0">
                        <a:solidFill>
                          <a:srgbClr val="0A2F46"/>
                        </a:solidFill>
                        <a:effectLst/>
                      </a:endParaRPr>
                    </a:p>
                  </a:txBody>
                  <a:tcPr marL="83128" marR="83128" marT="41564" marB="41564" anchor="ctr"/>
                </a:tc>
                <a:tc>
                  <a:txBody>
                    <a:bodyPr/>
                    <a:lstStyle/>
                    <a:p>
                      <a:pPr algn="ctr" rtl="0" fontAlgn="base">
                        <a:lnSpc>
                          <a:spcPts val="1500"/>
                        </a:lnSpc>
                        <a:buNone/>
                      </a:pPr>
                      <a:r>
                        <a:rPr lang="en-US" sz="1100" b="0">
                          <a:solidFill>
                            <a:srgbClr val="0A2F46"/>
                          </a:solidFill>
                          <a:effectLst/>
                        </a:rPr>
                        <a:t>TRUE​</a:t>
                      </a:r>
                      <a:endParaRPr lang="en-US" sz="2200" b="0" i="0">
                        <a:solidFill>
                          <a:srgbClr val="0A2F46"/>
                        </a:solidFill>
                        <a:effectLst/>
                      </a:endParaRPr>
                    </a:p>
                  </a:txBody>
                  <a:tcPr marL="83128" marR="83128" marT="41564" marB="41564" anchor="ctr"/>
                </a:tc>
                <a:extLst>
                  <a:ext uri="{0D108BD9-81ED-4DB2-BD59-A6C34878D82A}">
                    <a16:rowId xmlns:a16="http://schemas.microsoft.com/office/drawing/2014/main" val="3244260353"/>
                  </a:ext>
                </a:extLst>
              </a:tr>
              <a:tr h="685413">
                <a:tc>
                  <a:txBody>
                    <a:bodyPr/>
                    <a:lstStyle/>
                    <a:p>
                      <a:pPr algn="l" rtl="0" fontAlgn="base">
                        <a:lnSpc>
                          <a:spcPts val="1500"/>
                        </a:lnSpc>
                        <a:buFont typeface="Arial" panose="020B0604020202020204" pitchFamily="34" charset="0"/>
                        <a:buNone/>
                      </a:pPr>
                      <a:r>
                        <a:rPr lang="en-US" sz="1100" b="0" u="none" strike="noStrike">
                          <a:solidFill>
                            <a:srgbClr val="0A2F46"/>
                          </a:solidFill>
                          <a:effectLst/>
                        </a:rPr>
                        <a:t>Export Addressable Market Import Template</a:t>
                      </a:r>
                      <a:r>
                        <a:rPr lang="en-US" sz="1100" b="0">
                          <a:solidFill>
                            <a:srgbClr val="0A2F46"/>
                          </a:solidFill>
                          <a:effectLst/>
                        </a:rPr>
                        <a:t>​</a:t>
                      </a:r>
                      <a:endParaRPr lang="en-US" sz="2200" b="0" i="0">
                        <a:solidFill>
                          <a:srgbClr val="0A2F46"/>
                        </a:solidFill>
                        <a:effectLst/>
                        <a:latin typeface="Arial" panose="020B0604020202020204" pitchFamily="34" charset="0"/>
                      </a:endParaRPr>
                    </a:p>
                  </a:txBody>
                  <a:tcPr marL="83128" marR="83128" marT="41564" marB="41564" anchor="ctr">
                    <a:solidFill>
                      <a:schemeClr val="bg1"/>
                    </a:solidFill>
                  </a:tcPr>
                </a:tc>
                <a:tc>
                  <a:txBody>
                    <a:bodyPr/>
                    <a:lstStyle/>
                    <a:p>
                      <a:pPr algn="l" rtl="0" fontAlgn="base">
                        <a:lnSpc>
                          <a:spcPts val="1500"/>
                        </a:lnSpc>
                        <a:buNone/>
                      </a:pPr>
                      <a:r>
                        <a:rPr lang="en-US" sz="1100" b="0" u="none" strike="noStrike">
                          <a:solidFill>
                            <a:srgbClr val="0A2F46"/>
                          </a:solidFill>
                          <a:effectLst/>
                        </a:rPr>
                        <a:t>11_Addressable Market Export </a:t>
                      </a:r>
                      <a:r>
                        <a:rPr lang="en-US" sz="1100" b="0" u="none" strike="noStrike" err="1">
                          <a:solidFill>
                            <a:srgbClr val="0A2F46"/>
                          </a:solidFill>
                          <a:effectLst/>
                        </a:rPr>
                        <a:t>Template.CALC</a:t>
                      </a:r>
                      <a:r>
                        <a:rPr lang="en-US" sz="1100" b="0" u="none" strike="noStrike">
                          <a:solidFill>
                            <a:srgbClr val="0A2F46"/>
                          </a:solidFill>
                          <a:effectLst/>
                        </a:rPr>
                        <a:t>: Addressable Mark</a:t>
                      </a:r>
                      <a:r>
                        <a:rPr lang="en-US" sz="1100" b="0">
                          <a:solidFill>
                            <a:srgbClr val="0A2F46"/>
                          </a:solidFill>
                          <a:effectLst/>
                        </a:rPr>
                        <a:t>​</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Addressable Market​</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csv​</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Grid​</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0">
                          <a:solidFill>
                            <a:srgbClr val="0A2F46"/>
                          </a:solidFill>
                          <a:effectLst/>
                        </a:rPr>
                        <a:t>Current Page​</a:t>
                      </a:r>
                      <a:endParaRPr lang="en-US" sz="2200" b="0" i="0">
                        <a:solidFill>
                          <a:srgbClr val="0A2F46"/>
                        </a:solidFill>
                        <a:effectLst/>
                      </a:endParaRPr>
                    </a:p>
                  </a:txBody>
                  <a:tcPr marL="83128" marR="83128" marT="41564" marB="41564" anchor="ctr">
                    <a:solidFill>
                      <a:schemeClr val="bg1"/>
                    </a:solidFill>
                  </a:tcPr>
                </a:tc>
                <a:tc>
                  <a:txBody>
                    <a:bodyPr/>
                    <a:lstStyle/>
                    <a:p>
                      <a:pPr algn="ctr" rtl="0" fontAlgn="base">
                        <a:lnSpc>
                          <a:spcPts val="1500"/>
                        </a:lnSpc>
                        <a:buNone/>
                      </a:pPr>
                      <a:r>
                        <a:rPr lang="en-US" sz="1100" b="0">
                          <a:solidFill>
                            <a:srgbClr val="0A2F46"/>
                          </a:solidFill>
                          <a:effectLst/>
                        </a:rPr>
                        <a:t>TRUE​</a:t>
                      </a:r>
                      <a:endParaRPr lang="en-US" sz="2200" b="0" i="0">
                        <a:solidFill>
                          <a:srgbClr val="0A2F46"/>
                        </a:solidFill>
                        <a:effectLst/>
                      </a:endParaRPr>
                    </a:p>
                  </a:txBody>
                  <a:tcPr marL="83128" marR="83128" marT="41564" marB="41564" anchor="ctr">
                    <a:solidFill>
                      <a:schemeClr val="bg1"/>
                    </a:solidFill>
                  </a:tcPr>
                </a:tc>
                <a:tc>
                  <a:txBody>
                    <a:bodyPr/>
                    <a:lstStyle/>
                    <a:p>
                      <a:pPr algn="l" rtl="0" fontAlgn="base">
                        <a:lnSpc>
                          <a:spcPts val="1500"/>
                        </a:lnSpc>
                        <a:buNone/>
                      </a:pPr>
                      <a:r>
                        <a:rPr lang="en-US" sz="1100" b="1">
                          <a:solidFill>
                            <a:srgbClr val="0A2F46"/>
                          </a:solidFill>
                          <a:effectLst/>
                        </a:rPr>
                        <a:t>Include</a:t>
                      </a:r>
                      <a:r>
                        <a:rPr lang="en-US" sz="1100" b="0">
                          <a:solidFill>
                            <a:srgbClr val="0A2F46"/>
                          </a:solidFill>
                          <a:effectLst/>
                        </a:rPr>
                        <a:t> Empty Rows​</a:t>
                      </a:r>
                      <a:endParaRPr lang="en-US" sz="2200" b="0" i="0">
                        <a:solidFill>
                          <a:srgbClr val="0A2F46"/>
                        </a:solidFill>
                        <a:effectLst/>
                      </a:endParaRPr>
                    </a:p>
                  </a:txBody>
                  <a:tcPr marL="83128" marR="83128" marT="41564" marB="41564" anchor="ctr">
                    <a:solidFill>
                      <a:schemeClr val="bg1"/>
                    </a:solidFill>
                  </a:tcPr>
                </a:tc>
                <a:tc>
                  <a:txBody>
                    <a:bodyPr/>
                    <a:lstStyle/>
                    <a:p>
                      <a:pPr algn="ctr" rtl="0" fontAlgn="base">
                        <a:lnSpc>
                          <a:spcPts val="1500"/>
                        </a:lnSpc>
                        <a:buNone/>
                      </a:pPr>
                      <a:r>
                        <a:rPr lang="en-US" sz="1100" b="0">
                          <a:solidFill>
                            <a:srgbClr val="0A2F46"/>
                          </a:solidFill>
                          <a:effectLst/>
                        </a:rPr>
                        <a:t>TRUE; Account Code, Product Name​</a:t>
                      </a:r>
                      <a:endParaRPr lang="en-US" sz="2200" b="0" i="0">
                        <a:solidFill>
                          <a:srgbClr val="0A2F46"/>
                        </a:solidFill>
                        <a:effectLst/>
                      </a:endParaRPr>
                    </a:p>
                  </a:txBody>
                  <a:tcPr marL="83128" marR="83128" marT="41564" marB="41564" anchor="ctr">
                    <a:solidFill>
                      <a:schemeClr val="bg1"/>
                    </a:solidFill>
                  </a:tcPr>
                </a:tc>
                <a:extLst>
                  <a:ext uri="{0D108BD9-81ED-4DB2-BD59-A6C34878D82A}">
                    <a16:rowId xmlns:a16="http://schemas.microsoft.com/office/drawing/2014/main" val="2425615150"/>
                  </a:ext>
                </a:extLst>
              </a:tr>
            </a:tbl>
          </a:graphicData>
        </a:graphic>
      </p:graphicFrame>
      <p:sp>
        <p:nvSpPr>
          <p:cNvPr id="4" name="TextBox 3">
            <a:extLst>
              <a:ext uri="{FF2B5EF4-FFF2-40B4-BE49-F238E27FC236}">
                <a16:creationId xmlns:a16="http://schemas.microsoft.com/office/drawing/2014/main" id="{1DD1F9B2-D5E6-7538-34F9-911CA9EA000D}"/>
              </a:ext>
            </a:extLst>
          </p:cNvPr>
          <p:cNvSpPr txBox="1"/>
          <p:nvPr/>
        </p:nvSpPr>
        <p:spPr>
          <a:xfrm>
            <a:off x="7016556" y="1319659"/>
            <a:ext cx="4459638" cy="677108"/>
          </a:xfrm>
          <a:prstGeom prst="rect">
            <a:avLst/>
          </a:prstGeom>
          <a:noFill/>
          <a:ln>
            <a:solidFill>
              <a:srgbClr val="FF721C"/>
            </a:solidFill>
          </a:ln>
        </p:spPr>
        <p:txBody>
          <a:bodyPr rot="0" spcFirstLastPara="0" vertOverflow="overflow" horzOverflow="overflow" vert="horz" wrap="square" lIns="182880" tIns="91440" rIns="274320" bIns="9144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FF721C"/>
                </a:solidFill>
                <a:effectLst/>
                <a:uLnTx/>
                <a:uFillTx/>
                <a:latin typeface="Arial"/>
                <a:ea typeface="Verdana"/>
                <a:cs typeface="Arial"/>
              </a:rPr>
              <a:t>Note: </a:t>
            </a:r>
            <a:r>
              <a:rPr kumimoji="0" lang="en-US" sz="1600" u="none" strike="noStrike" kern="1200" cap="none" spc="0" normalizeH="0" baseline="0" noProof="0">
                <a:ln>
                  <a:noFill/>
                </a:ln>
                <a:solidFill>
                  <a:schemeClr val="tx2"/>
                </a:solidFill>
                <a:effectLst/>
                <a:uLnTx/>
                <a:uFillTx/>
                <a:latin typeface="Arial"/>
                <a:ea typeface="Verdana"/>
                <a:cs typeface="Arial"/>
              </a:rPr>
              <a:t>Include Row Label Headers of </a:t>
            </a:r>
            <a:r>
              <a:rPr kumimoji="0" lang="en-US" sz="1600" b="1" u="none" strike="noStrike" kern="1200" cap="none" spc="0" normalizeH="0" baseline="0" noProof="0">
                <a:ln>
                  <a:noFill/>
                </a:ln>
                <a:solidFill>
                  <a:schemeClr val="tx2"/>
                </a:solidFill>
                <a:effectLst/>
                <a:uLnTx/>
                <a:uFillTx/>
                <a:latin typeface="Arial"/>
                <a:ea typeface="Verdana"/>
                <a:cs typeface="Arial"/>
              </a:rPr>
              <a:t>Name</a:t>
            </a:r>
            <a:r>
              <a:rPr kumimoji="0" lang="en-US" sz="1600" u="none" strike="noStrike" kern="1200" cap="none" spc="0" normalizeH="0" baseline="0" noProof="0">
                <a:ln>
                  <a:noFill/>
                </a:ln>
                <a:solidFill>
                  <a:schemeClr val="tx2"/>
                </a:solidFill>
                <a:effectLst/>
                <a:uLnTx/>
                <a:uFillTx/>
                <a:latin typeface="Arial"/>
                <a:ea typeface="Verdana"/>
                <a:cs typeface="Arial"/>
              </a:rPr>
              <a:t> and </a:t>
            </a:r>
            <a:r>
              <a:rPr kumimoji="0" lang="en-US" sz="1600" b="1" u="none" strike="noStrike" kern="1200" cap="none" spc="0" normalizeH="0" baseline="0" noProof="0">
                <a:ln>
                  <a:noFill/>
                </a:ln>
                <a:solidFill>
                  <a:schemeClr val="tx2"/>
                </a:solidFill>
                <a:effectLst/>
                <a:uLnTx/>
                <a:uFillTx/>
                <a:latin typeface="Arial"/>
                <a:ea typeface="Verdana"/>
                <a:cs typeface="Arial"/>
              </a:rPr>
              <a:t>Code</a:t>
            </a:r>
            <a:r>
              <a:rPr kumimoji="0" lang="en-US" sz="1600" u="none" strike="noStrike" kern="1200" cap="none" spc="0" normalizeH="0" baseline="0" noProof="0">
                <a:ln>
                  <a:noFill/>
                </a:ln>
                <a:solidFill>
                  <a:schemeClr val="tx2"/>
                </a:solidFill>
                <a:effectLst/>
                <a:uLnTx/>
                <a:uFillTx/>
                <a:latin typeface="Arial"/>
                <a:ea typeface="Verdana"/>
                <a:cs typeface="Arial"/>
              </a:rPr>
              <a:t> for any numbered list</a:t>
            </a:r>
            <a:endParaRPr lang="en-US" sz="1600">
              <a:solidFill>
                <a:schemeClr val="tx2"/>
              </a:solidFill>
              <a:latin typeface="Arial"/>
              <a:ea typeface="Verdana"/>
              <a:cs typeface="Arial"/>
            </a:endParaRPr>
          </a:p>
        </p:txBody>
      </p:sp>
    </p:spTree>
    <p:extLst>
      <p:ext uri="{BB962C8B-B14F-4D97-AF65-F5344CB8AC3E}">
        <p14:creationId xmlns:p14="http://schemas.microsoft.com/office/powerpoint/2010/main" val="367307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2745A-C009-180C-5DC5-3B2C1501E045}"/>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EDF79418-BF6C-1890-808A-CDBD2D31BD41}"/>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Export definitions – addressable </a:t>
            </a:r>
            <a:r>
              <a:rPr lang="en-GB">
                <a:solidFill>
                  <a:srgbClr val="FFFFFF"/>
                </a:solidFill>
              </a:rPr>
              <a:t>m</a:t>
            </a:r>
            <a:r>
              <a:rPr kumimoji="0" lang="en-GB" sz="240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arket</a:t>
            </a:r>
            <a:endPar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11" name="TextBox 10">
            <a:extLst>
              <a:ext uri="{FF2B5EF4-FFF2-40B4-BE49-F238E27FC236}">
                <a16:creationId xmlns:a16="http://schemas.microsoft.com/office/drawing/2014/main" id="{1D301ABA-2290-5403-3FEC-C1158D53FFE6}"/>
              </a:ext>
            </a:extLst>
          </p:cNvPr>
          <p:cNvSpPr txBox="1"/>
          <p:nvPr/>
        </p:nvSpPr>
        <p:spPr>
          <a:xfrm>
            <a:off x="615102" y="945931"/>
            <a:ext cx="10961796" cy="984885"/>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Use the example to help create the export action for the addressable market, which includes a numbered list.  This export will be used as a template, so there is an associated import.   </a:t>
            </a:r>
          </a:p>
        </p:txBody>
      </p:sp>
      <p:pic>
        <p:nvPicPr>
          <p:cNvPr id="21508" name="Picture 4" descr="A screenshot of a export report&#10;&#10;AI-generated content may be incorrect.">
            <a:extLst>
              <a:ext uri="{FF2B5EF4-FFF2-40B4-BE49-F238E27FC236}">
                <a16:creationId xmlns:a16="http://schemas.microsoft.com/office/drawing/2014/main" id="{D679D706-89CA-2108-5F2E-6769172A1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5225" y="2422189"/>
            <a:ext cx="7283361" cy="4338084"/>
          </a:xfrm>
          <a:prstGeom prst="roundRect">
            <a:avLst>
              <a:gd name="adj" fmla="val 3773"/>
            </a:avLst>
          </a:prstGeom>
          <a:noFill/>
          <a:extLst>
            <a:ext uri="{909E8E84-426E-40DD-AFC4-6F175D3DCCD1}">
              <a14:hiddenFill xmlns:a14="http://schemas.microsoft.com/office/drawing/2010/main">
                <a:solidFill>
                  <a:srgbClr val="FFFFFF"/>
                </a:solidFill>
              </a14:hiddenFill>
            </a:ext>
          </a:extLst>
        </p:spPr>
      </p:pic>
      <p:pic>
        <p:nvPicPr>
          <p:cNvPr id="21506" name="Picture 2" descr="A screenshot of a computer&#10;&#10;AI-generated content may be incorrect.">
            <a:extLst>
              <a:ext uri="{FF2B5EF4-FFF2-40B4-BE49-F238E27FC236}">
                <a16:creationId xmlns:a16="http://schemas.microsoft.com/office/drawing/2014/main" id="{14E74967-D9A7-D50E-3926-37586367D8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93"/>
          <a:stretch>
            <a:fillRect/>
          </a:stretch>
        </p:blipFill>
        <p:spPr bwMode="auto">
          <a:xfrm>
            <a:off x="615102" y="4268848"/>
            <a:ext cx="4648718" cy="2491425"/>
          </a:xfrm>
          <a:prstGeom prst="roundRect">
            <a:avLst>
              <a:gd name="adj" fmla="val 3832"/>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4F9539-28F5-CA1C-389F-271297A9E90A}"/>
              </a:ext>
            </a:extLst>
          </p:cNvPr>
          <p:cNvSpPr txBox="1"/>
          <p:nvPr/>
        </p:nvSpPr>
        <p:spPr>
          <a:xfrm>
            <a:off x="615102" y="2155496"/>
            <a:ext cx="3700124" cy="1846659"/>
          </a:xfrm>
          <a:prstGeom prst="rect">
            <a:avLst/>
          </a:prstGeom>
          <a:noFill/>
        </p:spPr>
        <p:txBody>
          <a:bodyPr wrap="square">
            <a:spAutoFit/>
          </a:bodyPr>
          <a:lstStyle/>
          <a:p>
            <a:pPr fontAlgn="base"/>
            <a:r>
              <a:rPr lang="en-US" sz="1600" b="1">
                <a:solidFill>
                  <a:schemeClr val="accent1"/>
                </a:solidFill>
              </a:rPr>
              <a:t>Export definition selections: ​</a:t>
            </a:r>
          </a:p>
          <a:p>
            <a:pPr marL="285750" indent="-285750" fontAlgn="base">
              <a:buFont typeface="Arial" panose="020B0604020202020204" pitchFamily="34" charset="0"/>
              <a:buChar char="•"/>
            </a:pPr>
            <a:r>
              <a:rPr lang="en-US" sz="1400"/>
              <a:t>Omit Summary Items​</a:t>
            </a:r>
          </a:p>
          <a:p>
            <a:pPr marL="285750" indent="-285750" fontAlgn="base">
              <a:buFont typeface="Arial" panose="020B0604020202020204" pitchFamily="34" charset="0"/>
              <a:buChar char="•"/>
            </a:pPr>
            <a:r>
              <a:rPr lang="en-US" sz="1400"/>
              <a:t>Include Empty Rows​</a:t>
            </a:r>
          </a:p>
          <a:p>
            <a:pPr marL="285750" indent="-285750" fontAlgn="base">
              <a:buFont typeface="Arial" panose="020B0604020202020204" pitchFamily="34" charset="0"/>
              <a:buChar char="•"/>
            </a:pPr>
            <a:r>
              <a:rPr lang="en-US" sz="1400"/>
              <a:t>Include row header labels​</a:t>
            </a:r>
          </a:p>
          <a:p>
            <a:pPr fontAlgn="base"/>
            <a:r>
              <a:rPr lang="en-US" sz="1400"/>
              <a:t>​</a:t>
            </a:r>
          </a:p>
          <a:p>
            <a:pPr fontAlgn="base"/>
            <a:r>
              <a:rPr lang="en-US" sz="1400"/>
              <a:t>Be sure to show </a:t>
            </a:r>
            <a:r>
              <a:rPr lang="en-US" sz="1400" b="1"/>
              <a:t>Code</a:t>
            </a:r>
            <a:r>
              <a:rPr lang="en-US" sz="1400"/>
              <a:t>, not </a:t>
            </a:r>
            <a:r>
              <a:rPr lang="en-US" sz="1400" b="1"/>
              <a:t>Name </a:t>
            </a:r>
            <a:r>
              <a:rPr lang="en-US" sz="1400"/>
              <a:t>for numbered lists included in the export definition (see previous page)</a:t>
            </a:r>
          </a:p>
        </p:txBody>
      </p:sp>
    </p:spTree>
    <p:extLst>
      <p:ext uri="{BB962C8B-B14F-4D97-AF65-F5344CB8AC3E}">
        <p14:creationId xmlns:p14="http://schemas.microsoft.com/office/powerpoint/2010/main" val="316496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B293E-BCDC-19BF-19C9-D72CEB4088E9}"/>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C0289AAB-783B-8EFF-F8AA-EBAF2CD7A0E0}"/>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Associated import – addressable </a:t>
            </a:r>
            <a:r>
              <a:rPr lang="en-GB">
                <a:solidFill>
                  <a:srgbClr val="FFFFFF"/>
                </a:solidFill>
              </a:rPr>
              <a:t>m</a:t>
            </a:r>
            <a:r>
              <a:rPr kumimoji="0" lang="en-GB" sz="240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rPr>
              <a:t>arket</a:t>
            </a:r>
            <a:endParaRPr kumimoji="0" lang="en-GB" sz="240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11" name="TextBox 10">
            <a:extLst>
              <a:ext uri="{FF2B5EF4-FFF2-40B4-BE49-F238E27FC236}">
                <a16:creationId xmlns:a16="http://schemas.microsoft.com/office/drawing/2014/main" id="{95C48C7B-0F8A-BEBC-278F-6DA776294C77}"/>
              </a:ext>
            </a:extLst>
          </p:cNvPr>
          <p:cNvSpPr txBox="1"/>
          <p:nvPr/>
        </p:nvSpPr>
        <p:spPr>
          <a:xfrm>
            <a:off x="615102" y="945931"/>
            <a:ext cx="10961796" cy="769441"/>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After you create the addressable market export you will need to edit the addressable market import to map the appropriate columns. </a:t>
            </a:r>
          </a:p>
        </p:txBody>
      </p:sp>
      <p:sp>
        <p:nvSpPr>
          <p:cNvPr id="5" name="TextBox 4">
            <a:extLst>
              <a:ext uri="{FF2B5EF4-FFF2-40B4-BE49-F238E27FC236}">
                <a16:creationId xmlns:a16="http://schemas.microsoft.com/office/drawing/2014/main" id="{660FFD3B-64AB-6A62-5C79-CE317055123D}"/>
              </a:ext>
            </a:extLst>
          </p:cNvPr>
          <p:cNvSpPr txBox="1"/>
          <p:nvPr/>
        </p:nvSpPr>
        <p:spPr>
          <a:xfrm>
            <a:off x="615102" y="2155496"/>
            <a:ext cx="3700124" cy="1661993"/>
          </a:xfrm>
          <a:prstGeom prst="rect">
            <a:avLst/>
          </a:prstGeom>
          <a:noFill/>
        </p:spPr>
        <p:txBody>
          <a:bodyPr wrap="square">
            <a:spAutoFit/>
          </a:bodyPr>
          <a:lstStyle/>
          <a:p>
            <a:pPr fontAlgn="base"/>
            <a:r>
              <a:rPr lang="en-US" sz="1600" b="1">
                <a:solidFill>
                  <a:schemeClr val="accent1"/>
                </a:solidFill>
              </a:rPr>
              <a:t>Action required:</a:t>
            </a:r>
          </a:p>
          <a:p>
            <a:pPr fontAlgn="base"/>
            <a:endParaRPr lang="en-US" sz="1600" b="1">
              <a:solidFill>
                <a:schemeClr val="accent1"/>
              </a:solidFill>
            </a:endParaRPr>
          </a:p>
          <a:p>
            <a:pPr marL="285750" indent="-285750" fontAlgn="base">
              <a:buFont typeface="Arial" panose="020B0604020202020204" pitchFamily="34" charset="0"/>
              <a:buChar char="•"/>
            </a:pPr>
            <a:r>
              <a:rPr lang="en-US" sz="1400"/>
              <a:t>Edit addressable market import </a:t>
            </a:r>
            <a:r>
              <a:rPr lang="en-US" sz="1400" b="1">
                <a:solidFill>
                  <a:schemeClr val="accent1"/>
                </a:solidFill>
              </a:rPr>
              <a:t>11_SG:2_Import_Addressable_Market</a:t>
            </a:r>
          </a:p>
          <a:p>
            <a:pPr marL="285750" indent="-285750" fontAlgn="base">
              <a:buFont typeface="Arial" panose="020B0604020202020204" pitchFamily="34" charset="0"/>
              <a:buChar char="•"/>
            </a:pPr>
            <a:r>
              <a:rPr lang="en-US" sz="1400"/>
              <a:t>Map the appropriate list to the columns</a:t>
            </a:r>
          </a:p>
          <a:p>
            <a:pPr marL="742950" lvl="1" indent="-285750" fontAlgn="base">
              <a:buFont typeface="Arial" panose="020B0604020202020204" pitchFamily="34" charset="0"/>
              <a:buChar char="•"/>
            </a:pPr>
            <a:r>
              <a:rPr lang="en-US" sz="1400"/>
              <a:t>Account Flat: Code</a:t>
            </a:r>
          </a:p>
          <a:p>
            <a:pPr marL="742950" lvl="1" indent="-285750" fontAlgn="base">
              <a:buFont typeface="Arial" panose="020B0604020202020204" pitchFamily="34" charset="0"/>
              <a:buChar char="•"/>
            </a:pPr>
            <a:r>
              <a:rPr lang="en-US" sz="1400"/>
              <a:t>Product P2 </a:t>
            </a:r>
          </a:p>
        </p:txBody>
      </p:sp>
      <p:pic>
        <p:nvPicPr>
          <p:cNvPr id="23554" name="Picture 2" descr="A screenshot of a computer&#10;&#10;AI-generated content may be incorrect.">
            <a:extLst>
              <a:ext uri="{FF2B5EF4-FFF2-40B4-BE49-F238E27FC236}">
                <a16:creationId xmlns:a16="http://schemas.microsoft.com/office/drawing/2014/main" id="{10241058-53A9-973D-53A9-C8AC1B60E3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1959229"/>
            <a:ext cx="6784340" cy="4683256"/>
          </a:xfrm>
          <a:prstGeom prst="roundRect">
            <a:avLst>
              <a:gd name="adj" fmla="val 4952"/>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05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756D0-C9E3-B193-778D-374A59A3978B}"/>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B5CCA22F-BD24-91A5-CE7C-0B65F4B95A91}"/>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rPr>
              <a:t>Revise process actions to include newly created exports</a:t>
            </a:r>
          </a:p>
        </p:txBody>
      </p:sp>
      <p:sp>
        <p:nvSpPr>
          <p:cNvPr id="11" name="TextBox 10">
            <a:extLst>
              <a:ext uri="{FF2B5EF4-FFF2-40B4-BE49-F238E27FC236}">
                <a16:creationId xmlns:a16="http://schemas.microsoft.com/office/drawing/2014/main" id="{1197C3CC-E9CE-EBDF-341C-ACFE4D2CBDE0}"/>
              </a:ext>
            </a:extLst>
          </p:cNvPr>
          <p:cNvSpPr txBox="1"/>
          <p:nvPr/>
        </p:nvSpPr>
        <p:spPr>
          <a:xfrm>
            <a:off x="530042" y="1540389"/>
            <a:ext cx="10961796" cy="769441"/>
          </a:xfrm>
          <a:prstGeom prst="rect">
            <a:avLst/>
          </a:prstGeom>
          <a:noFill/>
        </p:spPr>
        <p:txBody>
          <a:bodyPr wrap="square">
            <a:spAutoFit/>
          </a:bodyPr>
          <a:lstStyle/>
          <a:p>
            <a:pPr fontAlgn="base"/>
            <a:r>
              <a:rPr lang="en-US" sz="1600" b="1">
                <a:solidFill>
                  <a:schemeClr val="accent1"/>
                </a:solidFill>
              </a:rPr>
              <a:t>Overview</a:t>
            </a:r>
          </a:p>
          <a:p>
            <a:pPr fontAlgn="base"/>
            <a:endParaRPr lang="en-US" sz="1400"/>
          </a:p>
          <a:p>
            <a:pPr fontAlgn="base"/>
            <a:r>
              <a:rPr lang="en-US" sz="1400"/>
              <a:t>After you create the mandatory actions, you will need to add them to the appropriate process actions.  </a:t>
            </a:r>
          </a:p>
        </p:txBody>
      </p:sp>
      <p:sp>
        <p:nvSpPr>
          <p:cNvPr id="5" name="TextBox 4">
            <a:extLst>
              <a:ext uri="{FF2B5EF4-FFF2-40B4-BE49-F238E27FC236}">
                <a16:creationId xmlns:a16="http://schemas.microsoft.com/office/drawing/2014/main" id="{72E24F0F-A7D6-E68E-367D-1C9D6434BA3E}"/>
              </a:ext>
            </a:extLst>
          </p:cNvPr>
          <p:cNvSpPr txBox="1"/>
          <p:nvPr/>
        </p:nvSpPr>
        <p:spPr>
          <a:xfrm>
            <a:off x="530042" y="2749954"/>
            <a:ext cx="3700124" cy="1015663"/>
          </a:xfrm>
          <a:prstGeom prst="rect">
            <a:avLst/>
          </a:prstGeom>
          <a:noFill/>
        </p:spPr>
        <p:txBody>
          <a:bodyPr wrap="square">
            <a:spAutoFit/>
          </a:bodyPr>
          <a:lstStyle/>
          <a:p>
            <a:pPr fontAlgn="base"/>
            <a:r>
              <a:rPr lang="en-US" sz="1600" b="1">
                <a:solidFill>
                  <a:schemeClr val="accent1"/>
                </a:solidFill>
              </a:rPr>
              <a:t>Action required:</a:t>
            </a:r>
          </a:p>
          <a:p>
            <a:pPr fontAlgn="base"/>
            <a:endParaRPr lang="en-US" sz="1600" b="1">
              <a:solidFill>
                <a:schemeClr val="accent1"/>
              </a:solidFill>
            </a:endParaRPr>
          </a:p>
          <a:p>
            <a:pPr marL="285750" indent="-285750" fontAlgn="base">
              <a:buFont typeface="Arial" panose="020B0604020202020204" pitchFamily="34" charset="0"/>
              <a:buChar char="•"/>
            </a:pPr>
            <a:r>
              <a:rPr lang="en-US" sz="1400"/>
              <a:t>Edit and add the appropriate export actions to the list processes</a:t>
            </a:r>
          </a:p>
        </p:txBody>
      </p:sp>
      <p:graphicFrame>
        <p:nvGraphicFramePr>
          <p:cNvPr id="2" name="Table 1">
            <a:extLst>
              <a:ext uri="{FF2B5EF4-FFF2-40B4-BE49-F238E27FC236}">
                <a16:creationId xmlns:a16="http://schemas.microsoft.com/office/drawing/2014/main" id="{6F5555C8-2446-6D57-6E4F-46ED4E8CD452}"/>
              </a:ext>
            </a:extLst>
          </p:cNvPr>
          <p:cNvGraphicFramePr>
            <a:graphicFrameLocks noGrp="1"/>
          </p:cNvGraphicFramePr>
          <p:nvPr/>
        </p:nvGraphicFramePr>
        <p:xfrm>
          <a:off x="615102" y="4240651"/>
          <a:ext cx="5522284" cy="1076960"/>
        </p:xfrm>
        <a:graphic>
          <a:graphicData uri="http://schemas.openxmlformats.org/drawingml/2006/table">
            <a:tbl>
              <a:tblPr bandRow="1">
                <a:tableStyleId>{D7AC3CCA-C797-4891-BE02-D94E43425B78}</a:tableStyleId>
              </a:tblPr>
              <a:tblGrid>
                <a:gridCol w="3174023">
                  <a:extLst>
                    <a:ext uri="{9D8B030D-6E8A-4147-A177-3AD203B41FA5}">
                      <a16:colId xmlns:a16="http://schemas.microsoft.com/office/drawing/2014/main" val="3575864358"/>
                    </a:ext>
                  </a:extLst>
                </a:gridCol>
                <a:gridCol w="2348261">
                  <a:extLst>
                    <a:ext uri="{9D8B030D-6E8A-4147-A177-3AD203B41FA5}">
                      <a16:colId xmlns:a16="http://schemas.microsoft.com/office/drawing/2014/main" val="2001869569"/>
                    </a:ext>
                  </a:extLst>
                </a:gridCol>
              </a:tblGrid>
              <a:tr h="200025">
                <a:tc>
                  <a:txBody>
                    <a:bodyPr/>
                    <a:lstStyle/>
                    <a:p>
                      <a:pPr algn="l" fontAlgn="base">
                        <a:lnSpc>
                          <a:spcPts val="1425"/>
                        </a:lnSpc>
                        <a:buNone/>
                      </a:pPr>
                      <a:r>
                        <a:rPr lang="en-US" sz="1200" b="1" u="none" strike="noStrike">
                          <a:solidFill>
                            <a:schemeClr val="bg2"/>
                          </a:solidFill>
                          <a:effectLst/>
                        </a:rPr>
                        <a:t>Process</a:t>
                      </a:r>
                      <a:r>
                        <a:rPr lang="en-US" sz="1200" b="0">
                          <a:solidFill>
                            <a:schemeClr val="bg2"/>
                          </a:solidFill>
                          <a:effectLst/>
                        </a:rPr>
                        <a:t>​</a:t>
                      </a:r>
                      <a:endParaRPr lang="en-US" b="0" i="0">
                        <a:solidFill>
                          <a:schemeClr val="bg2"/>
                        </a:solidFill>
                        <a:effectLst/>
                      </a:endParaRPr>
                    </a:p>
                  </a:txBody>
                  <a:tcPr anchor="b">
                    <a:solidFill>
                      <a:schemeClr val="tx2"/>
                    </a:solidFill>
                  </a:tcPr>
                </a:tc>
                <a:tc>
                  <a:txBody>
                    <a:bodyPr/>
                    <a:lstStyle/>
                    <a:p>
                      <a:pPr algn="l" fontAlgn="base">
                        <a:lnSpc>
                          <a:spcPts val="1425"/>
                        </a:lnSpc>
                        <a:buNone/>
                      </a:pPr>
                      <a:r>
                        <a:rPr lang="en-US" sz="1200" b="1" u="none" strike="noStrike">
                          <a:solidFill>
                            <a:schemeClr val="bg2"/>
                          </a:solidFill>
                          <a:effectLst/>
                        </a:rPr>
                        <a:t>Model</a:t>
                      </a:r>
                      <a:r>
                        <a:rPr lang="en-US" sz="1200" b="0">
                          <a:solidFill>
                            <a:schemeClr val="bg2"/>
                          </a:solidFill>
                          <a:effectLst/>
                        </a:rPr>
                        <a:t>​</a:t>
                      </a:r>
                      <a:endParaRPr lang="en-US" b="0" i="0">
                        <a:solidFill>
                          <a:schemeClr val="bg2"/>
                        </a:solidFill>
                        <a:effectLst/>
                      </a:endParaRPr>
                    </a:p>
                  </a:txBody>
                  <a:tcPr anchor="b">
                    <a:solidFill>
                      <a:schemeClr val="tx2"/>
                    </a:solidFill>
                  </a:tcPr>
                </a:tc>
                <a:extLst>
                  <a:ext uri="{0D108BD9-81ED-4DB2-BD59-A6C34878D82A}">
                    <a16:rowId xmlns:a16="http://schemas.microsoft.com/office/drawing/2014/main" val="752981395"/>
                  </a:ext>
                </a:extLst>
              </a:tr>
              <a:tr h="200025">
                <a:tc>
                  <a:txBody>
                    <a:bodyPr/>
                    <a:lstStyle/>
                    <a:p>
                      <a:pPr algn="l" fontAlgn="base">
                        <a:lnSpc>
                          <a:spcPts val="1425"/>
                        </a:lnSpc>
                        <a:buNone/>
                      </a:pPr>
                      <a:r>
                        <a:rPr lang="en-US" sz="1200" b="0" u="none" strike="noStrike">
                          <a:solidFill>
                            <a:srgbClr val="000000"/>
                          </a:solidFill>
                          <a:effectLst/>
                        </a:rPr>
                        <a:t>3.1 Export Quarterly Targets</a:t>
                      </a:r>
                      <a:r>
                        <a:rPr lang="en-US" sz="1200" b="0">
                          <a:solidFill>
                            <a:srgbClr val="0A2F46"/>
                          </a:solidFill>
                          <a:effectLst/>
                        </a:rPr>
                        <a:t>​</a:t>
                      </a:r>
                      <a:endParaRPr lang="en-US" b="0" i="0">
                        <a:solidFill>
                          <a:srgbClr val="0A2F46"/>
                        </a:solidFill>
                        <a:effectLst/>
                      </a:endParaRPr>
                    </a:p>
                  </a:txBody>
                  <a:tcPr anchor="b">
                    <a:solidFill>
                      <a:schemeClr val="bg1"/>
                    </a:solidFill>
                  </a:tcPr>
                </a:tc>
                <a:tc>
                  <a:txBody>
                    <a:bodyPr/>
                    <a:lstStyle/>
                    <a:p>
                      <a:pPr algn="l" fontAlgn="base">
                        <a:lnSpc>
                          <a:spcPts val="1425"/>
                        </a:lnSpc>
                        <a:buNone/>
                      </a:pPr>
                      <a:r>
                        <a:rPr lang="en-US" sz="1200" b="0" u="none" strike="noStrike">
                          <a:solidFill>
                            <a:srgbClr val="000000"/>
                          </a:solidFill>
                          <a:effectLst/>
                        </a:rPr>
                        <a:t>Generated Spoke - T&amp;Q</a:t>
                      </a:r>
                      <a:r>
                        <a:rPr lang="en-US" sz="1200" b="0">
                          <a:solidFill>
                            <a:srgbClr val="0A2F46"/>
                          </a:solidFill>
                          <a:effectLst/>
                        </a:rPr>
                        <a:t>​</a:t>
                      </a:r>
                      <a:endParaRPr lang="en-US" b="0" i="0">
                        <a:solidFill>
                          <a:srgbClr val="0A2F46"/>
                        </a:solidFill>
                        <a:effectLst/>
                      </a:endParaRPr>
                    </a:p>
                  </a:txBody>
                  <a:tcPr anchor="b">
                    <a:solidFill>
                      <a:schemeClr val="bg1"/>
                    </a:solidFill>
                  </a:tcPr>
                </a:tc>
                <a:extLst>
                  <a:ext uri="{0D108BD9-81ED-4DB2-BD59-A6C34878D82A}">
                    <a16:rowId xmlns:a16="http://schemas.microsoft.com/office/drawing/2014/main" val="4267021946"/>
                  </a:ext>
                </a:extLst>
              </a:tr>
              <a:tr h="200025">
                <a:tc>
                  <a:txBody>
                    <a:bodyPr/>
                    <a:lstStyle/>
                    <a:p>
                      <a:pPr algn="l" fontAlgn="base">
                        <a:lnSpc>
                          <a:spcPts val="1425"/>
                        </a:lnSpc>
                        <a:buNone/>
                      </a:pPr>
                      <a:r>
                        <a:rPr lang="en-US" sz="1200" b="0" u="none" strike="noStrike">
                          <a:solidFill>
                            <a:srgbClr val="000000"/>
                          </a:solidFill>
                          <a:effectLst/>
                        </a:rPr>
                        <a:t>3.2 Export Yearly Targets</a:t>
                      </a:r>
                      <a:r>
                        <a:rPr lang="en-US" sz="1200" b="0">
                          <a:solidFill>
                            <a:srgbClr val="0A2F46"/>
                          </a:solidFill>
                          <a:effectLst/>
                        </a:rPr>
                        <a:t>​</a:t>
                      </a:r>
                      <a:endParaRPr lang="en-US" b="0" i="0">
                        <a:solidFill>
                          <a:srgbClr val="0A2F46"/>
                        </a:solidFill>
                        <a:effectLst/>
                      </a:endParaRPr>
                    </a:p>
                  </a:txBody>
                  <a:tcPr anchor="b"/>
                </a:tc>
                <a:tc>
                  <a:txBody>
                    <a:bodyPr/>
                    <a:lstStyle/>
                    <a:p>
                      <a:pPr algn="l" fontAlgn="base">
                        <a:lnSpc>
                          <a:spcPts val="1425"/>
                        </a:lnSpc>
                        <a:buNone/>
                      </a:pPr>
                      <a:r>
                        <a:rPr lang="en-US" sz="1200" b="0" u="none" strike="noStrike">
                          <a:solidFill>
                            <a:srgbClr val="000000"/>
                          </a:solidFill>
                          <a:effectLst/>
                        </a:rPr>
                        <a:t>Generated Spoke - T&amp;Q</a:t>
                      </a:r>
                      <a:r>
                        <a:rPr lang="en-US" sz="1200" b="0">
                          <a:solidFill>
                            <a:srgbClr val="0A2F46"/>
                          </a:solidFill>
                          <a:effectLst/>
                        </a:rPr>
                        <a:t>​</a:t>
                      </a:r>
                      <a:endParaRPr lang="en-US" b="0" i="0">
                        <a:solidFill>
                          <a:srgbClr val="0A2F46"/>
                        </a:solidFill>
                        <a:effectLst/>
                      </a:endParaRPr>
                    </a:p>
                  </a:txBody>
                  <a:tcPr anchor="b"/>
                </a:tc>
                <a:extLst>
                  <a:ext uri="{0D108BD9-81ED-4DB2-BD59-A6C34878D82A}">
                    <a16:rowId xmlns:a16="http://schemas.microsoft.com/office/drawing/2014/main" val="1748232857"/>
                  </a:ext>
                </a:extLst>
              </a:tr>
              <a:tr h="200025">
                <a:tc>
                  <a:txBody>
                    <a:bodyPr/>
                    <a:lstStyle/>
                    <a:p>
                      <a:pPr algn="l" fontAlgn="base">
                        <a:lnSpc>
                          <a:spcPts val="1425"/>
                        </a:lnSpc>
                        <a:buNone/>
                      </a:pPr>
                      <a:r>
                        <a:rPr lang="en-US" sz="1200" b="0" u="none" strike="noStrike">
                          <a:solidFill>
                            <a:srgbClr val="000000"/>
                          </a:solidFill>
                          <a:effectLst/>
                        </a:rPr>
                        <a:t>3.3 Export Addressable Market</a:t>
                      </a:r>
                      <a:r>
                        <a:rPr lang="en-US" sz="1200" b="0">
                          <a:solidFill>
                            <a:srgbClr val="0A2F46"/>
                          </a:solidFill>
                          <a:effectLst/>
                        </a:rPr>
                        <a:t>​</a:t>
                      </a:r>
                      <a:endParaRPr lang="en-US" b="0" i="0">
                        <a:solidFill>
                          <a:srgbClr val="0A2F46"/>
                        </a:solidFill>
                        <a:effectLst/>
                      </a:endParaRPr>
                    </a:p>
                  </a:txBody>
                  <a:tcPr anchor="b">
                    <a:solidFill>
                      <a:schemeClr val="bg1"/>
                    </a:solidFill>
                  </a:tcPr>
                </a:tc>
                <a:tc>
                  <a:txBody>
                    <a:bodyPr/>
                    <a:lstStyle/>
                    <a:p>
                      <a:pPr algn="l" fontAlgn="base">
                        <a:lnSpc>
                          <a:spcPts val="1425"/>
                        </a:lnSpc>
                        <a:buNone/>
                      </a:pPr>
                      <a:r>
                        <a:rPr lang="en-US" sz="1200" b="0" u="none" strike="noStrike">
                          <a:solidFill>
                            <a:srgbClr val="000000"/>
                          </a:solidFill>
                          <a:effectLst/>
                        </a:rPr>
                        <a:t>Generated Spoke - T&amp;Q</a:t>
                      </a:r>
                      <a:r>
                        <a:rPr lang="en-US" sz="1200" b="0">
                          <a:solidFill>
                            <a:srgbClr val="0A2F46"/>
                          </a:solidFill>
                          <a:effectLst/>
                        </a:rPr>
                        <a:t>​</a:t>
                      </a:r>
                      <a:endParaRPr lang="en-US" b="0" i="0">
                        <a:solidFill>
                          <a:srgbClr val="0A2F46"/>
                        </a:solidFill>
                        <a:effectLst/>
                      </a:endParaRPr>
                    </a:p>
                  </a:txBody>
                  <a:tcPr anchor="b">
                    <a:solidFill>
                      <a:schemeClr val="bg1"/>
                    </a:solidFill>
                  </a:tcPr>
                </a:tc>
                <a:extLst>
                  <a:ext uri="{0D108BD9-81ED-4DB2-BD59-A6C34878D82A}">
                    <a16:rowId xmlns:a16="http://schemas.microsoft.com/office/drawing/2014/main" val="2376081742"/>
                  </a:ext>
                </a:extLst>
              </a:tr>
            </a:tbl>
          </a:graphicData>
        </a:graphic>
      </p:graphicFrame>
      <p:sp>
        <p:nvSpPr>
          <p:cNvPr id="3" name="Rectangle 1">
            <a:extLst>
              <a:ext uri="{FF2B5EF4-FFF2-40B4-BE49-F238E27FC236}">
                <a16:creationId xmlns:a16="http://schemas.microsoft.com/office/drawing/2014/main" id="{B9A81A5D-AA82-DB1D-4135-2329C999DEE2}"/>
              </a:ext>
            </a:extLst>
          </p:cNvPr>
          <p:cNvSpPr>
            <a:spLocks noChangeArrowheads="1"/>
          </p:cNvSpPr>
          <p:nvPr/>
        </p:nvSpPr>
        <p:spPr bwMode="auto">
          <a:xfrm>
            <a:off x="3993855" y="39080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650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E21E9-F997-E170-E0EF-3706028DB643}"/>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86965FA9-8A92-0D64-E35D-DEC74C1E6F44}"/>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a:defRPr/>
            </a:pPr>
            <a:r>
              <a:rPr lang="en-GB">
                <a:solidFill>
                  <a:schemeClr val="tx2"/>
                </a:solidFill>
                <a:latin typeface="Arial"/>
                <a:ea typeface="Verdana"/>
                <a:cs typeface="Arial"/>
              </a:rPr>
              <a:t>Check Territory hierarchy move or delete processes</a:t>
            </a:r>
            <a:endParaRPr lang="en-US">
              <a:solidFill>
                <a:schemeClr val="tx2"/>
              </a:solidFill>
            </a:endParaRPr>
          </a:p>
        </p:txBody>
      </p:sp>
      <p:sp>
        <p:nvSpPr>
          <p:cNvPr id="11" name="TextBox 10">
            <a:extLst>
              <a:ext uri="{FF2B5EF4-FFF2-40B4-BE49-F238E27FC236}">
                <a16:creationId xmlns:a16="http://schemas.microsoft.com/office/drawing/2014/main" id="{0C2F50D9-8D4C-A399-D862-DE787AE95773}"/>
              </a:ext>
            </a:extLst>
          </p:cNvPr>
          <p:cNvSpPr txBox="1"/>
          <p:nvPr/>
        </p:nvSpPr>
        <p:spPr>
          <a:xfrm>
            <a:off x="530042" y="1540389"/>
            <a:ext cx="10961796" cy="769441"/>
          </a:xfrm>
          <a:prstGeom prst="rect">
            <a:avLst/>
          </a:prstGeom>
          <a:noFill/>
        </p:spPr>
        <p:txBody>
          <a:bodyPr wrap="square" lIns="91440" tIns="45720" rIns="91440" bIns="45720" anchor="t">
            <a:spAutoFit/>
          </a:bodyPr>
          <a:lstStyle/>
          <a:p>
            <a:pPr fontAlgn="base"/>
            <a:r>
              <a:rPr lang="en-US" sz="1600" b="1">
                <a:solidFill>
                  <a:schemeClr val="accent1"/>
                </a:solidFill>
              </a:rPr>
              <a:t>Overview</a:t>
            </a:r>
          </a:p>
          <a:p>
            <a:pPr fontAlgn="base"/>
            <a:endParaRPr lang="en-US" sz="1400"/>
          </a:p>
          <a:p>
            <a:pPr fontAlgn="base"/>
            <a:r>
              <a:rPr lang="en-US" sz="1400"/>
              <a:t>Territory move or delete processes may be missing some actions (SPT-1867), or have repeating actions (SPT-2534).  </a:t>
            </a:r>
            <a:endParaRPr lang="en-US" sz="1400">
              <a:cs typeface="Arial"/>
            </a:endParaRPr>
          </a:p>
        </p:txBody>
      </p:sp>
      <p:sp>
        <p:nvSpPr>
          <p:cNvPr id="5" name="TextBox 4">
            <a:extLst>
              <a:ext uri="{FF2B5EF4-FFF2-40B4-BE49-F238E27FC236}">
                <a16:creationId xmlns:a16="http://schemas.microsoft.com/office/drawing/2014/main" id="{D1E03DAA-7E18-C374-E3E3-458FE23F1E78}"/>
              </a:ext>
            </a:extLst>
          </p:cNvPr>
          <p:cNvSpPr txBox="1"/>
          <p:nvPr/>
        </p:nvSpPr>
        <p:spPr>
          <a:xfrm>
            <a:off x="530042" y="2749954"/>
            <a:ext cx="9364803" cy="800219"/>
          </a:xfrm>
          <a:prstGeom prst="rect">
            <a:avLst/>
          </a:prstGeom>
          <a:noFill/>
        </p:spPr>
        <p:txBody>
          <a:bodyPr wrap="square" lIns="91440" tIns="45720" rIns="91440" bIns="45720" anchor="t">
            <a:spAutoFit/>
          </a:bodyPr>
          <a:lstStyle/>
          <a:p>
            <a:pPr fontAlgn="base"/>
            <a:r>
              <a:rPr lang="en-US" sz="1600" b="1">
                <a:solidFill>
                  <a:schemeClr val="accent1"/>
                </a:solidFill>
              </a:rPr>
              <a:t>Action required:</a:t>
            </a:r>
          </a:p>
          <a:p>
            <a:pPr fontAlgn="base"/>
            <a:endParaRPr lang="en-US" sz="1600" b="1">
              <a:solidFill>
                <a:schemeClr val="accent1"/>
              </a:solidFill>
            </a:endParaRPr>
          </a:p>
          <a:p>
            <a:pPr marL="285750" indent="-285750">
              <a:buFont typeface="Arial" panose="020B0604020202020204" pitchFamily="34" charset="0"/>
              <a:buChar char="•"/>
            </a:pPr>
            <a:r>
              <a:rPr lang="en-US" sz="1400"/>
              <a:t>Review the actions in the territory move or delete processes.</a:t>
            </a:r>
            <a:endParaRPr lang="en-US" sz="1400">
              <a:solidFill>
                <a:srgbClr val="000000"/>
              </a:solidFill>
            </a:endParaRPr>
          </a:p>
        </p:txBody>
      </p:sp>
      <p:sp>
        <p:nvSpPr>
          <p:cNvPr id="3" name="Rectangle 1">
            <a:extLst>
              <a:ext uri="{FF2B5EF4-FFF2-40B4-BE49-F238E27FC236}">
                <a16:creationId xmlns:a16="http://schemas.microsoft.com/office/drawing/2014/main" id="{ED7E7CCF-2A02-3A3A-799F-5425E4275BAF}"/>
              </a:ext>
            </a:extLst>
          </p:cNvPr>
          <p:cNvSpPr>
            <a:spLocks noChangeArrowheads="1"/>
          </p:cNvSpPr>
          <p:nvPr/>
        </p:nvSpPr>
        <p:spPr bwMode="auto">
          <a:xfrm>
            <a:off x="3993855" y="39080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412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3C05-D5C1-FB7E-56C8-9C437907BCB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C15452A-61C8-AD8C-D1DD-B491C78579CE}"/>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Lists &amp; data updates</a:t>
            </a:r>
            <a:endParaRPr lang="en-US" sz="4200"/>
          </a:p>
        </p:txBody>
      </p:sp>
      <p:sp>
        <p:nvSpPr>
          <p:cNvPr id="3" name="Text Placeholder 2">
            <a:extLst>
              <a:ext uri="{FF2B5EF4-FFF2-40B4-BE49-F238E27FC236}">
                <a16:creationId xmlns:a16="http://schemas.microsoft.com/office/drawing/2014/main" id="{3DE0D65E-53FC-BDB2-A85F-43390A5537F8}"/>
              </a:ext>
            </a:extLst>
          </p:cNvPr>
          <p:cNvSpPr>
            <a:spLocks noGrp="1"/>
          </p:cNvSpPr>
          <p:nvPr>
            <p:ph type="body" sz="quarter" idx="11"/>
          </p:nvPr>
        </p:nvSpPr>
        <p:spPr>
          <a:xfrm>
            <a:off x="4485134" y="2720693"/>
            <a:ext cx="6601856" cy="509871"/>
          </a:xfrm>
        </p:spPr>
        <p:txBody>
          <a:bodyPr/>
          <a:lstStyle/>
          <a:p>
            <a:r>
              <a:rPr lang="en-US">
                <a:solidFill>
                  <a:schemeClr val="accent1"/>
                </a:solidFill>
              </a:rPr>
              <a:t>Section 3</a:t>
            </a:r>
          </a:p>
        </p:txBody>
      </p:sp>
    </p:spTree>
    <p:extLst>
      <p:ext uri="{BB962C8B-B14F-4D97-AF65-F5344CB8AC3E}">
        <p14:creationId xmlns:p14="http://schemas.microsoft.com/office/powerpoint/2010/main" val="293195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B99E-869B-85D5-4266-CDFEA2D3994D}"/>
            </a:ext>
          </a:extLst>
        </p:cNvPr>
        <p:cNvGrpSpPr/>
        <p:nvPr/>
      </p:nvGrpSpPr>
      <p:grpSpPr>
        <a:xfrm>
          <a:off x="0" y="0"/>
          <a:ext cx="0" cy="0"/>
          <a:chOff x="0" y="0"/>
          <a:chExt cx="0" cy="0"/>
        </a:xfrm>
      </p:grpSpPr>
      <p:sp>
        <p:nvSpPr>
          <p:cNvPr id="2" name="Title 67">
            <a:extLst>
              <a:ext uri="{FF2B5EF4-FFF2-40B4-BE49-F238E27FC236}">
                <a16:creationId xmlns:a16="http://schemas.microsoft.com/office/drawing/2014/main" id="{FA774C75-6C4C-688E-A6B5-F5AC0083C8DA}"/>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chemeClr val="tx2"/>
                </a:solidFill>
              </a:rPr>
              <a:t>Required list updates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2F2E2CE6-ADEE-ECDB-37A7-6047A07C4485}"/>
              </a:ext>
            </a:extLst>
          </p:cNvPr>
          <p:cNvSpPr txBox="1"/>
          <p:nvPr/>
        </p:nvSpPr>
        <p:spPr>
          <a:xfrm>
            <a:off x="615102" y="1380879"/>
            <a:ext cx="10740470" cy="3600986"/>
          </a:xfrm>
          <a:prstGeom prst="rect">
            <a:avLst/>
          </a:prstGeom>
          <a:noFill/>
        </p:spPr>
        <p:txBody>
          <a:bodyPr wrap="square">
            <a:spAutoFit/>
          </a:bodyPr>
          <a:lstStyle/>
          <a:p>
            <a:pPr algn="l" rtl="0" fontAlgn="base"/>
            <a:r>
              <a:rPr lang="en-US" sz="1600" b="1">
                <a:solidFill>
                  <a:schemeClr val="accent1"/>
                </a:solidFill>
                <a:latin typeface="Arial" panose="020B0604020202020204" pitchFamily="34" charset="0"/>
                <a:cs typeface="Arial" panose="020B0604020202020204" pitchFamily="34" charset="0"/>
              </a:rPr>
              <a:t>Overview: </a:t>
            </a:r>
          </a:p>
          <a:p>
            <a:pPr algn="l" rtl="0" fontAlgn="base"/>
            <a:endParaRPr lang="en-US" sz="1400">
              <a:solidFill>
                <a:schemeClr val="tx2"/>
              </a:solidFill>
              <a:latin typeface="Arial" panose="020B0604020202020204" pitchFamily="34" charset="0"/>
              <a:cs typeface="Arial" panose="020B0604020202020204" pitchFamily="34" charset="0"/>
            </a:endParaRPr>
          </a:p>
          <a:p>
            <a:pPr algn="l" rtl="0" fontAlgn="base"/>
            <a:r>
              <a:rPr lang="en-US" sz="1400">
                <a:solidFill>
                  <a:schemeClr val="tx2"/>
                </a:solidFill>
                <a:latin typeface="Arial" panose="020B0604020202020204" pitchFamily="34" charset="0"/>
                <a:cs typeface="Arial" panose="020B0604020202020204" pitchFamily="34" charset="0"/>
              </a:rPr>
              <a:t>Several lists require manual updates after generation</a:t>
            </a:r>
          </a:p>
          <a:p>
            <a:pPr algn="l" rtl="0" fontAlgn="base"/>
            <a:endParaRPr lang="en-US" sz="1400">
              <a:solidFill>
                <a:schemeClr val="tx2"/>
              </a:solidFill>
              <a:latin typeface="Arial" panose="020B0604020202020204" pitchFamily="34" charset="0"/>
              <a:cs typeface="Arial" panose="020B0604020202020204" pitchFamily="34" charset="0"/>
            </a:endParaRPr>
          </a:p>
          <a:p>
            <a:pPr algn="l" rtl="0" fontAlgn="base"/>
            <a:r>
              <a:rPr lang="en-US" sz="1600" b="1">
                <a:solidFill>
                  <a:schemeClr val="accent1"/>
                </a:solidFill>
                <a:latin typeface="Arial" panose="020B0604020202020204" pitchFamily="34" charset="0"/>
                <a:cs typeface="Arial" panose="020B0604020202020204" pitchFamily="34" charset="0"/>
              </a:rPr>
              <a:t>Action to take:</a:t>
            </a:r>
          </a:p>
          <a:p>
            <a:pPr algn="l" rtl="0" fontAlgn="base"/>
            <a:endParaRPr lang="en-US" sz="1400" b="0" i="0">
              <a:solidFill>
                <a:schemeClr val="tx2"/>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Planning Measure (both data hub and spoke model)</a:t>
            </a:r>
            <a:r>
              <a:rPr lang="en-US" sz="1400" b="0" i="0">
                <a:solidFill>
                  <a:schemeClr val="tx2"/>
                </a:solidFill>
                <a:effectLst/>
                <a:latin typeface="Arial" panose="020B0604020202020204" pitchFamily="34" charset="0"/>
                <a:cs typeface="Arial" panose="020B0604020202020204" pitchFamily="34" charset="0"/>
              </a:rPr>
              <a:t>​</a:t>
            </a:r>
          </a:p>
          <a:p>
            <a:pPr marL="742950" lvl="1" indent="-28575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Edit Planning Measure list in data hub and spoke to have codes matching your data source file.</a:t>
            </a:r>
            <a:r>
              <a:rPr lang="en-US" sz="1400" b="0" i="0">
                <a:solidFill>
                  <a:schemeClr val="tx2"/>
                </a:solidFill>
                <a:effectLst/>
                <a:latin typeface="Arial" panose="020B0604020202020204" pitchFamily="34" charset="0"/>
                <a:cs typeface="Arial" panose="020B0604020202020204" pitchFamily="34" charset="0"/>
              </a:rPr>
              <a:t>​</a:t>
            </a:r>
          </a:p>
          <a:p>
            <a:pPr marL="742950" lvl="1" indent="-28575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Edit Planning Measure list to NOT have a top member.</a:t>
            </a:r>
            <a:r>
              <a:rPr lang="en-US" sz="1400" b="0" i="0">
                <a:solidFill>
                  <a:schemeClr val="tx2"/>
                </a:solidFill>
                <a:effectLst/>
                <a:latin typeface="Arial" panose="020B0604020202020204" pitchFamily="34" charset="0"/>
                <a:cs typeface="Arial" panose="020B0604020202020204" pitchFamily="34" charset="0"/>
              </a:rPr>
              <a:t>​</a:t>
            </a:r>
          </a:p>
          <a:p>
            <a:pPr lvl="1" fontAlgn="base"/>
            <a:endParaRPr lang="en-US" sz="1400">
              <a:solidFill>
                <a:schemeClr val="tx2"/>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US" sz="1400" b="0" i="0">
                <a:solidFill>
                  <a:schemeClr val="tx2"/>
                </a:solidFill>
                <a:effectLst/>
                <a:latin typeface="Arial" panose="020B0604020202020204" pitchFamily="34" charset="0"/>
                <a:cs typeface="Arial" panose="020B0604020202020204" pitchFamily="34" charset="0"/>
              </a:rPr>
              <a:t>Ramp Periods (spok</a:t>
            </a:r>
            <a:r>
              <a:rPr lang="en-US" sz="1400">
                <a:solidFill>
                  <a:schemeClr val="tx2"/>
                </a:solidFill>
                <a:latin typeface="Arial" panose="020B0604020202020204" pitchFamily="34" charset="0"/>
                <a:cs typeface="Arial" panose="020B0604020202020204" pitchFamily="34" charset="0"/>
              </a:rPr>
              <a:t>e model only)</a:t>
            </a:r>
          </a:p>
          <a:p>
            <a:pPr marL="742950" lvl="1" indent="-285750" fontAlgn="base">
              <a:buFont typeface="Arial" panose="020B0604020202020204" pitchFamily="34" charset="0"/>
              <a:buChar char="•"/>
            </a:pPr>
            <a:r>
              <a:rPr lang="en-US" sz="1400" b="0" i="0">
                <a:solidFill>
                  <a:schemeClr val="tx2"/>
                </a:solidFill>
                <a:effectLst/>
                <a:latin typeface="Arial" panose="020B0604020202020204" pitchFamily="34" charset="0"/>
                <a:cs typeface="Arial" panose="020B0604020202020204" pitchFamily="34" charset="0"/>
              </a:rPr>
              <a:t>Update th</a:t>
            </a:r>
            <a:r>
              <a:rPr lang="en-US" sz="1400">
                <a:solidFill>
                  <a:schemeClr val="tx2"/>
                </a:solidFill>
                <a:latin typeface="Arial" panose="020B0604020202020204" pitchFamily="34" charset="0"/>
                <a:cs typeface="Arial" panose="020B0604020202020204" pitchFamily="34" charset="0"/>
              </a:rPr>
              <a:t>e sort order of the ramp periods (if necessary)</a:t>
            </a:r>
            <a:endParaRPr lang="en-US" sz="1400" b="0" i="0">
              <a:solidFill>
                <a:schemeClr val="tx2"/>
              </a:solidFill>
              <a:effectLst/>
              <a:latin typeface="Arial" panose="020B0604020202020204" pitchFamily="34" charset="0"/>
              <a:cs typeface="Arial" panose="020B0604020202020204" pitchFamily="34" charset="0"/>
            </a:endParaRPr>
          </a:p>
          <a:p>
            <a:pPr lvl="1" fontAlgn="base"/>
            <a:endParaRPr lang="en-US" sz="1400" b="0" i="0">
              <a:solidFill>
                <a:schemeClr val="tx2"/>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For any attributes set as "</a:t>
            </a:r>
            <a:r>
              <a:rPr lang="en-US" sz="1400" b="0" i="0" u="none" strike="noStrike">
                <a:solidFill>
                  <a:schemeClr val="accent1"/>
                </a:solidFill>
                <a:effectLst/>
                <a:latin typeface="Arial" panose="020B0604020202020204" pitchFamily="34" charset="0"/>
                <a:cs typeface="Arial" panose="020B0604020202020204" pitchFamily="34" charset="0"/>
              </a:rPr>
              <a:t>Enable for Validation</a:t>
            </a:r>
            <a:r>
              <a:rPr lang="en-US" sz="1400" b="0" i="0" u="none" strike="noStrike">
                <a:solidFill>
                  <a:schemeClr val="tx2"/>
                </a:solidFill>
                <a:effectLst/>
                <a:latin typeface="Arial" panose="020B0604020202020204" pitchFamily="34" charset="0"/>
                <a:cs typeface="Arial" panose="020B0604020202020204" pitchFamily="34" charset="0"/>
              </a:rPr>
              <a:t>" but not "</a:t>
            </a:r>
            <a:r>
              <a:rPr lang="en-US" sz="1400" b="0" i="0" u="none" strike="noStrike">
                <a:solidFill>
                  <a:schemeClr val="accent1"/>
                </a:solidFill>
                <a:effectLst/>
                <a:latin typeface="Arial" panose="020B0604020202020204" pitchFamily="34" charset="0"/>
                <a:cs typeface="Arial" panose="020B0604020202020204" pitchFamily="34" charset="0"/>
              </a:rPr>
              <a:t>Enable for Auto Create</a:t>
            </a:r>
            <a:r>
              <a:rPr lang="en-US" sz="1400" b="0" i="0" u="none" strike="noStrike">
                <a:solidFill>
                  <a:schemeClr val="tx2"/>
                </a:solidFill>
                <a:effectLst/>
                <a:latin typeface="Arial" panose="020B0604020202020204" pitchFamily="34" charset="0"/>
                <a:cs typeface="Arial" panose="020B0604020202020204" pitchFamily="34" charset="0"/>
              </a:rPr>
              <a:t>" in configurator page "</a:t>
            </a:r>
            <a:r>
              <a:rPr lang="en-US" sz="1400" b="0" i="0" u="none" strike="noStrike">
                <a:solidFill>
                  <a:schemeClr val="accent1"/>
                </a:solidFill>
                <a:effectLst/>
                <a:latin typeface="Arial" panose="020B0604020202020204" pitchFamily="34" charset="0"/>
                <a:cs typeface="Arial" panose="020B0604020202020204" pitchFamily="34" charset="0"/>
              </a:rPr>
              <a:t>1.01 Data Hub Setup</a:t>
            </a:r>
            <a:r>
              <a:rPr lang="en-US" sz="1400" b="0" i="0" u="none" strike="noStrike">
                <a:solidFill>
                  <a:schemeClr val="tx2"/>
                </a:solidFill>
                <a:effectLst/>
                <a:latin typeface="Arial" panose="020B0604020202020204" pitchFamily="34" charset="0"/>
                <a:cs typeface="Arial" panose="020B0604020202020204" pitchFamily="34" charset="0"/>
              </a:rPr>
              <a:t>", you will want to manually add items to that list in data hub. You can do so from the model builder UX, or in a user UX page that uses an add form. Example from template: </a:t>
            </a:r>
            <a:r>
              <a:rPr lang="en-US" sz="1400" b="0" i="0" u="none" strike="noStrike">
                <a:solidFill>
                  <a:schemeClr val="accent1"/>
                </a:solidFill>
                <a:effectLst/>
                <a:latin typeface="Arial" panose="020B0604020202020204" pitchFamily="34" charset="0"/>
                <a:cs typeface="Arial" panose="020B0604020202020204" pitchFamily="34" charset="0"/>
              </a:rPr>
              <a:t>Account Type</a:t>
            </a:r>
            <a:r>
              <a:rPr lang="en-US" sz="1400" b="0" i="0" u="none" strike="noStrike">
                <a:solidFill>
                  <a:schemeClr val="tx2"/>
                </a:solidFill>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6947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2" name="Title 67">
            <a:extLst>
              <a:ext uri="{FF2B5EF4-FFF2-40B4-BE49-F238E27FC236}">
                <a16:creationId xmlns:a16="http://schemas.microsoft.com/office/drawing/2014/main" id="{2ACDF19F-5FF3-AAED-673E-54D1610FACBE}"/>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GB">
                <a:solidFill>
                  <a:schemeClr val="tx2"/>
                </a:solidFill>
              </a:rPr>
              <a:t>Required list member additions</a:t>
            </a:r>
            <a:endParaRPr lang="en-GB" sz="3200" b="0">
              <a:solidFill>
                <a:schemeClr val="tx2"/>
              </a:solidFill>
            </a:endParaRPr>
          </a:p>
        </p:txBody>
      </p:sp>
      <p:sp>
        <p:nvSpPr>
          <p:cNvPr id="9" name="TextBox 8">
            <a:extLst>
              <a:ext uri="{FF2B5EF4-FFF2-40B4-BE49-F238E27FC236}">
                <a16:creationId xmlns:a16="http://schemas.microsoft.com/office/drawing/2014/main" id="{18EAC6FA-EEDF-1B39-08D4-BB5F3BFCD08B}"/>
              </a:ext>
            </a:extLst>
          </p:cNvPr>
          <p:cNvSpPr txBox="1"/>
          <p:nvPr/>
        </p:nvSpPr>
        <p:spPr>
          <a:xfrm>
            <a:off x="615102" y="990023"/>
            <a:ext cx="10740470" cy="2954655"/>
          </a:xfrm>
          <a:prstGeom prst="rect">
            <a:avLst/>
          </a:prstGeom>
          <a:noFill/>
        </p:spPr>
        <p:txBody>
          <a:bodyPr wrap="square">
            <a:spAutoFit/>
          </a:bodyPr>
          <a:lstStyle/>
          <a:p>
            <a:pPr algn="l" rtl="0" fontAlgn="base"/>
            <a:r>
              <a:rPr lang="en-US" sz="1600" b="1">
                <a:solidFill>
                  <a:schemeClr val="accent1"/>
                </a:solidFill>
                <a:latin typeface="Arial" panose="020B0604020202020204" pitchFamily="34" charset="0"/>
                <a:cs typeface="Arial" panose="020B0604020202020204" pitchFamily="34" charset="0"/>
              </a:rPr>
              <a:t>Overview: </a:t>
            </a:r>
          </a:p>
          <a:p>
            <a:pPr algn="l" rtl="0" fontAlgn="base"/>
            <a:endParaRPr lang="en-US" sz="1400">
              <a:solidFill>
                <a:schemeClr val="tx2"/>
              </a:solidFill>
              <a:latin typeface="Arial" panose="020B0604020202020204" pitchFamily="34" charset="0"/>
              <a:cs typeface="Arial" panose="020B0604020202020204" pitchFamily="34" charset="0"/>
            </a:endParaRPr>
          </a:p>
          <a:p>
            <a:pPr algn="l" rtl="0" fontAlgn="base"/>
            <a:r>
              <a:rPr lang="en-US" sz="1400">
                <a:solidFill>
                  <a:schemeClr val="tx2"/>
                </a:solidFill>
                <a:latin typeface="Arial" panose="020B0604020202020204" pitchFamily="34" charset="0"/>
                <a:cs typeface="Arial" panose="020B0604020202020204" pitchFamily="34" charset="0"/>
              </a:rPr>
              <a:t>Several lists require manual additions to list members after generation</a:t>
            </a:r>
          </a:p>
          <a:p>
            <a:pPr algn="l" rtl="0" fontAlgn="base"/>
            <a:endParaRPr lang="en-US" sz="1400">
              <a:solidFill>
                <a:schemeClr val="tx2"/>
              </a:solidFill>
              <a:latin typeface="Arial" panose="020B0604020202020204" pitchFamily="34" charset="0"/>
              <a:cs typeface="Arial" panose="020B0604020202020204" pitchFamily="34" charset="0"/>
            </a:endParaRPr>
          </a:p>
          <a:p>
            <a:pPr algn="l" rtl="0" fontAlgn="base"/>
            <a:r>
              <a:rPr lang="en-US" sz="1600" b="1">
                <a:solidFill>
                  <a:schemeClr val="accent1"/>
                </a:solidFill>
                <a:latin typeface="Arial" panose="020B0604020202020204" pitchFamily="34" charset="0"/>
                <a:cs typeface="Arial" panose="020B0604020202020204" pitchFamily="34" charset="0"/>
              </a:rPr>
              <a:t>Action to take:</a:t>
            </a:r>
          </a:p>
          <a:p>
            <a:pPr lvl="1" fontAlgn="base"/>
            <a:endParaRPr lang="en-US" sz="1400" b="0" i="0">
              <a:solidFill>
                <a:schemeClr val="tx2"/>
              </a:solidFill>
              <a:effectLst/>
              <a:latin typeface="Arial" panose="020B0604020202020204" pitchFamily="34" charset="0"/>
              <a:cs typeface="Arial" panose="020B0604020202020204" pitchFamily="34" charset="0"/>
            </a:endParaRPr>
          </a:p>
          <a:p>
            <a:pPr marL="285750" indent="-285750" algn="l" rtl="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Quota Types (spoke model only)</a:t>
            </a:r>
            <a:r>
              <a:rPr lang="en-US" sz="1400" b="0" i="0">
                <a:solidFill>
                  <a:schemeClr val="tx2"/>
                </a:solidFill>
                <a:effectLst/>
                <a:latin typeface="Arial" panose="020B0604020202020204" pitchFamily="34" charset="0"/>
                <a:cs typeface="Arial" panose="020B0604020202020204" pitchFamily="34" charset="0"/>
              </a:rPr>
              <a:t>​</a:t>
            </a:r>
          </a:p>
          <a:p>
            <a:pPr marL="742950" lvl="1" indent="-285750" fontAlgn="base">
              <a:buFont typeface="Arial" panose="020B0604020202020204" pitchFamily="34" charset="0"/>
              <a:buChar char="•"/>
            </a:pPr>
            <a:r>
              <a:rPr lang="en-US" sz="1400" b="0" i="0" u="none" strike="noStrike">
                <a:solidFill>
                  <a:schemeClr val="tx2"/>
                </a:solidFill>
                <a:effectLst/>
                <a:latin typeface="Arial" panose="020B0604020202020204" pitchFamily="34" charset="0"/>
                <a:cs typeface="Arial" panose="020B0604020202020204" pitchFamily="34" charset="0"/>
              </a:rPr>
              <a:t>Add more quota types, if necessary, in your development model and ALM to the production model.</a:t>
            </a:r>
          </a:p>
          <a:p>
            <a:pPr marL="285750" indent="-285750" fontAlgn="base">
              <a:buFont typeface="Arial" panose="020B0604020202020204" pitchFamily="34" charset="0"/>
              <a:buChar char="•"/>
            </a:pPr>
            <a:endParaRPr lang="en-US" sz="1400">
              <a:solidFill>
                <a:schemeClr val="tx2"/>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US" sz="1400" b="0" i="0">
                <a:solidFill>
                  <a:schemeClr val="tx2"/>
                </a:solidFill>
                <a:effectLst/>
                <a:latin typeface="Arial" panose="020B0604020202020204" pitchFamily="34" charset="0"/>
                <a:cs typeface="Arial" panose="020B0604020202020204" pitchFamily="34" charset="0"/>
              </a:rPr>
              <a:t>​Row List (spoke only)</a:t>
            </a:r>
          </a:p>
          <a:p>
            <a:pPr marL="742950" lvl="1" indent="-285750" fontAlgn="base">
              <a:buFont typeface="Arial" panose="020B0604020202020204" pitchFamily="34" charset="0"/>
              <a:buChar char="•"/>
            </a:pPr>
            <a:r>
              <a:rPr lang="en-US" sz="1400">
                <a:solidFill>
                  <a:schemeClr val="tx2"/>
                </a:solidFill>
                <a:latin typeface="Arial" panose="020B0604020202020204" pitchFamily="34" charset="0"/>
                <a:cs typeface="Arial" panose="020B0604020202020204" pitchFamily="34" charset="0"/>
              </a:rPr>
              <a:t>Add list members in the model builder </a:t>
            </a:r>
            <a:r>
              <a:rPr lang="en-US" sz="1400" err="1">
                <a:solidFill>
                  <a:schemeClr val="tx2"/>
                </a:solidFill>
                <a:latin typeface="Arial" panose="020B0604020202020204" pitchFamily="34" charset="0"/>
                <a:cs typeface="Arial" panose="020B0604020202020204" pitchFamily="34" charset="0"/>
              </a:rPr>
              <a:t>ux</a:t>
            </a:r>
            <a:r>
              <a:rPr lang="en-US" sz="1400">
                <a:solidFill>
                  <a:schemeClr val="tx2"/>
                </a:solidFill>
                <a:latin typeface="Arial" panose="020B0604020202020204" pitchFamily="34" charset="0"/>
                <a:cs typeface="Arial" panose="020B0604020202020204" pitchFamily="34" charset="0"/>
              </a:rPr>
              <a:t> so there are 1,000 total list members</a:t>
            </a:r>
          </a:p>
          <a:p>
            <a:pPr marL="742950" lvl="1" indent="-285750" fontAlgn="base">
              <a:buFont typeface="Arial" panose="020B0604020202020204" pitchFamily="34" charset="0"/>
              <a:buChar char="•"/>
            </a:pPr>
            <a:r>
              <a:rPr lang="en-US" sz="1400" b="0" i="0">
                <a:solidFill>
                  <a:schemeClr val="tx2"/>
                </a:solidFill>
                <a:effectLst/>
                <a:latin typeface="Arial" panose="020B0604020202020204" pitchFamily="34" charset="0"/>
                <a:cs typeface="Arial" panose="020B0604020202020204" pitchFamily="34" charset="0"/>
              </a:rPr>
              <a:t>Ensure that numbers 1 – 15 are included in the ROW &gt; 15 Subset</a:t>
            </a:r>
          </a:p>
          <a:p>
            <a:pPr lvl="1" fontAlgn="base"/>
            <a:endParaRPr lang="en-US" sz="1400" b="0" i="0">
              <a:solidFill>
                <a:schemeClr val="tx2"/>
              </a:solidFill>
              <a:effectLst/>
              <a:latin typeface="Arial" panose="020B0604020202020204" pitchFamily="34" charset="0"/>
              <a:cs typeface="Arial" panose="020B0604020202020204" pitchFamily="34" charset="0"/>
            </a:endParaRPr>
          </a:p>
        </p:txBody>
      </p:sp>
      <p:pic>
        <p:nvPicPr>
          <p:cNvPr id="25602" name="Picture 2">
            <a:extLst>
              <a:ext uri="{FF2B5EF4-FFF2-40B4-BE49-F238E27FC236}">
                <a16:creationId xmlns:a16="http://schemas.microsoft.com/office/drawing/2014/main" id="{F51040B1-E61C-A67D-7B07-CAAADAF47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886" y="3944678"/>
            <a:ext cx="5324902" cy="2652050"/>
          </a:xfrm>
          <a:prstGeom prst="roundRect">
            <a:avLst>
              <a:gd name="adj" fmla="val 5441"/>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725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Initial model loads &amp; setup</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B2FBF340-16A7-F0B9-7665-77B790216613}"/>
              </a:ext>
            </a:extLst>
          </p:cNvPr>
          <p:cNvSpPr txBox="1">
            <a:spLocks/>
          </p:cNvSpPr>
          <p:nvPr/>
        </p:nvSpPr>
        <p:spPr>
          <a:xfrm>
            <a:off x="615102" y="1113133"/>
            <a:ext cx="4824543" cy="456465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Gather data files </a:t>
            </a:r>
            <a:endParaRPr lang="en-US" sz="1600" b="1">
              <a:solidFill>
                <a:srgbClr val="FF721C"/>
              </a:solidFill>
            </a:endParaRPr>
          </a:p>
          <a:p>
            <a:pPr marL="800100" lvl="1" indent="-285750"/>
            <a:r>
              <a:rPr lang="en-US" sz="1400">
                <a:latin typeface="Arial"/>
                <a:ea typeface="Verdana"/>
                <a:cs typeface="Arial"/>
              </a:rPr>
              <a:t>List data for territory, account, product, employees</a:t>
            </a:r>
          </a:p>
          <a:p>
            <a:pPr marL="800100" lvl="1" indent="-285750"/>
            <a:r>
              <a:rPr lang="en-US" sz="1400">
                <a:latin typeface="Arial"/>
                <a:ea typeface="Verdana"/>
                <a:cs typeface="Arial"/>
              </a:rPr>
              <a:t>Include transactional data for sales and opportunities </a:t>
            </a:r>
            <a:br>
              <a:rPr lang="en-US" sz="1400">
                <a:latin typeface="Arial"/>
                <a:ea typeface="Verdana"/>
                <a:cs typeface="Arial"/>
              </a:rPr>
            </a:br>
            <a:endParaRPr lang="en-US" sz="1400">
              <a:cs typeface="Arial"/>
            </a:endParaRPr>
          </a:p>
          <a:p>
            <a:pPr marL="38100" indent="0">
              <a:buNone/>
            </a:pPr>
            <a:r>
              <a:rPr lang="en-US" sz="1600" b="1">
                <a:solidFill>
                  <a:srgbClr val="FF721C"/>
                </a:solidFill>
                <a:latin typeface="Arial"/>
                <a:ea typeface="Verdana"/>
                <a:cs typeface="Arial"/>
              </a:rPr>
              <a:t>Method 1 for loading data:</a:t>
            </a:r>
          </a:p>
          <a:p>
            <a:pPr marL="838200" lvl="1" indent="-190500"/>
            <a:r>
              <a:rPr lang="en-US" sz="1400">
                <a:latin typeface="Arial"/>
                <a:ea typeface="Verdana"/>
                <a:cs typeface="Arial"/>
              </a:rPr>
              <a:t>Publish each data hub process "&lt;list&gt;_</a:t>
            </a:r>
            <a:r>
              <a:rPr lang="en-US" sz="1400" err="1">
                <a:latin typeface="Arial"/>
                <a:ea typeface="Verdana"/>
                <a:cs typeface="Arial"/>
              </a:rPr>
              <a:t>from_Files</a:t>
            </a:r>
            <a:r>
              <a:rPr lang="en-US" sz="1400">
                <a:latin typeface="Arial"/>
                <a:ea typeface="Verdana"/>
                <a:cs typeface="Arial"/>
              </a:rPr>
              <a:t>" to a classic dashboard; this way you can test each set of imports independently. Make sure you have them in logical order.</a:t>
            </a:r>
            <a:br>
              <a:rPr lang="en-US" sz="1400">
                <a:latin typeface="Arial"/>
                <a:ea typeface="Verdana"/>
                <a:cs typeface="Arial"/>
              </a:rPr>
            </a:br>
            <a:endParaRPr lang="en-US" sz="1400"/>
          </a:p>
          <a:p>
            <a:pPr marL="0" indent="0">
              <a:buNone/>
            </a:pPr>
            <a:r>
              <a:rPr lang="en-US" sz="1600" b="1">
                <a:solidFill>
                  <a:srgbClr val="FF721C"/>
                </a:solidFill>
                <a:latin typeface="Arial"/>
                <a:ea typeface="Verdana"/>
                <a:cs typeface="Arial"/>
              </a:rPr>
              <a:t>Method 2 for loading data: </a:t>
            </a:r>
            <a:endParaRPr lang="en-US" sz="1600" b="1">
              <a:solidFill>
                <a:srgbClr val="FF721C"/>
              </a:solidFill>
            </a:endParaRPr>
          </a:p>
          <a:p>
            <a:pPr marL="800100" lvl="1" indent="-285750"/>
            <a:r>
              <a:rPr lang="en-US" sz="1400">
                <a:latin typeface="Arial"/>
                <a:ea typeface="Verdana"/>
                <a:cs typeface="Arial"/>
              </a:rPr>
              <a:t>Publish process "import from template" in data hub to a classic dashboard (* new customers do not have classic dashboards enabled)</a:t>
            </a:r>
          </a:p>
          <a:p>
            <a:pPr marL="800100" lvl="1" indent="-285750"/>
            <a:endParaRPr lang="en-US" sz="1400">
              <a:latin typeface="Arial"/>
              <a:ea typeface="Verdana"/>
              <a:cs typeface="Arial"/>
            </a:endParaRPr>
          </a:p>
          <a:p>
            <a:pPr marL="0" lvl="1" indent="0">
              <a:buNone/>
            </a:pPr>
            <a:r>
              <a:rPr lang="en-US" sz="1600" b="1">
                <a:solidFill>
                  <a:srgbClr val="FF721C"/>
                </a:solidFill>
                <a:latin typeface="Arial"/>
                <a:ea typeface="Verdana"/>
                <a:cs typeface="Arial"/>
              </a:rPr>
              <a:t>Either method:</a:t>
            </a:r>
          </a:p>
          <a:p>
            <a:pPr marL="800100" lvl="1" indent="-285750"/>
            <a:r>
              <a:rPr lang="en-US" sz="1400">
                <a:latin typeface="Arial"/>
                <a:ea typeface="Verdana"/>
                <a:cs typeface="Arial"/>
              </a:rPr>
              <a:t>Run the data hub imports and validate saved views in the data by/attribute by modules</a:t>
            </a:r>
          </a:p>
          <a:p>
            <a:pPr marL="800100" lvl="1" indent="-285750"/>
            <a:endParaRPr lang="en-US" sz="1400">
              <a:latin typeface="Arial"/>
              <a:ea typeface="Verdana"/>
              <a:cs typeface="Arial"/>
            </a:endParaRPr>
          </a:p>
          <a:p>
            <a:pPr marL="800100" lvl="1" indent="-285750"/>
            <a:r>
              <a:rPr lang="en-US" sz="1400">
                <a:latin typeface="Arial"/>
                <a:ea typeface="Verdana"/>
                <a:cs typeface="Arial"/>
              </a:rPr>
              <a:t>Load data to spoke T&amp;Q model with process </a:t>
            </a:r>
            <a:r>
              <a:rPr lang="en-US" sz="1400" err="1">
                <a:latin typeface="Arial"/>
                <a:ea typeface="Verdana"/>
                <a:cs typeface="Arial"/>
              </a:rPr>
              <a:t>Load_All_Lists_and_Data_from_HUB</a:t>
            </a:r>
            <a:endParaRPr lang="en-US" sz="1400">
              <a:latin typeface="Arial"/>
              <a:ea typeface="Verdana"/>
              <a:cs typeface="Arial"/>
            </a:endParaRPr>
          </a:p>
          <a:p>
            <a:pPr marL="800100" lvl="1" indent="-285750"/>
            <a:endParaRPr lang="en-US" sz="1400">
              <a:latin typeface="Arial"/>
              <a:ea typeface="Verdana"/>
              <a:cs typeface="Arial"/>
            </a:endParaRPr>
          </a:p>
          <a:p>
            <a:pPr marL="0" lvl="1" indent="0">
              <a:buNone/>
            </a:pPr>
            <a:endParaRPr lang="en-US" sz="1600" b="1">
              <a:solidFill>
                <a:srgbClr val="FF721C"/>
              </a:solidFill>
              <a:latin typeface="Arial"/>
              <a:ea typeface="Verdana"/>
              <a:cs typeface="Arial"/>
            </a:endParaRPr>
          </a:p>
          <a:p>
            <a:pPr marL="800100" lvl="1" indent="-285750"/>
            <a:endParaRPr lang="en-US" sz="1400">
              <a:latin typeface="Arial"/>
              <a:ea typeface="Verdana"/>
              <a:cs typeface="Arial"/>
            </a:endParaRPr>
          </a:p>
        </p:txBody>
      </p:sp>
      <p:sp>
        <p:nvSpPr>
          <p:cNvPr id="4" name="Content Placeholder 2">
            <a:extLst>
              <a:ext uri="{FF2B5EF4-FFF2-40B4-BE49-F238E27FC236}">
                <a16:creationId xmlns:a16="http://schemas.microsoft.com/office/drawing/2014/main" id="{8D7D3FF7-B31C-5B02-3B6B-61D7403F2F48}"/>
              </a:ext>
            </a:extLst>
          </p:cNvPr>
          <p:cNvSpPr txBox="1">
            <a:spLocks/>
          </p:cNvSpPr>
          <p:nvPr/>
        </p:nvSpPr>
        <p:spPr>
          <a:xfrm>
            <a:off x="615102" y="5237660"/>
            <a:ext cx="4550285" cy="1620340"/>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latin typeface="Arial"/>
              <a:ea typeface="Verdana"/>
              <a:cs typeface="Arial"/>
            </a:endParaRPr>
          </a:p>
        </p:txBody>
      </p:sp>
      <p:pic>
        <p:nvPicPr>
          <p:cNvPr id="7" name="Picture 6" descr="A screenshot of a data hub&#10;&#10;Description automatically generated">
            <a:extLst>
              <a:ext uri="{FF2B5EF4-FFF2-40B4-BE49-F238E27FC236}">
                <a16:creationId xmlns:a16="http://schemas.microsoft.com/office/drawing/2014/main" id="{DF8FEC4E-7E63-A616-3F2E-23BD3880EB07}"/>
              </a:ext>
            </a:extLst>
          </p:cNvPr>
          <p:cNvPicPr>
            <a:picLocks noChangeAspect="1"/>
          </p:cNvPicPr>
          <p:nvPr/>
        </p:nvPicPr>
        <p:blipFill>
          <a:blip r:embed="rId2"/>
          <a:stretch>
            <a:fillRect/>
          </a:stretch>
        </p:blipFill>
        <p:spPr>
          <a:xfrm>
            <a:off x="6347707" y="1671147"/>
            <a:ext cx="4901818" cy="3758414"/>
          </a:xfrm>
          <a:prstGeom prst="roundRect">
            <a:avLst>
              <a:gd name="adj" fmla="val 2568"/>
            </a:avLst>
          </a:prstGeom>
        </p:spPr>
      </p:pic>
    </p:spTree>
    <p:extLst>
      <p:ext uri="{BB962C8B-B14F-4D97-AF65-F5344CB8AC3E}">
        <p14:creationId xmlns:p14="http://schemas.microsoft.com/office/powerpoint/2010/main" val="393294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7">
            <a:extLst>
              <a:ext uri="{FF2B5EF4-FFF2-40B4-BE49-F238E27FC236}">
                <a16:creationId xmlns:a16="http://schemas.microsoft.com/office/drawing/2014/main" id="{31FA2D04-AA0F-73FB-D7D3-03FFAD1F1FA9}"/>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rPr>
              <a:t>More data setup</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Content Placeholder 2">
            <a:extLst>
              <a:ext uri="{FF2B5EF4-FFF2-40B4-BE49-F238E27FC236}">
                <a16:creationId xmlns:a16="http://schemas.microsoft.com/office/drawing/2014/main" id="{B2FBF340-16A7-F0B9-7665-77B790216613}"/>
              </a:ext>
            </a:extLst>
          </p:cNvPr>
          <p:cNvSpPr txBox="1">
            <a:spLocks/>
          </p:cNvSpPr>
          <p:nvPr/>
        </p:nvSpPr>
        <p:spPr>
          <a:xfrm>
            <a:off x="615102" y="1492511"/>
            <a:ext cx="5085307" cy="48888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a:solidFill>
                  <a:srgbClr val="FF721C"/>
                </a:solidFill>
                <a:latin typeface="Arial"/>
                <a:ea typeface="Verdana"/>
                <a:cs typeface="Arial"/>
              </a:rPr>
              <a:t>Category 13. Model Setup and Assumptions.</a:t>
            </a:r>
            <a:br>
              <a:rPr lang="en-US" sz="1800" b="1">
                <a:solidFill>
                  <a:srgbClr val="FF721C"/>
                </a:solidFill>
                <a:latin typeface="Arial"/>
                <a:ea typeface="Verdana"/>
                <a:cs typeface="Arial"/>
              </a:rPr>
            </a:br>
            <a:r>
              <a:rPr lang="en-US" sz="1400" b="1">
                <a:latin typeface="Arial"/>
                <a:ea typeface="Verdana"/>
                <a:cs typeface="Arial"/>
              </a:rPr>
              <a:t>The values entered will vary from customer to customer.  All inputs in dashboards should be filled in:</a:t>
            </a:r>
          </a:p>
          <a:p>
            <a:pPr marL="0" indent="0">
              <a:buNone/>
            </a:pPr>
            <a:endParaRPr lang="en-US" sz="1800" b="1">
              <a:solidFill>
                <a:srgbClr val="FF721C"/>
              </a:solidFill>
              <a:latin typeface="Arial"/>
              <a:ea typeface="Verdana"/>
              <a:cs typeface="Arial"/>
            </a:endParaRPr>
          </a:p>
          <a:p>
            <a:pPr marL="800100" lvl="1" indent="-285750"/>
            <a:r>
              <a:rPr lang="en-US" sz="1400" b="1">
                <a:latin typeface="Arial"/>
                <a:ea typeface="Verdana"/>
                <a:cs typeface="Arial"/>
              </a:rPr>
              <a:t>Map Setup </a:t>
            </a:r>
            <a:r>
              <a:rPr lang="en-US" sz="1400">
                <a:latin typeface="Arial"/>
                <a:ea typeface="Verdana"/>
                <a:cs typeface="Arial"/>
              </a:rPr>
              <a:t>– used to visualize countries and states based on territory association</a:t>
            </a:r>
          </a:p>
          <a:p>
            <a:pPr marL="800100" lvl="1" indent="-285750"/>
            <a:endParaRPr lang="en-US" sz="1400">
              <a:latin typeface="Arial"/>
              <a:ea typeface="Verdana"/>
              <a:cs typeface="Arial"/>
            </a:endParaRPr>
          </a:p>
          <a:p>
            <a:pPr marL="800100" lvl="1" indent="-285750"/>
            <a:r>
              <a:rPr lang="en-US" sz="1400" b="1">
                <a:latin typeface="Arial"/>
                <a:ea typeface="Verdana"/>
                <a:cs typeface="Arial"/>
              </a:rPr>
              <a:t>Model Assumptions and Inputs </a:t>
            </a:r>
            <a:r>
              <a:rPr lang="en-US" sz="1400">
                <a:latin typeface="Arial"/>
                <a:ea typeface="Verdana"/>
                <a:cs typeface="Arial"/>
              </a:rPr>
              <a:t>– used for setting up current period, quota method, sales roles, ramp profiles, quotas, approvals, etc. </a:t>
            </a:r>
          </a:p>
          <a:p>
            <a:pPr marL="800100" lvl="1" indent="-285750"/>
            <a:endParaRPr lang="en-US" sz="1400">
              <a:latin typeface="Arial"/>
              <a:ea typeface="Verdana"/>
              <a:cs typeface="Arial"/>
            </a:endParaRPr>
          </a:p>
          <a:p>
            <a:pPr marL="800100" lvl="1" indent="-285750"/>
            <a:r>
              <a:rPr lang="en-US" sz="1400" b="1">
                <a:latin typeface="Arial"/>
                <a:ea typeface="Verdana"/>
                <a:cs typeface="Arial"/>
              </a:rPr>
              <a:t>Seasonality Assumptions </a:t>
            </a:r>
            <a:r>
              <a:rPr lang="en-US" sz="1400">
                <a:latin typeface="Arial"/>
                <a:ea typeface="Verdana"/>
                <a:cs typeface="Arial"/>
              </a:rPr>
              <a:t>– used to allocate data from quarters to month </a:t>
            </a:r>
          </a:p>
          <a:p>
            <a:pPr marL="800100" lvl="1" indent="-285750"/>
            <a:endParaRPr lang="en-US" sz="1400">
              <a:latin typeface="Arial"/>
              <a:ea typeface="Verdana"/>
              <a:cs typeface="Arial"/>
            </a:endParaRPr>
          </a:p>
          <a:p>
            <a:pPr marL="0" indent="0">
              <a:buNone/>
            </a:pPr>
            <a:r>
              <a:rPr lang="en-US" sz="1600" b="1">
                <a:solidFill>
                  <a:srgbClr val="FF721C"/>
                </a:solidFill>
                <a:latin typeface="Arial"/>
                <a:ea typeface="Verdana"/>
                <a:cs typeface="Arial"/>
              </a:rPr>
              <a:t>Category 13.Role-based Quota Setup</a:t>
            </a:r>
            <a:r>
              <a:rPr lang="en-US"/>
              <a:t>. </a:t>
            </a:r>
          </a:p>
          <a:p>
            <a:pPr marL="0" indent="0">
              <a:spcBef>
                <a:spcPts val="0"/>
              </a:spcBef>
              <a:buNone/>
            </a:pPr>
            <a:endParaRPr lang="en-US" sz="1400"/>
          </a:p>
          <a:p>
            <a:pPr lvl="1"/>
            <a:r>
              <a:rPr lang="en-US" sz="1400" b="1">
                <a:latin typeface="Arial"/>
                <a:ea typeface="Verdana"/>
                <a:cs typeface="Arial"/>
              </a:rPr>
              <a:t>Role-based quota </a:t>
            </a:r>
            <a:r>
              <a:rPr lang="en-US" sz="1400">
                <a:latin typeface="Arial"/>
                <a:ea typeface="Verdana"/>
                <a:cs typeface="Arial"/>
              </a:rPr>
              <a:t>– If using, control it from here.</a:t>
            </a:r>
          </a:p>
        </p:txBody>
      </p:sp>
      <p:sp>
        <p:nvSpPr>
          <p:cNvPr id="2" name="Content Placeholder 2">
            <a:extLst>
              <a:ext uri="{FF2B5EF4-FFF2-40B4-BE49-F238E27FC236}">
                <a16:creationId xmlns:a16="http://schemas.microsoft.com/office/drawing/2014/main" id="{7AE07741-A919-8E7B-C589-5507F893E049}"/>
              </a:ext>
            </a:extLst>
          </p:cNvPr>
          <p:cNvSpPr txBox="1">
            <a:spLocks/>
          </p:cNvSpPr>
          <p:nvPr/>
        </p:nvSpPr>
        <p:spPr>
          <a:xfrm>
            <a:off x="6179324" y="1492511"/>
            <a:ext cx="4696199" cy="4888833"/>
          </a:xfrm>
          <a:prstGeom prst="rect">
            <a:avLst/>
          </a:prstGeom>
        </p:spPr>
        <p:txBody>
          <a:bodyPr lIns="0" tIns="45720" rIns="0" bIns="45720" anchor="t"/>
          <a:lstStyle>
            <a:lvl1pPr marL="232828" indent="-232828"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lgn="l" defTabSz="914400" rtl="0" eaLnBrk="1" latinLnBrk="0" hangingPunct="1">
              <a:spcBef>
                <a:spcPct val="20000"/>
              </a:spcBef>
              <a:buClrTx/>
              <a:buFont typeface="Arial"/>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lgn="l" defTabSz="914400" rtl="0" eaLnBrk="1" latinLnBrk="0" hangingPunct="1">
              <a:spcBef>
                <a:spcPct val="20000"/>
              </a:spcBef>
              <a:buClrTx/>
              <a:buFont typeface="Arial" panose="020B0604020202020204" pitchFamily="34" charset="0"/>
              <a:buChar char="•"/>
              <a:tabLst/>
              <a:defRPr sz="2133" b="0" i="0" kern="1200">
                <a:solidFill>
                  <a:schemeClr val="tx1"/>
                </a:solidFill>
                <a:latin typeface="Arial" panose="020B0604020202020204" pitchFamily="34" charset="0"/>
                <a:ea typeface="Inter Light" panose="02000503000000020004" pitchFamily="2" charset="0"/>
                <a:cs typeface="Gotham Book" pitchFamily="2" charset="0"/>
              </a:defRPr>
            </a:lvl3pPr>
            <a:lvl4pPr marL="16002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133"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1">
                <a:solidFill>
                  <a:srgbClr val="FF721C"/>
                </a:solidFill>
                <a:latin typeface="Arial"/>
                <a:ea typeface="Verdana"/>
                <a:cs typeface="Arial"/>
              </a:rPr>
              <a:t>Category 02. Historical Sales and Account Value.</a:t>
            </a:r>
            <a:br>
              <a:rPr lang="en-US" sz="1600" b="1">
                <a:latin typeface="Arial"/>
                <a:ea typeface="Verdana"/>
                <a:cs typeface="Arial"/>
              </a:rPr>
            </a:br>
            <a:r>
              <a:rPr lang="en-US" sz="1400" b="1">
                <a:latin typeface="Arial"/>
                <a:ea typeface="Verdana"/>
                <a:cs typeface="Arial"/>
              </a:rPr>
              <a:t>To ensure potential spend is calculated, you will need to take the following actions: </a:t>
            </a:r>
          </a:p>
          <a:p>
            <a:pPr lvl="1"/>
            <a:r>
              <a:rPr lang="en-US" sz="1400" b="1">
                <a:latin typeface="Arial"/>
                <a:ea typeface="Verdana"/>
                <a:cs typeface="Arial"/>
              </a:rPr>
              <a:t>Page </a:t>
            </a:r>
            <a:r>
              <a:rPr lang="en-US" sz="1400" b="1">
                <a:solidFill>
                  <a:schemeClr val="accent1"/>
                </a:solidFill>
                <a:latin typeface="Arial"/>
                <a:ea typeface="Verdana"/>
                <a:cs typeface="Arial"/>
              </a:rPr>
              <a:t>2.3 </a:t>
            </a:r>
            <a:r>
              <a:rPr lang="en-US" sz="1400" b="1">
                <a:solidFill>
                  <a:srgbClr val="FF721C"/>
                </a:solidFill>
                <a:latin typeface="Arial"/>
                <a:ea typeface="Verdana"/>
                <a:cs typeface="Arial"/>
              </a:rPr>
              <a:t>Set and Score Potential Account Value &amp; Override Segment. </a:t>
            </a:r>
            <a:r>
              <a:rPr lang="en-US" sz="1400">
                <a:latin typeface="Arial"/>
                <a:ea typeface="Verdana"/>
                <a:cs typeface="Arial"/>
              </a:rPr>
              <a:t>Update the default assumptions in the </a:t>
            </a:r>
            <a:r>
              <a:rPr lang="en-US" sz="1400" b="1">
                <a:latin typeface="Arial"/>
                <a:ea typeface="Verdana"/>
                <a:cs typeface="Arial"/>
              </a:rPr>
              <a:t>Additional Insights </a:t>
            </a:r>
            <a:r>
              <a:rPr lang="en-US" sz="1400">
                <a:latin typeface="Arial"/>
                <a:ea typeface="Verdana"/>
                <a:cs typeface="Arial"/>
              </a:rPr>
              <a:t>panel</a:t>
            </a:r>
          </a:p>
          <a:p>
            <a:pPr lvl="1"/>
            <a:r>
              <a:rPr lang="en-US" sz="1400" b="1">
                <a:latin typeface="Arial"/>
                <a:ea typeface="Verdana"/>
                <a:cs typeface="Arial"/>
              </a:rPr>
              <a:t>Page </a:t>
            </a:r>
            <a:r>
              <a:rPr lang="en-US" sz="1400" b="1">
                <a:solidFill>
                  <a:schemeClr val="accent1"/>
                </a:solidFill>
                <a:latin typeface="Arial"/>
                <a:ea typeface="Verdana"/>
                <a:cs typeface="Arial"/>
              </a:rPr>
              <a:t>2.2 Import Addressable Market. </a:t>
            </a:r>
            <a:r>
              <a:rPr lang="en-US" sz="1400">
                <a:latin typeface="Arial"/>
                <a:ea typeface="Verdana"/>
                <a:cs typeface="Arial"/>
              </a:rPr>
              <a:t>Load addressable market data</a:t>
            </a:r>
            <a:endParaRPr lang="en-US" sz="1400">
              <a:solidFill>
                <a:srgbClr val="FF721C"/>
              </a:solidFill>
              <a:latin typeface="Arial"/>
              <a:ea typeface="Verdana"/>
              <a:cs typeface="Arial"/>
            </a:endParaRPr>
          </a:p>
          <a:p>
            <a:endParaRPr lang="en-US" sz="1400" b="1">
              <a:solidFill>
                <a:srgbClr val="FF721C"/>
              </a:solidFill>
              <a:latin typeface="Arial"/>
              <a:ea typeface="Verdana"/>
              <a:cs typeface="Arial"/>
            </a:endParaRPr>
          </a:p>
          <a:p>
            <a:pPr marL="228600" indent="-228600">
              <a:buNone/>
            </a:pPr>
            <a:r>
              <a:rPr lang="en-US" sz="1400" b="1">
                <a:latin typeface="Arial"/>
                <a:ea typeface="Verdana"/>
                <a:cs typeface="Arial"/>
              </a:rPr>
              <a:t>. </a:t>
            </a:r>
            <a:endParaRPr lang="en-US" sz="1800" b="1">
              <a:solidFill>
                <a:srgbClr val="FF721C"/>
              </a:solidFill>
              <a:latin typeface="Arial"/>
              <a:ea typeface="Verdana"/>
              <a:cs typeface="Arial"/>
            </a:endParaRPr>
          </a:p>
        </p:txBody>
      </p:sp>
    </p:spTree>
    <p:extLst>
      <p:ext uri="{BB962C8B-B14F-4D97-AF65-F5344CB8AC3E}">
        <p14:creationId xmlns:p14="http://schemas.microsoft.com/office/powerpoint/2010/main" val="222527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3F91-34B5-55ED-AF6A-17E25432174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B641D9-88C7-7E6A-2C6C-43EDC187FC1A}"/>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Module &amp; line item updates</a:t>
            </a:r>
            <a:endParaRPr lang="en-US" sz="4200"/>
          </a:p>
        </p:txBody>
      </p:sp>
      <p:sp>
        <p:nvSpPr>
          <p:cNvPr id="3" name="Text Placeholder 2">
            <a:extLst>
              <a:ext uri="{FF2B5EF4-FFF2-40B4-BE49-F238E27FC236}">
                <a16:creationId xmlns:a16="http://schemas.microsoft.com/office/drawing/2014/main" id="{5BA6960E-2D07-7D96-4B91-27753441D79D}"/>
              </a:ext>
            </a:extLst>
          </p:cNvPr>
          <p:cNvSpPr>
            <a:spLocks noGrp="1"/>
          </p:cNvSpPr>
          <p:nvPr>
            <p:ph type="body" sz="quarter" idx="11"/>
          </p:nvPr>
        </p:nvSpPr>
        <p:spPr>
          <a:xfrm>
            <a:off x="4485134" y="2781319"/>
            <a:ext cx="6601856" cy="509871"/>
          </a:xfrm>
        </p:spPr>
        <p:txBody>
          <a:bodyPr/>
          <a:lstStyle/>
          <a:p>
            <a:r>
              <a:rPr lang="en-US">
                <a:solidFill>
                  <a:schemeClr val="accent1"/>
                </a:solidFill>
              </a:rPr>
              <a:t>Section 4</a:t>
            </a:r>
          </a:p>
        </p:txBody>
      </p:sp>
    </p:spTree>
    <p:extLst>
      <p:ext uri="{BB962C8B-B14F-4D97-AF65-F5344CB8AC3E}">
        <p14:creationId xmlns:p14="http://schemas.microsoft.com/office/powerpoint/2010/main" val="386034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6D51-9DDD-1FD6-A21A-A88E2028767B}"/>
              </a:ext>
            </a:extLst>
          </p:cNvPr>
          <p:cNvSpPr>
            <a:spLocks noGrp="1"/>
          </p:cNvSpPr>
          <p:nvPr>
            <p:ph type="title"/>
          </p:nvPr>
        </p:nvSpPr>
        <p:spPr/>
        <p:txBody>
          <a:bodyPr lIns="0" tIns="45720" rIns="0" bIns="45720" anchor="t"/>
          <a:lstStyle/>
          <a:p>
            <a:r>
              <a:rPr lang="en-US" b="1">
                <a:solidFill>
                  <a:schemeClr val="tx2"/>
                </a:solidFill>
                <a:latin typeface="Arial"/>
                <a:ea typeface="Verdana"/>
                <a:cs typeface="Arial"/>
              </a:rPr>
              <a:t>Line items with dependent dropdowns</a:t>
            </a:r>
            <a:endParaRPr lang="en-US" b="1">
              <a:solidFill>
                <a:schemeClr val="tx2"/>
              </a:solidFill>
            </a:endParaRPr>
          </a:p>
        </p:txBody>
      </p:sp>
      <p:graphicFrame>
        <p:nvGraphicFramePr>
          <p:cNvPr id="5" name="Content Placeholder 4">
            <a:extLst>
              <a:ext uri="{FF2B5EF4-FFF2-40B4-BE49-F238E27FC236}">
                <a16:creationId xmlns:a16="http://schemas.microsoft.com/office/drawing/2014/main" id="{B521FF0E-5683-C7D2-584E-C143C8775CDA}"/>
              </a:ext>
            </a:extLst>
          </p:cNvPr>
          <p:cNvGraphicFramePr>
            <a:graphicFrameLocks noGrp="1"/>
          </p:cNvGraphicFramePr>
          <p:nvPr>
            <p:ph idx="4294967295"/>
          </p:nvPr>
        </p:nvGraphicFramePr>
        <p:xfrm>
          <a:off x="558801" y="1071273"/>
          <a:ext cx="10983912" cy="2589788"/>
        </p:xfrm>
        <a:graphic>
          <a:graphicData uri="http://schemas.openxmlformats.org/drawingml/2006/table">
            <a:tbl>
              <a:tblPr firstRow="1" bandRow="1">
                <a:tableStyleId>{5202B0CA-FC54-4496-8BCA-5EF66A818D29}</a:tableStyleId>
              </a:tblPr>
              <a:tblGrid>
                <a:gridCol w="5491956">
                  <a:extLst>
                    <a:ext uri="{9D8B030D-6E8A-4147-A177-3AD203B41FA5}">
                      <a16:colId xmlns:a16="http://schemas.microsoft.com/office/drawing/2014/main" val="4258501831"/>
                    </a:ext>
                  </a:extLst>
                </a:gridCol>
                <a:gridCol w="5491956">
                  <a:extLst>
                    <a:ext uri="{9D8B030D-6E8A-4147-A177-3AD203B41FA5}">
                      <a16:colId xmlns:a16="http://schemas.microsoft.com/office/drawing/2014/main" val="1068724244"/>
                    </a:ext>
                  </a:extLst>
                </a:gridCol>
              </a:tblGrid>
              <a:tr h="406653">
                <a:tc>
                  <a:txBody>
                    <a:bodyPr/>
                    <a:lstStyle/>
                    <a:p>
                      <a:pPr lvl="0">
                        <a:buNone/>
                      </a:pPr>
                      <a:r>
                        <a:rPr lang="en-US" sz="1200" err="1">
                          <a:effectLst/>
                        </a:rPr>
                        <a:t>Module.Line</a:t>
                      </a:r>
                      <a:r>
                        <a:rPr lang="en-US" sz="1200">
                          <a:effectLst/>
                        </a:rPr>
                        <a:t> Item Name</a:t>
                      </a:r>
                      <a:endParaRPr lang="en-US" sz="1200">
                        <a:effectLst/>
                        <a:latin typeface="Calibri"/>
                      </a:endParaRPr>
                    </a:p>
                  </a:txBody>
                  <a:tcPr marL="9524" marR="9524" marT="9524" marB="0" anchor="ctr"/>
                </a:tc>
                <a:tc>
                  <a:txBody>
                    <a:bodyPr/>
                    <a:lstStyle/>
                    <a:p>
                      <a:pPr lvl="0">
                        <a:buNone/>
                      </a:pPr>
                      <a:r>
                        <a:rPr lang="en-US" sz="1200">
                          <a:effectLst/>
                        </a:rPr>
                        <a:t>Dependent Dropdown </a:t>
                      </a:r>
                      <a:endParaRPr lang="en-US" sz="1200">
                        <a:effectLst/>
                        <a:latin typeface="Calibri"/>
                      </a:endParaRPr>
                    </a:p>
                  </a:txBody>
                  <a:tcPr marL="9524" marR="9524" marT="9524" marB="0" anchor="ctr"/>
                </a:tc>
                <a:extLst>
                  <a:ext uri="{0D108BD9-81ED-4DB2-BD59-A6C34878D82A}">
                    <a16:rowId xmlns:a16="http://schemas.microsoft.com/office/drawing/2014/main" val="2071752534"/>
                  </a:ext>
                </a:extLst>
              </a:tr>
              <a:tr h="318852">
                <a:tc>
                  <a:txBody>
                    <a:bodyPr/>
                    <a:lstStyle/>
                    <a:p>
                      <a:pPr fontAlgn="b"/>
                      <a:r>
                        <a:rPr lang="en-US" sz="1200">
                          <a:effectLst/>
                        </a:rPr>
                        <a:t>Resource Assignment by Area T2, Sales Role Flat, </a:t>
                      </a:r>
                      <a:r>
                        <a:rPr lang="en-US" sz="1200" err="1">
                          <a:effectLst/>
                        </a:rPr>
                        <a:t>Month.Update</a:t>
                      </a:r>
                      <a:r>
                        <a:rPr lang="en-US" sz="1200">
                          <a:effectLst/>
                        </a:rPr>
                        <a:t> Resource</a:t>
                      </a:r>
                      <a:endParaRPr lang="en-US" sz="1200">
                        <a:effectLst/>
                        <a:latin typeface="Calibri" panose="020F0502020204030204" pitchFamily="34" charset="0"/>
                      </a:endParaRPr>
                    </a:p>
                  </a:txBody>
                  <a:tcPr marL="9525" marR="9525" marT="9525" marB="0" anchor="ctr"/>
                </a:tc>
                <a:tc>
                  <a:txBody>
                    <a:bodyPr/>
                    <a:lstStyle/>
                    <a:p>
                      <a:pPr lvl="0">
                        <a:buNone/>
                      </a:pPr>
                      <a:r>
                        <a:rPr lang="en-US" sz="1200">
                          <a:effectLst/>
                        </a:rPr>
                        <a:t>Based on data in Sales Role</a:t>
                      </a:r>
                      <a:endParaRPr lang="en-US"/>
                    </a:p>
                  </a:txBody>
                  <a:tcPr marL="9524" marR="9524" marT="9524" marB="0" anchor="ctr"/>
                </a:tc>
                <a:extLst>
                  <a:ext uri="{0D108BD9-81ED-4DB2-BD59-A6C34878D82A}">
                    <a16:rowId xmlns:a16="http://schemas.microsoft.com/office/drawing/2014/main" val="267741433"/>
                  </a:ext>
                </a:extLst>
              </a:tr>
              <a:tr h="318852">
                <a:tc>
                  <a:txBody>
                    <a:bodyPr/>
                    <a:lstStyle/>
                    <a:p>
                      <a:pPr lvl="0">
                        <a:buNone/>
                      </a:pPr>
                      <a:r>
                        <a:rPr lang="en-US" sz="1200" b="0" u="none" strike="noStrike" noProof="0">
                          <a:effectLst/>
                        </a:rPr>
                        <a:t>CALC: Resource Assignment by Geo T1</a:t>
                      </a:r>
                      <a:r>
                        <a:rPr lang="en-US" sz="1200">
                          <a:effectLst/>
                        </a:rPr>
                        <a:t>.Update Resource</a:t>
                      </a:r>
                      <a:endParaRPr lang="en-US" sz="1200">
                        <a:effectLst/>
                        <a:latin typeface="Calibri"/>
                      </a:endParaRPr>
                    </a:p>
                  </a:txBody>
                  <a:tcPr marL="9525" marR="9525" marT="9525" marB="0" anchor="ctr">
                    <a:solidFill>
                      <a:schemeClr val="bg1"/>
                    </a:solidFill>
                  </a:tcPr>
                </a:tc>
                <a:tc>
                  <a:txBody>
                    <a:bodyPr/>
                    <a:lstStyle/>
                    <a:p>
                      <a:pPr lvl="0" algn="l">
                        <a:lnSpc>
                          <a:spcPct val="100000"/>
                        </a:lnSpc>
                        <a:spcBef>
                          <a:spcPts val="0"/>
                        </a:spcBef>
                        <a:spcAft>
                          <a:spcPts val="0"/>
                        </a:spcAft>
                        <a:buNone/>
                      </a:pPr>
                      <a:r>
                        <a:rPr lang="en-US" sz="1200" b="0" u="none" strike="noStrike" noProof="0">
                          <a:solidFill>
                            <a:srgbClr val="000000"/>
                          </a:solidFill>
                          <a:effectLst/>
                        </a:rPr>
                        <a:t>Based on data in Sales Role</a:t>
                      </a:r>
                      <a:endParaRPr lang="en-US" sz="1200" b="0" i="0" u="none" strike="noStrike" noProof="0">
                        <a:solidFill>
                          <a:srgbClr val="000000"/>
                        </a:solidFill>
                        <a:effectLst/>
                      </a:endParaRPr>
                    </a:p>
                  </a:txBody>
                  <a:tcPr marL="9524" marR="9524" marT="9524" marB="0" anchor="ctr">
                    <a:solidFill>
                      <a:schemeClr val="bg1"/>
                    </a:solidFill>
                  </a:tcPr>
                </a:tc>
                <a:extLst>
                  <a:ext uri="{0D108BD9-81ED-4DB2-BD59-A6C34878D82A}">
                    <a16:rowId xmlns:a16="http://schemas.microsoft.com/office/drawing/2014/main" val="1533863910"/>
                  </a:ext>
                </a:extLst>
              </a:tr>
              <a:tr h="318852">
                <a:tc>
                  <a:txBody>
                    <a:bodyPr/>
                    <a:lstStyle/>
                    <a:p>
                      <a:pPr lvl="0">
                        <a:buNone/>
                      </a:pPr>
                      <a:r>
                        <a:rPr lang="en-US" sz="1200" b="0" u="none" strike="noStrike" noProof="0">
                          <a:effectLst/>
                        </a:rPr>
                        <a:t>CALC: Resource Assignment by Area T2</a:t>
                      </a:r>
                      <a:r>
                        <a:rPr lang="en-US" sz="1200">
                          <a:effectLst/>
                        </a:rPr>
                        <a:t>.Update Resource</a:t>
                      </a:r>
                      <a:endParaRPr lang="en-US" sz="1200">
                        <a:effectLst/>
                        <a:latin typeface="Calibri"/>
                      </a:endParaRPr>
                    </a:p>
                  </a:txBody>
                  <a:tcPr marL="9525" marR="9525" marT="9525" marB="0" anchor="ctr"/>
                </a:tc>
                <a:tc>
                  <a:txBody>
                    <a:bodyPr/>
                    <a:lstStyle/>
                    <a:p>
                      <a:pPr lvl="0" algn="l">
                        <a:lnSpc>
                          <a:spcPct val="100000"/>
                        </a:lnSpc>
                        <a:spcBef>
                          <a:spcPts val="0"/>
                        </a:spcBef>
                        <a:spcAft>
                          <a:spcPts val="0"/>
                        </a:spcAft>
                        <a:buNone/>
                      </a:pPr>
                      <a:r>
                        <a:rPr lang="en-US" sz="1200" b="0" u="none" strike="noStrike" noProof="0">
                          <a:solidFill>
                            <a:srgbClr val="000000"/>
                          </a:solidFill>
                          <a:effectLst/>
                        </a:rPr>
                        <a:t>Based on data in Sales Role</a:t>
                      </a:r>
                      <a:endParaRPr lang="en-US" sz="1200" b="0" i="0" u="none" strike="noStrike" noProof="0">
                        <a:solidFill>
                          <a:srgbClr val="000000"/>
                        </a:solidFill>
                        <a:effectLst/>
                      </a:endParaRPr>
                    </a:p>
                  </a:txBody>
                  <a:tcPr marL="9524" marR="9524" marT="9524" marB="0" anchor="ctr"/>
                </a:tc>
                <a:extLst>
                  <a:ext uri="{0D108BD9-81ED-4DB2-BD59-A6C34878D82A}">
                    <a16:rowId xmlns:a16="http://schemas.microsoft.com/office/drawing/2014/main" val="956316157"/>
                  </a:ext>
                </a:extLst>
              </a:tr>
              <a:tr h="318850">
                <a:tc>
                  <a:txBody>
                    <a:bodyPr/>
                    <a:lstStyle/>
                    <a:p>
                      <a:pPr lvl="0">
                        <a:buNone/>
                      </a:pPr>
                      <a:r>
                        <a:rPr lang="en-US" sz="1200" b="0" u="none" strike="noStrike" noProof="0">
                          <a:solidFill>
                            <a:srgbClr val="0A2F46"/>
                          </a:solidFill>
                          <a:effectLst/>
                        </a:rPr>
                        <a:t>CALC: Resource Assignment by Region T3.Update Resource</a:t>
                      </a:r>
                      <a:endParaRPr lang="en-US"/>
                    </a:p>
                  </a:txBody>
                  <a:tcPr marL="9524" marR="9524" marT="9524" marB="0" anchor="ctr">
                    <a:solidFill>
                      <a:schemeClr val="bg1"/>
                    </a:solidFill>
                  </a:tcPr>
                </a:tc>
                <a:tc>
                  <a:txBody>
                    <a:bodyPr/>
                    <a:lstStyle/>
                    <a:p>
                      <a:pPr lvl="0" algn="l">
                        <a:lnSpc>
                          <a:spcPct val="100000"/>
                        </a:lnSpc>
                        <a:spcBef>
                          <a:spcPts val="0"/>
                        </a:spcBef>
                        <a:spcAft>
                          <a:spcPts val="0"/>
                        </a:spcAft>
                        <a:buNone/>
                      </a:pPr>
                      <a:r>
                        <a:rPr lang="en-US" sz="1200" b="0" u="none" strike="noStrike" noProof="0">
                          <a:solidFill>
                            <a:srgbClr val="000000"/>
                          </a:solidFill>
                          <a:effectLst/>
                        </a:rPr>
                        <a:t>Based on data in Sales Role</a:t>
                      </a:r>
                      <a:endParaRPr lang="en-US" sz="1200" b="0" i="0" u="none" strike="noStrike" noProof="0">
                        <a:solidFill>
                          <a:srgbClr val="0A2F46"/>
                        </a:solidFill>
                        <a:effectLst/>
                        <a:latin typeface="Arial"/>
                      </a:endParaRPr>
                    </a:p>
                  </a:txBody>
                  <a:tcPr marL="9524" marR="9524" marT="9524" marB="0" anchor="ctr">
                    <a:solidFill>
                      <a:schemeClr val="bg1"/>
                    </a:solidFill>
                  </a:tcPr>
                </a:tc>
                <a:extLst>
                  <a:ext uri="{0D108BD9-81ED-4DB2-BD59-A6C34878D82A}">
                    <a16:rowId xmlns:a16="http://schemas.microsoft.com/office/drawing/2014/main" val="3977647614"/>
                  </a:ext>
                </a:extLst>
              </a:tr>
              <a:tr h="588877">
                <a:tc>
                  <a:txBody>
                    <a:bodyPr/>
                    <a:lstStyle/>
                    <a:p>
                      <a:pPr fontAlgn="b"/>
                      <a:r>
                        <a:rPr lang="en-US" sz="1200">
                          <a:effectLst/>
                        </a:rPr>
                        <a:t>INPUT: Rule Table Entry.</a:t>
                      </a:r>
                      <a:r>
                        <a:rPr lang="en-US" sz="1200" b="0" u="none" strike="noStrike" noProof="0">
                          <a:effectLst/>
                        </a:rPr>
                        <a:t>Ship to State – Province</a:t>
                      </a:r>
                      <a:endParaRPr lang="en-US" sz="1200">
                        <a:effectLst/>
                        <a:latin typeface="Calibri" panose="020F0502020204030204" pitchFamily="34" charset="0"/>
                      </a:endParaRPr>
                    </a:p>
                  </a:txBody>
                  <a:tcPr marL="9525" marR="9525" marT="9525" marB="0" anchor="ctr"/>
                </a:tc>
                <a:tc>
                  <a:txBody>
                    <a:bodyPr/>
                    <a:lstStyle/>
                    <a:p>
                      <a:pPr lvl="0">
                        <a:buNone/>
                      </a:pPr>
                      <a:r>
                        <a:rPr lang="en-US" sz="1200">
                          <a:effectLst/>
                        </a:rPr>
                        <a:t>Based on data in country (or whichever list is used as parent) = ACCEPT DEFAULT</a:t>
                      </a:r>
                      <a:endParaRPr lang="en-US" sz="1200">
                        <a:effectLst/>
                        <a:latin typeface="Calibri"/>
                      </a:endParaRPr>
                    </a:p>
                  </a:txBody>
                  <a:tcPr marL="9524" marR="9524" marT="9524" marB="0" anchor="ctr"/>
                </a:tc>
                <a:extLst>
                  <a:ext uri="{0D108BD9-81ED-4DB2-BD59-A6C34878D82A}">
                    <a16:rowId xmlns:a16="http://schemas.microsoft.com/office/drawing/2014/main" val="2406998927"/>
                  </a:ext>
                </a:extLst>
              </a:tr>
              <a:tr h="318852">
                <a:tc>
                  <a:txBody>
                    <a:bodyPr/>
                    <a:lstStyle/>
                    <a:p>
                      <a:pPr fontAlgn="b"/>
                      <a:r>
                        <a:rPr lang="en-US" sz="1200">
                          <a:effectLst/>
                        </a:rPr>
                        <a:t>INPUT: Rule Table </a:t>
                      </a:r>
                      <a:r>
                        <a:rPr lang="en-US" sz="1200" err="1">
                          <a:effectLst/>
                        </a:rPr>
                        <a:t>Entry.Ship</a:t>
                      </a:r>
                      <a:r>
                        <a:rPr lang="en-US" sz="1200">
                          <a:effectLst/>
                        </a:rPr>
                        <a:t> to City</a:t>
                      </a:r>
                      <a:endParaRPr lang="en-US" sz="1200">
                        <a:effectLst/>
                        <a:latin typeface="Calibri" panose="020F0502020204030204" pitchFamily="34" charset="0"/>
                      </a:endParaRPr>
                    </a:p>
                  </a:txBody>
                  <a:tcPr marL="9525" marR="9525" marT="9525" marB="0" anchor="ctr">
                    <a:solidFill>
                      <a:schemeClr val="bg1"/>
                    </a:solidFill>
                  </a:tcPr>
                </a:tc>
                <a:tc>
                  <a:txBody>
                    <a:bodyPr/>
                    <a:lstStyle/>
                    <a:p>
                      <a:pPr lvl="0">
                        <a:buNone/>
                      </a:pPr>
                      <a:r>
                        <a:rPr lang="en-US" sz="1200">
                          <a:effectLst/>
                        </a:rPr>
                        <a:t>Based on data in state </a:t>
                      </a:r>
                      <a:r>
                        <a:rPr lang="en-US" sz="1200" b="0" u="none" strike="noStrike" noProof="0">
                          <a:solidFill>
                            <a:srgbClr val="000000"/>
                          </a:solidFill>
                          <a:effectLst/>
                        </a:rPr>
                        <a:t>(or whichever list is used as parent) = ACCEPT DEFAULT</a:t>
                      </a:r>
                      <a:endParaRPr lang="en-US"/>
                    </a:p>
                  </a:txBody>
                  <a:tcPr marL="9524" marR="9524" marT="9524" marB="0" anchor="ctr">
                    <a:solidFill>
                      <a:schemeClr val="bg1"/>
                    </a:solidFill>
                  </a:tcPr>
                </a:tc>
                <a:extLst>
                  <a:ext uri="{0D108BD9-81ED-4DB2-BD59-A6C34878D82A}">
                    <a16:rowId xmlns:a16="http://schemas.microsoft.com/office/drawing/2014/main" val="758611641"/>
                  </a:ext>
                </a:extLst>
              </a:tr>
            </a:tbl>
          </a:graphicData>
        </a:graphic>
      </p:graphicFrame>
      <p:sp>
        <p:nvSpPr>
          <p:cNvPr id="3" name="TextBox 2">
            <a:extLst>
              <a:ext uri="{FF2B5EF4-FFF2-40B4-BE49-F238E27FC236}">
                <a16:creationId xmlns:a16="http://schemas.microsoft.com/office/drawing/2014/main" id="{BF4B6667-4921-A4E0-11D1-CC6094499524}"/>
              </a:ext>
            </a:extLst>
          </p:cNvPr>
          <p:cNvSpPr txBox="1"/>
          <p:nvPr/>
        </p:nvSpPr>
        <p:spPr>
          <a:xfrm>
            <a:off x="558801" y="4172212"/>
            <a:ext cx="3970669" cy="2539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accent1"/>
                </a:solidFill>
                <a:latin typeface="Arial" panose="020B0604020202020204" pitchFamily="34" charset="0"/>
                <a:ea typeface="Verdana"/>
                <a:cs typeface="Arial" panose="020B0604020202020204" pitchFamily="34" charset="0"/>
              </a:rPr>
              <a:t>Overview: </a:t>
            </a:r>
          </a:p>
          <a:p>
            <a:endParaRPr lang="en-US" sz="1400">
              <a:solidFill>
                <a:schemeClr val="tx2"/>
              </a:solidFill>
              <a:latin typeface="Arial" panose="020B0604020202020204" pitchFamily="34" charset="0"/>
              <a:ea typeface="Verdana"/>
              <a:cs typeface="Arial" panose="020B0604020202020204" pitchFamily="34" charset="0"/>
            </a:endParaRPr>
          </a:p>
          <a:p>
            <a:r>
              <a:rPr lang="en-US" sz="1400">
                <a:solidFill>
                  <a:schemeClr val="tx2"/>
                </a:solidFill>
                <a:latin typeface="Arial" panose="020B0604020202020204" pitchFamily="34" charset="0"/>
                <a:ea typeface="Verdana"/>
                <a:cs typeface="Arial" panose="020B0604020202020204" pitchFamily="34" charset="0"/>
              </a:rPr>
              <a:t>Several line items require dependent dropdowns to be added. </a:t>
            </a:r>
          </a:p>
          <a:p>
            <a:endParaRPr lang="en-US" sz="900" b="0">
              <a:solidFill>
                <a:schemeClr val="tx2"/>
              </a:solidFill>
              <a:latin typeface="Arial" panose="020B0604020202020204" pitchFamily="34" charset="0"/>
              <a:ea typeface="+mn-lt"/>
              <a:cs typeface="Arial" panose="020B0604020202020204" pitchFamily="34" charset="0"/>
            </a:endParaRPr>
          </a:p>
          <a:p>
            <a:r>
              <a:rPr lang="en-US" sz="1600" b="1">
                <a:solidFill>
                  <a:schemeClr val="accent1"/>
                </a:solidFill>
                <a:latin typeface="Arial" panose="020B0604020202020204" pitchFamily="34" charset="0"/>
                <a:ea typeface="+mn-lt"/>
                <a:cs typeface="Arial" panose="020B0604020202020204" pitchFamily="34" charset="0"/>
              </a:rPr>
              <a:t>Action Required: </a:t>
            </a:r>
          </a:p>
          <a:p>
            <a:endParaRPr lang="en-US" sz="1600" b="1">
              <a:solidFill>
                <a:schemeClr val="accent1"/>
              </a:solidFill>
              <a:latin typeface="Arial" panose="020B0604020202020204" pitchFamily="34" charset="0"/>
              <a:ea typeface="+mn-lt"/>
              <a:cs typeface="Arial" panose="020B0604020202020204" pitchFamily="34" charset="0"/>
            </a:endParaRPr>
          </a:p>
          <a:p>
            <a:r>
              <a:rPr lang="en-US" sz="1400">
                <a:solidFill>
                  <a:schemeClr val="tx2"/>
                </a:solidFill>
                <a:latin typeface="Arial" panose="020B0604020202020204" pitchFamily="34" charset="0"/>
                <a:ea typeface="+mn-lt"/>
                <a:cs typeface="Arial" panose="020B0604020202020204" pitchFamily="34" charset="0"/>
              </a:rPr>
              <a:t>Update the line items identified in the table to use dependent dropdowns.</a:t>
            </a:r>
            <a:endParaRPr lang="en-US" sz="2800">
              <a:solidFill>
                <a:schemeClr val="tx2"/>
              </a:solidFill>
              <a:latin typeface="Arial" panose="020B0604020202020204" pitchFamily="34" charset="0"/>
              <a:ea typeface="Verdana"/>
              <a:cs typeface="Arial" panose="020B0604020202020204" pitchFamily="34" charset="0"/>
            </a:endParaRPr>
          </a:p>
          <a:p>
            <a:r>
              <a:rPr lang="en-US" sz="900">
                <a:solidFill>
                  <a:schemeClr val="tx2"/>
                </a:solidFill>
                <a:latin typeface="Arial" panose="020B0604020202020204" pitchFamily="34" charset="0"/>
                <a:ea typeface="Verdana"/>
                <a:cs typeface="Arial" panose="020B0604020202020204" pitchFamily="34" charset="0"/>
              </a:rPr>
              <a:t>(</a:t>
            </a:r>
            <a:r>
              <a:rPr lang="en-US" sz="900">
                <a:solidFill>
                  <a:schemeClr val="tx2"/>
                </a:solidFill>
                <a:latin typeface="Arial" panose="020B0604020202020204" pitchFamily="34" charset="0"/>
                <a:ea typeface="+mn-lt"/>
                <a:cs typeface="Arial" panose="020B0604020202020204" pitchFamily="34" charset="0"/>
              </a:rPr>
              <a:t>SPT-506)</a:t>
            </a:r>
          </a:p>
          <a:p>
            <a:endParaRPr lang="en-US" sz="1400">
              <a:solidFill>
                <a:schemeClr val="tx2"/>
              </a:solidFill>
              <a:latin typeface="Arial" panose="020B0604020202020204" pitchFamily="34" charset="0"/>
              <a:ea typeface="+mn-lt"/>
              <a:cs typeface="Arial" panose="020B0604020202020204" pitchFamily="34" charset="0"/>
            </a:endParaRPr>
          </a:p>
          <a:p>
            <a:endParaRPr lang="en-US" sz="900" b="0">
              <a:solidFill>
                <a:schemeClr val="tx2"/>
              </a:solidFill>
              <a:latin typeface="Arial" panose="020B0604020202020204" pitchFamily="34" charset="0"/>
              <a:ea typeface="Verdana"/>
              <a:cs typeface="Arial" panose="020B0604020202020204" pitchFamily="34" charset="0"/>
            </a:endParaRPr>
          </a:p>
        </p:txBody>
      </p:sp>
      <p:sp>
        <p:nvSpPr>
          <p:cNvPr id="4" name="TextBox 3">
            <a:extLst>
              <a:ext uri="{FF2B5EF4-FFF2-40B4-BE49-F238E27FC236}">
                <a16:creationId xmlns:a16="http://schemas.microsoft.com/office/drawing/2014/main" id="{5993D877-8C68-2534-855D-F5C371FFE1AC}"/>
              </a:ext>
            </a:extLst>
          </p:cNvPr>
          <p:cNvSpPr txBox="1"/>
          <p:nvPr/>
        </p:nvSpPr>
        <p:spPr>
          <a:xfrm>
            <a:off x="4729976" y="3875810"/>
            <a:ext cx="136602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ClrTx/>
            </a:pPr>
            <a:r>
              <a:rPr lang="en-US" sz="1600" b="1">
                <a:solidFill>
                  <a:schemeClr val="accent1"/>
                </a:solidFill>
                <a:latin typeface="Arial"/>
                <a:ea typeface="Verdana"/>
                <a:cs typeface="Arial"/>
              </a:rPr>
              <a:t>Example</a:t>
            </a:r>
            <a:r>
              <a:rPr lang="en-US" sz="1600">
                <a:solidFill>
                  <a:schemeClr val="tx2"/>
                </a:solidFill>
                <a:latin typeface="Arial"/>
                <a:ea typeface="Verdana"/>
                <a:cs typeface="Arial"/>
              </a:rPr>
              <a:t>:</a:t>
            </a:r>
            <a:endParaRPr lang="en-US" sz="1600" b="0">
              <a:solidFill>
                <a:schemeClr val="tx2"/>
              </a:solidFill>
              <a:latin typeface="Arial" panose="020B0604020202020204" pitchFamily="34" charset="0"/>
              <a:ea typeface="Verdana" charset="0"/>
              <a:cs typeface="Arial" panose="020B0604020202020204" pitchFamily="34" charset="0"/>
            </a:endParaRPr>
          </a:p>
        </p:txBody>
      </p:sp>
      <p:pic>
        <p:nvPicPr>
          <p:cNvPr id="6" name="Picture 5" descr="A screenshot of a computer screen&#10;&#10;Description automatically generated">
            <a:extLst>
              <a:ext uri="{FF2B5EF4-FFF2-40B4-BE49-F238E27FC236}">
                <a16:creationId xmlns:a16="http://schemas.microsoft.com/office/drawing/2014/main" id="{02533595-A34D-58AF-7DBE-B517EFD75B4D}"/>
              </a:ext>
            </a:extLst>
          </p:cNvPr>
          <p:cNvPicPr>
            <a:picLocks noChangeAspect="1"/>
          </p:cNvPicPr>
          <p:nvPr/>
        </p:nvPicPr>
        <p:blipFill>
          <a:blip r:embed="rId2"/>
          <a:stretch>
            <a:fillRect/>
          </a:stretch>
        </p:blipFill>
        <p:spPr>
          <a:xfrm>
            <a:off x="4709535" y="4214364"/>
            <a:ext cx="6720467" cy="2501987"/>
          </a:xfrm>
          <a:prstGeom prst="roundRect">
            <a:avLst>
              <a:gd name="adj" fmla="val 4343"/>
            </a:avLst>
          </a:prstGeom>
        </p:spPr>
      </p:pic>
    </p:spTree>
    <p:extLst>
      <p:ext uri="{BB962C8B-B14F-4D97-AF65-F5344CB8AC3E}">
        <p14:creationId xmlns:p14="http://schemas.microsoft.com/office/powerpoint/2010/main" val="269989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53867FC-EBE9-4935-E151-E40228FAA9A0}"/>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App pages updates</a:t>
            </a:r>
            <a:endParaRPr lang="en-US" sz="4200"/>
          </a:p>
        </p:txBody>
      </p:sp>
      <p:sp>
        <p:nvSpPr>
          <p:cNvPr id="3" name="Text Placeholder 2">
            <a:extLst>
              <a:ext uri="{FF2B5EF4-FFF2-40B4-BE49-F238E27FC236}">
                <a16:creationId xmlns:a16="http://schemas.microsoft.com/office/drawing/2014/main" id="{952FD9F5-CCF2-A0F9-EA85-EF83BAD62E9E}"/>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5</a:t>
            </a:r>
          </a:p>
        </p:txBody>
      </p:sp>
    </p:spTree>
    <p:extLst>
      <p:ext uri="{BB962C8B-B14F-4D97-AF65-F5344CB8AC3E}">
        <p14:creationId xmlns:p14="http://schemas.microsoft.com/office/powerpoint/2010/main" val="107481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8875A-75C5-E77B-559F-78EDB283CD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0B1873D-E784-04C5-3BC9-6B254330188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number and line item formats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6402221D-2790-3B08-25BB-7672B9A3A7B8}"/>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0AD777A3-FF7D-CC55-A860-4A6F51416F6D}"/>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51CE518F-BB4F-EF02-AEB1-AB9F89738831}"/>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BDD520E7-3D0B-AF1D-A731-854255B52058}"/>
                </a:ext>
              </a:extLst>
            </p:cNvPr>
            <p:cNvSpPr txBox="1"/>
            <p:nvPr/>
          </p:nvSpPr>
          <p:spPr>
            <a:xfrm>
              <a:off x="6622417" y="2597503"/>
              <a:ext cx="4921800" cy="830997"/>
            </a:xfrm>
            <a:prstGeom prst="rect">
              <a:avLst/>
            </a:prstGeom>
            <a:noFill/>
          </p:spPr>
          <p:txBody>
            <a:bodyPr wrap="square" rtlCol="0">
              <a:spAutoFit/>
            </a:bodyPr>
            <a:lstStyle/>
            <a:p>
              <a:pPr algn="ctr"/>
              <a:r>
                <a:rPr lang="en-US" sz="2400">
                  <a:solidFill>
                    <a:schemeClr val="tx2"/>
                  </a:solidFill>
                  <a:ea typeface="Verdana"/>
                  <a:cs typeface="Arial"/>
                </a:rPr>
                <a:t>Update line item formats and styles to match template app.</a:t>
              </a:r>
            </a:p>
          </p:txBody>
        </p:sp>
      </p:grpSp>
      <p:sp>
        <p:nvSpPr>
          <p:cNvPr id="9" name="Rounded Rectangle 8">
            <a:extLst>
              <a:ext uri="{FF2B5EF4-FFF2-40B4-BE49-F238E27FC236}">
                <a16:creationId xmlns:a16="http://schemas.microsoft.com/office/drawing/2014/main" id="{9C69ACD0-50DF-FECB-FD4E-52D810CBD0DA}"/>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CED87719-E00E-F598-98F6-E84DB5732F95}"/>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5527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EA95-7699-0503-20C8-1D460150F2F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2C8071-20B5-CDB8-BE23-AA7B02E4F1C0}"/>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context selectors </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80A4AE6D-3967-DABF-2A93-83432E6517FF}"/>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91DCB572-F53F-70B7-9755-E7FB58A0FD41}"/>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41ACFE81-737F-99B0-FF65-FB881051EAD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D135E29C-17B3-7CA4-42DF-840EC67F9873}"/>
                </a:ext>
              </a:extLst>
            </p:cNvPr>
            <p:cNvSpPr txBox="1"/>
            <p:nvPr/>
          </p:nvSpPr>
          <p:spPr>
            <a:xfrm>
              <a:off x="6622417" y="2597503"/>
              <a:ext cx="4921800" cy="1338828"/>
            </a:xfrm>
            <a:prstGeom prst="rect">
              <a:avLst/>
            </a:prstGeom>
            <a:noFill/>
          </p:spPr>
          <p:txBody>
            <a:bodyPr wrap="square" rtlCol="0">
              <a:spAutoFit/>
            </a:bodyPr>
            <a:lstStyle/>
            <a:p>
              <a:pPr algn="ctr"/>
              <a:r>
                <a:rPr lang="en-US" sz="2400">
                  <a:solidFill>
                    <a:schemeClr val="tx2"/>
                  </a:solidFill>
                  <a:ea typeface="Verdana"/>
                  <a:cs typeface="Arial"/>
                </a:rPr>
                <a:t>Compare page context selectors to the template app and adjust accordingly (hide, filter, select) </a:t>
              </a:r>
              <a:br>
                <a:rPr lang="en-US" sz="2400">
                  <a:solidFill>
                    <a:schemeClr val="tx2"/>
                  </a:solidFill>
                  <a:ea typeface="Verdana"/>
                  <a:cs typeface="Arial"/>
                </a:rPr>
              </a:br>
              <a:endParaRPr lang="en-US" sz="900">
                <a:solidFill>
                  <a:schemeClr val="tx2"/>
                </a:solidFill>
                <a:ea typeface="Verdana"/>
                <a:cs typeface="Arial"/>
              </a:endParaRPr>
            </a:p>
          </p:txBody>
        </p:sp>
      </p:grpSp>
      <p:sp>
        <p:nvSpPr>
          <p:cNvPr id="9" name="Rounded Rectangle 8">
            <a:extLst>
              <a:ext uri="{FF2B5EF4-FFF2-40B4-BE49-F238E27FC236}">
                <a16:creationId xmlns:a16="http://schemas.microsoft.com/office/drawing/2014/main" id="{1B48B6B6-1D9E-0D54-FEE5-E7B1333C495D}"/>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1561D68F-D1A9-EE22-F0D9-C955528C3555}"/>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3" name="TextBox 2">
            <a:extLst>
              <a:ext uri="{FF2B5EF4-FFF2-40B4-BE49-F238E27FC236}">
                <a16:creationId xmlns:a16="http://schemas.microsoft.com/office/drawing/2014/main" id="{6C52C5E6-DE15-B656-E10E-94CA63741A21}"/>
              </a:ext>
            </a:extLst>
          </p:cNvPr>
          <p:cNvSpPr txBox="1"/>
          <p:nvPr/>
        </p:nvSpPr>
        <p:spPr>
          <a:xfrm>
            <a:off x="640738" y="5355910"/>
            <a:ext cx="6097904" cy="230832"/>
          </a:xfrm>
          <a:prstGeom prst="rect">
            <a:avLst/>
          </a:prstGeom>
          <a:noFill/>
        </p:spPr>
        <p:txBody>
          <a:bodyPr wrap="square">
            <a:spAutoFit/>
          </a:bodyPr>
          <a:lstStyle/>
          <a:p>
            <a:r>
              <a:rPr lang="en-US" sz="900">
                <a:solidFill>
                  <a:schemeClr val="tx2"/>
                </a:solidFill>
                <a:ea typeface="Verdana"/>
                <a:cs typeface="Arial"/>
              </a:rPr>
              <a:t>(SPT-293, SPT-452)</a:t>
            </a:r>
            <a:endParaRPr lang="en-US" sz="900"/>
          </a:p>
        </p:txBody>
      </p:sp>
    </p:spTree>
    <p:extLst>
      <p:ext uri="{BB962C8B-B14F-4D97-AF65-F5344CB8AC3E}">
        <p14:creationId xmlns:p14="http://schemas.microsoft.com/office/powerpoint/2010/main" val="25002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6D17-71A0-4F19-FE1C-E11AEA758C4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50453C8-B307-29FA-8D6F-C2B6A2128C03}"/>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latin typeface="Arial"/>
                <a:ea typeface="Verdana"/>
                <a:cs typeface="Arial"/>
              </a:rPr>
              <a:t>Context selectors </a:t>
            </a:r>
            <a:endParaRPr lang="en-GB">
              <a:solidFill>
                <a:schemeClr val="tx2"/>
              </a:solidFill>
              <a:latin typeface="Arial"/>
              <a:ea typeface="Verdana"/>
              <a:cs typeface="Arial"/>
            </a:endParaRPr>
          </a:p>
        </p:txBody>
      </p:sp>
      <p:sp>
        <p:nvSpPr>
          <p:cNvPr id="9" name="Rounded Rectangle 8">
            <a:extLst>
              <a:ext uri="{FF2B5EF4-FFF2-40B4-BE49-F238E27FC236}">
                <a16:creationId xmlns:a16="http://schemas.microsoft.com/office/drawing/2014/main" id="{AC7E2090-CCAA-4BC7-6526-B6C38708AC39}"/>
              </a:ext>
            </a:extLst>
          </p:cNvPr>
          <p:cNvSpPr/>
          <p:nvPr/>
        </p:nvSpPr>
        <p:spPr>
          <a:xfrm>
            <a:off x="4124340" y="1792868"/>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1219050">
              <a:lnSpc>
                <a:spcPct val="100000"/>
              </a:lnSpc>
              <a:spcBef>
                <a:spcPct val="0"/>
              </a:spcBef>
              <a:spcAft>
                <a:spcPts val="0"/>
              </a:spcAft>
              <a:buNone/>
              <a:tabLst/>
              <a:defRPr/>
            </a:pPr>
            <a:r>
              <a:rPr lang="en-GB" sz="1400">
                <a:solidFill>
                  <a:srgbClr val="FFFFFF"/>
                </a:solidFill>
                <a:latin typeface="Arial" panose="020B0604020202020204"/>
                <a:ea typeface="Verdana"/>
              </a:rPr>
              <a:t>Example</a:t>
            </a:r>
            <a:endParaRPr lang="en-US"/>
          </a:p>
        </p:txBody>
      </p:sp>
      <p:sp>
        <p:nvSpPr>
          <p:cNvPr id="3" name="TextBox 2">
            <a:extLst>
              <a:ext uri="{FF2B5EF4-FFF2-40B4-BE49-F238E27FC236}">
                <a16:creationId xmlns:a16="http://schemas.microsoft.com/office/drawing/2014/main" id="{9405C2E4-A3AD-031E-392A-F22F96A156DA}"/>
              </a:ext>
            </a:extLst>
          </p:cNvPr>
          <p:cNvSpPr txBox="1"/>
          <p:nvPr/>
        </p:nvSpPr>
        <p:spPr>
          <a:xfrm>
            <a:off x="640738" y="5355910"/>
            <a:ext cx="6097904" cy="230832"/>
          </a:xfrm>
          <a:prstGeom prst="rect">
            <a:avLst/>
          </a:prstGeom>
          <a:noFill/>
        </p:spPr>
        <p:txBody>
          <a:bodyPr wrap="square">
            <a:spAutoFit/>
          </a:bodyPr>
          <a:lstStyle/>
          <a:p>
            <a:r>
              <a:rPr lang="en-US" sz="900">
                <a:solidFill>
                  <a:schemeClr val="tx2"/>
                </a:solidFill>
                <a:ea typeface="Verdana"/>
                <a:cs typeface="Arial"/>
              </a:rPr>
              <a:t>(SPT-293, SPT-452)</a:t>
            </a:r>
            <a:endParaRPr lang="en-US" sz="900"/>
          </a:p>
        </p:txBody>
      </p:sp>
      <p:pic>
        <p:nvPicPr>
          <p:cNvPr id="11" name="Picture 10" descr="A screenshot of a computer&#10;&#10;AI-generated content may be incorrect.">
            <a:extLst>
              <a:ext uri="{FF2B5EF4-FFF2-40B4-BE49-F238E27FC236}">
                <a16:creationId xmlns:a16="http://schemas.microsoft.com/office/drawing/2014/main" id="{F2E1BDB9-E617-8CAE-6210-839926E35143}"/>
              </a:ext>
            </a:extLst>
          </p:cNvPr>
          <p:cNvPicPr>
            <a:picLocks noChangeAspect="1"/>
          </p:cNvPicPr>
          <p:nvPr/>
        </p:nvPicPr>
        <p:blipFill>
          <a:blip r:embed="rId2"/>
          <a:stretch>
            <a:fillRect/>
          </a:stretch>
        </p:blipFill>
        <p:spPr>
          <a:xfrm>
            <a:off x="0" y="2203119"/>
            <a:ext cx="12192000" cy="3393057"/>
          </a:xfrm>
          <a:prstGeom prst="rect">
            <a:avLst/>
          </a:prstGeom>
        </p:spPr>
      </p:pic>
    </p:spTree>
    <p:extLst>
      <p:ext uri="{BB962C8B-B14F-4D97-AF65-F5344CB8AC3E}">
        <p14:creationId xmlns:p14="http://schemas.microsoft.com/office/powerpoint/2010/main" val="257659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B3E8-C727-7F9E-331C-9FC7FC15E89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2C87ACA-ACC1-94BD-8987-6BAD90756283}"/>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Check dynamic text card</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D8A31F8C-50B5-60C1-DD4E-D19CB7EFDC65}"/>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1247822E-6181-CA63-F8B0-70E0293F473B}"/>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5A13EC9E-7FF4-2BF7-6CD6-2D6DA016B6D8}"/>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60C26339-5E4C-4774-CFB8-29EFE7F62743}"/>
                </a:ext>
              </a:extLst>
            </p:cNvPr>
            <p:cNvSpPr txBox="1"/>
            <p:nvPr/>
          </p:nvSpPr>
          <p:spPr>
            <a:xfrm>
              <a:off x="6541697" y="2597503"/>
              <a:ext cx="5083240" cy="1200329"/>
            </a:xfrm>
            <a:prstGeom prst="rect">
              <a:avLst/>
            </a:prstGeom>
            <a:noFill/>
          </p:spPr>
          <p:txBody>
            <a:bodyPr wrap="square" rtlCol="0">
              <a:spAutoFit/>
            </a:bodyPr>
            <a:lstStyle/>
            <a:p>
              <a:pPr algn="ctr" fontAlgn="base"/>
              <a:r>
                <a:rPr lang="en-US" sz="2400"/>
                <a:t>Ensure that the dynamic text in text cards is tied to the dimension that the dynamic text suggests.​</a:t>
              </a:r>
            </a:p>
          </p:txBody>
        </p:sp>
      </p:grpSp>
      <p:sp>
        <p:nvSpPr>
          <p:cNvPr id="9" name="Rounded Rectangle 8">
            <a:extLst>
              <a:ext uri="{FF2B5EF4-FFF2-40B4-BE49-F238E27FC236}">
                <a16:creationId xmlns:a16="http://schemas.microsoft.com/office/drawing/2014/main" id="{B956F279-30A8-EC79-E010-391FE4FAB7FB}"/>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B65C31E1-A477-A8F2-EC34-10F7E681A80F}"/>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489858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F7F0-0C1A-F1D7-3845-6AF247F909F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253AE1A-A716-B5A4-CAB2-DAE20C9DAE7C}"/>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Update page objects driven from list subsets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4D4FF519-30B5-FA33-2E57-8DAB25543923}"/>
              </a:ext>
            </a:extLst>
          </p:cNvPr>
          <p:cNvGrpSpPr/>
          <p:nvPr/>
        </p:nvGrpSpPr>
        <p:grpSpPr>
          <a:xfrm>
            <a:off x="615102" y="2346928"/>
            <a:ext cx="5480897" cy="2823588"/>
            <a:chOff x="6342869" y="1785874"/>
            <a:chExt cx="5480897" cy="2823588"/>
          </a:xfrm>
        </p:grpSpPr>
        <p:sp>
          <p:nvSpPr>
            <p:cNvPr id="6" name="TextBox 5">
              <a:extLst>
                <a:ext uri="{FF2B5EF4-FFF2-40B4-BE49-F238E27FC236}">
                  <a16:creationId xmlns:a16="http://schemas.microsoft.com/office/drawing/2014/main" id="{9C4502E8-EAD6-0F9A-FF1B-AE556E97DC64}"/>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A204C8FD-4F90-29B7-59AA-80E46E03D545}"/>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E45FD07A-3907-25C4-C439-1E3EC60B4ED5}"/>
                </a:ext>
              </a:extLst>
            </p:cNvPr>
            <p:cNvSpPr txBox="1"/>
            <p:nvPr/>
          </p:nvSpPr>
          <p:spPr>
            <a:xfrm>
              <a:off x="6541697" y="2597503"/>
              <a:ext cx="5083240" cy="1200329"/>
            </a:xfrm>
            <a:prstGeom prst="rect">
              <a:avLst/>
            </a:prstGeom>
            <a:noFill/>
          </p:spPr>
          <p:txBody>
            <a:bodyPr wrap="square" rtlCol="0">
              <a:spAutoFit/>
            </a:bodyPr>
            <a:lstStyle/>
            <a:p>
              <a:pPr algn="ctr" fontAlgn="base"/>
              <a:r>
                <a:rPr lang="en-US" sz="2400"/>
                <a:t>Check and update any page objects that use list subsets to ensure the list subset is applied.</a:t>
              </a:r>
            </a:p>
          </p:txBody>
        </p:sp>
      </p:grpSp>
      <p:sp>
        <p:nvSpPr>
          <p:cNvPr id="9" name="Rounded Rectangle 8">
            <a:extLst>
              <a:ext uri="{FF2B5EF4-FFF2-40B4-BE49-F238E27FC236}">
                <a16:creationId xmlns:a16="http://schemas.microsoft.com/office/drawing/2014/main" id="{D769D4C6-FA67-17C4-9CB4-0FF62B61F299}"/>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F6295218-7319-1215-B704-24C1D2AFC5DE}"/>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353312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4962-363F-906C-6492-BBECA3E5D50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5154122-3DB2-7C6E-22BC-82CE735104D9}"/>
              </a:ext>
            </a:extLst>
          </p:cNvPr>
          <p:cNvSpPr>
            <a:spLocks noGrp="1"/>
          </p:cNvSpPr>
          <p:nvPr>
            <p:ph type="title"/>
          </p:nvPr>
        </p:nvSpPr>
        <p:spPr>
          <a:xfrm>
            <a:off x="615103" y="392856"/>
            <a:ext cx="10983484" cy="836947"/>
          </a:xfrm>
        </p:spPr>
        <p:txBody>
          <a:bodyPr lIns="0" tIns="60960" rIns="0" bIns="60960" anchor="t"/>
          <a:lstStyle/>
          <a:p>
            <a:pPr lvl="0">
              <a:defRPr/>
            </a:pPr>
            <a:r>
              <a:rPr lang="en-GB" b="1">
                <a:solidFill>
                  <a:schemeClr val="tx2"/>
                </a:solidFill>
                <a:ea typeface="Verdana" charset="0"/>
              </a:rPr>
              <a:t>Update map data sources</a:t>
            </a:r>
            <a:endParaRPr lang="en-GB">
              <a:solidFill>
                <a:schemeClr val="tx2"/>
              </a:solidFill>
              <a:ea typeface="Verdana" charset="0"/>
            </a:endParaRPr>
          </a:p>
        </p:txBody>
      </p:sp>
      <p:grpSp>
        <p:nvGrpSpPr>
          <p:cNvPr id="5" name="Group 4">
            <a:extLst>
              <a:ext uri="{FF2B5EF4-FFF2-40B4-BE49-F238E27FC236}">
                <a16:creationId xmlns:a16="http://schemas.microsoft.com/office/drawing/2014/main" id="{610B66EA-7868-021C-61C0-790C922C65FA}"/>
              </a:ext>
            </a:extLst>
          </p:cNvPr>
          <p:cNvGrpSpPr/>
          <p:nvPr/>
        </p:nvGrpSpPr>
        <p:grpSpPr>
          <a:xfrm>
            <a:off x="615102" y="2346928"/>
            <a:ext cx="5480897" cy="2921750"/>
            <a:chOff x="6342869" y="1785874"/>
            <a:chExt cx="5480897" cy="2921750"/>
          </a:xfrm>
        </p:grpSpPr>
        <p:sp>
          <p:nvSpPr>
            <p:cNvPr id="6" name="TextBox 5">
              <a:extLst>
                <a:ext uri="{FF2B5EF4-FFF2-40B4-BE49-F238E27FC236}">
                  <a16:creationId xmlns:a16="http://schemas.microsoft.com/office/drawing/2014/main" id="{0E07D633-260A-7B38-BC5A-68B73E37515B}"/>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E42EED2D-4A15-4187-E96B-4A5C705E6580}"/>
                </a:ext>
              </a:extLst>
            </p:cNvPr>
            <p:cNvSpPr/>
            <p:nvPr/>
          </p:nvSpPr>
          <p:spPr>
            <a:xfrm>
              <a:off x="6342869" y="1785874"/>
              <a:ext cx="5480897" cy="2823588"/>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BA9C4047-1C4A-C1E9-2E7C-99B558C5D7B0}"/>
                </a:ext>
              </a:extLst>
            </p:cNvPr>
            <p:cNvSpPr txBox="1"/>
            <p:nvPr/>
          </p:nvSpPr>
          <p:spPr>
            <a:xfrm>
              <a:off x="6342869" y="2029968"/>
              <a:ext cx="5389470" cy="2677656"/>
            </a:xfrm>
            <a:prstGeom prst="rect">
              <a:avLst/>
            </a:prstGeom>
            <a:noFill/>
          </p:spPr>
          <p:txBody>
            <a:bodyPr wrap="square" rtlCol="0">
              <a:spAutoFit/>
            </a:bodyPr>
            <a:lstStyle/>
            <a:p>
              <a:pPr algn="ctr" fontAlgn="base"/>
              <a:r>
                <a:rPr lang="en-US" sz="2400"/>
                <a:t>For any page that includes maps, update the data source (modules, line-items, </a:t>
              </a:r>
              <a:r>
                <a:rPr lang="en-US" sz="2400" err="1"/>
                <a:t>etc</a:t>
              </a:r>
              <a:r>
                <a:rPr lang="en-US" sz="2400"/>
                <a:t>) using the template application as the example. The metrics displayed for all map layers may need to be adjusted as well. </a:t>
              </a:r>
              <a:br>
                <a:rPr lang="en-US" sz="2400"/>
              </a:br>
              <a:endParaRPr lang="en-US" sz="2400"/>
            </a:p>
          </p:txBody>
        </p:sp>
      </p:grpSp>
      <p:sp>
        <p:nvSpPr>
          <p:cNvPr id="9" name="Rounded Rectangle 8">
            <a:extLst>
              <a:ext uri="{FF2B5EF4-FFF2-40B4-BE49-F238E27FC236}">
                <a16:creationId xmlns:a16="http://schemas.microsoft.com/office/drawing/2014/main" id="{7C90555B-95E5-2166-176E-39D588F6C45E}"/>
              </a:ext>
            </a:extLst>
          </p:cNvPr>
          <p:cNvSpPr/>
          <p:nvPr/>
        </p:nvSpPr>
        <p:spPr>
          <a:xfrm>
            <a:off x="2477075" y="2129044"/>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050" rtl="0" eaLnBrk="1" fontAlgn="auto" latinLnBrk="0" hangingPunct="1">
              <a:lnSpc>
                <a:spcPct val="100000"/>
              </a:lnSpc>
              <a:spcBef>
                <a:spcPct val="0"/>
              </a:spcBef>
              <a:spcAft>
                <a:spcPts val="0"/>
              </a:spcAft>
              <a:buClr>
                <a:srgbClr val="3C67EA"/>
              </a:buClr>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Verdana"/>
                <a:cs typeface="Verdana" panose="020B0604030504040204" pitchFamily="34" charset="0"/>
              </a:rPr>
              <a:t>Helpful Tip</a:t>
            </a:r>
            <a:endParaRPr kumimoji="0" lang="en-GB" sz="14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pic>
        <p:nvPicPr>
          <p:cNvPr id="10" name="Picture Placeholder 8" descr="A person using a computer&#10;&#10;AI-generated content may be incorrect.">
            <a:extLst>
              <a:ext uri="{FF2B5EF4-FFF2-40B4-BE49-F238E27FC236}">
                <a16:creationId xmlns:a16="http://schemas.microsoft.com/office/drawing/2014/main" id="{E094A75B-BF25-5BD3-ABC5-DB767910E59C}"/>
              </a:ext>
            </a:extLst>
          </p:cNvPr>
          <p:cNvPicPr>
            <a:picLocks noChangeAspect="1"/>
          </p:cNvPicPr>
          <p:nvPr/>
        </p:nvPicPr>
        <p:blipFill>
          <a:blip r:embed="rId2"/>
          <a:srcRect l="21853" r="21853"/>
          <a:stretch>
            <a:fillRect/>
          </a:stretch>
        </p:blipFill>
        <p:spPr>
          <a:xfrm>
            <a:off x="7144506" y="951784"/>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
        <p:nvSpPr>
          <p:cNvPr id="3" name="TextBox 2">
            <a:extLst>
              <a:ext uri="{FF2B5EF4-FFF2-40B4-BE49-F238E27FC236}">
                <a16:creationId xmlns:a16="http://schemas.microsoft.com/office/drawing/2014/main" id="{1EA62C77-01D2-6761-33CA-86214967B20D}"/>
              </a:ext>
            </a:extLst>
          </p:cNvPr>
          <p:cNvSpPr txBox="1"/>
          <p:nvPr/>
        </p:nvSpPr>
        <p:spPr>
          <a:xfrm>
            <a:off x="5044617" y="4860752"/>
            <a:ext cx="1250210" cy="230832"/>
          </a:xfrm>
          <a:prstGeom prst="rect">
            <a:avLst/>
          </a:prstGeom>
          <a:noFill/>
        </p:spPr>
        <p:txBody>
          <a:bodyPr wrap="square" lIns="91440" tIns="45720" rIns="91440" bIns="45720" anchor="t">
            <a:spAutoFit/>
          </a:bodyPr>
          <a:lstStyle/>
          <a:p>
            <a:r>
              <a:rPr lang="en-US" sz="900"/>
              <a:t>(</a:t>
            </a:r>
            <a:r>
              <a:rPr lang="en-US" sz="900">
                <a:ea typeface="+mn-lt"/>
                <a:cs typeface="+mn-lt"/>
              </a:rPr>
              <a:t>SPT-1113</a:t>
            </a:r>
            <a:r>
              <a:rPr lang="en-US" sz="900"/>
              <a:t>)​</a:t>
            </a:r>
          </a:p>
        </p:txBody>
      </p:sp>
    </p:spTree>
    <p:extLst>
      <p:ext uri="{BB962C8B-B14F-4D97-AF65-F5344CB8AC3E}">
        <p14:creationId xmlns:p14="http://schemas.microsoft.com/office/powerpoint/2010/main" val="371490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Grid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 name="Content Placeholder 2">
            <a:extLst>
              <a:ext uri="{FF2B5EF4-FFF2-40B4-BE49-F238E27FC236}">
                <a16:creationId xmlns:a16="http://schemas.microsoft.com/office/drawing/2014/main" id="{95C7D0FA-3E77-7970-0D62-8BB55F31D1E5}"/>
              </a:ext>
            </a:extLst>
          </p:cNvPr>
          <p:cNvSpPr txBox="1">
            <a:spLocks/>
          </p:cNvSpPr>
          <p:nvPr/>
        </p:nvSpPr>
        <p:spPr>
          <a:xfrm>
            <a:off x="615102" y="1235413"/>
            <a:ext cx="4191886"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
        <p:nvSpPr>
          <p:cNvPr id="4" name="Content Placeholder 2">
            <a:extLst>
              <a:ext uri="{FF2B5EF4-FFF2-40B4-BE49-F238E27FC236}">
                <a16:creationId xmlns:a16="http://schemas.microsoft.com/office/drawing/2014/main" id="{54BCF6B3-12BD-3B5E-ECFC-7C609EA258D1}"/>
              </a:ext>
            </a:extLst>
          </p:cNvPr>
          <p:cNvSpPr txBox="1">
            <a:spLocks/>
          </p:cNvSpPr>
          <p:nvPr/>
        </p:nvSpPr>
        <p:spPr>
          <a:xfrm>
            <a:off x="615102" y="1235412"/>
            <a:ext cx="10219435" cy="3317131"/>
          </a:xfrm>
          <a:prstGeom prst="rect">
            <a:avLst/>
          </a:prstGeom>
        </p:spPr>
        <p:txBody>
          <a:bodyPr lIns="0" tIns="45720" rIns="0" bIns="45720" anchor="t"/>
          <a:lstStyle>
            <a:lvl1pPr marL="232822" indent="-23282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391" indent="-232822"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45" indent="-230706"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232410" indent="-232410">
              <a:defRPr/>
            </a:pPr>
            <a:r>
              <a:rPr lang="en-US" sz="1400" b="1">
                <a:solidFill>
                  <a:schemeClr val="tx2"/>
                </a:solidFill>
                <a:latin typeface="Arial"/>
                <a:ea typeface="Verdana"/>
                <a:cs typeface="Arial"/>
              </a:rPr>
              <a:t>UX grids set to synchronize scrolling are not always generating that way.  </a:t>
            </a:r>
            <a:endParaRPr lang="en-US"/>
          </a:p>
          <a:p>
            <a:pPr marL="842010" lvl="1" indent="-232410">
              <a:defRPr/>
            </a:pPr>
            <a:r>
              <a:rPr lang="en-US" sz="1400">
                <a:solidFill>
                  <a:schemeClr val="tx2"/>
                </a:solidFill>
                <a:latin typeface="Arial"/>
                <a:ea typeface="Verdana"/>
                <a:cs typeface="Arial"/>
              </a:rPr>
              <a:t>See for example page “</a:t>
            </a:r>
            <a:r>
              <a:rPr lang="en-US" sz="1400" b="1">
                <a:solidFill>
                  <a:schemeClr val="accent1"/>
                </a:solidFill>
                <a:latin typeface="Arial"/>
                <a:ea typeface="Verdana"/>
                <a:cs typeface="Arial"/>
              </a:rPr>
              <a:t>Model Assumptions and Inputs</a:t>
            </a:r>
            <a:r>
              <a:rPr lang="en-US" sz="1400">
                <a:solidFill>
                  <a:schemeClr val="tx2"/>
                </a:solidFill>
                <a:latin typeface="Arial"/>
                <a:ea typeface="Verdana"/>
                <a:cs typeface="Arial"/>
              </a:rPr>
              <a:t>”, grids “</a:t>
            </a:r>
            <a:r>
              <a:rPr lang="en-US" sz="1400" b="1">
                <a:solidFill>
                  <a:schemeClr val="accent1"/>
                </a:solidFill>
                <a:latin typeface="Arial"/>
                <a:ea typeface="Verdana"/>
                <a:cs typeface="Arial"/>
              </a:rPr>
              <a:t>Setup Quota Type</a:t>
            </a:r>
            <a:r>
              <a:rPr lang="en-US" sz="1400">
                <a:solidFill>
                  <a:schemeClr val="tx2"/>
                </a:solidFill>
                <a:latin typeface="Arial"/>
                <a:ea typeface="Verdana"/>
                <a:cs typeface="Arial"/>
              </a:rPr>
              <a:t>” and “</a:t>
            </a:r>
            <a:r>
              <a:rPr lang="en-US" sz="1400" b="1">
                <a:solidFill>
                  <a:schemeClr val="accent1"/>
                </a:solidFill>
                <a:latin typeface="Arial"/>
                <a:ea typeface="Verdana"/>
                <a:cs typeface="Arial"/>
              </a:rPr>
              <a:t>Product Selection</a:t>
            </a:r>
            <a:r>
              <a:rPr lang="en-US" sz="1400">
                <a:solidFill>
                  <a:schemeClr val="tx2"/>
                </a:solidFill>
                <a:latin typeface="Arial"/>
                <a:ea typeface="Verdana"/>
                <a:cs typeface="Arial"/>
              </a:rPr>
              <a:t>”.  </a:t>
            </a:r>
          </a:p>
          <a:p>
            <a:pPr marL="842010" lvl="1" indent="-232410">
              <a:defRPr/>
            </a:pPr>
            <a:r>
              <a:rPr lang="en-US" sz="1400">
                <a:solidFill>
                  <a:schemeClr val="tx2"/>
                </a:solidFill>
                <a:latin typeface="Arial"/>
                <a:ea typeface="Verdana"/>
                <a:cs typeface="Arial"/>
              </a:rPr>
              <a:t>Synchronized grids should be expected where 2 grids are side by side with the same list on rows</a:t>
            </a:r>
            <a:r>
              <a:rPr lang="en-US" sz="900">
                <a:solidFill>
                  <a:schemeClr val="tx2"/>
                </a:solidFill>
                <a:latin typeface="Arial"/>
                <a:ea typeface="Verdana"/>
                <a:cs typeface="Arial"/>
              </a:rPr>
              <a:t>.  (SPT-294)</a:t>
            </a:r>
          </a:p>
          <a:p>
            <a:pPr marL="0" indent="0">
              <a:buNone/>
              <a:defRPr/>
            </a:pPr>
            <a:endParaRPr lang="en-US" sz="1400">
              <a:solidFill>
                <a:schemeClr val="tx2"/>
              </a:solidFill>
              <a:latin typeface="Arial"/>
              <a:ea typeface="Verdana"/>
              <a:cs typeface="Arial"/>
            </a:endParaRPr>
          </a:p>
          <a:p>
            <a:pPr marL="232410" indent="-232410"/>
            <a:r>
              <a:rPr lang="en-US" sz="1400" b="1">
                <a:solidFill>
                  <a:schemeClr val="tx2"/>
                </a:solidFill>
                <a:latin typeface="Arial"/>
                <a:ea typeface="Verdana"/>
                <a:cs typeface="Arial"/>
              </a:rPr>
              <a:t>Grids that in the template have a hierarchy filter turned on will generate without it.  </a:t>
            </a:r>
          </a:p>
          <a:p>
            <a:pPr marL="842010" lvl="1" indent="-232410"/>
            <a:r>
              <a:rPr lang="en-US" sz="1400">
                <a:solidFill>
                  <a:schemeClr val="tx2"/>
                </a:solidFill>
                <a:latin typeface="Arial"/>
                <a:ea typeface="Verdana"/>
                <a:cs typeface="Arial"/>
              </a:rPr>
              <a:t>Example, page </a:t>
            </a:r>
            <a:r>
              <a:rPr lang="en-US" sz="1400">
                <a:solidFill>
                  <a:schemeClr val="accent1"/>
                </a:solidFill>
                <a:latin typeface="Arial"/>
                <a:ea typeface="Verdana"/>
                <a:cs typeface="Arial"/>
              </a:rPr>
              <a:t>9.3 Named Account Quota</a:t>
            </a:r>
            <a:r>
              <a:rPr lang="en-US" sz="1400">
                <a:solidFill>
                  <a:schemeClr val="tx2"/>
                </a:solidFill>
                <a:latin typeface="Arial"/>
                <a:ea typeface="Verdana"/>
                <a:cs typeface="Arial"/>
              </a:rPr>
              <a:t>, grid "</a:t>
            </a:r>
            <a:r>
              <a:rPr lang="en-US" sz="1400">
                <a:solidFill>
                  <a:schemeClr val="accent1"/>
                </a:solidFill>
                <a:latin typeface="Arial"/>
                <a:ea typeface="Verdana"/>
                <a:cs typeface="Arial"/>
              </a:rPr>
              <a:t>Quota by Named Account Child</a:t>
            </a:r>
            <a:r>
              <a:rPr lang="en-US" sz="1400">
                <a:solidFill>
                  <a:schemeClr val="tx2"/>
                </a:solidFill>
                <a:latin typeface="Arial"/>
                <a:ea typeface="Verdana"/>
                <a:cs typeface="Arial"/>
              </a:rPr>
              <a:t>".  </a:t>
            </a:r>
            <a:r>
              <a:rPr lang="en-US" sz="900">
                <a:solidFill>
                  <a:schemeClr val="tx2"/>
                </a:solidFill>
                <a:latin typeface="Arial"/>
                <a:ea typeface="Verdana"/>
                <a:cs typeface="Arial"/>
              </a:rPr>
              <a:t>(SPT-562)</a:t>
            </a:r>
          </a:p>
          <a:p>
            <a:pPr marL="842010" lvl="1" indent="-232410"/>
            <a:endParaRPr lang="en-US" sz="1400">
              <a:solidFill>
                <a:schemeClr val="tx2"/>
              </a:solidFill>
              <a:latin typeface="Arial"/>
              <a:ea typeface="Verdana"/>
              <a:cs typeface="Arial"/>
            </a:endParaRPr>
          </a:p>
          <a:p>
            <a:pPr marL="232410" indent="-232410"/>
            <a:r>
              <a:rPr lang="en-US" sz="1400" b="1">
                <a:solidFill>
                  <a:schemeClr val="tx2"/>
                </a:solidFill>
                <a:latin typeface="Arial"/>
                <a:ea typeface="Verdana"/>
                <a:cs typeface="Arial"/>
              </a:rPr>
              <a:t>UX grids whose page context selectors are choosing line items with Show/Hide: you will need to select the line items manually and save the page.  </a:t>
            </a:r>
          </a:p>
          <a:p>
            <a:pPr marL="841375" lvl="1" indent="-232410"/>
            <a:r>
              <a:rPr lang="en-US" sz="1400">
                <a:solidFill>
                  <a:schemeClr val="tx2"/>
                </a:solidFill>
                <a:latin typeface="Arial"/>
                <a:ea typeface="Verdana"/>
                <a:cs typeface="Arial"/>
              </a:rPr>
              <a:t>Example: </a:t>
            </a:r>
            <a:r>
              <a:rPr lang="en-US" sz="1400">
                <a:solidFill>
                  <a:schemeClr val="accent1"/>
                </a:solidFill>
                <a:latin typeface="Arial"/>
                <a:ea typeface="Verdana"/>
                <a:cs typeface="Arial"/>
              </a:rPr>
              <a:t>page 10.6</a:t>
            </a:r>
            <a:r>
              <a:rPr lang="en-US" sz="1400">
                <a:solidFill>
                  <a:schemeClr val="tx2"/>
                </a:solidFill>
                <a:latin typeface="Arial"/>
                <a:ea typeface="Verdana"/>
                <a:cs typeface="Arial"/>
              </a:rPr>
              <a:t>.  </a:t>
            </a:r>
            <a:r>
              <a:rPr lang="en-US" sz="900">
                <a:solidFill>
                  <a:schemeClr val="tx2"/>
                </a:solidFill>
                <a:latin typeface="Arial"/>
                <a:ea typeface="Verdana"/>
                <a:cs typeface="Arial"/>
              </a:rPr>
              <a:t>(SPT-741)</a:t>
            </a:r>
            <a:endParaRPr lang="en-US" sz="900">
              <a:solidFill>
                <a:schemeClr val="tx2"/>
              </a:solidFill>
            </a:endParaRPr>
          </a:p>
          <a:p>
            <a:pPr marL="0" indent="0">
              <a:buNone/>
            </a:pPr>
            <a:endParaRPr lang="en-US" sz="1400">
              <a:solidFill>
                <a:schemeClr val="tx2"/>
              </a:solidFill>
              <a:latin typeface="Arial"/>
              <a:ea typeface="Verdana"/>
              <a:cs typeface="Arial"/>
            </a:endParaRPr>
          </a:p>
          <a:p>
            <a:pPr marL="232410" indent="-232410"/>
            <a:r>
              <a:rPr lang="en-US" sz="1400" b="1">
                <a:solidFill>
                  <a:schemeClr val="tx2"/>
                </a:solidFill>
                <a:latin typeface="Arial"/>
                <a:ea typeface="Verdana"/>
                <a:cs typeface="Arial"/>
              </a:rPr>
              <a:t>On Top-Down HC Target Setting pages, for all line items named "NTE +/- HC Target" on grids</a:t>
            </a:r>
            <a:r>
              <a:rPr lang="en-US" sz="1400">
                <a:solidFill>
                  <a:schemeClr val="tx2"/>
                </a:solidFill>
                <a:latin typeface="Arial"/>
                <a:ea typeface="Verdana"/>
                <a:cs typeface="Arial"/>
              </a:rPr>
              <a:t>, </a:t>
            </a:r>
          </a:p>
          <a:p>
            <a:pPr marL="842010" lvl="1" indent="-232410"/>
            <a:r>
              <a:rPr lang="en-US" sz="1400">
                <a:solidFill>
                  <a:schemeClr val="tx2"/>
                </a:solidFill>
                <a:latin typeface="Arial"/>
                <a:ea typeface="Verdana"/>
                <a:cs typeface="Arial"/>
              </a:rPr>
              <a:t>Hide lowest level of role grade and/or job family on columns to match template app</a:t>
            </a:r>
          </a:p>
          <a:p>
            <a:pPr marL="0" indent="0">
              <a:buNone/>
            </a:pPr>
            <a:endParaRPr lang="en-US" sz="1400">
              <a:solidFill>
                <a:schemeClr val="tx2"/>
              </a:solidFill>
              <a:latin typeface="Arial"/>
              <a:ea typeface="Verdana"/>
              <a:cs typeface="Arial"/>
            </a:endParaRPr>
          </a:p>
          <a:p>
            <a:pPr marL="232410" indent="-232410"/>
            <a:r>
              <a:rPr lang="en-US" sz="1400" b="1">
                <a:solidFill>
                  <a:schemeClr val="tx2"/>
                </a:solidFill>
                <a:latin typeface="Arial"/>
                <a:ea typeface="Verdana"/>
                <a:cs typeface="Arial"/>
              </a:rPr>
              <a:t>Customized grid header sizes are ignored</a:t>
            </a:r>
            <a:r>
              <a:rPr lang="en-US" sz="1400">
                <a:solidFill>
                  <a:schemeClr val="tx2"/>
                </a:solidFill>
                <a:latin typeface="Arial"/>
                <a:ea typeface="Verdana"/>
                <a:cs typeface="Arial"/>
              </a:rPr>
              <a:t>. </a:t>
            </a:r>
          </a:p>
          <a:p>
            <a:pPr marL="842010" lvl="1" indent="-232410"/>
            <a:r>
              <a:rPr lang="en-US" sz="1400">
                <a:solidFill>
                  <a:schemeClr val="tx2"/>
                </a:solidFill>
                <a:latin typeface="Arial"/>
                <a:ea typeface="Verdana"/>
                <a:cs typeface="Arial"/>
              </a:rPr>
              <a:t>You will need to set them manually. </a:t>
            </a:r>
            <a:r>
              <a:rPr lang="en-US" sz="900">
                <a:solidFill>
                  <a:schemeClr val="tx2"/>
                </a:solidFill>
                <a:latin typeface="Arial"/>
                <a:ea typeface="Verdana"/>
                <a:cs typeface="Arial"/>
              </a:rPr>
              <a:t>(SPT-1150). </a:t>
            </a:r>
          </a:p>
          <a:p>
            <a:pPr marL="842010" lvl="1" indent="-232410"/>
            <a:r>
              <a:rPr lang="en-US" sz="1400">
                <a:solidFill>
                  <a:schemeClr val="tx2"/>
                </a:solidFill>
                <a:latin typeface="Arial"/>
                <a:ea typeface="Verdana"/>
                <a:cs typeface="Arial"/>
              </a:rPr>
              <a:t>Make sure no/very little side scrolling on grids, </a:t>
            </a:r>
          </a:p>
          <a:p>
            <a:pPr marL="842010" lvl="1" indent="-232410"/>
            <a:r>
              <a:rPr lang="en-US" sz="1400">
                <a:solidFill>
                  <a:schemeClr val="tx2"/>
                </a:solidFill>
                <a:latin typeface="Arial"/>
                <a:ea typeface="Verdana"/>
                <a:cs typeface="Arial"/>
              </a:rPr>
              <a:t>Change column height to 2 instead of 3 where you appropriate.</a:t>
            </a:r>
            <a:endParaRPr lang="en-US" sz="1400">
              <a:solidFill>
                <a:schemeClr val="tx2"/>
              </a:solidFill>
              <a:latin typeface="Arial"/>
              <a:cs typeface="Arial"/>
            </a:endParaRPr>
          </a:p>
          <a:p>
            <a:pPr marL="232410" indent="-232410"/>
            <a:endParaRPr lang="en-US" sz="1400">
              <a:solidFill>
                <a:schemeClr val="tx2"/>
              </a:solidFill>
            </a:endParaRPr>
          </a:p>
          <a:p>
            <a:pPr marL="232410" marR="0" lvl="0" indent="-23241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chemeClr val="tx1"/>
              </a:solidFill>
              <a:effectLst/>
              <a:uLnTx/>
              <a:uFillTx/>
              <a:latin typeface="Arial"/>
              <a:ea typeface="Verdana"/>
              <a:cs typeface="Arial"/>
            </a:endParaRPr>
          </a:p>
        </p:txBody>
      </p:sp>
    </p:spTree>
    <p:extLst>
      <p:ext uri="{BB962C8B-B14F-4D97-AF65-F5344CB8AC3E}">
        <p14:creationId xmlns:p14="http://schemas.microsoft.com/office/powerpoint/2010/main" val="947366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99DB-D6A3-4CE3-7895-E2C2DB40D0E8}"/>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F685F887-DAC3-7FFF-08DA-363414FA17E8}"/>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KPI time selections updates</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E1BDF639-3EE5-50A5-9C20-7AFA27C796AF}"/>
              </a:ext>
            </a:extLst>
          </p:cNvPr>
          <p:cNvSpPr txBox="1"/>
          <p:nvPr/>
        </p:nvSpPr>
        <p:spPr>
          <a:xfrm>
            <a:off x="494925" y="1123200"/>
            <a:ext cx="8893624" cy="523220"/>
          </a:xfrm>
          <a:prstGeom prst="rect">
            <a:avLst/>
          </a:prstGeom>
          <a:noFill/>
        </p:spPr>
        <p:txBody>
          <a:bodyPr wrap="square">
            <a:spAutoFit/>
          </a:bodyPr>
          <a:lstStyle/>
          <a:p>
            <a:r>
              <a:rPr lang="en-US" sz="1400" b="0" i="0" u="none" strike="noStrike">
                <a:solidFill>
                  <a:schemeClr val="tx2"/>
                </a:solidFill>
                <a:effectLst/>
                <a:latin typeface="Arial" panose="020B0604020202020204" pitchFamily="34" charset="0"/>
              </a:rPr>
              <a:t>On page </a:t>
            </a:r>
            <a:r>
              <a:rPr lang="en-US" sz="1400" b="1" i="0" u="none" strike="noStrike">
                <a:solidFill>
                  <a:schemeClr val="accent1"/>
                </a:solidFill>
                <a:effectLst/>
                <a:latin typeface="Arial" panose="020B0604020202020204" pitchFamily="34" charset="0"/>
              </a:rPr>
              <a:t>3.1 </a:t>
            </a:r>
            <a:r>
              <a:rPr lang="en-US" sz="1400"/>
              <a:t>Review page context manual selection by comparing to the template, update the </a:t>
            </a:r>
            <a:r>
              <a:rPr lang="en-US" sz="1400" b="1"/>
              <a:t>page context</a:t>
            </a:r>
            <a:r>
              <a:rPr lang="en-US" sz="1400"/>
              <a:t> dropdown manual selections and </a:t>
            </a:r>
            <a:r>
              <a:rPr lang="en-US" sz="1400" b="1"/>
              <a:t>filters</a:t>
            </a:r>
            <a:endParaRPr lang="en-US" sz="1400" b="1">
              <a:solidFill>
                <a:schemeClr val="tx2"/>
              </a:solidFill>
            </a:endParaRPr>
          </a:p>
        </p:txBody>
      </p:sp>
      <p:pic>
        <p:nvPicPr>
          <p:cNvPr id="8198" name="Picture 6" descr="A screenshot of a computer&#10;&#10;AI-generated content may be incorrect.">
            <a:extLst>
              <a:ext uri="{FF2B5EF4-FFF2-40B4-BE49-F238E27FC236}">
                <a16:creationId xmlns:a16="http://schemas.microsoft.com/office/drawing/2014/main" id="{360799F0-124F-8245-FC7E-9F4CFA11E4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102" y="1818536"/>
            <a:ext cx="9618857" cy="4646609"/>
          </a:xfrm>
          <a:prstGeom prst="roundRect">
            <a:avLst>
              <a:gd name="adj" fmla="val 3511"/>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4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6DC70-8E66-F574-D7FA-6004C39D0D26}"/>
            </a:ext>
          </a:extLst>
        </p:cNvPr>
        <p:cNvGrpSpPr/>
        <p:nvPr/>
      </p:nvGrpSpPr>
      <p:grpSpPr>
        <a:xfrm>
          <a:off x="0" y="0"/>
          <a:ext cx="0" cy="0"/>
          <a:chOff x="0" y="0"/>
          <a:chExt cx="0" cy="0"/>
        </a:xfrm>
      </p:grpSpPr>
      <p:sp>
        <p:nvSpPr>
          <p:cNvPr id="14" name="Title 67">
            <a:extLst>
              <a:ext uri="{FF2B5EF4-FFF2-40B4-BE49-F238E27FC236}">
                <a16:creationId xmlns:a16="http://schemas.microsoft.com/office/drawing/2014/main" id="{42C8A580-3199-4F10-78EB-159BD2FF01C7}"/>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a:solidFill>
                  <a:srgbClr val="FFFFFF"/>
                </a:solidFill>
              </a:rPr>
              <a:t>KPI for list selection  </a:t>
            </a:r>
            <a:endParaRPr kumimoji="0" lang="en-GB" sz="2400"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6043403C-4B66-3D15-9367-5ECF37B463C8}"/>
              </a:ext>
            </a:extLst>
          </p:cNvPr>
          <p:cNvSpPr txBox="1"/>
          <p:nvPr/>
        </p:nvSpPr>
        <p:spPr>
          <a:xfrm>
            <a:off x="494924" y="1123200"/>
            <a:ext cx="10866495" cy="523220"/>
          </a:xfrm>
          <a:prstGeom prst="rect">
            <a:avLst/>
          </a:prstGeom>
          <a:noFill/>
        </p:spPr>
        <p:txBody>
          <a:bodyPr wrap="square">
            <a:spAutoFit/>
          </a:bodyPr>
          <a:lstStyle/>
          <a:p>
            <a:r>
              <a:rPr lang="en-US" sz="1400"/>
              <a:t>When a template page uses a KPI card for list selection on a grid, the line item used may need to be manually updated to match the customer's specifications. </a:t>
            </a:r>
            <a:r>
              <a:rPr lang="en-US" sz="900"/>
              <a:t>(SPT-667)</a:t>
            </a:r>
            <a:endParaRPr lang="en-US" sz="900" b="1">
              <a:solidFill>
                <a:schemeClr val="tx2"/>
              </a:solidFill>
            </a:endParaRPr>
          </a:p>
        </p:txBody>
      </p:sp>
      <p:pic>
        <p:nvPicPr>
          <p:cNvPr id="26626" name="Picture 2" descr="A screenshot of a card&#10;&#10;Description automatically generated">
            <a:extLst>
              <a:ext uri="{FF2B5EF4-FFF2-40B4-BE49-F238E27FC236}">
                <a16:creationId xmlns:a16="http://schemas.microsoft.com/office/drawing/2014/main" id="{B3520CBC-2C9A-DC87-8C28-B36E7036C0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0"/>
          <a:stretch>
            <a:fillRect/>
          </a:stretch>
        </p:blipFill>
        <p:spPr bwMode="auto">
          <a:xfrm>
            <a:off x="494925" y="2048470"/>
            <a:ext cx="10701203" cy="4112299"/>
          </a:xfrm>
          <a:prstGeom prst="roundRect">
            <a:avLst>
              <a:gd name="adj" fmla="val 2656"/>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1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732D-B889-F667-59ED-BA18BD5D1430}"/>
            </a:ext>
          </a:extLst>
        </p:cNvPr>
        <p:cNvGrpSpPr/>
        <p:nvPr/>
      </p:nvGrpSpPr>
      <p:grpSpPr>
        <a:xfrm>
          <a:off x="0" y="0"/>
          <a:ext cx="0" cy="0"/>
          <a:chOff x="0" y="0"/>
          <a:chExt cx="0" cy="0"/>
        </a:xfrm>
      </p:grpSpPr>
      <p:sp>
        <p:nvSpPr>
          <p:cNvPr id="4" name="Title 67">
            <a:extLst>
              <a:ext uri="{FF2B5EF4-FFF2-40B4-BE49-F238E27FC236}">
                <a16:creationId xmlns:a16="http://schemas.microsoft.com/office/drawing/2014/main" id="{923D2364-81F0-1AD9-E513-9082E8A3A132}"/>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Graph selection updates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9130B990-87F3-0DB6-04DE-CF9884317136}"/>
              </a:ext>
            </a:extLst>
          </p:cNvPr>
          <p:cNvSpPr txBox="1"/>
          <p:nvPr/>
        </p:nvSpPr>
        <p:spPr>
          <a:xfrm>
            <a:off x="534353" y="1470771"/>
            <a:ext cx="5066347" cy="4470455"/>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Graph level selection</a:t>
            </a:r>
          </a:p>
          <a:p>
            <a:pPr marL="742950" lvl="1" indent="-285750">
              <a:spcBef>
                <a:spcPts val="336"/>
              </a:spcBef>
              <a:buFont typeface="Arial" panose="020B0604020202020204" pitchFamily="34" charset="0"/>
              <a:buChar char="•"/>
            </a:pPr>
            <a:r>
              <a:rPr lang="en-US" sz="1400"/>
              <a:t>Review all pages that include graphs to be sure the graph level selection on hierarchies is correct. </a:t>
            </a:r>
          </a:p>
          <a:p>
            <a:pPr marL="742950" lvl="1" indent="-285750">
              <a:spcBef>
                <a:spcPts val="336"/>
              </a:spcBef>
              <a:buFont typeface="Arial" panose="020B0604020202020204" pitchFamily="34" charset="0"/>
              <a:buChar char="•"/>
            </a:pPr>
            <a:r>
              <a:rPr lang="en-US" sz="1400"/>
              <a:t>Example: page </a:t>
            </a:r>
            <a:r>
              <a:rPr lang="en-US" sz="1400" b="1">
                <a:solidFill>
                  <a:schemeClr val="accent1"/>
                </a:solidFill>
              </a:rPr>
              <a:t>4.3 Geo Goal Overallocation</a:t>
            </a:r>
          </a:p>
          <a:p>
            <a:pPr lvl="1">
              <a:spcBef>
                <a:spcPts val="336"/>
              </a:spcBef>
            </a:pPr>
            <a:r>
              <a:rPr lang="en-US" sz="1400" b="1">
                <a:solidFill>
                  <a:schemeClr val="accent1"/>
                </a:solidFill>
              </a:rPr>
              <a:t>	</a:t>
            </a:r>
            <a:r>
              <a:rPr lang="en-US"/>
              <a:t> </a:t>
            </a:r>
            <a:r>
              <a:rPr lang="en-US" sz="900"/>
              <a:t>(SPT-382, SPT-621)​</a:t>
            </a:r>
          </a:p>
          <a:p>
            <a:pPr lvl="1">
              <a:spcBef>
                <a:spcPts val="336"/>
              </a:spcBef>
            </a:pPr>
            <a:endParaRPr lang="en-US" sz="900" b="1">
              <a:solidFill>
                <a:schemeClr val="accent1"/>
              </a:solidFill>
            </a:endParaRPr>
          </a:p>
          <a:p>
            <a:pPr>
              <a:spcBef>
                <a:spcPts val="336"/>
              </a:spcBef>
            </a:pPr>
            <a:r>
              <a:rPr lang="en-US" sz="1600" b="1">
                <a:solidFill>
                  <a:schemeClr val="accent1"/>
                </a:solidFill>
                <a:latin typeface="Arial" panose="020B0604020202020204" pitchFamily="34" charset="0"/>
                <a:ea typeface="+mn-lt"/>
                <a:cs typeface="Arial" panose="020B0604020202020204" pitchFamily="34" charset="0"/>
              </a:rPr>
              <a:t>Graph secondary axis</a:t>
            </a:r>
          </a:p>
          <a:p>
            <a:pPr marL="742950" lvl="1" indent="-285750">
              <a:spcBef>
                <a:spcPts val="336"/>
              </a:spcBef>
              <a:buFont typeface="Arial" panose="020B0604020202020204" pitchFamily="34" charset="0"/>
              <a:buChar char="•"/>
            </a:pPr>
            <a:r>
              <a:rPr lang="en-US" sz="1400"/>
              <a:t>Review all pages that include graphs to ensure all secondary axis selections are correct (compare to the template application as needed). </a:t>
            </a:r>
          </a:p>
          <a:p>
            <a:pPr marL="742950" lvl="1" indent="-285750">
              <a:spcBef>
                <a:spcPts val="336"/>
              </a:spcBef>
              <a:buFont typeface="Arial" panose="020B0604020202020204" pitchFamily="34" charset="0"/>
              <a:buChar char="•"/>
            </a:pPr>
            <a:r>
              <a:rPr lang="en-US" sz="1400"/>
              <a:t>Example: page </a:t>
            </a:r>
            <a:r>
              <a:rPr lang="en-US" sz="1400" b="1">
                <a:solidFill>
                  <a:schemeClr val="accent1"/>
                </a:solidFill>
              </a:rPr>
              <a:t>7.2 Manage Territory Account Assignments	</a:t>
            </a:r>
          </a:p>
          <a:p>
            <a:pPr lvl="1">
              <a:spcBef>
                <a:spcPts val="336"/>
              </a:spcBef>
            </a:pPr>
            <a:r>
              <a:rPr lang="en-US" sz="1400" b="1">
                <a:solidFill>
                  <a:schemeClr val="accent1"/>
                </a:solidFill>
              </a:rPr>
              <a:t>	</a:t>
            </a:r>
            <a:r>
              <a:rPr lang="en-US" sz="900"/>
              <a:t>(SPT-512)</a:t>
            </a:r>
            <a:endParaRPr lang="en-US" sz="900" b="1">
              <a:solidFill>
                <a:schemeClr val="accent1"/>
              </a:solidFill>
            </a:endParaRPr>
          </a:p>
          <a:p>
            <a:pPr>
              <a:spcBef>
                <a:spcPts val="336"/>
              </a:spcBef>
            </a:pPr>
            <a:endParaRPr lang="en-US" sz="1400" b="1">
              <a:solidFill>
                <a:schemeClr val="tx2"/>
              </a:solidFill>
              <a:latin typeface="Arial" panose="020B0604020202020204" pitchFamily="34" charset="0"/>
              <a:cs typeface="Arial" panose="020B0604020202020204" pitchFamily="34" charset="0"/>
            </a:endParaRPr>
          </a:p>
          <a:p>
            <a:pPr>
              <a:spcBef>
                <a:spcPts val="336"/>
              </a:spcBef>
            </a:pPr>
            <a:r>
              <a:rPr lang="en-US" sz="1600" b="1">
                <a:solidFill>
                  <a:schemeClr val="accent1"/>
                </a:solidFill>
                <a:latin typeface="Arial" panose="020B0604020202020204" pitchFamily="34" charset="0"/>
                <a:ea typeface="+mn-lt"/>
                <a:cs typeface="Arial" panose="020B0604020202020204" pitchFamily="34" charset="0"/>
              </a:rPr>
              <a:t>Combination charts</a:t>
            </a:r>
          </a:p>
          <a:p>
            <a:pPr marL="742950" lvl="1" indent="-285750">
              <a:spcBef>
                <a:spcPts val="336"/>
              </a:spcBef>
              <a:buFont typeface="Arial" panose="020B0604020202020204" pitchFamily="34" charset="0"/>
              <a:buChar char="•"/>
            </a:pPr>
            <a:r>
              <a:rPr lang="en-US" sz="1400"/>
              <a:t>Check all combination charts against to the template application to ensure the appropriate selections and settings. </a:t>
            </a:r>
          </a:p>
        </p:txBody>
      </p:sp>
      <p:pic>
        <p:nvPicPr>
          <p:cNvPr id="27650" name="Picture 2" descr="A screenshot of a survey&#10;&#10;Description automatically generated">
            <a:extLst>
              <a:ext uri="{FF2B5EF4-FFF2-40B4-BE49-F238E27FC236}">
                <a16:creationId xmlns:a16="http://schemas.microsoft.com/office/drawing/2014/main" id="{59A0B6D4-D2FB-0703-9B50-3959311BD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3461" y="1696003"/>
            <a:ext cx="2946895" cy="3465993"/>
          </a:xfrm>
          <a:prstGeom prst="roundRect">
            <a:avLst>
              <a:gd name="adj" fmla="val 1769"/>
            </a:avLst>
          </a:prstGeom>
          <a:noFill/>
          <a:effectLst>
            <a:outerShdw blurRad="63500" sx="102000" sy="102000" algn="ctr" rotWithShape="0">
              <a:schemeClr val="tx2">
                <a:alpha val="22927"/>
              </a:schemeClr>
            </a:outerShdw>
          </a:effectLst>
          <a:extLst>
            <a:ext uri="{909E8E84-426E-40DD-AFC4-6F175D3DCCD1}">
              <a14:hiddenFill xmlns:a14="http://schemas.microsoft.com/office/drawing/2010/main">
                <a:solidFill>
                  <a:srgbClr val="FFFFFF"/>
                </a:solidFill>
              </a14:hiddenFill>
            </a:ext>
          </a:extLst>
        </p:spPr>
      </p:pic>
      <p:pic>
        <p:nvPicPr>
          <p:cNvPr id="27652" name="Picture 4" descr="A screenshot of a computer&#10;&#10;Description automatically generated">
            <a:extLst>
              <a:ext uri="{FF2B5EF4-FFF2-40B4-BE49-F238E27FC236}">
                <a16:creationId xmlns:a16="http://schemas.microsoft.com/office/drawing/2014/main" id="{C6189BA6-7D37-0EA2-9913-C81BBD6DD2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90" t="1617" r="2250" b="2632"/>
          <a:stretch>
            <a:fillRect/>
          </a:stretch>
        </p:blipFill>
        <p:spPr bwMode="auto">
          <a:xfrm>
            <a:off x="8585752" y="3177850"/>
            <a:ext cx="2900550" cy="3028988"/>
          </a:xfrm>
          <a:prstGeom prst="roundRect">
            <a:avLst>
              <a:gd name="adj" fmla="val 1110"/>
            </a:avLst>
          </a:prstGeom>
          <a:noFill/>
          <a:effectLst>
            <a:outerShdw blurRad="63500" sx="102000" sy="102000" algn="ctr" rotWithShape="0">
              <a:schemeClr val="tx2">
                <a:alpha val="9834"/>
              </a:scheme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7F300F8-0631-80C1-A7C0-26B0D8865E10}"/>
              </a:ext>
            </a:extLst>
          </p:cNvPr>
          <p:cNvSpPr txBox="1"/>
          <p:nvPr/>
        </p:nvSpPr>
        <p:spPr>
          <a:xfrm>
            <a:off x="6463461" y="1316882"/>
            <a:ext cx="2900550" cy="307777"/>
          </a:xfrm>
          <a:prstGeom prst="rect">
            <a:avLst/>
          </a:prstGeom>
          <a:noFill/>
        </p:spPr>
        <p:txBody>
          <a:bodyPr wrap="square" lIns="0" rtlCol="0">
            <a:spAutoFit/>
          </a:bodyPr>
          <a:lstStyle/>
          <a:p>
            <a:pPr algn="l">
              <a:buClrTx/>
            </a:pPr>
            <a:r>
              <a:rPr lang="en-US" sz="1400" b="1">
                <a:solidFill>
                  <a:schemeClr val="accent1"/>
                </a:solidFill>
                <a:latin typeface="Arial" panose="020B0604020202020204" pitchFamily="34" charset="0"/>
                <a:ea typeface="Inter Light" panose="02000503000000020004" pitchFamily="2" charset="0"/>
                <a:cs typeface="Arial" panose="020B0604020202020204" pitchFamily="34" charset="0"/>
              </a:rPr>
              <a:t>Page 4.3 Example</a:t>
            </a:r>
          </a:p>
        </p:txBody>
      </p:sp>
      <p:sp>
        <p:nvSpPr>
          <p:cNvPr id="10" name="TextBox 9">
            <a:extLst>
              <a:ext uri="{FF2B5EF4-FFF2-40B4-BE49-F238E27FC236}">
                <a16:creationId xmlns:a16="http://schemas.microsoft.com/office/drawing/2014/main" id="{C24CCD6B-F472-CC92-2D55-DBADE6B6AB9C}"/>
              </a:ext>
            </a:extLst>
          </p:cNvPr>
          <p:cNvSpPr txBox="1"/>
          <p:nvPr/>
        </p:nvSpPr>
        <p:spPr>
          <a:xfrm>
            <a:off x="8585752" y="2794426"/>
            <a:ext cx="2900550" cy="307777"/>
          </a:xfrm>
          <a:prstGeom prst="rect">
            <a:avLst/>
          </a:prstGeom>
          <a:noFill/>
        </p:spPr>
        <p:txBody>
          <a:bodyPr wrap="square" lIns="0" rtlCol="0">
            <a:spAutoFit/>
          </a:bodyPr>
          <a:lstStyle/>
          <a:p>
            <a:pPr algn="l">
              <a:buClrTx/>
            </a:pPr>
            <a:r>
              <a:rPr lang="en-US" sz="1400" b="1">
                <a:solidFill>
                  <a:schemeClr val="accent1"/>
                </a:solidFill>
                <a:latin typeface="Arial" panose="020B0604020202020204" pitchFamily="34" charset="0"/>
                <a:ea typeface="Inter Light" panose="02000503000000020004" pitchFamily="2" charset="0"/>
                <a:cs typeface="Arial" panose="020B0604020202020204" pitchFamily="34" charset="0"/>
              </a:rPr>
              <a:t>Page 7.2 Example</a:t>
            </a:r>
          </a:p>
        </p:txBody>
      </p:sp>
    </p:spTree>
    <p:extLst>
      <p:ext uri="{BB962C8B-B14F-4D97-AF65-F5344CB8AC3E}">
        <p14:creationId xmlns:p14="http://schemas.microsoft.com/office/powerpoint/2010/main" val="312705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1A6B-6F0F-8D51-7106-F531D30882EE}"/>
            </a:ext>
          </a:extLst>
        </p:cNvPr>
        <p:cNvGrpSpPr/>
        <p:nvPr/>
      </p:nvGrpSpPr>
      <p:grpSpPr>
        <a:xfrm>
          <a:off x="0" y="0"/>
          <a:ext cx="0" cy="0"/>
          <a:chOff x="0" y="0"/>
          <a:chExt cx="0" cy="0"/>
        </a:xfrm>
      </p:grpSpPr>
      <p:pic>
        <p:nvPicPr>
          <p:cNvPr id="28676" name="Picture 4" descr="A screen shot of a computer&#10;&#10;Description automatically generated">
            <a:extLst>
              <a:ext uri="{FF2B5EF4-FFF2-40B4-BE49-F238E27FC236}">
                <a16:creationId xmlns:a16="http://schemas.microsoft.com/office/drawing/2014/main" id="{99A0B640-6D54-593F-F39C-EB7CBD5D5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0255" y="3470361"/>
            <a:ext cx="3430168" cy="2235735"/>
          </a:xfrm>
          <a:prstGeom prst="roundRect">
            <a:avLst>
              <a:gd name="adj" fmla="val 4523"/>
            </a:avLst>
          </a:prstGeom>
          <a:noFill/>
          <a:effectLst>
            <a:outerShdw blurRad="63500" sx="102000" sy="102000" algn="ctr" rotWithShape="0">
              <a:schemeClr val="tx2">
                <a:alpha val="14725"/>
              </a:schemeClr>
            </a:outerShdw>
          </a:effectLst>
          <a:extLst>
            <a:ext uri="{909E8E84-426E-40DD-AFC4-6F175D3DCCD1}">
              <a14:hiddenFill xmlns:a14="http://schemas.microsoft.com/office/drawing/2010/main">
                <a:solidFill>
                  <a:srgbClr val="FFFFFF"/>
                </a:solidFill>
              </a14:hiddenFill>
            </a:ext>
          </a:extLst>
        </p:spPr>
      </p:pic>
      <p:sp>
        <p:nvSpPr>
          <p:cNvPr id="4" name="Title 67">
            <a:extLst>
              <a:ext uri="{FF2B5EF4-FFF2-40B4-BE49-F238E27FC236}">
                <a16:creationId xmlns:a16="http://schemas.microsoft.com/office/drawing/2014/main" id="{08D70A0A-45C4-61C5-4BDF-1DDA45316B43}"/>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Subset selections – page updates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FB469022-46E9-133C-D1C5-1D277C1406CA}"/>
              </a:ext>
            </a:extLst>
          </p:cNvPr>
          <p:cNvSpPr txBox="1"/>
          <p:nvPr/>
        </p:nvSpPr>
        <p:spPr>
          <a:xfrm>
            <a:off x="550118" y="1233334"/>
            <a:ext cx="6024052" cy="1846659"/>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Grid level selection on subsets</a:t>
            </a:r>
          </a:p>
          <a:p>
            <a:pPr marL="742950" lvl="1" indent="-285750">
              <a:spcBef>
                <a:spcPts val="336"/>
              </a:spcBef>
              <a:buFont typeface="Arial" panose="020B0604020202020204" pitchFamily="34" charset="0"/>
              <a:buChar char="•"/>
            </a:pPr>
            <a:r>
              <a:rPr lang="en-US" sz="1400"/>
              <a:t>Grids using level selections on a subset will need to be adjusted. </a:t>
            </a:r>
          </a:p>
          <a:p>
            <a:pPr marL="742950" lvl="1" indent="-285750">
              <a:spcBef>
                <a:spcPts val="336"/>
              </a:spcBef>
              <a:buFont typeface="Arial" panose="020B0604020202020204" pitchFamily="34" charset="0"/>
              <a:buChar char="•"/>
            </a:pPr>
            <a:r>
              <a:rPr lang="en-US" sz="1400"/>
              <a:t>Example: page </a:t>
            </a:r>
            <a:r>
              <a:rPr lang="en-US" sz="1400" b="1">
                <a:solidFill>
                  <a:schemeClr val="accent1"/>
                </a:solidFill>
              </a:rPr>
              <a:t>8.3 </a:t>
            </a:r>
            <a:r>
              <a:rPr lang="en-US" sz="1400">
                <a:solidFill>
                  <a:schemeClr val="tx2"/>
                </a:solidFill>
              </a:rPr>
              <a:t>on grid </a:t>
            </a:r>
            <a:r>
              <a:rPr lang="en-US" sz="1400" b="1">
                <a:solidFill>
                  <a:schemeClr val="tx2"/>
                </a:solidFill>
              </a:rPr>
              <a:t>“</a:t>
            </a:r>
            <a:r>
              <a:rPr lang="en-US" sz="1400" b="1">
                <a:solidFill>
                  <a:schemeClr val="accent1"/>
                </a:solidFill>
              </a:rPr>
              <a:t>Finance Targets</a:t>
            </a:r>
            <a:r>
              <a:rPr lang="en-US" sz="1400" b="1">
                <a:solidFill>
                  <a:schemeClr val="tx2"/>
                </a:solidFill>
              </a:rPr>
              <a:t>” </a:t>
            </a:r>
          </a:p>
          <a:p>
            <a:pPr marL="1200150" lvl="2" indent="-285750">
              <a:spcBef>
                <a:spcPts val="336"/>
              </a:spcBef>
              <a:buFont typeface="Arial" panose="020B0604020202020204" pitchFamily="34" charset="0"/>
              <a:buChar char="•"/>
            </a:pPr>
            <a:r>
              <a:rPr lang="en-US" sz="1400">
                <a:solidFill>
                  <a:schemeClr val="tx2"/>
                </a:solidFill>
              </a:rPr>
              <a:t>Change grid level selection for the subset </a:t>
            </a:r>
            <a:r>
              <a:rPr lang="en-US" sz="1400" b="1">
                <a:solidFill>
                  <a:schemeClr val="accent1"/>
                </a:solidFill>
              </a:rPr>
              <a:t>Region T3 &gt; SA</a:t>
            </a:r>
          </a:p>
          <a:p>
            <a:pPr lvl="1">
              <a:spcBef>
                <a:spcPts val="336"/>
              </a:spcBef>
            </a:pPr>
            <a:r>
              <a:rPr lang="en-US" sz="1400" b="1">
                <a:solidFill>
                  <a:schemeClr val="accent1"/>
                </a:solidFill>
              </a:rPr>
              <a:t>	</a:t>
            </a:r>
            <a:r>
              <a:rPr lang="en-US"/>
              <a:t> </a:t>
            </a:r>
            <a:r>
              <a:rPr lang="en-US" sz="900"/>
              <a:t>(SPT544)</a:t>
            </a:r>
          </a:p>
          <a:p>
            <a:pPr lvl="1">
              <a:spcBef>
                <a:spcPts val="336"/>
              </a:spcBef>
            </a:pPr>
            <a:endParaRPr lang="en-US" sz="900" b="1">
              <a:solidFill>
                <a:schemeClr val="accent1"/>
              </a:solidFill>
            </a:endParaRPr>
          </a:p>
          <a:p>
            <a:pPr>
              <a:spcBef>
                <a:spcPts val="336"/>
              </a:spcBef>
            </a:pPr>
            <a:endParaRPr lang="en-US" sz="1400" b="1">
              <a:solidFill>
                <a:schemeClr val="tx2"/>
              </a:solidFill>
              <a:latin typeface="Arial" panose="020B0604020202020204" pitchFamily="34" charset="0"/>
              <a:cs typeface="Arial" panose="020B0604020202020204" pitchFamily="34" charset="0"/>
            </a:endParaRPr>
          </a:p>
        </p:txBody>
      </p:sp>
      <p:pic>
        <p:nvPicPr>
          <p:cNvPr id="28674" name="Picture 2" descr="A screenshot of a computer&#10;&#10;Description automatically generated">
            <a:extLst>
              <a:ext uri="{FF2B5EF4-FFF2-40B4-BE49-F238E27FC236}">
                <a16:creationId xmlns:a16="http://schemas.microsoft.com/office/drawing/2014/main" id="{9384D3A8-EA51-6560-5160-28B25A253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4290" y="1387222"/>
            <a:ext cx="2371929" cy="2594109"/>
          </a:xfrm>
          <a:prstGeom prst="roundRect">
            <a:avLst>
              <a:gd name="adj" fmla="val 3174"/>
            </a:avLst>
          </a:prstGeom>
          <a:noFill/>
          <a:effectLst>
            <a:outerShdw blurRad="63500" sx="102000" sy="102000" algn="ctr" rotWithShape="0">
              <a:schemeClr val="tx2">
                <a:alpha val="20130"/>
              </a:scheme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867A39-41DB-5AA3-A08A-BEB68698E2C1}"/>
              </a:ext>
            </a:extLst>
          </p:cNvPr>
          <p:cNvSpPr txBox="1"/>
          <p:nvPr/>
        </p:nvSpPr>
        <p:spPr>
          <a:xfrm>
            <a:off x="531576" y="2960088"/>
            <a:ext cx="6042593" cy="1315745"/>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Grid hierarchy filter on subset</a:t>
            </a:r>
          </a:p>
          <a:p>
            <a:pPr marL="742950" lvl="1" indent="-285750">
              <a:spcBef>
                <a:spcPts val="336"/>
              </a:spcBef>
              <a:buFont typeface="Arial" panose="020B0604020202020204" pitchFamily="34" charset="0"/>
              <a:buChar char="•"/>
            </a:pPr>
            <a:r>
              <a:rPr lang="en-US" sz="1400"/>
              <a:t>Update grids that use hierarchy filters on subsets; these pages will generate without these included.</a:t>
            </a:r>
          </a:p>
          <a:p>
            <a:pPr marL="742950" lvl="1" indent="-285750">
              <a:spcBef>
                <a:spcPts val="336"/>
              </a:spcBef>
              <a:buFont typeface="Arial" panose="020B0604020202020204" pitchFamily="34" charset="0"/>
              <a:buChar char="•"/>
            </a:pPr>
            <a:r>
              <a:rPr lang="en-US" sz="1400"/>
              <a:t>Example: page </a:t>
            </a:r>
            <a:r>
              <a:rPr lang="en-US" sz="1400" b="1">
                <a:solidFill>
                  <a:schemeClr val="accent1"/>
                </a:solidFill>
              </a:rPr>
              <a:t>9.3 Named Account Quota	</a:t>
            </a:r>
          </a:p>
          <a:p>
            <a:pPr lvl="1">
              <a:spcBef>
                <a:spcPts val="336"/>
              </a:spcBef>
            </a:pPr>
            <a:r>
              <a:rPr lang="en-US" sz="1400" b="1">
                <a:solidFill>
                  <a:schemeClr val="accent1"/>
                </a:solidFill>
              </a:rPr>
              <a:t>	</a:t>
            </a:r>
            <a:r>
              <a:rPr lang="en-US" sz="900"/>
              <a:t>(SPT-562)</a:t>
            </a:r>
            <a:endParaRPr lang="en-US" sz="900" b="1">
              <a:solidFill>
                <a:schemeClr val="accent1"/>
              </a:solidFill>
            </a:endParaRPr>
          </a:p>
        </p:txBody>
      </p:sp>
      <p:sp>
        <p:nvSpPr>
          <p:cNvPr id="7" name="TextBox 6">
            <a:extLst>
              <a:ext uri="{FF2B5EF4-FFF2-40B4-BE49-F238E27FC236}">
                <a16:creationId xmlns:a16="http://schemas.microsoft.com/office/drawing/2014/main" id="{BB93CAA9-6BC7-3BB1-A28E-D3E1E5CB5144}"/>
              </a:ext>
            </a:extLst>
          </p:cNvPr>
          <p:cNvSpPr txBox="1"/>
          <p:nvPr/>
        </p:nvSpPr>
        <p:spPr>
          <a:xfrm>
            <a:off x="615102" y="4682739"/>
            <a:ext cx="5480898" cy="1746632"/>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Grid pivot for line items subsets </a:t>
            </a:r>
          </a:p>
          <a:p>
            <a:pPr marL="742950" lvl="1" indent="-285750">
              <a:spcBef>
                <a:spcPts val="336"/>
              </a:spcBef>
              <a:buFont typeface="Arial" panose="020B0604020202020204" pitchFamily="34" charset="0"/>
              <a:buChar char="•"/>
            </a:pPr>
            <a:r>
              <a:rPr lang="en-US" sz="1400"/>
              <a:t>Grids using line item subsets may need to be repivoted (compare to the template application as needed)</a:t>
            </a:r>
          </a:p>
          <a:p>
            <a:pPr marL="742950" lvl="1" indent="-285750">
              <a:spcBef>
                <a:spcPts val="336"/>
              </a:spcBef>
              <a:buFont typeface="Arial" panose="020B0604020202020204" pitchFamily="34" charset="0"/>
              <a:buChar char="•"/>
            </a:pPr>
            <a:r>
              <a:rPr lang="en-US" sz="1400"/>
              <a:t>Example: page </a:t>
            </a:r>
            <a:r>
              <a:rPr lang="en-US" sz="1400" b="1">
                <a:solidFill>
                  <a:schemeClr val="accent1"/>
                </a:solidFill>
              </a:rPr>
              <a:t>3.5</a:t>
            </a:r>
            <a:r>
              <a:rPr lang="en-US" sz="1400"/>
              <a:t>, grids "</a:t>
            </a:r>
            <a:r>
              <a:rPr lang="en-US" sz="1400" b="1">
                <a:solidFill>
                  <a:schemeClr val="accent1"/>
                </a:solidFill>
              </a:rPr>
              <a:t>Override Default Allocation Method by Area</a:t>
            </a:r>
            <a:r>
              <a:rPr lang="en-US" sz="1400"/>
              <a:t>" and "</a:t>
            </a:r>
            <a:r>
              <a:rPr lang="en-US" sz="1400" b="1">
                <a:solidFill>
                  <a:schemeClr val="accent1"/>
                </a:solidFill>
              </a:rPr>
              <a:t>Override Default Allocation Method by Territory</a:t>
            </a:r>
            <a:r>
              <a:rPr lang="en-US" sz="1400"/>
              <a:t>". </a:t>
            </a:r>
          </a:p>
          <a:p>
            <a:pPr lvl="1">
              <a:spcBef>
                <a:spcPts val="336"/>
              </a:spcBef>
            </a:pPr>
            <a:r>
              <a:rPr lang="en-US" sz="1400"/>
              <a:t>	</a:t>
            </a:r>
            <a:r>
              <a:rPr lang="en-US" sz="900"/>
              <a:t>(SPT-457)​</a:t>
            </a:r>
          </a:p>
        </p:txBody>
      </p:sp>
      <p:sp>
        <p:nvSpPr>
          <p:cNvPr id="8" name="TextBox 7">
            <a:extLst>
              <a:ext uri="{FF2B5EF4-FFF2-40B4-BE49-F238E27FC236}">
                <a16:creationId xmlns:a16="http://schemas.microsoft.com/office/drawing/2014/main" id="{F2E83EDA-F81F-D634-BCF4-419E0CF94E45}"/>
              </a:ext>
            </a:extLst>
          </p:cNvPr>
          <p:cNvSpPr txBox="1"/>
          <p:nvPr/>
        </p:nvSpPr>
        <p:spPr>
          <a:xfrm>
            <a:off x="7044790" y="1079445"/>
            <a:ext cx="2900550" cy="307777"/>
          </a:xfrm>
          <a:prstGeom prst="rect">
            <a:avLst/>
          </a:prstGeom>
          <a:noFill/>
        </p:spPr>
        <p:txBody>
          <a:bodyPr wrap="square" lIns="0" rtlCol="0">
            <a:spAutoFit/>
          </a:bodyPr>
          <a:lstStyle/>
          <a:p>
            <a:pPr algn="l">
              <a:buClrTx/>
            </a:pPr>
            <a:r>
              <a:rPr lang="en-US" sz="1400" b="1">
                <a:solidFill>
                  <a:schemeClr val="accent1"/>
                </a:solidFill>
                <a:latin typeface="Arial" panose="020B0604020202020204" pitchFamily="34" charset="0"/>
                <a:ea typeface="Inter Light" panose="02000503000000020004" pitchFamily="2" charset="0"/>
                <a:cs typeface="Arial" panose="020B0604020202020204" pitchFamily="34" charset="0"/>
              </a:rPr>
              <a:t>Page 8.3 Example</a:t>
            </a:r>
          </a:p>
        </p:txBody>
      </p:sp>
      <p:sp>
        <p:nvSpPr>
          <p:cNvPr id="11" name="TextBox 10">
            <a:extLst>
              <a:ext uri="{FF2B5EF4-FFF2-40B4-BE49-F238E27FC236}">
                <a16:creationId xmlns:a16="http://schemas.microsoft.com/office/drawing/2014/main" id="{B902878F-76C9-D034-2D31-3C357A579E72}"/>
              </a:ext>
            </a:extLst>
          </p:cNvPr>
          <p:cNvSpPr txBox="1"/>
          <p:nvPr/>
        </p:nvSpPr>
        <p:spPr>
          <a:xfrm>
            <a:off x="9806331" y="3121223"/>
            <a:ext cx="2900550" cy="307777"/>
          </a:xfrm>
          <a:prstGeom prst="rect">
            <a:avLst/>
          </a:prstGeom>
          <a:noFill/>
        </p:spPr>
        <p:txBody>
          <a:bodyPr wrap="square" lIns="0" rtlCol="0">
            <a:spAutoFit/>
          </a:bodyPr>
          <a:lstStyle/>
          <a:p>
            <a:pPr algn="l">
              <a:buClrTx/>
            </a:pPr>
            <a:r>
              <a:rPr lang="en-US" sz="1400" b="1">
                <a:solidFill>
                  <a:schemeClr val="accent1"/>
                </a:solidFill>
                <a:latin typeface="Arial" panose="020B0604020202020204" pitchFamily="34" charset="0"/>
                <a:ea typeface="Inter Light" panose="02000503000000020004" pitchFamily="2" charset="0"/>
                <a:cs typeface="Arial" panose="020B0604020202020204" pitchFamily="34" charset="0"/>
              </a:rPr>
              <a:t>Page 9.3 Example</a:t>
            </a:r>
          </a:p>
        </p:txBody>
      </p:sp>
    </p:spTree>
    <p:extLst>
      <p:ext uri="{BB962C8B-B14F-4D97-AF65-F5344CB8AC3E}">
        <p14:creationId xmlns:p14="http://schemas.microsoft.com/office/powerpoint/2010/main" val="234732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980C-0708-0BC3-B44F-FD760245EEEE}"/>
            </a:ext>
          </a:extLst>
        </p:cNvPr>
        <p:cNvGrpSpPr/>
        <p:nvPr/>
      </p:nvGrpSpPr>
      <p:grpSpPr>
        <a:xfrm>
          <a:off x="0" y="0"/>
          <a:ext cx="0" cy="0"/>
          <a:chOff x="0" y="0"/>
          <a:chExt cx="0" cy="0"/>
        </a:xfrm>
      </p:grpSpPr>
      <p:sp>
        <p:nvSpPr>
          <p:cNvPr id="4" name="Title 67">
            <a:extLst>
              <a:ext uri="{FF2B5EF4-FFF2-40B4-BE49-F238E27FC236}">
                <a16:creationId xmlns:a16="http://schemas.microsoft.com/office/drawing/2014/main" id="{D56E0379-200D-EF83-55F9-D31F8C7C2B10}"/>
              </a:ext>
            </a:extLst>
          </p:cNvPr>
          <p:cNvSpPr txBox="1">
            <a:spLocks/>
          </p:cNvSpPr>
          <p:nvPr/>
        </p:nvSpPr>
        <p:spPr>
          <a:xfrm>
            <a:off x="615102" y="392855"/>
            <a:ext cx="10983484" cy="451405"/>
          </a:xfrm>
          <a:prstGeom prst="rect">
            <a:avLst/>
          </a:prstGeom>
        </p:spPr>
        <p:txBody>
          <a:bodyPr lIns="0" tIns="45720" rIns="0" bIns="45720" anchor="ctr"/>
          <a:lstStyle>
            <a:lvl1pPr algn="l" defTabSz="914400" rtl="0" eaLnBrk="1" latinLnBrk="0" hangingPunct="1">
              <a:spcBef>
                <a:spcPct val="0"/>
              </a:spcBef>
              <a:buNone/>
              <a:defRPr sz="2400" b="1" i="0" kern="1200">
                <a:solidFill>
                  <a:schemeClr val="bg1"/>
                </a:solidFill>
                <a:latin typeface="Arial" panose="020B0604020202020204" pitchFamily="34" charset="0"/>
                <a:ea typeface="Verdana" charset="0"/>
                <a:cs typeface="Arial" panose="020B0604020202020204" pitchFamily="34" charset="0"/>
              </a:defRPr>
            </a:lvl1pPr>
          </a:lstStyle>
          <a:p>
            <a:pPr lvl="0">
              <a:defRPr/>
            </a:pPr>
            <a:r>
              <a:rPr lang="en-US">
                <a:solidFill>
                  <a:schemeClr val="tx2"/>
                </a:solidFill>
              </a:rPr>
              <a:t>Additional page updates</a:t>
            </a:r>
            <a:endParaRPr kumimoji="0" lang="en-GB" sz="2400" b="0" i="0" u="none" strike="noStrike" kern="1200" cap="none" spc="0" normalizeH="0" baseline="0" noProof="0">
              <a:ln>
                <a:noFill/>
              </a:ln>
              <a:solidFill>
                <a:schemeClr val="tx2"/>
              </a:solidFill>
              <a:effectLst/>
              <a:uLnTx/>
              <a:uFillTx/>
              <a:latin typeface="Arial" panose="020B0604020202020204" pitchFamily="34"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528524C3-54F4-1C78-72A4-FEF8013F05D6}"/>
              </a:ext>
            </a:extLst>
          </p:cNvPr>
          <p:cNvSpPr txBox="1"/>
          <p:nvPr/>
        </p:nvSpPr>
        <p:spPr>
          <a:xfrm>
            <a:off x="550118" y="1233334"/>
            <a:ext cx="6024052" cy="1808187"/>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Form Driver Line Items</a:t>
            </a:r>
          </a:p>
          <a:p>
            <a:pPr marL="742950" lvl="1" indent="-285750">
              <a:spcBef>
                <a:spcPts val="336"/>
              </a:spcBef>
              <a:buFont typeface="Arial" panose="020B0604020202020204" pitchFamily="34" charset="0"/>
              <a:buChar char="•"/>
            </a:pPr>
            <a:r>
              <a:rPr lang="en-US" sz="1400"/>
              <a:t>Adjust add form/action’s line item driver. Compare to the template application.  </a:t>
            </a:r>
          </a:p>
          <a:p>
            <a:pPr marL="742950" lvl="1" indent="-285750">
              <a:spcBef>
                <a:spcPts val="336"/>
              </a:spcBef>
              <a:buFont typeface="Arial" panose="020B0604020202020204" pitchFamily="34" charset="0"/>
              <a:buChar char="•"/>
            </a:pPr>
            <a:r>
              <a:rPr lang="en-US" sz="1400"/>
              <a:t>Page </a:t>
            </a:r>
            <a:r>
              <a:rPr lang="en-US" sz="1400" b="1">
                <a:solidFill>
                  <a:schemeClr val="accent1"/>
                </a:solidFill>
              </a:rPr>
              <a:t>7.5 Manage Account Hierarchy</a:t>
            </a:r>
          </a:p>
          <a:p>
            <a:pPr lvl="1">
              <a:spcBef>
                <a:spcPts val="336"/>
              </a:spcBef>
            </a:pPr>
            <a:r>
              <a:rPr lang="en-US" sz="1400" b="1">
                <a:solidFill>
                  <a:schemeClr val="accent1"/>
                </a:solidFill>
              </a:rPr>
              <a:t>	</a:t>
            </a:r>
            <a:r>
              <a:rPr lang="en-US"/>
              <a:t> </a:t>
            </a:r>
            <a:r>
              <a:rPr lang="en-US" sz="900"/>
              <a:t>(SPT-370)</a:t>
            </a:r>
          </a:p>
          <a:p>
            <a:pPr lvl="1">
              <a:spcBef>
                <a:spcPts val="336"/>
              </a:spcBef>
            </a:pPr>
            <a:endParaRPr lang="en-US" sz="900" b="1">
              <a:solidFill>
                <a:schemeClr val="accent1"/>
              </a:solidFill>
            </a:endParaRPr>
          </a:p>
          <a:p>
            <a:pPr>
              <a:spcBef>
                <a:spcPts val="336"/>
              </a:spcBef>
            </a:pPr>
            <a:endParaRPr lang="en-US" sz="1400" b="1">
              <a:solidFill>
                <a:schemeClr val="tx2"/>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610FDDF-B0DE-8AEC-660F-7F4B60F2EE0F}"/>
              </a:ext>
            </a:extLst>
          </p:cNvPr>
          <p:cNvSpPr txBox="1"/>
          <p:nvPr/>
        </p:nvSpPr>
        <p:spPr>
          <a:xfrm>
            <a:off x="531576" y="2960088"/>
            <a:ext cx="6042593" cy="1569660"/>
          </a:xfrm>
          <a:prstGeom prst="rect">
            <a:avLst/>
          </a:prstGeom>
          <a:noFill/>
        </p:spPr>
        <p:txBody>
          <a:bodyPr wrap="square">
            <a:spAutoFit/>
          </a:bodyPr>
          <a:lstStyle/>
          <a:p>
            <a:pPr>
              <a:spcBef>
                <a:spcPts val="336"/>
              </a:spcBef>
            </a:pPr>
            <a:r>
              <a:rPr lang="en-US" sz="1600" b="1">
                <a:solidFill>
                  <a:schemeClr val="accent1"/>
                </a:solidFill>
                <a:latin typeface="Arial" panose="020B0604020202020204" pitchFamily="34" charset="0"/>
                <a:ea typeface="+mn-lt"/>
                <a:cs typeface="Arial" panose="020B0604020202020204" pitchFamily="34" charset="0"/>
              </a:rPr>
              <a:t>Photo URL</a:t>
            </a:r>
          </a:p>
          <a:p>
            <a:pPr marL="742950" lvl="1" indent="-285750">
              <a:spcBef>
                <a:spcPts val="336"/>
              </a:spcBef>
              <a:buFont typeface="Arial" panose="020B0604020202020204" pitchFamily="34" charset="0"/>
              <a:buChar char="•"/>
            </a:pPr>
            <a:r>
              <a:rPr lang="en-US" sz="1400"/>
              <a:t>If you are using employee photos the Photo “Photo URL” checkbox will need to be selected. </a:t>
            </a:r>
          </a:p>
          <a:p>
            <a:pPr marL="742950" lvl="1" indent="-285750">
              <a:spcBef>
                <a:spcPts val="336"/>
              </a:spcBef>
              <a:buFont typeface="Arial" panose="020B0604020202020204" pitchFamily="34" charset="0"/>
              <a:buChar char="•"/>
            </a:pPr>
            <a:r>
              <a:rPr lang="en-US" sz="1400"/>
              <a:t>Page: </a:t>
            </a:r>
            <a:r>
              <a:rPr lang="en-US" sz="1400" b="1">
                <a:solidFill>
                  <a:schemeClr val="accent1"/>
                </a:solidFill>
              </a:rPr>
              <a:t>6.1 Resource Roster and Manage TBH</a:t>
            </a:r>
          </a:p>
          <a:p>
            <a:pPr marL="1200150" lvl="2" indent="-285750">
              <a:spcBef>
                <a:spcPts val="336"/>
              </a:spcBef>
              <a:buFont typeface="Arial" panose="020B0604020202020204" pitchFamily="34" charset="0"/>
              <a:buChar char="•"/>
            </a:pPr>
            <a:r>
              <a:rPr lang="en-US" sz="1400">
                <a:solidFill>
                  <a:schemeClr val="tx2"/>
                </a:solidFill>
              </a:rPr>
              <a:t>Grid: </a:t>
            </a:r>
            <a:r>
              <a:rPr lang="en-US" sz="1400" b="1">
                <a:solidFill>
                  <a:schemeClr val="accent1"/>
                </a:solidFill>
              </a:rPr>
              <a:t>Resource Roster</a:t>
            </a:r>
          </a:p>
          <a:p>
            <a:pPr lvl="1">
              <a:spcBef>
                <a:spcPts val="336"/>
              </a:spcBef>
            </a:pPr>
            <a:r>
              <a:rPr lang="en-US" sz="1400" b="1">
                <a:solidFill>
                  <a:schemeClr val="accent1"/>
                </a:solidFill>
              </a:rPr>
              <a:t>	</a:t>
            </a:r>
            <a:r>
              <a:rPr lang="en-US" sz="900"/>
              <a:t>(SPT-328)</a:t>
            </a:r>
            <a:endParaRPr lang="en-US" sz="900" b="1">
              <a:solidFill>
                <a:schemeClr val="accent1"/>
              </a:solidFill>
            </a:endParaRPr>
          </a:p>
        </p:txBody>
      </p:sp>
      <p:pic>
        <p:nvPicPr>
          <p:cNvPr id="29698" name="Picture 2" descr="A screenshot of a computer&#10;&#10;Description automatically generated">
            <a:extLst>
              <a:ext uri="{FF2B5EF4-FFF2-40B4-BE49-F238E27FC236}">
                <a16:creationId xmlns:a16="http://schemas.microsoft.com/office/drawing/2014/main" id="{0A627A16-DEEE-C241-4D3C-A90A1484B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7645" y="2417205"/>
            <a:ext cx="2906970" cy="2119930"/>
          </a:xfrm>
          <a:prstGeom prst="roundRect">
            <a:avLst>
              <a:gd name="adj" fmla="val 3188"/>
            </a:avLst>
          </a:prstGeom>
          <a:noFill/>
          <a:effectLst>
            <a:outerShdw blurRad="63500" sx="102000" sy="102000" algn="ctr" rotWithShape="0">
              <a:schemeClr val="tx2">
                <a:alpha val="15000"/>
              </a:scheme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D4083BD-D56F-865F-42DF-DF9C6846B519}"/>
              </a:ext>
            </a:extLst>
          </p:cNvPr>
          <p:cNvSpPr txBox="1"/>
          <p:nvPr/>
        </p:nvSpPr>
        <p:spPr>
          <a:xfrm>
            <a:off x="7213768" y="2109428"/>
            <a:ext cx="2900550" cy="307777"/>
          </a:xfrm>
          <a:prstGeom prst="rect">
            <a:avLst/>
          </a:prstGeom>
          <a:noFill/>
        </p:spPr>
        <p:txBody>
          <a:bodyPr wrap="square" lIns="0" rtlCol="0">
            <a:spAutoFit/>
          </a:bodyPr>
          <a:lstStyle/>
          <a:p>
            <a:pPr algn="l">
              <a:buClrTx/>
            </a:pPr>
            <a:r>
              <a:rPr lang="en-US" sz="1400" b="1">
                <a:solidFill>
                  <a:schemeClr val="accent1"/>
                </a:solidFill>
                <a:latin typeface="Arial" panose="020B0604020202020204" pitchFamily="34" charset="0"/>
                <a:ea typeface="Inter Light" panose="02000503000000020004" pitchFamily="2" charset="0"/>
                <a:cs typeface="Arial" panose="020B0604020202020204" pitchFamily="34" charset="0"/>
              </a:rPr>
              <a:t>Page 6.1 Example</a:t>
            </a:r>
          </a:p>
        </p:txBody>
      </p:sp>
      <p:sp>
        <p:nvSpPr>
          <p:cNvPr id="6" name="TextBox 5">
            <a:extLst>
              <a:ext uri="{FF2B5EF4-FFF2-40B4-BE49-F238E27FC236}">
                <a16:creationId xmlns:a16="http://schemas.microsoft.com/office/drawing/2014/main" id="{17610BA3-2F0C-C782-B7BD-CD273D47527E}"/>
              </a:ext>
            </a:extLst>
          </p:cNvPr>
          <p:cNvSpPr txBox="1"/>
          <p:nvPr/>
        </p:nvSpPr>
        <p:spPr>
          <a:xfrm>
            <a:off x="552171" y="4988656"/>
            <a:ext cx="9574565" cy="1100301"/>
          </a:xfrm>
          <a:prstGeom prst="rect">
            <a:avLst/>
          </a:prstGeom>
          <a:noFill/>
        </p:spPr>
        <p:txBody>
          <a:bodyPr wrap="square" lIns="91440" tIns="45720" rIns="91440" bIns="45720" anchor="t">
            <a:spAutoFit/>
          </a:bodyPr>
          <a:lstStyle/>
          <a:p>
            <a:pPr>
              <a:spcBef>
                <a:spcPts val="336"/>
              </a:spcBef>
            </a:pPr>
            <a:r>
              <a:rPr lang="en-US" sz="1600" b="1">
                <a:solidFill>
                  <a:schemeClr val="accent1"/>
                </a:solidFill>
                <a:latin typeface="Arial"/>
                <a:ea typeface="+mn-lt"/>
                <a:cs typeface="Arial"/>
              </a:rPr>
              <a:t>Line Items Referenced</a:t>
            </a:r>
            <a:endParaRPr lang="en-US">
              <a:solidFill>
                <a:schemeClr val="accent1"/>
              </a:solidFill>
            </a:endParaRPr>
          </a:p>
          <a:p>
            <a:pPr marL="742950" lvl="1" indent="-285750">
              <a:spcBef>
                <a:spcPts val="336"/>
              </a:spcBef>
              <a:buFont typeface="Arial" panose="020B0604020202020204" pitchFamily="34" charset="0"/>
              <a:buChar char="•"/>
            </a:pPr>
            <a:r>
              <a:rPr lang="en-US" sz="1400"/>
              <a:t>There are some rare cases where a selected line item may be set to "TEMP".  This happens if</a:t>
            </a:r>
            <a:endParaRPr lang="en-US" sz="1400">
              <a:cs typeface="Arial"/>
            </a:endParaRPr>
          </a:p>
          <a:p>
            <a:pPr marL="1200150" lvl="2" indent="-285750">
              <a:spcBef>
                <a:spcPts val="336"/>
              </a:spcBef>
              <a:buFont typeface="Arial" panose="020B0604020202020204" pitchFamily="34" charset="0"/>
              <a:buChar char="•"/>
            </a:pPr>
            <a:r>
              <a:rPr lang="en-US" sz="1400">
                <a:cs typeface="Arial"/>
              </a:rPr>
              <a:t>Your customer doesn't have an appropriate line item corresponding to the template line item</a:t>
            </a:r>
          </a:p>
          <a:p>
            <a:pPr marL="1200150" lvl="2" indent="-285750">
              <a:spcBef>
                <a:spcPts val="336"/>
              </a:spcBef>
              <a:buFont typeface="Arial" panose="020B0604020202020204" pitchFamily="34" charset="0"/>
              <a:buChar char="•"/>
            </a:pPr>
            <a:r>
              <a:rPr lang="en-US" sz="1400">
                <a:cs typeface="Arial"/>
              </a:rPr>
              <a:t>There was an issue with applying adaptive mapping in the configurator </a:t>
            </a:r>
            <a:r>
              <a:rPr lang="en-US" sz="900"/>
              <a:t>(SPT-2109)</a:t>
            </a:r>
          </a:p>
        </p:txBody>
      </p:sp>
    </p:spTree>
    <p:extLst>
      <p:ext uri="{BB962C8B-B14F-4D97-AF65-F5344CB8AC3E}">
        <p14:creationId xmlns:p14="http://schemas.microsoft.com/office/powerpoint/2010/main" val="372209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4538-01B9-52C5-5080-F40101E630D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CA1562-86AF-8E0C-1FCC-D1B2F5C858FB}"/>
              </a:ext>
            </a:extLst>
          </p:cNvPr>
          <p:cNvSpPr>
            <a:spLocks noGrp="1"/>
          </p:cNvSpPr>
          <p:nvPr>
            <p:ph type="title"/>
          </p:nvPr>
        </p:nvSpPr>
        <p:spPr/>
        <p:txBody>
          <a:bodyPr/>
          <a:lstStyle/>
          <a:p>
            <a:r>
              <a:rPr lang="en-US" sz="4000">
                <a:latin typeface="Arial"/>
                <a:ea typeface="Verdana"/>
                <a:cs typeface="Arial"/>
              </a:rPr>
              <a:t>Post model generation</a:t>
            </a:r>
            <a:br>
              <a:rPr lang="en-US" sz="4000">
                <a:latin typeface="Arial"/>
                <a:ea typeface="Verdana"/>
                <a:cs typeface="Arial"/>
              </a:rPr>
            </a:br>
            <a:r>
              <a:rPr lang="en-US" sz="4000">
                <a:solidFill>
                  <a:schemeClr val="accent1"/>
                </a:solidFill>
                <a:latin typeface="Arial"/>
                <a:ea typeface="Verdana"/>
                <a:cs typeface="Arial"/>
              </a:rPr>
              <a:t>Security updates</a:t>
            </a:r>
            <a:endParaRPr lang="en-US" sz="4200"/>
          </a:p>
        </p:txBody>
      </p:sp>
      <p:sp>
        <p:nvSpPr>
          <p:cNvPr id="3" name="Text Placeholder 2">
            <a:extLst>
              <a:ext uri="{FF2B5EF4-FFF2-40B4-BE49-F238E27FC236}">
                <a16:creationId xmlns:a16="http://schemas.microsoft.com/office/drawing/2014/main" id="{D0989323-1AC4-507C-5516-BEEA5DE435CE}"/>
              </a:ext>
            </a:extLst>
          </p:cNvPr>
          <p:cNvSpPr>
            <a:spLocks noGrp="1"/>
          </p:cNvSpPr>
          <p:nvPr>
            <p:ph type="body" sz="quarter" idx="11"/>
          </p:nvPr>
        </p:nvSpPr>
        <p:spPr>
          <a:xfrm>
            <a:off x="4485134" y="2725350"/>
            <a:ext cx="6601856" cy="509871"/>
          </a:xfrm>
        </p:spPr>
        <p:txBody>
          <a:bodyPr/>
          <a:lstStyle/>
          <a:p>
            <a:r>
              <a:rPr lang="en-US">
                <a:solidFill>
                  <a:schemeClr val="accent1"/>
                </a:solidFill>
              </a:rPr>
              <a:t>Section 6</a:t>
            </a:r>
          </a:p>
        </p:txBody>
      </p:sp>
    </p:spTree>
    <p:extLst>
      <p:ext uri="{BB962C8B-B14F-4D97-AF65-F5344CB8AC3E}">
        <p14:creationId xmlns:p14="http://schemas.microsoft.com/office/powerpoint/2010/main" val="119655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16D8CB2C-B57A-4F37-C199-5719E97F0CAD}"/>
              </a:ext>
            </a:extLst>
          </p:cNvPr>
          <p:cNvSpPr/>
          <p:nvPr/>
        </p:nvSpPr>
        <p:spPr>
          <a:xfrm>
            <a:off x="4312920" y="2614581"/>
            <a:ext cx="3566160" cy="2731299"/>
          </a:xfrm>
          <a:prstGeom prst="roundRect">
            <a:avLst>
              <a:gd name="adj" fmla="val 62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3BBFE246-CF3B-B1CB-A155-F56E4926064E}"/>
              </a:ext>
            </a:extLst>
          </p:cNvPr>
          <p:cNvSpPr/>
          <p:nvPr/>
        </p:nvSpPr>
        <p:spPr>
          <a:xfrm>
            <a:off x="8268731"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3E6B8D1E-6865-1CAB-399B-55EF4AAC0D1A}"/>
              </a:ext>
            </a:extLst>
          </p:cNvPr>
          <p:cNvSpPr/>
          <p:nvPr/>
        </p:nvSpPr>
        <p:spPr>
          <a:xfrm>
            <a:off x="357110" y="2614581"/>
            <a:ext cx="3566160" cy="2731299"/>
          </a:xfrm>
          <a:prstGeom prst="roundRect">
            <a:avLst>
              <a:gd name="adj" fmla="val 687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147679FE-ACDA-63C4-52C1-B114DC0F632D}"/>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b="1">
                <a:solidFill>
                  <a:srgbClr val="0C314B"/>
                </a:solidFill>
                <a:latin typeface="Arial"/>
                <a:ea typeface="Verdana"/>
                <a:cs typeface="Arial"/>
              </a:rPr>
              <a:t>Updates to user roles &amp; security</a:t>
            </a:r>
            <a:endParaRPr lang="en-GB" sz="1800" b="1">
              <a:solidFill>
                <a:srgbClr val="0C314B"/>
              </a:solidFill>
              <a:latin typeface="Arial"/>
              <a:ea typeface="Verdana"/>
              <a:cs typeface="Arial"/>
            </a:endParaRPr>
          </a:p>
        </p:txBody>
      </p:sp>
      <p:sp>
        <p:nvSpPr>
          <p:cNvPr id="2" name="TextBox 1">
            <a:extLst>
              <a:ext uri="{FF2B5EF4-FFF2-40B4-BE49-F238E27FC236}">
                <a16:creationId xmlns:a16="http://schemas.microsoft.com/office/drawing/2014/main" id="{E20ED39D-EC4D-76CA-859F-080EA6747245}"/>
              </a:ext>
            </a:extLst>
          </p:cNvPr>
          <p:cNvSpPr txBox="1"/>
          <p:nvPr/>
        </p:nvSpPr>
        <p:spPr>
          <a:xfrm>
            <a:off x="482888" y="2986082"/>
            <a:ext cx="3317058" cy="2236510"/>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Example Roles to</a:t>
            </a:r>
            <a:r>
              <a:rPr lang="en-GB" sz="1600" b="1" kern="0">
                <a:solidFill>
                  <a:schemeClr val="accent1"/>
                </a:solidFill>
              </a:rPr>
              <a:t> </a:t>
            </a:r>
            <a:r>
              <a:rPr kumimoji="0" lang="en-GB" sz="1600" b="1" i="0" u="none" strike="noStrike" kern="0" cap="none" spc="0" normalizeH="0" baseline="0" noProof="0">
                <a:ln>
                  <a:noFill/>
                </a:ln>
                <a:solidFill>
                  <a:schemeClr val="accent1"/>
                </a:solidFill>
                <a:effectLst/>
                <a:uLnTx/>
                <a:uFillTx/>
              </a:rPr>
              <a:t>add to Model:</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Operations</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VP / Area VP / Regional VP </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Sales Manager</a:t>
            </a:r>
          </a:p>
          <a:p>
            <a:pPr marL="285750" marR="0" lvl="0" indent="-285750" defTabSz="91440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GB" sz="1400" i="0" u="none" strike="noStrike" kern="0" cap="none" spc="0" normalizeH="0" baseline="0" noProof="0">
                <a:ln>
                  <a:noFill/>
                </a:ln>
                <a:solidFill>
                  <a:schemeClr val="bg2"/>
                </a:solidFill>
                <a:effectLst/>
                <a:uLnTx/>
                <a:uFillTx/>
                <a:cs typeface="Arial"/>
              </a:rPr>
              <a:t>Revenue Leader</a:t>
            </a:r>
          </a:p>
          <a:p>
            <a:pPr marL="0" marR="0" lvl="0" indent="0" defTabSz="914400" eaLnBrk="1" fontAlgn="auto" latinLnBrk="0" hangingPunct="1">
              <a:lnSpc>
                <a:spcPct val="100000"/>
              </a:lnSpc>
              <a:spcBef>
                <a:spcPts val="0"/>
              </a:spcBef>
              <a:spcAft>
                <a:spcPts val="800"/>
              </a:spcAft>
              <a:buClrTx/>
              <a:buSzTx/>
              <a:buFontTx/>
              <a:buNone/>
              <a:tabLst/>
              <a:defRPr/>
            </a:pPr>
            <a:endParaRPr kumimoji="0" lang="en-GB" sz="1400" b="0" i="0" u="none" strike="noStrike" kern="0" cap="none" spc="0" normalizeH="0" baseline="0" noProof="0">
              <a:ln>
                <a:noFill/>
              </a:ln>
              <a:solidFill>
                <a:schemeClr val="bg2"/>
              </a:solidFill>
              <a:effectLst/>
              <a:uLnTx/>
              <a:uFillTx/>
              <a:cs typeface="Arial"/>
            </a:endParaRPr>
          </a:p>
        </p:txBody>
      </p:sp>
      <p:sp>
        <p:nvSpPr>
          <p:cNvPr id="3" name="TextBox 2">
            <a:extLst>
              <a:ext uri="{FF2B5EF4-FFF2-40B4-BE49-F238E27FC236}">
                <a16:creationId xmlns:a16="http://schemas.microsoft.com/office/drawing/2014/main" id="{B741EE18-DEBF-EB4D-89F7-96CFEBB54966}"/>
              </a:ext>
            </a:extLst>
          </p:cNvPr>
          <p:cNvSpPr txBox="1"/>
          <p:nvPr/>
        </p:nvSpPr>
        <p:spPr>
          <a:xfrm>
            <a:off x="4467517" y="2986082"/>
            <a:ext cx="3248376" cy="1774845"/>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Selective Access:</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lvl="0" indent="-285750">
              <a:spcAft>
                <a:spcPts val="800"/>
              </a:spcAft>
              <a:buFont typeface="Arial" panose="020B0604020202020204" pitchFamily="34" charset="0"/>
              <a:buChar char="•"/>
              <a:defRPr/>
            </a:pPr>
            <a:r>
              <a:rPr kumimoji="0" lang="en-GB" sz="1400" i="0" u="none" strike="noStrike" kern="0" cap="none" spc="0" normalizeH="0" baseline="0" noProof="0">
                <a:ln>
                  <a:noFill/>
                </a:ln>
                <a:solidFill>
                  <a:schemeClr val="bg2"/>
                </a:solidFill>
                <a:effectLst/>
                <a:uLnTx/>
                <a:uFillTx/>
                <a:cs typeface="Arial"/>
              </a:rPr>
              <a:t>Territory Hierarchy (</a:t>
            </a:r>
            <a:r>
              <a:rPr lang="en-US" sz="1400">
                <a:solidFill>
                  <a:schemeClr val="bg2"/>
                </a:solidFill>
              </a:rPr>
              <a:t>apply selective access to the appropriate hierarchy level</a:t>
            </a:r>
            <a:r>
              <a:rPr kumimoji="0" lang="en-GB" sz="1400" i="0" u="none" strike="noStrike" kern="0" cap="none" spc="0" normalizeH="0" baseline="0" noProof="0">
                <a:ln>
                  <a:noFill/>
                </a:ln>
                <a:solidFill>
                  <a:schemeClr val="bg2"/>
                </a:solidFill>
                <a:effectLst/>
                <a:uLnTx/>
                <a:uFillTx/>
                <a:cs typeface="Arial"/>
              </a:rPr>
              <a:t>)</a:t>
            </a:r>
          </a:p>
          <a:p>
            <a:pPr marR="0" lvl="0" defTabSz="914400" eaLnBrk="1" fontAlgn="auto" latinLnBrk="0" hangingPunct="1">
              <a:lnSpc>
                <a:spcPct val="100000"/>
              </a:lnSpc>
              <a:spcBef>
                <a:spcPts val="0"/>
              </a:spcBef>
              <a:spcAft>
                <a:spcPts val="800"/>
              </a:spcAft>
              <a:buClrTx/>
              <a:buSzTx/>
              <a:tabLst/>
              <a:defRPr/>
            </a:pPr>
            <a:endParaRPr kumimoji="0" lang="en-GB" b="0" i="0" u="none" strike="noStrike" kern="0" cap="none" spc="0" normalizeH="0" baseline="0" noProof="0">
              <a:ln>
                <a:noFill/>
              </a:ln>
              <a:solidFill>
                <a:schemeClr val="bg2"/>
              </a:solidFill>
              <a:effectLst/>
              <a:uLnTx/>
              <a:uFillTx/>
              <a:cs typeface="Arial"/>
            </a:endParaRPr>
          </a:p>
        </p:txBody>
      </p:sp>
      <p:sp>
        <p:nvSpPr>
          <p:cNvPr id="11" name="TextBox 10">
            <a:extLst>
              <a:ext uri="{FF2B5EF4-FFF2-40B4-BE49-F238E27FC236}">
                <a16:creationId xmlns:a16="http://schemas.microsoft.com/office/drawing/2014/main" id="{C915AD98-88C4-FD16-F60A-A44F0DF7A723}"/>
              </a:ext>
            </a:extLst>
          </p:cNvPr>
          <p:cNvSpPr txBox="1"/>
          <p:nvPr/>
        </p:nvSpPr>
        <p:spPr>
          <a:xfrm>
            <a:off x="8391567" y="2975808"/>
            <a:ext cx="3310697" cy="964367"/>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n-GB" sz="1600" b="1" i="0" u="none" strike="noStrike" kern="0" cap="none" spc="0" normalizeH="0" baseline="0" noProof="0">
                <a:ln>
                  <a:noFill/>
                </a:ln>
                <a:solidFill>
                  <a:schemeClr val="accent1"/>
                </a:solidFill>
                <a:effectLst/>
                <a:uLnTx/>
                <a:uFillTx/>
              </a:rPr>
              <a:t>Page Level Access</a:t>
            </a:r>
            <a:r>
              <a:rPr kumimoji="0" lang="en-GB" sz="1600" i="0" u="none" strike="noStrike" kern="0" cap="none" spc="0" normalizeH="0" baseline="0" noProof="0">
                <a:ln>
                  <a:noFill/>
                </a:ln>
                <a:solidFill>
                  <a:schemeClr val="accent1"/>
                </a:solidFill>
                <a:effectLst/>
                <a:uLnTx/>
                <a:uFillTx/>
              </a:rPr>
              <a:t>:</a:t>
            </a:r>
            <a:br>
              <a:rPr kumimoji="0" lang="en-GB" sz="1600" b="1" i="0" u="none" strike="noStrike" kern="0" cap="none" spc="0" normalizeH="0" baseline="0" noProof="0">
                <a:ln>
                  <a:noFill/>
                </a:ln>
                <a:solidFill>
                  <a:schemeClr val="bg2"/>
                </a:solidFill>
                <a:effectLst/>
                <a:uLnTx/>
                <a:uFillTx/>
              </a:rPr>
            </a:br>
            <a:r>
              <a:rPr kumimoji="0" lang="en-GB" sz="2000" b="1" i="0" u="none" strike="noStrike" kern="0" cap="none" spc="0" normalizeH="0" baseline="0" noProof="0">
                <a:ln>
                  <a:noFill/>
                </a:ln>
                <a:solidFill>
                  <a:schemeClr val="bg2"/>
                </a:solidFill>
                <a:effectLst/>
                <a:uLnTx/>
                <a:uFillTx/>
              </a:rPr>
              <a:t> </a:t>
            </a:r>
          </a:p>
          <a:p>
            <a:pPr marL="285750" lvl="0" indent="-285750">
              <a:spcAft>
                <a:spcPts val="800"/>
              </a:spcAft>
              <a:buFont typeface="Arial" panose="020B0604020202020204" pitchFamily="34" charset="0"/>
              <a:buChar char="•"/>
              <a:defRPr/>
            </a:pPr>
            <a:r>
              <a:rPr lang="en-US" sz="1400">
                <a:solidFill>
                  <a:schemeClr val="bg2"/>
                </a:solidFill>
              </a:rPr>
              <a:t>Assign access to the relevant roles</a:t>
            </a:r>
            <a:endParaRPr kumimoji="0" lang="en-GB" sz="1400" i="0" u="none" strike="noStrike" kern="0" cap="none" spc="0" normalizeH="0" baseline="0" noProof="0">
              <a:ln>
                <a:noFill/>
              </a:ln>
              <a:solidFill>
                <a:schemeClr val="bg2"/>
              </a:solidFill>
              <a:effectLst/>
              <a:uLnTx/>
              <a:uFillTx/>
              <a:cs typeface="Arial"/>
            </a:endParaRPr>
          </a:p>
        </p:txBody>
      </p:sp>
      <p:sp>
        <p:nvSpPr>
          <p:cNvPr id="9" name="TextBox 8">
            <a:extLst>
              <a:ext uri="{FF2B5EF4-FFF2-40B4-BE49-F238E27FC236}">
                <a16:creationId xmlns:a16="http://schemas.microsoft.com/office/drawing/2014/main" id="{D57EF603-E693-4915-2C34-4E9E214B5539}"/>
              </a:ext>
            </a:extLst>
          </p:cNvPr>
          <p:cNvSpPr txBox="1"/>
          <p:nvPr/>
        </p:nvSpPr>
        <p:spPr>
          <a:xfrm>
            <a:off x="615103" y="1466131"/>
            <a:ext cx="10850857" cy="584775"/>
          </a:xfrm>
          <a:prstGeom prst="rect">
            <a:avLst/>
          </a:prstGeom>
          <a:noFill/>
        </p:spPr>
        <p:txBody>
          <a:bodyPr wrap="square" lIns="0" rtlCol="0">
            <a:spAutoFit/>
          </a:bodyPr>
          <a:lstStyle/>
          <a:p>
            <a:r>
              <a:rPr lang="en-US" sz="1600">
                <a:solidFill>
                  <a:schemeClr val="tx2"/>
                </a:solidFill>
                <a:latin typeface="Arial" panose="020B0604020202020204" pitchFamily="34" charset="0"/>
                <a:ea typeface="Inter Light" panose="02000503000000020004" pitchFamily="2" charset="0"/>
                <a:cs typeface="Arial" panose="020B0604020202020204" pitchFamily="34" charset="0"/>
              </a:rPr>
              <a:t>User roles and security should be added and configured based on each customer's unique requirements. The application does not come with user roles or security by default.      </a:t>
            </a:r>
          </a:p>
        </p:txBody>
      </p:sp>
    </p:spTree>
    <p:extLst>
      <p:ext uri="{BB962C8B-B14F-4D97-AF65-F5344CB8AC3E}">
        <p14:creationId xmlns:p14="http://schemas.microsoft.com/office/powerpoint/2010/main" val="125810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Anaplan">
  <a:themeElements>
    <a:clrScheme name="Custom 9">
      <a:dk1>
        <a:srgbClr val="000000"/>
      </a:dk1>
      <a:lt1>
        <a:srgbClr val="FFFFFF"/>
      </a:lt1>
      <a:dk2>
        <a:srgbClr val="0B2265"/>
      </a:dk2>
      <a:lt2>
        <a:srgbClr val="1C2345"/>
      </a:lt2>
      <a:accent1>
        <a:srgbClr val="14A687"/>
      </a:accent1>
      <a:accent2>
        <a:srgbClr val="3C67EA"/>
      </a:accent2>
      <a:accent3>
        <a:srgbClr val="5C59C6"/>
      </a:accent3>
      <a:accent4>
        <a:srgbClr val="A136B3"/>
      </a:accent4>
      <a:accent5>
        <a:srgbClr val="FFBB16"/>
      </a:accent5>
      <a:accent6>
        <a:srgbClr val="DB3743"/>
      </a:accent6>
      <a:hlink>
        <a:srgbClr val="14A687"/>
      </a:hlink>
      <a:folHlink>
        <a:srgbClr val="14A6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600" dirty="0" err="1">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headEnd type="none"/>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85750" indent="-285750" algn="l">
          <a:buClrTx/>
          <a:buFont typeface="Arial" panose="020B0604020202020204" pitchFamily="34" charset="0"/>
          <a:buChar char="•"/>
          <a:defRPr sz="1600" b="0" dirty="0" err="1" smtClean="0">
            <a:solidFill>
              <a:schemeClr val="bg2"/>
            </a:solidFill>
            <a:latin typeface="Arial" panose="020B0604020202020204" pitchFamily="34" charset="0"/>
            <a:ea typeface="Verdana"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8478B3-4E64-463B-99B7-E415413EA5F2}">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6F7D27-E30B-4662-8DC5-10EDABCF21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8B83E0-1EA6-4889-BEA7-A5A0BA5DC1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anaplan-corporate-template-2 layout options</Template>
  <Application>Microsoft Office PowerPoint</Application>
  <PresentationFormat>Widescreen</PresentationFormat>
  <Slides>52</Slides>
  <Notes>2</Notes>
  <HiddenSlides>0</HiddenSlides>
  <ScaleCrop>false</ScaleCrop>
  <HeadingPairs>
    <vt:vector size="4" baseType="variant">
      <vt:variant>
        <vt:lpstr>Theme</vt:lpstr>
      </vt:variant>
      <vt:variant>
        <vt:i4>2</vt:i4>
      </vt:variant>
      <vt:variant>
        <vt:lpstr>Slide Titles</vt:lpstr>
      </vt:variant>
      <vt:variant>
        <vt:i4>52</vt:i4>
      </vt:variant>
    </vt:vector>
  </HeadingPairs>
  <TitlesOfParts>
    <vt:vector size="54" baseType="lpstr">
      <vt:lpstr>1_Anaplan</vt:lpstr>
      <vt:lpstr>Anaplan</vt:lpstr>
      <vt:lpstr>Anaplan Sales Applications</vt:lpstr>
      <vt:lpstr>PowerPoint Presentation</vt:lpstr>
      <vt:lpstr>Post model generation updates</vt:lpstr>
      <vt:lpstr>Time and effort estimation​</vt:lpstr>
      <vt:lpstr>Post model generation Miscellaneous updates</vt:lpstr>
      <vt:lpstr>PowerPoint Presentation</vt:lpstr>
      <vt:lpstr>Check page number ordering </vt:lpstr>
      <vt:lpstr>Add page navigation buttons</vt:lpstr>
      <vt:lpstr>PowerPoint Presentation</vt:lpstr>
      <vt:lpstr>PowerPoint Presentation</vt:lpstr>
      <vt:lpstr>PowerPoint Presentation</vt:lpstr>
      <vt:lpstr>PowerPoint Presentation</vt:lpstr>
      <vt:lpstr>PowerPoint Presentation</vt:lpstr>
      <vt:lpstr>PowerPoint Presentation</vt:lpstr>
      <vt:lpstr>Post model generation Saved view &amp; action updates</vt:lpstr>
      <vt:lpstr>Add notify 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 model generation Lists &amp; data updates</vt:lpstr>
      <vt:lpstr>PowerPoint Presentation</vt:lpstr>
      <vt:lpstr>PowerPoint Presentation</vt:lpstr>
      <vt:lpstr>PowerPoint Presentation</vt:lpstr>
      <vt:lpstr>PowerPoint Presentation</vt:lpstr>
      <vt:lpstr>Post model generation Module &amp; line item updates</vt:lpstr>
      <vt:lpstr>Line items with dependent dropdowns</vt:lpstr>
      <vt:lpstr>Post model generation App pages updates</vt:lpstr>
      <vt:lpstr>Check number and line item formats</vt:lpstr>
      <vt:lpstr>Check context selectors </vt:lpstr>
      <vt:lpstr>Context selectors </vt:lpstr>
      <vt:lpstr>Check dynamic text card</vt:lpstr>
      <vt:lpstr>Update page objects driven from list subsets</vt:lpstr>
      <vt:lpstr>Update map data sources</vt:lpstr>
      <vt:lpstr>PowerPoint Presentation</vt:lpstr>
      <vt:lpstr>PowerPoint Presentation</vt:lpstr>
      <vt:lpstr>PowerPoint Presentation</vt:lpstr>
      <vt:lpstr>PowerPoint Presentation</vt:lpstr>
      <vt:lpstr>PowerPoint Presentation</vt:lpstr>
      <vt:lpstr>PowerPoint Presentation</vt:lpstr>
      <vt:lpstr>Post model generation Security updates</vt:lpstr>
      <vt:lpstr>Updates to user roles &amp;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revision>21</cp:revision>
  <dcterms:created xsi:type="dcterms:W3CDTF">2025-05-06T01:08:29Z</dcterms:created>
  <dcterms:modified xsi:type="dcterms:W3CDTF">2026-02-13T18:27:50Z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