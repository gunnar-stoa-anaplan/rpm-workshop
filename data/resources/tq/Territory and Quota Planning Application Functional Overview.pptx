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theme/theme2.xml" ContentType="application/vnd.openxmlformats-officedocument.them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812" r:id="rId5"/>
  </p:sldMasterIdLst>
  <p:notesMasterIdLst>
    <p:notesMasterId r:id="rId17"/>
  </p:notesMasterIdLst>
  <p:sldIdLst>
    <p:sldId id="257" r:id="rId6"/>
    <p:sldId id="2147479502" r:id="rId7"/>
    <p:sldId id="265" r:id="rId8"/>
    <p:sldId id="290" r:id="rId9"/>
    <p:sldId id="267" r:id="rId10"/>
    <p:sldId id="277" r:id="rId11"/>
    <p:sldId id="286" r:id="rId12"/>
    <p:sldId id="287" r:id="rId13"/>
    <p:sldId id="288" r:id="rId14"/>
    <p:sldId id="2147479539" r:id="rId15"/>
    <p:sldId id="214747954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6F4B02-01F2-C812-E4EF-2094173323BE}" v="7" dt="2026-01-22T20:28:38.0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baud Raucoules" userId="S::thibaud.raucoules@anaplan.com::b2d990a9-b44a-439b-a021-cf66757051fa" providerId="AD" clId="Web-{AC6F4B02-01F2-C812-E4EF-2094173323BE}"/>
    <pc:docChg chg="modSld">
      <pc:chgData name="Thibaud Raucoules" userId="S::thibaud.raucoules@anaplan.com::b2d990a9-b44a-439b-a021-cf66757051fa" providerId="AD" clId="Web-{AC6F4B02-01F2-C812-E4EF-2094173323BE}" dt="2026-01-22T20:28:37.906" v="3" actId="20577"/>
      <pc:docMkLst>
        <pc:docMk/>
      </pc:docMkLst>
      <pc:sldChg chg="modSp">
        <pc:chgData name="Thibaud Raucoules" userId="S::thibaud.raucoules@anaplan.com::b2d990a9-b44a-439b-a021-cf66757051fa" providerId="AD" clId="Web-{AC6F4B02-01F2-C812-E4EF-2094173323BE}" dt="2026-01-22T20:28:37.906" v="3" actId="20577"/>
        <pc:sldMkLst>
          <pc:docMk/>
          <pc:sldMk cId="1005061716" sldId="290"/>
        </pc:sldMkLst>
        <pc:spChg chg="mod">
          <ac:chgData name="Thibaud Raucoules" userId="S::thibaud.raucoules@anaplan.com::b2d990a9-b44a-439b-a021-cf66757051fa" providerId="AD" clId="Web-{AC6F4B02-01F2-C812-E4EF-2094173323BE}" dt="2026-01-22T20:28:37.906" v="3" actId="20577"/>
          <ac:spMkLst>
            <pc:docMk/>
            <pc:sldMk cId="1005061716" sldId="290"/>
            <ac:spMk id="35" creationId="{F732EE64-003B-D94F-B1F1-774DEEC1C9D3}"/>
          </ac:spMkLst>
        </pc:spChg>
      </pc:sldChg>
    </pc:docChg>
  </pc:docChgLst>
  <pc:docChgLst>
    <pc:chgData name="Miranda Dunlap" userId="894078dd-339c-4ca3-abfe-3ecc21dacd73" providerId="ADAL" clId="{88F5DCE7-8B70-57D7-A1BD-C820AB433187}"/>
    <pc:docChg chg="custSel modSld">
      <pc:chgData name="Miranda Dunlap" userId="894078dd-339c-4ca3-abfe-3ecc21dacd73" providerId="ADAL" clId="{88F5DCE7-8B70-57D7-A1BD-C820AB433187}" dt="2025-12-10T00:06:17.754" v="2342" actId="20577"/>
      <pc:docMkLst>
        <pc:docMk/>
      </pc:docMkLst>
      <pc:sldChg chg="modSp mod">
        <pc:chgData name="Miranda Dunlap" userId="894078dd-339c-4ca3-abfe-3ecc21dacd73" providerId="ADAL" clId="{88F5DCE7-8B70-57D7-A1BD-C820AB433187}" dt="2025-12-10T00:06:10.800" v="2327" actId="20577"/>
        <pc:sldMkLst>
          <pc:docMk/>
          <pc:sldMk cId="1299184810" sldId="257"/>
        </pc:sldMkLst>
        <pc:spChg chg="mod">
          <ac:chgData name="Miranda Dunlap" userId="894078dd-339c-4ca3-abfe-3ecc21dacd73" providerId="ADAL" clId="{88F5DCE7-8B70-57D7-A1BD-C820AB433187}" dt="2025-12-10T00:06:10.800" v="2327" actId="20577"/>
          <ac:spMkLst>
            <pc:docMk/>
            <pc:sldMk cId="1299184810" sldId="257"/>
            <ac:spMk id="2" creationId="{5258DF5F-D3B7-601F-8348-1A3629F1DC69}"/>
          </ac:spMkLst>
        </pc:spChg>
      </pc:sldChg>
      <pc:sldChg chg="modSp mod">
        <pc:chgData name="Miranda Dunlap" userId="894078dd-339c-4ca3-abfe-3ecc21dacd73" providerId="ADAL" clId="{88F5DCE7-8B70-57D7-A1BD-C820AB433187}" dt="2025-12-10T00:06:17.754" v="2342" actId="20577"/>
        <pc:sldMkLst>
          <pc:docMk/>
          <pc:sldMk cId="1536181717" sldId="2147479502"/>
        </pc:sldMkLst>
        <pc:spChg chg="mod">
          <ac:chgData name="Miranda Dunlap" userId="894078dd-339c-4ca3-abfe-3ecc21dacd73" providerId="ADAL" clId="{88F5DCE7-8B70-57D7-A1BD-C820AB433187}" dt="2025-12-10T00:06:17.754" v="2342" actId="20577"/>
          <ac:spMkLst>
            <pc:docMk/>
            <pc:sldMk cId="1536181717" sldId="2147479502"/>
            <ac:spMk id="2" creationId="{7C40CFCD-0502-3983-F631-F4C900A7C671}"/>
          </ac:spMkLst>
        </pc:spChg>
      </pc:sldChg>
      <pc:sldChg chg="addSp modSp mod">
        <pc:chgData name="Miranda Dunlap" userId="894078dd-339c-4ca3-abfe-3ecc21dacd73" providerId="ADAL" clId="{88F5DCE7-8B70-57D7-A1BD-C820AB433187}" dt="2025-12-10T00:05:48.233" v="2316" actId="20577"/>
        <pc:sldMkLst>
          <pc:docMk/>
          <pc:sldMk cId="2345848630" sldId="2147479539"/>
        </pc:sldMkLst>
        <pc:spChg chg="mod">
          <ac:chgData name="Miranda Dunlap" userId="894078dd-339c-4ca3-abfe-3ecc21dacd73" providerId="ADAL" clId="{88F5DCE7-8B70-57D7-A1BD-C820AB433187}" dt="2025-12-10T00:04:27.121" v="2088" actId="20577"/>
          <ac:spMkLst>
            <pc:docMk/>
            <pc:sldMk cId="2345848630" sldId="2147479539"/>
            <ac:spMk id="10" creationId="{8CC6BD9D-0239-67F3-2446-4A13BDFEA413}"/>
          </ac:spMkLst>
        </pc:spChg>
        <pc:spChg chg="mod">
          <ac:chgData name="Miranda Dunlap" userId="894078dd-339c-4ca3-abfe-3ecc21dacd73" providerId="ADAL" clId="{88F5DCE7-8B70-57D7-A1BD-C820AB433187}" dt="2025-12-10T00:02:40.536" v="1864" actId="20577"/>
          <ac:spMkLst>
            <pc:docMk/>
            <pc:sldMk cId="2345848630" sldId="2147479539"/>
            <ac:spMk id="59" creationId="{21D34279-E371-1099-3921-9F8344869FE2}"/>
          </ac:spMkLst>
        </pc:spChg>
        <pc:spChg chg="mod">
          <ac:chgData name="Miranda Dunlap" userId="894078dd-339c-4ca3-abfe-3ecc21dacd73" providerId="ADAL" clId="{88F5DCE7-8B70-57D7-A1BD-C820AB433187}" dt="2025-12-10T00:03:44.448" v="1955" actId="20577"/>
          <ac:spMkLst>
            <pc:docMk/>
            <pc:sldMk cId="2345848630" sldId="2147479539"/>
            <ac:spMk id="71" creationId="{CE9D244E-9AFC-98F1-C31E-69B4C1E1CC9C}"/>
          </ac:spMkLst>
        </pc:spChg>
        <pc:spChg chg="mod">
          <ac:chgData name="Miranda Dunlap" userId="894078dd-339c-4ca3-abfe-3ecc21dacd73" providerId="ADAL" clId="{88F5DCE7-8B70-57D7-A1BD-C820AB433187}" dt="2025-12-10T00:04:42.919" v="2128" actId="20577"/>
          <ac:spMkLst>
            <pc:docMk/>
            <pc:sldMk cId="2345848630" sldId="2147479539"/>
            <ac:spMk id="76" creationId="{97682257-477E-C7E4-68E4-53E38AD7FE24}"/>
          </ac:spMkLst>
        </pc:spChg>
        <pc:spChg chg="mod">
          <ac:chgData name="Miranda Dunlap" userId="894078dd-339c-4ca3-abfe-3ecc21dacd73" providerId="ADAL" clId="{88F5DCE7-8B70-57D7-A1BD-C820AB433187}" dt="2025-12-10T00:05:48.233" v="2316" actId="20577"/>
          <ac:spMkLst>
            <pc:docMk/>
            <pc:sldMk cId="2345848630" sldId="2147479539"/>
            <ac:spMk id="77" creationId="{8972E9E4-2BD3-FDD1-02CB-515DC9F68A16}"/>
          </ac:spMkLst>
        </pc:spChg>
      </pc:sldChg>
    </pc:docChg>
  </pc:docChgLst>
  <pc:docChgLst>
    <pc:chgData name="Miranda Dunlap" userId="S::miranda.maas@anaplan.com::894078dd-339c-4ca3-abfe-3ecc21dacd73" providerId="AD" clId="Web-{989112D2-6E68-5E90-0CA0-60F32FE0D734}"/>
    <pc:docChg chg="modSld">
      <pc:chgData name="Miranda Dunlap" userId="S::miranda.maas@anaplan.com::894078dd-339c-4ca3-abfe-3ecc21dacd73" providerId="AD" clId="Web-{989112D2-6E68-5E90-0CA0-60F32FE0D734}" dt="2026-01-09T20:48:48.527" v="3" actId="20577"/>
      <pc:docMkLst>
        <pc:docMk/>
      </pc:docMkLst>
      <pc:sldChg chg="modSp">
        <pc:chgData name="Miranda Dunlap" userId="S::miranda.maas@anaplan.com::894078dd-339c-4ca3-abfe-3ecc21dacd73" providerId="AD" clId="Web-{989112D2-6E68-5E90-0CA0-60F32FE0D734}" dt="2026-01-09T20:48:48.527" v="3" actId="20577"/>
        <pc:sldMkLst>
          <pc:docMk/>
          <pc:sldMk cId="1299184810" sldId="257"/>
        </pc:sldMkLst>
        <pc:spChg chg="mod">
          <ac:chgData name="Miranda Dunlap" userId="S::miranda.maas@anaplan.com::894078dd-339c-4ca3-abfe-3ecc21dacd73" providerId="AD" clId="Web-{989112D2-6E68-5E90-0CA0-60F32FE0D734}" dt="2026-01-09T20:48:48.527" v="3" actId="20577"/>
          <ac:spMkLst>
            <pc:docMk/>
            <pc:sldMk cId="1299184810" sldId="257"/>
            <ac:spMk id="5" creationId="{CD5CE04E-E27D-4ABD-903A-C82FE87E2C6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BCC27-A865-9C4C-9D49-EB2EB1082201}"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95F4A7-CCBA-7146-88D7-24C78A6982E3}" type="slidenum">
              <a:rPr lang="en-US" smtClean="0"/>
              <a:t>‹#›</a:t>
            </a:fld>
            <a:endParaRPr lang="en-US"/>
          </a:p>
        </p:txBody>
      </p:sp>
    </p:spTree>
    <p:extLst>
      <p:ext uri="{BB962C8B-B14F-4D97-AF65-F5344CB8AC3E}">
        <p14:creationId xmlns:p14="http://schemas.microsoft.com/office/powerpoint/2010/main" val="2469498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3369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171E-B545-CDF1-4CE7-0AF35A167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794A70-090A-4AF9-B964-39B320623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866B91-46C5-13F6-1247-C863027DBB87}"/>
              </a:ext>
            </a:extLst>
          </p:cNvPr>
          <p:cNvSpPr>
            <a:spLocks noGrp="1"/>
          </p:cNvSpPr>
          <p:nvPr>
            <p:ph type="body" idx="1"/>
          </p:nvPr>
        </p:nvSpPr>
        <p:spPr/>
        <p:txBody>
          <a:bodyPr/>
          <a:lstStyle/>
          <a:p>
            <a:r>
              <a:rPr lang="en-US" b="1"/>
              <a:t>Align territories and quotas</a:t>
            </a:r>
            <a:r>
              <a:rPr lang="en-US"/>
              <a:t> using historical, forecasted, and </a:t>
            </a:r>
            <a:r>
              <a:rPr lang="en-US" b="1"/>
              <a:t>forecasting app data</a:t>
            </a:r>
            <a:r>
              <a:rPr lang="en-US"/>
              <a:t>.</a:t>
            </a:r>
          </a:p>
          <a:p>
            <a:r>
              <a:rPr lang="en-US" b="1"/>
              <a:t>Adapt sales plans</a:t>
            </a:r>
            <a:r>
              <a:rPr lang="en-US"/>
              <a:t> with dynamic, scenario-based modeling, available across </a:t>
            </a:r>
            <a:r>
              <a:rPr lang="en-US" b="1"/>
              <a:t>all planning year functionality</a:t>
            </a:r>
            <a:r>
              <a:rPr lang="en-US"/>
              <a:t>.</a:t>
            </a:r>
          </a:p>
          <a:p>
            <a:r>
              <a:rPr lang="en-US" b="1"/>
              <a:t>Improve coverage with flexible rep assignments</a:t>
            </a:r>
            <a:r>
              <a:rPr lang="en-US"/>
              <a:t> and geo-planning, including </a:t>
            </a:r>
            <a:r>
              <a:rPr lang="en-US" b="1"/>
              <a:t>1:many and many:1 resource assignments</a:t>
            </a:r>
            <a:r>
              <a:rPr lang="en-US"/>
              <a:t> (rep, overlay, manager).</a:t>
            </a:r>
          </a:p>
          <a:p>
            <a:r>
              <a:rPr lang="en-US" b="1"/>
              <a:t>Assign quotas by role</a:t>
            </a:r>
            <a:r>
              <a:rPr lang="en-US"/>
              <a:t> with ramping and seasonal flexibility, managing both </a:t>
            </a:r>
            <a:r>
              <a:rPr lang="en-US" b="1"/>
              <a:t>planning and current years</a:t>
            </a:r>
            <a:r>
              <a:rPr lang="en-US"/>
              <a:t> simultaneously.</a:t>
            </a:r>
          </a:p>
          <a:p>
            <a:r>
              <a:rPr lang="en-US" b="1"/>
              <a:t>Streamline workflows</a:t>
            </a:r>
            <a:r>
              <a:rPr lang="en-US"/>
              <a:t> with approvals and effective dating, now featuring </a:t>
            </a:r>
            <a:r>
              <a:rPr lang="en-US" b="1"/>
              <a:t>advanced workflows for top-down approvals</a:t>
            </a:r>
            <a:r>
              <a:rPr lang="en-US"/>
              <a:t>.</a:t>
            </a:r>
          </a:p>
          <a:p>
            <a:r>
              <a:rPr lang="en-US" b="1"/>
              <a:t>Compare what-if scenarios</a:t>
            </a:r>
            <a:r>
              <a:rPr lang="en-US"/>
              <a:t> to guide smarter, faster decisions, supporting </a:t>
            </a:r>
            <a:r>
              <a:rPr lang="en-US" b="1"/>
              <a:t>changes to the planning territory hierarchy</a:t>
            </a:r>
            <a:r>
              <a:rPr lang="en-US"/>
              <a:t> and </a:t>
            </a:r>
            <a:r>
              <a:rPr lang="en-US" b="1"/>
              <a:t>1:many account splits</a:t>
            </a:r>
            <a:r>
              <a:rPr lang="en-US"/>
              <a:t>.</a:t>
            </a:r>
          </a:p>
          <a:p>
            <a:pPr marL="171450" indent="-171450">
              <a:buFont typeface="Arial,Sans-Serif"/>
              <a:buChar char="•"/>
            </a:pPr>
            <a:endParaRPr lang="en-US">
              <a:cs typeface="Arial" panose="020B0604020202020204" pitchFamily="34" charset="0"/>
            </a:endParaRPr>
          </a:p>
        </p:txBody>
      </p:sp>
      <p:sp>
        <p:nvSpPr>
          <p:cNvPr id="4" name="Slide Number Placeholder 3">
            <a:extLst>
              <a:ext uri="{FF2B5EF4-FFF2-40B4-BE49-F238E27FC236}">
                <a16:creationId xmlns:a16="http://schemas.microsoft.com/office/drawing/2014/main" id="{074A1804-48E8-D321-CD0F-1829083D64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02263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7359F-A65B-A875-4E4B-AEEB821C3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4AE09-A57E-F793-E495-71DCACA9D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AA0C6-C672-5F6E-47D4-34858B9EA465}"/>
              </a:ext>
            </a:extLst>
          </p:cNvPr>
          <p:cNvSpPr>
            <a:spLocks noGrp="1"/>
          </p:cNvSpPr>
          <p:nvPr>
            <p:ph type="body" idx="1"/>
          </p:nvPr>
        </p:nvSpPr>
        <p:spPr/>
        <p:txBody>
          <a:bodyPr/>
          <a:lstStyle/>
          <a:p>
            <a:r>
              <a:rPr lang="en-US" b="1"/>
              <a:t>The Anaplan GTM Capacity Planning Application includes the following components:</a:t>
            </a:r>
          </a:p>
          <a:p>
            <a:endParaRPr lang="en-US"/>
          </a:p>
          <a:p>
            <a:pPr marL="171450" indent="-171450">
              <a:buFont typeface="Arial" panose="020B0604020202020204" pitchFamily="34" charset="0"/>
              <a:buChar char="•"/>
            </a:pPr>
            <a:r>
              <a:rPr lang="en-US" b="1"/>
              <a:t>HC Gap Analysis: </a:t>
            </a:r>
            <a:r>
              <a:rPr lang="en-US"/>
              <a:t>Evaluate HC needs based on account volume, revenue targets, and historical data while aligning with financial goals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Top-Down Planning: </a:t>
            </a:r>
            <a:r>
              <a:rPr lang="en-US"/>
              <a:t>Distribute HC targets, simulate scenarios, and optimize allocation and approvals.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Bottom-Up Planning: </a:t>
            </a:r>
            <a:r>
              <a:rPr lang="en-US"/>
              <a:t>Track trends in hiring, attrition, and productivity and run scenarios to adapt plans.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Sales Margins Planning: </a:t>
            </a:r>
            <a:r>
              <a:rPr lang="en-US"/>
              <a:t>Capture role-specific cost data and model dynamic sales margins to improve profitability.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In-Year vs Actual Plan: </a:t>
            </a:r>
            <a:r>
              <a:rPr lang="en-US"/>
              <a:t>Lock plans for data integrity, adjust, and compare snapshots to optimize coverage.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Baseline Productivity: </a:t>
            </a:r>
            <a:r>
              <a:rPr lang="en-US"/>
              <a:t>Evaluate productivity vs. quota attainment to optimize targets and resource allocation.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Coverage Analysis: </a:t>
            </a:r>
            <a:r>
              <a:rPr lang="en-US"/>
              <a:t>Balance HC allocation while adjusting sales coverage in real time to address gaps.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Role-Based Reviews:</a:t>
            </a:r>
            <a:r>
              <a:rPr lang="en-US" b="0"/>
              <a:t> Analyze</a:t>
            </a:r>
            <a:r>
              <a:rPr lang="en-US" b="1"/>
              <a:t> </a:t>
            </a:r>
            <a:r>
              <a:rPr lang="en-US"/>
              <a:t>performance to gain actionable insights for improving role effectiveness.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Current FTE Reporting: </a:t>
            </a:r>
            <a:r>
              <a:rPr lang="en-US"/>
              <a:t>Access HC and FTE data and simulate "what-if" scenarios with employee-level insights. </a:t>
            </a:r>
          </a:p>
          <a:p>
            <a:endParaRPr lang="en-US"/>
          </a:p>
          <a:p>
            <a:endParaRPr lang="en-US"/>
          </a:p>
          <a:p>
            <a:pPr marL="0" indent="0">
              <a:buNone/>
            </a:pPr>
            <a:r>
              <a:rPr lang="en-US" sz="1800" b="1">
                <a:solidFill>
                  <a:schemeClr val="bg1"/>
                </a:solidFill>
              </a:rPr>
              <a:t>As a customer, this applications empowers you with sped and agility to quickly:</a:t>
            </a:r>
          </a:p>
          <a:p>
            <a:pPr marL="0" indent="0">
              <a:buNone/>
            </a:pPr>
            <a:endParaRPr lang="en-US" sz="1800" b="1">
              <a:solidFill>
                <a:schemeClr val="bg1"/>
              </a:solidFill>
            </a:endParaRPr>
          </a:p>
          <a:p>
            <a:pPr marL="171450" indent="-171450">
              <a:buFont typeface="Wingdings" pitchFamily="2" charset="2"/>
              <a:buChar char="ü"/>
            </a:pPr>
            <a:r>
              <a:rPr lang="en-US" sz="1200">
                <a:solidFill>
                  <a:schemeClr val="bg1"/>
                </a:solidFill>
              </a:rPr>
              <a:t>Optimize FTE and HC allocation for maximum efficiency.</a:t>
            </a:r>
          </a:p>
          <a:p>
            <a:pPr marL="171450" indent="-171450">
              <a:buFont typeface="Wingdings" pitchFamily="2" charset="2"/>
              <a:buChar char="ü"/>
            </a:pPr>
            <a:r>
              <a:rPr lang="en-US" sz="1200">
                <a:solidFill>
                  <a:schemeClr val="bg1"/>
                </a:solidFill>
              </a:rPr>
              <a:t>Enhance planning with insights into sales and ramp trends.</a:t>
            </a:r>
            <a:endParaRPr lang="en-US" sz="1200">
              <a:solidFill>
                <a:schemeClr val="bg1"/>
              </a:solidFill>
              <a:cs typeface="Arial"/>
            </a:endParaRPr>
          </a:p>
          <a:p>
            <a:pPr marL="171450" indent="-171450">
              <a:buFont typeface="Wingdings" pitchFamily="2" charset="2"/>
              <a:buChar char="ü"/>
            </a:pPr>
            <a:r>
              <a:rPr lang="en-US" sz="1200">
                <a:solidFill>
                  <a:schemeClr val="bg1"/>
                </a:solidFill>
              </a:rPr>
              <a:t>Predict and mitigate turnover by  forecasting attrition.</a:t>
            </a:r>
            <a:endParaRPr lang="en-US" sz="1200">
              <a:solidFill>
                <a:schemeClr val="bg1"/>
              </a:solidFill>
              <a:cs typeface="Arial"/>
            </a:endParaRPr>
          </a:p>
          <a:p>
            <a:pPr marL="171450" indent="-171450">
              <a:buFont typeface="Wingdings" pitchFamily="2" charset="2"/>
              <a:buChar char="ü"/>
            </a:pPr>
            <a:r>
              <a:rPr lang="en-US" sz="1200">
                <a:solidFill>
                  <a:schemeClr val="bg1"/>
                </a:solidFill>
              </a:rPr>
              <a:t>Enable real-time scenario modeling and performance tracking.</a:t>
            </a:r>
            <a:endParaRPr lang="en-US" sz="1200">
              <a:solidFill>
                <a:schemeClr val="bg1"/>
              </a:solidFill>
              <a:cs typeface="Arial"/>
            </a:endParaRPr>
          </a:p>
          <a:p>
            <a:pPr marL="171450" indent="-171450">
              <a:buFont typeface="Wingdings" pitchFamily="2" charset="2"/>
              <a:buChar char="ü"/>
            </a:pPr>
            <a:r>
              <a:rPr lang="en-US" sz="1200">
                <a:solidFill>
                  <a:schemeClr val="bg1"/>
                </a:solidFill>
              </a:rPr>
              <a:t>Align headcount with budgets to maintain cost control.</a:t>
            </a:r>
            <a:endParaRPr lang="en-US" sz="1200">
              <a:solidFill>
                <a:schemeClr val="bg1"/>
              </a:solidFill>
              <a:cs typeface="Arial"/>
            </a:endParaRPr>
          </a:p>
          <a:p>
            <a:pPr marL="171450" indent="-171450">
              <a:buFont typeface="Wingdings" pitchFamily="2" charset="2"/>
              <a:buChar char="ü"/>
            </a:pPr>
            <a:r>
              <a:rPr lang="en-US" sz="1200">
                <a:solidFill>
                  <a:schemeClr val="bg1"/>
                </a:solidFill>
              </a:rPr>
              <a:t>Monitoring new hire success through impact analysis.</a:t>
            </a:r>
            <a:endParaRPr lang="en-US" sz="2400">
              <a:solidFill>
                <a:schemeClr val="tx2"/>
              </a:solidFill>
              <a:latin typeface="Arial" panose="020B0604020202020204" pitchFamily="34" charset="0"/>
              <a:ea typeface="Inter Light" panose="02000503000000020004" pitchFamily="2" charset="0"/>
              <a:cs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67F7611E-26C3-FA6E-41D1-79FAE2F4D4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30548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12EF5-806B-A928-0071-DB092B455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78B5D-C1E2-06F7-CEFC-9FF2283072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3E4DB-172E-EC9B-2564-C7E86EDD2C52}"/>
              </a:ext>
            </a:extLst>
          </p:cNvPr>
          <p:cNvSpPr>
            <a:spLocks noGrp="1"/>
          </p:cNvSpPr>
          <p:nvPr>
            <p:ph type="body" idx="1"/>
          </p:nvPr>
        </p:nvSpPr>
        <p:spPr/>
        <p:txBody>
          <a:bodyPr/>
          <a:lstStyle/>
          <a:p>
            <a:r>
              <a:rPr lang="en-US"/>
              <a:t>Summary</a:t>
            </a:r>
          </a:p>
        </p:txBody>
      </p:sp>
      <p:sp>
        <p:nvSpPr>
          <p:cNvPr id="4" name="Slide Number Placeholder 3">
            <a:extLst>
              <a:ext uri="{FF2B5EF4-FFF2-40B4-BE49-F238E27FC236}">
                <a16:creationId xmlns:a16="http://schemas.microsoft.com/office/drawing/2014/main" id="{23106FD5-3E66-5C3E-D97A-4F6E096142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8903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1D33C-2FF9-856F-BF80-72F5B02B5A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5BAE0-E6D2-7D3E-8C8C-9C18BC0AD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0573F-BFCA-8F70-8860-B01403662BEF}"/>
              </a:ext>
            </a:extLst>
          </p:cNvPr>
          <p:cNvSpPr>
            <a:spLocks noGrp="1"/>
          </p:cNvSpPr>
          <p:nvPr>
            <p:ph type="body" idx="1"/>
          </p:nvPr>
        </p:nvSpPr>
        <p:spPr/>
        <p:txBody>
          <a:bodyPr/>
          <a:lstStyle/>
          <a:p>
            <a:r>
              <a:rPr lang="en-US"/>
              <a:t>Summary</a:t>
            </a:r>
          </a:p>
        </p:txBody>
      </p:sp>
      <p:sp>
        <p:nvSpPr>
          <p:cNvPr id="4" name="Slide Number Placeholder 3">
            <a:extLst>
              <a:ext uri="{FF2B5EF4-FFF2-40B4-BE49-F238E27FC236}">
                <a16:creationId xmlns:a16="http://schemas.microsoft.com/office/drawing/2014/main" id="{299D6844-3F9C-32D3-444E-9DAE9ADAB5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8164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61F98-0911-E6FE-CFB8-EAF637DF8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D3FB3-41F3-22EC-F4BD-FCA2FAE8C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874C7-C26B-2DE4-362A-2D48495C47C9}"/>
              </a:ext>
            </a:extLst>
          </p:cNvPr>
          <p:cNvSpPr>
            <a:spLocks noGrp="1"/>
          </p:cNvSpPr>
          <p:nvPr>
            <p:ph type="body" idx="1"/>
          </p:nvPr>
        </p:nvSpPr>
        <p:spPr/>
        <p:txBody>
          <a:bodyPr/>
          <a:lstStyle/>
          <a:p>
            <a:r>
              <a:rPr lang="en-US"/>
              <a:t>Summary</a:t>
            </a:r>
          </a:p>
        </p:txBody>
      </p:sp>
      <p:sp>
        <p:nvSpPr>
          <p:cNvPr id="4" name="Slide Number Placeholder 3">
            <a:extLst>
              <a:ext uri="{FF2B5EF4-FFF2-40B4-BE49-F238E27FC236}">
                <a16:creationId xmlns:a16="http://schemas.microsoft.com/office/drawing/2014/main" id="{612776DB-B770-23DF-405D-0DC9DF8058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4045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DAE1A-6C87-E707-BE72-E72650211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D6298-ABC8-3F0C-AF66-4D46DD5AA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F2F43-2F13-B4FF-64D2-CF6175973BB4}"/>
              </a:ext>
            </a:extLst>
          </p:cNvPr>
          <p:cNvSpPr>
            <a:spLocks noGrp="1"/>
          </p:cNvSpPr>
          <p:nvPr>
            <p:ph type="body" idx="1"/>
          </p:nvPr>
        </p:nvSpPr>
        <p:spPr/>
        <p:txBody>
          <a:bodyPr/>
          <a:lstStyle/>
          <a:p>
            <a:r>
              <a:rPr lang="en-US"/>
              <a:t>Summary</a:t>
            </a:r>
          </a:p>
        </p:txBody>
      </p:sp>
      <p:sp>
        <p:nvSpPr>
          <p:cNvPr id="4" name="Slide Number Placeholder 3">
            <a:extLst>
              <a:ext uri="{FF2B5EF4-FFF2-40B4-BE49-F238E27FC236}">
                <a16:creationId xmlns:a16="http://schemas.microsoft.com/office/drawing/2014/main" id="{E93F6E29-F6F6-DF2D-688F-A4253F774B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9563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996F5-01E3-ACED-0CC7-12EB062F3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C45E7-BA5C-6B0A-669D-0E9FAF81A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93FEE9-1D6F-5EC4-48BE-70A1B7EE625E}"/>
              </a:ext>
            </a:extLst>
          </p:cNvPr>
          <p:cNvSpPr>
            <a:spLocks noGrp="1"/>
          </p:cNvSpPr>
          <p:nvPr>
            <p:ph type="body" idx="1"/>
          </p:nvPr>
        </p:nvSpPr>
        <p:spPr/>
        <p:txBody>
          <a:bodyPr/>
          <a:lstStyle/>
          <a:p>
            <a:r>
              <a:rPr lang="en-US"/>
              <a:t>Summary</a:t>
            </a:r>
          </a:p>
        </p:txBody>
      </p:sp>
      <p:sp>
        <p:nvSpPr>
          <p:cNvPr id="4" name="Slide Number Placeholder 3">
            <a:extLst>
              <a:ext uri="{FF2B5EF4-FFF2-40B4-BE49-F238E27FC236}">
                <a16:creationId xmlns:a16="http://schemas.microsoft.com/office/drawing/2014/main" id="{C77788C1-47B3-CB44-485E-71B5770222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51350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5.sv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6.sv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6.sv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7.emf"/><Relationship Id="rId4" Type="http://schemas.openxmlformats.org/officeDocument/2006/relationships/tags" Target="../tags/tag4.xml"/><Relationship Id="rId9" Type="http://schemas.openxmlformats.org/officeDocument/2006/relationships/oleObject" Target="../embeddings/oleObject1.bin"/></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Master" Target="../slideMasters/slideMaster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Master" Target="../slideMasters/slideMaster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Layouts/_rels/slideLayout25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Master" Target="../slideMasters/slideMaster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Layouts/_rels/slideLayout25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Master" Target="../slideMasters/slideMaster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29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media/image17.emf"/><Relationship Id="rId4" Type="http://schemas.openxmlformats.org/officeDocument/2006/relationships/tags" Target="../tags/tag11.xml"/><Relationship Id="rId9" Type="http://schemas.openxmlformats.org/officeDocument/2006/relationships/oleObject" Target="../embeddings/oleObject1.bin"/></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61575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783474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3461266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69083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525337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276798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960" y="1665"/>
            <a:ext cx="12189040" cy="6856335"/>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67066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56986747"/>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8577683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69325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202121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8045007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490651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447302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66064517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673270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07023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14515249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5612904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9804459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1727682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583809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624894614"/>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0609122"/>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276706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77948706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22148118"/>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03994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50043990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2378820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807399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320039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847358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207782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8795680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1713544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507163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90942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22550512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60" y="-1664"/>
            <a:ext cx="253353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516749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2911274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372927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5177674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98982272"/>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2107317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2024446447"/>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85643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54784826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355015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51641449"/>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24244981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8620641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755967045"/>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84422064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12354194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55437877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39086464"/>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78899801"/>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59815094"/>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6149811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8694543"/>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90754925"/>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1408389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4363280"/>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37162841"/>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9445812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43895227"/>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411250684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51785180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796268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50076706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798949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63800070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531257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163974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84607080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4369943"/>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6256374"/>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8835654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8050922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22267463"/>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7388878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4821639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4806962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66636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84344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501281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65767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784452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859347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219474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480674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166944101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414612406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268506895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206219468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69285897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328996"/>
            <a:ext cx="6998469" cy="1529120"/>
            <a:chOff x="3078719" y="962241"/>
            <a:chExt cx="5248852" cy="1146840"/>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962241"/>
              <a:ext cx="4947557" cy="1146840"/>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22330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220439"/>
            <a:ext cx="6998469" cy="1524000"/>
            <a:chOff x="3078719" y="2196574"/>
            <a:chExt cx="5248852" cy="1143000"/>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1143000"/>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980471"/>
            <a:ext cx="6998469" cy="1524000"/>
            <a:chOff x="3078719" y="3438778"/>
            <a:chExt cx="5248852" cy="1143000"/>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1143000"/>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8576D1FD-2951-69A3-99E9-C31554989843}"/>
              </a:ext>
            </a:extLst>
          </p:cNvPr>
          <p:cNvCxnSpPr>
            <a:cxnSpLocks/>
            <a:endCxn id="7" idx="2"/>
          </p:cNvCxnSpPr>
          <p:nvPr userDrawn="1"/>
        </p:nvCxnSpPr>
        <p:spPr>
          <a:xfrm flipV="1">
            <a:off x="2799907" y="2078810"/>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cxnSpLocks/>
            <a:endCxn id="10" idx="2"/>
          </p:cNvCxnSpPr>
          <p:nvPr userDrawn="1"/>
        </p:nvCxnSpPr>
        <p:spPr>
          <a:xfrm>
            <a:off x="3196243" y="384072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cxnSpLocks/>
            <a:endCxn id="13" idx="2"/>
          </p:cNvCxnSpPr>
          <p:nvPr userDrawn="1"/>
        </p:nvCxnSpPr>
        <p:spPr>
          <a:xfrm>
            <a:off x="2799907" y="5057139"/>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084230" y="1631969"/>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084230" y="346092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47192" y="5247116"/>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Rounded Rectangle 19">
            <a:extLst>
              <a:ext uri="{FF2B5EF4-FFF2-40B4-BE49-F238E27FC236}">
                <a16:creationId xmlns:a16="http://schemas.microsoft.com/office/drawing/2014/main" id="{8EB35A18-199A-74EC-86E0-7D1D59B7F1D8}"/>
              </a:ext>
            </a:extLst>
          </p:cNvPr>
          <p:cNvSpPr/>
          <p:nvPr userDrawn="1"/>
        </p:nvSpPr>
        <p:spPr>
          <a:xfrm>
            <a:off x="256933" y="2452038"/>
            <a:ext cx="2939309" cy="27950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111687294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46585092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7343435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81172118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418714246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01315645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284270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78474226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9280131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66646641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4915340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291872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0283053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9033350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87270647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8800" y="2501775"/>
            <a:ext cx="3382335" cy="2618864"/>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81566"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40191"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55327"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55625"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77825" y="320762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807286"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1580"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1878"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77825" y="3381718"/>
            <a:ext cx="2951467" cy="1654099"/>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999" y="3393050"/>
            <a:ext cx="2951467" cy="1642765"/>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55624" y="3381719"/>
            <a:ext cx="2951467" cy="165409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40828145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277293851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3905949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735008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72733633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379166852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3186042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85490400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35999385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1945852966"/>
      </p:ext>
    </p:extLst>
  </p:cSld>
  <p:clrMapOvr>
    <a:overrideClrMapping bg1="dk1" tx1="lt1" bg2="dk2" tx2="lt2" accent1="accent1" accent2="accent2" accent3="accent3" accent4="accent4" accent5="accent5" accent6="accent6" hlink="hlink" folHlink="folHlink"/>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35305871"/>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7702684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24499804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31653373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3799672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77837654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6422543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1424666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95244431"/>
      </p:ext>
    </p:extLst>
  </p:cSld>
  <p:clrMapOvr>
    <a:overrideClrMapping bg1="dk1" tx1="lt1" bg2="dk2" tx2="lt2" accent1="accent1" accent2="accent2" accent3="accent3" accent4="accent4" accent5="accent5" accent6="accent6" hlink="hlink" folHlink="folHlink"/>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3127353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83721137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6" y="2144"/>
            <a:ext cx="4762243" cy="6855856"/>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3220937281"/>
      </p:ext>
    </p:extLst>
  </p:cSld>
  <p:clrMapOvr>
    <a:overrideClrMapping bg1="lt1" tx1="dk1" bg2="lt2" tx2="dk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885653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745530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06876536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194018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93352578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98554313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343288598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22008856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07389870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3585-8509-45BA-95D2-25C652A39463}"/>
              </a:ext>
            </a:extLst>
          </p:cNvPr>
          <p:cNvSpPr>
            <a:spLocks noGrp="1"/>
          </p:cNvSpPr>
          <p:nvPr>
            <p:ph type="title"/>
          </p:nvPr>
        </p:nvSpPr>
        <p:spPr>
          <a:xfrm>
            <a:off x="150459" y="1037554"/>
            <a:ext cx="3367805" cy="1723549"/>
          </a:xfrm>
        </p:spPr>
        <p:txBody>
          <a:bodyPr anchor="ctr"/>
          <a:lstStyle>
            <a:lvl1pPr algn="l">
              <a:defRPr sz="3733" b="0"/>
            </a:lvl1pPr>
          </a:lstStyle>
          <a:p>
            <a:r>
              <a:rPr lang="en-US"/>
              <a:t>Click to edit Master title style</a:t>
            </a:r>
          </a:p>
        </p:txBody>
      </p:sp>
    </p:spTree>
    <p:extLst>
      <p:ext uri="{BB962C8B-B14F-4D97-AF65-F5344CB8AC3E}">
        <p14:creationId xmlns:p14="http://schemas.microsoft.com/office/powerpoint/2010/main" val="325526938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4210388970"/>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cSld name="34_Custom Layout">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342857883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cSld name="17_Custom Layout">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60176" y="258037"/>
            <a:ext cx="11271648" cy="697627"/>
          </a:xfrm>
        </p:spPr>
        <p:txBody>
          <a:bodyPr/>
          <a:lstStyle>
            <a:lvl1pPr>
              <a:defRPr b="0">
                <a:solidFill>
                  <a:schemeClr val="tx2"/>
                </a:solidFill>
              </a:defRPr>
            </a:lvl1pPr>
          </a:lstStyle>
          <a:p>
            <a:r>
              <a:rPr lang="en-US"/>
              <a:t>Click to edit master title style</a:t>
            </a:r>
            <a:endParaRPr lang="en-JM"/>
          </a:p>
        </p:txBody>
      </p:sp>
      <p:sp>
        <p:nvSpPr>
          <p:cNvPr id="6" name="Content Placeholder 2"/>
          <p:cNvSpPr>
            <a:spLocks noGrp="1"/>
          </p:cNvSpPr>
          <p:nvPr>
            <p:ph idx="1" hasCustomPrompt="1"/>
          </p:nvPr>
        </p:nvSpPr>
        <p:spPr>
          <a:xfrm>
            <a:off x="460176" y="1583605"/>
            <a:ext cx="11271648" cy="4086607"/>
          </a:xfrm>
        </p:spPr>
        <p:txBody>
          <a:bodyPr/>
          <a:lstStyle>
            <a:lvl1pPr>
              <a:defRPr>
                <a:solidFill>
                  <a:schemeClr val="tx1"/>
                </a:solidFill>
              </a:defRPr>
            </a:lvl1pPr>
            <a:lvl2pPr marL="990526" indent="-380972">
              <a:buClrTx/>
              <a:buFont typeface="Arial"/>
              <a:buChar char="•"/>
              <a:defRPr>
                <a:solidFill>
                  <a:schemeClr val="tx1"/>
                </a:solidFill>
              </a:defRPr>
            </a:lvl2pPr>
            <a:lvl3pPr>
              <a:defRPr>
                <a:solidFill>
                  <a:schemeClr val="tx1"/>
                </a:solidFill>
              </a:defRPr>
            </a:lvl3pPr>
            <a:lvl4pPr>
              <a:defRPr>
                <a:solidFill>
                  <a:srgbClr val="7F7F7F"/>
                </a:solidFill>
              </a:defRPr>
            </a:lvl4pPr>
            <a:lvl5pPr>
              <a:defRPr>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5681117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4518687"/>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2"/>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109832"/>
            <a:ext cx="11082528" cy="246221"/>
          </a:xfrm>
          <a:prstGeom prst="rect">
            <a:avLst/>
          </a:prstGeom>
        </p:spPr>
        <p:txBody>
          <a:bodyPr wrap="square">
            <a:no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7" y="6498756"/>
            <a:ext cx="325501" cy="138499"/>
          </a:xfrm>
          <a:prstGeom prst="rect">
            <a:avLst/>
          </a:prstGeom>
          <a:noFill/>
          <a:ln w="9525" algn="ctr">
            <a:noFill/>
            <a:miter lim="800000"/>
            <a:headEnd/>
            <a:tailEnd/>
          </a:ln>
          <a:effectLst/>
        </p:spPr>
        <p:txBody>
          <a:bodyPr wrap="square" lIns="0" tIns="0" rIns="0" bIns="0" anchor="b">
            <a:spAutoFit/>
          </a:bodyPr>
          <a:lstStyle/>
          <a:p>
            <a:pPr algn="r" defTabSz="61071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1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6" y="6501671"/>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6" y="41599"/>
            <a:ext cx="3843339"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p:custDataLst>
              <p:tags r:id="rId7"/>
            </p:custDataLst>
          </p:nvPr>
        </p:nvSpPr>
        <p:spPr bwMode="gray">
          <a:xfrm>
            <a:off x="554736" y="29464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p>
        </p:txBody>
      </p:sp>
    </p:spTree>
    <p:extLst>
      <p:ext uri="{BB962C8B-B14F-4D97-AF65-F5344CB8AC3E}">
        <p14:creationId xmlns:p14="http://schemas.microsoft.com/office/powerpoint/2010/main" val="207735772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2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3935332558"/>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1259081864"/>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1_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8026399" y="1222315"/>
            <a:ext cx="3606800" cy="4887401"/>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marL="0" marR="0" lvl="0" indent="0" algn="l" defTabSz="1219170" rtl="0" eaLnBrk="1" fontAlgn="auto" latinLnBrk="0" hangingPunct="1">
              <a:lnSpc>
                <a:spcPct val="100000"/>
              </a:lnSpc>
              <a:spcBef>
                <a:spcPts val="0"/>
              </a:spcBef>
              <a:spcAft>
                <a:spcPts val="2400"/>
              </a:spcAft>
              <a:buClrTx/>
              <a:buSzTx/>
              <a:buFontTx/>
              <a:buNone/>
              <a:tabLst/>
              <a:defRPr/>
            </a:pPr>
            <a:endParaRPr kumimoji="0" lang="en-US" sz="1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844291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594557722"/>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2353673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97209152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7363227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354587178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73543129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960" y="1665"/>
            <a:ext cx="12189040" cy="6856335"/>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108783961"/>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4190193049"/>
      </p:ext>
    </p:extLst>
  </p:cSld>
  <p:clrMapOvr>
    <a:overrideClrMapping bg1="lt1" tx1="dk1" bg2="lt2" tx2="dk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521959332"/>
      </p:ext>
    </p:extLst>
  </p:cSld>
  <p:clrMapOvr>
    <a:overrideClrMapping bg1="lt1" tx1="dk1" bg2="lt2" tx2="dk2" accent1="accent1" accent2="accent2" accent3="accent3" accent4="accent4" accent5="accent5" accent6="accent6" hlink="hlink" folHlink="folHlink"/>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62138452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873139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771004942"/>
      </p:ext>
    </p:extLst>
  </p:cSld>
  <p:clrMapOvr>
    <a:overrideClrMapping bg1="dk1" tx1="lt1" bg2="dk2" tx2="lt2" accent1="accent1" accent2="accent2" accent3="accent3" accent4="accent4" accent5="accent5" accent6="accent6" hlink="hlink" folHlink="folHlink"/>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82820608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5252171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110337991"/>
      </p:ext>
    </p:extLst>
  </p:cSld>
  <p:clrMapOvr>
    <a:overrideClrMapping bg1="dk1" tx1="lt1" bg2="dk2" tx2="lt2" accent1="accent1" accent2="accent2" accent3="accent3" accent4="accent4" accent5="accent5" accent6="accent6" hlink="hlink" folHlink="folHlink"/>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419811333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300822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12502874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639333485"/>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42664634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94061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99284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069874614"/>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52288158"/>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5464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33883616"/>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01534508"/>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422960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77592748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4290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764769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942830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450036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403366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0270178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8862079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84182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546244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315472633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60" y="-1664"/>
            <a:ext cx="253353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0808468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4915372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6624382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60723921"/>
      </p:ext>
    </p:extLst>
  </p:cSld>
  <p:clrMapOvr>
    <a:overrideClrMapping bg1="dk1" tx1="lt1" bg2="dk2" tx2="lt2" accent1="accent1" accent2="accent2" accent3="accent3" accent4="accent4" accent5="accent5" accent6="accent6" hlink="hlink" folHlink="folHlink"/>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89822945"/>
      </p:ext>
    </p:extLst>
  </p:cSld>
  <p:clrMapOvr>
    <a:overrideClrMapping bg1="dk1" tx1="lt1" bg2="dk2" tx2="lt2" accent1="accent1" accent2="accent2" accent3="accent3" accent4="accent4" accent5="accent5" accent6="accent6" hlink="hlink" folHlink="folHlink"/>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09289974"/>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750433860"/>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209809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34164363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903742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26391575"/>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57683786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3261863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3007731557"/>
      </p:ext>
    </p:extLst>
  </p:cSld>
  <p:clrMapOvr>
    <a:overrideClrMapping bg1="lt1" tx1="dk1" bg2="lt2" tx2="dk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485441387"/>
      </p:ext>
    </p:extLst>
  </p:cSld>
  <p:clrMapOvr>
    <a:overrideClrMapping bg1="lt1" tx1="dk1" bg2="lt2" tx2="dk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4073420185"/>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1309421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99205503"/>
      </p:ext>
    </p:extLst>
  </p:cSld>
  <p:clrMapOvr>
    <a:overrideClrMapping bg1="lt1" tx1="dk1" bg2="lt2" tx2="dk2" accent1="accent1" accent2="accent2" accent3="accent3" accent4="accent4" accent5="accent5" accent6="accent6" hlink="hlink" folHlink="folHlink"/>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44205366"/>
      </p:ext>
    </p:extLst>
  </p:cSld>
  <p:clrMapOvr>
    <a:overrideClrMapping bg1="lt1" tx1="dk1" bg2="lt2" tx2="dk2" accent1="accent1" accent2="accent2" accent3="accent3" accent4="accent4" accent5="accent5" accent6="accent6" hlink="hlink" folHlink="folHlink"/>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23981309"/>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35245348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46888148"/>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32791104"/>
      </p:ext>
    </p:extLst>
  </p:cSld>
  <p:clrMapOvr>
    <a:overrideClrMapping bg1="lt1" tx1="dk1" bg2="lt2" tx2="dk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6046438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6138777"/>
      </p:ext>
    </p:extLst>
  </p:cSld>
  <p:clrMapOvr>
    <a:overrideClrMapping bg1="lt1" tx1="dk1" bg2="lt2" tx2="dk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59695395"/>
      </p:ext>
    </p:extLst>
  </p:cSld>
  <p:clrMapOvr>
    <a:overrideClrMapping bg1="lt1" tx1="dk1" bg2="lt2" tx2="dk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791745369"/>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25148845"/>
      </p:ext>
    </p:extLst>
  </p:cSld>
  <p:clrMapOvr>
    <a:overrideClrMapping bg1="lt1" tx1="dk1" bg2="lt2" tx2="dk2" accent1="accent1" accent2="accent2" accent3="accent3" accent4="accent4" accent5="accent5" accent6="accent6" hlink="hlink" folHlink="folHlink"/>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426877885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9347680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397661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34257437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212574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97957382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950118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78660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16657350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85669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0685400"/>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04680986"/>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17264728"/>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19348271"/>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41123077"/>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496294"/>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85341002"/>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70172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33902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258362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425574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66843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963820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8315742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680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42776275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200159434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17921569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190967496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72750523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328996"/>
            <a:ext cx="6998469" cy="1529120"/>
            <a:chOff x="3078719" y="962241"/>
            <a:chExt cx="5248852" cy="1146840"/>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962241"/>
              <a:ext cx="4947557" cy="1146840"/>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22330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220439"/>
            <a:ext cx="6998469" cy="1524000"/>
            <a:chOff x="3078719" y="2196574"/>
            <a:chExt cx="5248852" cy="1143000"/>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1143000"/>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980471"/>
            <a:ext cx="6998469" cy="1524000"/>
            <a:chOff x="3078719" y="3438778"/>
            <a:chExt cx="5248852" cy="1143000"/>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1143000"/>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8576D1FD-2951-69A3-99E9-C31554989843}"/>
              </a:ext>
            </a:extLst>
          </p:cNvPr>
          <p:cNvCxnSpPr>
            <a:cxnSpLocks/>
            <a:endCxn id="7" idx="2"/>
          </p:cNvCxnSpPr>
          <p:nvPr userDrawn="1"/>
        </p:nvCxnSpPr>
        <p:spPr>
          <a:xfrm flipV="1">
            <a:off x="2799907" y="2078810"/>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cxnSpLocks/>
            <a:endCxn id="10" idx="2"/>
          </p:cNvCxnSpPr>
          <p:nvPr userDrawn="1"/>
        </p:nvCxnSpPr>
        <p:spPr>
          <a:xfrm>
            <a:off x="3196243" y="384072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cxnSpLocks/>
            <a:endCxn id="13" idx="2"/>
          </p:cNvCxnSpPr>
          <p:nvPr userDrawn="1"/>
        </p:nvCxnSpPr>
        <p:spPr>
          <a:xfrm>
            <a:off x="2799907" y="5057139"/>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084230" y="1631969"/>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084230" y="346092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47192" y="5247116"/>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Rounded Rectangle 19">
            <a:extLst>
              <a:ext uri="{FF2B5EF4-FFF2-40B4-BE49-F238E27FC236}">
                <a16:creationId xmlns:a16="http://schemas.microsoft.com/office/drawing/2014/main" id="{8EB35A18-199A-74EC-86E0-7D1D59B7F1D8}"/>
              </a:ext>
            </a:extLst>
          </p:cNvPr>
          <p:cNvSpPr/>
          <p:nvPr userDrawn="1"/>
        </p:nvSpPr>
        <p:spPr>
          <a:xfrm>
            <a:off x="256933" y="2452038"/>
            <a:ext cx="2939309" cy="27950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189696302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113AB58-B0DC-A362-F4AD-1E160529E39E}"/>
              </a:ext>
            </a:extLst>
          </p:cNvPr>
          <p:cNvGrpSpPr/>
          <p:nvPr userDrawn="1"/>
        </p:nvGrpSpPr>
        <p:grpSpPr>
          <a:xfrm>
            <a:off x="1093409" y="1457316"/>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Oval 25">
            <a:extLst>
              <a:ext uri="{FF2B5EF4-FFF2-40B4-BE49-F238E27FC236}">
                <a16:creationId xmlns:a16="http://schemas.microsoft.com/office/drawing/2014/main" id="{0B58E4D1-6B03-7949-8339-ED676564FECC}"/>
              </a:ext>
            </a:extLst>
          </p:cNvPr>
          <p:cNvSpPr/>
          <p:nvPr userDrawn="1"/>
        </p:nvSpPr>
        <p:spPr>
          <a:xfrm>
            <a:off x="4733146" y="1283315"/>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14383" y="1792085"/>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1" name="Rounded Rectangle 20">
            <a:extLst>
              <a:ext uri="{FF2B5EF4-FFF2-40B4-BE49-F238E27FC236}">
                <a16:creationId xmlns:a16="http://schemas.microsoft.com/office/drawing/2014/main" id="{634B81F0-7E50-84B3-A47D-7BA8F8158B15}"/>
              </a:ext>
            </a:extLst>
          </p:cNvPr>
          <p:cNvSpPr/>
          <p:nvPr userDrawn="1"/>
        </p:nvSpPr>
        <p:spPr>
          <a:xfrm>
            <a:off x="4625220" y="4809452"/>
            <a:ext cx="2941560" cy="1655695"/>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8" name="Oval 27">
            <a:extLst>
              <a:ext uri="{FF2B5EF4-FFF2-40B4-BE49-F238E27FC236}">
                <a16:creationId xmlns:a16="http://schemas.microsoft.com/office/drawing/2014/main" id="{6A3352EB-B9F8-D275-1B43-64FDF269764B}"/>
              </a:ext>
            </a:extLst>
          </p:cNvPr>
          <p:cNvSpPr/>
          <p:nvPr userDrawn="1"/>
        </p:nvSpPr>
        <p:spPr>
          <a:xfrm>
            <a:off x="4809346" y="446247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Picture Placeholder 112">
            <a:extLst>
              <a:ext uri="{FF2B5EF4-FFF2-40B4-BE49-F238E27FC236}">
                <a16:creationId xmlns:a16="http://schemas.microsoft.com/office/drawing/2014/main" id="{5D84631B-E931-F989-4BAB-5C16131E1946}"/>
              </a:ext>
            </a:extLst>
          </p:cNvPr>
          <p:cNvSpPr>
            <a:spLocks noGrp="1"/>
          </p:cNvSpPr>
          <p:nvPr>
            <p:ph type="pic" sz="quarter" idx="43" hasCustomPrompt="1"/>
          </p:nvPr>
        </p:nvSpPr>
        <p:spPr>
          <a:xfrm>
            <a:off x="4896823" y="4590559"/>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49">
            <a:extLst>
              <a:ext uri="{FF2B5EF4-FFF2-40B4-BE49-F238E27FC236}">
                <a16:creationId xmlns:a16="http://schemas.microsoft.com/office/drawing/2014/main" id="{9E25C82C-6C1D-BF7F-8E98-3E1FFEDAB9CB}"/>
              </a:ext>
            </a:extLst>
          </p:cNvPr>
          <p:cNvSpPr>
            <a:spLocks noGrp="1"/>
          </p:cNvSpPr>
          <p:nvPr>
            <p:ph type="body" sz="quarter" idx="44" hasCustomPrompt="1"/>
          </p:nvPr>
        </p:nvSpPr>
        <p:spPr>
          <a:xfrm>
            <a:off x="4794161" y="5250887"/>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70206377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62470141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274318996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125322739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236407152"/>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938582017"/>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139052113"/>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81340945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4882929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447948206"/>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98585222"/>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3323071"/>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85843278"/>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807720901"/>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8800" y="2501775"/>
            <a:ext cx="3382335" cy="2618864"/>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81566"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40191"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55327"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55625"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77825" y="320762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807286"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1580"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1878"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77825" y="3381718"/>
            <a:ext cx="2951467" cy="1654099"/>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999" y="3393050"/>
            <a:ext cx="2951467" cy="1642765"/>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55624" y="3381719"/>
            <a:ext cx="2951467" cy="165409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818117936"/>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2063335678"/>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98513299"/>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9637944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336326419"/>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511071237"/>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051601826"/>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0068901"/>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462086949"/>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2082893"/>
      </p:ext>
    </p:extLst>
  </p:cSld>
  <p:clrMapOvr>
    <a:overrideClrMapping bg1="dk1" tx1="lt1" bg2="dk2" tx2="lt2" accent1="accent1" accent2="accent2" accent3="accent3" accent4="accent4" accent5="accent5" accent6="accent6" hlink="hlink" folHlink="folHlink"/>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6607120"/>
      </p:ext>
    </p:extLst>
  </p:cSld>
  <p:clrMapOvr>
    <a:overrideClrMapping bg1="dk1" tx1="lt1" bg2="dk2" tx2="lt2" accent1="accent1" accent2="accent2" accent3="accent3" accent4="accent4" accent5="accent5" accent6="accent6" hlink="hlink" folHlink="folHlink"/>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0395443"/>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55981"/>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3083757597"/>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18340312"/>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14353497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2226046686"/>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86409787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65448671"/>
      </p:ext>
    </p:extLst>
  </p:cSld>
  <p:clrMapOvr>
    <a:overrideClrMapping bg1="dk1" tx1="lt1" bg2="dk2" tx2="lt2" accent1="accent1" accent2="accent2" accent3="accent3" accent4="accent4" accent5="accent5" accent6="accent6" hlink="hlink" folHlink="folHlink"/>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538760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8783167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6" y="2144"/>
            <a:ext cx="4762243" cy="6855856"/>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1992250513"/>
      </p:ext>
    </p:extLst>
  </p:cSld>
  <p:clrMapOvr>
    <a:overrideClrMapping bg1="lt1" tx1="dk1" bg2="lt2" tx2="dk2" accent1="accent1" accent2="accent2" accent3="accent3" accent4="accent4" accent5="accent5" accent6="accent6" hlink="hlink" folHlink="folHlink"/>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4728453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8281971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083442581"/>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20254682"/>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273086490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1_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247848510"/>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2282434583"/>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820587524"/>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153453448"/>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3585-8509-45BA-95D2-25C652A39463}"/>
              </a:ext>
            </a:extLst>
          </p:cNvPr>
          <p:cNvSpPr>
            <a:spLocks noGrp="1"/>
          </p:cNvSpPr>
          <p:nvPr>
            <p:ph type="title"/>
          </p:nvPr>
        </p:nvSpPr>
        <p:spPr>
          <a:xfrm>
            <a:off x="150459" y="1037554"/>
            <a:ext cx="3367805" cy="1723549"/>
          </a:xfrm>
        </p:spPr>
        <p:txBody>
          <a:bodyPr anchor="ctr"/>
          <a:lstStyle>
            <a:lvl1pPr algn="l">
              <a:defRPr sz="3733" b="0"/>
            </a:lvl1pPr>
          </a:lstStyle>
          <a:p>
            <a:r>
              <a:rPr lang="en-US"/>
              <a:t>Click to edit Master title style</a:t>
            </a:r>
          </a:p>
        </p:txBody>
      </p:sp>
    </p:spTree>
    <p:extLst>
      <p:ext uri="{BB962C8B-B14F-4D97-AF65-F5344CB8AC3E}">
        <p14:creationId xmlns:p14="http://schemas.microsoft.com/office/powerpoint/2010/main" val="381757313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069620615"/>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34_Custom Layout">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3052501488"/>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p:cSld name="17_Custom Layout">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60176" y="258037"/>
            <a:ext cx="11271648" cy="697627"/>
          </a:xfrm>
        </p:spPr>
        <p:txBody>
          <a:bodyPr/>
          <a:lstStyle>
            <a:lvl1pPr>
              <a:defRPr b="0">
                <a:solidFill>
                  <a:schemeClr val="tx2"/>
                </a:solidFill>
              </a:defRPr>
            </a:lvl1pPr>
          </a:lstStyle>
          <a:p>
            <a:r>
              <a:rPr lang="en-US"/>
              <a:t>Click to edit master title style</a:t>
            </a:r>
            <a:endParaRPr lang="en-JM"/>
          </a:p>
        </p:txBody>
      </p:sp>
      <p:sp>
        <p:nvSpPr>
          <p:cNvPr id="6" name="Content Placeholder 2"/>
          <p:cNvSpPr>
            <a:spLocks noGrp="1"/>
          </p:cNvSpPr>
          <p:nvPr>
            <p:ph idx="1" hasCustomPrompt="1"/>
          </p:nvPr>
        </p:nvSpPr>
        <p:spPr>
          <a:xfrm>
            <a:off x="460176" y="1583605"/>
            <a:ext cx="11271648" cy="4086607"/>
          </a:xfrm>
        </p:spPr>
        <p:txBody>
          <a:bodyPr/>
          <a:lstStyle>
            <a:lvl1pPr>
              <a:defRPr>
                <a:solidFill>
                  <a:schemeClr val="tx1"/>
                </a:solidFill>
              </a:defRPr>
            </a:lvl1pPr>
            <a:lvl2pPr marL="990526" indent="-380972">
              <a:buClrTx/>
              <a:buFont typeface="Arial"/>
              <a:buChar char="•"/>
              <a:defRPr>
                <a:solidFill>
                  <a:schemeClr val="tx1"/>
                </a:solidFill>
              </a:defRPr>
            </a:lvl2pPr>
            <a:lvl3pPr>
              <a:defRPr>
                <a:solidFill>
                  <a:schemeClr val="tx1"/>
                </a:solidFill>
              </a:defRPr>
            </a:lvl3pPr>
            <a:lvl4pPr>
              <a:defRPr>
                <a:solidFill>
                  <a:srgbClr val="7F7F7F"/>
                </a:solidFill>
              </a:defRPr>
            </a:lvl4pPr>
            <a:lvl5pPr>
              <a:defRPr>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4920988"/>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4518687"/>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2"/>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109832"/>
            <a:ext cx="11082528" cy="246221"/>
          </a:xfrm>
          <a:prstGeom prst="rect">
            <a:avLst/>
          </a:prstGeom>
        </p:spPr>
        <p:txBody>
          <a:bodyPr wrap="square">
            <a:no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7" y="6498756"/>
            <a:ext cx="325501" cy="138499"/>
          </a:xfrm>
          <a:prstGeom prst="rect">
            <a:avLst/>
          </a:prstGeom>
          <a:noFill/>
          <a:ln w="9525" algn="ctr">
            <a:noFill/>
            <a:miter lim="800000"/>
            <a:headEnd/>
            <a:tailEnd/>
          </a:ln>
          <a:effectLst/>
        </p:spPr>
        <p:txBody>
          <a:bodyPr wrap="square" lIns="0" tIns="0" rIns="0" bIns="0" anchor="b">
            <a:spAutoFit/>
          </a:bodyPr>
          <a:lstStyle/>
          <a:p>
            <a:pPr algn="r" defTabSz="61071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1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6" y="6501671"/>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6" y="41599"/>
            <a:ext cx="3843339"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p:custDataLst>
              <p:tags r:id="rId7"/>
            </p:custDataLst>
          </p:nvPr>
        </p:nvSpPr>
        <p:spPr bwMode="gray">
          <a:xfrm>
            <a:off x="554736" y="29464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p>
        </p:txBody>
      </p:sp>
    </p:spTree>
    <p:extLst>
      <p:ext uri="{BB962C8B-B14F-4D97-AF65-F5344CB8AC3E}">
        <p14:creationId xmlns:p14="http://schemas.microsoft.com/office/powerpoint/2010/main" val="1109604737"/>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2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2659306563"/>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151531308"/>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slideLayout" Target="../slideLayouts/slideLayout53.xml"/><Relationship Id="rId74" Type="http://schemas.openxmlformats.org/officeDocument/2006/relationships/slideLayout" Target="../slideLayouts/slideLayout74.xml"/><Relationship Id="rId128" Type="http://schemas.openxmlformats.org/officeDocument/2006/relationships/slideLayout" Target="../slideLayouts/slideLayout128.xml"/><Relationship Id="rId149" Type="http://schemas.openxmlformats.org/officeDocument/2006/relationships/slideLayout" Target="../slideLayouts/slideLayout149.xml"/><Relationship Id="rId5" Type="http://schemas.openxmlformats.org/officeDocument/2006/relationships/slideLayout" Target="../slideLayouts/slideLayout5.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50" Type="http://schemas.openxmlformats.org/officeDocument/2006/relationships/slideLayout" Target="../slideLayouts/slideLayout150.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45" Type="http://schemas.openxmlformats.org/officeDocument/2006/relationships/slideLayout" Target="../slideLayouts/slideLayout145.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51" Type="http://schemas.openxmlformats.org/officeDocument/2006/relationships/slideLayout" Target="../slideLayouts/slideLayout151.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slideLayout" Target="../slideLayouts/slideLayout141.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5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147" Type="http://schemas.openxmlformats.org/officeDocument/2006/relationships/slideLayout" Target="../slideLayouts/slideLayout14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3" Type="http://schemas.openxmlformats.org/officeDocument/2006/relationships/image" Target="../media/image1.png"/><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slideLayout" Target="../slideLayouts/slideLayout143.xml"/><Relationship Id="rId148" Type="http://schemas.openxmlformats.org/officeDocument/2006/relationships/slideLayout" Target="../slideLayouts/slideLayout148.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slideLayout" Target="../slideLayouts/slideLayout58.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44" Type="http://schemas.openxmlformats.org/officeDocument/2006/relationships/slideLayout" Target="../slideLayouts/slideLayout144.xml"/><Relationship Id="rId90" Type="http://schemas.openxmlformats.org/officeDocument/2006/relationships/slideLayout" Target="../slideLayouts/slideLayout90.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268.xml"/><Relationship Id="rId21" Type="http://schemas.openxmlformats.org/officeDocument/2006/relationships/slideLayout" Target="../slideLayouts/slideLayout172.xml"/><Relationship Id="rId42" Type="http://schemas.openxmlformats.org/officeDocument/2006/relationships/slideLayout" Target="../slideLayouts/slideLayout193.xml"/><Relationship Id="rId63" Type="http://schemas.openxmlformats.org/officeDocument/2006/relationships/slideLayout" Target="../slideLayouts/slideLayout214.xml"/><Relationship Id="rId84" Type="http://schemas.openxmlformats.org/officeDocument/2006/relationships/slideLayout" Target="../slideLayouts/slideLayout235.xml"/><Relationship Id="rId138" Type="http://schemas.openxmlformats.org/officeDocument/2006/relationships/slideLayout" Target="../slideLayouts/slideLayout289.xml"/><Relationship Id="rId107" Type="http://schemas.openxmlformats.org/officeDocument/2006/relationships/slideLayout" Target="../slideLayouts/slideLayout258.xml"/><Relationship Id="rId11" Type="http://schemas.openxmlformats.org/officeDocument/2006/relationships/slideLayout" Target="../slideLayouts/slideLayout162.xml"/><Relationship Id="rId32" Type="http://schemas.openxmlformats.org/officeDocument/2006/relationships/slideLayout" Target="../slideLayouts/slideLayout183.xml"/><Relationship Id="rId53" Type="http://schemas.openxmlformats.org/officeDocument/2006/relationships/slideLayout" Target="../slideLayouts/slideLayout204.xml"/><Relationship Id="rId74" Type="http://schemas.openxmlformats.org/officeDocument/2006/relationships/slideLayout" Target="../slideLayouts/slideLayout225.xml"/><Relationship Id="rId128" Type="http://schemas.openxmlformats.org/officeDocument/2006/relationships/slideLayout" Target="../slideLayouts/slideLayout279.xml"/><Relationship Id="rId149" Type="http://schemas.openxmlformats.org/officeDocument/2006/relationships/slideLayout" Target="../slideLayouts/slideLayout300.xml"/><Relationship Id="rId5" Type="http://schemas.openxmlformats.org/officeDocument/2006/relationships/slideLayout" Target="../slideLayouts/slideLayout156.xml"/><Relationship Id="rId95" Type="http://schemas.openxmlformats.org/officeDocument/2006/relationships/slideLayout" Target="../slideLayouts/slideLayout246.xml"/><Relationship Id="rId22" Type="http://schemas.openxmlformats.org/officeDocument/2006/relationships/slideLayout" Target="../slideLayouts/slideLayout173.xml"/><Relationship Id="rId27" Type="http://schemas.openxmlformats.org/officeDocument/2006/relationships/slideLayout" Target="../slideLayouts/slideLayout178.xml"/><Relationship Id="rId43" Type="http://schemas.openxmlformats.org/officeDocument/2006/relationships/slideLayout" Target="../slideLayouts/slideLayout194.xml"/><Relationship Id="rId48" Type="http://schemas.openxmlformats.org/officeDocument/2006/relationships/slideLayout" Target="../slideLayouts/slideLayout199.xml"/><Relationship Id="rId64" Type="http://schemas.openxmlformats.org/officeDocument/2006/relationships/slideLayout" Target="../slideLayouts/slideLayout215.xml"/><Relationship Id="rId69" Type="http://schemas.openxmlformats.org/officeDocument/2006/relationships/slideLayout" Target="../slideLayouts/slideLayout220.xml"/><Relationship Id="rId113" Type="http://schemas.openxmlformats.org/officeDocument/2006/relationships/slideLayout" Target="../slideLayouts/slideLayout264.xml"/><Relationship Id="rId118" Type="http://schemas.openxmlformats.org/officeDocument/2006/relationships/slideLayout" Target="../slideLayouts/slideLayout269.xml"/><Relationship Id="rId134" Type="http://schemas.openxmlformats.org/officeDocument/2006/relationships/slideLayout" Target="../slideLayouts/slideLayout285.xml"/><Relationship Id="rId139" Type="http://schemas.openxmlformats.org/officeDocument/2006/relationships/slideLayout" Target="../slideLayouts/slideLayout290.xml"/><Relationship Id="rId80" Type="http://schemas.openxmlformats.org/officeDocument/2006/relationships/slideLayout" Target="../slideLayouts/slideLayout231.xml"/><Relationship Id="rId85" Type="http://schemas.openxmlformats.org/officeDocument/2006/relationships/slideLayout" Target="../slideLayouts/slideLayout236.xml"/><Relationship Id="rId150" Type="http://schemas.openxmlformats.org/officeDocument/2006/relationships/slideLayout" Target="../slideLayouts/slideLayout301.xml"/><Relationship Id="rId12" Type="http://schemas.openxmlformats.org/officeDocument/2006/relationships/slideLayout" Target="../slideLayouts/slideLayout163.xml"/><Relationship Id="rId17" Type="http://schemas.openxmlformats.org/officeDocument/2006/relationships/slideLayout" Target="../slideLayouts/slideLayout168.xml"/><Relationship Id="rId33" Type="http://schemas.openxmlformats.org/officeDocument/2006/relationships/slideLayout" Target="../slideLayouts/slideLayout184.xml"/><Relationship Id="rId38" Type="http://schemas.openxmlformats.org/officeDocument/2006/relationships/slideLayout" Target="../slideLayouts/slideLayout189.xml"/><Relationship Id="rId59" Type="http://schemas.openxmlformats.org/officeDocument/2006/relationships/slideLayout" Target="../slideLayouts/slideLayout210.xml"/><Relationship Id="rId103" Type="http://schemas.openxmlformats.org/officeDocument/2006/relationships/slideLayout" Target="../slideLayouts/slideLayout254.xml"/><Relationship Id="rId108" Type="http://schemas.openxmlformats.org/officeDocument/2006/relationships/slideLayout" Target="../slideLayouts/slideLayout259.xml"/><Relationship Id="rId124" Type="http://schemas.openxmlformats.org/officeDocument/2006/relationships/slideLayout" Target="../slideLayouts/slideLayout275.xml"/><Relationship Id="rId129" Type="http://schemas.openxmlformats.org/officeDocument/2006/relationships/slideLayout" Target="../slideLayouts/slideLayout280.xml"/><Relationship Id="rId54" Type="http://schemas.openxmlformats.org/officeDocument/2006/relationships/slideLayout" Target="../slideLayouts/slideLayout205.xml"/><Relationship Id="rId70" Type="http://schemas.openxmlformats.org/officeDocument/2006/relationships/slideLayout" Target="../slideLayouts/slideLayout221.xml"/><Relationship Id="rId75" Type="http://schemas.openxmlformats.org/officeDocument/2006/relationships/slideLayout" Target="../slideLayouts/slideLayout226.xml"/><Relationship Id="rId91" Type="http://schemas.openxmlformats.org/officeDocument/2006/relationships/slideLayout" Target="../slideLayouts/slideLayout242.xml"/><Relationship Id="rId96" Type="http://schemas.openxmlformats.org/officeDocument/2006/relationships/slideLayout" Target="../slideLayouts/slideLayout247.xml"/><Relationship Id="rId140" Type="http://schemas.openxmlformats.org/officeDocument/2006/relationships/slideLayout" Target="../slideLayouts/slideLayout291.xml"/><Relationship Id="rId145" Type="http://schemas.openxmlformats.org/officeDocument/2006/relationships/slideLayout" Target="../slideLayouts/slideLayout296.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23" Type="http://schemas.openxmlformats.org/officeDocument/2006/relationships/slideLayout" Target="../slideLayouts/slideLayout174.xml"/><Relationship Id="rId28" Type="http://schemas.openxmlformats.org/officeDocument/2006/relationships/slideLayout" Target="../slideLayouts/slideLayout179.xml"/><Relationship Id="rId49" Type="http://schemas.openxmlformats.org/officeDocument/2006/relationships/slideLayout" Target="../slideLayouts/slideLayout200.xml"/><Relationship Id="rId114" Type="http://schemas.openxmlformats.org/officeDocument/2006/relationships/slideLayout" Target="../slideLayouts/slideLayout265.xml"/><Relationship Id="rId119" Type="http://schemas.openxmlformats.org/officeDocument/2006/relationships/slideLayout" Target="../slideLayouts/slideLayout270.xml"/><Relationship Id="rId44" Type="http://schemas.openxmlformats.org/officeDocument/2006/relationships/slideLayout" Target="../slideLayouts/slideLayout195.xml"/><Relationship Id="rId60" Type="http://schemas.openxmlformats.org/officeDocument/2006/relationships/slideLayout" Target="../slideLayouts/slideLayout211.xml"/><Relationship Id="rId65" Type="http://schemas.openxmlformats.org/officeDocument/2006/relationships/slideLayout" Target="../slideLayouts/slideLayout216.xml"/><Relationship Id="rId81" Type="http://schemas.openxmlformats.org/officeDocument/2006/relationships/slideLayout" Target="../slideLayouts/slideLayout232.xml"/><Relationship Id="rId86" Type="http://schemas.openxmlformats.org/officeDocument/2006/relationships/slideLayout" Target="../slideLayouts/slideLayout237.xml"/><Relationship Id="rId130" Type="http://schemas.openxmlformats.org/officeDocument/2006/relationships/slideLayout" Target="../slideLayouts/slideLayout281.xml"/><Relationship Id="rId135" Type="http://schemas.openxmlformats.org/officeDocument/2006/relationships/slideLayout" Target="../slideLayouts/slideLayout286.xml"/><Relationship Id="rId151" Type="http://schemas.openxmlformats.org/officeDocument/2006/relationships/theme" Target="../theme/theme2.xml"/><Relationship Id="rId13" Type="http://schemas.openxmlformats.org/officeDocument/2006/relationships/slideLayout" Target="../slideLayouts/slideLayout164.xml"/><Relationship Id="rId18" Type="http://schemas.openxmlformats.org/officeDocument/2006/relationships/slideLayout" Target="../slideLayouts/slideLayout169.xml"/><Relationship Id="rId39" Type="http://schemas.openxmlformats.org/officeDocument/2006/relationships/slideLayout" Target="../slideLayouts/slideLayout190.xml"/><Relationship Id="rId109" Type="http://schemas.openxmlformats.org/officeDocument/2006/relationships/slideLayout" Target="../slideLayouts/slideLayout260.xml"/><Relationship Id="rId34" Type="http://schemas.openxmlformats.org/officeDocument/2006/relationships/slideLayout" Target="../slideLayouts/slideLayout185.xml"/><Relationship Id="rId50" Type="http://schemas.openxmlformats.org/officeDocument/2006/relationships/slideLayout" Target="../slideLayouts/slideLayout201.xml"/><Relationship Id="rId55" Type="http://schemas.openxmlformats.org/officeDocument/2006/relationships/slideLayout" Target="../slideLayouts/slideLayout206.xml"/><Relationship Id="rId76" Type="http://schemas.openxmlformats.org/officeDocument/2006/relationships/slideLayout" Target="../slideLayouts/slideLayout227.xml"/><Relationship Id="rId97" Type="http://schemas.openxmlformats.org/officeDocument/2006/relationships/slideLayout" Target="../slideLayouts/slideLayout248.xml"/><Relationship Id="rId104" Type="http://schemas.openxmlformats.org/officeDocument/2006/relationships/slideLayout" Target="../slideLayouts/slideLayout255.xml"/><Relationship Id="rId120" Type="http://schemas.openxmlformats.org/officeDocument/2006/relationships/slideLayout" Target="../slideLayouts/slideLayout271.xml"/><Relationship Id="rId125" Type="http://schemas.openxmlformats.org/officeDocument/2006/relationships/slideLayout" Target="../slideLayouts/slideLayout276.xml"/><Relationship Id="rId141" Type="http://schemas.openxmlformats.org/officeDocument/2006/relationships/slideLayout" Target="../slideLayouts/slideLayout292.xml"/><Relationship Id="rId146" Type="http://schemas.openxmlformats.org/officeDocument/2006/relationships/slideLayout" Target="../slideLayouts/slideLayout297.xml"/><Relationship Id="rId7" Type="http://schemas.openxmlformats.org/officeDocument/2006/relationships/slideLayout" Target="../slideLayouts/slideLayout158.xml"/><Relationship Id="rId71" Type="http://schemas.openxmlformats.org/officeDocument/2006/relationships/slideLayout" Target="../slideLayouts/slideLayout222.xml"/><Relationship Id="rId92" Type="http://schemas.openxmlformats.org/officeDocument/2006/relationships/slideLayout" Target="../slideLayouts/slideLayout243.xml"/><Relationship Id="rId2" Type="http://schemas.openxmlformats.org/officeDocument/2006/relationships/slideLayout" Target="../slideLayouts/slideLayout153.xml"/><Relationship Id="rId29" Type="http://schemas.openxmlformats.org/officeDocument/2006/relationships/slideLayout" Target="../slideLayouts/slideLayout180.xml"/><Relationship Id="rId24" Type="http://schemas.openxmlformats.org/officeDocument/2006/relationships/slideLayout" Target="../slideLayouts/slideLayout175.xml"/><Relationship Id="rId40" Type="http://schemas.openxmlformats.org/officeDocument/2006/relationships/slideLayout" Target="../slideLayouts/slideLayout191.xml"/><Relationship Id="rId45" Type="http://schemas.openxmlformats.org/officeDocument/2006/relationships/slideLayout" Target="../slideLayouts/slideLayout196.xml"/><Relationship Id="rId66" Type="http://schemas.openxmlformats.org/officeDocument/2006/relationships/slideLayout" Target="../slideLayouts/slideLayout217.xml"/><Relationship Id="rId87" Type="http://schemas.openxmlformats.org/officeDocument/2006/relationships/slideLayout" Target="../slideLayouts/slideLayout238.xml"/><Relationship Id="rId110" Type="http://schemas.openxmlformats.org/officeDocument/2006/relationships/slideLayout" Target="../slideLayouts/slideLayout261.xml"/><Relationship Id="rId115" Type="http://schemas.openxmlformats.org/officeDocument/2006/relationships/slideLayout" Target="../slideLayouts/slideLayout266.xml"/><Relationship Id="rId131" Type="http://schemas.openxmlformats.org/officeDocument/2006/relationships/slideLayout" Target="../slideLayouts/slideLayout282.xml"/><Relationship Id="rId136" Type="http://schemas.openxmlformats.org/officeDocument/2006/relationships/slideLayout" Target="../slideLayouts/slideLayout287.xml"/><Relationship Id="rId61" Type="http://schemas.openxmlformats.org/officeDocument/2006/relationships/slideLayout" Target="../slideLayouts/slideLayout212.xml"/><Relationship Id="rId82" Type="http://schemas.openxmlformats.org/officeDocument/2006/relationships/slideLayout" Target="../slideLayouts/slideLayout233.xml"/><Relationship Id="rId152" Type="http://schemas.openxmlformats.org/officeDocument/2006/relationships/image" Target="../media/image1.png"/><Relationship Id="rId19" Type="http://schemas.openxmlformats.org/officeDocument/2006/relationships/slideLayout" Target="../slideLayouts/slideLayout170.xml"/><Relationship Id="rId14" Type="http://schemas.openxmlformats.org/officeDocument/2006/relationships/slideLayout" Target="../slideLayouts/slideLayout165.xml"/><Relationship Id="rId30" Type="http://schemas.openxmlformats.org/officeDocument/2006/relationships/slideLayout" Target="../slideLayouts/slideLayout181.xml"/><Relationship Id="rId35" Type="http://schemas.openxmlformats.org/officeDocument/2006/relationships/slideLayout" Target="../slideLayouts/slideLayout186.xml"/><Relationship Id="rId56" Type="http://schemas.openxmlformats.org/officeDocument/2006/relationships/slideLayout" Target="../slideLayouts/slideLayout207.xml"/><Relationship Id="rId77" Type="http://schemas.openxmlformats.org/officeDocument/2006/relationships/slideLayout" Target="../slideLayouts/slideLayout228.xml"/><Relationship Id="rId100" Type="http://schemas.openxmlformats.org/officeDocument/2006/relationships/slideLayout" Target="../slideLayouts/slideLayout251.xml"/><Relationship Id="rId105" Type="http://schemas.openxmlformats.org/officeDocument/2006/relationships/slideLayout" Target="../slideLayouts/slideLayout256.xml"/><Relationship Id="rId126" Type="http://schemas.openxmlformats.org/officeDocument/2006/relationships/slideLayout" Target="../slideLayouts/slideLayout277.xml"/><Relationship Id="rId147" Type="http://schemas.openxmlformats.org/officeDocument/2006/relationships/slideLayout" Target="../slideLayouts/slideLayout298.xml"/><Relationship Id="rId8" Type="http://schemas.openxmlformats.org/officeDocument/2006/relationships/slideLayout" Target="../slideLayouts/slideLayout159.xml"/><Relationship Id="rId51" Type="http://schemas.openxmlformats.org/officeDocument/2006/relationships/slideLayout" Target="../slideLayouts/slideLayout202.xml"/><Relationship Id="rId72" Type="http://schemas.openxmlformats.org/officeDocument/2006/relationships/slideLayout" Target="../slideLayouts/slideLayout223.xml"/><Relationship Id="rId93" Type="http://schemas.openxmlformats.org/officeDocument/2006/relationships/slideLayout" Target="../slideLayouts/slideLayout244.xml"/><Relationship Id="rId98" Type="http://schemas.openxmlformats.org/officeDocument/2006/relationships/slideLayout" Target="../slideLayouts/slideLayout249.xml"/><Relationship Id="rId121" Type="http://schemas.openxmlformats.org/officeDocument/2006/relationships/slideLayout" Target="../slideLayouts/slideLayout272.xml"/><Relationship Id="rId142" Type="http://schemas.openxmlformats.org/officeDocument/2006/relationships/slideLayout" Target="../slideLayouts/slideLayout293.xml"/><Relationship Id="rId3" Type="http://schemas.openxmlformats.org/officeDocument/2006/relationships/slideLayout" Target="../slideLayouts/slideLayout154.xml"/><Relationship Id="rId25" Type="http://schemas.openxmlformats.org/officeDocument/2006/relationships/slideLayout" Target="../slideLayouts/slideLayout176.xml"/><Relationship Id="rId46" Type="http://schemas.openxmlformats.org/officeDocument/2006/relationships/slideLayout" Target="../slideLayouts/slideLayout197.xml"/><Relationship Id="rId67" Type="http://schemas.openxmlformats.org/officeDocument/2006/relationships/slideLayout" Target="../slideLayouts/slideLayout218.xml"/><Relationship Id="rId116" Type="http://schemas.openxmlformats.org/officeDocument/2006/relationships/slideLayout" Target="../slideLayouts/slideLayout267.xml"/><Relationship Id="rId137" Type="http://schemas.openxmlformats.org/officeDocument/2006/relationships/slideLayout" Target="../slideLayouts/slideLayout288.xml"/><Relationship Id="rId20" Type="http://schemas.openxmlformats.org/officeDocument/2006/relationships/slideLayout" Target="../slideLayouts/slideLayout171.xml"/><Relationship Id="rId41" Type="http://schemas.openxmlformats.org/officeDocument/2006/relationships/slideLayout" Target="../slideLayouts/slideLayout192.xml"/><Relationship Id="rId62" Type="http://schemas.openxmlformats.org/officeDocument/2006/relationships/slideLayout" Target="../slideLayouts/slideLayout213.xml"/><Relationship Id="rId83" Type="http://schemas.openxmlformats.org/officeDocument/2006/relationships/slideLayout" Target="../slideLayouts/slideLayout234.xml"/><Relationship Id="rId88" Type="http://schemas.openxmlformats.org/officeDocument/2006/relationships/slideLayout" Target="../slideLayouts/slideLayout239.xml"/><Relationship Id="rId111" Type="http://schemas.openxmlformats.org/officeDocument/2006/relationships/slideLayout" Target="../slideLayouts/slideLayout262.xml"/><Relationship Id="rId132" Type="http://schemas.openxmlformats.org/officeDocument/2006/relationships/slideLayout" Target="../slideLayouts/slideLayout283.xml"/><Relationship Id="rId15" Type="http://schemas.openxmlformats.org/officeDocument/2006/relationships/slideLayout" Target="../slideLayouts/slideLayout166.xml"/><Relationship Id="rId36" Type="http://schemas.openxmlformats.org/officeDocument/2006/relationships/slideLayout" Target="../slideLayouts/slideLayout187.xml"/><Relationship Id="rId57" Type="http://schemas.openxmlformats.org/officeDocument/2006/relationships/slideLayout" Target="../slideLayouts/slideLayout208.xml"/><Relationship Id="rId106" Type="http://schemas.openxmlformats.org/officeDocument/2006/relationships/slideLayout" Target="../slideLayouts/slideLayout257.xml"/><Relationship Id="rId127" Type="http://schemas.openxmlformats.org/officeDocument/2006/relationships/slideLayout" Target="../slideLayouts/slideLayout278.xml"/><Relationship Id="rId10" Type="http://schemas.openxmlformats.org/officeDocument/2006/relationships/slideLayout" Target="../slideLayouts/slideLayout161.xml"/><Relationship Id="rId31" Type="http://schemas.openxmlformats.org/officeDocument/2006/relationships/slideLayout" Target="../slideLayouts/slideLayout182.xml"/><Relationship Id="rId52" Type="http://schemas.openxmlformats.org/officeDocument/2006/relationships/slideLayout" Target="../slideLayouts/slideLayout203.xml"/><Relationship Id="rId73" Type="http://schemas.openxmlformats.org/officeDocument/2006/relationships/slideLayout" Target="../slideLayouts/slideLayout224.xml"/><Relationship Id="rId78" Type="http://schemas.openxmlformats.org/officeDocument/2006/relationships/slideLayout" Target="../slideLayouts/slideLayout229.xml"/><Relationship Id="rId94" Type="http://schemas.openxmlformats.org/officeDocument/2006/relationships/slideLayout" Target="../slideLayouts/slideLayout245.xml"/><Relationship Id="rId99" Type="http://schemas.openxmlformats.org/officeDocument/2006/relationships/slideLayout" Target="../slideLayouts/slideLayout250.xml"/><Relationship Id="rId101" Type="http://schemas.openxmlformats.org/officeDocument/2006/relationships/slideLayout" Target="../slideLayouts/slideLayout252.xml"/><Relationship Id="rId122" Type="http://schemas.openxmlformats.org/officeDocument/2006/relationships/slideLayout" Target="../slideLayouts/slideLayout273.xml"/><Relationship Id="rId143" Type="http://schemas.openxmlformats.org/officeDocument/2006/relationships/slideLayout" Target="../slideLayouts/slideLayout294.xml"/><Relationship Id="rId148" Type="http://schemas.openxmlformats.org/officeDocument/2006/relationships/slideLayout" Target="../slideLayouts/slideLayout299.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26" Type="http://schemas.openxmlformats.org/officeDocument/2006/relationships/slideLayout" Target="../slideLayouts/slideLayout177.xml"/><Relationship Id="rId47" Type="http://schemas.openxmlformats.org/officeDocument/2006/relationships/slideLayout" Target="../slideLayouts/slideLayout198.xml"/><Relationship Id="rId68" Type="http://schemas.openxmlformats.org/officeDocument/2006/relationships/slideLayout" Target="../slideLayouts/slideLayout219.xml"/><Relationship Id="rId89" Type="http://schemas.openxmlformats.org/officeDocument/2006/relationships/slideLayout" Target="../slideLayouts/slideLayout240.xml"/><Relationship Id="rId112" Type="http://schemas.openxmlformats.org/officeDocument/2006/relationships/slideLayout" Target="../slideLayouts/slideLayout263.xml"/><Relationship Id="rId133" Type="http://schemas.openxmlformats.org/officeDocument/2006/relationships/slideLayout" Target="../slideLayouts/slideLayout284.xml"/><Relationship Id="rId16" Type="http://schemas.openxmlformats.org/officeDocument/2006/relationships/slideLayout" Target="../slideLayouts/slideLayout167.xml"/><Relationship Id="rId37" Type="http://schemas.openxmlformats.org/officeDocument/2006/relationships/slideLayout" Target="../slideLayouts/slideLayout188.xml"/><Relationship Id="rId58" Type="http://schemas.openxmlformats.org/officeDocument/2006/relationships/slideLayout" Target="../slideLayouts/slideLayout209.xml"/><Relationship Id="rId79" Type="http://schemas.openxmlformats.org/officeDocument/2006/relationships/slideLayout" Target="../slideLayouts/slideLayout230.xml"/><Relationship Id="rId102" Type="http://schemas.openxmlformats.org/officeDocument/2006/relationships/slideLayout" Target="../slideLayouts/slideLayout253.xml"/><Relationship Id="rId123" Type="http://schemas.openxmlformats.org/officeDocument/2006/relationships/slideLayout" Target="../slideLayouts/slideLayout274.xml"/><Relationship Id="rId144" Type="http://schemas.openxmlformats.org/officeDocument/2006/relationships/slideLayout" Target="../slideLayouts/slideLayout295.xml"/><Relationship Id="rId90" Type="http://schemas.openxmlformats.org/officeDocument/2006/relationships/slideLayout" Target="../slideLayouts/slideLayout2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5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55671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811" r:id="rId151"/>
  </p:sldLayoutIdLs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5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199871" y="6442615"/>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a:off x="7733142" y="646451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flipH="1">
            <a:off x="723901" y="6577201"/>
            <a:ext cx="9287417" cy="0"/>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2030511"/>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32" r:id="rId20"/>
    <p:sldLayoutId id="2147483833" r:id="rId21"/>
    <p:sldLayoutId id="2147483834" r:id="rId22"/>
    <p:sldLayoutId id="2147483835" r:id="rId23"/>
    <p:sldLayoutId id="2147483836" r:id="rId24"/>
    <p:sldLayoutId id="2147483837" r:id="rId25"/>
    <p:sldLayoutId id="2147483838" r:id="rId26"/>
    <p:sldLayoutId id="2147483839" r:id="rId27"/>
    <p:sldLayoutId id="2147483840" r:id="rId28"/>
    <p:sldLayoutId id="2147483841" r:id="rId29"/>
    <p:sldLayoutId id="2147483842" r:id="rId30"/>
    <p:sldLayoutId id="2147483843" r:id="rId31"/>
    <p:sldLayoutId id="2147483844" r:id="rId32"/>
    <p:sldLayoutId id="2147483845" r:id="rId33"/>
    <p:sldLayoutId id="2147483846" r:id="rId34"/>
    <p:sldLayoutId id="2147483847" r:id="rId35"/>
    <p:sldLayoutId id="2147483848" r:id="rId36"/>
    <p:sldLayoutId id="2147483849" r:id="rId37"/>
    <p:sldLayoutId id="2147483850" r:id="rId38"/>
    <p:sldLayoutId id="2147483851" r:id="rId39"/>
    <p:sldLayoutId id="2147483852" r:id="rId40"/>
    <p:sldLayoutId id="2147483853" r:id="rId41"/>
    <p:sldLayoutId id="2147483854" r:id="rId42"/>
    <p:sldLayoutId id="2147483855" r:id="rId43"/>
    <p:sldLayoutId id="2147483856" r:id="rId44"/>
    <p:sldLayoutId id="2147483857" r:id="rId45"/>
    <p:sldLayoutId id="2147483858" r:id="rId46"/>
    <p:sldLayoutId id="2147483859" r:id="rId47"/>
    <p:sldLayoutId id="2147483860" r:id="rId48"/>
    <p:sldLayoutId id="2147483861" r:id="rId49"/>
    <p:sldLayoutId id="2147483862" r:id="rId50"/>
    <p:sldLayoutId id="2147483863" r:id="rId51"/>
    <p:sldLayoutId id="2147483864" r:id="rId52"/>
    <p:sldLayoutId id="2147483865" r:id="rId53"/>
    <p:sldLayoutId id="2147483866" r:id="rId54"/>
    <p:sldLayoutId id="2147483867" r:id="rId55"/>
    <p:sldLayoutId id="2147483868" r:id="rId56"/>
    <p:sldLayoutId id="2147483869" r:id="rId57"/>
    <p:sldLayoutId id="2147483870" r:id="rId58"/>
    <p:sldLayoutId id="2147483871" r:id="rId59"/>
    <p:sldLayoutId id="2147483872" r:id="rId60"/>
    <p:sldLayoutId id="2147483873" r:id="rId61"/>
    <p:sldLayoutId id="2147483874" r:id="rId62"/>
    <p:sldLayoutId id="2147483875" r:id="rId63"/>
    <p:sldLayoutId id="2147483876" r:id="rId64"/>
    <p:sldLayoutId id="2147483877" r:id="rId65"/>
    <p:sldLayoutId id="2147483878" r:id="rId66"/>
    <p:sldLayoutId id="2147483879" r:id="rId67"/>
    <p:sldLayoutId id="2147483880" r:id="rId68"/>
    <p:sldLayoutId id="2147483881" r:id="rId69"/>
    <p:sldLayoutId id="2147483882" r:id="rId70"/>
    <p:sldLayoutId id="2147483883" r:id="rId71"/>
    <p:sldLayoutId id="2147483884" r:id="rId72"/>
    <p:sldLayoutId id="2147483885" r:id="rId73"/>
    <p:sldLayoutId id="2147483886" r:id="rId74"/>
    <p:sldLayoutId id="2147483887" r:id="rId75"/>
    <p:sldLayoutId id="2147483888" r:id="rId76"/>
    <p:sldLayoutId id="2147483889" r:id="rId77"/>
    <p:sldLayoutId id="2147483890" r:id="rId78"/>
    <p:sldLayoutId id="2147483891" r:id="rId79"/>
    <p:sldLayoutId id="2147483892" r:id="rId80"/>
    <p:sldLayoutId id="2147483893" r:id="rId81"/>
    <p:sldLayoutId id="2147483894" r:id="rId82"/>
    <p:sldLayoutId id="2147483895" r:id="rId83"/>
    <p:sldLayoutId id="2147483896" r:id="rId84"/>
    <p:sldLayoutId id="2147483897" r:id="rId85"/>
    <p:sldLayoutId id="2147483898" r:id="rId86"/>
    <p:sldLayoutId id="2147483899" r:id="rId87"/>
    <p:sldLayoutId id="2147483900" r:id="rId88"/>
    <p:sldLayoutId id="2147483901" r:id="rId89"/>
    <p:sldLayoutId id="2147483902" r:id="rId90"/>
    <p:sldLayoutId id="2147483903" r:id="rId91"/>
    <p:sldLayoutId id="2147483904" r:id="rId92"/>
    <p:sldLayoutId id="2147483905" r:id="rId93"/>
    <p:sldLayoutId id="2147483906" r:id="rId94"/>
    <p:sldLayoutId id="2147483907" r:id="rId95"/>
    <p:sldLayoutId id="2147483908" r:id="rId96"/>
    <p:sldLayoutId id="2147483909" r:id="rId97"/>
    <p:sldLayoutId id="2147483910" r:id="rId98"/>
    <p:sldLayoutId id="2147483911" r:id="rId99"/>
    <p:sldLayoutId id="2147483912" r:id="rId100"/>
    <p:sldLayoutId id="2147483913" r:id="rId101"/>
    <p:sldLayoutId id="2147483914" r:id="rId102"/>
    <p:sldLayoutId id="2147483915" r:id="rId103"/>
    <p:sldLayoutId id="2147483916" r:id="rId104"/>
    <p:sldLayoutId id="2147483917" r:id="rId105"/>
    <p:sldLayoutId id="2147483918" r:id="rId106"/>
    <p:sldLayoutId id="2147483919" r:id="rId107"/>
    <p:sldLayoutId id="2147483920" r:id="rId108"/>
    <p:sldLayoutId id="2147483921" r:id="rId109"/>
    <p:sldLayoutId id="2147483922" r:id="rId110"/>
    <p:sldLayoutId id="2147483923" r:id="rId111"/>
    <p:sldLayoutId id="2147483924" r:id="rId112"/>
    <p:sldLayoutId id="2147483925" r:id="rId113"/>
    <p:sldLayoutId id="2147483926" r:id="rId114"/>
    <p:sldLayoutId id="2147483927" r:id="rId115"/>
    <p:sldLayoutId id="2147483928" r:id="rId116"/>
    <p:sldLayoutId id="2147483929" r:id="rId117"/>
    <p:sldLayoutId id="2147483930" r:id="rId118"/>
    <p:sldLayoutId id="2147483931" r:id="rId119"/>
    <p:sldLayoutId id="2147483932" r:id="rId120"/>
    <p:sldLayoutId id="2147483933" r:id="rId121"/>
    <p:sldLayoutId id="2147483934" r:id="rId122"/>
    <p:sldLayoutId id="2147483935" r:id="rId123"/>
    <p:sldLayoutId id="2147483936" r:id="rId124"/>
    <p:sldLayoutId id="2147483937" r:id="rId125"/>
    <p:sldLayoutId id="2147483938" r:id="rId126"/>
    <p:sldLayoutId id="2147483939" r:id="rId127"/>
    <p:sldLayoutId id="2147483940" r:id="rId128"/>
    <p:sldLayoutId id="2147483941" r:id="rId129"/>
    <p:sldLayoutId id="2147483942" r:id="rId130"/>
    <p:sldLayoutId id="2147483943" r:id="rId131"/>
    <p:sldLayoutId id="2147483944" r:id="rId132"/>
    <p:sldLayoutId id="2147483945" r:id="rId133"/>
    <p:sldLayoutId id="2147483946" r:id="rId134"/>
    <p:sldLayoutId id="2147483947" r:id="rId135"/>
    <p:sldLayoutId id="2147483948" r:id="rId136"/>
    <p:sldLayoutId id="2147483949" r:id="rId137"/>
    <p:sldLayoutId id="2147483950" r:id="rId138"/>
    <p:sldLayoutId id="2147483951" r:id="rId139"/>
    <p:sldLayoutId id="2147483952" r:id="rId140"/>
    <p:sldLayoutId id="2147483953" r:id="rId141"/>
    <p:sldLayoutId id="2147483954" r:id="rId142"/>
    <p:sldLayoutId id="2147483955" r:id="rId143"/>
    <p:sldLayoutId id="2147483956" r:id="rId144"/>
    <p:sldLayoutId id="2147483957" r:id="rId145"/>
    <p:sldLayoutId id="2147483958" r:id="rId146"/>
    <p:sldLayoutId id="2147483959" r:id="rId147"/>
    <p:sldLayoutId id="2147483960" r:id="rId148"/>
    <p:sldLayoutId id="2147483961" r:id="rId149"/>
    <p:sldLayoutId id="2147483962" r:id="rId150"/>
  </p:sldLayoutIdLs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01.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51.xml"/><Relationship Id="rId4" Type="http://schemas.openxmlformats.org/officeDocument/2006/relationships/image" Target="../media/image20.sv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75.xml"/><Relationship Id="rId4" Type="http://schemas.openxmlformats.org/officeDocument/2006/relationships/image" Target="../media/image20.sv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81.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81.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81.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81.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81.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8DF5F-D3B7-601F-8348-1A3629F1DC69}"/>
              </a:ext>
            </a:extLst>
          </p:cNvPr>
          <p:cNvSpPr>
            <a:spLocks noGrp="1"/>
          </p:cNvSpPr>
          <p:nvPr>
            <p:ph type="title"/>
          </p:nvPr>
        </p:nvSpPr>
        <p:spPr>
          <a:xfrm>
            <a:off x="1005840" y="2194560"/>
            <a:ext cx="6967015" cy="1364723"/>
          </a:xfrm>
        </p:spPr>
        <p:txBody>
          <a:bodyPr lIns="0" tIns="60960" rIns="0" bIns="60960" anchor="b"/>
          <a:lstStyle/>
          <a:p>
            <a:r>
              <a:rPr lang="en-US"/>
              <a:t> </a:t>
            </a:r>
            <a:br>
              <a:rPr lang="en-US"/>
            </a:br>
            <a:r>
              <a:rPr lang="en-US"/>
              <a:t>Territory and Quota Planning </a:t>
            </a:r>
            <a:br>
              <a:rPr lang="en-US"/>
            </a:br>
            <a:r>
              <a:rPr lang="en-US"/>
              <a:t>Application on Polaris</a:t>
            </a:r>
            <a:endParaRPr lang="en-US">
              <a:latin typeface="Arial"/>
              <a:cs typeface="Arial"/>
            </a:endParaRPr>
          </a:p>
        </p:txBody>
      </p:sp>
      <p:sp>
        <p:nvSpPr>
          <p:cNvPr id="5" name="Text Placeholder 4">
            <a:extLst>
              <a:ext uri="{FF2B5EF4-FFF2-40B4-BE49-F238E27FC236}">
                <a16:creationId xmlns:a16="http://schemas.microsoft.com/office/drawing/2014/main" id="{CD5CE04E-E27D-4ABD-903A-C82FE87E2C62}"/>
              </a:ext>
            </a:extLst>
          </p:cNvPr>
          <p:cNvSpPr>
            <a:spLocks noGrp="1"/>
          </p:cNvSpPr>
          <p:nvPr>
            <p:ph type="body" sz="quarter" idx="10"/>
          </p:nvPr>
        </p:nvSpPr>
        <p:spPr>
          <a:xfrm>
            <a:off x="7684652" y="5976543"/>
            <a:ext cx="3330680" cy="751961"/>
          </a:xfrm>
        </p:spPr>
        <p:txBody>
          <a:bodyPr lIns="0" tIns="45720" rIns="91440" bIns="45720" anchor="t"/>
          <a:lstStyle/>
          <a:p>
            <a:r>
              <a:rPr lang="en-US">
                <a:latin typeface="Arial"/>
                <a:cs typeface="Arial"/>
              </a:rPr>
              <a:t>Application Version 3.0.0</a:t>
            </a:r>
            <a:endParaRPr lang="en-US"/>
          </a:p>
          <a:p>
            <a:r>
              <a:rPr lang="en-US">
                <a:latin typeface="Arial"/>
                <a:cs typeface="Arial"/>
              </a:rPr>
              <a:t>Last Updated December 2025</a:t>
            </a:r>
          </a:p>
        </p:txBody>
      </p:sp>
      <p:sp>
        <p:nvSpPr>
          <p:cNvPr id="6" name="Title 1">
            <a:extLst>
              <a:ext uri="{FF2B5EF4-FFF2-40B4-BE49-F238E27FC236}">
                <a16:creationId xmlns:a16="http://schemas.microsoft.com/office/drawing/2014/main" id="{905522DA-573B-CBDA-3D71-0D1FBE0D55B9}"/>
              </a:ext>
            </a:extLst>
          </p:cNvPr>
          <p:cNvSpPr txBox="1">
            <a:spLocks/>
          </p:cNvSpPr>
          <p:nvPr/>
        </p:nvSpPr>
        <p:spPr>
          <a:xfrm>
            <a:off x="1005839" y="3429000"/>
            <a:ext cx="6967015" cy="751961"/>
          </a:xfrm>
          <a:prstGeom prst="rect">
            <a:avLst/>
          </a:prstGeom>
        </p:spPr>
        <p:txBody>
          <a:bodyPr lIns="0" tIns="60960" rIns="0" bIns="60960" anchor="b"/>
          <a:lstStyle>
            <a:lvl1pPr algn="l" defTabSz="1219170" rtl="0" eaLnBrk="1" latinLnBrk="0" hangingPunct="1">
              <a:spcBef>
                <a:spcPct val="0"/>
              </a:spcBef>
              <a:buNone/>
              <a:defRPr sz="4267" b="0" i="0" kern="120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US" sz="3200">
                <a:solidFill>
                  <a:schemeClr val="accent1"/>
                </a:solidFill>
              </a:rPr>
              <a:t>Functional Overview</a:t>
            </a:r>
            <a:endParaRPr lang="en-US" sz="3200">
              <a:solidFill>
                <a:schemeClr val="accent1"/>
              </a:solidFill>
              <a:latin typeface="Arial"/>
              <a:cs typeface="Arial"/>
            </a:endParaRPr>
          </a:p>
        </p:txBody>
      </p:sp>
    </p:spTree>
    <p:extLst>
      <p:ext uri="{BB962C8B-B14F-4D97-AF65-F5344CB8AC3E}">
        <p14:creationId xmlns:p14="http://schemas.microsoft.com/office/powerpoint/2010/main" val="1299184810"/>
      </p:ext>
    </p:extLst>
  </p:cSld>
  <p:clrMapOvr>
    <a:masterClrMapping/>
  </p:clrMapOvr>
  <mc:AlternateContent xmlns:mc="http://schemas.openxmlformats.org/markup-compatibility/2006">
    <mc:Choice xmlns:p14="http://schemas.microsoft.com/office/powerpoint/2010/main" Requires="p14">
      <p:transition spd="med" p14:dur="700" advClick="0" advTm="15000">
        <p:fade/>
      </p:transition>
    </mc:Choice>
    <mc:Fallback>
      <p:transition spd="med" advClick="0" advTm="15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612692-551F-3A57-A95E-0834567F5ADE}"/>
              </a:ext>
            </a:extLst>
          </p:cNvPr>
          <p:cNvSpPr>
            <a:spLocks noGrp="1"/>
          </p:cNvSpPr>
          <p:nvPr>
            <p:ph type="title"/>
          </p:nvPr>
        </p:nvSpPr>
        <p:spPr/>
        <p:txBody>
          <a:bodyPr/>
          <a:lstStyle/>
          <a:p>
            <a:pPr>
              <a:lnSpc>
                <a:spcPct val="120000"/>
              </a:lnSpc>
            </a:pPr>
            <a:r>
              <a:rPr lang="en-US">
                <a:solidFill>
                  <a:schemeClr val="bg2">
                    <a:lumMod val="10000"/>
                  </a:schemeClr>
                </a:solidFill>
                <a:ea typeface="Verdana" panose="020B0604030504040204" pitchFamily="34" charset="0"/>
              </a:rPr>
              <a:t>Territory and Quota Planning Application</a:t>
            </a:r>
            <a:endParaRPr lang="en-US">
              <a:solidFill>
                <a:schemeClr val="bg1">
                  <a:lumMod val="50000"/>
                </a:schemeClr>
              </a:solidFill>
              <a:ea typeface="Verdana" panose="020B0604030504040204" pitchFamily="34" charset="0"/>
            </a:endParaRPr>
          </a:p>
        </p:txBody>
      </p:sp>
      <p:sp>
        <p:nvSpPr>
          <p:cNvPr id="2" name="TextBox 1">
            <a:extLst>
              <a:ext uri="{FF2B5EF4-FFF2-40B4-BE49-F238E27FC236}">
                <a16:creationId xmlns:a16="http://schemas.microsoft.com/office/drawing/2014/main" id="{7C40CFCD-0502-3983-F631-F4C900A7C671}"/>
              </a:ext>
            </a:extLst>
          </p:cNvPr>
          <p:cNvSpPr txBox="1"/>
          <p:nvPr/>
        </p:nvSpPr>
        <p:spPr>
          <a:xfrm>
            <a:off x="529682" y="1121914"/>
            <a:ext cx="5356305" cy="1344214"/>
          </a:xfrm>
          <a:prstGeom prst="rect">
            <a:avLst/>
          </a:prstGeom>
          <a:noFill/>
        </p:spPr>
        <p:txBody>
          <a:bodyPr wrap="square" rtlCol="0">
            <a:spAutoFit/>
          </a:bodyPr>
          <a:lstStyle/>
          <a:p>
            <a:pPr defTabSz="1219170">
              <a:spcAft>
                <a:spcPts val="800"/>
              </a:spcAft>
            </a:pPr>
            <a:r>
              <a:rPr lang="en-US" sz="1600" b="1">
                <a:solidFill>
                  <a:srgbClr val="FF6100"/>
                </a:solidFill>
                <a:latin typeface="Arial" panose="020B0604020202020204" pitchFamily="34" charset="0"/>
                <a:ea typeface="Verdana" charset="0"/>
                <a:cs typeface="Arial" panose="020B0604020202020204" pitchFamily="34" charset="0"/>
              </a:rPr>
              <a:t>OVERVIEW</a:t>
            </a:r>
          </a:p>
          <a:p>
            <a:pPr defTabSz="1219170"/>
            <a:r>
              <a:rPr lang="en-US" sz="1467">
                <a:solidFill>
                  <a:srgbClr val="0A2F46"/>
                </a:solidFill>
                <a:latin typeface="Arial" panose="020B0604020202020204"/>
              </a:rPr>
              <a:t>Anaplan’s Territory and Quota Planning Application on Polaris helps organizations </a:t>
            </a:r>
            <a:r>
              <a:rPr lang="en-US" sz="1467" b="1">
                <a:solidFill>
                  <a:srgbClr val="0A2F46"/>
                </a:solidFill>
                <a:latin typeface="Arial" panose="020B0604020202020204"/>
              </a:rPr>
              <a:t>accelerate revenue</a:t>
            </a:r>
            <a:r>
              <a:rPr lang="en-US" sz="1467">
                <a:solidFill>
                  <a:srgbClr val="0A2F46"/>
                </a:solidFill>
                <a:latin typeface="Arial" panose="020B0604020202020204"/>
              </a:rPr>
              <a:t>, i</a:t>
            </a:r>
            <a:r>
              <a:rPr lang="en-US" sz="1467" b="1">
                <a:solidFill>
                  <a:srgbClr val="0A2F46"/>
                </a:solidFill>
                <a:latin typeface="Arial" panose="020B0604020202020204"/>
              </a:rPr>
              <a:t>mprove sales productivity</a:t>
            </a:r>
            <a:r>
              <a:rPr lang="en-US" sz="1467">
                <a:solidFill>
                  <a:srgbClr val="0A2F46"/>
                </a:solidFill>
                <a:latin typeface="Arial" panose="020B0604020202020204"/>
              </a:rPr>
              <a:t>, and </a:t>
            </a:r>
            <a:r>
              <a:rPr lang="en-US" sz="1467" b="1">
                <a:solidFill>
                  <a:srgbClr val="0A2F46"/>
                </a:solidFill>
                <a:latin typeface="Arial" panose="020B0604020202020204"/>
              </a:rPr>
              <a:t>increase team motivation </a:t>
            </a:r>
            <a:r>
              <a:rPr lang="en-US" sz="1467">
                <a:solidFill>
                  <a:srgbClr val="0A2F46"/>
                </a:solidFill>
                <a:latin typeface="Arial" panose="020B0604020202020204"/>
              </a:rPr>
              <a:t>by driving fair, data-driven territory and quota decisions.</a:t>
            </a:r>
          </a:p>
        </p:txBody>
      </p:sp>
      <p:sp>
        <p:nvSpPr>
          <p:cNvPr id="5" name="TextBox 4">
            <a:extLst>
              <a:ext uri="{FF2B5EF4-FFF2-40B4-BE49-F238E27FC236}">
                <a16:creationId xmlns:a16="http://schemas.microsoft.com/office/drawing/2014/main" id="{C1078FDB-3991-B373-69D7-4C8A5F864071}"/>
              </a:ext>
            </a:extLst>
          </p:cNvPr>
          <p:cNvSpPr txBox="1"/>
          <p:nvPr/>
        </p:nvSpPr>
        <p:spPr>
          <a:xfrm>
            <a:off x="529682" y="2737863"/>
            <a:ext cx="5356305" cy="3181064"/>
          </a:xfrm>
          <a:prstGeom prst="rect">
            <a:avLst/>
          </a:prstGeom>
          <a:noFill/>
        </p:spPr>
        <p:txBody>
          <a:bodyPr wrap="square" rtlCol="0">
            <a:spAutoFit/>
          </a:bodyPr>
          <a:lstStyle/>
          <a:p>
            <a:pPr defTabSz="1219170"/>
            <a:r>
              <a:rPr lang="en-US" sz="1600" b="1">
                <a:solidFill>
                  <a:srgbClr val="FF6100"/>
                </a:solidFill>
                <a:latin typeface="Arial"/>
                <a:cs typeface="Arial"/>
              </a:rPr>
              <a:t>KEY CAPABILITIES</a:t>
            </a:r>
          </a:p>
          <a:p>
            <a:pPr marL="228594" indent="-228594" defTabSz="1219170">
              <a:spcBef>
                <a:spcPts val="352"/>
              </a:spcBef>
              <a:buFont typeface="Arial" panose="020B0604020202020204" pitchFamily="34" charset="0"/>
              <a:buChar char="•"/>
            </a:pPr>
            <a:r>
              <a:rPr lang="en-US" sz="1467">
                <a:solidFill>
                  <a:srgbClr val="0A2F46"/>
                </a:solidFill>
                <a:latin typeface="Arial" panose="020B0604020202020204"/>
              </a:rPr>
              <a:t>Manage </a:t>
            </a:r>
            <a:r>
              <a:rPr lang="en-US" sz="1467" b="1">
                <a:solidFill>
                  <a:srgbClr val="0A2F46"/>
                </a:solidFill>
                <a:latin typeface="Arial" panose="020B0604020202020204"/>
              </a:rPr>
              <a:t>planning year </a:t>
            </a:r>
            <a:r>
              <a:rPr lang="en-US" sz="1467">
                <a:solidFill>
                  <a:srgbClr val="0A2F46"/>
                </a:solidFill>
                <a:latin typeface="Arial" panose="020B0604020202020204"/>
              </a:rPr>
              <a:t>and </a:t>
            </a:r>
            <a:r>
              <a:rPr lang="en-US" sz="1467" b="1">
                <a:solidFill>
                  <a:srgbClr val="0A2F46"/>
                </a:solidFill>
                <a:latin typeface="Arial" panose="020B0604020202020204"/>
              </a:rPr>
              <a:t>current year </a:t>
            </a:r>
            <a:r>
              <a:rPr lang="en-US" sz="1467">
                <a:solidFill>
                  <a:srgbClr val="0A2F46"/>
                </a:solidFill>
                <a:latin typeface="Arial" panose="020B0604020202020204"/>
              </a:rPr>
              <a:t>separately</a:t>
            </a:r>
          </a:p>
          <a:p>
            <a:pPr marL="228594" indent="-228594" defTabSz="1219170">
              <a:spcBef>
                <a:spcPts val="352"/>
              </a:spcBef>
              <a:buFont typeface="Arial" panose="020B0604020202020204" pitchFamily="34" charset="0"/>
              <a:buChar char="•"/>
            </a:pPr>
            <a:r>
              <a:rPr lang="en-US" sz="1467" b="1">
                <a:solidFill>
                  <a:srgbClr val="0A2F46"/>
                </a:solidFill>
                <a:latin typeface="Arial" panose="020B0604020202020204"/>
              </a:rPr>
              <a:t>Compare scenarios </a:t>
            </a:r>
            <a:r>
              <a:rPr lang="en-US" sz="1467">
                <a:solidFill>
                  <a:srgbClr val="0A2F46"/>
                </a:solidFill>
                <a:latin typeface="Arial" panose="020B0604020202020204"/>
              </a:rPr>
              <a:t>for all planning year decisions</a:t>
            </a:r>
          </a:p>
          <a:p>
            <a:pPr marL="228594" indent="-228594" defTabSz="1219170">
              <a:spcBef>
                <a:spcPts val="352"/>
              </a:spcBef>
              <a:buFont typeface="Arial" panose="020B0604020202020204" pitchFamily="34" charset="0"/>
              <a:buChar char="•"/>
            </a:pPr>
            <a:r>
              <a:rPr lang="en-US" sz="1467">
                <a:solidFill>
                  <a:srgbClr val="0A2F46"/>
                </a:solidFill>
                <a:latin typeface="Arial" panose="020B0604020202020204"/>
              </a:rPr>
              <a:t>Carve territories by </a:t>
            </a:r>
            <a:r>
              <a:rPr lang="en-US" sz="1467" b="1">
                <a:solidFill>
                  <a:srgbClr val="0A2F46"/>
                </a:solidFill>
                <a:latin typeface="Arial" panose="020B0604020202020204"/>
              </a:rPr>
              <a:t>postal code</a:t>
            </a:r>
            <a:r>
              <a:rPr lang="en-US" sz="1467">
                <a:solidFill>
                  <a:srgbClr val="0A2F46"/>
                </a:solidFill>
                <a:latin typeface="Arial" panose="020B0604020202020204"/>
              </a:rPr>
              <a:t> with geo-mapping boundary support</a:t>
            </a:r>
          </a:p>
          <a:p>
            <a:pPr marL="228594" indent="-228594" defTabSz="1219170">
              <a:spcBef>
                <a:spcPts val="352"/>
              </a:spcBef>
              <a:buFont typeface="Arial" panose="020B0604020202020204" pitchFamily="34" charset="0"/>
              <a:buChar char="•"/>
            </a:pPr>
            <a:r>
              <a:rPr lang="en-US" sz="1467">
                <a:solidFill>
                  <a:srgbClr val="0A2F46"/>
                </a:solidFill>
                <a:latin typeface="Arial" panose="020B0604020202020204"/>
              </a:rPr>
              <a:t>Assign quotas using </a:t>
            </a:r>
            <a:r>
              <a:rPr lang="en-US" sz="1467" b="1">
                <a:solidFill>
                  <a:srgbClr val="0A2F46"/>
                </a:solidFill>
                <a:latin typeface="Arial" panose="020B0604020202020204"/>
              </a:rPr>
              <a:t>role-based</a:t>
            </a:r>
            <a:r>
              <a:rPr lang="en-US" sz="1467">
                <a:solidFill>
                  <a:srgbClr val="0A2F46"/>
                </a:solidFill>
                <a:latin typeface="Arial" panose="020B0604020202020204"/>
              </a:rPr>
              <a:t> and hierarchical logic with </a:t>
            </a:r>
            <a:r>
              <a:rPr lang="en-US" sz="1467" b="1">
                <a:solidFill>
                  <a:srgbClr val="0A2F46"/>
                </a:solidFill>
                <a:latin typeface="Arial" panose="020B0604020202020204"/>
              </a:rPr>
              <a:t>ramping, seasonality</a:t>
            </a:r>
            <a:r>
              <a:rPr lang="en-US" sz="1467">
                <a:solidFill>
                  <a:srgbClr val="0A2F46"/>
                </a:solidFill>
                <a:latin typeface="Arial" panose="020B0604020202020204"/>
              </a:rPr>
              <a:t>, and approval workflows</a:t>
            </a:r>
          </a:p>
          <a:p>
            <a:pPr marL="228594" indent="-228594" defTabSz="1219170">
              <a:spcBef>
                <a:spcPts val="352"/>
              </a:spcBef>
              <a:buFont typeface="Arial" panose="020B0604020202020204" pitchFamily="34" charset="0"/>
              <a:buChar char="•"/>
            </a:pPr>
            <a:r>
              <a:rPr lang="en-US" sz="1467">
                <a:solidFill>
                  <a:srgbClr val="0A2F46"/>
                </a:solidFill>
                <a:latin typeface="Arial" panose="020B0604020202020204"/>
              </a:rPr>
              <a:t>Apply flexible </a:t>
            </a:r>
            <a:r>
              <a:rPr lang="en-US" sz="1467" b="1">
                <a:solidFill>
                  <a:srgbClr val="0A2F46"/>
                </a:solidFill>
                <a:latin typeface="Arial" panose="020B0604020202020204"/>
              </a:rPr>
              <a:t>multi-territory and multi-resource assignments</a:t>
            </a:r>
            <a:endParaRPr lang="en-US" sz="1467">
              <a:solidFill>
                <a:srgbClr val="0A2F46"/>
              </a:solidFill>
              <a:latin typeface="Arial" panose="020B0604020202020204"/>
            </a:endParaRPr>
          </a:p>
          <a:p>
            <a:pPr marL="228594" indent="-228594" defTabSz="1219170">
              <a:spcBef>
                <a:spcPts val="352"/>
              </a:spcBef>
              <a:buFont typeface="Arial" panose="020B0604020202020204" pitchFamily="34" charset="0"/>
              <a:buChar char="•"/>
            </a:pPr>
            <a:r>
              <a:rPr lang="en-US" sz="1467">
                <a:solidFill>
                  <a:srgbClr val="0A2F46"/>
                </a:solidFill>
                <a:latin typeface="Arial" panose="020B0604020202020204"/>
              </a:rPr>
              <a:t>Model </a:t>
            </a:r>
            <a:r>
              <a:rPr lang="en-US" sz="1467" b="1">
                <a:solidFill>
                  <a:srgbClr val="0A2F46"/>
                </a:solidFill>
                <a:latin typeface="Arial" panose="020B0604020202020204"/>
              </a:rPr>
              <a:t>account-to-territory</a:t>
            </a:r>
            <a:r>
              <a:rPr lang="en-US" sz="1467">
                <a:solidFill>
                  <a:srgbClr val="0A2F46"/>
                </a:solidFill>
                <a:latin typeface="Arial" panose="020B0604020202020204"/>
              </a:rPr>
              <a:t> assignments and splits</a:t>
            </a:r>
          </a:p>
          <a:p>
            <a:pPr marL="228594" indent="-228594" defTabSz="1219170">
              <a:spcBef>
                <a:spcPts val="352"/>
              </a:spcBef>
              <a:buFont typeface="Arial" panose="020B0604020202020204" pitchFamily="34" charset="0"/>
              <a:buChar char="•"/>
            </a:pPr>
            <a:r>
              <a:rPr lang="en-US" sz="1467">
                <a:solidFill>
                  <a:srgbClr val="0A2F46"/>
                </a:solidFill>
                <a:latin typeface="Arial" panose="020B0604020202020204"/>
              </a:rPr>
              <a:t>Manage complex 1:many </a:t>
            </a:r>
            <a:r>
              <a:rPr lang="en-US" sz="1467" b="1">
                <a:solidFill>
                  <a:srgbClr val="0A2F46"/>
                </a:solidFill>
                <a:latin typeface="Arial" panose="020B0604020202020204"/>
              </a:rPr>
              <a:t>resource-to-territory</a:t>
            </a:r>
            <a:r>
              <a:rPr lang="en-US" sz="1467">
                <a:solidFill>
                  <a:srgbClr val="0A2F46"/>
                </a:solidFill>
                <a:latin typeface="Arial" panose="020B0604020202020204"/>
              </a:rPr>
              <a:t> assignments with effective dates for transitions</a:t>
            </a:r>
          </a:p>
        </p:txBody>
      </p:sp>
      <p:pic>
        <p:nvPicPr>
          <p:cNvPr id="24" name="Picture 23">
            <a:extLst>
              <a:ext uri="{FF2B5EF4-FFF2-40B4-BE49-F238E27FC236}">
                <a16:creationId xmlns:a16="http://schemas.microsoft.com/office/drawing/2014/main" id="{2A63B599-2CC7-59F4-9564-7F899B138BBB}"/>
              </a:ext>
            </a:extLst>
          </p:cNvPr>
          <p:cNvPicPr>
            <a:picLocks noChangeAspect="1"/>
          </p:cNvPicPr>
          <p:nvPr/>
        </p:nvPicPr>
        <p:blipFill>
          <a:blip r:embed="rId3"/>
          <a:stretch>
            <a:fillRect/>
          </a:stretch>
        </p:blipFill>
        <p:spPr>
          <a:xfrm>
            <a:off x="6019018" y="1654317"/>
            <a:ext cx="5410983" cy="3279648"/>
          </a:xfrm>
          <a:prstGeom prst="rect">
            <a:avLst/>
          </a:prstGeom>
          <a:ln>
            <a:no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536181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FEA1C-FF77-E605-4C8F-64EFE9156E30}"/>
            </a:ext>
          </a:extLst>
        </p:cNvPr>
        <p:cNvGrpSpPr/>
        <p:nvPr/>
      </p:nvGrpSpPr>
      <p:grpSpPr>
        <a:xfrm>
          <a:off x="0" y="0"/>
          <a:ext cx="0" cy="0"/>
          <a:chOff x="0" y="0"/>
          <a:chExt cx="0" cy="0"/>
        </a:xfrm>
      </p:grpSpPr>
      <p:sp>
        <p:nvSpPr>
          <p:cNvPr id="14" name="Rounded Rectangle 13">
            <a:extLst>
              <a:ext uri="{FF2B5EF4-FFF2-40B4-BE49-F238E27FC236}">
                <a16:creationId xmlns:a16="http://schemas.microsoft.com/office/drawing/2014/main" id="{E0B036FD-6CF5-9A02-F1DA-0E6980241D97}"/>
              </a:ext>
            </a:extLst>
          </p:cNvPr>
          <p:cNvSpPr/>
          <p:nvPr/>
        </p:nvSpPr>
        <p:spPr>
          <a:xfrm>
            <a:off x="2213927" y="5350599"/>
            <a:ext cx="5335196" cy="792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12" name="Rounded Rectangle 11">
            <a:extLst>
              <a:ext uri="{FF2B5EF4-FFF2-40B4-BE49-F238E27FC236}">
                <a16:creationId xmlns:a16="http://schemas.microsoft.com/office/drawing/2014/main" id="{082484BE-A1EF-778E-0A3C-5649C4CFE29E}"/>
              </a:ext>
            </a:extLst>
          </p:cNvPr>
          <p:cNvSpPr/>
          <p:nvPr/>
        </p:nvSpPr>
        <p:spPr>
          <a:xfrm>
            <a:off x="2213927" y="4325152"/>
            <a:ext cx="5335196" cy="792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8" name="Rounded Rectangle 7">
            <a:extLst>
              <a:ext uri="{FF2B5EF4-FFF2-40B4-BE49-F238E27FC236}">
                <a16:creationId xmlns:a16="http://schemas.microsoft.com/office/drawing/2014/main" id="{F4C1D13A-E60D-0928-22DE-744142806D6A}"/>
              </a:ext>
            </a:extLst>
          </p:cNvPr>
          <p:cNvSpPr/>
          <p:nvPr/>
        </p:nvSpPr>
        <p:spPr>
          <a:xfrm>
            <a:off x="2213929" y="3299704"/>
            <a:ext cx="5335196" cy="792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3524C490-612C-3BD3-28C0-9C09BBAA80BB}"/>
              </a:ext>
            </a:extLst>
          </p:cNvPr>
          <p:cNvSpPr/>
          <p:nvPr/>
        </p:nvSpPr>
        <p:spPr>
          <a:xfrm>
            <a:off x="2197635" y="2274256"/>
            <a:ext cx="5335196" cy="792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3" name="Rounded Rectangle 2">
            <a:extLst>
              <a:ext uri="{FF2B5EF4-FFF2-40B4-BE49-F238E27FC236}">
                <a16:creationId xmlns:a16="http://schemas.microsoft.com/office/drawing/2014/main" id="{FE68DD4E-9522-2D9A-7B13-431B2F0BD3F6}"/>
              </a:ext>
            </a:extLst>
          </p:cNvPr>
          <p:cNvSpPr/>
          <p:nvPr/>
        </p:nvSpPr>
        <p:spPr>
          <a:xfrm>
            <a:off x="2197634" y="1248809"/>
            <a:ext cx="5335196" cy="792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21" name="Title 20">
            <a:extLst>
              <a:ext uri="{FF2B5EF4-FFF2-40B4-BE49-F238E27FC236}">
                <a16:creationId xmlns:a16="http://schemas.microsoft.com/office/drawing/2014/main" id="{5D546303-1D3C-2FFA-4CE4-3D6F910DD973}"/>
              </a:ext>
            </a:extLst>
          </p:cNvPr>
          <p:cNvSpPr>
            <a:spLocks noGrp="1"/>
          </p:cNvSpPr>
          <p:nvPr>
            <p:ph type="title"/>
          </p:nvPr>
        </p:nvSpPr>
        <p:spPr>
          <a:xfrm>
            <a:off x="558802" y="392854"/>
            <a:ext cx="7231245" cy="451405"/>
          </a:xfrm>
        </p:spPr>
        <p:txBody>
          <a:bodyPr lIns="0" tIns="60960" rIns="0" bIns="60960" anchor="t"/>
          <a:lstStyle/>
          <a:p>
            <a:r>
              <a:rPr lang="en-US">
                <a:latin typeface="Arial"/>
                <a:cs typeface="Arial"/>
              </a:rPr>
              <a:t>Anaplan Territory and Quota Planning Application</a:t>
            </a:r>
            <a:br>
              <a:rPr lang="en-US">
                <a:latin typeface="Arial"/>
                <a:cs typeface="Arial"/>
              </a:rPr>
            </a:br>
            <a:r>
              <a:rPr lang="en-US" sz="1867" i="1">
                <a:solidFill>
                  <a:schemeClr val="bg1">
                    <a:lumMod val="75000"/>
                  </a:schemeClr>
                </a:solidFill>
                <a:latin typeface="Arial"/>
                <a:cs typeface="Arial"/>
              </a:rPr>
              <a:t>Out-of-the-box</a:t>
            </a:r>
            <a:endParaRPr lang="en-US">
              <a:latin typeface="Arial"/>
              <a:cs typeface="Arial"/>
            </a:endParaRPr>
          </a:p>
        </p:txBody>
      </p:sp>
      <p:sp>
        <p:nvSpPr>
          <p:cNvPr id="2" name="TextBox 1">
            <a:extLst>
              <a:ext uri="{FF2B5EF4-FFF2-40B4-BE49-F238E27FC236}">
                <a16:creationId xmlns:a16="http://schemas.microsoft.com/office/drawing/2014/main" id="{0650FF2A-21F7-33B2-365D-7AEE8AE8F28A}"/>
              </a:ext>
            </a:extLst>
          </p:cNvPr>
          <p:cNvSpPr txBox="1"/>
          <p:nvPr/>
        </p:nvSpPr>
        <p:spPr>
          <a:xfrm>
            <a:off x="8302077" y="1304928"/>
            <a:ext cx="3135961" cy="4493538"/>
          </a:xfrm>
          <a:prstGeom prst="rect">
            <a:avLst/>
          </a:prstGeom>
          <a:noFill/>
        </p:spPr>
        <p:txBody>
          <a:bodyPr wrap="square" lIns="0" tIns="60960" rIns="121920" bIns="60960" rtlCol="0" anchor="t">
            <a:spAutoFit/>
          </a:bodyPr>
          <a:lstStyle/>
          <a:p>
            <a:pPr defTabSz="1219110"/>
            <a:r>
              <a:rPr lang="en-US" sz="1600" b="1">
                <a:solidFill>
                  <a:srgbClr val="F2F1EE"/>
                </a:solidFill>
                <a:latin typeface="Arial" panose="020B0604020202020204"/>
              </a:rPr>
              <a:t>Key Benefits:</a:t>
            </a:r>
          </a:p>
          <a:p>
            <a:pPr defTabSz="1219110"/>
            <a:endParaRPr lang="en-US" sz="1600" b="1">
              <a:solidFill>
                <a:srgbClr val="F2F1EE"/>
              </a:solidFill>
              <a:latin typeface="Arial" panose="020B0604020202020204"/>
            </a:endParaRPr>
          </a:p>
          <a:p>
            <a:pPr marL="228594" indent="-228594" defTabSz="1219170">
              <a:buFont typeface="Wingdings" pitchFamily="2" charset="2"/>
              <a:buChar char="ü"/>
            </a:pPr>
            <a:r>
              <a:rPr lang="en-US" sz="1200">
                <a:solidFill>
                  <a:schemeClr val="bg1"/>
                </a:solidFill>
              </a:rPr>
              <a:t>Align territories and quotas using historical data and new forecasting application data.</a:t>
            </a:r>
          </a:p>
          <a:p>
            <a:pPr marL="228594" indent="-228594" defTabSz="1219170">
              <a:buFont typeface="Wingdings" pitchFamily="2" charset="2"/>
              <a:buChar char="ü"/>
            </a:pPr>
            <a:endParaRPr lang="en-US" sz="600">
              <a:solidFill>
                <a:schemeClr val="bg1"/>
              </a:solidFill>
              <a:latin typeface="Arial" panose="020B0604020202020204"/>
            </a:endParaRPr>
          </a:p>
          <a:p>
            <a:pPr marL="228594" indent="-228594" defTabSz="1219170">
              <a:buFont typeface="Wingdings" pitchFamily="2" charset="2"/>
              <a:buChar char="ü"/>
            </a:pPr>
            <a:r>
              <a:rPr lang="en-US" sz="1200">
                <a:solidFill>
                  <a:schemeClr val="bg1"/>
                </a:solidFill>
              </a:rPr>
              <a:t>Adapt sales plans with dynamic, scenario-based modeling, available for all planning year features.</a:t>
            </a:r>
          </a:p>
          <a:p>
            <a:pPr marL="228594" indent="-228594" defTabSz="1219170">
              <a:buFont typeface="Wingdings" pitchFamily="2" charset="2"/>
              <a:buChar char="ü"/>
            </a:pPr>
            <a:endParaRPr lang="en-US" sz="600">
              <a:solidFill>
                <a:schemeClr val="bg1"/>
              </a:solidFill>
              <a:latin typeface="Arial" panose="020B0604020202020204"/>
            </a:endParaRPr>
          </a:p>
          <a:p>
            <a:pPr marL="228594" indent="-228594" defTabSz="1219170">
              <a:buFont typeface="Wingdings" pitchFamily="2" charset="2"/>
              <a:buChar char="ü"/>
            </a:pPr>
            <a:r>
              <a:rPr lang="en-US" sz="1200">
                <a:solidFill>
                  <a:schemeClr val="bg1"/>
                </a:solidFill>
              </a:rPr>
              <a:t>Improve coverage with flexible resource assignments, supporting 1:many and many:1 resource assignments.</a:t>
            </a:r>
          </a:p>
          <a:p>
            <a:pPr marL="228594" indent="-228594" defTabSz="1219170">
              <a:buFont typeface="Wingdings" pitchFamily="2" charset="2"/>
              <a:buChar char="ü"/>
            </a:pPr>
            <a:endParaRPr lang="en-US" sz="600">
              <a:solidFill>
                <a:schemeClr val="bg1"/>
              </a:solidFill>
              <a:latin typeface="Arial" panose="020B0604020202020204"/>
            </a:endParaRPr>
          </a:p>
          <a:p>
            <a:pPr marL="228594" indent="-228594" defTabSz="1219170">
              <a:buFont typeface="Wingdings" pitchFamily="2" charset="2"/>
              <a:buChar char="ü"/>
            </a:pPr>
            <a:r>
              <a:rPr lang="en-US" sz="1200">
                <a:solidFill>
                  <a:schemeClr val="bg1"/>
                </a:solidFill>
              </a:rPr>
              <a:t>Assign quotas by role with ramping and seasonal flexibility, managing planning and current years concurrently.</a:t>
            </a:r>
          </a:p>
          <a:p>
            <a:pPr marL="228594" indent="-228594" defTabSz="1219170">
              <a:buFont typeface="Wingdings" pitchFamily="2" charset="2"/>
              <a:buChar char="ü"/>
            </a:pPr>
            <a:endParaRPr lang="en-US" sz="600">
              <a:solidFill>
                <a:schemeClr val="bg1"/>
              </a:solidFill>
              <a:latin typeface="Arial" panose="020B0604020202020204"/>
            </a:endParaRPr>
          </a:p>
          <a:p>
            <a:pPr marL="228594" indent="-228594" defTabSz="1219170">
              <a:buFont typeface="Wingdings" pitchFamily="2" charset="2"/>
              <a:buChar char="ü"/>
            </a:pPr>
            <a:r>
              <a:rPr lang="en-US" sz="1200">
                <a:solidFill>
                  <a:schemeClr val="bg1"/>
                </a:solidFill>
              </a:rPr>
              <a:t>Streamline workflows with approvals and effective dating, utilizing advanced top-down approval workflows.</a:t>
            </a:r>
          </a:p>
          <a:p>
            <a:pPr marL="228594" indent="-228594" defTabSz="1219170">
              <a:buFont typeface="Wingdings" pitchFamily="2" charset="2"/>
              <a:buChar char="ü"/>
            </a:pPr>
            <a:endParaRPr lang="en-US" sz="600">
              <a:solidFill>
                <a:schemeClr val="bg1"/>
              </a:solidFill>
              <a:latin typeface="Arial" panose="020B0604020202020204"/>
            </a:endParaRPr>
          </a:p>
          <a:p>
            <a:pPr marL="228594" indent="-228594" defTabSz="1219170">
              <a:buFont typeface="Wingdings" pitchFamily="2" charset="2"/>
              <a:buChar char="ü"/>
            </a:pPr>
            <a:r>
              <a:rPr lang="en-US" sz="1200">
                <a:solidFill>
                  <a:schemeClr val="bg1"/>
                </a:solidFill>
              </a:rPr>
              <a:t>Compare what-if scenarios to guide decisions, territory hierarchy changes and 1:many account splits.</a:t>
            </a:r>
            <a:endParaRPr lang="en-US" sz="1200">
              <a:solidFill>
                <a:schemeClr val="bg1"/>
              </a:solidFill>
              <a:latin typeface="Arial" panose="020B0604020202020204"/>
            </a:endParaRPr>
          </a:p>
        </p:txBody>
      </p:sp>
      <p:sp>
        <p:nvSpPr>
          <p:cNvPr id="47" name="TextBox 46">
            <a:extLst>
              <a:ext uri="{FF2B5EF4-FFF2-40B4-BE49-F238E27FC236}">
                <a16:creationId xmlns:a16="http://schemas.microsoft.com/office/drawing/2014/main" id="{8BDD229B-976E-8E87-8AA8-0FECBDFC86CE}"/>
              </a:ext>
            </a:extLst>
          </p:cNvPr>
          <p:cNvSpPr txBox="1"/>
          <p:nvPr/>
        </p:nvSpPr>
        <p:spPr>
          <a:xfrm>
            <a:off x="2564076" y="1327013"/>
            <a:ext cx="4790593" cy="615553"/>
          </a:xfrm>
          <a:prstGeom prst="rect">
            <a:avLst/>
          </a:prstGeom>
          <a:noFill/>
        </p:spPr>
        <p:txBody>
          <a:bodyPr wrap="square" lIns="0" tIns="60960" rIns="121920" bIns="60960" rtlCol="0" anchor="t">
            <a:spAutoFit/>
          </a:bodyPr>
          <a:lstStyle/>
          <a:p>
            <a:pPr defTabSz="1219110"/>
            <a:r>
              <a:rPr lang="en-US" sz="1200" b="1">
                <a:solidFill>
                  <a:srgbClr val="0A2F46">
                    <a:lumMod val="75000"/>
                    <a:lumOff val="25000"/>
                  </a:srgbClr>
                </a:solidFill>
                <a:latin typeface="Arial" panose="020B0604020202020204"/>
              </a:rPr>
              <a:t>Target Allocations</a:t>
            </a:r>
            <a:endParaRPr lang="en-US" sz="1200" b="1">
              <a:solidFill>
                <a:srgbClr val="0A2F46">
                  <a:lumMod val="75000"/>
                  <a:lumOff val="25000"/>
                </a:srgbClr>
              </a:solidFill>
              <a:latin typeface="Arial" panose="020B0604020202020204"/>
              <a:cs typeface="Arial"/>
            </a:endParaRPr>
          </a:p>
          <a:p>
            <a:pPr defTabSz="1219170"/>
            <a:r>
              <a:rPr lang="en-US" sz="1000"/>
              <a:t>Input, adjust, override, and lock targets using top-down and bottom-up approaches, supported by dynamic </a:t>
            </a:r>
            <a:r>
              <a:rPr lang="en-US" sz="1000" b="1"/>
              <a:t>advanced approval workflows</a:t>
            </a:r>
            <a:r>
              <a:rPr lang="en-US" sz="1000"/>
              <a:t>, and final roll-up alignment.</a:t>
            </a:r>
            <a:endParaRPr lang="en-US" sz="1000">
              <a:solidFill>
                <a:srgbClr val="0A2F46"/>
              </a:solidFill>
              <a:latin typeface="Arial" panose="020B0604020202020204"/>
            </a:endParaRPr>
          </a:p>
        </p:txBody>
      </p:sp>
      <p:grpSp>
        <p:nvGrpSpPr>
          <p:cNvPr id="48" name="Group 47">
            <a:extLst>
              <a:ext uri="{FF2B5EF4-FFF2-40B4-BE49-F238E27FC236}">
                <a16:creationId xmlns:a16="http://schemas.microsoft.com/office/drawing/2014/main" id="{FA818D0C-D929-F455-98F6-3A0B1A19D549}"/>
              </a:ext>
            </a:extLst>
          </p:cNvPr>
          <p:cNvGrpSpPr>
            <a:grpSpLocks noChangeAspect="1"/>
          </p:cNvGrpSpPr>
          <p:nvPr/>
        </p:nvGrpSpPr>
        <p:grpSpPr>
          <a:xfrm>
            <a:off x="234327" y="2867632"/>
            <a:ext cx="1640567" cy="1219200"/>
            <a:chOff x="1505373" y="1481418"/>
            <a:chExt cx="2536935" cy="1885341"/>
          </a:xfrm>
        </p:grpSpPr>
        <p:sp>
          <p:nvSpPr>
            <p:cNvPr id="49" name="Freeform 48">
              <a:extLst>
                <a:ext uri="{FF2B5EF4-FFF2-40B4-BE49-F238E27FC236}">
                  <a16:creationId xmlns:a16="http://schemas.microsoft.com/office/drawing/2014/main" id="{B7664DA3-4B21-994D-39BF-072A7823E205}"/>
                </a:ext>
              </a:extLst>
            </p:cNvPr>
            <p:cNvSpPr>
              <a:spLocks noChangeAspect="1"/>
            </p:cNvSpPr>
            <p:nvPr/>
          </p:nvSpPr>
          <p:spPr>
            <a:xfrm>
              <a:off x="1505373" y="1816043"/>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1">
                <a:lumMod val="50000"/>
                <a:lumOff val="5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0" name="Freeform 49">
              <a:extLst>
                <a:ext uri="{FF2B5EF4-FFF2-40B4-BE49-F238E27FC236}">
                  <a16:creationId xmlns:a16="http://schemas.microsoft.com/office/drawing/2014/main" id="{137A2382-4C98-BEB5-E205-28495FBB0290}"/>
                </a:ext>
              </a:extLst>
            </p:cNvPr>
            <p:cNvSpPr>
              <a:spLocks noChangeAspect="1"/>
            </p:cNvSpPr>
            <p:nvPr/>
          </p:nvSpPr>
          <p:spPr>
            <a:xfrm>
              <a:off x="2099019"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1" name="Freeform 50">
              <a:extLst>
                <a:ext uri="{FF2B5EF4-FFF2-40B4-BE49-F238E27FC236}">
                  <a16:creationId xmlns:a16="http://schemas.microsoft.com/office/drawing/2014/main" id="{BEB1BFBE-25A9-34B2-4EA6-3FF80B5F49DA}"/>
                </a:ext>
              </a:extLst>
            </p:cNvPr>
            <p:cNvSpPr>
              <a:spLocks noChangeAspect="1"/>
            </p:cNvSpPr>
            <p:nvPr/>
          </p:nvSpPr>
          <p:spPr>
            <a:xfrm>
              <a:off x="2099019" y="1481418"/>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2" name="Freeform 51">
              <a:extLst>
                <a:ext uri="{FF2B5EF4-FFF2-40B4-BE49-F238E27FC236}">
                  <a16:creationId xmlns:a16="http://schemas.microsoft.com/office/drawing/2014/main" id="{B747FB82-CE56-A3DF-B892-FA4F5B2093D1}"/>
                </a:ext>
              </a:extLst>
            </p:cNvPr>
            <p:cNvSpPr>
              <a:spLocks noChangeAspect="1"/>
            </p:cNvSpPr>
            <p:nvPr/>
          </p:nvSpPr>
          <p:spPr>
            <a:xfrm>
              <a:off x="1509561" y="249040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3" name="Freeform 52">
              <a:extLst>
                <a:ext uri="{FF2B5EF4-FFF2-40B4-BE49-F238E27FC236}">
                  <a16:creationId xmlns:a16="http://schemas.microsoft.com/office/drawing/2014/main" id="{E71C787F-33D7-83C9-3861-E0D48F76DA93}"/>
                </a:ext>
              </a:extLst>
            </p:cNvPr>
            <p:cNvSpPr>
              <a:spLocks noChangeAspect="1"/>
            </p:cNvSpPr>
            <p:nvPr/>
          </p:nvSpPr>
          <p:spPr>
            <a:xfrm>
              <a:off x="2692005" y="1821847"/>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4" name="Freeform 53">
              <a:extLst>
                <a:ext uri="{FF2B5EF4-FFF2-40B4-BE49-F238E27FC236}">
                  <a16:creationId xmlns:a16="http://schemas.microsoft.com/office/drawing/2014/main" id="{91A91B93-352F-F527-04C5-170F882155CD}"/>
                </a:ext>
              </a:extLst>
            </p:cNvPr>
            <p:cNvSpPr>
              <a:spLocks noChangeAspect="1"/>
            </p:cNvSpPr>
            <p:nvPr/>
          </p:nvSpPr>
          <p:spPr>
            <a:xfrm>
              <a:off x="3286311"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grpSp>
          <p:nvGrpSpPr>
            <p:cNvPr id="55" name="Group 54">
              <a:extLst>
                <a:ext uri="{FF2B5EF4-FFF2-40B4-BE49-F238E27FC236}">
                  <a16:creationId xmlns:a16="http://schemas.microsoft.com/office/drawing/2014/main" id="{DC3896D1-9A4D-90F9-A3CE-80DF6504D734}"/>
                </a:ext>
              </a:extLst>
            </p:cNvPr>
            <p:cNvGrpSpPr/>
            <p:nvPr/>
          </p:nvGrpSpPr>
          <p:grpSpPr>
            <a:xfrm>
              <a:off x="2328356" y="2360919"/>
              <a:ext cx="1119646" cy="1005840"/>
              <a:chOff x="2890777" y="3439515"/>
              <a:chExt cx="1119646" cy="1005840"/>
            </a:xfrm>
          </p:grpSpPr>
          <p:sp>
            <p:nvSpPr>
              <p:cNvPr id="56" name="Rounded Rectangle 55">
                <a:extLst>
                  <a:ext uri="{FF2B5EF4-FFF2-40B4-BE49-F238E27FC236}">
                    <a16:creationId xmlns:a16="http://schemas.microsoft.com/office/drawing/2014/main" id="{0493EBB2-EC51-1E4F-60A9-0294999A5EFB}"/>
                  </a:ext>
                </a:extLst>
              </p:cNvPr>
              <p:cNvSpPr>
                <a:spLocks noChangeAspect="1"/>
              </p:cNvSpPr>
              <p:nvPr/>
            </p:nvSpPr>
            <p:spPr>
              <a:xfrm>
                <a:off x="2890777" y="3439515"/>
                <a:ext cx="1119646" cy="1005840"/>
              </a:xfrm>
              <a:prstGeom prst="roundRect">
                <a:avLst/>
              </a:prstGeom>
              <a:solidFill>
                <a:schemeClr val="bg1"/>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50">
                  <a:defRPr/>
                </a:pPr>
                <a:endParaRPr lang="en-US" sz="2133" err="1">
                  <a:solidFill>
                    <a:srgbClr val="FFFFFF"/>
                  </a:solidFill>
                  <a:latin typeface="Arial" panose="020B0604020202020204" pitchFamily="34" charset="0"/>
                  <a:ea typeface="Verdana" charset="0"/>
                  <a:cs typeface="Arial" panose="020B0604020202020204" pitchFamily="34" charset="0"/>
                </a:endParaRPr>
              </a:p>
            </p:txBody>
          </p:sp>
          <p:pic>
            <p:nvPicPr>
              <p:cNvPr id="57" name="Graphic 56" descr="Packing Box Open outline">
                <a:extLst>
                  <a:ext uri="{FF2B5EF4-FFF2-40B4-BE49-F238E27FC236}">
                    <a16:creationId xmlns:a16="http://schemas.microsoft.com/office/drawing/2014/main" id="{10CCECFB-FDAE-13C8-5177-4008611D04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19264" y="3519819"/>
                <a:ext cx="850392" cy="850392"/>
              </a:xfrm>
              <a:prstGeom prst="rect">
                <a:avLst/>
              </a:prstGeom>
            </p:spPr>
          </p:pic>
        </p:grpSp>
      </p:grpSp>
      <p:sp>
        <p:nvSpPr>
          <p:cNvPr id="62" name="Oval 61">
            <a:extLst>
              <a:ext uri="{FF2B5EF4-FFF2-40B4-BE49-F238E27FC236}">
                <a16:creationId xmlns:a16="http://schemas.microsoft.com/office/drawing/2014/main" id="{98D23B9D-13C7-8AD1-DA16-7127407F9A97}"/>
              </a:ext>
            </a:extLst>
          </p:cNvPr>
          <p:cNvSpPr/>
          <p:nvPr/>
        </p:nvSpPr>
        <p:spPr>
          <a:xfrm>
            <a:off x="2015515" y="3472455"/>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4" name="Oval 63">
            <a:extLst>
              <a:ext uri="{FF2B5EF4-FFF2-40B4-BE49-F238E27FC236}">
                <a16:creationId xmlns:a16="http://schemas.microsoft.com/office/drawing/2014/main" id="{49B88DF8-B409-8A19-ECC1-C4A213380EAA}"/>
              </a:ext>
            </a:extLst>
          </p:cNvPr>
          <p:cNvSpPr/>
          <p:nvPr/>
        </p:nvSpPr>
        <p:spPr>
          <a:xfrm>
            <a:off x="2011680" y="2507383"/>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6" name="Oval 65">
            <a:extLst>
              <a:ext uri="{FF2B5EF4-FFF2-40B4-BE49-F238E27FC236}">
                <a16:creationId xmlns:a16="http://schemas.microsoft.com/office/drawing/2014/main" id="{20437346-5C90-8A53-6AA8-7659C0050075}"/>
              </a:ext>
            </a:extLst>
          </p:cNvPr>
          <p:cNvSpPr/>
          <p:nvPr/>
        </p:nvSpPr>
        <p:spPr>
          <a:xfrm>
            <a:off x="2011680" y="4514285"/>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4" name="Oval 3">
            <a:extLst>
              <a:ext uri="{FF2B5EF4-FFF2-40B4-BE49-F238E27FC236}">
                <a16:creationId xmlns:a16="http://schemas.microsoft.com/office/drawing/2014/main" id="{CE94C3E5-5B75-CE0E-D630-7AE4BE1F6F0C}"/>
              </a:ext>
            </a:extLst>
          </p:cNvPr>
          <p:cNvSpPr/>
          <p:nvPr/>
        </p:nvSpPr>
        <p:spPr>
          <a:xfrm>
            <a:off x="2011680" y="1443429"/>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9" name="TextBox 8">
            <a:extLst>
              <a:ext uri="{FF2B5EF4-FFF2-40B4-BE49-F238E27FC236}">
                <a16:creationId xmlns:a16="http://schemas.microsoft.com/office/drawing/2014/main" id="{DE82B7C2-1604-87A2-3B31-A75ABACBC288}"/>
              </a:ext>
            </a:extLst>
          </p:cNvPr>
          <p:cNvSpPr txBox="1"/>
          <p:nvPr/>
        </p:nvSpPr>
        <p:spPr>
          <a:xfrm>
            <a:off x="2564076" y="2357933"/>
            <a:ext cx="4790593" cy="615553"/>
          </a:xfrm>
          <a:prstGeom prst="rect">
            <a:avLst/>
          </a:prstGeom>
          <a:noFill/>
        </p:spPr>
        <p:txBody>
          <a:bodyPr wrap="square" lIns="0" tIns="60960" rIns="121920" bIns="60960" rtlCol="0" anchor="t">
            <a:spAutoFit/>
          </a:bodyPr>
          <a:lstStyle/>
          <a:p>
            <a:pPr defTabSz="1219170"/>
            <a:r>
              <a:rPr lang="en-US" sz="1200" b="1">
                <a:solidFill>
                  <a:srgbClr val="0A2F46">
                    <a:lumMod val="75000"/>
                    <a:lumOff val="25000"/>
                  </a:srgbClr>
                </a:solidFill>
                <a:latin typeface="Arial" panose="020B0604020202020204"/>
              </a:rPr>
              <a:t>Account-to-Territory</a:t>
            </a:r>
            <a:r>
              <a:rPr lang="en-US" sz="1200" b="1">
                <a:solidFill>
                  <a:srgbClr val="0A2F46"/>
                </a:solidFill>
                <a:latin typeface="Arial" panose="020B0604020202020204"/>
              </a:rPr>
              <a:t> </a:t>
            </a:r>
            <a:r>
              <a:rPr lang="en-US" sz="1200" b="1">
                <a:solidFill>
                  <a:srgbClr val="0A2F46">
                    <a:lumMod val="75000"/>
                    <a:lumOff val="25000"/>
                  </a:srgbClr>
                </a:solidFill>
                <a:latin typeface="Arial" panose="020B0604020202020204"/>
              </a:rPr>
              <a:t>Assignment</a:t>
            </a:r>
          </a:p>
          <a:p>
            <a:pPr defTabSz="1219170"/>
            <a:r>
              <a:rPr lang="en-US" sz="1000"/>
              <a:t>Model account redistribution scenarios, supporting </a:t>
            </a:r>
            <a:r>
              <a:rPr lang="en-US" sz="1000" b="1"/>
              <a:t>1:many account assignments with split logic</a:t>
            </a:r>
            <a:r>
              <a:rPr lang="en-US" sz="1000"/>
              <a:t>, and plan geographically with zip code mapping.</a:t>
            </a:r>
            <a:endParaRPr lang="en-US" sz="1000">
              <a:solidFill>
                <a:srgbClr val="0A2F46"/>
              </a:solidFill>
              <a:latin typeface="Arial" panose="020B0604020202020204"/>
            </a:endParaRPr>
          </a:p>
        </p:txBody>
      </p:sp>
      <p:sp>
        <p:nvSpPr>
          <p:cNvPr id="10" name="TextBox 9">
            <a:extLst>
              <a:ext uri="{FF2B5EF4-FFF2-40B4-BE49-F238E27FC236}">
                <a16:creationId xmlns:a16="http://schemas.microsoft.com/office/drawing/2014/main" id="{984EB328-1D67-40D1-AB6C-65E4B1C82729}"/>
              </a:ext>
            </a:extLst>
          </p:cNvPr>
          <p:cNvSpPr txBox="1"/>
          <p:nvPr/>
        </p:nvSpPr>
        <p:spPr>
          <a:xfrm>
            <a:off x="2557914" y="3356772"/>
            <a:ext cx="4779087" cy="615553"/>
          </a:xfrm>
          <a:prstGeom prst="rect">
            <a:avLst/>
          </a:prstGeom>
          <a:noFill/>
        </p:spPr>
        <p:txBody>
          <a:bodyPr wrap="square" lIns="0" tIns="60960" rIns="121920" bIns="60960" rtlCol="0" anchor="t">
            <a:spAutoFit/>
          </a:bodyPr>
          <a:lstStyle/>
          <a:p>
            <a:pPr defTabSz="1219170"/>
            <a:r>
              <a:rPr lang="en-US" sz="1200" b="1">
                <a:solidFill>
                  <a:srgbClr val="0A2F46">
                    <a:lumMod val="75000"/>
                    <a:lumOff val="25000"/>
                  </a:srgbClr>
                </a:solidFill>
                <a:latin typeface="Arial" panose="020B0604020202020204"/>
              </a:rPr>
              <a:t>Rep-to-Territory</a:t>
            </a:r>
            <a:r>
              <a:rPr lang="en-US" sz="1200" b="1">
                <a:solidFill>
                  <a:srgbClr val="0A2F46"/>
                </a:solidFill>
                <a:latin typeface="Arial" panose="020B0604020202020204"/>
              </a:rPr>
              <a:t> </a:t>
            </a:r>
            <a:r>
              <a:rPr lang="en-US" sz="1200" b="1">
                <a:solidFill>
                  <a:srgbClr val="0A2F46">
                    <a:lumMod val="75000"/>
                    <a:lumOff val="25000"/>
                  </a:srgbClr>
                </a:solidFill>
                <a:latin typeface="Arial" panose="020B0604020202020204"/>
              </a:rPr>
              <a:t>Assignment</a:t>
            </a:r>
          </a:p>
          <a:p>
            <a:pPr defTabSz="1219170"/>
            <a:r>
              <a:rPr lang="en-US" sz="1000"/>
              <a:t>Assign sales teams, overlays, and managers by role, supporting </a:t>
            </a:r>
            <a:r>
              <a:rPr lang="en-US" sz="1000" b="1"/>
              <a:t>1:many and many:1 resource assignments</a:t>
            </a:r>
            <a:r>
              <a:rPr lang="en-US" sz="1000"/>
              <a:t>, and create hierarchies from sales relationships.</a:t>
            </a:r>
            <a:endParaRPr lang="en-US" sz="1000">
              <a:solidFill>
                <a:srgbClr val="0A2F46"/>
              </a:solidFill>
              <a:latin typeface="Arial" panose="020B0604020202020204"/>
            </a:endParaRPr>
          </a:p>
        </p:txBody>
      </p:sp>
      <p:cxnSp>
        <p:nvCxnSpPr>
          <p:cNvPr id="13" name="Elbow Connector 12">
            <a:extLst>
              <a:ext uri="{FF2B5EF4-FFF2-40B4-BE49-F238E27FC236}">
                <a16:creationId xmlns:a16="http://schemas.microsoft.com/office/drawing/2014/main" id="{32AE9B2F-C2D5-DE04-8B7A-1701CB5CAFA6}"/>
              </a:ext>
            </a:extLst>
          </p:cNvPr>
          <p:cNvCxnSpPr>
            <a:cxnSpLocks/>
          </p:cNvCxnSpPr>
          <p:nvPr/>
        </p:nvCxnSpPr>
        <p:spPr>
          <a:xfrm rot="5400000" flipH="1" flipV="1">
            <a:off x="876844" y="1920589"/>
            <a:ext cx="1361477" cy="799991"/>
          </a:xfrm>
          <a:prstGeom prst="bentConnector2">
            <a:avLst/>
          </a:prstGeom>
          <a:ln w="25400" cap="rnd">
            <a:solidFill>
              <a:schemeClr val="accent1"/>
            </a:solidFill>
            <a:prstDash val="sysDash"/>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1934D699-8A11-B713-EA00-D3200119ED4C}"/>
              </a:ext>
            </a:extLst>
          </p:cNvPr>
          <p:cNvSpPr/>
          <p:nvPr/>
        </p:nvSpPr>
        <p:spPr>
          <a:xfrm>
            <a:off x="2011680" y="5533677"/>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cxnSp>
        <p:nvCxnSpPr>
          <p:cNvPr id="17" name="Elbow Connector 16">
            <a:extLst>
              <a:ext uri="{FF2B5EF4-FFF2-40B4-BE49-F238E27FC236}">
                <a16:creationId xmlns:a16="http://schemas.microsoft.com/office/drawing/2014/main" id="{C89385B4-05DF-F3BE-DEC3-0CEB23198B02}"/>
              </a:ext>
            </a:extLst>
          </p:cNvPr>
          <p:cNvCxnSpPr>
            <a:cxnSpLocks/>
          </p:cNvCxnSpPr>
          <p:nvPr/>
        </p:nvCxnSpPr>
        <p:spPr>
          <a:xfrm rot="10800000">
            <a:off x="1145055" y="4241659"/>
            <a:ext cx="856477" cy="1474899"/>
          </a:xfrm>
          <a:prstGeom prst="bentConnector2">
            <a:avLst/>
          </a:prstGeom>
          <a:ln w="25400" cap="rnd">
            <a:solidFill>
              <a:schemeClr val="accent1"/>
            </a:solidFill>
            <a:prstDash val="sysDash"/>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15FFF96-22EF-154C-F105-CEAE0849B6E8}"/>
              </a:ext>
            </a:extLst>
          </p:cNvPr>
          <p:cNvSpPr txBox="1"/>
          <p:nvPr/>
        </p:nvSpPr>
        <p:spPr>
          <a:xfrm>
            <a:off x="2570199" y="4415448"/>
            <a:ext cx="4786165" cy="769441"/>
          </a:xfrm>
          <a:prstGeom prst="rect">
            <a:avLst/>
          </a:prstGeom>
          <a:noFill/>
        </p:spPr>
        <p:txBody>
          <a:bodyPr wrap="square" lIns="0" tIns="60960" rIns="121920" bIns="60960" rtlCol="0" anchor="t">
            <a:spAutoFit/>
          </a:bodyPr>
          <a:lstStyle/>
          <a:p>
            <a:pPr defTabSz="1219170"/>
            <a:r>
              <a:rPr lang="en-US" sz="1200" b="1">
                <a:solidFill>
                  <a:srgbClr val="0A2F46">
                    <a:lumMod val="75000"/>
                    <a:lumOff val="25000"/>
                  </a:srgbClr>
                </a:solidFill>
                <a:latin typeface="Arial" panose="020B0604020202020204"/>
              </a:rPr>
              <a:t>Quota</a:t>
            </a:r>
            <a:r>
              <a:rPr lang="en-US" sz="1200" b="1">
                <a:solidFill>
                  <a:srgbClr val="0A2F46"/>
                </a:solidFill>
                <a:latin typeface="Arial" panose="020B0604020202020204"/>
              </a:rPr>
              <a:t> </a:t>
            </a:r>
            <a:r>
              <a:rPr lang="en-US" sz="1200" b="1">
                <a:solidFill>
                  <a:srgbClr val="0A2F46">
                    <a:lumMod val="75000"/>
                    <a:lumOff val="25000"/>
                  </a:srgbClr>
                </a:solidFill>
                <a:latin typeface="Arial" panose="020B0604020202020204"/>
              </a:rPr>
              <a:t>Assignment</a:t>
            </a:r>
          </a:p>
          <a:p>
            <a:pPr defTabSz="1219170"/>
            <a:r>
              <a:rPr lang="en-US" sz="1000"/>
              <a:t>Assign and allocate flexible quotas using role-based, ramping, or seasonal factors. Compare top-down vs. bottom-up targets and finalize with approvals, managing the </a:t>
            </a:r>
            <a:r>
              <a:rPr lang="en-US" sz="1000" b="1"/>
              <a:t>planning year and current year concurrently</a:t>
            </a:r>
            <a:r>
              <a:rPr lang="en-US" sz="1000"/>
              <a:t>.</a:t>
            </a:r>
            <a:endParaRPr lang="en-US" sz="1000">
              <a:solidFill>
                <a:srgbClr val="0A2F46"/>
              </a:solidFill>
              <a:latin typeface="Arial" panose="020B0604020202020204"/>
            </a:endParaRPr>
          </a:p>
        </p:txBody>
      </p:sp>
      <p:sp>
        <p:nvSpPr>
          <p:cNvPr id="16" name="TextBox 15">
            <a:extLst>
              <a:ext uri="{FF2B5EF4-FFF2-40B4-BE49-F238E27FC236}">
                <a16:creationId xmlns:a16="http://schemas.microsoft.com/office/drawing/2014/main" id="{F6B41432-FC01-44B8-9B2A-0BED18F511F5}"/>
              </a:ext>
            </a:extLst>
          </p:cNvPr>
          <p:cNvSpPr txBox="1"/>
          <p:nvPr/>
        </p:nvSpPr>
        <p:spPr>
          <a:xfrm>
            <a:off x="2557914" y="5408616"/>
            <a:ext cx="4582580" cy="769441"/>
          </a:xfrm>
          <a:prstGeom prst="rect">
            <a:avLst/>
          </a:prstGeom>
          <a:noFill/>
        </p:spPr>
        <p:txBody>
          <a:bodyPr wrap="square" lIns="0" tIns="60960" rIns="121920" bIns="60960" rtlCol="0" anchor="t">
            <a:spAutoFit/>
          </a:bodyPr>
          <a:lstStyle/>
          <a:p>
            <a:pPr defTabSz="1219110"/>
            <a:r>
              <a:rPr lang="en-US" sz="1200" b="1">
                <a:solidFill>
                  <a:srgbClr val="0A2F46">
                    <a:lumMod val="75000"/>
                    <a:lumOff val="25000"/>
                  </a:srgbClr>
                </a:solidFill>
                <a:latin typeface="Arial" panose="020B0604020202020204"/>
              </a:rPr>
              <a:t>Scenario Planning</a:t>
            </a:r>
          </a:p>
          <a:p>
            <a:pPr defTabSz="1219170"/>
            <a:r>
              <a:rPr lang="en-US" sz="1000"/>
              <a:t>Build dynamic, driver-based sales plans by segment, product, or role. Model and compare full-year projections, with </a:t>
            </a:r>
            <a:r>
              <a:rPr lang="en-US" sz="1000" b="1"/>
              <a:t>what-if scenarios available for all planning functionality</a:t>
            </a:r>
            <a:r>
              <a:rPr lang="en-US" sz="1000"/>
              <a:t>.</a:t>
            </a:r>
            <a:endParaRPr lang="en-US" sz="1000">
              <a:solidFill>
                <a:srgbClr val="0A2F46"/>
              </a:solidFill>
              <a:latin typeface="Arial" panose="020B0604020202020204"/>
            </a:endParaRPr>
          </a:p>
        </p:txBody>
      </p:sp>
      <p:grpSp>
        <p:nvGrpSpPr>
          <p:cNvPr id="29" name="Group 28">
            <a:extLst>
              <a:ext uri="{FF2B5EF4-FFF2-40B4-BE49-F238E27FC236}">
                <a16:creationId xmlns:a16="http://schemas.microsoft.com/office/drawing/2014/main" id="{5BCB8A59-0486-234E-F564-4923750CC59E}"/>
              </a:ext>
            </a:extLst>
          </p:cNvPr>
          <p:cNvGrpSpPr>
            <a:grpSpLocks noChangeAspect="1"/>
          </p:cNvGrpSpPr>
          <p:nvPr/>
        </p:nvGrpSpPr>
        <p:grpSpPr>
          <a:xfrm>
            <a:off x="208195" y="3548247"/>
            <a:ext cx="498404" cy="426720"/>
            <a:chOff x="1528380" y="3479925"/>
            <a:chExt cx="747606" cy="640080"/>
          </a:xfrm>
        </p:grpSpPr>
        <p:sp>
          <p:nvSpPr>
            <p:cNvPr id="30" name="Freeform 28">
              <a:extLst>
                <a:ext uri="{FF2B5EF4-FFF2-40B4-BE49-F238E27FC236}">
                  <a16:creationId xmlns:a16="http://schemas.microsoft.com/office/drawing/2014/main" id="{4030C4C9-77D2-5559-954A-C488D5AB7668}"/>
                </a:ext>
              </a:extLst>
            </p:cNvPr>
            <p:cNvSpPr>
              <a:spLocks noChangeAspect="1"/>
            </p:cNvSpPr>
            <p:nvPr/>
          </p:nvSpPr>
          <p:spPr bwMode="gray">
            <a:xfrm>
              <a:off x="1528380" y="3479925"/>
              <a:ext cx="747606" cy="640080"/>
            </a:xfrm>
            <a:prstGeom prst="hexagon">
              <a:avLst>
                <a:gd name="adj" fmla="val 28328"/>
                <a:gd name="vf" fmla="val 115470"/>
              </a:avLst>
            </a:prstGeom>
            <a:solidFill>
              <a:schemeClr val="bg2"/>
            </a:solidFill>
            <a:ln w="57150" cap="flat">
              <a:solidFill>
                <a:srgbClr val="FF6100"/>
              </a:solidFill>
              <a:prstDash val="solid"/>
              <a:miter/>
            </a:ln>
            <a:effectLst>
              <a:outerShdw blurRad="50800" dist="38100" dir="8100000" algn="tr" rotWithShape="0">
                <a:prstClr val="black">
                  <a:alpha val="40000"/>
                </a:prstClr>
              </a:outerShdw>
            </a:effectLst>
          </p:spPr>
          <p:txBody>
            <a:bodyPr wrap="none" lIns="0" tIns="0" rIns="0" bIns="0" rtlCol="0" anchor="ctr">
              <a:noAutofit/>
            </a:bodyPr>
            <a:lstStyle/>
            <a:p>
              <a:pPr algn="ctr" defTabSz="1625358" eaLnBrk="0" fontAlgn="base" hangingPunct="0">
                <a:spcBef>
                  <a:spcPct val="0"/>
                </a:spcBef>
                <a:spcAft>
                  <a:spcPct val="0"/>
                </a:spcAft>
                <a:defRPr/>
              </a:pPr>
              <a:endParaRPr lang="en-US" sz="600" b="1" kern="0">
                <a:solidFill>
                  <a:srgbClr val="FFFFFF"/>
                </a:solidFill>
                <a:latin typeface="Arial"/>
                <a:ea typeface="Verdana" panose="020B0604030504040204" pitchFamily="34" charset="0"/>
                <a:cs typeface="Arial" panose="020B0604020202020204" pitchFamily="34" charset="0"/>
              </a:endParaRPr>
            </a:p>
          </p:txBody>
        </p:sp>
        <p:grpSp>
          <p:nvGrpSpPr>
            <p:cNvPr id="31" name="Group 30">
              <a:extLst>
                <a:ext uri="{FF2B5EF4-FFF2-40B4-BE49-F238E27FC236}">
                  <a16:creationId xmlns:a16="http://schemas.microsoft.com/office/drawing/2014/main" id="{DCC972E7-0DF5-5D2A-31A3-008B4841ECC0}"/>
                </a:ext>
              </a:extLst>
            </p:cNvPr>
            <p:cNvGrpSpPr>
              <a:grpSpLocks noChangeAspect="1"/>
            </p:cNvGrpSpPr>
            <p:nvPr/>
          </p:nvGrpSpPr>
          <p:grpSpPr>
            <a:xfrm>
              <a:off x="1733728" y="3656056"/>
              <a:ext cx="336909" cy="284725"/>
              <a:chOff x="3287172" y="2477611"/>
              <a:chExt cx="512255" cy="432912"/>
            </a:xfrm>
          </p:grpSpPr>
          <p:grpSp>
            <p:nvGrpSpPr>
              <p:cNvPr id="32" name="Graphic 85">
                <a:extLst>
                  <a:ext uri="{FF2B5EF4-FFF2-40B4-BE49-F238E27FC236}">
                    <a16:creationId xmlns:a16="http://schemas.microsoft.com/office/drawing/2014/main" id="{80994A5C-0979-5611-74D6-4A132B3D04F6}"/>
                  </a:ext>
                </a:extLst>
              </p:cNvPr>
              <p:cNvGrpSpPr/>
              <p:nvPr/>
            </p:nvGrpSpPr>
            <p:grpSpPr>
              <a:xfrm>
                <a:off x="3287172" y="2477611"/>
                <a:ext cx="512255" cy="432912"/>
                <a:chOff x="3287172" y="2477611"/>
                <a:chExt cx="512255" cy="432912"/>
              </a:xfrm>
            </p:grpSpPr>
            <p:sp>
              <p:nvSpPr>
                <p:cNvPr id="34" name="Freeform 33">
                  <a:extLst>
                    <a:ext uri="{FF2B5EF4-FFF2-40B4-BE49-F238E27FC236}">
                      <a16:creationId xmlns:a16="http://schemas.microsoft.com/office/drawing/2014/main" id="{B3F949E1-E5BB-D9CC-96A9-866C755D6432}"/>
                    </a:ext>
                  </a:extLst>
                </p:cNvPr>
                <p:cNvSpPr/>
                <p:nvPr/>
              </p:nvSpPr>
              <p:spPr>
                <a:xfrm>
                  <a:off x="3287172" y="2697830"/>
                  <a:ext cx="256127" cy="212693"/>
                </a:xfrm>
                <a:custGeom>
                  <a:avLst/>
                  <a:gdLst>
                    <a:gd name="connsiteX0" fmla="*/ 161163 w 256127"/>
                    <a:gd name="connsiteY0" fmla="*/ 0 h 212693"/>
                    <a:gd name="connsiteX1" fmla="*/ 71914 w 256127"/>
                    <a:gd name="connsiteY1" fmla="*/ 39433 h 212693"/>
                    <a:gd name="connsiteX2" fmla="*/ 0 w 256127"/>
                    <a:gd name="connsiteY2" fmla="*/ 197929 h 212693"/>
                    <a:gd name="connsiteX3" fmla="*/ 128969 w 256127"/>
                    <a:gd name="connsiteY3" fmla="*/ 140779 h 212693"/>
                    <a:gd name="connsiteX4" fmla="*/ 256127 w 256127"/>
                    <a:gd name="connsiteY4" fmla="*/ 212693 h 212693"/>
                    <a:gd name="connsiteX5" fmla="*/ 256127 w 256127"/>
                    <a:gd name="connsiteY5" fmla="*/ 136112 h 21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127" h="212693">
                      <a:moveTo>
                        <a:pt x="161163" y="0"/>
                      </a:moveTo>
                      <a:lnTo>
                        <a:pt x="71914" y="39433"/>
                      </a:lnTo>
                      <a:lnTo>
                        <a:pt x="0" y="197929"/>
                      </a:lnTo>
                      <a:lnTo>
                        <a:pt x="128969" y="140779"/>
                      </a:lnTo>
                      <a:lnTo>
                        <a:pt x="256127" y="212693"/>
                      </a:lnTo>
                      <a:lnTo>
                        <a:pt x="256127" y="136112"/>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35" name="Freeform 34">
                  <a:extLst>
                    <a:ext uri="{FF2B5EF4-FFF2-40B4-BE49-F238E27FC236}">
                      <a16:creationId xmlns:a16="http://schemas.microsoft.com/office/drawing/2014/main" id="{10A034F2-491E-7746-0AA6-B734F9BD5FF6}"/>
                    </a:ext>
                  </a:extLst>
                </p:cNvPr>
                <p:cNvSpPr/>
                <p:nvPr/>
              </p:nvSpPr>
              <p:spPr>
                <a:xfrm>
                  <a:off x="3416141" y="2752027"/>
                  <a:ext cx="33147" cy="86582"/>
                </a:xfrm>
                <a:custGeom>
                  <a:avLst/>
                  <a:gdLst>
                    <a:gd name="connsiteX0" fmla="*/ 33147 w 33147"/>
                    <a:gd name="connsiteY0" fmla="*/ 0 h 86582"/>
                    <a:gd name="connsiteX1" fmla="*/ 0 w 33147"/>
                    <a:gd name="connsiteY1" fmla="*/ 86582 h 86582"/>
                  </a:gdLst>
                  <a:ahLst/>
                  <a:cxnLst>
                    <a:cxn ang="0">
                      <a:pos x="connsiteX0" y="connsiteY0"/>
                    </a:cxn>
                    <a:cxn ang="0">
                      <a:pos x="connsiteX1" y="connsiteY1"/>
                    </a:cxn>
                  </a:cxnLst>
                  <a:rect l="l" t="t" r="r" b="b"/>
                  <a:pathLst>
                    <a:path w="33147" h="86582">
                      <a:moveTo>
                        <a:pt x="33147" y="0"/>
                      </a:moveTo>
                      <a:lnTo>
                        <a:pt x="0"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36" name="Freeform 35">
                  <a:extLst>
                    <a:ext uri="{FF2B5EF4-FFF2-40B4-BE49-F238E27FC236}">
                      <a16:creationId xmlns:a16="http://schemas.microsoft.com/office/drawing/2014/main" id="{4C2E4E8D-098C-C38A-E907-7D21AA1A062F}"/>
                    </a:ext>
                  </a:extLst>
                </p:cNvPr>
                <p:cNvSpPr/>
                <p:nvPr/>
              </p:nvSpPr>
              <p:spPr>
                <a:xfrm>
                  <a:off x="3543300" y="2696972"/>
                  <a:ext cx="256127" cy="213550"/>
                </a:xfrm>
                <a:custGeom>
                  <a:avLst/>
                  <a:gdLst>
                    <a:gd name="connsiteX0" fmla="*/ 95441 w 256127"/>
                    <a:gd name="connsiteY0" fmla="*/ 0 h 213550"/>
                    <a:gd name="connsiteX1" fmla="*/ 184214 w 256127"/>
                    <a:gd name="connsiteY1" fmla="*/ 40291 h 213550"/>
                    <a:gd name="connsiteX2" fmla="*/ 256127 w 256127"/>
                    <a:gd name="connsiteY2" fmla="*/ 198787 h 213550"/>
                    <a:gd name="connsiteX3" fmla="*/ 127159 w 256127"/>
                    <a:gd name="connsiteY3" fmla="*/ 141637 h 213550"/>
                    <a:gd name="connsiteX4" fmla="*/ 0 w 256127"/>
                    <a:gd name="connsiteY4" fmla="*/ 213550 h 213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27" h="213550">
                      <a:moveTo>
                        <a:pt x="95441" y="0"/>
                      </a:moveTo>
                      <a:lnTo>
                        <a:pt x="184214" y="40291"/>
                      </a:lnTo>
                      <a:lnTo>
                        <a:pt x="256127" y="198787"/>
                      </a:lnTo>
                      <a:lnTo>
                        <a:pt x="127159" y="141637"/>
                      </a:lnTo>
                      <a:lnTo>
                        <a:pt x="0" y="213550"/>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37" name="Freeform 36">
                  <a:extLst>
                    <a:ext uri="{FF2B5EF4-FFF2-40B4-BE49-F238E27FC236}">
                      <a16:creationId xmlns:a16="http://schemas.microsoft.com/office/drawing/2014/main" id="{10B132A9-EED6-395D-D6F7-63A93BD96AB5}"/>
                    </a:ext>
                  </a:extLst>
                </p:cNvPr>
                <p:cNvSpPr/>
                <p:nvPr/>
              </p:nvSpPr>
              <p:spPr>
                <a:xfrm>
                  <a:off x="3637216" y="2752027"/>
                  <a:ext cx="33242" cy="86582"/>
                </a:xfrm>
                <a:custGeom>
                  <a:avLst/>
                  <a:gdLst>
                    <a:gd name="connsiteX0" fmla="*/ 0 w 33242"/>
                    <a:gd name="connsiteY0" fmla="*/ 0 h 86582"/>
                    <a:gd name="connsiteX1" fmla="*/ 33242 w 33242"/>
                    <a:gd name="connsiteY1" fmla="*/ 86582 h 86582"/>
                  </a:gdLst>
                  <a:ahLst/>
                  <a:cxnLst>
                    <a:cxn ang="0">
                      <a:pos x="connsiteX0" y="connsiteY0"/>
                    </a:cxn>
                    <a:cxn ang="0">
                      <a:pos x="connsiteX1" y="connsiteY1"/>
                    </a:cxn>
                  </a:cxnLst>
                  <a:rect l="l" t="t" r="r" b="b"/>
                  <a:pathLst>
                    <a:path w="33242" h="86582">
                      <a:moveTo>
                        <a:pt x="0" y="0"/>
                      </a:moveTo>
                      <a:lnTo>
                        <a:pt x="33242"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38" name="Freeform 37">
                  <a:extLst>
                    <a:ext uri="{FF2B5EF4-FFF2-40B4-BE49-F238E27FC236}">
                      <a16:creationId xmlns:a16="http://schemas.microsoft.com/office/drawing/2014/main" id="{007847BA-C5DF-6D4E-C162-A56597335793}"/>
                    </a:ext>
                  </a:extLst>
                </p:cNvPr>
                <p:cNvSpPr/>
                <p:nvPr/>
              </p:nvSpPr>
              <p:spPr>
                <a:xfrm>
                  <a:off x="3444335" y="2477611"/>
                  <a:ext cx="197738" cy="319944"/>
                </a:xfrm>
                <a:custGeom>
                  <a:avLst/>
                  <a:gdLst>
                    <a:gd name="connsiteX0" fmla="*/ 197739 w 197738"/>
                    <a:gd name="connsiteY0" fmla="*/ 98870 h 319944"/>
                    <a:gd name="connsiteX1" fmla="*/ 98965 w 197738"/>
                    <a:gd name="connsiteY1" fmla="*/ 319945 h 319944"/>
                    <a:gd name="connsiteX2" fmla="*/ 0 w 197738"/>
                    <a:gd name="connsiteY2" fmla="*/ 98870 h 319944"/>
                    <a:gd name="connsiteX3" fmla="*/ 98870 w 197738"/>
                    <a:gd name="connsiteY3" fmla="*/ 0 h 319944"/>
                    <a:gd name="connsiteX4" fmla="*/ 197739 w 197738"/>
                    <a:gd name="connsiteY4" fmla="*/ 98870 h 3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38" h="319944">
                      <a:moveTo>
                        <a:pt x="197739" y="98870"/>
                      </a:moveTo>
                      <a:cubicBezTo>
                        <a:pt x="197739" y="153448"/>
                        <a:pt x="98965" y="319945"/>
                        <a:pt x="98965" y="319945"/>
                      </a:cubicBezTo>
                      <a:cubicBezTo>
                        <a:pt x="98965" y="319945"/>
                        <a:pt x="0" y="153448"/>
                        <a:pt x="0" y="98870"/>
                      </a:cubicBezTo>
                      <a:cubicBezTo>
                        <a:pt x="0" y="44266"/>
                        <a:pt x="44266" y="0"/>
                        <a:pt x="98870" y="0"/>
                      </a:cubicBezTo>
                      <a:cubicBezTo>
                        <a:pt x="153473" y="0"/>
                        <a:pt x="197739" y="44266"/>
                        <a:pt x="197739" y="98870"/>
                      </a:cubicBezTo>
                      <a:close/>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grpSp>
          <p:sp>
            <p:nvSpPr>
              <p:cNvPr id="33" name="Freeform 32">
                <a:extLst>
                  <a:ext uri="{FF2B5EF4-FFF2-40B4-BE49-F238E27FC236}">
                    <a16:creationId xmlns:a16="http://schemas.microsoft.com/office/drawing/2014/main" id="{85E74618-7A18-C1BC-BD1F-B70411943EF5}"/>
                  </a:ext>
                </a:extLst>
              </p:cNvPr>
              <p:cNvSpPr>
                <a:spLocks noChangeAspect="1"/>
              </p:cNvSpPr>
              <p:nvPr/>
            </p:nvSpPr>
            <p:spPr>
              <a:xfrm>
                <a:off x="3488383" y="2520843"/>
                <a:ext cx="117549" cy="101814"/>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FF6100"/>
              </a:solidFill>
              <a:ln w="13066" cap="flat">
                <a:noFill/>
                <a:prstDash val="solid"/>
                <a:miter/>
              </a:ln>
            </p:spPr>
            <p:txBody>
              <a:bodyPr rtlCol="0" anchor="ctr"/>
              <a:lstStyle/>
              <a:p>
                <a:pPr defTabSz="1219110">
                  <a:defRPr/>
                </a:pPr>
                <a:endParaRPr lang="en-US" sz="1133" b="1" kern="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grpSp>
      </p:grpSp>
    </p:spTree>
    <p:extLst>
      <p:ext uri="{BB962C8B-B14F-4D97-AF65-F5344CB8AC3E}">
        <p14:creationId xmlns:p14="http://schemas.microsoft.com/office/powerpoint/2010/main" val="34273605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5C35E-AE5D-6A3F-CBC7-073F3F7FE95E}"/>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CB1BA0F2-004E-6DDA-BF7F-98E44F1FC187}"/>
              </a:ext>
            </a:extLst>
          </p:cNvPr>
          <p:cNvSpPr>
            <a:spLocks noGrp="1"/>
          </p:cNvSpPr>
          <p:nvPr>
            <p:ph type="title"/>
          </p:nvPr>
        </p:nvSpPr>
        <p:spPr>
          <a:xfrm>
            <a:off x="558803" y="392856"/>
            <a:ext cx="8002692" cy="451405"/>
          </a:xfrm>
        </p:spPr>
        <p:txBody>
          <a:bodyPr lIns="0" tIns="60960" rIns="0" bIns="6096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latin typeface="Arial"/>
                <a:cs typeface="Arial"/>
              </a:rPr>
              <a:t>Anaplan Territory and Quota Planning Application</a:t>
            </a:r>
            <a:br>
              <a:rPr lang="en-US">
                <a:latin typeface="Arial"/>
                <a:cs typeface="Arial"/>
              </a:rPr>
            </a:br>
            <a:r>
              <a:rPr lang="en-US" sz="1867" i="1">
                <a:solidFill>
                  <a:schemeClr val="bg1">
                    <a:lumMod val="75000"/>
                  </a:schemeClr>
                </a:solidFill>
                <a:latin typeface="Arial"/>
                <a:cs typeface="Arial"/>
              </a:rPr>
              <a:t>Out-of-the-box</a:t>
            </a:r>
            <a:endParaRPr lang="en-US" i="1">
              <a:solidFill>
                <a:schemeClr val="bg1">
                  <a:lumMod val="75000"/>
                </a:schemeClr>
              </a:solidFill>
              <a:latin typeface="Arial"/>
              <a:cs typeface="Arial"/>
            </a:endParaRPr>
          </a:p>
        </p:txBody>
      </p:sp>
      <p:sp>
        <p:nvSpPr>
          <p:cNvPr id="8" name="Oval 7">
            <a:extLst>
              <a:ext uri="{FF2B5EF4-FFF2-40B4-BE49-F238E27FC236}">
                <a16:creationId xmlns:a16="http://schemas.microsoft.com/office/drawing/2014/main" id="{A6937178-BA69-7E78-7288-7D2ECF3519F5}"/>
              </a:ext>
            </a:extLst>
          </p:cNvPr>
          <p:cNvSpPr/>
          <p:nvPr/>
        </p:nvSpPr>
        <p:spPr>
          <a:xfrm>
            <a:off x="2430157" y="2297037"/>
            <a:ext cx="2743200" cy="2737327"/>
          </a:xfrm>
          <a:prstGeom prst="ellipse">
            <a:avLst/>
          </a:prstGeom>
          <a:noFill/>
          <a:ln>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23" name="TextBox 22">
            <a:extLst>
              <a:ext uri="{FF2B5EF4-FFF2-40B4-BE49-F238E27FC236}">
                <a16:creationId xmlns:a16="http://schemas.microsoft.com/office/drawing/2014/main" id="{3E2A22B1-4E4A-14A5-5598-F0CF348E9116}"/>
              </a:ext>
            </a:extLst>
          </p:cNvPr>
          <p:cNvSpPr txBox="1"/>
          <p:nvPr/>
        </p:nvSpPr>
        <p:spPr>
          <a:xfrm>
            <a:off x="2806891" y="1244913"/>
            <a:ext cx="3135960" cy="984885"/>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defTabSz="1219110">
              <a:defRPr/>
            </a:pPr>
            <a:r>
              <a:rPr lang="en-US" sz="1200" b="1">
                <a:solidFill>
                  <a:srgbClr val="0A2F46">
                    <a:lumMod val="75000"/>
                    <a:lumOff val="25000"/>
                  </a:srgbClr>
                </a:solidFill>
              </a:rPr>
              <a:t>Target Allocations</a:t>
            </a:r>
            <a:endParaRPr lang="en-US" sz="1200" b="1">
              <a:solidFill>
                <a:srgbClr val="0A2F46">
                  <a:lumMod val="75000"/>
                  <a:lumOff val="25000"/>
                </a:srgbClr>
              </a:solidFill>
              <a:cs typeface="Arial"/>
            </a:endParaRPr>
          </a:p>
          <a:p>
            <a:pPr lvl="0">
              <a:defRPr/>
            </a:pPr>
            <a:r>
              <a:rPr lang="en-US" sz="1100"/>
              <a:t>Input, adjust, override, and lock targets using top-down and bottom-up approaches, now featuring </a:t>
            </a:r>
            <a:r>
              <a:rPr lang="en-US" sz="1100" b="1"/>
              <a:t>advanced workflows for top-down approvals</a:t>
            </a:r>
            <a:r>
              <a:rPr lang="en-US" sz="1100"/>
              <a:t>.</a:t>
            </a:r>
            <a:endParaRPr kumimoji="0" lang="en-US" sz="1067" b="0" i="0" u="none" strike="noStrike" kern="1200" cap="none" spc="0" normalizeH="0" baseline="0" noProof="0">
              <a:ln>
                <a:noFill/>
              </a:ln>
              <a:solidFill>
                <a:srgbClr val="0A2F46"/>
              </a:solidFill>
              <a:effectLst/>
              <a:uLnTx/>
              <a:uFillTx/>
              <a:latin typeface="Arial" panose="020B0604020202020204" pitchFamily="34" charset="0"/>
              <a:ea typeface="+mn-ea"/>
              <a:cs typeface="Arial" panose="020B0604020202020204" pitchFamily="34" charset="0"/>
            </a:endParaRPr>
          </a:p>
        </p:txBody>
      </p:sp>
      <p:sp>
        <p:nvSpPr>
          <p:cNvPr id="26" name="Oval 25">
            <a:extLst>
              <a:ext uri="{FF2B5EF4-FFF2-40B4-BE49-F238E27FC236}">
                <a16:creationId xmlns:a16="http://schemas.microsoft.com/office/drawing/2014/main" id="{5FC09C2E-3020-963B-976E-B45A03FB1704}"/>
              </a:ext>
            </a:extLst>
          </p:cNvPr>
          <p:cNvSpPr/>
          <p:nvPr/>
        </p:nvSpPr>
        <p:spPr>
          <a:xfrm>
            <a:off x="2903357" y="4654039"/>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34" name="TextBox 33">
            <a:extLst>
              <a:ext uri="{FF2B5EF4-FFF2-40B4-BE49-F238E27FC236}">
                <a16:creationId xmlns:a16="http://schemas.microsoft.com/office/drawing/2014/main" id="{CAA3A292-5E52-DB50-C874-6EB7FF893A7A}"/>
              </a:ext>
            </a:extLst>
          </p:cNvPr>
          <p:cNvSpPr txBox="1"/>
          <p:nvPr/>
        </p:nvSpPr>
        <p:spPr>
          <a:xfrm>
            <a:off x="5318444" y="2926080"/>
            <a:ext cx="2260765" cy="112338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defRPr/>
            </a:pPr>
            <a:r>
              <a:rPr lang="en-US" sz="1200" b="1">
                <a:solidFill>
                  <a:srgbClr val="0A2F46">
                    <a:lumMod val="75000"/>
                    <a:lumOff val="25000"/>
                  </a:srgbClr>
                </a:solidFill>
              </a:rPr>
              <a:t>Assign: Account-to-Territory</a:t>
            </a:r>
            <a:r>
              <a:rPr lang="en-US" sz="1200" b="1">
                <a:solidFill>
                  <a:srgbClr val="0A2F46"/>
                </a:solidFill>
              </a:rPr>
              <a:t> </a:t>
            </a:r>
            <a:r>
              <a:rPr lang="en-US" sz="1100"/>
              <a:t>Model account redistribution scenarios, supporting </a:t>
            </a:r>
            <a:r>
              <a:rPr lang="en-US" sz="1100" b="1"/>
              <a:t>1:many account assignments with split logic</a:t>
            </a:r>
            <a:r>
              <a:rPr lang="en-US" sz="1100"/>
              <a:t>, and plan geographically with zip code mapping.</a:t>
            </a:r>
            <a:endParaRPr kumimoji="0" lang="en-US" sz="1067" b="0" i="0" u="none" strike="noStrike" kern="1200" cap="none" spc="0" normalizeH="0" baseline="0" noProof="0">
              <a:ln>
                <a:noFill/>
              </a:ln>
              <a:solidFill>
                <a:srgbClr val="0A2F46"/>
              </a:solidFill>
              <a:effectLst/>
              <a:uLnTx/>
              <a:uFillTx/>
              <a:latin typeface="Arial" panose="020B0604020202020204" pitchFamily="34" charset="0"/>
              <a:ea typeface="+mn-ea"/>
              <a:cs typeface="Arial" panose="020B0604020202020204" pitchFamily="34" charset="0"/>
            </a:endParaRPr>
          </a:p>
        </p:txBody>
      </p:sp>
      <p:sp>
        <p:nvSpPr>
          <p:cNvPr id="35" name="TextBox 34">
            <a:extLst>
              <a:ext uri="{FF2B5EF4-FFF2-40B4-BE49-F238E27FC236}">
                <a16:creationId xmlns:a16="http://schemas.microsoft.com/office/drawing/2014/main" id="{F732EE64-003B-D94F-B1F1-774DEEC1C9D3}"/>
              </a:ext>
            </a:extLst>
          </p:cNvPr>
          <p:cNvSpPr txBox="1"/>
          <p:nvPr/>
        </p:nvSpPr>
        <p:spPr>
          <a:xfrm>
            <a:off x="496614" y="4754880"/>
            <a:ext cx="2310277" cy="954107"/>
          </a:xfrm>
          <a:prstGeom prst="rect">
            <a:avLst/>
          </a:prstGeom>
          <a:noFill/>
        </p:spPr>
        <p:txBody>
          <a:bodyPr wrap="square" lIns="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lgn="r">
              <a:defRPr/>
            </a:pPr>
            <a:r>
              <a:rPr lang="en-US" sz="1200" b="1">
                <a:solidFill>
                  <a:srgbClr val="0A2F46">
                    <a:lumMod val="75000"/>
                    <a:lumOff val="25000"/>
                  </a:srgbClr>
                </a:solidFill>
              </a:rPr>
              <a:t>Assign: Quota</a:t>
            </a:r>
          </a:p>
          <a:p>
            <a:pPr lvl="0" algn="r">
              <a:defRPr/>
            </a:pPr>
            <a:r>
              <a:rPr lang="en-US" sz="1100"/>
              <a:t>Assign and allocate flexible quotas using role-based, ramping, or seasonal factors. Manage targets and finalize with approvals.</a:t>
            </a:r>
            <a:endParaRPr kumimoji="0" lang="en-US" sz="1067" b="0" i="0" u="none" strike="noStrike" kern="1200" cap="none" spc="0" normalizeH="0" baseline="0" noProof="0">
              <a:ln>
                <a:noFill/>
              </a:ln>
              <a:solidFill>
                <a:srgbClr val="0A2F46"/>
              </a:solidFill>
              <a:effectLst/>
              <a:uLnTx/>
              <a:uFillTx/>
              <a:latin typeface="Arial" panose="020B0604020202020204" pitchFamily="34" charset="0"/>
              <a:ea typeface="+mn-ea"/>
              <a:cs typeface="Arial" panose="020B0604020202020204" pitchFamily="34" charset="0"/>
            </a:endParaRPr>
          </a:p>
        </p:txBody>
      </p:sp>
      <p:sp>
        <p:nvSpPr>
          <p:cNvPr id="46" name="TextBox 45">
            <a:extLst>
              <a:ext uri="{FF2B5EF4-FFF2-40B4-BE49-F238E27FC236}">
                <a16:creationId xmlns:a16="http://schemas.microsoft.com/office/drawing/2014/main" id="{105C3B50-261F-A8FD-C84C-204B609BF0A5}"/>
              </a:ext>
            </a:extLst>
          </p:cNvPr>
          <p:cNvSpPr txBox="1"/>
          <p:nvPr/>
        </p:nvSpPr>
        <p:spPr>
          <a:xfrm>
            <a:off x="6081830" y="8659115"/>
            <a:ext cx="2245124" cy="605422"/>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10" rtl="0" eaLnBrk="1" fontAlgn="base"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A2F46">
                    <a:lumMod val="75000"/>
                    <a:lumOff val="25000"/>
                  </a:srgbClr>
                </a:solidFill>
                <a:effectLst/>
                <a:uLnTx/>
                <a:uFillTx/>
                <a:latin typeface="Arial" panose="020B0604020202020204"/>
                <a:ea typeface="+mn-ea"/>
                <a:cs typeface="+mn-cs"/>
              </a:rPr>
              <a:t>Sales Margins Planning</a:t>
            </a:r>
          </a:p>
          <a:p>
            <a:pPr marL="0" marR="0" lvl="0" indent="0" algn="l" defTabSz="1219110" rtl="0" eaLnBrk="1" fontAlgn="base"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0A2F46"/>
                </a:solidFill>
                <a:effectLst/>
                <a:uLnTx/>
                <a:uFillTx/>
                <a:latin typeface="Arial" panose="020B0604020202020204"/>
                <a:ea typeface="+mn-ea"/>
                <a:cs typeface="+mn-cs"/>
              </a:rPr>
              <a:t>Model role-specific costs and sales margins to boost profitability. </a:t>
            </a:r>
            <a:endParaRPr kumimoji="0" lang="en-US" sz="1067" b="0" i="0" u="none" strike="noStrike" kern="1200" cap="none" spc="0" normalizeH="0" baseline="0" noProof="0">
              <a:ln>
                <a:noFill/>
              </a:ln>
              <a:solidFill>
                <a:srgbClr val="0A2F46"/>
              </a:solidFill>
              <a:effectLst/>
              <a:uLnTx/>
              <a:uFillTx/>
              <a:latin typeface="Arial" panose="020B0604020202020204" pitchFamily="34" charset="0"/>
              <a:ea typeface="+mn-ea"/>
              <a:cs typeface="Arial" panose="020B0604020202020204" pitchFamily="34" charset="0"/>
            </a:endParaRPr>
          </a:p>
        </p:txBody>
      </p:sp>
      <p:sp>
        <p:nvSpPr>
          <p:cNvPr id="47" name="TextBox 46">
            <a:extLst>
              <a:ext uri="{FF2B5EF4-FFF2-40B4-BE49-F238E27FC236}">
                <a16:creationId xmlns:a16="http://schemas.microsoft.com/office/drawing/2014/main" id="{34D9E1E2-1C35-7B4A-41C9-ADF1C65BA537}"/>
              </a:ext>
            </a:extLst>
          </p:cNvPr>
          <p:cNvSpPr txBox="1"/>
          <p:nvPr/>
        </p:nvSpPr>
        <p:spPr>
          <a:xfrm>
            <a:off x="5043661" y="9631523"/>
            <a:ext cx="2245124" cy="605422"/>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10" rtl="0" eaLnBrk="1" fontAlgn="base"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A2F46">
                    <a:lumMod val="75000"/>
                    <a:lumOff val="25000"/>
                  </a:srgbClr>
                </a:solidFill>
                <a:effectLst/>
                <a:uLnTx/>
                <a:uFillTx/>
                <a:latin typeface="Arial" panose="020B0604020202020204"/>
                <a:ea typeface="+mn-ea"/>
                <a:cs typeface="+mn-cs"/>
              </a:rPr>
              <a:t>In-Year vs Actual Plan</a:t>
            </a:r>
          </a:p>
          <a:p>
            <a:pPr marL="0" marR="0" lvl="0" indent="0" algn="l" defTabSz="1219110" rtl="0" eaLnBrk="1" fontAlgn="base"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0A2F46"/>
                </a:solidFill>
                <a:effectLst/>
                <a:uLnTx/>
                <a:uFillTx/>
                <a:latin typeface="Arial" panose="020B0604020202020204"/>
                <a:ea typeface="+mn-ea"/>
                <a:cs typeface="+mn-cs"/>
              </a:rPr>
              <a:t>Lock plans, compare snapshots, and optimize coverage.</a:t>
            </a:r>
            <a:endParaRPr kumimoji="0" lang="en-US" sz="1067" b="0" i="0" u="none" strike="noStrike" kern="1200" cap="none" spc="0" normalizeH="0" baseline="0" noProof="0">
              <a:ln>
                <a:noFill/>
              </a:ln>
              <a:solidFill>
                <a:srgbClr val="0A2F46"/>
              </a:solidFill>
              <a:effectLst/>
              <a:uLnTx/>
              <a:uFillTx/>
              <a:latin typeface="Arial" panose="020B0604020202020204" pitchFamily="34" charset="0"/>
              <a:ea typeface="+mn-ea"/>
              <a:cs typeface="Arial" panose="020B0604020202020204" pitchFamily="34" charset="0"/>
            </a:endParaRPr>
          </a:p>
        </p:txBody>
      </p:sp>
      <p:grpSp>
        <p:nvGrpSpPr>
          <p:cNvPr id="48" name="Group 47">
            <a:extLst>
              <a:ext uri="{FF2B5EF4-FFF2-40B4-BE49-F238E27FC236}">
                <a16:creationId xmlns:a16="http://schemas.microsoft.com/office/drawing/2014/main" id="{4AF0A9F2-C491-5C7D-F26A-6BE307E40E22}"/>
              </a:ext>
            </a:extLst>
          </p:cNvPr>
          <p:cNvGrpSpPr>
            <a:grpSpLocks noChangeAspect="1"/>
          </p:cNvGrpSpPr>
          <p:nvPr/>
        </p:nvGrpSpPr>
        <p:grpSpPr>
          <a:xfrm>
            <a:off x="3055246" y="3023471"/>
            <a:ext cx="1640567" cy="1219200"/>
            <a:chOff x="1505373" y="1481418"/>
            <a:chExt cx="2536935" cy="1885341"/>
          </a:xfrm>
        </p:grpSpPr>
        <p:sp>
          <p:nvSpPr>
            <p:cNvPr id="49" name="Freeform 48">
              <a:extLst>
                <a:ext uri="{FF2B5EF4-FFF2-40B4-BE49-F238E27FC236}">
                  <a16:creationId xmlns:a16="http://schemas.microsoft.com/office/drawing/2014/main" id="{8DB09398-A329-1215-71D3-BC2F44822EFF}"/>
                </a:ext>
              </a:extLst>
            </p:cNvPr>
            <p:cNvSpPr>
              <a:spLocks noChangeAspect="1"/>
            </p:cNvSpPr>
            <p:nvPr/>
          </p:nvSpPr>
          <p:spPr>
            <a:xfrm>
              <a:off x="1505373" y="1816043"/>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1">
                <a:lumMod val="50000"/>
                <a:lumOff val="5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0" name="Freeform 49">
              <a:extLst>
                <a:ext uri="{FF2B5EF4-FFF2-40B4-BE49-F238E27FC236}">
                  <a16:creationId xmlns:a16="http://schemas.microsoft.com/office/drawing/2014/main" id="{D55197AE-164B-5E0B-5467-F281E67ACDFE}"/>
                </a:ext>
              </a:extLst>
            </p:cNvPr>
            <p:cNvSpPr>
              <a:spLocks noChangeAspect="1"/>
            </p:cNvSpPr>
            <p:nvPr/>
          </p:nvSpPr>
          <p:spPr>
            <a:xfrm>
              <a:off x="2099019"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1" name="Freeform 50">
              <a:extLst>
                <a:ext uri="{FF2B5EF4-FFF2-40B4-BE49-F238E27FC236}">
                  <a16:creationId xmlns:a16="http://schemas.microsoft.com/office/drawing/2014/main" id="{6E46ACE6-AE31-EB09-DD45-1E624B486CA3}"/>
                </a:ext>
              </a:extLst>
            </p:cNvPr>
            <p:cNvSpPr>
              <a:spLocks noChangeAspect="1"/>
            </p:cNvSpPr>
            <p:nvPr/>
          </p:nvSpPr>
          <p:spPr>
            <a:xfrm>
              <a:off x="2099019" y="1481418"/>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2" name="Freeform 51">
              <a:extLst>
                <a:ext uri="{FF2B5EF4-FFF2-40B4-BE49-F238E27FC236}">
                  <a16:creationId xmlns:a16="http://schemas.microsoft.com/office/drawing/2014/main" id="{F76E5712-8A95-326F-027B-6B7B3337D455}"/>
                </a:ext>
              </a:extLst>
            </p:cNvPr>
            <p:cNvSpPr>
              <a:spLocks noChangeAspect="1"/>
            </p:cNvSpPr>
            <p:nvPr/>
          </p:nvSpPr>
          <p:spPr>
            <a:xfrm>
              <a:off x="1509561" y="249040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3" name="Freeform 52">
              <a:extLst>
                <a:ext uri="{FF2B5EF4-FFF2-40B4-BE49-F238E27FC236}">
                  <a16:creationId xmlns:a16="http://schemas.microsoft.com/office/drawing/2014/main" id="{F8F9FEAE-A1C2-1092-9458-6B9D520C0531}"/>
                </a:ext>
              </a:extLst>
            </p:cNvPr>
            <p:cNvSpPr>
              <a:spLocks noChangeAspect="1"/>
            </p:cNvSpPr>
            <p:nvPr/>
          </p:nvSpPr>
          <p:spPr>
            <a:xfrm>
              <a:off x="2692005" y="1821847"/>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4" name="Freeform 53">
              <a:extLst>
                <a:ext uri="{FF2B5EF4-FFF2-40B4-BE49-F238E27FC236}">
                  <a16:creationId xmlns:a16="http://schemas.microsoft.com/office/drawing/2014/main" id="{E63D6DFF-AADE-8B1D-0DD6-E7DD2C0B3476}"/>
                </a:ext>
              </a:extLst>
            </p:cNvPr>
            <p:cNvSpPr>
              <a:spLocks noChangeAspect="1"/>
            </p:cNvSpPr>
            <p:nvPr/>
          </p:nvSpPr>
          <p:spPr>
            <a:xfrm>
              <a:off x="3286311"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nvGrpSpPr>
            <p:cNvPr id="55" name="Group 54">
              <a:extLst>
                <a:ext uri="{FF2B5EF4-FFF2-40B4-BE49-F238E27FC236}">
                  <a16:creationId xmlns:a16="http://schemas.microsoft.com/office/drawing/2014/main" id="{B276ECC9-2631-D62C-7C41-34EE53D8EB12}"/>
                </a:ext>
              </a:extLst>
            </p:cNvPr>
            <p:cNvGrpSpPr/>
            <p:nvPr/>
          </p:nvGrpSpPr>
          <p:grpSpPr>
            <a:xfrm>
              <a:off x="2328356" y="2360919"/>
              <a:ext cx="1119646" cy="1005840"/>
              <a:chOff x="2890777" y="3439515"/>
              <a:chExt cx="1119646" cy="1005840"/>
            </a:xfrm>
          </p:grpSpPr>
          <p:sp>
            <p:nvSpPr>
              <p:cNvPr id="56" name="Rounded Rectangle 55">
                <a:extLst>
                  <a:ext uri="{FF2B5EF4-FFF2-40B4-BE49-F238E27FC236}">
                    <a16:creationId xmlns:a16="http://schemas.microsoft.com/office/drawing/2014/main" id="{3BDFE94E-730F-058C-A2BD-BE0F50FD3DE8}"/>
                  </a:ext>
                </a:extLst>
              </p:cNvPr>
              <p:cNvSpPr>
                <a:spLocks noChangeAspect="1"/>
              </p:cNvSpPr>
              <p:nvPr/>
            </p:nvSpPr>
            <p:spPr>
              <a:xfrm>
                <a:off x="2890777" y="3439515"/>
                <a:ext cx="1119646" cy="1005840"/>
              </a:xfrm>
              <a:prstGeom prst="roundRect">
                <a:avLst/>
              </a:prstGeom>
              <a:solidFill>
                <a:schemeClr val="bg1"/>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57" name="Graphic 56" descr="Packing Box Open outline">
                <a:extLst>
                  <a:ext uri="{FF2B5EF4-FFF2-40B4-BE49-F238E27FC236}">
                    <a16:creationId xmlns:a16="http://schemas.microsoft.com/office/drawing/2014/main" id="{5AE9387E-C155-2E6A-FDA3-17EB3F2C5A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19264" y="3519819"/>
                <a:ext cx="850392" cy="850392"/>
              </a:xfrm>
              <a:prstGeom prst="rect">
                <a:avLst/>
              </a:prstGeom>
            </p:spPr>
          </p:pic>
        </p:grpSp>
      </p:grpSp>
      <p:sp>
        <p:nvSpPr>
          <p:cNvPr id="61" name="Oval 60">
            <a:extLst>
              <a:ext uri="{FF2B5EF4-FFF2-40B4-BE49-F238E27FC236}">
                <a16:creationId xmlns:a16="http://schemas.microsoft.com/office/drawing/2014/main" id="{B153AC8D-7477-04DD-1D7E-DD6434AA5E29}"/>
              </a:ext>
            </a:extLst>
          </p:cNvPr>
          <p:cNvSpPr/>
          <p:nvPr/>
        </p:nvSpPr>
        <p:spPr>
          <a:xfrm>
            <a:off x="4816451" y="2916575"/>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63" name="Oval 62">
            <a:extLst>
              <a:ext uri="{FF2B5EF4-FFF2-40B4-BE49-F238E27FC236}">
                <a16:creationId xmlns:a16="http://schemas.microsoft.com/office/drawing/2014/main" id="{63C91D2C-F082-1CE1-B32F-E19755A60CE9}"/>
              </a:ext>
            </a:extLst>
          </p:cNvPr>
          <p:cNvSpPr/>
          <p:nvPr/>
        </p:nvSpPr>
        <p:spPr>
          <a:xfrm>
            <a:off x="4384431" y="4657344"/>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64" name="Oval 63">
            <a:extLst>
              <a:ext uri="{FF2B5EF4-FFF2-40B4-BE49-F238E27FC236}">
                <a16:creationId xmlns:a16="http://schemas.microsoft.com/office/drawing/2014/main" id="{701E6050-0048-2C95-76C0-0DB2018D0085}"/>
              </a:ext>
            </a:extLst>
          </p:cNvPr>
          <p:cNvSpPr/>
          <p:nvPr/>
        </p:nvSpPr>
        <p:spPr>
          <a:xfrm>
            <a:off x="2385487" y="2916575"/>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090A4835-2689-F9E2-AB34-3B493591B5DF}"/>
              </a:ext>
            </a:extLst>
          </p:cNvPr>
          <p:cNvSpPr txBox="1"/>
          <p:nvPr/>
        </p:nvSpPr>
        <p:spPr>
          <a:xfrm>
            <a:off x="4890064" y="4754880"/>
            <a:ext cx="2310277" cy="1323439"/>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defRPr/>
            </a:pPr>
            <a:r>
              <a:rPr lang="en-US" sz="1200" b="1">
                <a:solidFill>
                  <a:srgbClr val="0A2F46">
                    <a:lumMod val="75000"/>
                    <a:lumOff val="25000"/>
                  </a:srgbClr>
                </a:solidFill>
              </a:rPr>
              <a:t>Assign: Rep-to-Territory</a:t>
            </a:r>
            <a:r>
              <a:rPr lang="en-US" sz="1200" b="1">
                <a:solidFill>
                  <a:srgbClr val="0A2F46"/>
                </a:solidFill>
              </a:rPr>
              <a:t> </a:t>
            </a:r>
            <a:r>
              <a:rPr lang="en-US" sz="1100"/>
              <a:t>Assign sales teams, overlays, and managers by role, supporting </a:t>
            </a:r>
            <a:r>
              <a:rPr lang="en-US" sz="1100" b="1"/>
              <a:t>1:many and many:1 resource assignments</a:t>
            </a:r>
            <a:r>
              <a:rPr lang="en-US" sz="1100"/>
              <a:t>, and create hierarchies from sales relationships.</a:t>
            </a:r>
            <a:endParaRPr kumimoji="0" lang="en-US" sz="1067" b="0" i="0" u="none" strike="noStrike" kern="1200" cap="none" spc="0" normalizeH="0" baseline="0" noProof="0">
              <a:ln>
                <a:noFill/>
              </a:ln>
              <a:solidFill>
                <a:srgbClr val="0A2F46"/>
              </a:solidFill>
              <a:effectLst/>
              <a:uLnTx/>
              <a:uFillTx/>
              <a:latin typeface="Arial" panose="020B0604020202020204" pitchFamily="34" charset="0"/>
              <a:ea typeface="+mn-ea"/>
              <a:cs typeface="Arial" panose="020B0604020202020204" pitchFamily="34" charset="0"/>
            </a:endParaRPr>
          </a:p>
        </p:txBody>
      </p:sp>
      <p:sp>
        <p:nvSpPr>
          <p:cNvPr id="4" name="Oval 3">
            <a:extLst>
              <a:ext uri="{FF2B5EF4-FFF2-40B4-BE49-F238E27FC236}">
                <a16:creationId xmlns:a16="http://schemas.microsoft.com/office/drawing/2014/main" id="{CEED03F5-083D-8156-119B-02A2E4161A9C}"/>
              </a:ext>
            </a:extLst>
          </p:cNvPr>
          <p:cNvSpPr/>
          <p:nvPr/>
        </p:nvSpPr>
        <p:spPr>
          <a:xfrm>
            <a:off x="3652708" y="2097383"/>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22" name="TextBox 21">
            <a:extLst>
              <a:ext uri="{FF2B5EF4-FFF2-40B4-BE49-F238E27FC236}">
                <a16:creationId xmlns:a16="http://schemas.microsoft.com/office/drawing/2014/main" id="{F00EFC7D-A291-D985-D98B-E565AFE29321}"/>
              </a:ext>
            </a:extLst>
          </p:cNvPr>
          <p:cNvSpPr txBox="1"/>
          <p:nvPr/>
        </p:nvSpPr>
        <p:spPr>
          <a:xfrm>
            <a:off x="135593" y="2926080"/>
            <a:ext cx="2245124" cy="1461939"/>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lgn="r" defTabSz="1219110">
              <a:defRPr/>
            </a:pPr>
            <a:r>
              <a:rPr lang="en-US" sz="1200" b="1">
                <a:solidFill>
                  <a:srgbClr val="0A2F46">
                    <a:lumMod val="75000"/>
                    <a:lumOff val="25000"/>
                  </a:srgbClr>
                </a:solidFill>
              </a:rPr>
              <a:t>Scenario Planning</a:t>
            </a:r>
          </a:p>
          <a:p>
            <a:pPr lvl="0" algn="r">
              <a:defRPr/>
            </a:pPr>
            <a:r>
              <a:rPr lang="en-US" sz="1100"/>
              <a:t>Build dynamic, driver-based sales plans. Model and compare full-year projections and growth strategies, with </a:t>
            </a:r>
            <a:r>
              <a:rPr lang="en-US" sz="1100" b="1"/>
              <a:t>what-if scenarios available for every functionality</a:t>
            </a:r>
            <a:r>
              <a:rPr lang="en-US" sz="1100"/>
              <a:t> and support for </a:t>
            </a:r>
            <a:r>
              <a:rPr lang="en-US" sz="1100" b="1"/>
              <a:t>planning territory hierarchy changes</a:t>
            </a:r>
            <a:r>
              <a:rPr kumimoji="0" lang="en-US" sz="1067" b="0" i="0" u="none" strike="noStrike" kern="1200" cap="none" spc="0" normalizeH="0" baseline="0" noProof="0">
                <a:ln>
                  <a:noFill/>
                </a:ln>
                <a:solidFill>
                  <a:srgbClr val="0A2F46"/>
                </a:solidFill>
                <a:effectLst/>
                <a:uLnTx/>
                <a:uFillTx/>
                <a:latin typeface="Arial" panose="020B0604020202020204"/>
                <a:ea typeface="+mn-ea"/>
                <a:cs typeface="+mn-cs"/>
              </a:rPr>
              <a:t>. </a:t>
            </a:r>
            <a:endParaRPr kumimoji="0" lang="en-US" sz="1067" b="0" i="0" u="none" strike="noStrike" kern="1200" cap="none" spc="0" normalizeH="0" baseline="0" noProof="0">
              <a:ln>
                <a:noFill/>
              </a:ln>
              <a:solidFill>
                <a:srgbClr val="0A2F46"/>
              </a:solidFill>
              <a:effectLst/>
              <a:uLnTx/>
              <a:uFillTx/>
              <a:latin typeface="Arial" panose="020B0604020202020204" pitchFamily="34" charset="0"/>
              <a:ea typeface="+mn-ea"/>
              <a:cs typeface="Arial" panose="020B0604020202020204" pitchFamily="34" charset="0"/>
            </a:endParaRPr>
          </a:p>
        </p:txBody>
      </p:sp>
      <p:sp>
        <p:nvSpPr>
          <p:cNvPr id="14" name="TextBox 13">
            <a:extLst>
              <a:ext uri="{FF2B5EF4-FFF2-40B4-BE49-F238E27FC236}">
                <a16:creationId xmlns:a16="http://schemas.microsoft.com/office/drawing/2014/main" id="{5CBC25B3-62F6-BE53-1C50-AAC4A19DFF97}"/>
              </a:ext>
            </a:extLst>
          </p:cNvPr>
          <p:cNvSpPr txBox="1"/>
          <p:nvPr/>
        </p:nvSpPr>
        <p:spPr>
          <a:xfrm>
            <a:off x="8181185" y="1336820"/>
            <a:ext cx="3135961" cy="4401205"/>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2F1EE"/>
                </a:solidFill>
                <a:effectLst/>
                <a:uLnTx/>
                <a:uFillTx/>
                <a:latin typeface="Arial" panose="020B0604020202020204"/>
                <a:ea typeface="+mn-ea"/>
                <a:cs typeface="+mn-cs"/>
              </a:rPr>
              <a:t>Key Benefits:</a:t>
            </a:r>
          </a:p>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2F1EE"/>
              </a:solidFill>
              <a:effectLst/>
              <a:uLnTx/>
              <a:uFillTx/>
              <a:latin typeface="Arial" panose="020B0604020202020204"/>
              <a:ea typeface="+mn-ea"/>
              <a:cs typeface="+mn-cs"/>
            </a:endParaRPr>
          </a:p>
          <a:p>
            <a:pPr marL="228594" indent="-228594">
              <a:buFont typeface="Wingdings" pitchFamily="2" charset="2"/>
              <a:buChar char="ü"/>
            </a:pPr>
            <a:r>
              <a:rPr lang="en-US" sz="1200">
                <a:solidFill>
                  <a:schemeClr val="bg1"/>
                </a:solidFill>
              </a:rPr>
              <a:t>Align territories and quotas using historical data and new forecasting application data.</a:t>
            </a:r>
          </a:p>
          <a:p>
            <a:pPr marL="228594" indent="-228594">
              <a:buFont typeface="Wingdings" pitchFamily="2" charset="2"/>
              <a:buChar char="ü"/>
            </a:pPr>
            <a:endParaRPr lang="en-US" sz="600">
              <a:solidFill>
                <a:schemeClr val="bg1"/>
              </a:solidFill>
            </a:endParaRPr>
          </a:p>
          <a:p>
            <a:pPr marL="228594" indent="-228594">
              <a:buFont typeface="Wingdings" pitchFamily="2" charset="2"/>
              <a:buChar char="ü"/>
            </a:pPr>
            <a:r>
              <a:rPr lang="en-US" sz="1200">
                <a:solidFill>
                  <a:schemeClr val="bg1"/>
                </a:solidFill>
              </a:rPr>
              <a:t>Adapt sales plans with dynamic, scenario-based modeling, available for all planning year features.</a:t>
            </a:r>
          </a:p>
          <a:p>
            <a:pPr marL="228594" indent="-228594">
              <a:buFont typeface="Wingdings" pitchFamily="2" charset="2"/>
              <a:buChar char="ü"/>
            </a:pPr>
            <a:endParaRPr lang="en-US" sz="600">
              <a:solidFill>
                <a:schemeClr val="bg1"/>
              </a:solidFill>
            </a:endParaRPr>
          </a:p>
          <a:p>
            <a:pPr marL="228594" indent="-228594">
              <a:buFont typeface="Wingdings" pitchFamily="2" charset="2"/>
              <a:buChar char="ü"/>
            </a:pPr>
            <a:r>
              <a:rPr lang="en-US" sz="1200">
                <a:solidFill>
                  <a:schemeClr val="bg1"/>
                </a:solidFill>
              </a:rPr>
              <a:t>Improve coverage with flexible resource assignments, supporting 1:many and many:1 resource assignments.</a:t>
            </a:r>
          </a:p>
          <a:p>
            <a:pPr marL="228594" indent="-228594">
              <a:buFont typeface="Wingdings" pitchFamily="2" charset="2"/>
              <a:buChar char="ü"/>
            </a:pPr>
            <a:endParaRPr lang="en-US" sz="600">
              <a:solidFill>
                <a:schemeClr val="bg1"/>
              </a:solidFill>
            </a:endParaRPr>
          </a:p>
          <a:p>
            <a:pPr marL="228594" indent="-228594">
              <a:buFont typeface="Wingdings" pitchFamily="2" charset="2"/>
              <a:buChar char="ü"/>
            </a:pPr>
            <a:r>
              <a:rPr lang="en-US" sz="1200">
                <a:solidFill>
                  <a:schemeClr val="bg1"/>
                </a:solidFill>
              </a:rPr>
              <a:t>Assign quotas by role with ramping and seasonal flexibility, managing planning and current years concurrently.</a:t>
            </a:r>
          </a:p>
          <a:p>
            <a:pPr marL="228594" indent="-228594">
              <a:buFont typeface="Wingdings" pitchFamily="2" charset="2"/>
              <a:buChar char="ü"/>
            </a:pPr>
            <a:endParaRPr lang="en-US" sz="600">
              <a:solidFill>
                <a:schemeClr val="bg1"/>
              </a:solidFill>
            </a:endParaRPr>
          </a:p>
          <a:p>
            <a:pPr marL="228594" indent="-228594">
              <a:buFont typeface="Wingdings" pitchFamily="2" charset="2"/>
              <a:buChar char="ü"/>
            </a:pPr>
            <a:r>
              <a:rPr lang="en-US" sz="1200">
                <a:solidFill>
                  <a:schemeClr val="bg1"/>
                </a:solidFill>
              </a:rPr>
              <a:t>Streamline workflows with approvals and effective dating, utilizing advanced top-down approval workflows.</a:t>
            </a:r>
          </a:p>
          <a:p>
            <a:pPr marL="228594" indent="-228594">
              <a:buFont typeface="Wingdings" pitchFamily="2" charset="2"/>
              <a:buChar char="ü"/>
            </a:pPr>
            <a:endParaRPr lang="en-US" sz="600">
              <a:solidFill>
                <a:schemeClr val="bg1"/>
              </a:solidFill>
            </a:endParaRPr>
          </a:p>
          <a:p>
            <a:pPr marL="228594" indent="-228594">
              <a:buFont typeface="Wingdings" pitchFamily="2" charset="2"/>
              <a:buChar char="ü"/>
            </a:pPr>
            <a:r>
              <a:rPr lang="en-US" sz="1200">
                <a:solidFill>
                  <a:schemeClr val="bg1"/>
                </a:solidFill>
              </a:rPr>
              <a:t>Compare what-if scenarios to guide decisions, territory hierarchy changes and 1:many account splits.</a:t>
            </a:r>
          </a:p>
        </p:txBody>
      </p:sp>
      <p:grpSp>
        <p:nvGrpSpPr>
          <p:cNvPr id="19" name="Group 18">
            <a:extLst>
              <a:ext uri="{FF2B5EF4-FFF2-40B4-BE49-F238E27FC236}">
                <a16:creationId xmlns:a16="http://schemas.microsoft.com/office/drawing/2014/main" id="{D2D14AF1-2603-9F80-1338-CE4E3031E644}"/>
              </a:ext>
            </a:extLst>
          </p:cNvPr>
          <p:cNvGrpSpPr>
            <a:grpSpLocks noChangeAspect="1"/>
          </p:cNvGrpSpPr>
          <p:nvPr/>
        </p:nvGrpSpPr>
        <p:grpSpPr>
          <a:xfrm>
            <a:off x="3017345" y="3704085"/>
            <a:ext cx="498404" cy="426720"/>
            <a:chOff x="1528380" y="3479925"/>
            <a:chExt cx="747606" cy="640080"/>
          </a:xfrm>
        </p:grpSpPr>
        <p:sp>
          <p:nvSpPr>
            <p:cNvPr id="27" name="Freeform 28">
              <a:extLst>
                <a:ext uri="{FF2B5EF4-FFF2-40B4-BE49-F238E27FC236}">
                  <a16:creationId xmlns:a16="http://schemas.microsoft.com/office/drawing/2014/main" id="{D93CFADE-F6F2-52D8-8112-E849B676AAA7}"/>
                </a:ext>
              </a:extLst>
            </p:cNvPr>
            <p:cNvSpPr>
              <a:spLocks noChangeAspect="1"/>
            </p:cNvSpPr>
            <p:nvPr/>
          </p:nvSpPr>
          <p:spPr bwMode="gray">
            <a:xfrm>
              <a:off x="1528380" y="3479925"/>
              <a:ext cx="747606" cy="640080"/>
            </a:xfrm>
            <a:prstGeom prst="hexagon">
              <a:avLst>
                <a:gd name="adj" fmla="val 28328"/>
                <a:gd name="vf" fmla="val 115470"/>
              </a:avLst>
            </a:prstGeom>
            <a:solidFill>
              <a:schemeClr val="bg2"/>
            </a:solidFill>
            <a:ln w="57150" cap="flat">
              <a:solidFill>
                <a:srgbClr val="FF6100"/>
              </a:solidFill>
              <a:prstDash val="solid"/>
              <a:miter/>
            </a:ln>
            <a:effectLst>
              <a:outerShdw blurRad="50800" dist="38100" dir="8100000" algn="tr" rotWithShape="0">
                <a:prstClr val="black">
                  <a:alpha val="40000"/>
                </a:prstClr>
              </a:outerShdw>
            </a:effectLst>
          </p:spPr>
          <p:txBody>
            <a:bodyPr wrap="none" lIns="0" tIns="0" rIns="0" bIns="0" rtlCol="0"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625358" rtl="0" eaLnBrk="0" fontAlgn="base" latinLnBrk="0" hangingPunct="0">
                <a:lnSpc>
                  <a:spcPct val="100000"/>
                </a:lnSpc>
                <a:spcBef>
                  <a:spcPct val="0"/>
                </a:spcBef>
                <a:spcAft>
                  <a:spcPct val="0"/>
                </a:spcAft>
                <a:buClrTx/>
                <a:buSzTx/>
                <a:buFontTx/>
                <a:buNone/>
                <a:tabLst/>
                <a:defRPr/>
              </a:pPr>
              <a:endParaRPr kumimoji="0" lang="en-US" sz="600" b="1" i="0" u="none" strike="noStrike" kern="0" cap="none" spc="0" normalizeH="0" baseline="0" noProof="0">
                <a:ln>
                  <a:noFill/>
                </a:ln>
                <a:solidFill>
                  <a:srgbClr val="FFFFFF"/>
                </a:solidFill>
                <a:effectLst/>
                <a:uLnTx/>
                <a:uFillTx/>
                <a:latin typeface="Arial"/>
                <a:ea typeface="Verdana" panose="020B0604030504040204" pitchFamily="34" charset="0"/>
                <a:cs typeface="Arial" panose="020B0604020202020204" pitchFamily="34" charset="0"/>
              </a:endParaRPr>
            </a:p>
          </p:txBody>
        </p:sp>
        <p:grpSp>
          <p:nvGrpSpPr>
            <p:cNvPr id="28" name="Group 27">
              <a:extLst>
                <a:ext uri="{FF2B5EF4-FFF2-40B4-BE49-F238E27FC236}">
                  <a16:creationId xmlns:a16="http://schemas.microsoft.com/office/drawing/2014/main" id="{874D24DC-E299-1417-E09A-3FA95D42A48C}"/>
                </a:ext>
              </a:extLst>
            </p:cNvPr>
            <p:cNvGrpSpPr>
              <a:grpSpLocks noChangeAspect="1"/>
            </p:cNvGrpSpPr>
            <p:nvPr/>
          </p:nvGrpSpPr>
          <p:grpSpPr>
            <a:xfrm>
              <a:off x="1733728" y="3656056"/>
              <a:ext cx="336909" cy="284725"/>
              <a:chOff x="3287172" y="2477611"/>
              <a:chExt cx="512255" cy="432912"/>
            </a:xfrm>
          </p:grpSpPr>
          <p:grpSp>
            <p:nvGrpSpPr>
              <p:cNvPr id="29" name="Graphic 85">
                <a:extLst>
                  <a:ext uri="{FF2B5EF4-FFF2-40B4-BE49-F238E27FC236}">
                    <a16:creationId xmlns:a16="http://schemas.microsoft.com/office/drawing/2014/main" id="{BB584190-6603-A5CC-EB49-5BE8B536C6AB}"/>
                  </a:ext>
                </a:extLst>
              </p:cNvPr>
              <p:cNvGrpSpPr/>
              <p:nvPr/>
            </p:nvGrpSpPr>
            <p:grpSpPr>
              <a:xfrm>
                <a:off x="3287172" y="2477611"/>
                <a:ext cx="512255" cy="432912"/>
                <a:chOff x="3287172" y="2477611"/>
                <a:chExt cx="512255" cy="432912"/>
              </a:xfrm>
            </p:grpSpPr>
            <p:sp>
              <p:nvSpPr>
                <p:cNvPr id="31" name="Freeform 30">
                  <a:extLst>
                    <a:ext uri="{FF2B5EF4-FFF2-40B4-BE49-F238E27FC236}">
                      <a16:creationId xmlns:a16="http://schemas.microsoft.com/office/drawing/2014/main" id="{1EF6BBAF-B725-4C56-2794-008395DE552C}"/>
                    </a:ext>
                  </a:extLst>
                </p:cNvPr>
                <p:cNvSpPr/>
                <p:nvPr/>
              </p:nvSpPr>
              <p:spPr>
                <a:xfrm>
                  <a:off x="3287172" y="2697830"/>
                  <a:ext cx="256127" cy="212693"/>
                </a:xfrm>
                <a:custGeom>
                  <a:avLst/>
                  <a:gdLst>
                    <a:gd name="connsiteX0" fmla="*/ 161163 w 256127"/>
                    <a:gd name="connsiteY0" fmla="*/ 0 h 212693"/>
                    <a:gd name="connsiteX1" fmla="*/ 71914 w 256127"/>
                    <a:gd name="connsiteY1" fmla="*/ 39433 h 212693"/>
                    <a:gd name="connsiteX2" fmla="*/ 0 w 256127"/>
                    <a:gd name="connsiteY2" fmla="*/ 197929 h 212693"/>
                    <a:gd name="connsiteX3" fmla="*/ 128969 w 256127"/>
                    <a:gd name="connsiteY3" fmla="*/ 140779 h 212693"/>
                    <a:gd name="connsiteX4" fmla="*/ 256127 w 256127"/>
                    <a:gd name="connsiteY4" fmla="*/ 212693 h 212693"/>
                    <a:gd name="connsiteX5" fmla="*/ 256127 w 256127"/>
                    <a:gd name="connsiteY5" fmla="*/ 136112 h 21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127" h="212693">
                      <a:moveTo>
                        <a:pt x="161163" y="0"/>
                      </a:moveTo>
                      <a:lnTo>
                        <a:pt x="71914" y="39433"/>
                      </a:lnTo>
                      <a:lnTo>
                        <a:pt x="0" y="197929"/>
                      </a:lnTo>
                      <a:lnTo>
                        <a:pt x="128969" y="140779"/>
                      </a:lnTo>
                      <a:lnTo>
                        <a:pt x="256127" y="212693"/>
                      </a:lnTo>
                      <a:lnTo>
                        <a:pt x="256127" y="136112"/>
                      </a:lnTo>
                    </a:path>
                  </a:pathLst>
                </a:custGeom>
                <a:noFill/>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32" name="Freeform 31">
                  <a:extLst>
                    <a:ext uri="{FF2B5EF4-FFF2-40B4-BE49-F238E27FC236}">
                      <a16:creationId xmlns:a16="http://schemas.microsoft.com/office/drawing/2014/main" id="{83D398D2-B00C-33AE-39A9-D811D15C1373}"/>
                    </a:ext>
                  </a:extLst>
                </p:cNvPr>
                <p:cNvSpPr/>
                <p:nvPr/>
              </p:nvSpPr>
              <p:spPr>
                <a:xfrm>
                  <a:off x="3416141" y="2752027"/>
                  <a:ext cx="33147" cy="86582"/>
                </a:xfrm>
                <a:custGeom>
                  <a:avLst/>
                  <a:gdLst>
                    <a:gd name="connsiteX0" fmla="*/ 33147 w 33147"/>
                    <a:gd name="connsiteY0" fmla="*/ 0 h 86582"/>
                    <a:gd name="connsiteX1" fmla="*/ 0 w 33147"/>
                    <a:gd name="connsiteY1" fmla="*/ 86582 h 86582"/>
                  </a:gdLst>
                  <a:ahLst/>
                  <a:cxnLst>
                    <a:cxn ang="0">
                      <a:pos x="connsiteX0" y="connsiteY0"/>
                    </a:cxn>
                    <a:cxn ang="0">
                      <a:pos x="connsiteX1" y="connsiteY1"/>
                    </a:cxn>
                  </a:cxnLst>
                  <a:rect l="l" t="t" r="r" b="b"/>
                  <a:pathLst>
                    <a:path w="33147" h="86582">
                      <a:moveTo>
                        <a:pt x="33147" y="0"/>
                      </a:moveTo>
                      <a:lnTo>
                        <a:pt x="0" y="86582"/>
                      </a:lnTo>
                    </a:path>
                  </a:pathLst>
                </a:custGeom>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36" name="Freeform 35">
                  <a:extLst>
                    <a:ext uri="{FF2B5EF4-FFF2-40B4-BE49-F238E27FC236}">
                      <a16:creationId xmlns:a16="http://schemas.microsoft.com/office/drawing/2014/main" id="{5C7FB923-F9F4-81F1-4826-3967A5AFF13F}"/>
                    </a:ext>
                  </a:extLst>
                </p:cNvPr>
                <p:cNvSpPr/>
                <p:nvPr/>
              </p:nvSpPr>
              <p:spPr>
                <a:xfrm>
                  <a:off x="3543300" y="2696972"/>
                  <a:ext cx="256127" cy="213550"/>
                </a:xfrm>
                <a:custGeom>
                  <a:avLst/>
                  <a:gdLst>
                    <a:gd name="connsiteX0" fmla="*/ 95441 w 256127"/>
                    <a:gd name="connsiteY0" fmla="*/ 0 h 213550"/>
                    <a:gd name="connsiteX1" fmla="*/ 184214 w 256127"/>
                    <a:gd name="connsiteY1" fmla="*/ 40291 h 213550"/>
                    <a:gd name="connsiteX2" fmla="*/ 256127 w 256127"/>
                    <a:gd name="connsiteY2" fmla="*/ 198787 h 213550"/>
                    <a:gd name="connsiteX3" fmla="*/ 127159 w 256127"/>
                    <a:gd name="connsiteY3" fmla="*/ 141637 h 213550"/>
                    <a:gd name="connsiteX4" fmla="*/ 0 w 256127"/>
                    <a:gd name="connsiteY4" fmla="*/ 213550 h 213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27" h="213550">
                      <a:moveTo>
                        <a:pt x="95441" y="0"/>
                      </a:moveTo>
                      <a:lnTo>
                        <a:pt x="184214" y="40291"/>
                      </a:lnTo>
                      <a:lnTo>
                        <a:pt x="256127" y="198787"/>
                      </a:lnTo>
                      <a:lnTo>
                        <a:pt x="127159" y="141637"/>
                      </a:lnTo>
                      <a:lnTo>
                        <a:pt x="0" y="213550"/>
                      </a:lnTo>
                    </a:path>
                  </a:pathLst>
                </a:custGeom>
                <a:noFill/>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38" name="Freeform 37">
                  <a:extLst>
                    <a:ext uri="{FF2B5EF4-FFF2-40B4-BE49-F238E27FC236}">
                      <a16:creationId xmlns:a16="http://schemas.microsoft.com/office/drawing/2014/main" id="{69D638D9-DA77-A46D-9CEC-387334B60E51}"/>
                    </a:ext>
                  </a:extLst>
                </p:cNvPr>
                <p:cNvSpPr/>
                <p:nvPr/>
              </p:nvSpPr>
              <p:spPr>
                <a:xfrm>
                  <a:off x="3637216" y="2752027"/>
                  <a:ext cx="33242" cy="86582"/>
                </a:xfrm>
                <a:custGeom>
                  <a:avLst/>
                  <a:gdLst>
                    <a:gd name="connsiteX0" fmla="*/ 0 w 33242"/>
                    <a:gd name="connsiteY0" fmla="*/ 0 h 86582"/>
                    <a:gd name="connsiteX1" fmla="*/ 33242 w 33242"/>
                    <a:gd name="connsiteY1" fmla="*/ 86582 h 86582"/>
                  </a:gdLst>
                  <a:ahLst/>
                  <a:cxnLst>
                    <a:cxn ang="0">
                      <a:pos x="connsiteX0" y="connsiteY0"/>
                    </a:cxn>
                    <a:cxn ang="0">
                      <a:pos x="connsiteX1" y="connsiteY1"/>
                    </a:cxn>
                  </a:cxnLst>
                  <a:rect l="l" t="t" r="r" b="b"/>
                  <a:pathLst>
                    <a:path w="33242" h="86582">
                      <a:moveTo>
                        <a:pt x="0" y="0"/>
                      </a:moveTo>
                      <a:lnTo>
                        <a:pt x="33242" y="86582"/>
                      </a:lnTo>
                    </a:path>
                  </a:pathLst>
                </a:custGeom>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39" name="Freeform 38">
                  <a:extLst>
                    <a:ext uri="{FF2B5EF4-FFF2-40B4-BE49-F238E27FC236}">
                      <a16:creationId xmlns:a16="http://schemas.microsoft.com/office/drawing/2014/main" id="{073CCE44-3985-8988-C7BA-16C5F615D4E2}"/>
                    </a:ext>
                  </a:extLst>
                </p:cNvPr>
                <p:cNvSpPr/>
                <p:nvPr/>
              </p:nvSpPr>
              <p:spPr>
                <a:xfrm>
                  <a:off x="3444335" y="2477611"/>
                  <a:ext cx="197738" cy="319944"/>
                </a:xfrm>
                <a:custGeom>
                  <a:avLst/>
                  <a:gdLst>
                    <a:gd name="connsiteX0" fmla="*/ 197739 w 197738"/>
                    <a:gd name="connsiteY0" fmla="*/ 98870 h 319944"/>
                    <a:gd name="connsiteX1" fmla="*/ 98965 w 197738"/>
                    <a:gd name="connsiteY1" fmla="*/ 319945 h 319944"/>
                    <a:gd name="connsiteX2" fmla="*/ 0 w 197738"/>
                    <a:gd name="connsiteY2" fmla="*/ 98870 h 319944"/>
                    <a:gd name="connsiteX3" fmla="*/ 98870 w 197738"/>
                    <a:gd name="connsiteY3" fmla="*/ 0 h 319944"/>
                    <a:gd name="connsiteX4" fmla="*/ 197739 w 197738"/>
                    <a:gd name="connsiteY4" fmla="*/ 98870 h 3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38" h="319944">
                      <a:moveTo>
                        <a:pt x="197739" y="98870"/>
                      </a:moveTo>
                      <a:cubicBezTo>
                        <a:pt x="197739" y="153448"/>
                        <a:pt x="98965" y="319945"/>
                        <a:pt x="98965" y="319945"/>
                      </a:cubicBezTo>
                      <a:cubicBezTo>
                        <a:pt x="98965" y="319945"/>
                        <a:pt x="0" y="153448"/>
                        <a:pt x="0" y="98870"/>
                      </a:cubicBezTo>
                      <a:cubicBezTo>
                        <a:pt x="0" y="44266"/>
                        <a:pt x="44266" y="0"/>
                        <a:pt x="98870" y="0"/>
                      </a:cubicBezTo>
                      <a:cubicBezTo>
                        <a:pt x="153473" y="0"/>
                        <a:pt x="197739" y="44266"/>
                        <a:pt x="197739" y="98870"/>
                      </a:cubicBezTo>
                      <a:close/>
                    </a:path>
                  </a:pathLst>
                </a:custGeom>
                <a:noFill/>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sp>
            <p:nvSpPr>
              <p:cNvPr id="30" name="Freeform 29">
                <a:extLst>
                  <a:ext uri="{FF2B5EF4-FFF2-40B4-BE49-F238E27FC236}">
                    <a16:creationId xmlns:a16="http://schemas.microsoft.com/office/drawing/2014/main" id="{83D2A479-FF32-4E42-E3F6-FC1F8DAE907C}"/>
                  </a:ext>
                </a:extLst>
              </p:cNvPr>
              <p:cNvSpPr>
                <a:spLocks noChangeAspect="1"/>
              </p:cNvSpPr>
              <p:nvPr/>
            </p:nvSpPr>
            <p:spPr>
              <a:xfrm>
                <a:off x="3488383" y="2520843"/>
                <a:ext cx="117549" cy="101814"/>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FF6100"/>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133" b="1" i="0" u="none" strike="noStrike" kern="0" cap="none" spc="0" normalizeH="0" baseline="0" noProof="0">
                  <a:ln>
                    <a:noFill/>
                  </a:ln>
                  <a:solidFill>
                    <a:srgbClr val="000000"/>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grpSp>
    </p:spTree>
    <p:extLst>
      <p:ext uri="{BB962C8B-B14F-4D97-AF65-F5344CB8AC3E}">
        <p14:creationId xmlns:p14="http://schemas.microsoft.com/office/powerpoint/2010/main" val="10050617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230BB-B983-49ED-468B-C179F04DD7D1}"/>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3AC7B4C0-59B3-1308-34E7-A640FA4D403D}"/>
              </a:ext>
            </a:extLst>
          </p:cNvPr>
          <p:cNvSpPr/>
          <p:nvPr/>
        </p:nvSpPr>
        <p:spPr>
          <a:xfrm>
            <a:off x="558799" y="1221889"/>
            <a:ext cx="4584192" cy="5029200"/>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9" name="TextBox 8">
            <a:extLst>
              <a:ext uri="{FF2B5EF4-FFF2-40B4-BE49-F238E27FC236}">
                <a16:creationId xmlns:a16="http://schemas.microsoft.com/office/drawing/2014/main" id="{DB54D087-5D72-6D3F-BE4B-D45E0DD98673}"/>
              </a:ext>
            </a:extLst>
          </p:cNvPr>
          <p:cNvSpPr txBox="1"/>
          <p:nvPr/>
        </p:nvSpPr>
        <p:spPr>
          <a:xfrm>
            <a:off x="658746" y="2267391"/>
            <a:ext cx="4384293" cy="3211905"/>
          </a:xfrm>
          <a:prstGeom prst="rect">
            <a:avLst/>
          </a:prstGeom>
          <a:noFill/>
        </p:spPr>
        <p:txBody>
          <a:bodyPr wrap="square">
            <a:spAutoFit/>
          </a:bodyPr>
          <a:lstStyle>
            <a:defPPr>
              <a:defRPr lang="en-US"/>
            </a:defPPr>
            <a:lvl1pPr marR="0" lvl="0" indent="0" fontAlgn="auto">
              <a:lnSpc>
                <a:spcPct val="100000"/>
              </a:lnSpc>
              <a:spcBef>
                <a:spcPts val="0"/>
              </a:spcBef>
              <a:spcAft>
                <a:spcPts val="800"/>
              </a:spcAft>
              <a:buClrTx/>
              <a:buSzTx/>
              <a:buFontTx/>
              <a:buNone/>
              <a:tabLst/>
              <a:defRPr kumimoji="0" sz="1600" b="1" i="0" u="none" strike="noStrike" cap="none" spc="0" normalizeH="0" baseline="0">
                <a:ln>
                  <a:noFill/>
                </a:ln>
                <a:solidFill>
                  <a:srgbClr val="0A2F46">
                    <a:lumMod val="50000"/>
                  </a:srgbClr>
                </a:solidFill>
                <a:effectLst/>
                <a:uLnTx/>
                <a:uFillTx/>
                <a:latin typeface="Arial" panose="020B0604020202020204" pitchFamily="34" charset="0"/>
                <a:ea typeface="Verdana" charset="0"/>
                <a:cs typeface="Arial" panose="020B0604020202020204" pitchFamily="34" charset="0"/>
              </a:defRPr>
            </a:lvl1pPr>
          </a:lstStyle>
          <a:p>
            <a:pPr marL="380990" indent="-380990" defTabSz="1219170">
              <a:spcBef>
                <a:spcPts val="800"/>
              </a:spcBef>
              <a:spcAft>
                <a:spcPts val="0"/>
              </a:spcAft>
              <a:buFont typeface="Wingdings" pitchFamily="2" charset="2"/>
              <a:buChar char="ü"/>
            </a:pPr>
            <a:r>
              <a:rPr lang="en-US" sz="1467">
                <a:solidFill>
                  <a:srgbClr val="F2F1EE"/>
                </a:solidFill>
              </a:rPr>
              <a:t>Input top-down targets </a:t>
            </a:r>
            <a:r>
              <a:rPr lang="en-US" sz="1467" b="0">
                <a:solidFill>
                  <a:srgbClr val="F2F1EE"/>
                </a:solidFill>
              </a:rPr>
              <a:t>as a starting point, leveraging data fed in from the new forecasting application.</a:t>
            </a:r>
          </a:p>
          <a:p>
            <a:pPr marL="380990" indent="-380990" defTabSz="1219170">
              <a:spcBef>
                <a:spcPts val="800"/>
              </a:spcBef>
              <a:spcAft>
                <a:spcPts val="0"/>
              </a:spcAft>
              <a:buFont typeface="Wingdings" pitchFamily="2" charset="2"/>
              <a:buChar char="ü"/>
            </a:pPr>
            <a:r>
              <a:rPr lang="en-US" sz="1467">
                <a:solidFill>
                  <a:srgbClr val="F2F1EE"/>
                </a:solidFill>
              </a:rPr>
              <a:t>Allocate and override targets </a:t>
            </a:r>
            <a:r>
              <a:rPr lang="en-US" sz="1467" b="0">
                <a:solidFill>
                  <a:srgbClr val="F2F1EE"/>
                </a:solidFill>
              </a:rPr>
              <a:t>by team, region, or rep, managing both the planning and current year within the application.</a:t>
            </a:r>
          </a:p>
          <a:p>
            <a:pPr marL="380990" indent="-380990" defTabSz="1219170">
              <a:spcBef>
                <a:spcPts val="800"/>
              </a:spcBef>
              <a:spcAft>
                <a:spcPts val="0"/>
              </a:spcAft>
              <a:buFont typeface="Wingdings" pitchFamily="2" charset="2"/>
              <a:buChar char="ü"/>
            </a:pPr>
            <a:r>
              <a:rPr lang="en-US" sz="1467" b="0">
                <a:solidFill>
                  <a:srgbClr val="F2F1EE"/>
                </a:solidFill>
              </a:rPr>
              <a:t>Distribute quotas </a:t>
            </a:r>
            <a:r>
              <a:rPr lang="en-US" sz="1467">
                <a:solidFill>
                  <a:srgbClr val="F2F1EE"/>
                </a:solidFill>
              </a:rPr>
              <a:t>bottom-up</a:t>
            </a:r>
            <a:r>
              <a:rPr lang="en-US" sz="1467" b="0">
                <a:solidFill>
                  <a:srgbClr val="F2F1EE"/>
                </a:solidFill>
              </a:rPr>
              <a:t> based on account-level data.</a:t>
            </a:r>
          </a:p>
          <a:p>
            <a:pPr marL="380990" indent="-380990" defTabSz="1219170">
              <a:spcBef>
                <a:spcPts val="800"/>
              </a:spcBef>
              <a:spcAft>
                <a:spcPts val="0"/>
              </a:spcAft>
              <a:buFont typeface="Wingdings" pitchFamily="2" charset="2"/>
              <a:buChar char="ü"/>
            </a:pPr>
            <a:r>
              <a:rPr lang="en-US" sz="1467" b="0">
                <a:solidFill>
                  <a:srgbClr val="F2F1EE"/>
                </a:solidFill>
              </a:rPr>
              <a:t>Lock targets dynamically with approval workflows, now featuring </a:t>
            </a:r>
            <a:r>
              <a:rPr lang="en-US" sz="1467">
                <a:solidFill>
                  <a:srgbClr val="F2F1EE"/>
                </a:solidFill>
              </a:rPr>
              <a:t>advanced workflows </a:t>
            </a:r>
            <a:r>
              <a:rPr lang="en-US" sz="1467" b="0">
                <a:solidFill>
                  <a:srgbClr val="F2F1EE"/>
                </a:solidFill>
              </a:rPr>
              <a:t>for top-down approvals.</a:t>
            </a:r>
          </a:p>
          <a:p>
            <a:pPr marL="380990" indent="-380990" defTabSz="1219170">
              <a:spcBef>
                <a:spcPts val="800"/>
              </a:spcBef>
              <a:spcAft>
                <a:spcPts val="0"/>
              </a:spcAft>
              <a:buFont typeface="Wingdings" pitchFamily="2" charset="2"/>
              <a:buChar char="ü"/>
            </a:pPr>
            <a:r>
              <a:rPr lang="en-US" sz="1467" b="0">
                <a:solidFill>
                  <a:srgbClr val="F2F1EE"/>
                </a:solidFill>
              </a:rPr>
              <a:t>Review and adjust </a:t>
            </a:r>
            <a:r>
              <a:rPr lang="en-US" sz="1467">
                <a:solidFill>
                  <a:srgbClr val="F2F1EE"/>
                </a:solidFill>
              </a:rPr>
              <a:t>final quotas </a:t>
            </a:r>
            <a:r>
              <a:rPr lang="en-US" sz="1467" b="0">
                <a:solidFill>
                  <a:srgbClr val="F2F1EE"/>
                </a:solidFill>
              </a:rPr>
              <a:t>before launch</a:t>
            </a:r>
          </a:p>
        </p:txBody>
      </p:sp>
      <p:pic>
        <p:nvPicPr>
          <p:cNvPr id="2" name="Picture 1">
            <a:extLst>
              <a:ext uri="{FF2B5EF4-FFF2-40B4-BE49-F238E27FC236}">
                <a16:creationId xmlns:a16="http://schemas.microsoft.com/office/drawing/2014/main" id="{CAB3C386-E9A7-4D3E-5EF5-D5D87360C8B1}"/>
              </a:ext>
            </a:extLst>
          </p:cNvPr>
          <p:cNvPicPr>
            <a:picLocks noChangeAspect="1"/>
          </p:cNvPicPr>
          <p:nvPr/>
        </p:nvPicPr>
        <p:blipFill>
          <a:blip r:embed="rId3"/>
          <a:stretch>
            <a:fillRect/>
          </a:stretch>
        </p:blipFill>
        <p:spPr>
          <a:xfrm>
            <a:off x="5414265" y="1978009"/>
            <a:ext cx="6334275" cy="3317148"/>
          </a:xfrm>
          <a:prstGeom prst="rect">
            <a:avLst/>
          </a:prstGeom>
          <a:ln>
            <a:solidFill>
              <a:schemeClr val="tx2"/>
            </a:solidFill>
          </a:ln>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C1240A4D-4BCB-83F4-F74C-DF37763022FE}"/>
              </a:ext>
            </a:extLst>
          </p:cNvPr>
          <p:cNvSpPr txBox="1">
            <a:spLocks/>
          </p:cNvSpPr>
          <p:nvPr/>
        </p:nvSpPr>
        <p:spPr>
          <a:xfrm>
            <a:off x="558801" y="392854"/>
            <a:ext cx="10871201" cy="451405"/>
          </a:xfrm>
          <a:prstGeom prst="rect">
            <a:avLst/>
          </a:prstGeom>
        </p:spPr>
        <p:txBody>
          <a:bodyPr/>
          <a:lst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a:lstStyle>
          <a:p>
            <a:pPr defTabSz="1219170">
              <a:lnSpc>
                <a:spcPct val="120000"/>
              </a:lnSpc>
            </a:pPr>
            <a:r>
              <a:rPr lang="en-US" sz="2133">
                <a:solidFill>
                  <a:srgbClr val="F2F1EE">
                    <a:lumMod val="10000"/>
                  </a:srgbClr>
                </a:solidFill>
                <a:ea typeface="Verdana" panose="020B0604030504040204" pitchFamily="34" charset="0"/>
              </a:rPr>
              <a:t>Territory and Quota Planning Application</a:t>
            </a:r>
            <a:endParaRPr lang="en-US" sz="2133">
              <a:solidFill>
                <a:srgbClr val="FFFFFF">
                  <a:lumMod val="50000"/>
                </a:srgbClr>
              </a:solidFill>
              <a:ea typeface="Verdana" panose="020B0604030504040204" pitchFamily="34" charset="0"/>
            </a:endParaRPr>
          </a:p>
        </p:txBody>
      </p:sp>
      <p:grpSp>
        <p:nvGrpSpPr>
          <p:cNvPr id="14" name="Group 13">
            <a:extLst>
              <a:ext uri="{FF2B5EF4-FFF2-40B4-BE49-F238E27FC236}">
                <a16:creationId xmlns:a16="http://schemas.microsoft.com/office/drawing/2014/main" id="{292F61DE-D131-85B2-1760-3FC23A80CBBD}"/>
              </a:ext>
            </a:extLst>
          </p:cNvPr>
          <p:cNvGrpSpPr>
            <a:grpSpLocks noChangeAspect="1"/>
          </p:cNvGrpSpPr>
          <p:nvPr/>
        </p:nvGrpSpPr>
        <p:grpSpPr>
          <a:xfrm>
            <a:off x="216614" y="6394170"/>
            <a:ext cx="336909" cy="284725"/>
            <a:chOff x="3287172" y="2477611"/>
            <a:chExt cx="512255" cy="432912"/>
          </a:xfrm>
        </p:grpSpPr>
        <p:grpSp>
          <p:nvGrpSpPr>
            <p:cNvPr id="15" name="Graphic 85">
              <a:extLst>
                <a:ext uri="{FF2B5EF4-FFF2-40B4-BE49-F238E27FC236}">
                  <a16:creationId xmlns:a16="http://schemas.microsoft.com/office/drawing/2014/main" id="{6B81206F-8A96-1F36-3233-D8E884361510}"/>
                </a:ext>
              </a:extLst>
            </p:cNvPr>
            <p:cNvGrpSpPr/>
            <p:nvPr/>
          </p:nvGrpSpPr>
          <p:grpSpPr>
            <a:xfrm>
              <a:off x="3287172" y="2477611"/>
              <a:ext cx="512255" cy="432912"/>
              <a:chOff x="3287172" y="2477611"/>
              <a:chExt cx="512255" cy="432912"/>
            </a:xfrm>
          </p:grpSpPr>
          <p:sp>
            <p:nvSpPr>
              <p:cNvPr id="17" name="Freeform 16">
                <a:extLst>
                  <a:ext uri="{FF2B5EF4-FFF2-40B4-BE49-F238E27FC236}">
                    <a16:creationId xmlns:a16="http://schemas.microsoft.com/office/drawing/2014/main" id="{E6D255F9-AB59-A84C-7A46-E1B5A6FACDEC}"/>
                  </a:ext>
                </a:extLst>
              </p:cNvPr>
              <p:cNvSpPr/>
              <p:nvPr/>
            </p:nvSpPr>
            <p:spPr>
              <a:xfrm>
                <a:off x="3287172" y="2697830"/>
                <a:ext cx="256127" cy="212693"/>
              </a:xfrm>
              <a:custGeom>
                <a:avLst/>
                <a:gdLst>
                  <a:gd name="connsiteX0" fmla="*/ 161163 w 256127"/>
                  <a:gd name="connsiteY0" fmla="*/ 0 h 212693"/>
                  <a:gd name="connsiteX1" fmla="*/ 71914 w 256127"/>
                  <a:gd name="connsiteY1" fmla="*/ 39433 h 212693"/>
                  <a:gd name="connsiteX2" fmla="*/ 0 w 256127"/>
                  <a:gd name="connsiteY2" fmla="*/ 197929 h 212693"/>
                  <a:gd name="connsiteX3" fmla="*/ 128969 w 256127"/>
                  <a:gd name="connsiteY3" fmla="*/ 140779 h 212693"/>
                  <a:gd name="connsiteX4" fmla="*/ 256127 w 256127"/>
                  <a:gd name="connsiteY4" fmla="*/ 212693 h 212693"/>
                  <a:gd name="connsiteX5" fmla="*/ 256127 w 256127"/>
                  <a:gd name="connsiteY5" fmla="*/ 136112 h 21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127" h="212693">
                    <a:moveTo>
                      <a:pt x="161163" y="0"/>
                    </a:moveTo>
                    <a:lnTo>
                      <a:pt x="71914" y="39433"/>
                    </a:lnTo>
                    <a:lnTo>
                      <a:pt x="0" y="197929"/>
                    </a:lnTo>
                    <a:lnTo>
                      <a:pt x="128969" y="140779"/>
                    </a:lnTo>
                    <a:lnTo>
                      <a:pt x="256127" y="212693"/>
                    </a:lnTo>
                    <a:lnTo>
                      <a:pt x="256127" y="136112"/>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18" name="Freeform 17">
                <a:extLst>
                  <a:ext uri="{FF2B5EF4-FFF2-40B4-BE49-F238E27FC236}">
                    <a16:creationId xmlns:a16="http://schemas.microsoft.com/office/drawing/2014/main" id="{0F7A9788-F11A-5222-2A7E-5DEB482EEB5E}"/>
                  </a:ext>
                </a:extLst>
              </p:cNvPr>
              <p:cNvSpPr/>
              <p:nvPr/>
            </p:nvSpPr>
            <p:spPr>
              <a:xfrm>
                <a:off x="3416141" y="2752027"/>
                <a:ext cx="33147" cy="86582"/>
              </a:xfrm>
              <a:custGeom>
                <a:avLst/>
                <a:gdLst>
                  <a:gd name="connsiteX0" fmla="*/ 33147 w 33147"/>
                  <a:gd name="connsiteY0" fmla="*/ 0 h 86582"/>
                  <a:gd name="connsiteX1" fmla="*/ 0 w 33147"/>
                  <a:gd name="connsiteY1" fmla="*/ 86582 h 86582"/>
                </a:gdLst>
                <a:ahLst/>
                <a:cxnLst>
                  <a:cxn ang="0">
                    <a:pos x="connsiteX0" y="connsiteY0"/>
                  </a:cxn>
                  <a:cxn ang="0">
                    <a:pos x="connsiteX1" y="connsiteY1"/>
                  </a:cxn>
                </a:cxnLst>
                <a:rect l="l" t="t" r="r" b="b"/>
                <a:pathLst>
                  <a:path w="33147" h="86582">
                    <a:moveTo>
                      <a:pt x="33147" y="0"/>
                    </a:moveTo>
                    <a:lnTo>
                      <a:pt x="0"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19" name="Freeform 18">
                <a:extLst>
                  <a:ext uri="{FF2B5EF4-FFF2-40B4-BE49-F238E27FC236}">
                    <a16:creationId xmlns:a16="http://schemas.microsoft.com/office/drawing/2014/main" id="{BF3CEFD3-DAC3-4AB1-32BE-C907ADC0BFAB}"/>
                  </a:ext>
                </a:extLst>
              </p:cNvPr>
              <p:cNvSpPr/>
              <p:nvPr/>
            </p:nvSpPr>
            <p:spPr>
              <a:xfrm>
                <a:off x="3543300" y="2696972"/>
                <a:ext cx="256127" cy="213550"/>
              </a:xfrm>
              <a:custGeom>
                <a:avLst/>
                <a:gdLst>
                  <a:gd name="connsiteX0" fmla="*/ 95441 w 256127"/>
                  <a:gd name="connsiteY0" fmla="*/ 0 h 213550"/>
                  <a:gd name="connsiteX1" fmla="*/ 184214 w 256127"/>
                  <a:gd name="connsiteY1" fmla="*/ 40291 h 213550"/>
                  <a:gd name="connsiteX2" fmla="*/ 256127 w 256127"/>
                  <a:gd name="connsiteY2" fmla="*/ 198787 h 213550"/>
                  <a:gd name="connsiteX3" fmla="*/ 127159 w 256127"/>
                  <a:gd name="connsiteY3" fmla="*/ 141637 h 213550"/>
                  <a:gd name="connsiteX4" fmla="*/ 0 w 256127"/>
                  <a:gd name="connsiteY4" fmla="*/ 213550 h 213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27" h="213550">
                    <a:moveTo>
                      <a:pt x="95441" y="0"/>
                    </a:moveTo>
                    <a:lnTo>
                      <a:pt x="184214" y="40291"/>
                    </a:lnTo>
                    <a:lnTo>
                      <a:pt x="256127" y="198787"/>
                    </a:lnTo>
                    <a:lnTo>
                      <a:pt x="127159" y="141637"/>
                    </a:lnTo>
                    <a:lnTo>
                      <a:pt x="0" y="213550"/>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20" name="Freeform 19">
                <a:extLst>
                  <a:ext uri="{FF2B5EF4-FFF2-40B4-BE49-F238E27FC236}">
                    <a16:creationId xmlns:a16="http://schemas.microsoft.com/office/drawing/2014/main" id="{B63DDAED-7885-75F0-B844-3B91A9A6015A}"/>
                  </a:ext>
                </a:extLst>
              </p:cNvPr>
              <p:cNvSpPr/>
              <p:nvPr/>
            </p:nvSpPr>
            <p:spPr>
              <a:xfrm>
                <a:off x="3637216" y="2752027"/>
                <a:ext cx="33242" cy="86582"/>
              </a:xfrm>
              <a:custGeom>
                <a:avLst/>
                <a:gdLst>
                  <a:gd name="connsiteX0" fmla="*/ 0 w 33242"/>
                  <a:gd name="connsiteY0" fmla="*/ 0 h 86582"/>
                  <a:gd name="connsiteX1" fmla="*/ 33242 w 33242"/>
                  <a:gd name="connsiteY1" fmla="*/ 86582 h 86582"/>
                </a:gdLst>
                <a:ahLst/>
                <a:cxnLst>
                  <a:cxn ang="0">
                    <a:pos x="connsiteX0" y="connsiteY0"/>
                  </a:cxn>
                  <a:cxn ang="0">
                    <a:pos x="connsiteX1" y="connsiteY1"/>
                  </a:cxn>
                </a:cxnLst>
                <a:rect l="l" t="t" r="r" b="b"/>
                <a:pathLst>
                  <a:path w="33242" h="86582">
                    <a:moveTo>
                      <a:pt x="0" y="0"/>
                    </a:moveTo>
                    <a:lnTo>
                      <a:pt x="33242"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21" name="Freeform 20">
                <a:extLst>
                  <a:ext uri="{FF2B5EF4-FFF2-40B4-BE49-F238E27FC236}">
                    <a16:creationId xmlns:a16="http://schemas.microsoft.com/office/drawing/2014/main" id="{CD07357B-DD3A-6D35-FE22-B2CE0B8065AD}"/>
                  </a:ext>
                </a:extLst>
              </p:cNvPr>
              <p:cNvSpPr/>
              <p:nvPr/>
            </p:nvSpPr>
            <p:spPr>
              <a:xfrm>
                <a:off x="3444335" y="2477611"/>
                <a:ext cx="197738" cy="319944"/>
              </a:xfrm>
              <a:custGeom>
                <a:avLst/>
                <a:gdLst>
                  <a:gd name="connsiteX0" fmla="*/ 197739 w 197738"/>
                  <a:gd name="connsiteY0" fmla="*/ 98870 h 319944"/>
                  <a:gd name="connsiteX1" fmla="*/ 98965 w 197738"/>
                  <a:gd name="connsiteY1" fmla="*/ 319945 h 319944"/>
                  <a:gd name="connsiteX2" fmla="*/ 0 w 197738"/>
                  <a:gd name="connsiteY2" fmla="*/ 98870 h 319944"/>
                  <a:gd name="connsiteX3" fmla="*/ 98870 w 197738"/>
                  <a:gd name="connsiteY3" fmla="*/ 0 h 319944"/>
                  <a:gd name="connsiteX4" fmla="*/ 197739 w 197738"/>
                  <a:gd name="connsiteY4" fmla="*/ 98870 h 3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38" h="319944">
                    <a:moveTo>
                      <a:pt x="197739" y="98870"/>
                    </a:moveTo>
                    <a:cubicBezTo>
                      <a:pt x="197739" y="153448"/>
                      <a:pt x="98965" y="319945"/>
                      <a:pt x="98965" y="319945"/>
                    </a:cubicBezTo>
                    <a:cubicBezTo>
                      <a:pt x="98965" y="319945"/>
                      <a:pt x="0" y="153448"/>
                      <a:pt x="0" y="98870"/>
                    </a:cubicBezTo>
                    <a:cubicBezTo>
                      <a:pt x="0" y="44266"/>
                      <a:pt x="44266" y="0"/>
                      <a:pt x="98870" y="0"/>
                    </a:cubicBezTo>
                    <a:cubicBezTo>
                      <a:pt x="153473" y="0"/>
                      <a:pt x="197739" y="44266"/>
                      <a:pt x="197739" y="98870"/>
                    </a:cubicBezTo>
                    <a:close/>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grpSp>
        <p:sp>
          <p:nvSpPr>
            <p:cNvPr id="16" name="Freeform 15">
              <a:extLst>
                <a:ext uri="{FF2B5EF4-FFF2-40B4-BE49-F238E27FC236}">
                  <a16:creationId xmlns:a16="http://schemas.microsoft.com/office/drawing/2014/main" id="{6A093C9E-B1D5-B8DE-0BED-5609E9F6ECFB}"/>
                </a:ext>
              </a:extLst>
            </p:cNvPr>
            <p:cNvSpPr>
              <a:spLocks noChangeAspect="1"/>
            </p:cNvSpPr>
            <p:nvPr/>
          </p:nvSpPr>
          <p:spPr>
            <a:xfrm>
              <a:off x="3488383" y="2520843"/>
              <a:ext cx="117549" cy="101814"/>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FF6100"/>
            </a:solidFill>
            <a:ln w="13066" cap="flat">
              <a:noFill/>
              <a:prstDash val="solid"/>
              <a:miter/>
            </a:ln>
          </p:spPr>
          <p:txBody>
            <a:bodyPr rtlCol="0" anchor="ctr"/>
            <a:lstStyle/>
            <a:p>
              <a:pPr defTabSz="1219110">
                <a:defRPr/>
              </a:pPr>
              <a:endParaRPr lang="en-US" sz="1133" b="1" kern="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grpSp>
      <p:sp>
        <p:nvSpPr>
          <p:cNvPr id="6" name="TextBox 5">
            <a:extLst>
              <a:ext uri="{FF2B5EF4-FFF2-40B4-BE49-F238E27FC236}">
                <a16:creationId xmlns:a16="http://schemas.microsoft.com/office/drawing/2014/main" id="{E5B1AEE7-67F9-58B3-01E7-E075CAEBCC2A}"/>
              </a:ext>
            </a:extLst>
          </p:cNvPr>
          <p:cNvSpPr txBox="1"/>
          <p:nvPr/>
        </p:nvSpPr>
        <p:spPr>
          <a:xfrm>
            <a:off x="640080" y="1417320"/>
            <a:ext cx="4372481" cy="359009"/>
          </a:xfrm>
          <a:prstGeom prst="rect">
            <a:avLst/>
          </a:prstGeom>
          <a:noFill/>
        </p:spPr>
        <p:txBody>
          <a:bodyPr wrap="square" lIns="0" rtlCol="0">
            <a:spAutoFit/>
          </a:bodyPr>
          <a:lstStyle/>
          <a:p>
            <a:pPr algn="ctr" defTabSz="1219170"/>
            <a:r>
              <a:rPr lang="en-US" sz="1733">
                <a:solidFill>
                  <a:srgbClr val="F2F1EE"/>
                </a:solidFill>
                <a:latin typeface="Arial" panose="020B0604020202020204"/>
              </a:rPr>
              <a:t>Straightforward Target Allocation</a:t>
            </a:r>
          </a:p>
        </p:txBody>
      </p:sp>
      <p:cxnSp>
        <p:nvCxnSpPr>
          <p:cNvPr id="10" name="Straight Connector 9">
            <a:extLst>
              <a:ext uri="{FF2B5EF4-FFF2-40B4-BE49-F238E27FC236}">
                <a16:creationId xmlns:a16="http://schemas.microsoft.com/office/drawing/2014/main" id="{11044B73-98D1-9B64-B62C-F1F19340EDFC}"/>
              </a:ext>
            </a:extLst>
          </p:cNvPr>
          <p:cNvCxnSpPr>
            <a:cxnSpLocks/>
          </p:cNvCxnSpPr>
          <p:nvPr/>
        </p:nvCxnSpPr>
        <p:spPr>
          <a:xfrm>
            <a:off x="729167"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058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CE07B-BFE4-9691-7740-B020FC287F82}"/>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4EED5003-40C7-D5D7-07BB-00D1E9409297}"/>
              </a:ext>
            </a:extLst>
          </p:cNvPr>
          <p:cNvSpPr/>
          <p:nvPr/>
        </p:nvSpPr>
        <p:spPr>
          <a:xfrm>
            <a:off x="558799" y="1221889"/>
            <a:ext cx="4587508" cy="5029200"/>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0A8CA2FB-1486-CBA1-92A1-3119FFC26882}"/>
              </a:ext>
            </a:extLst>
          </p:cNvPr>
          <p:cNvPicPr>
            <a:picLocks noChangeAspect="1"/>
          </p:cNvPicPr>
          <p:nvPr/>
        </p:nvPicPr>
        <p:blipFill>
          <a:blip r:embed="rId3"/>
          <a:stretch>
            <a:fillRect/>
          </a:stretch>
        </p:blipFill>
        <p:spPr>
          <a:xfrm>
            <a:off x="6011502" y="2970289"/>
            <a:ext cx="5889540" cy="3095835"/>
          </a:xfrm>
          <a:prstGeom prst="rect">
            <a:avLst/>
          </a:prstGeom>
          <a:ln>
            <a:solidFill>
              <a:schemeClr val="tx2"/>
            </a:solidFill>
          </a:ln>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F56DE1A9-1A52-7DC5-90FB-6F3661E08E2C}"/>
              </a:ext>
            </a:extLst>
          </p:cNvPr>
          <p:cNvSpPr txBox="1"/>
          <p:nvPr/>
        </p:nvSpPr>
        <p:spPr>
          <a:xfrm>
            <a:off x="668775" y="2074526"/>
            <a:ext cx="4389120" cy="3991798"/>
          </a:xfrm>
          <a:prstGeom prst="rect">
            <a:avLst/>
          </a:prstGeom>
          <a:noFill/>
        </p:spPr>
        <p:txBody>
          <a:bodyPr wrap="square">
            <a:spAutoFit/>
          </a:bodyPr>
          <a:lstStyle>
            <a:defPPr>
              <a:defRPr lang="en-US"/>
            </a:defPPr>
            <a:lvl1pPr marR="0" lvl="0" indent="0" fontAlgn="auto">
              <a:lnSpc>
                <a:spcPct val="100000"/>
              </a:lnSpc>
              <a:spcBef>
                <a:spcPts val="0"/>
              </a:spcBef>
              <a:spcAft>
                <a:spcPts val="800"/>
              </a:spcAft>
              <a:buClrTx/>
              <a:buSzTx/>
              <a:buFontTx/>
              <a:buNone/>
              <a:tabLst/>
              <a:defRPr kumimoji="0" sz="1600" b="1" i="0" u="none" strike="noStrike" cap="none" spc="0" normalizeH="0" baseline="0">
                <a:ln>
                  <a:noFill/>
                </a:ln>
                <a:solidFill>
                  <a:srgbClr val="0A2F46">
                    <a:lumMod val="50000"/>
                  </a:srgbClr>
                </a:solidFill>
                <a:effectLst/>
                <a:uLnTx/>
                <a:uFillTx/>
                <a:latin typeface="Arial" panose="020B0604020202020204" pitchFamily="34" charset="0"/>
                <a:ea typeface="Verdana" charset="0"/>
                <a:cs typeface="Arial" panose="020B0604020202020204" pitchFamily="34" charset="0"/>
              </a:defRPr>
            </a:lvl1pPr>
          </a:lstStyle>
          <a:p>
            <a:pPr marL="380990" indent="-380990" defTabSz="1219170">
              <a:spcBef>
                <a:spcPts val="800"/>
              </a:spcBef>
              <a:spcAft>
                <a:spcPts val="0"/>
              </a:spcAft>
              <a:buFont typeface="Wingdings" pitchFamily="2" charset="2"/>
              <a:buChar char="ü"/>
            </a:pPr>
            <a:r>
              <a:rPr lang="en-US" sz="1467">
                <a:solidFill>
                  <a:srgbClr val="F2F1EE"/>
                </a:solidFill>
              </a:rPr>
              <a:t>Assign accounts by rules </a:t>
            </a:r>
            <a:r>
              <a:rPr lang="en-US" sz="1467" b="0">
                <a:solidFill>
                  <a:srgbClr val="F2F1EE"/>
                </a:solidFill>
              </a:rPr>
              <a:t>or intuitive selection, now supporting 1:many account to territory assignments with split logic.</a:t>
            </a:r>
          </a:p>
          <a:p>
            <a:pPr marL="380990" indent="-380990" defTabSz="1219170">
              <a:spcBef>
                <a:spcPts val="800"/>
              </a:spcBef>
              <a:spcAft>
                <a:spcPts val="0"/>
              </a:spcAft>
              <a:buFont typeface="Wingdings" pitchFamily="2" charset="2"/>
              <a:buChar char="ü"/>
            </a:pPr>
            <a:r>
              <a:rPr lang="en-US" sz="1467" b="0">
                <a:solidFill>
                  <a:srgbClr val="F2F1EE"/>
                </a:solidFill>
              </a:rPr>
              <a:t>Support </a:t>
            </a:r>
            <a:r>
              <a:rPr lang="en-US" sz="1467">
                <a:solidFill>
                  <a:srgbClr val="F2F1EE"/>
                </a:solidFill>
              </a:rPr>
              <a:t>zip-code</a:t>
            </a:r>
            <a:r>
              <a:rPr lang="en-US" sz="1467" b="0">
                <a:solidFill>
                  <a:srgbClr val="F2F1EE"/>
                </a:solidFill>
              </a:rPr>
              <a:t> logic with </a:t>
            </a:r>
            <a:r>
              <a:rPr lang="en-US" sz="1467">
                <a:solidFill>
                  <a:srgbClr val="F2F1EE"/>
                </a:solidFill>
              </a:rPr>
              <a:t>geo-mapping</a:t>
            </a:r>
            <a:r>
              <a:rPr lang="en-US" sz="1467" b="0">
                <a:solidFill>
                  <a:srgbClr val="F2F1EE"/>
                </a:solidFill>
              </a:rPr>
              <a:t> tools, available for both planning and current year.</a:t>
            </a:r>
          </a:p>
          <a:p>
            <a:pPr marL="380990" indent="-380990" defTabSz="1219170">
              <a:spcBef>
                <a:spcPts val="800"/>
              </a:spcBef>
              <a:spcAft>
                <a:spcPts val="0"/>
              </a:spcAft>
              <a:buFont typeface="Wingdings" pitchFamily="2" charset="2"/>
              <a:buChar char="ü"/>
            </a:pPr>
            <a:r>
              <a:rPr lang="en-US" sz="1467" b="0">
                <a:solidFill>
                  <a:srgbClr val="F2F1EE"/>
                </a:solidFill>
              </a:rPr>
              <a:t>Model redistribution scenarios to </a:t>
            </a:r>
            <a:r>
              <a:rPr lang="en-US" sz="1467">
                <a:solidFill>
                  <a:srgbClr val="F2F1EE"/>
                </a:solidFill>
              </a:rPr>
              <a:t>balance workload.</a:t>
            </a:r>
          </a:p>
          <a:p>
            <a:pPr marL="380990" indent="-380990" defTabSz="1219170">
              <a:spcBef>
                <a:spcPts val="800"/>
              </a:spcBef>
              <a:spcAft>
                <a:spcPts val="0"/>
              </a:spcAft>
              <a:buFont typeface="Wingdings" pitchFamily="2" charset="2"/>
              <a:buChar char="ü"/>
            </a:pPr>
            <a:r>
              <a:rPr lang="en-US" sz="1467" b="0">
                <a:solidFill>
                  <a:srgbClr val="F2F1EE"/>
                </a:solidFill>
              </a:rPr>
              <a:t>1:many assign reps, overlays, and managers across </a:t>
            </a:r>
            <a:r>
              <a:rPr lang="en-US" sz="1467">
                <a:solidFill>
                  <a:srgbClr val="F2F1EE"/>
                </a:solidFill>
              </a:rPr>
              <a:t>multiple territories </a:t>
            </a:r>
            <a:r>
              <a:rPr lang="en-US" sz="1467" b="0">
                <a:solidFill>
                  <a:srgbClr val="F2F1EE"/>
                </a:solidFill>
              </a:rPr>
              <a:t>or regions.</a:t>
            </a:r>
          </a:p>
          <a:p>
            <a:pPr marL="380990" indent="-380990" defTabSz="1219170">
              <a:spcBef>
                <a:spcPts val="800"/>
              </a:spcBef>
              <a:spcAft>
                <a:spcPts val="0"/>
              </a:spcAft>
              <a:buFont typeface="Wingdings" pitchFamily="2" charset="2"/>
              <a:buChar char="ü"/>
            </a:pPr>
            <a:r>
              <a:rPr lang="en-US" sz="1467" b="0">
                <a:solidFill>
                  <a:srgbClr val="F2F1EE"/>
                </a:solidFill>
              </a:rPr>
              <a:t>Evaluate impact of account </a:t>
            </a:r>
            <a:r>
              <a:rPr lang="en-US" sz="1467">
                <a:solidFill>
                  <a:srgbClr val="F2F1EE"/>
                </a:solidFill>
              </a:rPr>
              <a:t>reassignment</a:t>
            </a:r>
            <a:r>
              <a:rPr lang="en-US" sz="1467" b="0">
                <a:solidFill>
                  <a:srgbClr val="F2F1EE"/>
                </a:solidFill>
              </a:rPr>
              <a:t> on quotas and targets.</a:t>
            </a:r>
          </a:p>
          <a:p>
            <a:pPr marL="380990" indent="-380990" defTabSz="1219170">
              <a:spcBef>
                <a:spcPts val="800"/>
              </a:spcBef>
              <a:spcAft>
                <a:spcPts val="0"/>
              </a:spcAft>
              <a:buFont typeface="Wingdings" pitchFamily="2" charset="2"/>
              <a:buChar char="ü"/>
            </a:pPr>
            <a:r>
              <a:rPr lang="en-US" sz="1467" b="0">
                <a:solidFill>
                  <a:srgbClr val="F2F1EE"/>
                </a:solidFill>
              </a:rPr>
              <a:t>Quickly reassign accounts as strategy evolves, with what-if scenarios in the planning year.</a:t>
            </a:r>
          </a:p>
        </p:txBody>
      </p:sp>
      <p:pic>
        <p:nvPicPr>
          <p:cNvPr id="2" name="Picture 1">
            <a:extLst>
              <a:ext uri="{FF2B5EF4-FFF2-40B4-BE49-F238E27FC236}">
                <a16:creationId xmlns:a16="http://schemas.microsoft.com/office/drawing/2014/main" id="{AC55F7AC-A4E3-87CD-5BB0-E91AFFF551A0}"/>
              </a:ext>
            </a:extLst>
          </p:cNvPr>
          <p:cNvPicPr>
            <a:picLocks noChangeAspect="1"/>
          </p:cNvPicPr>
          <p:nvPr/>
        </p:nvPicPr>
        <p:blipFill>
          <a:blip r:embed="rId4"/>
          <a:stretch>
            <a:fillRect/>
          </a:stretch>
        </p:blipFill>
        <p:spPr>
          <a:xfrm>
            <a:off x="5475493" y="1275488"/>
            <a:ext cx="5811521" cy="2930893"/>
          </a:xfrm>
          <a:prstGeom prst="rect">
            <a:avLst/>
          </a:prstGeom>
          <a:ln>
            <a:solidFill>
              <a:schemeClr val="tx2"/>
            </a:solidFill>
          </a:ln>
          <a:effectLst>
            <a:outerShdw blurRad="63500" sx="102000" sy="102000" algn="ctr" rotWithShape="0">
              <a:prstClr val="black">
                <a:alpha val="40000"/>
              </a:prstClr>
            </a:outerShdw>
          </a:effectLst>
        </p:spPr>
      </p:pic>
      <p:sp>
        <p:nvSpPr>
          <p:cNvPr id="6" name="Title 1">
            <a:extLst>
              <a:ext uri="{FF2B5EF4-FFF2-40B4-BE49-F238E27FC236}">
                <a16:creationId xmlns:a16="http://schemas.microsoft.com/office/drawing/2014/main" id="{FB93D3BA-C7BE-9FD4-8CB9-FA78A9D7E5C2}"/>
              </a:ext>
            </a:extLst>
          </p:cNvPr>
          <p:cNvSpPr txBox="1">
            <a:spLocks/>
          </p:cNvSpPr>
          <p:nvPr/>
        </p:nvSpPr>
        <p:spPr>
          <a:xfrm>
            <a:off x="415813" y="333166"/>
            <a:ext cx="10871201" cy="451405"/>
          </a:xfrm>
          <a:prstGeom prst="rect">
            <a:avLst/>
          </a:prstGeom>
        </p:spPr>
        <p:txBody>
          <a:bodyPr/>
          <a:lst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a:lstStyle>
          <a:p>
            <a:pPr defTabSz="1219170">
              <a:lnSpc>
                <a:spcPct val="120000"/>
              </a:lnSpc>
            </a:pPr>
            <a:r>
              <a:rPr lang="en-US" sz="2133">
                <a:solidFill>
                  <a:srgbClr val="F2F1EE">
                    <a:lumMod val="10000"/>
                  </a:srgbClr>
                </a:solidFill>
                <a:ea typeface="Verdana" panose="020B0604030504040204" pitchFamily="34" charset="0"/>
              </a:rPr>
              <a:t>Territory and Quota Planning Application</a:t>
            </a:r>
            <a:endParaRPr lang="en-US" sz="2133">
              <a:solidFill>
                <a:srgbClr val="FFFFFF">
                  <a:lumMod val="50000"/>
                </a:srgbClr>
              </a:solidFill>
              <a:ea typeface="Verdana" panose="020B0604030504040204" pitchFamily="34" charset="0"/>
            </a:endParaRPr>
          </a:p>
        </p:txBody>
      </p:sp>
      <p:grpSp>
        <p:nvGrpSpPr>
          <p:cNvPr id="15" name="Group 14">
            <a:extLst>
              <a:ext uri="{FF2B5EF4-FFF2-40B4-BE49-F238E27FC236}">
                <a16:creationId xmlns:a16="http://schemas.microsoft.com/office/drawing/2014/main" id="{9D136030-3F6F-CF7F-4E5C-89FBCBE9B3E5}"/>
              </a:ext>
            </a:extLst>
          </p:cNvPr>
          <p:cNvGrpSpPr>
            <a:grpSpLocks noChangeAspect="1"/>
          </p:cNvGrpSpPr>
          <p:nvPr/>
        </p:nvGrpSpPr>
        <p:grpSpPr>
          <a:xfrm>
            <a:off x="216614" y="6394170"/>
            <a:ext cx="336909" cy="284725"/>
            <a:chOff x="3287172" y="2477611"/>
            <a:chExt cx="512255" cy="432912"/>
          </a:xfrm>
        </p:grpSpPr>
        <p:grpSp>
          <p:nvGrpSpPr>
            <p:cNvPr id="16" name="Graphic 85">
              <a:extLst>
                <a:ext uri="{FF2B5EF4-FFF2-40B4-BE49-F238E27FC236}">
                  <a16:creationId xmlns:a16="http://schemas.microsoft.com/office/drawing/2014/main" id="{464EAFDC-DE3D-06D2-2D4A-58F821CCF02E}"/>
                </a:ext>
              </a:extLst>
            </p:cNvPr>
            <p:cNvGrpSpPr/>
            <p:nvPr/>
          </p:nvGrpSpPr>
          <p:grpSpPr>
            <a:xfrm>
              <a:off x="3287172" y="2477611"/>
              <a:ext cx="512255" cy="432912"/>
              <a:chOff x="3287172" y="2477611"/>
              <a:chExt cx="512255" cy="432912"/>
            </a:xfrm>
          </p:grpSpPr>
          <p:sp>
            <p:nvSpPr>
              <p:cNvPr id="18" name="Freeform 17">
                <a:extLst>
                  <a:ext uri="{FF2B5EF4-FFF2-40B4-BE49-F238E27FC236}">
                    <a16:creationId xmlns:a16="http://schemas.microsoft.com/office/drawing/2014/main" id="{470E24DB-7502-14D6-21C4-FB22BCCAC8DC}"/>
                  </a:ext>
                </a:extLst>
              </p:cNvPr>
              <p:cNvSpPr/>
              <p:nvPr/>
            </p:nvSpPr>
            <p:spPr>
              <a:xfrm>
                <a:off x="3287172" y="2697830"/>
                <a:ext cx="256127" cy="212693"/>
              </a:xfrm>
              <a:custGeom>
                <a:avLst/>
                <a:gdLst>
                  <a:gd name="connsiteX0" fmla="*/ 161163 w 256127"/>
                  <a:gd name="connsiteY0" fmla="*/ 0 h 212693"/>
                  <a:gd name="connsiteX1" fmla="*/ 71914 w 256127"/>
                  <a:gd name="connsiteY1" fmla="*/ 39433 h 212693"/>
                  <a:gd name="connsiteX2" fmla="*/ 0 w 256127"/>
                  <a:gd name="connsiteY2" fmla="*/ 197929 h 212693"/>
                  <a:gd name="connsiteX3" fmla="*/ 128969 w 256127"/>
                  <a:gd name="connsiteY3" fmla="*/ 140779 h 212693"/>
                  <a:gd name="connsiteX4" fmla="*/ 256127 w 256127"/>
                  <a:gd name="connsiteY4" fmla="*/ 212693 h 212693"/>
                  <a:gd name="connsiteX5" fmla="*/ 256127 w 256127"/>
                  <a:gd name="connsiteY5" fmla="*/ 136112 h 21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127" h="212693">
                    <a:moveTo>
                      <a:pt x="161163" y="0"/>
                    </a:moveTo>
                    <a:lnTo>
                      <a:pt x="71914" y="39433"/>
                    </a:lnTo>
                    <a:lnTo>
                      <a:pt x="0" y="197929"/>
                    </a:lnTo>
                    <a:lnTo>
                      <a:pt x="128969" y="140779"/>
                    </a:lnTo>
                    <a:lnTo>
                      <a:pt x="256127" y="212693"/>
                    </a:lnTo>
                    <a:lnTo>
                      <a:pt x="256127" y="136112"/>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19" name="Freeform 18">
                <a:extLst>
                  <a:ext uri="{FF2B5EF4-FFF2-40B4-BE49-F238E27FC236}">
                    <a16:creationId xmlns:a16="http://schemas.microsoft.com/office/drawing/2014/main" id="{2B18E9B3-C8D0-B987-46C5-09CFF27A8F60}"/>
                  </a:ext>
                </a:extLst>
              </p:cNvPr>
              <p:cNvSpPr/>
              <p:nvPr/>
            </p:nvSpPr>
            <p:spPr>
              <a:xfrm>
                <a:off x="3416141" y="2752027"/>
                <a:ext cx="33147" cy="86582"/>
              </a:xfrm>
              <a:custGeom>
                <a:avLst/>
                <a:gdLst>
                  <a:gd name="connsiteX0" fmla="*/ 33147 w 33147"/>
                  <a:gd name="connsiteY0" fmla="*/ 0 h 86582"/>
                  <a:gd name="connsiteX1" fmla="*/ 0 w 33147"/>
                  <a:gd name="connsiteY1" fmla="*/ 86582 h 86582"/>
                </a:gdLst>
                <a:ahLst/>
                <a:cxnLst>
                  <a:cxn ang="0">
                    <a:pos x="connsiteX0" y="connsiteY0"/>
                  </a:cxn>
                  <a:cxn ang="0">
                    <a:pos x="connsiteX1" y="connsiteY1"/>
                  </a:cxn>
                </a:cxnLst>
                <a:rect l="l" t="t" r="r" b="b"/>
                <a:pathLst>
                  <a:path w="33147" h="86582">
                    <a:moveTo>
                      <a:pt x="33147" y="0"/>
                    </a:moveTo>
                    <a:lnTo>
                      <a:pt x="0"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20" name="Freeform 19">
                <a:extLst>
                  <a:ext uri="{FF2B5EF4-FFF2-40B4-BE49-F238E27FC236}">
                    <a16:creationId xmlns:a16="http://schemas.microsoft.com/office/drawing/2014/main" id="{C03B027F-CDB6-601A-96CA-BFD26B6AEA23}"/>
                  </a:ext>
                </a:extLst>
              </p:cNvPr>
              <p:cNvSpPr/>
              <p:nvPr/>
            </p:nvSpPr>
            <p:spPr>
              <a:xfrm>
                <a:off x="3543300" y="2696972"/>
                <a:ext cx="256127" cy="213550"/>
              </a:xfrm>
              <a:custGeom>
                <a:avLst/>
                <a:gdLst>
                  <a:gd name="connsiteX0" fmla="*/ 95441 w 256127"/>
                  <a:gd name="connsiteY0" fmla="*/ 0 h 213550"/>
                  <a:gd name="connsiteX1" fmla="*/ 184214 w 256127"/>
                  <a:gd name="connsiteY1" fmla="*/ 40291 h 213550"/>
                  <a:gd name="connsiteX2" fmla="*/ 256127 w 256127"/>
                  <a:gd name="connsiteY2" fmla="*/ 198787 h 213550"/>
                  <a:gd name="connsiteX3" fmla="*/ 127159 w 256127"/>
                  <a:gd name="connsiteY3" fmla="*/ 141637 h 213550"/>
                  <a:gd name="connsiteX4" fmla="*/ 0 w 256127"/>
                  <a:gd name="connsiteY4" fmla="*/ 213550 h 213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27" h="213550">
                    <a:moveTo>
                      <a:pt x="95441" y="0"/>
                    </a:moveTo>
                    <a:lnTo>
                      <a:pt x="184214" y="40291"/>
                    </a:lnTo>
                    <a:lnTo>
                      <a:pt x="256127" y="198787"/>
                    </a:lnTo>
                    <a:lnTo>
                      <a:pt x="127159" y="141637"/>
                    </a:lnTo>
                    <a:lnTo>
                      <a:pt x="0" y="213550"/>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21" name="Freeform 20">
                <a:extLst>
                  <a:ext uri="{FF2B5EF4-FFF2-40B4-BE49-F238E27FC236}">
                    <a16:creationId xmlns:a16="http://schemas.microsoft.com/office/drawing/2014/main" id="{82660158-FF22-55AC-3524-6AB1C79237DC}"/>
                  </a:ext>
                </a:extLst>
              </p:cNvPr>
              <p:cNvSpPr/>
              <p:nvPr/>
            </p:nvSpPr>
            <p:spPr>
              <a:xfrm>
                <a:off x="3637216" y="2752027"/>
                <a:ext cx="33242" cy="86582"/>
              </a:xfrm>
              <a:custGeom>
                <a:avLst/>
                <a:gdLst>
                  <a:gd name="connsiteX0" fmla="*/ 0 w 33242"/>
                  <a:gd name="connsiteY0" fmla="*/ 0 h 86582"/>
                  <a:gd name="connsiteX1" fmla="*/ 33242 w 33242"/>
                  <a:gd name="connsiteY1" fmla="*/ 86582 h 86582"/>
                </a:gdLst>
                <a:ahLst/>
                <a:cxnLst>
                  <a:cxn ang="0">
                    <a:pos x="connsiteX0" y="connsiteY0"/>
                  </a:cxn>
                  <a:cxn ang="0">
                    <a:pos x="connsiteX1" y="connsiteY1"/>
                  </a:cxn>
                </a:cxnLst>
                <a:rect l="l" t="t" r="r" b="b"/>
                <a:pathLst>
                  <a:path w="33242" h="86582">
                    <a:moveTo>
                      <a:pt x="0" y="0"/>
                    </a:moveTo>
                    <a:lnTo>
                      <a:pt x="33242"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22" name="Freeform 21">
                <a:extLst>
                  <a:ext uri="{FF2B5EF4-FFF2-40B4-BE49-F238E27FC236}">
                    <a16:creationId xmlns:a16="http://schemas.microsoft.com/office/drawing/2014/main" id="{EEB8EEAC-1945-F3A0-EE93-377D993531AB}"/>
                  </a:ext>
                </a:extLst>
              </p:cNvPr>
              <p:cNvSpPr/>
              <p:nvPr/>
            </p:nvSpPr>
            <p:spPr>
              <a:xfrm>
                <a:off x="3444335" y="2477611"/>
                <a:ext cx="197738" cy="319944"/>
              </a:xfrm>
              <a:custGeom>
                <a:avLst/>
                <a:gdLst>
                  <a:gd name="connsiteX0" fmla="*/ 197739 w 197738"/>
                  <a:gd name="connsiteY0" fmla="*/ 98870 h 319944"/>
                  <a:gd name="connsiteX1" fmla="*/ 98965 w 197738"/>
                  <a:gd name="connsiteY1" fmla="*/ 319945 h 319944"/>
                  <a:gd name="connsiteX2" fmla="*/ 0 w 197738"/>
                  <a:gd name="connsiteY2" fmla="*/ 98870 h 319944"/>
                  <a:gd name="connsiteX3" fmla="*/ 98870 w 197738"/>
                  <a:gd name="connsiteY3" fmla="*/ 0 h 319944"/>
                  <a:gd name="connsiteX4" fmla="*/ 197739 w 197738"/>
                  <a:gd name="connsiteY4" fmla="*/ 98870 h 3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38" h="319944">
                    <a:moveTo>
                      <a:pt x="197739" y="98870"/>
                    </a:moveTo>
                    <a:cubicBezTo>
                      <a:pt x="197739" y="153448"/>
                      <a:pt x="98965" y="319945"/>
                      <a:pt x="98965" y="319945"/>
                    </a:cubicBezTo>
                    <a:cubicBezTo>
                      <a:pt x="98965" y="319945"/>
                      <a:pt x="0" y="153448"/>
                      <a:pt x="0" y="98870"/>
                    </a:cubicBezTo>
                    <a:cubicBezTo>
                      <a:pt x="0" y="44266"/>
                      <a:pt x="44266" y="0"/>
                      <a:pt x="98870" y="0"/>
                    </a:cubicBezTo>
                    <a:cubicBezTo>
                      <a:pt x="153473" y="0"/>
                      <a:pt x="197739" y="44266"/>
                      <a:pt x="197739" y="98870"/>
                    </a:cubicBezTo>
                    <a:close/>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grpSp>
        <p:sp>
          <p:nvSpPr>
            <p:cNvPr id="17" name="Freeform 16">
              <a:extLst>
                <a:ext uri="{FF2B5EF4-FFF2-40B4-BE49-F238E27FC236}">
                  <a16:creationId xmlns:a16="http://schemas.microsoft.com/office/drawing/2014/main" id="{D30C1C0D-0774-CE22-4DB5-9AD22A808F07}"/>
                </a:ext>
              </a:extLst>
            </p:cNvPr>
            <p:cNvSpPr>
              <a:spLocks noChangeAspect="1"/>
            </p:cNvSpPr>
            <p:nvPr/>
          </p:nvSpPr>
          <p:spPr>
            <a:xfrm>
              <a:off x="3488383" y="2520843"/>
              <a:ext cx="117549" cy="101814"/>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FF6100"/>
            </a:solidFill>
            <a:ln w="13066" cap="flat">
              <a:noFill/>
              <a:prstDash val="solid"/>
              <a:miter/>
            </a:ln>
          </p:spPr>
          <p:txBody>
            <a:bodyPr rtlCol="0" anchor="ctr"/>
            <a:lstStyle/>
            <a:p>
              <a:pPr defTabSz="1219110">
                <a:defRPr/>
              </a:pPr>
              <a:endParaRPr lang="en-US" sz="1133" b="1" kern="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grpSp>
      <p:sp>
        <p:nvSpPr>
          <p:cNvPr id="8" name="TextBox 7">
            <a:extLst>
              <a:ext uri="{FF2B5EF4-FFF2-40B4-BE49-F238E27FC236}">
                <a16:creationId xmlns:a16="http://schemas.microsoft.com/office/drawing/2014/main" id="{88CFD672-18FC-41C4-4947-EAF61943159A}"/>
              </a:ext>
            </a:extLst>
          </p:cNvPr>
          <p:cNvSpPr txBox="1"/>
          <p:nvPr/>
        </p:nvSpPr>
        <p:spPr>
          <a:xfrm>
            <a:off x="640080" y="1417320"/>
            <a:ext cx="4389120" cy="359009"/>
          </a:xfrm>
          <a:prstGeom prst="rect">
            <a:avLst/>
          </a:prstGeom>
          <a:noFill/>
        </p:spPr>
        <p:txBody>
          <a:bodyPr wrap="square" lIns="0" rtlCol="0">
            <a:spAutoFit/>
          </a:bodyPr>
          <a:lstStyle/>
          <a:p>
            <a:pPr algn="ctr" defTabSz="1219170"/>
            <a:r>
              <a:rPr lang="en-US" sz="1733">
                <a:solidFill>
                  <a:srgbClr val="F2F1EE"/>
                </a:solidFill>
                <a:latin typeface="Arial" panose="020B0604020202020204"/>
              </a:rPr>
              <a:t>Smarter Account-to-Territory Assignment</a:t>
            </a:r>
          </a:p>
        </p:txBody>
      </p:sp>
      <p:cxnSp>
        <p:nvCxnSpPr>
          <p:cNvPr id="10" name="Straight Connector 9">
            <a:extLst>
              <a:ext uri="{FF2B5EF4-FFF2-40B4-BE49-F238E27FC236}">
                <a16:creationId xmlns:a16="http://schemas.microsoft.com/office/drawing/2014/main" id="{A5D94AEA-A331-3357-3273-67986EFF087D}"/>
              </a:ext>
            </a:extLst>
          </p:cNvPr>
          <p:cNvCxnSpPr/>
          <p:nvPr/>
        </p:nvCxnSpPr>
        <p:spPr>
          <a:xfrm>
            <a:off x="668775"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1013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BF53E-B5A5-FB66-8574-3FA45D11EF72}"/>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D2CB205F-C891-1A94-7C4A-BDB25F525637}"/>
              </a:ext>
            </a:extLst>
          </p:cNvPr>
          <p:cNvSpPr/>
          <p:nvPr/>
        </p:nvSpPr>
        <p:spPr>
          <a:xfrm>
            <a:off x="558799" y="1221889"/>
            <a:ext cx="4587508" cy="5029200"/>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9" name="TextBox 8">
            <a:extLst>
              <a:ext uri="{FF2B5EF4-FFF2-40B4-BE49-F238E27FC236}">
                <a16:creationId xmlns:a16="http://schemas.microsoft.com/office/drawing/2014/main" id="{E3F9EBCB-03A4-02C4-F8CB-067CCF952A18}"/>
              </a:ext>
            </a:extLst>
          </p:cNvPr>
          <p:cNvSpPr txBox="1"/>
          <p:nvPr/>
        </p:nvSpPr>
        <p:spPr>
          <a:xfrm>
            <a:off x="670560" y="2000225"/>
            <a:ext cx="4389120" cy="4184159"/>
          </a:xfrm>
          <a:prstGeom prst="rect">
            <a:avLst/>
          </a:prstGeom>
          <a:noFill/>
        </p:spPr>
        <p:txBody>
          <a:bodyPr wrap="square">
            <a:spAutoFit/>
          </a:bodyPr>
          <a:lstStyle>
            <a:defPPr>
              <a:defRPr lang="en-US"/>
            </a:defPPr>
            <a:lvl1pPr marR="0" lvl="0" indent="0" fontAlgn="auto">
              <a:lnSpc>
                <a:spcPct val="100000"/>
              </a:lnSpc>
              <a:spcBef>
                <a:spcPts val="0"/>
              </a:spcBef>
              <a:spcAft>
                <a:spcPts val="800"/>
              </a:spcAft>
              <a:buClrTx/>
              <a:buSzTx/>
              <a:buFontTx/>
              <a:buNone/>
              <a:tabLst/>
              <a:defRPr kumimoji="0" sz="1600" b="1" i="0" u="none" strike="noStrike" cap="none" spc="0" normalizeH="0" baseline="0">
                <a:ln>
                  <a:noFill/>
                </a:ln>
                <a:solidFill>
                  <a:srgbClr val="0A2F46">
                    <a:lumMod val="50000"/>
                  </a:srgbClr>
                </a:solidFill>
                <a:effectLst/>
                <a:uLnTx/>
                <a:uFillTx/>
                <a:latin typeface="Arial" panose="020B0604020202020204" pitchFamily="34" charset="0"/>
                <a:ea typeface="Verdana" charset="0"/>
                <a:cs typeface="Arial" panose="020B0604020202020204" pitchFamily="34" charset="0"/>
              </a:defRPr>
            </a:lvl1pPr>
          </a:lstStyle>
          <a:p>
            <a:pPr marL="380990" indent="-380990" defTabSz="1219170">
              <a:spcBef>
                <a:spcPts val="800"/>
              </a:spcBef>
              <a:spcAft>
                <a:spcPts val="1067"/>
              </a:spcAft>
              <a:buFont typeface="Wingdings" pitchFamily="2" charset="2"/>
              <a:buChar char="ü"/>
            </a:pPr>
            <a:r>
              <a:rPr lang="en-US" sz="1467" b="0">
                <a:solidFill>
                  <a:srgbClr val="F2F1EE"/>
                </a:solidFill>
              </a:rPr>
              <a:t>Assign direct </a:t>
            </a:r>
            <a:r>
              <a:rPr lang="en-US" sz="1467">
                <a:solidFill>
                  <a:srgbClr val="F2F1EE"/>
                </a:solidFill>
              </a:rPr>
              <a:t>sellers</a:t>
            </a:r>
            <a:r>
              <a:rPr lang="en-US" sz="1467" b="0">
                <a:solidFill>
                  <a:srgbClr val="F2F1EE"/>
                </a:solidFill>
              </a:rPr>
              <a:t> and </a:t>
            </a:r>
            <a:r>
              <a:rPr lang="en-US" sz="1467">
                <a:solidFill>
                  <a:srgbClr val="F2F1EE"/>
                </a:solidFill>
              </a:rPr>
              <a:t>overlays</a:t>
            </a:r>
            <a:r>
              <a:rPr lang="en-US" sz="1467" b="0">
                <a:solidFill>
                  <a:srgbClr val="F2F1EE"/>
                </a:solidFill>
              </a:rPr>
              <a:t> with role-based logic, now supporting 1:many and many:1 resource to territory assignments</a:t>
            </a:r>
          </a:p>
          <a:p>
            <a:pPr marL="380990" indent="-380990" defTabSz="1219170">
              <a:spcAft>
                <a:spcPts val="1067"/>
              </a:spcAft>
              <a:buFont typeface="Wingdings" pitchFamily="2" charset="2"/>
              <a:buChar char="ü"/>
            </a:pPr>
            <a:r>
              <a:rPr lang="en-US" sz="1467" b="0">
                <a:solidFill>
                  <a:srgbClr val="F2F1EE"/>
                </a:solidFill>
              </a:rPr>
              <a:t>Manage rep changes with </a:t>
            </a:r>
            <a:r>
              <a:rPr lang="en-US" sz="1467">
                <a:solidFill>
                  <a:srgbClr val="F2F1EE"/>
                </a:solidFill>
              </a:rPr>
              <a:t>effective</a:t>
            </a:r>
            <a:r>
              <a:rPr lang="en-US" sz="1467" b="0">
                <a:solidFill>
                  <a:srgbClr val="F2F1EE"/>
                </a:solidFill>
              </a:rPr>
              <a:t> </a:t>
            </a:r>
            <a:r>
              <a:rPr lang="en-US" sz="1467">
                <a:solidFill>
                  <a:srgbClr val="F2F1EE"/>
                </a:solidFill>
              </a:rPr>
              <a:t>dating</a:t>
            </a:r>
            <a:r>
              <a:rPr lang="en-US" sz="1467" b="0">
                <a:solidFill>
                  <a:srgbClr val="F2F1EE"/>
                </a:solidFill>
              </a:rPr>
              <a:t> and </a:t>
            </a:r>
            <a:r>
              <a:rPr lang="en-US" sz="1467">
                <a:solidFill>
                  <a:srgbClr val="F2F1EE"/>
                </a:solidFill>
              </a:rPr>
              <a:t>temporary assignments</a:t>
            </a:r>
          </a:p>
          <a:p>
            <a:pPr marL="380990" indent="-380990" defTabSz="1219170">
              <a:spcAft>
                <a:spcPts val="1067"/>
              </a:spcAft>
              <a:buFont typeface="Wingdings" pitchFamily="2" charset="2"/>
              <a:buChar char="ü"/>
            </a:pPr>
            <a:r>
              <a:rPr lang="en-US" sz="1467" b="0">
                <a:solidFill>
                  <a:srgbClr val="F2F1EE"/>
                </a:solidFill>
              </a:rPr>
              <a:t>Track active reps and </a:t>
            </a:r>
            <a:r>
              <a:rPr lang="en-US" sz="1467">
                <a:solidFill>
                  <a:srgbClr val="F2F1EE"/>
                </a:solidFill>
              </a:rPr>
              <a:t>view historical assignments </a:t>
            </a:r>
            <a:r>
              <a:rPr lang="en-US" sz="1467" b="0">
                <a:solidFill>
                  <a:srgbClr val="F2F1EE"/>
                </a:solidFill>
              </a:rPr>
              <a:t>by month</a:t>
            </a:r>
          </a:p>
          <a:p>
            <a:pPr marL="380990" indent="-380990" defTabSz="1219170">
              <a:spcAft>
                <a:spcPts val="1067"/>
              </a:spcAft>
              <a:buFont typeface="Wingdings" pitchFamily="2" charset="2"/>
              <a:buChar char="ü"/>
            </a:pPr>
            <a:r>
              <a:rPr lang="en-US" sz="1467" b="0">
                <a:solidFill>
                  <a:srgbClr val="F2F1EE"/>
                </a:solidFill>
              </a:rPr>
              <a:t>Quickly </a:t>
            </a:r>
            <a:r>
              <a:rPr lang="en-US" sz="1467">
                <a:solidFill>
                  <a:srgbClr val="F2F1EE"/>
                </a:solidFill>
              </a:rPr>
              <a:t>assign or reassign </a:t>
            </a:r>
            <a:r>
              <a:rPr lang="en-US" sz="1467" b="0">
                <a:solidFill>
                  <a:srgbClr val="F2F1EE"/>
                </a:solidFill>
              </a:rPr>
              <a:t>reps with start and end dates</a:t>
            </a:r>
          </a:p>
          <a:p>
            <a:pPr marL="380990" indent="-380990" defTabSz="1219170">
              <a:spcAft>
                <a:spcPts val="1067"/>
              </a:spcAft>
              <a:buFont typeface="Wingdings" pitchFamily="2" charset="2"/>
              <a:buChar char="ü"/>
            </a:pPr>
            <a:r>
              <a:rPr lang="en-US" sz="1467" b="0">
                <a:solidFill>
                  <a:srgbClr val="F2F1EE"/>
                </a:solidFill>
              </a:rPr>
              <a:t>Identify and </a:t>
            </a:r>
            <a:r>
              <a:rPr lang="en-US" sz="1467">
                <a:solidFill>
                  <a:srgbClr val="F2F1EE"/>
                </a:solidFill>
              </a:rPr>
              <a:t>allocate unassigned reps </a:t>
            </a:r>
            <a:r>
              <a:rPr lang="en-US" sz="1467" b="0">
                <a:solidFill>
                  <a:srgbClr val="F2F1EE"/>
                </a:solidFill>
              </a:rPr>
              <a:t>to open territories</a:t>
            </a:r>
          </a:p>
          <a:p>
            <a:pPr marL="380990" indent="-380990" defTabSz="1219170">
              <a:spcAft>
                <a:spcPts val="1067"/>
              </a:spcAft>
              <a:buFont typeface="Wingdings" pitchFamily="2" charset="2"/>
              <a:buChar char="ü"/>
            </a:pPr>
            <a:r>
              <a:rPr lang="en-US" sz="1467">
                <a:solidFill>
                  <a:srgbClr val="F2F1EE"/>
                </a:solidFill>
              </a:rPr>
              <a:t>Model rep transitions </a:t>
            </a:r>
            <a:r>
              <a:rPr lang="en-US" sz="1467" b="0">
                <a:solidFill>
                  <a:srgbClr val="F2F1EE"/>
                </a:solidFill>
              </a:rPr>
              <a:t>and role changes across territories, utilizing the planning territory hierarchy for changes from the current hierarchy.</a:t>
            </a:r>
          </a:p>
        </p:txBody>
      </p:sp>
      <p:pic>
        <p:nvPicPr>
          <p:cNvPr id="2" name="Picture 1">
            <a:extLst>
              <a:ext uri="{FF2B5EF4-FFF2-40B4-BE49-F238E27FC236}">
                <a16:creationId xmlns:a16="http://schemas.microsoft.com/office/drawing/2014/main" id="{A1A64A2E-D986-2F61-0037-E54D67ED3084}"/>
              </a:ext>
            </a:extLst>
          </p:cNvPr>
          <p:cNvPicPr>
            <a:picLocks noChangeAspect="1"/>
          </p:cNvPicPr>
          <p:nvPr/>
        </p:nvPicPr>
        <p:blipFill>
          <a:blip r:embed="rId3"/>
          <a:stretch>
            <a:fillRect/>
          </a:stretch>
        </p:blipFill>
        <p:spPr>
          <a:xfrm>
            <a:off x="6044779" y="1572853"/>
            <a:ext cx="5481101" cy="2839607"/>
          </a:xfrm>
          <a:prstGeom prst="rect">
            <a:avLst/>
          </a:prstGeom>
          <a:ln>
            <a:solidFill>
              <a:schemeClr val="tx2"/>
            </a:solidFill>
          </a:ln>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BA83BD17-3CD7-3BBC-C7F5-6E1833C3FB8F}"/>
              </a:ext>
            </a:extLst>
          </p:cNvPr>
          <p:cNvPicPr>
            <a:picLocks noChangeAspect="1"/>
          </p:cNvPicPr>
          <p:nvPr/>
        </p:nvPicPr>
        <p:blipFill>
          <a:blip r:embed="rId4"/>
          <a:stretch>
            <a:fillRect/>
          </a:stretch>
        </p:blipFill>
        <p:spPr>
          <a:xfrm>
            <a:off x="6920975" y="3693433"/>
            <a:ext cx="4782927" cy="2280643"/>
          </a:xfrm>
          <a:prstGeom prst="rect">
            <a:avLst/>
          </a:prstGeom>
          <a:ln>
            <a:solidFill>
              <a:schemeClr val="tx2"/>
            </a:solidFill>
          </a:ln>
          <a:effectLst>
            <a:outerShdw blurRad="63500" sx="102000" sy="102000" algn="ctr" rotWithShape="0">
              <a:prstClr val="black">
                <a:alpha val="40000"/>
              </a:prstClr>
            </a:outerShdw>
          </a:effectLst>
        </p:spPr>
      </p:pic>
      <p:sp>
        <p:nvSpPr>
          <p:cNvPr id="6" name="Title 1">
            <a:extLst>
              <a:ext uri="{FF2B5EF4-FFF2-40B4-BE49-F238E27FC236}">
                <a16:creationId xmlns:a16="http://schemas.microsoft.com/office/drawing/2014/main" id="{C0EB1643-B981-CD89-FADD-C6C3DD3EDB8B}"/>
              </a:ext>
            </a:extLst>
          </p:cNvPr>
          <p:cNvSpPr txBox="1">
            <a:spLocks/>
          </p:cNvSpPr>
          <p:nvPr/>
        </p:nvSpPr>
        <p:spPr>
          <a:xfrm>
            <a:off x="558801" y="392854"/>
            <a:ext cx="10871201" cy="451405"/>
          </a:xfrm>
          <a:prstGeom prst="rect">
            <a:avLst/>
          </a:prstGeom>
        </p:spPr>
        <p:txBody>
          <a:bodyPr/>
          <a:lst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a:lstStyle>
          <a:p>
            <a:pPr defTabSz="1219170">
              <a:lnSpc>
                <a:spcPct val="120000"/>
              </a:lnSpc>
            </a:pPr>
            <a:r>
              <a:rPr lang="en-US" sz="2133">
                <a:solidFill>
                  <a:srgbClr val="F2F1EE">
                    <a:lumMod val="10000"/>
                  </a:srgbClr>
                </a:solidFill>
                <a:ea typeface="Verdana" panose="020B0604030504040204" pitchFamily="34" charset="0"/>
              </a:rPr>
              <a:t>Territory and Quota Planning Application</a:t>
            </a:r>
            <a:endParaRPr lang="en-US" sz="2133">
              <a:solidFill>
                <a:srgbClr val="FFFFFF">
                  <a:lumMod val="50000"/>
                </a:srgbClr>
              </a:solidFill>
              <a:ea typeface="Verdana" panose="020B0604030504040204" pitchFamily="34" charset="0"/>
            </a:endParaRPr>
          </a:p>
        </p:txBody>
      </p:sp>
      <p:grpSp>
        <p:nvGrpSpPr>
          <p:cNvPr id="15" name="Group 14">
            <a:extLst>
              <a:ext uri="{FF2B5EF4-FFF2-40B4-BE49-F238E27FC236}">
                <a16:creationId xmlns:a16="http://schemas.microsoft.com/office/drawing/2014/main" id="{59778BAA-5F69-1709-8064-94A8706CD19D}"/>
              </a:ext>
            </a:extLst>
          </p:cNvPr>
          <p:cNvGrpSpPr>
            <a:grpSpLocks noChangeAspect="1"/>
          </p:cNvGrpSpPr>
          <p:nvPr/>
        </p:nvGrpSpPr>
        <p:grpSpPr>
          <a:xfrm>
            <a:off x="216614" y="6394170"/>
            <a:ext cx="336909" cy="284725"/>
            <a:chOff x="3287172" y="2477611"/>
            <a:chExt cx="512255" cy="432912"/>
          </a:xfrm>
        </p:grpSpPr>
        <p:grpSp>
          <p:nvGrpSpPr>
            <p:cNvPr id="16" name="Graphic 85">
              <a:extLst>
                <a:ext uri="{FF2B5EF4-FFF2-40B4-BE49-F238E27FC236}">
                  <a16:creationId xmlns:a16="http://schemas.microsoft.com/office/drawing/2014/main" id="{15FE022E-D82A-5110-0354-EA8A852FA50F}"/>
                </a:ext>
              </a:extLst>
            </p:cNvPr>
            <p:cNvGrpSpPr/>
            <p:nvPr/>
          </p:nvGrpSpPr>
          <p:grpSpPr>
            <a:xfrm>
              <a:off x="3287172" y="2477611"/>
              <a:ext cx="512255" cy="432912"/>
              <a:chOff x="3287172" y="2477611"/>
              <a:chExt cx="512255" cy="432912"/>
            </a:xfrm>
          </p:grpSpPr>
          <p:sp>
            <p:nvSpPr>
              <p:cNvPr id="18" name="Freeform 17">
                <a:extLst>
                  <a:ext uri="{FF2B5EF4-FFF2-40B4-BE49-F238E27FC236}">
                    <a16:creationId xmlns:a16="http://schemas.microsoft.com/office/drawing/2014/main" id="{869FD1EF-5110-3D59-1579-84BBD51341D2}"/>
                  </a:ext>
                </a:extLst>
              </p:cNvPr>
              <p:cNvSpPr/>
              <p:nvPr/>
            </p:nvSpPr>
            <p:spPr>
              <a:xfrm>
                <a:off x="3287172" y="2697830"/>
                <a:ext cx="256127" cy="212693"/>
              </a:xfrm>
              <a:custGeom>
                <a:avLst/>
                <a:gdLst>
                  <a:gd name="connsiteX0" fmla="*/ 161163 w 256127"/>
                  <a:gd name="connsiteY0" fmla="*/ 0 h 212693"/>
                  <a:gd name="connsiteX1" fmla="*/ 71914 w 256127"/>
                  <a:gd name="connsiteY1" fmla="*/ 39433 h 212693"/>
                  <a:gd name="connsiteX2" fmla="*/ 0 w 256127"/>
                  <a:gd name="connsiteY2" fmla="*/ 197929 h 212693"/>
                  <a:gd name="connsiteX3" fmla="*/ 128969 w 256127"/>
                  <a:gd name="connsiteY3" fmla="*/ 140779 h 212693"/>
                  <a:gd name="connsiteX4" fmla="*/ 256127 w 256127"/>
                  <a:gd name="connsiteY4" fmla="*/ 212693 h 212693"/>
                  <a:gd name="connsiteX5" fmla="*/ 256127 w 256127"/>
                  <a:gd name="connsiteY5" fmla="*/ 136112 h 21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127" h="212693">
                    <a:moveTo>
                      <a:pt x="161163" y="0"/>
                    </a:moveTo>
                    <a:lnTo>
                      <a:pt x="71914" y="39433"/>
                    </a:lnTo>
                    <a:lnTo>
                      <a:pt x="0" y="197929"/>
                    </a:lnTo>
                    <a:lnTo>
                      <a:pt x="128969" y="140779"/>
                    </a:lnTo>
                    <a:lnTo>
                      <a:pt x="256127" y="212693"/>
                    </a:lnTo>
                    <a:lnTo>
                      <a:pt x="256127" y="136112"/>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19" name="Freeform 18">
                <a:extLst>
                  <a:ext uri="{FF2B5EF4-FFF2-40B4-BE49-F238E27FC236}">
                    <a16:creationId xmlns:a16="http://schemas.microsoft.com/office/drawing/2014/main" id="{CC3176C7-9334-09B3-B855-E8ABFBD09888}"/>
                  </a:ext>
                </a:extLst>
              </p:cNvPr>
              <p:cNvSpPr/>
              <p:nvPr/>
            </p:nvSpPr>
            <p:spPr>
              <a:xfrm>
                <a:off x="3416141" y="2752027"/>
                <a:ext cx="33147" cy="86582"/>
              </a:xfrm>
              <a:custGeom>
                <a:avLst/>
                <a:gdLst>
                  <a:gd name="connsiteX0" fmla="*/ 33147 w 33147"/>
                  <a:gd name="connsiteY0" fmla="*/ 0 h 86582"/>
                  <a:gd name="connsiteX1" fmla="*/ 0 w 33147"/>
                  <a:gd name="connsiteY1" fmla="*/ 86582 h 86582"/>
                </a:gdLst>
                <a:ahLst/>
                <a:cxnLst>
                  <a:cxn ang="0">
                    <a:pos x="connsiteX0" y="connsiteY0"/>
                  </a:cxn>
                  <a:cxn ang="0">
                    <a:pos x="connsiteX1" y="connsiteY1"/>
                  </a:cxn>
                </a:cxnLst>
                <a:rect l="l" t="t" r="r" b="b"/>
                <a:pathLst>
                  <a:path w="33147" h="86582">
                    <a:moveTo>
                      <a:pt x="33147" y="0"/>
                    </a:moveTo>
                    <a:lnTo>
                      <a:pt x="0"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20" name="Freeform 19">
                <a:extLst>
                  <a:ext uri="{FF2B5EF4-FFF2-40B4-BE49-F238E27FC236}">
                    <a16:creationId xmlns:a16="http://schemas.microsoft.com/office/drawing/2014/main" id="{20E2D141-A757-1B16-64D0-87FF43250DA1}"/>
                  </a:ext>
                </a:extLst>
              </p:cNvPr>
              <p:cNvSpPr/>
              <p:nvPr/>
            </p:nvSpPr>
            <p:spPr>
              <a:xfrm>
                <a:off x="3543300" y="2696972"/>
                <a:ext cx="256127" cy="213550"/>
              </a:xfrm>
              <a:custGeom>
                <a:avLst/>
                <a:gdLst>
                  <a:gd name="connsiteX0" fmla="*/ 95441 w 256127"/>
                  <a:gd name="connsiteY0" fmla="*/ 0 h 213550"/>
                  <a:gd name="connsiteX1" fmla="*/ 184214 w 256127"/>
                  <a:gd name="connsiteY1" fmla="*/ 40291 h 213550"/>
                  <a:gd name="connsiteX2" fmla="*/ 256127 w 256127"/>
                  <a:gd name="connsiteY2" fmla="*/ 198787 h 213550"/>
                  <a:gd name="connsiteX3" fmla="*/ 127159 w 256127"/>
                  <a:gd name="connsiteY3" fmla="*/ 141637 h 213550"/>
                  <a:gd name="connsiteX4" fmla="*/ 0 w 256127"/>
                  <a:gd name="connsiteY4" fmla="*/ 213550 h 213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27" h="213550">
                    <a:moveTo>
                      <a:pt x="95441" y="0"/>
                    </a:moveTo>
                    <a:lnTo>
                      <a:pt x="184214" y="40291"/>
                    </a:lnTo>
                    <a:lnTo>
                      <a:pt x="256127" y="198787"/>
                    </a:lnTo>
                    <a:lnTo>
                      <a:pt x="127159" y="141637"/>
                    </a:lnTo>
                    <a:lnTo>
                      <a:pt x="0" y="213550"/>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21" name="Freeform 20">
                <a:extLst>
                  <a:ext uri="{FF2B5EF4-FFF2-40B4-BE49-F238E27FC236}">
                    <a16:creationId xmlns:a16="http://schemas.microsoft.com/office/drawing/2014/main" id="{CF0FBBB6-03B8-950E-1DC1-3327B6A3BFCF}"/>
                  </a:ext>
                </a:extLst>
              </p:cNvPr>
              <p:cNvSpPr/>
              <p:nvPr/>
            </p:nvSpPr>
            <p:spPr>
              <a:xfrm>
                <a:off x="3637216" y="2752027"/>
                <a:ext cx="33242" cy="86582"/>
              </a:xfrm>
              <a:custGeom>
                <a:avLst/>
                <a:gdLst>
                  <a:gd name="connsiteX0" fmla="*/ 0 w 33242"/>
                  <a:gd name="connsiteY0" fmla="*/ 0 h 86582"/>
                  <a:gd name="connsiteX1" fmla="*/ 33242 w 33242"/>
                  <a:gd name="connsiteY1" fmla="*/ 86582 h 86582"/>
                </a:gdLst>
                <a:ahLst/>
                <a:cxnLst>
                  <a:cxn ang="0">
                    <a:pos x="connsiteX0" y="connsiteY0"/>
                  </a:cxn>
                  <a:cxn ang="0">
                    <a:pos x="connsiteX1" y="connsiteY1"/>
                  </a:cxn>
                </a:cxnLst>
                <a:rect l="l" t="t" r="r" b="b"/>
                <a:pathLst>
                  <a:path w="33242" h="86582">
                    <a:moveTo>
                      <a:pt x="0" y="0"/>
                    </a:moveTo>
                    <a:lnTo>
                      <a:pt x="33242"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22" name="Freeform 21">
                <a:extLst>
                  <a:ext uri="{FF2B5EF4-FFF2-40B4-BE49-F238E27FC236}">
                    <a16:creationId xmlns:a16="http://schemas.microsoft.com/office/drawing/2014/main" id="{A93114F8-6947-F7FC-8E81-2B25846A722B}"/>
                  </a:ext>
                </a:extLst>
              </p:cNvPr>
              <p:cNvSpPr/>
              <p:nvPr/>
            </p:nvSpPr>
            <p:spPr>
              <a:xfrm>
                <a:off x="3444335" y="2477611"/>
                <a:ext cx="197738" cy="319944"/>
              </a:xfrm>
              <a:custGeom>
                <a:avLst/>
                <a:gdLst>
                  <a:gd name="connsiteX0" fmla="*/ 197739 w 197738"/>
                  <a:gd name="connsiteY0" fmla="*/ 98870 h 319944"/>
                  <a:gd name="connsiteX1" fmla="*/ 98965 w 197738"/>
                  <a:gd name="connsiteY1" fmla="*/ 319945 h 319944"/>
                  <a:gd name="connsiteX2" fmla="*/ 0 w 197738"/>
                  <a:gd name="connsiteY2" fmla="*/ 98870 h 319944"/>
                  <a:gd name="connsiteX3" fmla="*/ 98870 w 197738"/>
                  <a:gd name="connsiteY3" fmla="*/ 0 h 319944"/>
                  <a:gd name="connsiteX4" fmla="*/ 197739 w 197738"/>
                  <a:gd name="connsiteY4" fmla="*/ 98870 h 3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38" h="319944">
                    <a:moveTo>
                      <a:pt x="197739" y="98870"/>
                    </a:moveTo>
                    <a:cubicBezTo>
                      <a:pt x="197739" y="153448"/>
                      <a:pt x="98965" y="319945"/>
                      <a:pt x="98965" y="319945"/>
                    </a:cubicBezTo>
                    <a:cubicBezTo>
                      <a:pt x="98965" y="319945"/>
                      <a:pt x="0" y="153448"/>
                      <a:pt x="0" y="98870"/>
                    </a:cubicBezTo>
                    <a:cubicBezTo>
                      <a:pt x="0" y="44266"/>
                      <a:pt x="44266" y="0"/>
                      <a:pt x="98870" y="0"/>
                    </a:cubicBezTo>
                    <a:cubicBezTo>
                      <a:pt x="153473" y="0"/>
                      <a:pt x="197739" y="44266"/>
                      <a:pt x="197739" y="98870"/>
                    </a:cubicBezTo>
                    <a:close/>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grpSp>
        <p:sp>
          <p:nvSpPr>
            <p:cNvPr id="17" name="Freeform 16">
              <a:extLst>
                <a:ext uri="{FF2B5EF4-FFF2-40B4-BE49-F238E27FC236}">
                  <a16:creationId xmlns:a16="http://schemas.microsoft.com/office/drawing/2014/main" id="{0BEDF685-EEF0-6254-A10B-0C7AB074DD7B}"/>
                </a:ext>
              </a:extLst>
            </p:cNvPr>
            <p:cNvSpPr>
              <a:spLocks noChangeAspect="1"/>
            </p:cNvSpPr>
            <p:nvPr/>
          </p:nvSpPr>
          <p:spPr>
            <a:xfrm>
              <a:off x="3488383" y="2520843"/>
              <a:ext cx="117549" cy="101814"/>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FF6100"/>
            </a:solidFill>
            <a:ln w="13066" cap="flat">
              <a:noFill/>
              <a:prstDash val="solid"/>
              <a:miter/>
            </a:ln>
          </p:spPr>
          <p:txBody>
            <a:bodyPr rtlCol="0" anchor="ctr"/>
            <a:lstStyle/>
            <a:p>
              <a:pPr defTabSz="1219110">
                <a:defRPr/>
              </a:pPr>
              <a:endParaRPr lang="en-US" sz="1133" b="1" kern="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grpSp>
      <p:cxnSp>
        <p:nvCxnSpPr>
          <p:cNvPr id="11" name="Straight Connector 10">
            <a:extLst>
              <a:ext uri="{FF2B5EF4-FFF2-40B4-BE49-F238E27FC236}">
                <a16:creationId xmlns:a16="http://schemas.microsoft.com/office/drawing/2014/main" id="{97898D32-1DC8-9BAA-72D8-23B96C45E48D}"/>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31E7F55-CD2E-6E52-DAA2-C31BB00D87B6}"/>
              </a:ext>
            </a:extLst>
          </p:cNvPr>
          <p:cNvSpPr txBox="1"/>
          <p:nvPr/>
        </p:nvSpPr>
        <p:spPr>
          <a:xfrm>
            <a:off x="640080" y="1417320"/>
            <a:ext cx="4389120" cy="359009"/>
          </a:xfrm>
          <a:prstGeom prst="rect">
            <a:avLst/>
          </a:prstGeom>
          <a:noFill/>
        </p:spPr>
        <p:txBody>
          <a:bodyPr wrap="square" lIns="0" rtlCol="0">
            <a:spAutoFit/>
          </a:bodyPr>
          <a:lstStyle/>
          <a:p>
            <a:pPr algn="ctr" defTabSz="1219170"/>
            <a:r>
              <a:rPr lang="en-US" sz="1733">
                <a:solidFill>
                  <a:srgbClr val="F2F1EE"/>
                </a:solidFill>
                <a:latin typeface="Arial" panose="020B0604020202020204"/>
              </a:rPr>
              <a:t>Simple Rep-to-Territory Assignment</a:t>
            </a:r>
          </a:p>
        </p:txBody>
      </p:sp>
    </p:spTree>
    <p:extLst>
      <p:ext uri="{BB962C8B-B14F-4D97-AF65-F5344CB8AC3E}">
        <p14:creationId xmlns:p14="http://schemas.microsoft.com/office/powerpoint/2010/main" val="3788281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9110E-EF34-0B31-BF39-DA9FB1943736}"/>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4372834-1816-B8BE-A073-D51188962318}"/>
              </a:ext>
            </a:extLst>
          </p:cNvPr>
          <p:cNvSpPr/>
          <p:nvPr/>
        </p:nvSpPr>
        <p:spPr>
          <a:xfrm>
            <a:off x="558799" y="1221889"/>
            <a:ext cx="4587508" cy="5029200"/>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9" name="TextBox 8">
            <a:extLst>
              <a:ext uri="{FF2B5EF4-FFF2-40B4-BE49-F238E27FC236}">
                <a16:creationId xmlns:a16="http://schemas.microsoft.com/office/drawing/2014/main" id="{7D9B032A-A0FD-CD2A-4F84-4D57C1F788DB}"/>
              </a:ext>
            </a:extLst>
          </p:cNvPr>
          <p:cNvSpPr txBox="1"/>
          <p:nvPr/>
        </p:nvSpPr>
        <p:spPr>
          <a:xfrm>
            <a:off x="718126" y="2003192"/>
            <a:ext cx="4389120" cy="4207114"/>
          </a:xfrm>
          <a:prstGeom prst="rect">
            <a:avLst/>
          </a:prstGeom>
          <a:noFill/>
        </p:spPr>
        <p:txBody>
          <a:bodyPr wrap="square">
            <a:spAutoFit/>
          </a:bodyPr>
          <a:lstStyle>
            <a:defPPr>
              <a:defRPr lang="en-US"/>
            </a:defPPr>
            <a:lvl1pPr marR="0" lvl="0" indent="0" fontAlgn="auto">
              <a:lnSpc>
                <a:spcPct val="100000"/>
              </a:lnSpc>
              <a:spcBef>
                <a:spcPts val="0"/>
              </a:spcBef>
              <a:spcAft>
                <a:spcPts val="800"/>
              </a:spcAft>
              <a:buClrTx/>
              <a:buSzTx/>
              <a:buFontTx/>
              <a:buNone/>
              <a:tabLst/>
              <a:defRPr kumimoji="0" sz="1600" b="1" i="0" u="none" strike="noStrike" cap="none" spc="0" normalizeH="0" baseline="0">
                <a:ln>
                  <a:noFill/>
                </a:ln>
                <a:solidFill>
                  <a:srgbClr val="0A2F46">
                    <a:lumMod val="50000"/>
                  </a:srgbClr>
                </a:solidFill>
                <a:effectLst/>
                <a:uLnTx/>
                <a:uFillTx/>
                <a:latin typeface="Arial" panose="020B0604020202020204" pitchFamily="34" charset="0"/>
                <a:ea typeface="Verdana" charset="0"/>
                <a:cs typeface="Arial" panose="020B0604020202020204" pitchFamily="34" charset="0"/>
              </a:defRPr>
            </a:lvl1pPr>
          </a:lstStyle>
          <a:p>
            <a:pPr marL="380990" indent="-380990" defTabSz="1219170">
              <a:spcBef>
                <a:spcPts val="800"/>
              </a:spcBef>
              <a:spcAft>
                <a:spcPts val="0"/>
              </a:spcAft>
              <a:buFont typeface="Wingdings" pitchFamily="2" charset="2"/>
              <a:buChar char="ü"/>
            </a:pPr>
            <a:r>
              <a:rPr lang="en-US" sz="1467" b="0">
                <a:solidFill>
                  <a:srgbClr val="F2F1EE"/>
                </a:solidFill>
              </a:rPr>
              <a:t>Assign quotas for direct </a:t>
            </a:r>
            <a:r>
              <a:rPr lang="en-US" sz="1467">
                <a:solidFill>
                  <a:srgbClr val="F2F1EE"/>
                </a:solidFill>
              </a:rPr>
              <a:t>sellers</a:t>
            </a:r>
            <a:r>
              <a:rPr lang="en-US" sz="1467" b="0">
                <a:solidFill>
                  <a:srgbClr val="F2F1EE"/>
                </a:solidFill>
              </a:rPr>
              <a:t> and </a:t>
            </a:r>
            <a:r>
              <a:rPr lang="en-US" sz="1467">
                <a:solidFill>
                  <a:srgbClr val="F2F1EE"/>
                </a:solidFill>
              </a:rPr>
              <a:t>overlays </a:t>
            </a:r>
            <a:r>
              <a:rPr lang="en-US" sz="1467" b="0">
                <a:solidFill>
                  <a:srgbClr val="F2F1EE"/>
                </a:solidFill>
              </a:rPr>
              <a:t>roles </a:t>
            </a:r>
            <a:endParaRPr lang="en-US" sz="1467">
              <a:solidFill>
                <a:srgbClr val="F2F1EE"/>
              </a:solidFill>
            </a:endParaRPr>
          </a:p>
          <a:p>
            <a:pPr marL="380990" indent="-380990" defTabSz="1219170">
              <a:spcBef>
                <a:spcPts val="800"/>
              </a:spcBef>
              <a:spcAft>
                <a:spcPts val="0"/>
              </a:spcAft>
              <a:buFont typeface="Wingdings" pitchFamily="2" charset="2"/>
              <a:buChar char="ü"/>
            </a:pPr>
            <a:r>
              <a:rPr lang="en-US" sz="1467" b="0">
                <a:solidFill>
                  <a:srgbClr val="F2F1EE"/>
                </a:solidFill>
              </a:rPr>
              <a:t>Apply </a:t>
            </a:r>
            <a:r>
              <a:rPr lang="en-US" sz="1467">
                <a:solidFill>
                  <a:srgbClr val="F2F1EE"/>
                </a:solidFill>
              </a:rPr>
              <a:t>ramping</a:t>
            </a:r>
            <a:r>
              <a:rPr lang="en-US" sz="1467" b="0">
                <a:solidFill>
                  <a:srgbClr val="F2F1EE"/>
                </a:solidFill>
              </a:rPr>
              <a:t> and </a:t>
            </a:r>
            <a:r>
              <a:rPr lang="en-US" sz="1467">
                <a:solidFill>
                  <a:srgbClr val="F2F1EE"/>
                </a:solidFill>
              </a:rPr>
              <a:t>seasonality</a:t>
            </a:r>
            <a:r>
              <a:rPr lang="en-US" sz="1467" b="0">
                <a:solidFill>
                  <a:srgbClr val="F2F1EE"/>
                </a:solidFill>
              </a:rPr>
              <a:t> to rep quota expectations</a:t>
            </a:r>
          </a:p>
          <a:p>
            <a:pPr marL="380990" indent="-380990" defTabSz="1219170">
              <a:spcBef>
                <a:spcPts val="800"/>
              </a:spcBef>
              <a:spcAft>
                <a:spcPts val="0"/>
              </a:spcAft>
              <a:buFont typeface="Wingdings" pitchFamily="2" charset="2"/>
              <a:buChar char="ü"/>
            </a:pPr>
            <a:r>
              <a:rPr lang="en-US" sz="1467" b="0">
                <a:solidFill>
                  <a:srgbClr val="F2F1EE"/>
                </a:solidFill>
              </a:rPr>
              <a:t>Set </a:t>
            </a:r>
            <a:r>
              <a:rPr lang="en-US" sz="1467">
                <a:solidFill>
                  <a:srgbClr val="F2F1EE"/>
                </a:solidFill>
              </a:rPr>
              <a:t>role-specific targets </a:t>
            </a:r>
            <a:r>
              <a:rPr lang="en-US" sz="1467" b="0">
                <a:solidFill>
                  <a:srgbClr val="F2F1EE"/>
                </a:solidFill>
              </a:rPr>
              <a:t>across your sales org </a:t>
            </a:r>
            <a:endParaRPr lang="en-US" sz="1467">
              <a:solidFill>
                <a:srgbClr val="F2F1EE"/>
              </a:solidFill>
            </a:endParaRPr>
          </a:p>
          <a:p>
            <a:pPr marL="380990" indent="-380990" defTabSz="1219170" fontAlgn="base">
              <a:spcBef>
                <a:spcPts val="800"/>
              </a:spcBef>
              <a:spcAft>
                <a:spcPts val="0"/>
              </a:spcAft>
              <a:buFont typeface="Wingdings" pitchFamily="2" charset="2"/>
              <a:buChar char="ü"/>
            </a:pPr>
            <a:r>
              <a:rPr lang="en-US" sz="1467" b="0">
                <a:solidFill>
                  <a:srgbClr val="F2F1EE"/>
                </a:solidFill>
              </a:rPr>
              <a:t>Calculate quotas across </a:t>
            </a:r>
            <a:r>
              <a:rPr lang="en-US" sz="1467">
                <a:solidFill>
                  <a:srgbClr val="F2F1EE"/>
                </a:solidFill>
              </a:rPr>
              <a:t>configurable dimensions </a:t>
            </a:r>
            <a:r>
              <a:rPr lang="en-US" sz="1467" b="0">
                <a:solidFill>
                  <a:srgbClr val="F2F1EE"/>
                </a:solidFill>
              </a:rPr>
              <a:t>(e.g., hierarchy, role, product)​</a:t>
            </a:r>
          </a:p>
          <a:p>
            <a:pPr marL="380990" indent="-380990" defTabSz="1219170" fontAlgn="base">
              <a:lnSpc>
                <a:spcPts val="3300"/>
              </a:lnSpc>
              <a:spcBef>
                <a:spcPts val="800"/>
              </a:spcBef>
              <a:spcAft>
                <a:spcPts val="0"/>
              </a:spcAft>
              <a:buFont typeface="Wingdings" pitchFamily="2" charset="2"/>
              <a:buChar char="ü"/>
            </a:pPr>
            <a:r>
              <a:rPr lang="en-US" sz="1467">
                <a:solidFill>
                  <a:srgbClr val="F2F1EE"/>
                </a:solidFill>
              </a:rPr>
              <a:t>Review, approve, and export </a:t>
            </a:r>
            <a:r>
              <a:rPr lang="en-US" sz="1467" b="0">
                <a:solidFill>
                  <a:srgbClr val="F2F1EE"/>
                </a:solidFill>
              </a:rPr>
              <a:t>final quotas</a:t>
            </a:r>
          </a:p>
          <a:p>
            <a:pPr marL="380990" indent="-380990" defTabSz="1219170" fontAlgn="base">
              <a:spcBef>
                <a:spcPts val="800"/>
              </a:spcBef>
              <a:spcAft>
                <a:spcPts val="1067"/>
              </a:spcAft>
              <a:buFont typeface="Wingdings" pitchFamily="2" charset="2"/>
              <a:buChar char="ü"/>
            </a:pPr>
            <a:r>
              <a:rPr lang="en-US" sz="1467" b="0">
                <a:solidFill>
                  <a:srgbClr val="F2F1EE"/>
                </a:solidFill>
              </a:rPr>
              <a:t>Analyze </a:t>
            </a:r>
            <a:r>
              <a:rPr lang="en-US" sz="1467">
                <a:solidFill>
                  <a:srgbClr val="F2F1EE"/>
                </a:solidFill>
              </a:rPr>
              <a:t>top-down</a:t>
            </a:r>
            <a:r>
              <a:rPr lang="en-US" sz="1467" b="0">
                <a:solidFill>
                  <a:srgbClr val="F2F1EE"/>
                </a:solidFill>
              </a:rPr>
              <a:t> vs. </a:t>
            </a:r>
            <a:r>
              <a:rPr lang="en-US" sz="1467">
                <a:solidFill>
                  <a:srgbClr val="F2F1EE"/>
                </a:solidFill>
              </a:rPr>
              <a:t>bottom-up</a:t>
            </a:r>
            <a:r>
              <a:rPr lang="en-US" sz="1467" b="0">
                <a:solidFill>
                  <a:srgbClr val="F2F1EE"/>
                </a:solidFill>
              </a:rPr>
              <a:t> quota allocation, managing the planning year vs. current year in the same application.</a:t>
            </a:r>
          </a:p>
          <a:p>
            <a:pPr marL="380990" indent="-380990" defTabSz="1219170" fontAlgn="base">
              <a:spcBef>
                <a:spcPts val="800"/>
              </a:spcBef>
              <a:spcAft>
                <a:spcPts val="1067"/>
              </a:spcAft>
              <a:buFont typeface="Wingdings" pitchFamily="2" charset="2"/>
              <a:buChar char="ü"/>
            </a:pPr>
            <a:r>
              <a:rPr lang="en-US" sz="1467" b="0">
                <a:solidFill>
                  <a:srgbClr val="F2F1EE"/>
                </a:solidFill>
              </a:rPr>
              <a:t>Leverage the new forecasting application data for quota calculations and goal setting.</a:t>
            </a:r>
          </a:p>
        </p:txBody>
      </p:sp>
      <p:pic>
        <p:nvPicPr>
          <p:cNvPr id="2" name="Picture 1">
            <a:extLst>
              <a:ext uri="{FF2B5EF4-FFF2-40B4-BE49-F238E27FC236}">
                <a16:creationId xmlns:a16="http://schemas.microsoft.com/office/drawing/2014/main" id="{880B75AD-9F1A-CE85-4101-228A1874C1CE}"/>
              </a:ext>
            </a:extLst>
          </p:cNvPr>
          <p:cNvPicPr>
            <a:picLocks noChangeAspect="1"/>
          </p:cNvPicPr>
          <p:nvPr/>
        </p:nvPicPr>
        <p:blipFill>
          <a:blip r:embed="rId3"/>
          <a:stretch>
            <a:fillRect/>
          </a:stretch>
        </p:blipFill>
        <p:spPr>
          <a:xfrm>
            <a:off x="5994400" y="1807679"/>
            <a:ext cx="5892256" cy="3689940"/>
          </a:xfrm>
          <a:prstGeom prst="rect">
            <a:avLst/>
          </a:prstGeom>
          <a:ln>
            <a:solidFill>
              <a:schemeClr val="tx2"/>
            </a:solidFill>
          </a:ln>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A994BAF4-B1C2-015D-D34D-810BC00F6031}"/>
              </a:ext>
            </a:extLst>
          </p:cNvPr>
          <p:cNvSpPr txBox="1">
            <a:spLocks/>
          </p:cNvSpPr>
          <p:nvPr/>
        </p:nvSpPr>
        <p:spPr>
          <a:xfrm>
            <a:off x="558801" y="392854"/>
            <a:ext cx="10871201" cy="451405"/>
          </a:xfrm>
          <a:prstGeom prst="rect">
            <a:avLst/>
          </a:prstGeom>
        </p:spPr>
        <p:txBody>
          <a:bodyPr/>
          <a:lst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a:lstStyle>
          <a:p>
            <a:pPr defTabSz="1219170">
              <a:lnSpc>
                <a:spcPct val="120000"/>
              </a:lnSpc>
            </a:pPr>
            <a:r>
              <a:rPr lang="en-US" sz="2133">
                <a:solidFill>
                  <a:srgbClr val="F2F1EE">
                    <a:lumMod val="10000"/>
                  </a:srgbClr>
                </a:solidFill>
                <a:ea typeface="Verdana" panose="020B0604030504040204" pitchFamily="34" charset="0"/>
              </a:rPr>
              <a:t>Territory and Quota Planning Application</a:t>
            </a:r>
            <a:endParaRPr lang="en-US" sz="2133">
              <a:solidFill>
                <a:srgbClr val="FFFFFF">
                  <a:lumMod val="50000"/>
                </a:srgbClr>
              </a:solidFill>
              <a:ea typeface="Verdana" panose="020B0604030504040204" pitchFamily="34" charset="0"/>
            </a:endParaRPr>
          </a:p>
        </p:txBody>
      </p:sp>
      <p:grpSp>
        <p:nvGrpSpPr>
          <p:cNvPr id="14" name="Group 13">
            <a:extLst>
              <a:ext uri="{FF2B5EF4-FFF2-40B4-BE49-F238E27FC236}">
                <a16:creationId xmlns:a16="http://schemas.microsoft.com/office/drawing/2014/main" id="{86154A6C-CADB-D388-B167-C7B5563A9710}"/>
              </a:ext>
            </a:extLst>
          </p:cNvPr>
          <p:cNvGrpSpPr>
            <a:grpSpLocks noChangeAspect="1"/>
          </p:cNvGrpSpPr>
          <p:nvPr/>
        </p:nvGrpSpPr>
        <p:grpSpPr>
          <a:xfrm>
            <a:off x="216614" y="6394170"/>
            <a:ext cx="336909" cy="284725"/>
            <a:chOff x="3287172" y="2477611"/>
            <a:chExt cx="512255" cy="432912"/>
          </a:xfrm>
        </p:grpSpPr>
        <p:grpSp>
          <p:nvGrpSpPr>
            <p:cNvPr id="15" name="Graphic 85">
              <a:extLst>
                <a:ext uri="{FF2B5EF4-FFF2-40B4-BE49-F238E27FC236}">
                  <a16:creationId xmlns:a16="http://schemas.microsoft.com/office/drawing/2014/main" id="{A2423496-99C0-F17B-AF1C-2B831EA723A5}"/>
                </a:ext>
              </a:extLst>
            </p:cNvPr>
            <p:cNvGrpSpPr/>
            <p:nvPr/>
          </p:nvGrpSpPr>
          <p:grpSpPr>
            <a:xfrm>
              <a:off x="3287172" y="2477611"/>
              <a:ext cx="512255" cy="432912"/>
              <a:chOff x="3287172" y="2477611"/>
              <a:chExt cx="512255" cy="432912"/>
            </a:xfrm>
          </p:grpSpPr>
          <p:sp>
            <p:nvSpPr>
              <p:cNvPr id="17" name="Freeform 16">
                <a:extLst>
                  <a:ext uri="{FF2B5EF4-FFF2-40B4-BE49-F238E27FC236}">
                    <a16:creationId xmlns:a16="http://schemas.microsoft.com/office/drawing/2014/main" id="{5BBD0AF9-CBF3-6D9C-1D1A-96D61013B49B}"/>
                  </a:ext>
                </a:extLst>
              </p:cNvPr>
              <p:cNvSpPr/>
              <p:nvPr/>
            </p:nvSpPr>
            <p:spPr>
              <a:xfrm>
                <a:off x="3287172" y="2697830"/>
                <a:ext cx="256127" cy="212693"/>
              </a:xfrm>
              <a:custGeom>
                <a:avLst/>
                <a:gdLst>
                  <a:gd name="connsiteX0" fmla="*/ 161163 w 256127"/>
                  <a:gd name="connsiteY0" fmla="*/ 0 h 212693"/>
                  <a:gd name="connsiteX1" fmla="*/ 71914 w 256127"/>
                  <a:gd name="connsiteY1" fmla="*/ 39433 h 212693"/>
                  <a:gd name="connsiteX2" fmla="*/ 0 w 256127"/>
                  <a:gd name="connsiteY2" fmla="*/ 197929 h 212693"/>
                  <a:gd name="connsiteX3" fmla="*/ 128969 w 256127"/>
                  <a:gd name="connsiteY3" fmla="*/ 140779 h 212693"/>
                  <a:gd name="connsiteX4" fmla="*/ 256127 w 256127"/>
                  <a:gd name="connsiteY4" fmla="*/ 212693 h 212693"/>
                  <a:gd name="connsiteX5" fmla="*/ 256127 w 256127"/>
                  <a:gd name="connsiteY5" fmla="*/ 136112 h 21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127" h="212693">
                    <a:moveTo>
                      <a:pt x="161163" y="0"/>
                    </a:moveTo>
                    <a:lnTo>
                      <a:pt x="71914" y="39433"/>
                    </a:lnTo>
                    <a:lnTo>
                      <a:pt x="0" y="197929"/>
                    </a:lnTo>
                    <a:lnTo>
                      <a:pt x="128969" y="140779"/>
                    </a:lnTo>
                    <a:lnTo>
                      <a:pt x="256127" y="212693"/>
                    </a:lnTo>
                    <a:lnTo>
                      <a:pt x="256127" y="136112"/>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18" name="Freeform 17">
                <a:extLst>
                  <a:ext uri="{FF2B5EF4-FFF2-40B4-BE49-F238E27FC236}">
                    <a16:creationId xmlns:a16="http://schemas.microsoft.com/office/drawing/2014/main" id="{275BF88B-BA89-C543-8E6E-D305EA03B91F}"/>
                  </a:ext>
                </a:extLst>
              </p:cNvPr>
              <p:cNvSpPr/>
              <p:nvPr/>
            </p:nvSpPr>
            <p:spPr>
              <a:xfrm>
                <a:off x="3416141" y="2752027"/>
                <a:ext cx="33147" cy="86582"/>
              </a:xfrm>
              <a:custGeom>
                <a:avLst/>
                <a:gdLst>
                  <a:gd name="connsiteX0" fmla="*/ 33147 w 33147"/>
                  <a:gd name="connsiteY0" fmla="*/ 0 h 86582"/>
                  <a:gd name="connsiteX1" fmla="*/ 0 w 33147"/>
                  <a:gd name="connsiteY1" fmla="*/ 86582 h 86582"/>
                </a:gdLst>
                <a:ahLst/>
                <a:cxnLst>
                  <a:cxn ang="0">
                    <a:pos x="connsiteX0" y="connsiteY0"/>
                  </a:cxn>
                  <a:cxn ang="0">
                    <a:pos x="connsiteX1" y="connsiteY1"/>
                  </a:cxn>
                </a:cxnLst>
                <a:rect l="l" t="t" r="r" b="b"/>
                <a:pathLst>
                  <a:path w="33147" h="86582">
                    <a:moveTo>
                      <a:pt x="33147" y="0"/>
                    </a:moveTo>
                    <a:lnTo>
                      <a:pt x="0"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19" name="Freeform 18">
                <a:extLst>
                  <a:ext uri="{FF2B5EF4-FFF2-40B4-BE49-F238E27FC236}">
                    <a16:creationId xmlns:a16="http://schemas.microsoft.com/office/drawing/2014/main" id="{897CAC4A-DD72-7E44-E403-108F61207970}"/>
                  </a:ext>
                </a:extLst>
              </p:cNvPr>
              <p:cNvSpPr/>
              <p:nvPr/>
            </p:nvSpPr>
            <p:spPr>
              <a:xfrm>
                <a:off x="3543300" y="2696972"/>
                <a:ext cx="256127" cy="213550"/>
              </a:xfrm>
              <a:custGeom>
                <a:avLst/>
                <a:gdLst>
                  <a:gd name="connsiteX0" fmla="*/ 95441 w 256127"/>
                  <a:gd name="connsiteY0" fmla="*/ 0 h 213550"/>
                  <a:gd name="connsiteX1" fmla="*/ 184214 w 256127"/>
                  <a:gd name="connsiteY1" fmla="*/ 40291 h 213550"/>
                  <a:gd name="connsiteX2" fmla="*/ 256127 w 256127"/>
                  <a:gd name="connsiteY2" fmla="*/ 198787 h 213550"/>
                  <a:gd name="connsiteX3" fmla="*/ 127159 w 256127"/>
                  <a:gd name="connsiteY3" fmla="*/ 141637 h 213550"/>
                  <a:gd name="connsiteX4" fmla="*/ 0 w 256127"/>
                  <a:gd name="connsiteY4" fmla="*/ 213550 h 213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27" h="213550">
                    <a:moveTo>
                      <a:pt x="95441" y="0"/>
                    </a:moveTo>
                    <a:lnTo>
                      <a:pt x="184214" y="40291"/>
                    </a:lnTo>
                    <a:lnTo>
                      <a:pt x="256127" y="198787"/>
                    </a:lnTo>
                    <a:lnTo>
                      <a:pt x="127159" y="141637"/>
                    </a:lnTo>
                    <a:lnTo>
                      <a:pt x="0" y="213550"/>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20" name="Freeform 19">
                <a:extLst>
                  <a:ext uri="{FF2B5EF4-FFF2-40B4-BE49-F238E27FC236}">
                    <a16:creationId xmlns:a16="http://schemas.microsoft.com/office/drawing/2014/main" id="{3A95AFC1-F846-564F-1C4F-C3E1912CD55B}"/>
                  </a:ext>
                </a:extLst>
              </p:cNvPr>
              <p:cNvSpPr/>
              <p:nvPr/>
            </p:nvSpPr>
            <p:spPr>
              <a:xfrm>
                <a:off x="3637216" y="2752027"/>
                <a:ext cx="33242" cy="86582"/>
              </a:xfrm>
              <a:custGeom>
                <a:avLst/>
                <a:gdLst>
                  <a:gd name="connsiteX0" fmla="*/ 0 w 33242"/>
                  <a:gd name="connsiteY0" fmla="*/ 0 h 86582"/>
                  <a:gd name="connsiteX1" fmla="*/ 33242 w 33242"/>
                  <a:gd name="connsiteY1" fmla="*/ 86582 h 86582"/>
                </a:gdLst>
                <a:ahLst/>
                <a:cxnLst>
                  <a:cxn ang="0">
                    <a:pos x="connsiteX0" y="connsiteY0"/>
                  </a:cxn>
                  <a:cxn ang="0">
                    <a:pos x="connsiteX1" y="connsiteY1"/>
                  </a:cxn>
                </a:cxnLst>
                <a:rect l="l" t="t" r="r" b="b"/>
                <a:pathLst>
                  <a:path w="33242" h="86582">
                    <a:moveTo>
                      <a:pt x="0" y="0"/>
                    </a:moveTo>
                    <a:lnTo>
                      <a:pt x="33242"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21" name="Freeform 20">
                <a:extLst>
                  <a:ext uri="{FF2B5EF4-FFF2-40B4-BE49-F238E27FC236}">
                    <a16:creationId xmlns:a16="http://schemas.microsoft.com/office/drawing/2014/main" id="{E5C567A4-27E1-FA42-494C-FBF73C255654}"/>
                  </a:ext>
                </a:extLst>
              </p:cNvPr>
              <p:cNvSpPr/>
              <p:nvPr/>
            </p:nvSpPr>
            <p:spPr>
              <a:xfrm>
                <a:off x="3444335" y="2477611"/>
                <a:ext cx="197738" cy="319944"/>
              </a:xfrm>
              <a:custGeom>
                <a:avLst/>
                <a:gdLst>
                  <a:gd name="connsiteX0" fmla="*/ 197739 w 197738"/>
                  <a:gd name="connsiteY0" fmla="*/ 98870 h 319944"/>
                  <a:gd name="connsiteX1" fmla="*/ 98965 w 197738"/>
                  <a:gd name="connsiteY1" fmla="*/ 319945 h 319944"/>
                  <a:gd name="connsiteX2" fmla="*/ 0 w 197738"/>
                  <a:gd name="connsiteY2" fmla="*/ 98870 h 319944"/>
                  <a:gd name="connsiteX3" fmla="*/ 98870 w 197738"/>
                  <a:gd name="connsiteY3" fmla="*/ 0 h 319944"/>
                  <a:gd name="connsiteX4" fmla="*/ 197739 w 197738"/>
                  <a:gd name="connsiteY4" fmla="*/ 98870 h 3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38" h="319944">
                    <a:moveTo>
                      <a:pt x="197739" y="98870"/>
                    </a:moveTo>
                    <a:cubicBezTo>
                      <a:pt x="197739" y="153448"/>
                      <a:pt x="98965" y="319945"/>
                      <a:pt x="98965" y="319945"/>
                    </a:cubicBezTo>
                    <a:cubicBezTo>
                      <a:pt x="98965" y="319945"/>
                      <a:pt x="0" y="153448"/>
                      <a:pt x="0" y="98870"/>
                    </a:cubicBezTo>
                    <a:cubicBezTo>
                      <a:pt x="0" y="44266"/>
                      <a:pt x="44266" y="0"/>
                      <a:pt x="98870" y="0"/>
                    </a:cubicBezTo>
                    <a:cubicBezTo>
                      <a:pt x="153473" y="0"/>
                      <a:pt x="197739" y="44266"/>
                      <a:pt x="197739" y="98870"/>
                    </a:cubicBezTo>
                    <a:close/>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grpSp>
        <p:sp>
          <p:nvSpPr>
            <p:cNvPr id="16" name="Freeform 15">
              <a:extLst>
                <a:ext uri="{FF2B5EF4-FFF2-40B4-BE49-F238E27FC236}">
                  <a16:creationId xmlns:a16="http://schemas.microsoft.com/office/drawing/2014/main" id="{2C3BF288-16ED-FD12-A6A0-90E70E3ACB29}"/>
                </a:ext>
              </a:extLst>
            </p:cNvPr>
            <p:cNvSpPr>
              <a:spLocks noChangeAspect="1"/>
            </p:cNvSpPr>
            <p:nvPr/>
          </p:nvSpPr>
          <p:spPr>
            <a:xfrm>
              <a:off x="3488383" y="2520843"/>
              <a:ext cx="117549" cy="101814"/>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FF6100"/>
            </a:solidFill>
            <a:ln w="13066" cap="flat">
              <a:noFill/>
              <a:prstDash val="solid"/>
              <a:miter/>
            </a:ln>
          </p:spPr>
          <p:txBody>
            <a:bodyPr rtlCol="0" anchor="ctr"/>
            <a:lstStyle/>
            <a:p>
              <a:pPr defTabSz="1219110">
                <a:defRPr/>
              </a:pPr>
              <a:endParaRPr lang="en-US" sz="1133" b="1" kern="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grpSp>
      <p:cxnSp>
        <p:nvCxnSpPr>
          <p:cNvPr id="8" name="Straight Connector 7">
            <a:extLst>
              <a:ext uri="{FF2B5EF4-FFF2-40B4-BE49-F238E27FC236}">
                <a16:creationId xmlns:a16="http://schemas.microsoft.com/office/drawing/2014/main" id="{E7F9AC41-075E-326B-55AA-8635E016B3FC}"/>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0DCC708-CED1-9C9E-063E-A0FE5C5F29B2}"/>
              </a:ext>
            </a:extLst>
          </p:cNvPr>
          <p:cNvSpPr txBox="1"/>
          <p:nvPr/>
        </p:nvSpPr>
        <p:spPr>
          <a:xfrm>
            <a:off x="640080" y="1417320"/>
            <a:ext cx="4389120" cy="359009"/>
          </a:xfrm>
          <a:prstGeom prst="rect">
            <a:avLst/>
          </a:prstGeom>
          <a:noFill/>
        </p:spPr>
        <p:txBody>
          <a:bodyPr wrap="square" lIns="0" rtlCol="0">
            <a:spAutoFit/>
          </a:bodyPr>
          <a:lstStyle/>
          <a:p>
            <a:pPr algn="ctr" defTabSz="1219170"/>
            <a:r>
              <a:rPr lang="en-US" sz="1733">
                <a:solidFill>
                  <a:srgbClr val="F2F1EE"/>
                </a:solidFill>
                <a:latin typeface="Arial" panose="020B0604020202020204"/>
              </a:rPr>
              <a:t>Quota Assignment with Precision</a:t>
            </a:r>
          </a:p>
        </p:txBody>
      </p:sp>
    </p:spTree>
    <p:extLst>
      <p:ext uri="{BB962C8B-B14F-4D97-AF65-F5344CB8AC3E}">
        <p14:creationId xmlns:p14="http://schemas.microsoft.com/office/powerpoint/2010/main" val="442498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FBBBB-214D-5DCB-BDF3-88063779CC36}"/>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598D1E5E-AF24-4892-71F7-EA025A871EC6}"/>
              </a:ext>
            </a:extLst>
          </p:cNvPr>
          <p:cNvSpPr/>
          <p:nvPr/>
        </p:nvSpPr>
        <p:spPr>
          <a:xfrm>
            <a:off x="558799" y="1221889"/>
            <a:ext cx="4587508" cy="5029200"/>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9" name="TextBox 8">
            <a:extLst>
              <a:ext uri="{FF2B5EF4-FFF2-40B4-BE49-F238E27FC236}">
                <a16:creationId xmlns:a16="http://schemas.microsoft.com/office/drawing/2014/main" id="{F3A6B50C-3ACE-E5D0-9931-337DCA302138}"/>
              </a:ext>
            </a:extLst>
          </p:cNvPr>
          <p:cNvSpPr txBox="1"/>
          <p:nvPr/>
        </p:nvSpPr>
        <p:spPr>
          <a:xfrm>
            <a:off x="657993" y="2364649"/>
            <a:ext cx="4389120" cy="3663439"/>
          </a:xfrm>
          <a:prstGeom prst="rect">
            <a:avLst/>
          </a:prstGeom>
          <a:noFill/>
        </p:spPr>
        <p:txBody>
          <a:bodyPr wrap="square">
            <a:spAutoFit/>
          </a:bodyPr>
          <a:lstStyle/>
          <a:p>
            <a:pPr marL="380990" indent="-380990" defTabSz="1219170">
              <a:spcBef>
                <a:spcPts val="800"/>
              </a:spcBef>
              <a:buFont typeface="Wingdings" pitchFamily="2" charset="2"/>
              <a:buChar char="ü"/>
            </a:pPr>
            <a:r>
              <a:rPr lang="en-US" sz="1467">
                <a:solidFill>
                  <a:srgbClr val="F2F1EE"/>
                </a:solidFill>
                <a:latin typeface="Arial" panose="020B0604020202020204"/>
              </a:rPr>
              <a:t>Run </a:t>
            </a:r>
            <a:r>
              <a:rPr lang="en-US" sz="1467" b="1">
                <a:solidFill>
                  <a:srgbClr val="F2F1EE"/>
                </a:solidFill>
                <a:latin typeface="Arial" panose="020B0604020202020204"/>
              </a:rPr>
              <a:t>what-if scenarios</a:t>
            </a:r>
            <a:r>
              <a:rPr lang="en-US" sz="1467">
                <a:solidFill>
                  <a:srgbClr val="F2F1EE"/>
                </a:solidFill>
                <a:latin typeface="Arial" panose="020B0604020202020204"/>
              </a:rPr>
              <a:t> across accounts, roles, and regions for the planning year</a:t>
            </a:r>
          </a:p>
          <a:p>
            <a:pPr marL="380990" indent="-380990" defTabSz="1219170">
              <a:spcBef>
                <a:spcPts val="800"/>
              </a:spcBef>
              <a:buFont typeface="Wingdings" pitchFamily="2" charset="2"/>
              <a:buChar char="ü"/>
            </a:pPr>
            <a:r>
              <a:rPr lang="en-US" sz="1467">
                <a:solidFill>
                  <a:srgbClr val="F2F1EE"/>
                </a:solidFill>
                <a:latin typeface="Arial" panose="020B0604020202020204"/>
              </a:rPr>
              <a:t>Plan </a:t>
            </a:r>
            <a:r>
              <a:rPr lang="en-US" sz="1467" b="1">
                <a:solidFill>
                  <a:srgbClr val="F2F1EE"/>
                </a:solidFill>
                <a:latin typeface="Arial" panose="020B0604020202020204"/>
              </a:rPr>
              <a:t>full-year projections</a:t>
            </a:r>
            <a:r>
              <a:rPr lang="en-US" sz="1467">
                <a:solidFill>
                  <a:srgbClr val="F2F1EE"/>
                </a:solidFill>
                <a:latin typeface="Arial" panose="020B0604020202020204"/>
              </a:rPr>
              <a:t> and growth paths, including modeling based on a planning territory different from the current territory hierarchy.</a:t>
            </a:r>
          </a:p>
          <a:p>
            <a:pPr marL="380990" indent="-380990" defTabSz="1219170">
              <a:spcBef>
                <a:spcPts val="800"/>
              </a:spcBef>
              <a:buFont typeface="Wingdings" pitchFamily="2" charset="2"/>
              <a:buChar char="ü"/>
            </a:pPr>
            <a:r>
              <a:rPr lang="en-US" sz="1467">
                <a:solidFill>
                  <a:srgbClr val="F2F1EE"/>
                </a:solidFill>
                <a:latin typeface="Arial" panose="020B0604020202020204"/>
              </a:rPr>
              <a:t>Build </a:t>
            </a:r>
            <a:r>
              <a:rPr lang="en-US" sz="1467" b="1">
                <a:solidFill>
                  <a:srgbClr val="F2F1EE"/>
                </a:solidFill>
                <a:latin typeface="Arial" panose="020B0604020202020204"/>
              </a:rPr>
              <a:t>dimension-based plans</a:t>
            </a:r>
            <a:r>
              <a:rPr lang="en-US" sz="1467">
                <a:solidFill>
                  <a:srgbClr val="F2F1EE"/>
                </a:solidFill>
                <a:latin typeface="Arial" panose="020B0604020202020204"/>
              </a:rPr>
              <a:t> (e.g., segment, product, role)</a:t>
            </a:r>
          </a:p>
          <a:p>
            <a:pPr marL="380990" indent="-380990" defTabSz="1219170">
              <a:spcBef>
                <a:spcPts val="800"/>
              </a:spcBef>
              <a:buFont typeface="Wingdings" pitchFamily="2" charset="2"/>
              <a:buChar char="ü"/>
            </a:pPr>
            <a:r>
              <a:rPr lang="en-US" sz="1467">
                <a:solidFill>
                  <a:srgbClr val="F2F1EE"/>
                </a:solidFill>
                <a:latin typeface="Arial" panose="020B0604020202020204"/>
              </a:rPr>
              <a:t>Create </a:t>
            </a:r>
            <a:r>
              <a:rPr lang="en-US" sz="1467" b="1">
                <a:solidFill>
                  <a:srgbClr val="F2F1EE"/>
                </a:solidFill>
                <a:latin typeface="Arial" panose="020B0604020202020204"/>
              </a:rPr>
              <a:t>driver-based scenarios</a:t>
            </a:r>
            <a:r>
              <a:rPr lang="en-US" sz="1467">
                <a:solidFill>
                  <a:srgbClr val="F2F1EE"/>
                </a:solidFill>
                <a:latin typeface="Arial" panose="020B0604020202020204"/>
              </a:rPr>
              <a:t> (e.g., new vs. renewal)</a:t>
            </a:r>
          </a:p>
          <a:p>
            <a:pPr marL="380990" indent="-380990" defTabSz="1219170">
              <a:spcBef>
                <a:spcPts val="800"/>
              </a:spcBef>
              <a:buFont typeface="Wingdings" pitchFamily="2" charset="2"/>
              <a:buChar char="ü"/>
            </a:pPr>
            <a:r>
              <a:rPr lang="en-US" sz="1467" b="1">
                <a:solidFill>
                  <a:srgbClr val="F2F1EE"/>
                </a:solidFill>
                <a:latin typeface="Arial" panose="020B0604020202020204"/>
              </a:rPr>
              <a:t>Compare scenarios</a:t>
            </a:r>
            <a:r>
              <a:rPr lang="en-US" sz="1467">
                <a:solidFill>
                  <a:srgbClr val="F2F1EE"/>
                </a:solidFill>
                <a:latin typeface="Arial" panose="020B0604020202020204"/>
              </a:rPr>
              <a:t> to guide strategic decisions, supporting 1:many account assignments and 1:many resource assignments.</a:t>
            </a:r>
          </a:p>
        </p:txBody>
      </p:sp>
      <p:pic>
        <p:nvPicPr>
          <p:cNvPr id="2" name="Picture 1">
            <a:extLst>
              <a:ext uri="{FF2B5EF4-FFF2-40B4-BE49-F238E27FC236}">
                <a16:creationId xmlns:a16="http://schemas.microsoft.com/office/drawing/2014/main" id="{BBD516BF-C310-02AB-A7A1-1575DD5FA3EF}"/>
              </a:ext>
            </a:extLst>
          </p:cNvPr>
          <p:cNvPicPr>
            <a:picLocks noChangeAspect="1"/>
          </p:cNvPicPr>
          <p:nvPr/>
        </p:nvPicPr>
        <p:blipFill>
          <a:blip r:embed="rId3"/>
          <a:stretch>
            <a:fillRect/>
          </a:stretch>
        </p:blipFill>
        <p:spPr>
          <a:xfrm>
            <a:off x="5443263" y="1884751"/>
            <a:ext cx="6300424" cy="3685443"/>
          </a:xfrm>
          <a:prstGeom prst="rect">
            <a:avLst/>
          </a:prstGeom>
          <a:ln>
            <a:solidFill>
              <a:schemeClr val="tx2"/>
            </a:solidFill>
          </a:ln>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47D9F491-04D7-2ECA-D67A-57415CC51289}"/>
              </a:ext>
            </a:extLst>
          </p:cNvPr>
          <p:cNvSpPr txBox="1">
            <a:spLocks/>
          </p:cNvSpPr>
          <p:nvPr/>
        </p:nvSpPr>
        <p:spPr>
          <a:xfrm>
            <a:off x="558801" y="392854"/>
            <a:ext cx="10871201" cy="451405"/>
          </a:xfrm>
          <a:prstGeom prst="rect">
            <a:avLst/>
          </a:prstGeom>
        </p:spPr>
        <p:txBody>
          <a:bodyPr/>
          <a:lst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a:lstStyle>
          <a:p>
            <a:pPr defTabSz="1219170">
              <a:lnSpc>
                <a:spcPct val="120000"/>
              </a:lnSpc>
            </a:pPr>
            <a:r>
              <a:rPr lang="en-US" sz="2133">
                <a:solidFill>
                  <a:srgbClr val="F2F1EE">
                    <a:lumMod val="10000"/>
                  </a:srgbClr>
                </a:solidFill>
                <a:ea typeface="Verdana" panose="020B0604030504040204" pitchFamily="34" charset="0"/>
              </a:rPr>
              <a:t>Territory and Quota Planning Application</a:t>
            </a:r>
            <a:endParaRPr lang="en-US" sz="2133">
              <a:solidFill>
                <a:srgbClr val="FFFFFF">
                  <a:lumMod val="50000"/>
                </a:srgbClr>
              </a:solidFill>
              <a:ea typeface="Verdana" panose="020B0604030504040204" pitchFamily="34" charset="0"/>
            </a:endParaRPr>
          </a:p>
        </p:txBody>
      </p:sp>
      <p:grpSp>
        <p:nvGrpSpPr>
          <p:cNvPr id="4" name="Group 3">
            <a:extLst>
              <a:ext uri="{FF2B5EF4-FFF2-40B4-BE49-F238E27FC236}">
                <a16:creationId xmlns:a16="http://schemas.microsoft.com/office/drawing/2014/main" id="{D28D0480-C24E-91FC-1D17-A17692A59704}"/>
              </a:ext>
            </a:extLst>
          </p:cNvPr>
          <p:cNvGrpSpPr>
            <a:grpSpLocks noChangeAspect="1"/>
          </p:cNvGrpSpPr>
          <p:nvPr/>
        </p:nvGrpSpPr>
        <p:grpSpPr>
          <a:xfrm>
            <a:off x="216614" y="6394170"/>
            <a:ext cx="336909" cy="284725"/>
            <a:chOff x="3287172" y="2477611"/>
            <a:chExt cx="512255" cy="432912"/>
          </a:xfrm>
        </p:grpSpPr>
        <p:grpSp>
          <p:nvGrpSpPr>
            <p:cNvPr id="6" name="Graphic 85">
              <a:extLst>
                <a:ext uri="{FF2B5EF4-FFF2-40B4-BE49-F238E27FC236}">
                  <a16:creationId xmlns:a16="http://schemas.microsoft.com/office/drawing/2014/main" id="{9A6A462E-E081-5B4B-9359-22537336DFAD}"/>
                </a:ext>
              </a:extLst>
            </p:cNvPr>
            <p:cNvGrpSpPr/>
            <p:nvPr/>
          </p:nvGrpSpPr>
          <p:grpSpPr>
            <a:xfrm>
              <a:off x="3287172" y="2477611"/>
              <a:ext cx="512255" cy="432912"/>
              <a:chOff x="3287172" y="2477611"/>
              <a:chExt cx="512255" cy="432912"/>
            </a:xfrm>
          </p:grpSpPr>
          <p:sp>
            <p:nvSpPr>
              <p:cNvPr id="8" name="Freeform 7">
                <a:extLst>
                  <a:ext uri="{FF2B5EF4-FFF2-40B4-BE49-F238E27FC236}">
                    <a16:creationId xmlns:a16="http://schemas.microsoft.com/office/drawing/2014/main" id="{DB99B325-4FAB-EAF3-CE0E-6B112381665C}"/>
                  </a:ext>
                </a:extLst>
              </p:cNvPr>
              <p:cNvSpPr/>
              <p:nvPr/>
            </p:nvSpPr>
            <p:spPr>
              <a:xfrm>
                <a:off x="3287172" y="2697830"/>
                <a:ext cx="256127" cy="212693"/>
              </a:xfrm>
              <a:custGeom>
                <a:avLst/>
                <a:gdLst>
                  <a:gd name="connsiteX0" fmla="*/ 161163 w 256127"/>
                  <a:gd name="connsiteY0" fmla="*/ 0 h 212693"/>
                  <a:gd name="connsiteX1" fmla="*/ 71914 w 256127"/>
                  <a:gd name="connsiteY1" fmla="*/ 39433 h 212693"/>
                  <a:gd name="connsiteX2" fmla="*/ 0 w 256127"/>
                  <a:gd name="connsiteY2" fmla="*/ 197929 h 212693"/>
                  <a:gd name="connsiteX3" fmla="*/ 128969 w 256127"/>
                  <a:gd name="connsiteY3" fmla="*/ 140779 h 212693"/>
                  <a:gd name="connsiteX4" fmla="*/ 256127 w 256127"/>
                  <a:gd name="connsiteY4" fmla="*/ 212693 h 212693"/>
                  <a:gd name="connsiteX5" fmla="*/ 256127 w 256127"/>
                  <a:gd name="connsiteY5" fmla="*/ 136112 h 21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127" h="212693">
                    <a:moveTo>
                      <a:pt x="161163" y="0"/>
                    </a:moveTo>
                    <a:lnTo>
                      <a:pt x="71914" y="39433"/>
                    </a:lnTo>
                    <a:lnTo>
                      <a:pt x="0" y="197929"/>
                    </a:lnTo>
                    <a:lnTo>
                      <a:pt x="128969" y="140779"/>
                    </a:lnTo>
                    <a:lnTo>
                      <a:pt x="256127" y="212693"/>
                    </a:lnTo>
                    <a:lnTo>
                      <a:pt x="256127" y="136112"/>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10" name="Freeform 9">
                <a:extLst>
                  <a:ext uri="{FF2B5EF4-FFF2-40B4-BE49-F238E27FC236}">
                    <a16:creationId xmlns:a16="http://schemas.microsoft.com/office/drawing/2014/main" id="{497C6E6C-D288-AF94-61A5-3D898675FD76}"/>
                  </a:ext>
                </a:extLst>
              </p:cNvPr>
              <p:cNvSpPr/>
              <p:nvPr/>
            </p:nvSpPr>
            <p:spPr>
              <a:xfrm>
                <a:off x="3416141" y="2752027"/>
                <a:ext cx="33147" cy="86582"/>
              </a:xfrm>
              <a:custGeom>
                <a:avLst/>
                <a:gdLst>
                  <a:gd name="connsiteX0" fmla="*/ 33147 w 33147"/>
                  <a:gd name="connsiteY0" fmla="*/ 0 h 86582"/>
                  <a:gd name="connsiteX1" fmla="*/ 0 w 33147"/>
                  <a:gd name="connsiteY1" fmla="*/ 86582 h 86582"/>
                </a:gdLst>
                <a:ahLst/>
                <a:cxnLst>
                  <a:cxn ang="0">
                    <a:pos x="connsiteX0" y="connsiteY0"/>
                  </a:cxn>
                  <a:cxn ang="0">
                    <a:pos x="connsiteX1" y="connsiteY1"/>
                  </a:cxn>
                </a:cxnLst>
                <a:rect l="l" t="t" r="r" b="b"/>
                <a:pathLst>
                  <a:path w="33147" h="86582">
                    <a:moveTo>
                      <a:pt x="33147" y="0"/>
                    </a:moveTo>
                    <a:lnTo>
                      <a:pt x="0"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11" name="Freeform 10">
                <a:extLst>
                  <a:ext uri="{FF2B5EF4-FFF2-40B4-BE49-F238E27FC236}">
                    <a16:creationId xmlns:a16="http://schemas.microsoft.com/office/drawing/2014/main" id="{CEA15AF5-5261-46CD-CC62-C8264F73959F}"/>
                  </a:ext>
                </a:extLst>
              </p:cNvPr>
              <p:cNvSpPr/>
              <p:nvPr/>
            </p:nvSpPr>
            <p:spPr>
              <a:xfrm>
                <a:off x="3543300" y="2696972"/>
                <a:ext cx="256127" cy="213550"/>
              </a:xfrm>
              <a:custGeom>
                <a:avLst/>
                <a:gdLst>
                  <a:gd name="connsiteX0" fmla="*/ 95441 w 256127"/>
                  <a:gd name="connsiteY0" fmla="*/ 0 h 213550"/>
                  <a:gd name="connsiteX1" fmla="*/ 184214 w 256127"/>
                  <a:gd name="connsiteY1" fmla="*/ 40291 h 213550"/>
                  <a:gd name="connsiteX2" fmla="*/ 256127 w 256127"/>
                  <a:gd name="connsiteY2" fmla="*/ 198787 h 213550"/>
                  <a:gd name="connsiteX3" fmla="*/ 127159 w 256127"/>
                  <a:gd name="connsiteY3" fmla="*/ 141637 h 213550"/>
                  <a:gd name="connsiteX4" fmla="*/ 0 w 256127"/>
                  <a:gd name="connsiteY4" fmla="*/ 213550 h 213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27" h="213550">
                    <a:moveTo>
                      <a:pt x="95441" y="0"/>
                    </a:moveTo>
                    <a:lnTo>
                      <a:pt x="184214" y="40291"/>
                    </a:lnTo>
                    <a:lnTo>
                      <a:pt x="256127" y="198787"/>
                    </a:lnTo>
                    <a:lnTo>
                      <a:pt x="127159" y="141637"/>
                    </a:lnTo>
                    <a:lnTo>
                      <a:pt x="0" y="213550"/>
                    </a:lnTo>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12" name="Freeform 11">
                <a:extLst>
                  <a:ext uri="{FF2B5EF4-FFF2-40B4-BE49-F238E27FC236}">
                    <a16:creationId xmlns:a16="http://schemas.microsoft.com/office/drawing/2014/main" id="{6655C4CC-D57D-41CB-5FD5-DCAD83CB160D}"/>
                  </a:ext>
                </a:extLst>
              </p:cNvPr>
              <p:cNvSpPr/>
              <p:nvPr/>
            </p:nvSpPr>
            <p:spPr>
              <a:xfrm>
                <a:off x="3637216" y="2752027"/>
                <a:ext cx="33242" cy="86582"/>
              </a:xfrm>
              <a:custGeom>
                <a:avLst/>
                <a:gdLst>
                  <a:gd name="connsiteX0" fmla="*/ 0 w 33242"/>
                  <a:gd name="connsiteY0" fmla="*/ 0 h 86582"/>
                  <a:gd name="connsiteX1" fmla="*/ 33242 w 33242"/>
                  <a:gd name="connsiteY1" fmla="*/ 86582 h 86582"/>
                </a:gdLst>
                <a:ahLst/>
                <a:cxnLst>
                  <a:cxn ang="0">
                    <a:pos x="connsiteX0" y="connsiteY0"/>
                  </a:cxn>
                  <a:cxn ang="0">
                    <a:pos x="connsiteX1" y="connsiteY1"/>
                  </a:cxn>
                </a:cxnLst>
                <a:rect l="l" t="t" r="r" b="b"/>
                <a:pathLst>
                  <a:path w="33242" h="86582">
                    <a:moveTo>
                      <a:pt x="0" y="0"/>
                    </a:moveTo>
                    <a:lnTo>
                      <a:pt x="33242" y="86582"/>
                    </a:lnTo>
                  </a:path>
                </a:pathLst>
              </a:custGeom>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sp>
            <p:nvSpPr>
              <p:cNvPr id="13" name="Freeform 12">
                <a:extLst>
                  <a:ext uri="{FF2B5EF4-FFF2-40B4-BE49-F238E27FC236}">
                    <a16:creationId xmlns:a16="http://schemas.microsoft.com/office/drawing/2014/main" id="{717042A7-2C6D-4AD2-FF68-33E2A5859C6F}"/>
                  </a:ext>
                </a:extLst>
              </p:cNvPr>
              <p:cNvSpPr/>
              <p:nvPr/>
            </p:nvSpPr>
            <p:spPr>
              <a:xfrm>
                <a:off x="3444335" y="2477611"/>
                <a:ext cx="197738" cy="319944"/>
              </a:xfrm>
              <a:custGeom>
                <a:avLst/>
                <a:gdLst>
                  <a:gd name="connsiteX0" fmla="*/ 197739 w 197738"/>
                  <a:gd name="connsiteY0" fmla="*/ 98870 h 319944"/>
                  <a:gd name="connsiteX1" fmla="*/ 98965 w 197738"/>
                  <a:gd name="connsiteY1" fmla="*/ 319945 h 319944"/>
                  <a:gd name="connsiteX2" fmla="*/ 0 w 197738"/>
                  <a:gd name="connsiteY2" fmla="*/ 98870 h 319944"/>
                  <a:gd name="connsiteX3" fmla="*/ 98870 w 197738"/>
                  <a:gd name="connsiteY3" fmla="*/ 0 h 319944"/>
                  <a:gd name="connsiteX4" fmla="*/ 197739 w 197738"/>
                  <a:gd name="connsiteY4" fmla="*/ 98870 h 3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38" h="319944">
                    <a:moveTo>
                      <a:pt x="197739" y="98870"/>
                    </a:moveTo>
                    <a:cubicBezTo>
                      <a:pt x="197739" y="153448"/>
                      <a:pt x="98965" y="319945"/>
                      <a:pt x="98965" y="319945"/>
                    </a:cubicBezTo>
                    <a:cubicBezTo>
                      <a:pt x="98965" y="319945"/>
                      <a:pt x="0" y="153448"/>
                      <a:pt x="0" y="98870"/>
                    </a:cubicBezTo>
                    <a:cubicBezTo>
                      <a:pt x="0" y="44266"/>
                      <a:pt x="44266" y="0"/>
                      <a:pt x="98870" y="0"/>
                    </a:cubicBezTo>
                    <a:cubicBezTo>
                      <a:pt x="153473" y="0"/>
                      <a:pt x="197739" y="44266"/>
                      <a:pt x="197739" y="98870"/>
                    </a:cubicBezTo>
                    <a:close/>
                  </a:path>
                </a:pathLst>
              </a:custGeom>
              <a:noFill/>
              <a:ln w="19050" cap="flat">
                <a:solidFill>
                  <a:srgbClr val="0B2265"/>
                </a:solidFill>
                <a:prstDash val="solid"/>
                <a:round/>
              </a:ln>
            </p:spPr>
            <p:txBody>
              <a:bodyPr rtlCol="0" anchor="ctr"/>
              <a:lstStyle/>
              <a:p>
                <a:pPr defTabSz="1219110">
                  <a:defRPr/>
                </a:pPr>
                <a:endParaRPr lang="en-US" sz="2400" kern="0">
                  <a:solidFill>
                    <a:srgbClr val="000000"/>
                  </a:solidFill>
                  <a:latin typeface="Arial" panose="020B0604020202020204"/>
                </a:endParaRPr>
              </a:p>
            </p:txBody>
          </p:sp>
        </p:grpSp>
        <p:sp>
          <p:nvSpPr>
            <p:cNvPr id="7" name="Freeform 6">
              <a:extLst>
                <a:ext uri="{FF2B5EF4-FFF2-40B4-BE49-F238E27FC236}">
                  <a16:creationId xmlns:a16="http://schemas.microsoft.com/office/drawing/2014/main" id="{0488AC4A-0132-E2EE-EA6A-FCAB10985A71}"/>
                </a:ext>
              </a:extLst>
            </p:cNvPr>
            <p:cNvSpPr>
              <a:spLocks noChangeAspect="1"/>
            </p:cNvSpPr>
            <p:nvPr/>
          </p:nvSpPr>
          <p:spPr>
            <a:xfrm>
              <a:off x="3488383" y="2520843"/>
              <a:ext cx="117549" cy="101814"/>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FF6100"/>
            </a:solidFill>
            <a:ln w="13066" cap="flat">
              <a:noFill/>
              <a:prstDash val="solid"/>
              <a:miter/>
            </a:ln>
          </p:spPr>
          <p:txBody>
            <a:bodyPr rtlCol="0" anchor="ctr"/>
            <a:lstStyle/>
            <a:p>
              <a:pPr defTabSz="1219110">
                <a:defRPr/>
              </a:pPr>
              <a:endParaRPr lang="en-US" sz="1133" b="1" kern="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grpSp>
      <p:cxnSp>
        <p:nvCxnSpPr>
          <p:cNvPr id="14" name="Straight Connector 13">
            <a:extLst>
              <a:ext uri="{FF2B5EF4-FFF2-40B4-BE49-F238E27FC236}">
                <a16:creationId xmlns:a16="http://schemas.microsoft.com/office/drawing/2014/main" id="{EB989BB6-86AA-7CCA-403D-0CDC31E67400}"/>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63F684B-733D-BA91-3E31-942743C951B4}"/>
              </a:ext>
            </a:extLst>
          </p:cNvPr>
          <p:cNvSpPr txBox="1"/>
          <p:nvPr/>
        </p:nvSpPr>
        <p:spPr>
          <a:xfrm>
            <a:off x="640080" y="1417320"/>
            <a:ext cx="4389120" cy="359009"/>
          </a:xfrm>
          <a:prstGeom prst="rect">
            <a:avLst/>
          </a:prstGeom>
          <a:noFill/>
        </p:spPr>
        <p:txBody>
          <a:bodyPr wrap="square" lIns="0" rtlCol="0">
            <a:spAutoFit/>
          </a:bodyPr>
          <a:lstStyle/>
          <a:p>
            <a:pPr algn="ctr" defTabSz="1219170">
              <a:spcAft>
                <a:spcPts val="1067"/>
              </a:spcAft>
              <a:defRPr/>
            </a:pPr>
            <a:r>
              <a:rPr lang="en-US" sz="1733">
                <a:solidFill>
                  <a:srgbClr val="F2F1EE"/>
                </a:solidFill>
                <a:latin typeface="Arial" panose="020B0604020202020204" pitchFamily="34" charset="0"/>
                <a:ea typeface="Verdana" charset="0"/>
                <a:cs typeface="Arial" panose="020B0604020202020204" pitchFamily="34" charset="0"/>
              </a:rPr>
              <a:t>Flexible Scenario Planning </a:t>
            </a:r>
          </a:p>
        </p:txBody>
      </p:sp>
    </p:spTree>
    <p:extLst>
      <p:ext uri="{BB962C8B-B14F-4D97-AF65-F5344CB8AC3E}">
        <p14:creationId xmlns:p14="http://schemas.microsoft.com/office/powerpoint/2010/main" val="3406728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xagon 1">
            <a:extLst>
              <a:ext uri="{FF2B5EF4-FFF2-40B4-BE49-F238E27FC236}">
                <a16:creationId xmlns:a16="http://schemas.microsoft.com/office/drawing/2014/main" id="{1CB5D1C0-B257-E137-D5B3-B07A90F9455C}"/>
              </a:ext>
            </a:extLst>
          </p:cNvPr>
          <p:cNvSpPr/>
          <p:nvPr/>
        </p:nvSpPr>
        <p:spPr>
          <a:xfrm>
            <a:off x="4271760" y="1121143"/>
            <a:ext cx="3590239" cy="2959334"/>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Inter" panose="02000503000000020004" pitchFamily="2"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E99D5142-6FE2-8914-83CD-2A02EF67B19F}"/>
              </a:ext>
            </a:extLst>
          </p:cNvPr>
          <p:cNvSpPr/>
          <p:nvPr/>
        </p:nvSpPr>
        <p:spPr>
          <a:xfrm>
            <a:off x="434310" y="1437973"/>
            <a:ext cx="3657600" cy="185420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Inter" panose="02000503000000020004" pitchFamily="2"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A668CC6C-0771-02EC-3B1E-B3EB417EECB9}"/>
              </a:ext>
            </a:extLst>
          </p:cNvPr>
          <p:cNvSpPr/>
          <p:nvPr/>
        </p:nvSpPr>
        <p:spPr>
          <a:xfrm>
            <a:off x="434310" y="3814751"/>
            <a:ext cx="3657600" cy="185420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Inter" panose="02000503000000020004" pitchFamily="2"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16C8B647-0338-CA3F-83F1-9698E77BEAA9}"/>
              </a:ext>
            </a:extLst>
          </p:cNvPr>
          <p:cNvSpPr/>
          <p:nvPr/>
        </p:nvSpPr>
        <p:spPr>
          <a:xfrm>
            <a:off x="4286250" y="4594921"/>
            <a:ext cx="3657600" cy="2148060"/>
          </a:xfrm>
          <a:prstGeom prst="roundRect">
            <a:avLst>
              <a:gd name="adj" fmla="val 890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Inter" panose="02000503000000020004" pitchFamily="2" charset="0"/>
              <a:ea typeface="Verdana" charset="0"/>
              <a:cs typeface="Arial" panose="020B0604020202020204" pitchFamily="34" charset="0"/>
            </a:endParaRPr>
          </a:p>
        </p:txBody>
      </p:sp>
      <p:sp>
        <p:nvSpPr>
          <p:cNvPr id="8" name="Rounded Rectangle 7">
            <a:extLst>
              <a:ext uri="{FF2B5EF4-FFF2-40B4-BE49-F238E27FC236}">
                <a16:creationId xmlns:a16="http://schemas.microsoft.com/office/drawing/2014/main" id="{DD875CC9-B220-9FDF-6740-3A064D91AF6C}"/>
              </a:ext>
            </a:extLst>
          </p:cNvPr>
          <p:cNvSpPr/>
          <p:nvPr/>
        </p:nvSpPr>
        <p:spPr>
          <a:xfrm>
            <a:off x="8051801" y="1398713"/>
            <a:ext cx="3657600" cy="185420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Inter" panose="02000503000000020004" pitchFamily="2"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3B50616C-90D0-F21B-F500-77C60A375BDB}"/>
              </a:ext>
            </a:extLst>
          </p:cNvPr>
          <p:cNvSpPr/>
          <p:nvPr/>
        </p:nvSpPr>
        <p:spPr>
          <a:xfrm>
            <a:off x="8138190" y="3814751"/>
            <a:ext cx="3657600" cy="185420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Inter" panose="02000503000000020004" pitchFamily="2" charset="0"/>
              <a:ea typeface="Verdana" charset="0"/>
              <a:cs typeface="Arial" panose="020B0604020202020204" pitchFamily="34" charset="0"/>
            </a:endParaRPr>
          </a:p>
        </p:txBody>
      </p:sp>
      <p:sp>
        <p:nvSpPr>
          <p:cNvPr id="10" name="Text Placeholder 12">
            <a:extLst>
              <a:ext uri="{FF2B5EF4-FFF2-40B4-BE49-F238E27FC236}">
                <a16:creationId xmlns:a16="http://schemas.microsoft.com/office/drawing/2014/main" id="{8CC6BD9D-0239-67F3-2446-4A13BDFEA413}"/>
              </a:ext>
            </a:extLst>
          </p:cNvPr>
          <p:cNvSpPr txBox="1">
            <a:spLocks/>
          </p:cNvSpPr>
          <p:nvPr/>
        </p:nvSpPr>
        <p:spPr>
          <a:xfrm>
            <a:off x="4281087" y="4983117"/>
            <a:ext cx="3670858" cy="1495770"/>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51" lvl="1" indent="-194310" defTabSz="1625519" fontAlgn="base">
              <a:buClr>
                <a:schemeClr val="accent1"/>
              </a:buClr>
              <a:buFont typeface="Wingdings" pitchFamily="2" charset="2"/>
              <a:buChar char="ü"/>
            </a:pPr>
            <a:r>
              <a:rPr lang="en-US" sz="1050">
                <a:solidFill>
                  <a:srgbClr val="000000"/>
                </a:solidFill>
              </a:rPr>
              <a:t>Assign and update reps, overlays, and managers by role, supporting 1:many and many:1 assignments</a:t>
            </a:r>
          </a:p>
          <a:p>
            <a:pPr marL="255251" lvl="1" indent="-194310" defTabSz="1625519" fontAlgn="base">
              <a:buClr>
                <a:schemeClr val="accent1"/>
              </a:buClr>
              <a:buFont typeface="Wingdings" pitchFamily="2" charset="2"/>
              <a:buChar char="ü"/>
            </a:pPr>
            <a:r>
              <a:rPr lang="en-US" sz="1050">
                <a:solidFill>
                  <a:srgbClr val="000000"/>
                </a:solidFill>
              </a:rPr>
              <a:t>Manage temporary assignments and role transitions with effective dates</a:t>
            </a:r>
          </a:p>
          <a:p>
            <a:pPr marL="255251" lvl="1" indent="-194310" defTabSz="1625519" fontAlgn="base">
              <a:buClr>
                <a:schemeClr val="accent1"/>
              </a:buClr>
              <a:buFont typeface="Wingdings" pitchFamily="2" charset="2"/>
              <a:buChar char="ü"/>
            </a:pPr>
            <a:r>
              <a:rPr lang="en-US" sz="1050">
                <a:solidFill>
                  <a:srgbClr val="000000"/>
                </a:solidFill>
              </a:rPr>
              <a:t>View and allocate unassigned reps for proper coverage</a:t>
            </a:r>
          </a:p>
          <a:p>
            <a:pPr marL="255251" lvl="1" indent="-194310" defTabSz="1625519" fontAlgn="base">
              <a:buClr>
                <a:schemeClr val="accent1"/>
              </a:buClr>
              <a:buFont typeface="Wingdings" pitchFamily="2" charset="2"/>
              <a:buChar char="ü"/>
            </a:pPr>
            <a:r>
              <a:rPr lang="en-US" sz="1050">
                <a:solidFill>
                  <a:srgbClr val="000000"/>
                </a:solidFill>
              </a:rPr>
              <a:t>Create territory hierarchies based on sales team relationships </a:t>
            </a:r>
          </a:p>
        </p:txBody>
      </p:sp>
      <p:sp>
        <p:nvSpPr>
          <p:cNvPr id="12" name="TextBox 11">
            <a:extLst>
              <a:ext uri="{FF2B5EF4-FFF2-40B4-BE49-F238E27FC236}">
                <a16:creationId xmlns:a16="http://schemas.microsoft.com/office/drawing/2014/main" id="{7E99A701-38D6-C157-A717-480EFF6BBC21}"/>
              </a:ext>
            </a:extLst>
          </p:cNvPr>
          <p:cNvSpPr txBox="1"/>
          <p:nvPr/>
        </p:nvSpPr>
        <p:spPr>
          <a:xfrm>
            <a:off x="4503894" y="4653942"/>
            <a:ext cx="3251200" cy="338554"/>
          </a:xfrm>
          <a:prstGeom prst="rect">
            <a:avLst/>
          </a:prstGeom>
          <a:noFill/>
        </p:spPr>
        <p:txBody>
          <a:bodyPr wrap="square" lIns="0" rtlCol="0">
            <a:spAutoFit/>
          </a:bodyPr>
          <a:lstStyle/>
          <a:p>
            <a:pPr algn="ctr">
              <a:buClrTx/>
            </a:pPr>
            <a:r>
              <a:rPr lang="en-US" sz="1600" b="1">
                <a:solidFill>
                  <a:srgbClr val="0A2F46"/>
                </a:solidFill>
              </a:rPr>
              <a:t>Rep-to-Territory Assignment</a:t>
            </a: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50" name="TextBox 49">
            <a:extLst>
              <a:ext uri="{FF2B5EF4-FFF2-40B4-BE49-F238E27FC236}">
                <a16:creationId xmlns:a16="http://schemas.microsoft.com/office/drawing/2014/main" id="{586CE014-D40A-D6F6-7EFE-2E2B07FF4985}"/>
              </a:ext>
            </a:extLst>
          </p:cNvPr>
          <p:cNvSpPr txBox="1"/>
          <p:nvPr/>
        </p:nvSpPr>
        <p:spPr>
          <a:xfrm>
            <a:off x="5074262" y="3232827"/>
            <a:ext cx="2052222" cy="58477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buClrTx/>
            </a:pPr>
            <a:r>
              <a:rPr lang="en-US" sz="1600" b="1">
                <a:solidFill>
                  <a:schemeClr val="tx2"/>
                </a:solidFill>
                <a:latin typeface="Aptos" panose="020B0004020202020204" pitchFamily="34" charset="0"/>
                <a:ea typeface="Inter Light" panose="02000503000000020004" pitchFamily="2" charset="0"/>
                <a:cs typeface="Arial" panose="020B0604020202020204" pitchFamily="34" charset="0"/>
              </a:rPr>
              <a:t>Territory and Quota Planning Application</a:t>
            </a:r>
          </a:p>
        </p:txBody>
      </p:sp>
      <p:cxnSp>
        <p:nvCxnSpPr>
          <p:cNvPr id="51" name="Straight Connector 50">
            <a:extLst>
              <a:ext uri="{FF2B5EF4-FFF2-40B4-BE49-F238E27FC236}">
                <a16:creationId xmlns:a16="http://schemas.microsoft.com/office/drawing/2014/main" id="{D5FA7B0B-D781-839B-B1C9-7A80D89696DE}"/>
              </a:ext>
            </a:extLst>
          </p:cNvPr>
          <p:cNvCxnSpPr>
            <a:cxnSpLocks/>
          </p:cNvCxnSpPr>
          <p:nvPr/>
        </p:nvCxnSpPr>
        <p:spPr>
          <a:xfrm flipH="1">
            <a:off x="5174932" y="3152141"/>
            <a:ext cx="1775517" cy="0"/>
          </a:xfrm>
          <a:prstGeom prst="line">
            <a:avLst/>
          </a:prstGeom>
          <a:ln w="2540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2E8BF028-BF81-D01D-090D-1B1A353AA500}"/>
              </a:ext>
            </a:extLst>
          </p:cNvPr>
          <p:cNvGrpSpPr/>
          <p:nvPr/>
        </p:nvGrpSpPr>
        <p:grpSpPr>
          <a:xfrm>
            <a:off x="5126705" y="1350636"/>
            <a:ext cx="1691858" cy="1691856"/>
            <a:chOff x="3933389" y="2048860"/>
            <a:chExt cx="1371600" cy="1371600"/>
          </a:xfrm>
        </p:grpSpPr>
        <p:sp>
          <p:nvSpPr>
            <p:cNvPr id="53" name="Teardrop 52">
              <a:extLst>
                <a:ext uri="{FF2B5EF4-FFF2-40B4-BE49-F238E27FC236}">
                  <a16:creationId xmlns:a16="http://schemas.microsoft.com/office/drawing/2014/main" id="{02703BBC-0090-521D-D206-F94F788CDA8F}"/>
                </a:ext>
              </a:extLst>
            </p:cNvPr>
            <p:cNvSpPr/>
            <p:nvPr/>
          </p:nvSpPr>
          <p:spPr>
            <a:xfrm rot="8072632">
              <a:off x="4578895" y="2529359"/>
              <a:ext cx="304783" cy="296351"/>
            </a:xfrm>
            <a:prstGeom prst="teardrop">
              <a:avLst>
                <a:gd name="adj" fmla="val 2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pic>
          <p:nvPicPr>
            <p:cNvPr id="54" name="Graphic 4">
              <a:extLst>
                <a:ext uri="{FF2B5EF4-FFF2-40B4-BE49-F238E27FC236}">
                  <a16:creationId xmlns:a16="http://schemas.microsoft.com/office/drawing/2014/main" id="{622AAEB8-0328-FB42-C023-52EE52A7A03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933389" y="2048860"/>
              <a:ext cx="1371600" cy="1371600"/>
            </a:xfrm>
            <a:prstGeom prst="rect">
              <a:avLst/>
            </a:prstGeom>
          </p:spPr>
        </p:pic>
      </p:grpSp>
      <p:sp>
        <p:nvSpPr>
          <p:cNvPr id="55" name="TextBox 54">
            <a:extLst>
              <a:ext uri="{FF2B5EF4-FFF2-40B4-BE49-F238E27FC236}">
                <a16:creationId xmlns:a16="http://schemas.microsoft.com/office/drawing/2014/main" id="{E8EA6163-527A-ED05-B09C-850B22E80C95}"/>
              </a:ext>
            </a:extLst>
          </p:cNvPr>
          <p:cNvSpPr txBox="1"/>
          <p:nvPr/>
        </p:nvSpPr>
        <p:spPr>
          <a:xfrm>
            <a:off x="582792" y="3885888"/>
            <a:ext cx="3405792" cy="338554"/>
          </a:xfrm>
          <a:prstGeom prst="rect">
            <a:avLst/>
          </a:prstGeom>
          <a:noFill/>
        </p:spPr>
        <p:txBody>
          <a:bodyPr wrap="square" lIns="0" rtlCol="0">
            <a:spAutoFit/>
          </a:bodyPr>
          <a:lstStyle/>
          <a:p>
            <a:pPr algn="ctr">
              <a:buClrTx/>
            </a:pPr>
            <a:r>
              <a:rPr lang="en-US" sz="1600" b="1">
                <a:solidFill>
                  <a:srgbClr val="0A2F46"/>
                </a:solidFill>
              </a:rPr>
              <a:t>Account-to-Territory Assignment</a:t>
            </a: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56" name="TextBox 55">
            <a:extLst>
              <a:ext uri="{FF2B5EF4-FFF2-40B4-BE49-F238E27FC236}">
                <a16:creationId xmlns:a16="http://schemas.microsoft.com/office/drawing/2014/main" id="{D1682236-EE74-3B31-9B34-F243DF178587}"/>
              </a:ext>
            </a:extLst>
          </p:cNvPr>
          <p:cNvSpPr txBox="1"/>
          <p:nvPr/>
        </p:nvSpPr>
        <p:spPr>
          <a:xfrm>
            <a:off x="640066" y="1448174"/>
            <a:ext cx="3251200" cy="338554"/>
          </a:xfrm>
          <a:prstGeom prst="rect">
            <a:avLst/>
          </a:prstGeom>
          <a:noFill/>
        </p:spPr>
        <p:txBody>
          <a:bodyPr wrap="square" lIns="0" rtlCol="0">
            <a:spAutoFit/>
          </a:bodyPr>
          <a:lstStyle/>
          <a:p>
            <a:pPr algn="ctr">
              <a:buClrTx/>
            </a:pPr>
            <a:r>
              <a:rPr lang="en-US" sz="1600" b="1">
                <a:solidFill>
                  <a:srgbClr val="0A2F46"/>
                </a:solidFill>
              </a:rPr>
              <a:t>Target Allocations</a:t>
            </a: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57" name="TextBox 56">
            <a:extLst>
              <a:ext uri="{FF2B5EF4-FFF2-40B4-BE49-F238E27FC236}">
                <a16:creationId xmlns:a16="http://schemas.microsoft.com/office/drawing/2014/main" id="{2570588B-3DC3-EB94-8DB7-7157AF7FFF79}"/>
              </a:ext>
            </a:extLst>
          </p:cNvPr>
          <p:cNvSpPr txBox="1"/>
          <p:nvPr/>
        </p:nvSpPr>
        <p:spPr>
          <a:xfrm>
            <a:off x="8254815" y="1442397"/>
            <a:ext cx="3251200" cy="338554"/>
          </a:xfrm>
          <a:prstGeom prst="rect">
            <a:avLst/>
          </a:prstGeom>
          <a:noFill/>
        </p:spPr>
        <p:txBody>
          <a:bodyPr wrap="square" lIns="0" rtlCol="0">
            <a:spAutoFit/>
          </a:bodyPr>
          <a:lstStyle/>
          <a:p>
            <a:pPr algn="ctr">
              <a:buClrTx/>
            </a:pPr>
            <a:r>
              <a:rPr lang="en-US" sz="1600" b="1">
                <a:solidFill>
                  <a:srgbClr val="0A2F46"/>
                </a:solidFill>
              </a:rPr>
              <a:t>Quota Assignment</a:t>
            </a: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58" name="TextBox 57">
            <a:extLst>
              <a:ext uri="{FF2B5EF4-FFF2-40B4-BE49-F238E27FC236}">
                <a16:creationId xmlns:a16="http://schemas.microsoft.com/office/drawing/2014/main" id="{F2E7ACB7-9927-73C6-CEE9-C601D8411B2E}"/>
              </a:ext>
            </a:extLst>
          </p:cNvPr>
          <p:cNvSpPr txBox="1"/>
          <p:nvPr/>
        </p:nvSpPr>
        <p:spPr>
          <a:xfrm>
            <a:off x="8229601" y="3846538"/>
            <a:ext cx="3276414" cy="338554"/>
          </a:xfrm>
          <a:prstGeom prst="rect">
            <a:avLst/>
          </a:prstGeom>
          <a:noFill/>
        </p:spPr>
        <p:txBody>
          <a:bodyPr wrap="square" lIns="0" rtlCol="0">
            <a:spAutoFit/>
          </a:bodyPr>
          <a:lstStyle/>
          <a:p>
            <a:pPr algn="ctr">
              <a:buClrTx/>
            </a:pPr>
            <a:r>
              <a:rPr lang="en-US" sz="1600" b="1">
                <a:solidFill>
                  <a:srgbClr val="0A2F46"/>
                </a:solidFill>
              </a:rPr>
              <a:t>Scenario Planning</a:t>
            </a: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59" name="Text Placeholder 12">
            <a:extLst>
              <a:ext uri="{FF2B5EF4-FFF2-40B4-BE49-F238E27FC236}">
                <a16:creationId xmlns:a16="http://schemas.microsoft.com/office/drawing/2014/main" id="{21D34279-E371-1099-3921-9F8344869FE2}"/>
              </a:ext>
            </a:extLst>
          </p:cNvPr>
          <p:cNvSpPr txBox="1">
            <a:spLocks/>
          </p:cNvSpPr>
          <p:nvPr/>
        </p:nvSpPr>
        <p:spPr>
          <a:xfrm>
            <a:off x="450806" y="1926706"/>
            <a:ext cx="3693317" cy="1146470"/>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51" lvl="1" indent="-194310" defTabSz="1625519" fontAlgn="base">
              <a:buClr>
                <a:schemeClr val="accent1"/>
              </a:buClr>
              <a:buFont typeface="Wingdings" pitchFamily="2" charset="2"/>
              <a:buChar char="ü"/>
            </a:pPr>
            <a:r>
              <a:rPr lang="en-US" sz="1050">
                <a:solidFill>
                  <a:srgbClr val="000000"/>
                </a:solidFill>
              </a:rPr>
              <a:t>Input, adjust, and override sales targets (top-down/bottom-up), using forecasting application data</a:t>
            </a:r>
          </a:p>
          <a:p>
            <a:pPr marL="255251" lvl="1" indent="-194310" defTabSz="1625519" fontAlgn="base">
              <a:buClr>
                <a:schemeClr val="accent1"/>
              </a:buClr>
              <a:buFont typeface="Wingdings" pitchFamily="2" charset="2"/>
              <a:buChar char="ü"/>
            </a:pPr>
            <a:r>
              <a:rPr lang="en-US" sz="1050">
                <a:solidFill>
                  <a:srgbClr val="000000"/>
                </a:solidFill>
              </a:rPr>
              <a:t>Lock targets dynamically using advanced top-down approval workflows</a:t>
            </a:r>
          </a:p>
          <a:p>
            <a:pPr marL="255251" lvl="1" indent="-194310" defTabSz="1625519" fontAlgn="base">
              <a:buClr>
                <a:schemeClr val="accent1"/>
              </a:buClr>
              <a:buFont typeface="Wingdings" pitchFamily="2" charset="2"/>
              <a:buChar char="ü"/>
            </a:pPr>
            <a:r>
              <a:rPr lang="en-US" sz="1050">
                <a:solidFill>
                  <a:srgbClr val="000000"/>
                </a:solidFill>
              </a:rPr>
              <a:t>Conduct final reviews while managing the planning and current years concurrently</a:t>
            </a:r>
          </a:p>
          <a:p>
            <a:pPr marL="0" indent="0" defTabSz="1625519" fontAlgn="base">
              <a:lnSpc>
                <a:spcPts val="1651"/>
              </a:lnSpc>
              <a:buClr>
                <a:srgbClr val="FF6100"/>
              </a:buClr>
              <a:buNone/>
            </a:pPr>
            <a:endParaRPr lang="en-US" sz="1000">
              <a:solidFill>
                <a:srgbClr val="000000"/>
              </a:solidFill>
            </a:endParaRPr>
          </a:p>
        </p:txBody>
      </p:sp>
      <p:sp>
        <p:nvSpPr>
          <p:cNvPr id="71" name="Text Placeholder 12">
            <a:extLst>
              <a:ext uri="{FF2B5EF4-FFF2-40B4-BE49-F238E27FC236}">
                <a16:creationId xmlns:a16="http://schemas.microsoft.com/office/drawing/2014/main" id="{CE9D244E-9AFC-98F1-C31E-69B4C1E1CC9C}"/>
              </a:ext>
            </a:extLst>
          </p:cNvPr>
          <p:cNvSpPr txBox="1">
            <a:spLocks/>
          </p:cNvSpPr>
          <p:nvPr/>
        </p:nvSpPr>
        <p:spPr>
          <a:xfrm>
            <a:off x="388026" y="4269133"/>
            <a:ext cx="3683001" cy="1146470"/>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51" lvl="1" indent="-194310" defTabSz="1625519" fontAlgn="base">
              <a:buClr>
                <a:schemeClr val="accent1"/>
              </a:buClr>
              <a:buFont typeface="Wingdings" pitchFamily="2" charset="2"/>
              <a:buChar char="ü"/>
            </a:pPr>
            <a:r>
              <a:rPr lang="en-US" sz="1050">
                <a:solidFill>
                  <a:srgbClr val="000000"/>
                </a:solidFill>
              </a:rPr>
              <a:t>Assign accounts by rules, supporting 1:many assignments with split logic</a:t>
            </a:r>
          </a:p>
          <a:p>
            <a:pPr marL="255251" lvl="1" indent="-194310" defTabSz="1625519" fontAlgn="base">
              <a:buClr>
                <a:schemeClr val="accent1"/>
              </a:buClr>
              <a:buFont typeface="Wingdings" pitchFamily="2" charset="2"/>
              <a:buChar char="ü"/>
            </a:pPr>
            <a:r>
              <a:rPr lang="en-US" sz="1050">
                <a:solidFill>
                  <a:srgbClr val="000000"/>
                </a:solidFill>
              </a:rPr>
              <a:t>Model redistribution scenarios</a:t>
            </a:r>
          </a:p>
          <a:p>
            <a:pPr marL="255251" lvl="1" indent="-194310" defTabSz="1625519" fontAlgn="base">
              <a:buClr>
                <a:schemeClr val="accent1"/>
              </a:buClr>
              <a:buFont typeface="Wingdings" pitchFamily="2" charset="2"/>
              <a:buChar char="ü"/>
            </a:pPr>
            <a:r>
              <a:rPr lang="en-US" sz="1050">
                <a:solidFill>
                  <a:srgbClr val="000000"/>
                </a:solidFill>
              </a:rPr>
              <a:t>Support zip-code planning with geo-mapping</a:t>
            </a:r>
          </a:p>
          <a:p>
            <a:pPr marL="255251" lvl="1" indent="-194310" defTabSz="1625519" fontAlgn="base">
              <a:buClr>
                <a:schemeClr val="accent1"/>
              </a:buClr>
              <a:buFont typeface="Wingdings" pitchFamily="2" charset="2"/>
              <a:buChar char="ü"/>
            </a:pPr>
            <a:r>
              <a:rPr lang="en-US" sz="1050">
                <a:solidFill>
                  <a:srgbClr val="000000"/>
                </a:solidFill>
              </a:rPr>
              <a:t>Assign multiple territories to a single rep as needed</a:t>
            </a:r>
          </a:p>
        </p:txBody>
      </p:sp>
      <p:sp>
        <p:nvSpPr>
          <p:cNvPr id="76" name="Text Placeholder 12">
            <a:extLst>
              <a:ext uri="{FF2B5EF4-FFF2-40B4-BE49-F238E27FC236}">
                <a16:creationId xmlns:a16="http://schemas.microsoft.com/office/drawing/2014/main" id="{97682257-477E-C7E4-68E4-53E38AD7FE24}"/>
              </a:ext>
            </a:extLst>
          </p:cNvPr>
          <p:cNvSpPr txBox="1">
            <a:spLocks/>
          </p:cNvSpPr>
          <p:nvPr/>
        </p:nvSpPr>
        <p:spPr>
          <a:xfrm>
            <a:off x="8032379" y="1819806"/>
            <a:ext cx="3670858" cy="1495770"/>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51" lvl="1" indent="-194310" defTabSz="1625519" fontAlgn="base">
              <a:buClr>
                <a:schemeClr val="accent1"/>
              </a:buClr>
              <a:buFont typeface="Wingdings" pitchFamily="2" charset="2"/>
              <a:buChar char="ü"/>
            </a:pPr>
            <a:r>
              <a:rPr lang="en-US" sz="1050">
                <a:solidFill>
                  <a:srgbClr val="000000"/>
                </a:solidFill>
              </a:rPr>
              <a:t>Assign quotas directly to reps and overlays, or use role-based targets</a:t>
            </a:r>
          </a:p>
          <a:p>
            <a:pPr marL="255251" lvl="1" indent="-194310" defTabSz="1625519" fontAlgn="base">
              <a:buClr>
                <a:schemeClr val="accent1"/>
              </a:buClr>
              <a:buFont typeface="Wingdings" pitchFamily="2" charset="2"/>
              <a:buChar char="ü"/>
            </a:pPr>
            <a:r>
              <a:rPr lang="en-US" sz="1050">
                <a:solidFill>
                  <a:srgbClr val="000000"/>
                </a:solidFill>
              </a:rPr>
              <a:t>Allocate quotas with ramping, seasonality, and flexible dimensions (e.g., hierarchy, role, product line)</a:t>
            </a:r>
          </a:p>
          <a:p>
            <a:pPr marL="255251" lvl="1" indent="-194310" defTabSz="1625519" fontAlgn="base">
              <a:buClr>
                <a:schemeClr val="accent1"/>
              </a:buClr>
              <a:buFont typeface="Wingdings" pitchFamily="2" charset="2"/>
              <a:buChar char="ü"/>
            </a:pPr>
            <a:r>
              <a:rPr lang="en-US" sz="1050">
                <a:solidFill>
                  <a:srgbClr val="000000"/>
                </a:solidFill>
              </a:rPr>
              <a:t>Compare top-down vs. bottom-up quota allocations, managing the planning vs. current year</a:t>
            </a:r>
          </a:p>
          <a:p>
            <a:pPr marL="255251" lvl="1" indent="-194310" defTabSz="1625519" fontAlgn="base">
              <a:buClr>
                <a:schemeClr val="accent1"/>
              </a:buClr>
              <a:buFont typeface="Wingdings" pitchFamily="2" charset="2"/>
              <a:buChar char="ü"/>
            </a:pPr>
            <a:r>
              <a:rPr lang="en-US" sz="1050">
                <a:solidFill>
                  <a:srgbClr val="000000"/>
                </a:solidFill>
              </a:rPr>
              <a:t>Approve and export finalized assignments</a:t>
            </a:r>
          </a:p>
        </p:txBody>
      </p:sp>
      <p:sp>
        <p:nvSpPr>
          <p:cNvPr id="77" name="Text Placeholder 12">
            <a:extLst>
              <a:ext uri="{FF2B5EF4-FFF2-40B4-BE49-F238E27FC236}">
                <a16:creationId xmlns:a16="http://schemas.microsoft.com/office/drawing/2014/main" id="{8972E9E4-2BD3-FDD1-02CB-515DC9F68A16}"/>
              </a:ext>
            </a:extLst>
          </p:cNvPr>
          <p:cNvSpPr txBox="1">
            <a:spLocks/>
          </p:cNvSpPr>
          <p:nvPr/>
        </p:nvSpPr>
        <p:spPr>
          <a:xfrm>
            <a:off x="8063265" y="4173181"/>
            <a:ext cx="3670858" cy="1495770"/>
          </a:xfrm>
          <a:prstGeom prst="rect">
            <a:avLst/>
          </a:prstGeom>
        </p:spPr>
        <p:txBody>
          <a:bodyPr/>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55251" lvl="1" indent="-194310" defTabSz="1625519" fontAlgn="base">
              <a:buClr>
                <a:schemeClr val="accent1"/>
              </a:buClr>
              <a:buFont typeface="Wingdings" pitchFamily="2" charset="2"/>
              <a:buChar char="ü"/>
            </a:pPr>
            <a:r>
              <a:rPr lang="en-US" sz="1050">
                <a:solidFill>
                  <a:srgbClr val="000000"/>
                </a:solidFill>
              </a:rPr>
              <a:t>Run what-if scenarios available for every functionality in the planning year</a:t>
            </a:r>
          </a:p>
          <a:p>
            <a:pPr marL="255251" lvl="1" indent="-194310" defTabSz="1625519" fontAlgn="base">
              <a:buClr>
                <a:schemeClr val="accent1"/>
              </a:buClr>
              <a:buFont typeface="Wingdings" pitchFamily="2" charset="2"/>
              <a:buChar char="ü"/>
            </a:pPr>
            <a:r>
              <a:rPr lang="en-US" sz="1050">
                <a:solidFill>
                  <a:srgbClr val="000000"/>
                </a:solidFill>
              </a:rPr>
              <a:t>Model full-year projections and growth strategies using the planning territory hierarchy</a:t>
            </a:r>
          </a:p>
          <a:p>
            <a:pPr marL="255251" lvl="1" indent="-194310" defTabSz="1625519" fontAlgn="base">
              <a:buClr>
                <a:schemeClr val="accent1"/>
              </a:buClr>
              <a:buFont typeface="Wingdings" pitchFamily="2" charset="2"/>
              <a:buChar char="ü"/>
            </a:pPr>
            <a:r>
              <a:rPr lang="en-US" sz="1050">
                <a:solidFill>
                  <a:srgbClr val="000000"/>
                </a:solidFill>
              </a:rPr>
              <a:t>Compare multiple scenarios, supporting new resource and account assignment complexity</a:t>
            </a:r>
          </a:p>
        </p:txBody>
      </p:sp>
      <p:sp>
        <p:nvSpPr>
          <p:cNvPr id="88" name="Title 1">
            <a:extLst>
              <a:ext uri="{FF2B5EF4-FFF2-40B4-BE49-F238E27FC236}">
                <a16:creationId xmlns:a16="http://schemas.microsoft.com/office/drawing/2014/main" id="{7EB6A83E-6E60-F4A3-B918-3C598A7E963C}"/>
              </a:ext>
            </a:extLst>
          </p:cNvPr>
          <p:cNvSpPr>
            <a:spLocks noGrp="1"/>
          </p:cNvSpPr>
          <p:nvPr>
            <p:ph type="title"/>
          </p:nvPr>
        </p:nvSpPr>
        <p:spPr/>
        <p:txBody>
          <a:bodyPr/>
          <a:lstStyle/>
          <a:p>
            <a:r>
              <a:rPr lang="en-US"/>
              <a:t>Anaplan Territory and Quota Planning Applications – Summary</a:t>
            </a:r>
          </a:p>
        </p:txBody>
      </p:sp>
    </p:spTree>
    <p:extLst>
      <p:ext uri="{BB962C8B-B14F-4D97-AF65-F5344CB8AC3E}">
        <p14:creationId xmlns:p14="http://schemas.microsoft.com/office/powerpoint/2010/main" val="2345848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F82B1546-1826-CF11-4012-A5BB7BF06697}"/>
              </a:ext>
            </a:extLst>
          </p:cNvPr>
          <p:cNvPicPr>
            <a:picLocks noChangeAspect="1"/>
          </p:cNvPicPr>
          <p:nvPr/>
        </p:nvPicPr>
        <p:blipFill>
          <a:blip r:embed="rId2"/>
          <a:stretch>
            <a:fillRect/>
          </a:stretch>
        </p:blipFill>
        <p:spPr>
          <a:xfrm>
            <a:off x="3782" y="1783"/>
            <a:ext cx="13200915" cy="6650656"/>
          </a:xfrm>
          <a:prstGeom prst="rect">
            <a:avLst/>
          </a:prstGeom>
          <a:ln>
            <a:solidFill>
              <a:schemeClr val="tx2"/>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8680075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xml><?xml version="1.0" encoding="utf-8"?>
<p:tagLst xmlns:a="http://schemas.openxmlformats.org/drawingml/2006/main" xmlns:r="http://schemas.openxmlformats.org/officeDocument/2006/relationships" xmlns:p="http://schemas.openxmlformats.org/presentationml/2006/main">
  <p:tag name="SHAPENAME" val="5. Source"/>
</p:tagLst>
</file>

<file path=ppt/tags/tag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4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Props1.xml><?xml version="1.0" encoding="utf-8"?>
<ds:datastoreItem xmlns:ds="http://schemas.openxmlformats.org/officeDocument/2006/customXml" ds:itemID="{89856E5B-BD02-4189-8BCC-4CFDB700A158}">
  <ds:schemaRefs>
    <ds:schemaRef ds:uri="http://schemas.microsoft.com/sharepoint/v3/contenttype/forms"/>
  </ds:schemaRefs>
</ds:datastoreItem>
</file>

<file path=customXml/itemProps2.xml><?xml version="1.0" encoding="utf-8"?>
<ds:datastoreItem xmlns:ds="http://schemas.openxmlformats.org/officeDocument/2006/customXml" ds:itemID="{4EFB19FE-55C7-4B47-85B5-1C9DF72BFA9B}">
  <ds:schemaRefs>
    <ds:schemaRef ds:uri="1312f2c0-dda1-4b36-bf7c-5f95f823505b"/>
    <ds:schemaRef ds:uri="c4a93292-96be-422c-9bb6-49a5d66e42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F7DBD51-5FF7-49E1-8180-DAEE9CE59875}">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8</Notes>
  <HiddenSlides>0</HiddenSlide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1_Anaplan</vt:lpstr>
      <vt:lpstr>4_Anaplan</vt:lpstr>
      <vt:lpstr>  Territory and Quota Planning  Application on Polaris</vt:lpstr>
      <vt:lpstr>Territory and Quota Planning Application</vt:lpstr>
      <vt:lpstr>Anaplan Territory and Quota Planning Application Out-of-the-box</vt:lpstr>
      <vt:lpstr>Anaplan Territory and Quota Planning Application Out-of-the-box</vt:lpstr>
      <vt:lpstr>PowerPoint Presentation</vt:lpstr>
      <vt:lpstr>PowerPoint Presentation</vt:lpstr>
      <vt:lpstr>PowerPoint Presentation</vt:lpstr>
      <vt:lpstr>PowerPoint Presentation</vt:lpstr>
      <vt:lpstr>PowerPoint Presentation</vt:lpstr>
      <vt:lpstr>Anaplan Territory and Quota Planning Applications –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Schera</dc:creator>
  <cp:revision>1</cp:revision>
  <dcterms:created xsi:type="dcterms:W3CDTF">2025-05-07T23:14:54Z</dcterms:created>
  <dcterms:modified xsi:type="dcterms:W3CDTF">2026-01-22T20:29:29Z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