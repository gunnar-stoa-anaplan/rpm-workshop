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358" r:id="rId4"/>
  </p:sldMasterIdLst>
  <p:notesMasterIdLst>
    <p:notesMasterId r:id="rId57"/>
  </p:notesMasterIdLst>
  <p:handoutMasterIdLst>
    <p:handoutMasterId r:id="rId58"/>
  </p:handoutMasterIdLst>
  <p:sldIdLst>
    <p:sldId id="2147483617" r:id="rId5"/>
    <p:sldId id="296" r:id="rId6"/>
    <p:sldId id="2142532802" r:id="rId7"/>
    <p:sldId id="2142532654" r:id="rId8"/>
    <p:sldId id="2147473462" r:id="rId9"/>
    <p:sldId id="2147473463" r:id="rId10"/>
    <p:sldId id="273" r:id="rId11"/>
    <p:sldId id="2147473461" r:id="rId12"/>
    <p:sldId id="2147483618" r:id="rId13"/>
    <p:sldId id="2147483619" r:id="rId14"/>
    <p:sldId id="2142532596" r:id="rId15"/>
    <p:sldId id="2147483624" r:id="rId16"/>
    <p:sldId id="2142532598" r:id="rId17"/>
    <p:sldId id="2147483625" r:id="rId18"/>
    <p:sldId id="2147483627" r:id="rId19"/>
    <p:sldId id="2147483628" r:id="rId20"/>
    <p:sldId id="2147483629" r:id="rId21"/>
    <p:sldId id="2147483630" r:id="rId22"/>
    <p:sldId id="2147483631" r:id="rId23"/>
    <p:sldId id="2147483632" r:id="rId24"/>
    <p:sldId id="2147483633" r:id="rId25"/>
    <p:sldId id="2147483634" r:id="rId26"/>
    <p:sldId id="2147483635" r:id="rId27"/>
    <p:sldId id="2147483636" r:id="rId28"/>
    <p:sldId id="2147483637" r:id="rId29"/>
    <p:sldId id="2147483638" r:id="rId30"/>
    <p:sldId id="2147483639" r:id="rId31"/>
    <p:sldId id="2147483640" r:id="rId32"/>
    <p:sldId id="2147483641" r:id="rId33"/>
    <p:sldId id="2147483642" r:id="rId34"/>
    <p:sldId id="2147483643" r:id="rId35"/>
    <p:sldId id="2147483644" r:id="rId36"/>
    <p:sldId id="258" r:id="rId37"/>
    <p:sldId id="2147483646" r:id="rId38"/>
    <p:sldId id="2147483647" r:id="rId39"/>
    <p:sldId id="256" r:id="rId40"/>
    <p:sldId id="257" r:id="rId41"/>
    <p:sldId id="266" r:id="rId42"/>
    <p:sldId id="267" r:id="rId43"/>
    <p:sldId id="268" r:id="rId44"/>
    <p:sldId id="269" r:id="rId45"/>
    <p:sldId id="270" r:id="rId46"/>
    <p:sldId id="271" r:id="rId47"/>
    <p:sldId id="272" r:id="rId48"/>
    <p:sldId id="259" r:id="rId49"/>
    <p:sldId id="260" r:id="rId50"/>
    <p:sldId id="261" r:id="rId51"/>
    <p:sldId id="262" r:id="rId52"/>
    <p:sldId id="263" r:id="rId53"/>
    <p:sldId id="264" r:id="rId54"/>
    <p:sldId id="265" r:id="rId55"/>
    <p:sldId id="289" r:id="rId5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684A80D-ED8D-0505-520D-817611797229}" name="Miranda Dunlap" initials="MD" userId="S::miranda.maas@anaplan.com::894078dd-339c-4ca3-abfe-3ecc21dacd73" providerId="AD"/>
  <p188:author id="{3BBD676F-8E28-25D4-2D0E-94EC625501E2}" name="Kerri Vogel" initials="KV" userId="S::kerri.vogel@anaplan.com::a3b61504-22a4-41c4-8fe9-cd561b1abc85" providerId="AD"/>
  <p188:author id="{B51AC3F6-287E-B39A-2EF9-DFC9544D9988}" name="Ele Storm" initials="EN" userId="S::ele.nies@anaplan.com::99d048ae-076b-4cb5-a0b9-5d2eed71bb7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Kate McCullough" initials="" lastIdx="1" clrIdx="0"/>
  <p:cmAuthor id="1" name="Mark/Anaplan"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FFFFFF"/>
    <a:srgbClr val="3B596B"/>
    <a:srgbClr val="ECECEC"/>
    <a:srgbClr val="001D32"/>
    <a:srgbClr val="F0F1F7"/>
    <a:srgbClr val="C882D9"/>
    <a:srgbClr val="9696FA"/>
    <a:srgbClr val="8AE6D2"/>
    <a:srgbClr val="96B5FA"/>
    <a:srgbClr val="89E5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A51679-A3E7-B54D-B44D-563398BFB310}" v="2" dt="2026-04-28T13:21:48.933"/>
    <p1510:client id="{9E29D66F-C9C7-DE22-AA7F-20218702B46A}" v="4" dt="2026-04-28T13:17:59.142"/>
    <p1510:client id="{B29A36EA-A5E3-1B72-E922-38432CD0C703}" v="42" dt="2026-04-27T13:27:58.600"/>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19"/>
    <p:restoredTop sz="94707"/>
  </p:normalViewPr>
  <p:slideViewPr>
    <p:cSldViewPr snapToGrid="0">
      <p:cViewPr varScale="1">
        <p:scale>
          <a:sx n="193" d="100"/>
          <a:sy n="193" d="100"/>
        </p:scale>
        <p:origin x="1080" y="18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1642446" cy="37581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1548494" cy="375810"/>
      </dsp:txXfrm>
    </dsp:sp>
    <dsp:sp modelId="{E57AE3CF-AFFD-F246-AF4E-80081D7389A3}">
      <dsp:nvSpPr>
        <dsp:cNvPr id="0" name=""/>
        <dsp:cNvSpPr/>
      </dsp:nvSpPr>
      <dsp:spPr>
        <a:xfrm>
          <a:off x="1170831" y="0"/>
          <a:ext cx="2024467" cy="37581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358736" y="0"/>
        <a:ext cx="1648657" cy="375810"/>
      </dsp:txXfrm>
    </dsp:sp>
    <dsp:sp modelId="{C1F42186-3539-EE45-AE3A-CE1777B315A3}">
      <dsp:nvSpPr>
        <dsp:cNvPr id="0" name=""/>
        <dsp:cNvSpPr/>
      </dsp:nvSpPr>
      <dsp:spPr>
        <a:xfrm>
          <a:off x="2955953" y="0"/>
          <a:ext cx="2811235" cy="37581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3143858" y="0"/>
        <a:ext cx="2435425" cy="375810"/>
      </dsp:txXfrm>
    </dsp:sp>
    <dsp:sp modelId="{D975514B-2149-3343-AF06-0EA54928711D}">
      <dsp:nvSpPr>
        <dsp:cNvPr id="0" name=""/>
        <dsp:cNvSpPr/>
      </dsp:nvSpPr>
      <dsp:spPr>
        <a:xfrm>
          <a:off x="5469723" y="0"/>
          <a:ext cx="2683677" cy="37581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5657628" y="0"/>
        <a:ext cx="2307867" cy="3758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470713" y="0"/>
          <a:ext cx="735356" cy="65218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470713" y="0"/>
        <a:ext cx="735356" cy="652185"/>
      </dsp:txXfrm>
    </dsp:sp>
    <dsp:sp modelId="{580D5A4D-B945-A944-8AD5-D12F3BB58A2E}">
      <dsp:nvSpPr>
        <dsp:cNvPr id="0" name=""/>
        <dsp:cNvSpPr/>
      </dsp:nvSpPr>
      <dsp:spPr>
        <a:xfrm>
          <a:off x="1103034" y="652185"/>
          <a:ext cx="1470713" cy="65218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360409" y="652185"/>
        <a:ext cx="955963" cy="652185"/>
      </dsp:txXfrm>
    </dsp:sp>
    <dsp:sp modelId="{F0213A9A-8463-7A4A-811E-D2A57ED6E95F}">
      <dsp:nvSpPr>
        <dsp:cNvPr id="0" name=""/>
        <dsp:cNvSpPr/>
      </dsp:nvSpPr>
      <dsp:spPr>
        <a:xfrm>
          <a:off x="735356" y="1304370"/>
          <a:ext cx="2206069" cy="65218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121418" y="1304370"/>
        <a:ext cx="1433945" cy="652185"/>
      </dsp:txXfrm>
    </dsp:sp>
    <dsp:sp modelId="{25B2BDB5-03B1-CB45-B236-7F4D592253C5}">
      <dsp:nvSpPr>
        <dsp:cNvPr id="0" name=""/>
        <dsp:cNvSpPr/>
      </dsp:nvSpPr>
      <dsp:spPr>
        <a:xfrm>
          <a:off x="367678" y="1956555"/>
          <a:ext cx="2941426" cy="65218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882427" y="1956555"/>
        <a:ext cx="1911927" cy="652185"/>
      </dsp:txXfrm>
    </dsp:sp>
    <dsp:sp modelId="{D67A739A-C4D1-B44F-B09D-6749BDDAE40A}">
      <dsp:nvSpPr>
        <dsp:cNvPr id="0" name=""/>
        <dsp:cNvSpPr/>
      </dsp:nvSpPr>
      <dsp:spPr>
        <a:xfrm>
          <a:off x="0" y="2608740"/>
          <a:ext cx="3676783" cy="652185"/>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643437" y="2608740"/>
        <a:ext cx="2389908" cy="6521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378793" y="0"/>
          <a:ext cx="919195" cy="815231"/>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378793" y="0"/>
        <a:ext cx="919195" cy="815231"/>
      </dsp:txXfrm>
    </dsp:sp>
    <dsp:sp modelId="{580D5A4D-B945-A944-8AD5-D12F3BB58A2E}">
      <dsp:nvSpPr>
        <dsp:cNvPr id="0" name=""/>
        <dsp:cNvSpPr/>
      </dsp:nvSpPr>
      <dsp:spPr>
        <a:xfrm>
          <a:off x="919195" y="815231"/>
          <a:ext cx="1838391" cy="815231"/>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240914" y="815231"/>
        <a:ext cx="1194954" cy="815231"/>
      </dsp:txXfrm>
    </dsp:sp>
    <dsp:sp modelId="{F0213A9A-8463-7A4A-811E-D2A57ED6E95F}">
      <dsp:nvSpPr>
        <dsp:cNvPr id="0" name=""/>
        <dsp:cNvSpPr/>
      </dsp:nvSpPr>
      <dsp:spPr>
        <a:xfrm>
          <a:off x="459597" y="1630462"/>
          <a:ext cx="2757587" cy="815231"/>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942175" y="1630462"/>
        <a:ext cx="1792431" cy="815231"/>
      </dsp:txXfrm>
    </dsp:sp>
    <dsp:sp modelId="{25B2BDB5-03B1-CB45-B236-7F4D592253C5}">
      <dsp:nvSpPr>
        <dsp:cNvPr id="0" name=""/>
        <dsp:cNvSpPr/>
      </dsp:nvSpPr>
      <dsp:spPr>
        <a:xfrm>
          <a:off x="0" y="2445693"/>
          <a:ext cx="3676783" cy="815231"/>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643437" y="2445693"/>
        <a:ext cx="2389908" cy="8152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225594"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25594" y="0"/>
        <a:ext cx="1225594" cy="1086975"/>
      </dsp:txXfrm>
    </dsp:sp>
    <dsp:sp modelId="{580D5A4D-B945-A944-8AD5-D12F3BB58A2E}">
      <dsp:nvSpPr>
        <dsp:cNvPr id="0" name=""/>
        <dsp:cNvSpPr/>
      </dsp:nvSpPr>
      <dsp:spPr>
        <a:xfrm>
          <a:off x="612797"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041755" y="1086975"/>
        <a:ext cx="1593272" cy="1086975"/>
      </dsp:txXfrm>
    </dsp:sp>
    <dsp:sp modelId="{F0213A9A-8463-7A4A-811E-D2A57ED6E95F}">
      <dsp:nvSpPr>
        <dsp:cNvPr id="0" name=""/>
        <dsp:cNvSpPr/>
      </dsp:nvSpPr>
      <dsp:spPr>
        <a:xfrm>
          <a:off x="0" y="2173950"/>
          <a:ext cx="3676783"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643437" y="2173950"/>
        <a:ext cx="2389908" cy="108697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latin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8A116E5-B3F0-446A-857C-CED369DFF353}" type="datetimeFigureOut">
              <a:rPr lang="en-JM" smtClean="0">
                <a:latin typeface="Arial" panose="020B0604020202020204" pitchFamily="34" charset="0"/>
              </a:rPr>
              <a:t>16/6/2026</a:t>
            </a:fld>
            <a:endParaRPr lang="en-JM">
              <a:latin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DCF8230-7721-4419-B182-563FEA856007}" type="slidenum">
              <a:rPr lang="en-JM" smtClean="0">
                <a:latin typeface="Arial" panose="020B0604020202020204" pitchFamily="34" charset="0"/>
              </a:rPr>
              <a:t>‹#›</a:t>
            </a:fld>
            <a:endParaRPr lang="en-JM">
              <a:latin typeface="Arial" panose="020B0604020202020204" pitchFamily="34" charset="0"/>
            </a:endParaRPr>
          </a:p>
        </p:txBody>
      </p:sp>
    </p:spTree>
    <p:extLst>
      <p:ext uri="{BB962C8B-B14F-4D97-AF65-F5344CB8AC3E}">
        <p14:creationId xmlns:p14="http://schemas.microsoft.com/office/powerpoint/2010/main" val="35819607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rial" panose="020B0604020202020204" pitchFamily="34" charset="0"/>
              </a:defRPr>
            </a:lvl1pPr>
          </a:lstStyle>
          <a:p>
            <a:fld id="{3AF288BE-2D91-2146-B03C-E0A5B453697D}" type="datetimeFigureOut">
              <a:rPr lang="en-US" smtClean="0"/>
              <a:pPr/>
              <a:t>6/16/2026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5DA7E72F-BFB2-D748-87F9-5C2F0B5EB908}" type="slidenum">
              <a:rPr lang="en-US" smtClean="0"/>
              <a:pPr/>
              <a:t>‹#›</a:t>
            </a:fld>
            <a:endParaRPr lang="en-US"/>
          </a:p>
        </p:txBody>
      </p:sp>
    </p:spTree>
    <p:extLst>
      <p:ext uri="{BB962C8B-B14F-4D97-AF65-F5344CB8AC3E}">
        <p14:creationId xmlns:p14="http://schemas.microsoft.com/office/powerpoint/2010/main" val="1219371290"/>
      </p:ext>
    </p:extLst>
  </p:cSld>
  <p:clrMap bg1="lt1" tx1="dk1" bg2="lt2" tx2="dk2" accent1="accent1" accent2="accent2" accent3="accent3" accent4="accent4" accent5="accent5" accent6="accent6" hlink="hlink" folHlink="folHlink"/>
  <p:notesStyle>
    <a:lvl1pPr marL="0" algn="l" defTabSz="457200" rtl="0" eaLnBrk="1" latinLnBrk="0" hangingPunct="1">
      <a:defRPr sz="1200" b="0" i="0" kern="1200">
        <a:solidFill>
          <a:schemeClr val="tx1"/>
        </a:solidFill>
        <a:latin typeface="Arial" panose="020B0604020202020204" pitchFamily="34" charset="0"/>
        <a:ea typeface="+mn-ea"/>
        <a:cs typeface="+mn-cs"/>
      </a:defRPr>
    </a:lvl1pPr>
    <a:lvl2pPr marL="457200" algn="l" defTabSz="457200" rtl="0" eaLnBrk="1" latinLnBrk="0" hangingPunct="1">
      <a:defRPr sz="1200" b="0" i="0" kern="1200">
        <a:solidFill>
          <a:schemeClr val="tx1"/>
        </a:solidFill>
        <a:latin typeface="Arial" panose="020B0604020202020204" pitchFamily="34" charset="0"/>
        <a:ea typeface="+mn-ea"/>
        <a:cs typeface="+mn-cs"/>
      </a:defRPr>
    </a:lvl2pPr>
    <a:lvl3pPr marL="914400" algn="l" defTabSz="457200" rtl="0" eaLnBrk="1" latinLnBrk="0" hangingPunct="1">
      <a:defRPr sz="1200" b="0" i="0" kern="1200">
        <a:solidFill>
          <a:schemeClr val="tx1"/>
        </a:solidFill>
        <a:latin typeface="Arial" panose="020B0604020202020204" pitchFamily="34" charset="0"/>
        <a:ea typeface="+mn-ea"/>
        <a:cs typeface="+mn-cs"/>
      </a:defRPr>
    </a:lvl3pPr>
    <a:lvl4pPr marL="1371600" algn="l" defTabSz="457200" rtl="0" eaLnBrk="1" latinLnBrk="0" hangingPunct="1">
      <a:defRPr sz="1200" b="0" i="0" kern="1200">
        <a:solidFill>
          <a:schemeClr val="tx1"/>
        </a:solidFill>
        <a:latin typeface="Arial" panose="020B0604020202020204" pitchFamily="34" charset="0"/>
        <a:ea typeface="+mn-ea"/>
        <a:cs typeface="+mn-cs"/>
      </a:defRPr>
    </a:lvl4pPr>
    <a:lvl5pPr marL="1828800" algn="l" defTabSz="457200" rtl="0" eaLnBrk="1" latinLnBrk="0" hangingPunct="1">
      <a:defRPr sz="1200" b="0" i="0" kern="1200">
        <a:solidFill>
          <a:schemeClr val="tx1"/>
        </a:solidFill>
        <a:latin typeface="Arial" panose="020B060402020202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2</a:t>
            </a:fld>
            <a:endParaRPr lang="en-US"/>
          </a:p>
        </p:txBody>
      </p:sp>
    </p:spTree>
    <p:extLst>
      <p:ext uri="{BB962C8B-B14F-4D97-AF65-F5344CB8AC3E}">
        <p14:creationId xmlns:p14="http://schemas.microsoft.com/office/powerpoint/2010/main" val="1404132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5</a:t>
            </a:fld>
            <a:endParaRPr lang="en-US"/>
          </a:p>
        </p:txBody>
      </p:sp>
    </p:spTree>
    <p:extLst>
      <p:ext uri="{BB962C8B-B14F-4D97-AF65-F5344CB8AC3E}">
        <p14:creationId xmlns:p14="http://schemas.microsoft.com/office/powerpoint/2010/main" val="887283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E8B1-0FC3-35D4-A0FA-A6B77FC51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1ABCB0-5DC0-1283-BD2E-5D93A23D60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7C51C6-A74E-2488-D1E8-7F969B9C30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C1BA045-EF4D-4E50-84B4-A4774FC1D2DA}"/>
              </a:ext>
            </a:extLst>
          </p:cNvPr>
          <p:cNvSpPr>
            <a:spLocks noGrp="1"/>
          </p:cNvSpPr>
          <p:nvPr>
            <p:ph type="sldNum" sz="quarter" idx="5"/>
          </p:nvPr>
        </p:nvSpPr>
        <p:spPr/>
        <p:txBody>
          <a:bodyPr/>
          <a:lstStyle/>
          <a:p>
            <a:fld id="{5DA7E72F-BFB2-D748-87F9-5C2F0B5EB908}" type="slidenum">
              <a:rPr lang="en-US" smtClean="0"/>
              <a:pPr/>
              <a:t>6</a:t>
            </a:fld>
            <a:endParaRPr lang="en-US"/>
          </a:p>
        </p:txBody>
      </p:sp>
    </p:spTree>
    <p:extLst>
      <p:ext uri="{BB962C8B-B14F-4D97-AF65-F5344CB8AC3E}">
        <p14:creationId xmlns:p14="http://schemas.microsoft.com/office/powerpoint/2010/main" val="3474097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B86F9-0BA2-1CD7-B91C-AAA48A1F66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6DD08-7F52-3048-2E5D-EB8023BC1B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57A8FB-9A09-1321-4820-35BB42EF0B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2864A9-4C0A-E358-FC08-2FEDACFCC61E}"/>
              </a:ext>
            </a:extLst>
          </p:cNvPr>
          <p:cNvSpPr>
            <a:spLocks noGrp="1"/>
          </p:cNvSpPr>
          <p:nvPr>
            <p:ph type="sldNum" sz="quarter" idx="5"/>
          </p:nvPr>
        </p:nvSpPr>
        <p:spPr/>
        <p:txBody>
          <a:bodyPr/>
          <a:lstStyle/>
          <a:p>
            <a:fld id="{5DA7E72F-BFB2-D748-87F9-5C2F0B5EB908}" type="slidenum">
              <a:rPr lang="en-US" smtClean="0"/>
              <a:pPr/>
              <a:t>7</a:t>
            </a:fld>
            <a:endParaRPr lang="en-US"/>
          </a:p>
        </p:txBody>
      </p:sp>
    </p:spTree>
    <p:extLst>
      <p:ext uri="{BB962C8B-B14F-4D97-AF65-F5344CB8AC3E}">
        <p14:creationId xmlns:p14="http://schemas.microsoft.com/office/powerpoint/2010/main" val="711972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8</a:t>
            </a:fld>
            <a:endParaRPr lang="en-US"/>
          </a:p>
        </p:txBody>
      </p:sp>
    </p:spTree>
    <p:extLst>
      <p:ext uri="{BB962C8B-B14F-4D97-AF65-F5344CB8AC3E}">
        <p14:creationId xmlns:p14="http://schemas.microsoft.com/office/powerpoint/2010/main" val="1117975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11</a:t>
            </a:fld>
            <a:endParaRPr lang="en-US"/>
          </a:p>
        </p:txBody>
      </p:sp>
    </p:spTree>
    <p:extLst>
      <p:ext uri="{BB962C8B-B14F-4D97-AF65-F5344CB8AC3E}">
        <p14:creationId xmlns:p14="http://schemas.microsoft.com/office/powerpoint/2010/main" val="42616844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DC981-41B7-5752-D52A-46604EC3D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E146E8-58FC-DB21-5C22-7BCB435EC1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160A24-BD58-17FB-2ECC-123E4C90A1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0D273C8-DD4C-E102-D9DA-F94B3D339745}"/>
              </a:ext>
            </a:extLst>
          </p:cNvPr>
          <p:cNvSpPr>
            <a:spLocks noGrp="1"/>
          </p:cNvSpPr>
          <p:nvPr>
            <p:ph type="sldNum" sz="quarter" idx="5"/>
          </p:nvPr>
        </p:nvSpPr>
        <p:spPr/>
        <p:txBody>
          <a:bodyPr/>
          <a:lstStyle/>
          <a:p>
            <a:fld id="{5DA7E72F-BFB2-D748-87F9-5C2F0B5EB908}" type="slidenum">
              <a:rPr lang="en-US" smtClean="0"/>
              <a:pPr/>
              <a:t>18</a:t>
            </a:fld>
            <a:endParaRPr lang="en-US"/>
          </a:p>
        </p:txBody>
      </p:sp>
    </p:spTree>
    <p:extLst>
      <p:ext uri="{BB962C8B-B14F-4D97-AF65-F5344CB8AC3E}">
        <p14:creationId xmlns:p14="http://schemas.microsoft.com/office/powerpoint/2010/main" val="730698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A537D-C71A-E191-6330-01C64E2B9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B82306-197D-1B98-D8C8-2DB8231E43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64B563-27CF-5807-16B1-58917F1F15D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735FF52-2AB3-E921-F986-B9DD1FA740FD}"/>
              </a:ext>
            </a:extLst>
          </p:cNvPr>
          <p:cNvSpPr>
            <a:spLocks noGrp="1"/>
          </p:cNvSpPr>
          <p:nvPr>
            <p:ph type="sldNum" sz="quarter" idx="5"/>
          </p:nvPr>
        </p:nvSpPr>
        <p:spPr/>
        <p:txBody>
          <a:bodyPr/>
          <a:lstStyle/>
          <a:p>
            <a:fld id="{5DA7E72F-BFB2-D748-87F9-5C2F0B5EB908}" type="slidenum">
              <a:rPr lang="en-US" smtClean="0"/>
              <a:pPr/>
              <a:t>25</a:t>
            </a:fld>
            <a:endParaRPr lang="en-US"/>
          </a:p>
        </p:txBody>
      </p:sp>
    </p:spTree>
    <p:extLst>
      <p:ext uri="{BB962C8B-B14F-4D97-AF65-F5344CB8AC3E}">
        <p14:creationId xmlns:p14="http://schemas.microsoft.com/office/powerpoint/2010/main" val="31516970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A7E72F-BFB2-D748-87F9-5C2F0B5EB908}" type="slidenum">
              <a:rPr lang="en-US" smtClean="0"/>
              <a:pPr/>
              <a:t>30</a:t>
            </a:fld>
            <a:endParaRPr lang="en-US"/>
          </a:p>
        </p:txBody>
      </p:sp>
    </p:spTree>
    <p:extLst>
      <p:ext uri="{BB962C8B-B14F-4D97-AF65-F5344CB8AC3E}">
        <p14:creationId xmlns:p14="http://schemas.microsoft.com/office/powerpoint/2010/main" val="2747019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1182D-7E24-B5FC-A658-78DB4681E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6085E-2298-B941-13E7-E8966881D6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BB49E-DCA5-8E0F-A8C5-49291E4B5F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01A702-DD36-8DB9-092F-91475C54E1E9}"/>
              </a:ext>
            </a:extLst>
          </p:cNvPr>
          <p:cNvSpPr>
            <a:spLocks noGrp="1"/>
          </p:cNvSpPr>
          <p:nvPr>
            <p:ph type="sldNum" sz="quarter" idx="5"/>
          </p:nvPr>
        </p:nvSpPr>
        <p:spPr/>
        <p:txBody>
          <a:bodyPr/>
          <a:lstStyle/>
          <a:p>
            <a:fld id="{5DA7E72F-BFB2-D748-87F9-5C2F0B5EB908}" type="slidenum">
              <a:rPr lang="en-US" smtClean="0"/>
              <a:pPr/>
              <a:t>32</a:t>
            </a:fld>
            <a:endParaRPr lang="en-US"/>
          </a:p>
        </p:txBody>
      </p:sp>
    </p:spTree>
    <p:extLst>
      <p:ext uri="{BB962C8B-B14F-4D97-AF65-F5344CB8AC3E}">
        <p14:creationId xmlns:p14="http://schemas.microsoft.com/office/powerpoint/2010/main" val="4191998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2DD99-65B3-7336-96BB-6E72FC0002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4F08E7-E24F-C191-4F6A-BAD20D50B9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DB1210-4599-CB41-37FF-6A5C7252C1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5D337A-A9AC-E887-5A74-155676DD74D9}"/>
              </a:ext>
            </a:extLst>
          </p:cNvPr>
          <p:cNvSpPr>
            <a:spLocks noGrp="1"/>
          </p:cNvSpPr>
          <p:nvPr>
            <p:ph type="sldNum" sz="quarter" idx="5"/>
          </p:nvPr>
        </p:nvSpPr>
        <p:spPr/>
        <p:txBody>
          <a:bodyPr/>
          <a:lstStyle/>
          <a:p>
            <a:fld id="{5DA7E72F-BFB2-D748-87F9-5C2F0B5EB908}" type="slidenum">
              <a:rPr lang="en-US" smtClean="0"/>
              <a:pPr/>
              <a:t>37</a:t>
            </a:fld>
            <a:endParaRPr lang="en-US"/>
          </a:p>
        </p:txBody>
      </p:sp>
    </p:spTree>
    <p:extLst>
      <p:ext uri="{BB962C8B-B14F-4D97-AF65-F5344CB8AC3E}">
        <p14:creationId xmlns:p14="http://schemas.microsoft.com/office/powerpoint/2010/main" val="35463226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A3295-1BAE-5F9C-9028-D1B590D6B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AA83D-7C65-F77C-9AA5-F6DA58B7BE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4166A-FD65-A84D-2744-5AB9BE2A16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3343DF-C5BB-9F2A-FDBF-493748EE1035}"/>
              </a:ext>
            </a:extLst>
          </p:cNvPr>
          <p:cNvSpPr>
            <a:spLocks noGrp="1"/>
          </p:cNvSpPr>
          <p:nvPr>
            <p:ph type="sldNum" sz="quarter" idx="5"/>
          </p:nvPr>
        </p:nvSpPr>
        <p:spPr/>
        <p:txBody>
          <a:bodyPr/>
          <a:lstStyle/>
          <a:p>
            <a:fld id="{5DA7E72F-BFB2-D748-87F9-5C2F0B5EB908}" type="slidenum">
              <a:rPr lang="en-US" smtClean="0"/>
              <a:pPr/>
              <a:t>39</a:t>
            </a:fld>
            <a:endParaRPr lang="en-US"/>
          </a:p>
        </p:txBody>
      </p:sp>
    </p:spTree>
    <p:extLst>
      <p:ext uri="{BB962C8B-B14F-4D97-AF65-F5344CB8AC3E}">
        <p14:creationId xmlns:p14="http://schemas.microsoft.com/office/powerpoint/2010/main" val="19584484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351C2-8D5C-34B3-356F-296C73974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21011E-6EEA-B0BB-DCC0-D70883F693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B5BE58-4F52-E299-0EE6-FF94F1FAC2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FA178B-83FE-70D0-809C-DEEAFA558E96}"/>
              </a:ext>
            </a:extLst>
          </p:cNvPr>
          <p:cNvSpPr>
            <a:spLocks noGrp="1"/>
          </p:cNvSpPr>
          <p:nvPr>
            <p:ph type="sldNum" sz="quarter" idx="5"/>
          </p:nvPr>
        </p:nvSpPr>
        <p:spPr/>
        <p:txBody>
          <a:bodyPr/>
          <a:lstStyle/>
          <a:p>
            <a:fld id="{5DA7E72F-BFB2-D748-87F9-5C2F0B5EB908}" type="slidenum">
              <a:rPr lang="en-US" smtClean="0"/>
              <a:pPr/>
              <a:t>44</a:t>
            </a:fld>
            <a:endParaRPr lang="en-US"/>
          </a:p>
        </p:txBody>
      </p:sp>
    </p:spTree>
    <p:extLst>
      <p:ext uri="{BB962C8B-B14F-4D97-AF65-F5344CB8AC3E}">
        <p14:creationId xmlns:p14="http://schemas.microsoft.com/office/powerpoint/2010/main" val="41883306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23D31-5E48-01EC-2A6B-9AA79DA74B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83716-E2BB-7B8C-7322-07CE9BEDF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2F5476-8EA1-4AE2-54FF-35DF6527CE5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2990C9-1A1D-3490-5829-387AFAFA9AA2}"/>
              </a:ext>
            </a:extLst>
          </p:cNvPr>
          <p:cNvSpPr>
            <a:spLocks noGrp="1"/>
          </p:cNvSpPr>
          <p:nvPr>
            <p:ph type="sldNum" sz="quarter" idx="5"/>
          </p:nvPr>
        </p:nvSpPr>
        <p:spPr/>
        <p:txBody>
          <a:bodyPr/>
          <a:lstStyle/>
          <a:p>
            <a:fld id="{5DA7E72F-BFB2-D748-87F9-5C2F0B5EB908}" type="slidenum">
              <a:rPr lang="en-US" smtClean="0"/>
              <a:pPr/>
              <a:t>46</a:t>
            </a:fld>
            <a:endParaRPr lang="en-US"/>
          </a:p>
        </p:txBody>
      </p:sp>
    </p:spTree>
    <p:extLst>
      <p:ext uri="{BB962C8B-B14F-4D97-AF65-F5344CB8AC3E}">
        <p14:creationId xmlns:p14="http://schemas.microsoft.com/office/powerpoint/2010/main" val="12077733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725EE-FFE1-FFF9-4B5B-87AE5360DE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677AC7-CE31-14D1-F1E6-B2134319DB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7346E-3910-DE25-3ED8-E22DDAF603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BA31CA-50FE-D494-33D7-DC765179E831}"/>
              </a:ext>
            </a:extLst>
          </p:cNvPr>
          <p:cNvSpPr>
            <a:spLocks noGrp="1"/>
          </p:cNvSpPr>
          <p:nvPr>
            <p:ph type="sldNum" sz="quarter" idx="5"/>
          </p:nvPr>
        </p:nvSpPr>
        <p:spPr/>
        <p:txBody>
          <a:bodyPr/>
          <a:lstStyle/>
          <a:p>
            <a:fld id="{5DA7E72F-BFB2-D748-87F9-5C2F0B5EB908}" type="slidenum">
              <a:rPr lang="en-US" smtClean="0"/>
              <a:pPr/>
              <a:t>51</a:t>
            </a:fld>
            <a:endParaRPr lang="en-US"/>
          </a:p>
        </p:txBody>
      </p:sp>
    </p:spTree>
    <p:extLst>
      <p:ext uri="{BB962C8B-B14F-4D97-AF65-F5344CB8AC3E}">
        <p14:creationId xmlns:p14="http://schemas.microsoft.com/office/powerpoint/2010/main" val="24130483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0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8700" y="0"/>
            <a:ext cx="9141780" cy="5144748"/>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6857273" y="-59331"/>
            <a:ext cx="1628069" cy="3860164"/>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7836603" y="2964180"/>
            <a:ext cx="922554" cy="2187382"/>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31584" y="0"/>
            <a:ext cx="6951864" cy="51635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8212149" y="-223365"/>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7558948" y="5147329"/>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91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9143998" cy="5145998"/>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5431510" y="-1605"/>
            <a:ext cx="3718238" cy="5145105"/>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5314335"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90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9144000" cy="5145997"/>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5439743" y="-2853"/>
            <a:ext cx="3721675" cy="5146353"/>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7" y="866067"/>
            <a:ext cx="3721674"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525789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9144000" cy="5145997"/>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4807218" y="-1589"/>
            <a:ext cx="4332974" cy="514508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763526" y="866067"/>
            <a:ext cx="4440771"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4604083"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3609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1009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773346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1248"/>
            <a:ext cx="9144000" cy="51435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6" y="629847"/>
            <a:ext cx="4776213"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7" y="2635354"/>
            <a:ext cx="4776151"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3407862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419100" y="1807710"/>
            <a:ext cx="40767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408940" y="2813934"/>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408940" y="3820158"/>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918410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419100" y="1807710"/>
            <a:ext cx="40767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408940" y="2813934"/>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408940" y="3820158"/>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76276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72626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83908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6340416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83930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419100" y="1896918"/>
            <a:ext cx="7815189"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408940" y="2903142"/>
            <a:ext cx="7815189"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408940" y="3909366"/>
            <a:ext cx="7815189"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762134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245231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451079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42647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400902" y="4316233"/>
            <a:ext cx="7815189"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419100" y="1441547"/>
            <a:ext cx="7815189"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419100" y="2013937"/>
            <a:ext cx="7815189"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410046" y="2586327"/>
            <a:ext cx="7815189"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410046" y="3158717"/>
            <a:ext cx="7815189"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410046" y="3740161"/>
            <a:ext cx="7815189"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3566027" y="1014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3566027" y="1599629"/>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3566027" y="2157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3566027" y="2733485"/>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3566027" y="3318701"/>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3566027" y="389477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7635107" y="1014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7635107" y="1599629"/>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7635107" y="2157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7635107" y="2733485"/>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7635107" y="3318701"/>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7635107" y="389477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451841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43409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451079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42647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451079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42647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451079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42647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451079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42647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898918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5998"/>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17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9143998" cy="5145998"/>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60055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249"/>
            <a:ext cx="9144000" cy="5145997"/>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0" i="0">
                <a:solidFill>
                  <a:schemeClr val="accent1"/>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46759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9143998" cy="5145998"/>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682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0" y="-1605"/>
            <a:ext cx="3055095" cy="5145105"/>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3363850" y="1931576"/>
            <a:ext cx="4951393" cy="1588068"/>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3363911" y="3771900"/>
            <a:ext cx="4951408" cy="548626"/>
          </a:xfrm>
          <a:prstGeom prst="rect">
            <a:avLst/>
          </a:prstGeom>
        </p:spPr>
        <p:txBody>
          <a:bodyPr lIns="0"/>
          <a:lstStyle>
            <a:lvl1pPr marL="0" indent="0">
              <a:buNone/>
              <a:defRPr sz="18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3363850" y="631772"/>
            <a:ext cx="4951392" cy="382403"/>
          </a:xfrm>
          <a:prstGeom prst="rect">
            <a:avLst/>
          </a:prstGeom>
        </p:spPr>
        <p:txBody>
          <a:bodyPr lIns="0" anchor="t"/>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852319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3363850" y="2030266"/>
            <a:ext cx="4951392" cy="382403"/>
          </a:xfrm>
          <a:prstGeom prst="rect">
            <a:avLst/>
          </a:prstGeom>
        </p:spPr>
        <p:txBody>
          <a:bodyPr lIns="0" anchor="b"/>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0" y="-7684"/>
            <a:ext cx="2752351" cy="5155519"/>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3363850" y="2571750"/>
            <a:ext cx="4951393" cy="1588068"/>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05810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b="0" i="0">
                <a:solidFill>
                  <a:schemeClr val="tx2"/>
                </a:solidFill>
                <a:latin typeface="Arial" panose="020B0604020202020204" pitchFamily="34" charset="0"/>
                <a:cs typeface="Arial" panose="020B0604020202020204" pitchFamily="34" charset="0"/>
              </a:defRPr>
            </a:lvl4pPr>
            <a:lvl5pPr>
              <a:defRPr sz="1600" b="0" i="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88835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075000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3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550061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2" y="596618"/>
            <a:ext cx="8153400"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70377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1" y="596618"/>
            <a:ext cx="8153399"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71684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099" y="589650"/>
            <a:ext cx="8153929" cy="338554"/>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8571" y="1158700"/>
            <a:ext cx="8153929" cy="366095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133596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7745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0632982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2220809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79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474706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37307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2069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894938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8572500" y="0"/>
            <a:ext cx="5715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877162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7031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4439" y="0"/>
            <a:ext cx="9139559" cy="51435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957672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2438401" y="1104900"/>
            <a:ext cx="5623558" cy="2658585"/>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l="-117" r="-1"/>
          <a:stretch/>
        </p:blipFill>
        <p:spPr>
          <a:xfrm>
            <a:off x="-7684" y="-1248"/>
            <a:ext cx="1902372" cy="5144748"/>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450301" y="521120"/>
            <a:ext cx="1003989" cy="1022035"/>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2438400" y="3933081"/>
            <a:ext cx="5623558"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2438400" y="4214649"/>
            <a:ext cx="5623558"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239581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422048" y="903890"/>
            <a:ext cx="7150452" cy="3475305"/>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185495" y="1228132"/>
            <a:ext cx="5623558" cy="1976489"/>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855167"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419100" y="409903"/>
            <a:ext cx="1388435" cy="130193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804586" y="746592"/>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193019" y="3374218"/>
            <a:ext cx="4098925"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193019" y="3655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9135396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957048"/>
            <a:ext cx="8572500" cy="3595902"/>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777839" y="1462336"/>
            <a:ext cx="6972255" cy="1591373"/>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755539" y="376076"/>
            <a:ext cx="888889" cy="82339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777840" y="3380978"/>
            <a:ext cx="5081970"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777840" y="3662546"/>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0513810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389063" y="1435121"/>
            <a:ext cx="6929436" cy="1569660"/>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004454" y="598144"/>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155864" y="1507368"/>
            <a:ext cx="1160318" cy="275112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483993" y="-95250"/>
            <a:ext cx="200068" cy="47436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2428009" y="3123943"/>
            <a:ext cx="5081970"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2428009" y="3405511"/>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371475" y="3687078"/>
            <a:ext cx="371475" cy="96494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171575" y="-361950"/>
            <a:ext cx="1038225" cy="36195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166610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5063569" y="877887"/>
            <a:ext cx="3508931" cy="3941763"/>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44958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4846768" y="342515"/>
            <a:ext cx="823832" cy="772509"/>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419101" y="294640"/>
            <a:ext cx="3720183"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419101" y="834850"/>
            <a:ext cx="3729153"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5436293" y="3958171"/>
            <a:ext cx="1970974" cy="281567"/>
          </a:xfrm>
          <a:prstGeom prst="rect">
            <a:avLst/>
          </a:prstGeom>
        </p:spPr>
        <p:txBody>
          <a:bodyPr lIns="0"/>
          <a:lstStyle>
            <a:lvl1pPr marL="0" indent="0">
              <a:buNone/>
              <a:defRPr sz="1400"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5436293" y="4239739"/>
            <a:ext cx="1970974" cy="281567"/>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5435600" y="1438424"/>
            <a:ext cx="2694247" cy="2319971"/>
          </a:xfrm>
          <a:prstGeom prst="rect">
            <a:avLst/>
          </a:prstGeom>
        </p:spPr>
        <p:txBody>
          <a:bodyPr lIns="0"/>
          <a:lstStyle>
            <a:lvl1pPr marL="0" indent="0">
              <a:buNone/>
              <a:defRPr sz="2000"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0990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793173" y="957048"/>
            <a:ext cx="7322127" cy="4186452"/>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129611" y="489590"/>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129609" y="3540218"/>
            <a:ext cx="4098925"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129609" y="3821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129608" y="1398241"/>
            <a:ext cx="6486675" cy="1991729"/>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44999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1488551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151740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140729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912862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4499438" y="1261367"/>
            <a:ext cx="4073062" cy="2144563"/>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5800" y="1028933"/>
            <a:ext cx="4076700" cy="229138"/>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03984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65173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064903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5550408" y="3040215"/>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4495800" y="985863"/>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4792" y="821592"/>
            <a:ext cx="3016351" cy="169540"/>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5547078" y="2875364"/>
            <a:ext cx="3016351" cy="169540"/>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22389062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67727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1554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35447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01228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6"/>
            <a:ext cx="3746835" cy="3977244"/>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7169264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934233" y="0"/>
            <a:ext cx="3769998" cy="51435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4075362"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78007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17587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453065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4827538" y="842406"/>
            <a:ext cx="3746835" cy="1705472"/>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5253531" y="2748324"/>
            <a:ext cx="3320842" cy="2048484"/>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5939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233497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444895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5181600" y="842406"/>
            <a:ext cx="3392773" cy="1705472"/>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4818078" y="2748324"/>
            <a:ext cx="1979623" cy="1615066"/>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7014959" y="2748324"/>
            <a:ext cx="1560742" cy="2048484"/>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1349614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578005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3304885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4685760" y="1539102"/>
            <a:ext cx="3377556" cy="2874765"/>
          </a:xfrm>
          <a:prstGeom prst="rect">
            <a:avLst/>
          </a:prstGeom>
        </p:spPr>
        <p:txBody>
          <a:bodyPr lIns="0" anchor="t"/>
          <a:lstStyle>
            <a:lvl1pPr marL="233363" indent="-233363">
              <a:buClr>
                <a:schemeClr val="accent2"/>
              </a:buClr>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4687665"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639540"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639540" y="1447844"/>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4689081" y="1447844"/>
            <a:ext cx="3377557"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639540" y="1554342"/>
            <a:ext cx="3389252" cy="2874765"/>
          </a:xfrm>
          <a:prstGeom prst="rect">
            <a:avLst/>
          </a:prstGeom>
        </p:spPr>
        <p:txBody>
          <a:bodyPr lIns="0" anchor="t"/>
          <a:lstStyle>
            <a:lvl1pPr marL="233363" indent="-233363">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531533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177357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72244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050677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6887186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28561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0967188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509405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419101" y="834850"/>
            <a:ext cx="5106341"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53151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3124199" cy="5144748"/>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39"/>
            <a:ext cx="2379856" cy="619761"/>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3371750" y="834850"/>
            <a:ext cx="5200751" cy="3984799"/>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419102" y="1267866"/>
            <a:ext cx="2379856" cy="3551784"/>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2858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095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355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87223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29902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7104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5958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05810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5660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83913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7269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352072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3326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682975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993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9168818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18405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419100"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2452551"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4488942"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6522394"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419100"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2452551"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4488942"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6522394"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357122"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3390573"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5426964"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7460416"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29406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332751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536390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739735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765778"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2799229"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4835620"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6869072"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572928"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2610072"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464721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667278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9747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28228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682986"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040808"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3398630"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4756452"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611427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747335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361897"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2719720"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4077543"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5435366"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6793189"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8151012"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61992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298835"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1977746"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2656657"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3335568"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4014479"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469339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537230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605121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6730123"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740903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808795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282280"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1640354"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299842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4356502"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5714576"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707264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961191" y="1624060"/>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2319265"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367733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5035413"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6393487"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775155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163467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2994744"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4354818"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5714892"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7074965"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96617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231856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3678641"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5038715"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6398789"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7758862"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28228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963508" y="1628477"/>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1644736"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232596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300262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3683848"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4360504"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5037160"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639504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571838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706712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7762072"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82568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1771834"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419100" y="1136652"/>
          <a:ext cx="8153401" cy="3758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5083746"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069470"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809237" y="2220587"/>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2500539"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240306" y="2220587"/>
            <a:ext cx="520466" cy="5204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3932413"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3672180"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5363482"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5103249"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6664727"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6404494"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8095796"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7835563"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549139"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1982013"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341488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4847761"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6148660"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757210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88958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232744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375205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518991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6481998"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791335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419101" y="852394"/>
            <a:ext cx="1352734" cy="215901"/>
          </a:xfrm>
          <a:prstGeom prst="rect">
            <a:avLst/>
          </a:prstGeom>
        </p:spPr>
        <p:txBody>
          <a:bodyPr lIns="0" anchor="ctr"/>
          <a:lstStyle>
            <a:lvl1pPr marL="0" indent="0">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3697560" y="852394"/>
            <a:ext cx="1352734" cy="215901"/>
          </a:xfrm>
          <a:prstGeom prst="rect">
            <a:avLst/>
          </a:prstGeom>
        </p:spPr>
        <p:txBody>
          <a:bodyPr lIns="0" rIns="0" anchor="ctr"/>
          <a:lstStyle>
            <a:lvl1pPr marL="0" indent="0" algn="ctr">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7028057" y="852394"/>
            <a:ext cx="1352734" cy="215901"/>
          </a:xfrm>
          <a:prstGeom prst="rect">
            <a:avLst/>
          </a:prstGeom>
        </p:spPr>
        <p:txBody>
          <a:bodyPr lIns="0" rIns="0" anchor="ctr"/>
          <a:lstStyle>
            <a:lvl1pPr marL="0" indent="0" algn="l">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7987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510759"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418010" y="976009"/>
            <a:ext cx="8062443" cy="326486"/>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302495"/>
            <a:ext cx="865084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874945" y="1302495"/>
            <a:ext cx="7239530" cy="2374183"/>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3190165"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5900473"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510759"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178723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1787237"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306985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3069852"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434019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4340192"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562280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5622807"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6899284"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6899284"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363556"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363556"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264003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2640034"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392264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3922649"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519298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5192989"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647560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6475604"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7752081"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7752081"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937904"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937904"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21438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214382"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349699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3496997"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476733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4767337"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604995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6049952"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7326429"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7326429"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35883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418010" y="976009"/>
            <a:ext cx="8153401" cy="326486"/>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302495"/>
            <a:ext cx="870585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094527"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5353190"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3725364"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6984028"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1543017"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87421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211819"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3549423"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4887027"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6224631"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756223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2893316"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42186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5550245"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690978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81937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61478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69512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1958251"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038594"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330171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338205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463814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471848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597457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605491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731100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739134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287924"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368267"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2633083"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2714231"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39584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40395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5290012"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5371160"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664954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673069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79335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80146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4735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181462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31455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44867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581766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71587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136487"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2492610"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38179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5149539"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650907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77930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3900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3078719" y="1213163"/>
            <a:ext cx="5248852" cy="930424"/>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3078719" y="2343224"/>
            <a:ext cx="5248852" cy="930424"/>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3078719" y="3473284"/>
            <a:ext cx="5248852" cy="930424"/>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3200928" y="1516577"/>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3200928" y="2645629"/>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3200928" y="3774888"/>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userDrawn="1"/>
        </p:nvCxnSpPr>
        <p:spPr>
          <a:xfrm flipV="1">
            <a:off x="2099930" y="167837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userDrawn="1"/>
        </p:nvCxnSpPr>
        <p:spPr>
          <a:xfrm>
            <a:off x="2397182" y="2808436"/>
            <a:ext cx="681537"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userDrawn="1"/>
        </p:nvCxnSpPr>
        <p:spPr>
          <a:xfrm>
            <a:off x="2099930" y="353078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3867944" y="1299223"/>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3867944" y="2437741"/>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3867944" y="3558329"/>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45107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812800" y="1083831"/>
            <a:ext cx="7503885" cy="3243718"/>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6315439"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6315439"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016183"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016183"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939187"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6234668"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939187"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6234668"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745975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3380014" y="1071874"/>
            <a:ext cx="4947557" cy="635492"/>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3161949" y="1171555"/>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3380014" y="1780037"/>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3161949" y="1879718"/>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3380014" y="2488200"/>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3161949" y="2587881"/>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3380014" y="3196363"/>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3161949" y="3296044"/>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3380014" y="3904526"/>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3161949" y="4004207"/>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3191828" y="1214284"/>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3197240" y="1927712"/>
            <a:ext cx="365548" cy="33231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3202734" y="2647270"/>
            <a:ext cx="354560" cy="322328"/>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3190341" y="3338457"/>
            <a:ext cx="379346" cy="344860"/>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3191828" y="4048317"/>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099930" y="1389620"/>
            <a:ext cx="1062019" cy="69646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2355269" y="2097783"/>
            <a:ext cx="806680" cy="34685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2397182" y="2805946"/>
            <a:ext cx="764767" cy="249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2323125" y="3208623"/>
            <a:ext cx="838824" cy="30226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099930" y="3530785"/>
            <a:ext cx="1062019" cy="69148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3779780" y="10886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3779780" y="1802044"/>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3779780" y="2515405"/>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3779780" y="32222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3779780" y="3929159"/>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593318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3022996" y="1260258"/>
            <a:ext cx="3077768" cy="3098007"/>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5799469"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2737494"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5099829"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5099829"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3421342"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3421342"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3509389"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5190143"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3509389"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5190143"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2817058"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5886829"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5830341" y="137261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6527027" y="268102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5830341" y="398943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1625964" y="137261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946206" y="268102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1625964" y="398943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Tree>
    <p:extLst>
      <p:ext uri="{BB962C8B-B14F-4D97-AF65-F5344CB8AC3E}">
        <p14:creationId xmlns:p14="http://schemas.microsoft.com/office/powerpoint/2010/main" val="3789772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3018970" y="2809478"/>
            <a:ext cx="3091545"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812800" y="1178657"/>
            <a:ext cx="2206170" cy="930424"/>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934100"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6110515" y="1178657"/>
            <a:ext cx="2206170" cy="930424"/>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964063" y="104677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6234521"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6264484" y="1039711"/>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812800" y="2344266"/>
            <a:ext cx="2206170" cy="930424"/>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934100"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6110515" y="2344266"/>
            <a:ext cx="2206170" cy="930424"/>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964063" y="2212384"/>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6234521"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6264484" y="2205320"/>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812800" y="3529971"/>
            <a:ext cx="2206170" cy="930424"/>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934100"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6110515" y="3529971"/>
            <a:ext cx="2206170" cy="930424"/>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964063" y="3398089"/>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6234521"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6264484" y="339102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939187"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939187"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939187"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6234756"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6234756"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6234756"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63833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3048848" y="2810585"/>
            <a:ext cx="647004" cy="2399300"/>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2860372" y="2344094"/>
            <a:ext cx="654966"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2322304" y="923211"/>
            <a:ext cx="649146" cy="948351"/>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2491379" y="1403281"/>
            <a:ext cx="654968" cy="1292326"/>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2687040" y="1859772"/>
            <a:ext cx="657654" cy="1686334"/>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40170" y="121837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40170" y="182372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40170" y="247507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1940170" y="312016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40170" y="377983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2498240" y="1201985"/>
            <a:ext cx="622814"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2853517" y="1830999"/>
            <a:ext cx="6115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3197145" y="2500783"/>
            <a:ext cx="66188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3575719" y="3141446"/>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3954291" y="3822878"/>
            <a:ext cx="6177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941201"/>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1654433"/>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370713"/>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082668"/>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5257463" y="3788941"/>
            <a:ext cx="203200" cy="203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5564516" y="94120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5564516" y="165443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5564516" y="237071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5564516" y="308266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5564516" y="378894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8156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30562" y="898895"/>
            <a:ext cx="824111" cy="1157682"/>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345243" y="1284694"/>
            <a:ext cx="82411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101651" y="2075725"/>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2898772" y="2187244"/>
            <a:ext cx="79641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551477" y="2889637"/>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252270" y="2907017"/>
            <a:ext cx="824111"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39939" y="135691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39939" y="206570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39939" y="289254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39939" y="369947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008677" y="369804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264554"/>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070146"/>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878786"/>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664629"/>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650657" y="1253612"/>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5564516" y="1264554"/>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5564516" y="207014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5564516" y="287878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5564516" y="3664629"/>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0987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04287" y="958389"/>
            <a:ext cx="1088323" cy="1317164"/>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559792" y="1685224"/>
            <a:ext cx="107849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323301" y="246771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218720" y="2863143"/>
            <a:ext cx="109545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917506" y="3562779"/>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350367"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68376" y="14954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68376" y="24861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68376" y="357940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495458"/>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393410"/>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3294410"/>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715309" y="1382917"/>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5564516" y="149545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5564516" y="2393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5564516" y="3294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98514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952669"/>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952669"/>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639539"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4713308"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702909"/>
            <a:ext cx="3389029" cy="21588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702909"/>
            <a:ext cx="3376552" cy="21587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656492"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4707026"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7898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479102"/>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479102"/>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229342"/>
            <a:ext cx="3389029" cy="20749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229342"/>
            <a:ext cx="3376552" cy="207489"/>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656492"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4707026"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9206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4648202" y="834850"/>
            <a:ext cx="1869831" cy="3656225"/>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4819053"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6703245" y="834850"/>
            <a:ext cx="186983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4823407"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482340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4823630" y="1546011"/>
            <a:ext cx="1516255"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6878450"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68784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6878673" y="1546011"/>
            <a:ext cx="152060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6878450"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35242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1450" indent="-171450">
              <a:spcBef>
                <a:spcPts val="0"/>
              </a:spcBef>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5202118" y="2827250"/>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4829908" y="834851"/>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8534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5202117" y="2827250"/>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4829908" y="834851"/>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552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6099693" y="3167253"/>
            <a:ext cx="2255579" cy="817563"/>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457200" indent="0">
              <a:buNone/>
              <a:defRPr>
                <a:solidFill>
                  <a:schemeClr val="tx1"/>
                </a:solidFill>
                <a:latin typeface="Arial" panose="020B0604020202020204" pitchFamily="34" charset="0"/>
                <a:cs typeface="Arial" panose="020B0604020202020204" pitchFamily="34" charset="0"/>
              </a:defRPr>
            </a:lvl2pPr>
            <a:lvl3pPr marL="914400" indent="0">
              <a:buNone/>
              <a:defRPr>
                <a:solidFill>
                  <a:schemeClr val="tx1"/>
                </a:solidFill>
                <a:latin typeface="Arial" panose="020B0604020202020204" pitchFamily="34" charset="0"/>
                <a:cs typeface="Arial" panose="020B0604020202020204" pitchFamily="34" charset="0"/>
              </a:defRPr>
            </a:lvl3pPr>
            <a:lvl4pPr marL="1371600" indent="0">
              <a:buNone/>
              <a:defRPr>
                <a:solidFill>
                  <a:schemeClr val="tx1"/>
                </a:solidFill>
                <a:latin typeface="Arial" panose="020B0604020202020204" pitchFamily="34" charset="0"/>
                <a:cs typeface="Arial" panose="020B0604020202020204" pitchFamily="34" charset="0"/>
              </a:defRPr>
            </a:lvl4pPr>
            <a:lvl5pPr marL="1828800" indent="0">
              <a:buNone/>
              <a:defRPr>
                <a:solidFill>
                  <a:schemeClr val="tx1"/>
                </a:solidFill>
                <a:latin typeface="Arial" panose="020B0604020202020204" pitchFamily="34" charset="0"/>
                <a:cs typeface="Arial" panose="020B0604020202020204" pitchFamily="34" charset="0"/>
              </a:defRPr>
            </a:lvl5pPr>
          </a:lstStyle>
          <a:p>
            <a:pPr algn="ctr"/>
            <a:r>
              <a:rPr lang="en-US" sz="1600">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406814" y="834850"/>
            <a:ext cx="5020513" cy="3984800"/>
          </a:xfrm>
          <a:prstGeom prst="rect">
            <a:avLst/>
          </a:prstGeom>
        </p:spPr>
        <p:txBody>
          <a:bodyPr lIns="0" rIns="0"/>
          <a:lstStyle>
            <a:lvl1pPr marL="285750" indent="-285750">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6099434" y="1245469"/>
            <a:ext cx="2255838" cy="1751013"/>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875635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59239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3310047"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69847"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45052"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6045051"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45275"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3297091"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604505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39106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78812"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54017"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54240"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59239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3297091"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604505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466263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4648202" y="834850"/>
            <a:ext cx="1223595" cy="3656225"/>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4761863"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4761862"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4762086"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7329856" y="834850"/>
            <a:ext cx="1223595" cy="3656225"/>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7443517"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744351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7443740"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5984633" y="834850"/>
            <a:ext cx="1223595" cy="3656225"/>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6098294"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6098293"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6098517"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6098294"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4750757"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7436206"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853461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vl8pPr marL="3200400"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4829908" y="834851"/>
            <a:ext cx="3742592" cy="1082552"/>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4829908" y="2113165"/>
            <a:ext cx="3742592" cy="1082552"/>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4829908" y="3391477"/>
            <a:ext cx="3742592" cy="1082552"/>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257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4829908" y="834851"/>
            <a:ext cx="3742592" cy="1082552"/>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4829908" y="2113165"/>
            <a:ext cx="3742592" cy="1082552"/>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4829908" y="3391477"/>
            <a:ext cx="3742592" cy="1082552"/>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049835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546100"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622848"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546100"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6082871"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6006123"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3357255"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3280507"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3298925"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6003624"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996985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644265"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3378321"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6104547"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546100"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3298925"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6003624"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494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59239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384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136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26136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13829"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495798"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71003"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4671002"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71227"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51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903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66903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90529"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26136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467100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66903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20533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4862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2383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24057"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50584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8105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81277"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1676"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86881"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87105"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59239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26136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467100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66903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20668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814448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solidFill>
                  <a:schemeClr val="tx1"/>
                </a:solidFill>
              </a:defRPr>
            </a:lvl6pPr>
            <a:lvl7pPr>
              <a:defRPr sz="1600">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735318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20614" y="961683"/>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20614" y="1945826"/>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20614" y="294546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20614" y="392481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5452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46738" y="987807"/>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46738" y="1971950"/>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46738" y="297159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46738" y="395094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2784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52907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53995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9071"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5925"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3266781"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3255896"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599807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5987191"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53995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529071"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5925"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3266781"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3255896"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599807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5987191"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539956"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32667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60099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539956"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32667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60099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3262645"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599600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54305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3276626"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600998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57687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816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816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53995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52907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326901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325813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599807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598719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53995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52907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326901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325813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599807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598719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52907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3262645"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599600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54305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3276626"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600998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597020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521013"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527876"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7876" y="1453604"/>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527876"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2541611"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2541611" y="1453604"/>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2541611"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4611424"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4611424" y="1453604"/>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4611424"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6620452"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6620452" y="1453604"/>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6620452"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527876"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527876" y="3446790"/>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527876"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2541611"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2541611" y="3446790"/>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2541611"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4611424"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4611424" y="3446790"/>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4611424"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6620452"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6620452" y="3446790"/>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6620452"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2541611"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4611424"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6620452"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521013"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2541611"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4611424"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6620452"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19299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527876"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527876" y="1045769"/>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2541611"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2541611" y="1045769"/>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4611424"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4611424" y="1045769"/>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6620452"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6620452" y="1045769"/>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527876"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527876" y="3038955"/>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2541611"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2541611" y="3038955"/>
            <a:ext cx="169081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4611424"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4611424" y="3038955"/>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6620452"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6620452" y="3038955"/>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521013"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2541611"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4611424"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6620452"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521013"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2541611"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4611424"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6620452"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13399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024025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037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67145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01080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90278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572316" y="0"/>
            <a:ext cx="3572799" cy="51435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700046" y="2805198"/>
            <a:ext cx="3149578" cy="1477328"/>
          </a:xfrm>
          <a:prstGeom prst="rect">
            <a:avLst/>
          </a:prstGeom>
          <a:noFill/>
        </p:spPr>
        <p:txBody>
          <a:bodyPr wrap="square">
            <a:spAutoFit/>
          </a:bodyPr>
          <a:lstStyle/>
          <a:p>
            <a:pPr lvl="0"/>
            <a:r>
              <a:rPr lang="en-US" sz="9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49466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593173" y="1448669"/>
            <a:ext cx="5957654" cy="2244913"/>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66308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593173" y="1448669"/>
            <a:ext cx="5957653" cy="2244913"/>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25521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image" Target="../media/image1.png"/><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28" Type="http://schemas.openxmlformats.org/officeDocument/2006/relationships/slideLayout" Target="../slideLayouts/slideLayout128.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38"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1400438"/>
      </p:ext>
    </p:extLst>
  </p:cSld>
  <p:clrMap bg1="lt1" tx1="dk1" bg2="lt2" tx2="dk2" accent1="accent1" accent2="accent2" accent3="accent3" accent4="accent4" accent5="accent5" accent6="accent6" hlink="hlink" folHlink="folHlink"/>
  <p:sldLayoutIdLst>
    <p:sldLayoutId id="2147484463" r:id="rId1"/>
    <p:sldLayoutId id="2147484464" r:id="rId2"/>
    <p:sldLayoutId id="2147484474" r:id="rId3"/>
    <p:sldLayoutId id="2147484465" r:id="rId4"/>
    <p:sldLayoutId id="2147484462" r:id="rId5"/>
    <p:sldLayoutId id="2147484461" r:id="rId6"/>
    <p:sldLayoutId id="2147484562" r:id="rId7"/>
    <p:sldLayoutId id="2147484473" r:id="rId8"/>
    <p:sldLayoutId id="2147484532" r:id="rId9"/>
    <p:sldLayoutId id="2147484451" r:id="rId10"/>
    <p:sldLayoutId id="2147484452" r:id="rId11"/>
    <p:sldLayoutId id="2147484533" r:id="rId12"/>
    <p:sldLayoutId id="2147484453" r:id="rId13"/>
    <p:sldLayoutId id="2147484454" r:id="rId14"/>
    <p:sldLayoutId id="2147484534" r:id="rId15"/>
    <p:sldLayoutId id="2147484520" r:id="rId16"/>
    <p:sldLayoutId id="2147484400" r:id="rId17"/>
    <p:sldLayoutId id="2147484401" r:id="rId18"/>
    <p:sldLayoutId id="2147484466" r:id="rId19"/>
    <p:sldLayoutId id="2147484467" r:id="rId20"/>
    <p:sldLayoutId id="2147484468" r:id="rId21"/>
    <p:sldLayoutId id="2147484469" r:id="rId22"/>
    <p:sldLayoutId id="2147484370" r:id="rId23"/>
    <p:sldLayoutId id="2147484433" r:id="rId24"/>
    <p:sldLayoutId id="2147484524" r:id="rId25"/>
    <p:sldLayoutId id="2147484371" r:id="rId26"/>
    <p:sldLayoutId id="2147484431" r:id="rId27"/>
    <p:sldLayoutId id="2147484525" r:id="rId28"/>
    <p:sldLayoutId id="2147484372" r:id="rId29"/>
    <p:sldLayoutId id="2147484393" r:id="rId30"/>
    <p:sldLayoutId id="2147484527" r:id="rId31"/>
    <p:sldLayoutId id="2147484373" r:id="rId32"/>
    <p:sldLayoutId id="2147484430" r:id="rId33"/>
    <p:sldLayoutId id="2147484528" r:id="rId34"/>
    <p:sldLayoutId id="2147484374" r:id="rId35"/>
    <p:sldLayoutId id="2147484521" r:id="rId36"/>
    <p:sldLayoutId id="2147484529" r:id="rId37"/>
    <p:sldLayoutId id="2147484540" r:id="rId38"/>
    <p:sldLayoutId id="2147484541" r:id="rId39"/>
    <p:sldLayoutId id="2147484485" r:id="rId40"/>
    <p:sldLayoutId id="2147484486" r:id="rId41"/>
    <p:sldLayoutId id="2147484488" r:id="rId42"/>
    <p:sldLayoutId id="2147484489" r:id="rId43"/>
    <p:sldLayoutId id="2147484535" r:id="rId44"/>
    <p:sldLayoutId id="2147484536" r:id="rId45"/>
    <p:sldLayoutId id="2147484379" r:id="rId46"/>
    <p:sldLayoutId id="2147484530" r:id="rId47"/>
    <p:sldLayoutId id="2147484380" r:id="rId48"/>
    <p:sldLayoutId id="2147484531" r:id="rId49"/>
    <p:sldLayoutId id="2147484513" r:id="rId50"/>
    <p:sldLayoutId id="2147484376" r:id="rId51"/>
    <p:sldLayoutId id="2147484522" r:id="rId52"/>
    <p:sldLayoutId id="2147484512" r:id="rId53"/>
    <p:sldLayoutId id="2147484523" r:id="rId54"/>
    <p:sldLayoutId id="2147484514" r:id="rId55"/>
    <p:sldLayoutId id="2147484383" r:id="rId56"/>
    <p:sldLayoutId id="2147484558" r:id="rId57"/>
    <p:sldLayoutId id="2147484475" r:id="rId58"/>
    <p:sldLayoutId id="2147484476" r:id="rId59"/>
    <p:sldLayoutId id="2147484477" r:id="rId60"/>
    <p:sldLayoutId id="2147484559" r:id="rId61"/>
    <p:sldLayoutId id="2147484480" r:id="rId62"/>
    <p:sldLayoutId id="2147484481" r:id="rId63"/>
    <p:sldLayoutId id="2147484560" r:id="rId64"/>
    <p:sldLayoutId id="2147484482" r:id="rId65"/>
    <p:sldLayoutId id="2147484483" r:id="rId66"/>
    <p:sldLayoutId id="2147484561" r:id="rId67"/>
    <p:sldLayoutId id="2147484384" r:id="rId68"/>
    <p:sldLayoutId id="2147484542" r:id="rId69"/>
    <p:sldLayoutId id="2147484555" r:id="rId70"/>
    <p:sldLayoutId id="2147484385" r:id="rId71"/>
    <p:sldLayoutId id="2147484556" r:id="rId72"/>
    <p:sldLayoutId id="2147484386" r:id="rId73"/>
    <p:sldLayoutId id="2147484557" r:id="rId74"/>
    <p:sldLayoutId id="2147484478" r:id="rId75"/>
    <p:sldLayoutId id="2147484479" r:id="rId76"/>
    <p:sldLayoutId id="2147484387" r:id="rId77"/>
    <p:sldLayoutId id="2147484429" r:id="rId78"/>
    <p:sldLayoutId id="2147484434" r:id="rId79"/>
    <p:sldLayoutId id="2147484445" r:id="rId80"/>
    <p:sldLayoutId id="2147484446" r:id="rId81"/>
    <p:sldLayoutId id="2147484447" r:id="rId82"/>
    <p:sldLayoutId id="2147484449" r:id="rId83"/>
    <p:sldLayoutId id="2147484448" r:id="rId84"/>
    <p:sldLayoutId id="2147484547" r:id="rId85"/>
    <p:sldLayoutId id="2147484548" r:id="rId86"/>
    <p:sldLayoutId id="2147484549" r:id="rId87"/>
    <p:sldLayoutId id="2147484550" r:id="rId88"/>
    <p:sldLayoutId id="2147484551" r:id="rId89"/>
    <p:sldLayoutId id="2147484552" r:id="rId90"/>
    <p:sldLayoutId id="2147484553" r:id="rId91"/>
    <p:sldLayoutId id="2147484554" r:id="rId92"/>
    <p:sldLayoutId id="2147484435" r:id="rId93"/>
    <p:sldLayoutId id="2147484436" r:id="rId94"/>
    <p:sldLayoutId id="2147484437" r:id="rId95"/>
    <p:sldLayoutId id="2147484438" r:id="rId96"/>
    <p:sldLayoutId id="2147484439" r:id="rId97"/>
    <p:sldLayoutId id="2147484443" r:id="rId98"/>
    <p:sldLayoutId id="2147484441" r:id="rId99"/>
    <p:sldLayoutId id="2147484444" r:id="rId100"/>
    <p:sldLayoutId id="2147484440" r:id="rId101"/>
    <p:sldLayoutId id="2147484442" r:id="rId102"/>
    <p:sldLayoutId id="2147484455" r:id="rId103"/>
    <p:sldLayoutId id="2147484543" r:id="rId104"/>
    <p:sldLayoutId id="2147484544" r:id="rId105"/>
    <p:sldLayoutId id="2147484490" r:id="rId106"/>
    <p:sldLayoutId id="2147484491" r:id="rId107"/>
    <p:sldLayoutId id="2147484492" r:id="rId108"/>
    <p:sldLayoutId id="2147484493" r:id="rId109"/>
    <p:sldLayoutId id="2147484494" r:id="rId110"/>
    <p:sldLayoutId id="2147484495" r:id="rId111"/>
    <p:sldLayoutId id="2147484496" r:id="rId112"/>
    <p:sldLayoutId id="2147484497" r:id="rId113"/>
    <p:sldLayoutId id="2147484498" r:id="rId114"/>
    <p:sldLayoutId id="2147484499" r:id="rId115"/>
    <p:sldLayoutId id="2147484500" r:id="rId116"/>
    <p:sldLayoutId id="2147484501" r:id="rId117"/>
    <p:sldLayoutId id="2147484518" r:id="rId118"/>
    <p:sldLayoutId id="2147484502" r:id="rId119"/>
    <p:sldLayoutId id="2147484503" r:id="rId120"/>
    <p:sldLayoutId id="2147484506" r:id="rId121"/>
    <p:sldLayoutId id="2147484519" r:id="rId122"/>
    <p:sldLayoutId id="2147484505" r:id="rId123"/>
    <p:sldLayoutId id="2147484507" r:id="rId124"/>
    <p:sldLayoutId id="2147484508" r:id="rId125"/>
    <p:sldLayoutId id="2147484509" r:id="rId126"/>
    <p:sldLayoutId id="2147484510" r:id="rId127"/>
    <p:sldLayoutId id="2147484511" r:id="rId128"/>
    <p:sldLayoutId id="2147484515" r:id="rId129"/>
    <p:sldLayoutId id="2147484516" r:id="rId130"/>
    <p:sldLayoutId id="2147484517" r:id="rId131"/>
    <p:sldLayoutId id="2147484537" r:id="rId132"/>
    <p:sldLayoutId id="2147484538" r:id="rId133"/>
    <p:sldLayoutId id="2147484539" r:id="rId134"/>
    <p:sldLayoutId id="2147484545" r:id="rId135"/>
    <p:sldLayoutId id="2147484546" r:id="rId13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32" userDrawn="1">
          <p15:clr>
            <a:srgbClr val="F26B43"/>
          </p15:clr>
        </p15:guide>
        <p15:guide id="3" pos="264" userDrawn="1">
          <p15:clr>
            <a:srgbClr val="F26B43"/>
          </p15:clr>
        </p15:guide>
        <p15:guide id="4" pos="5400" userDrawn="1">
          <p15:clr>
            <a:srgbClr val="F26B43"/>
          </p15:clr>
        </p15:guide>
        <p15:guide id="5" orient="horz" pos="3036" userDrawn="1">
          <p15:clr>
            <a:srgbClr val="F26B43"/>
          </p15:clr>
        </p15:guide>
        <p15:guide id="6" pos="1536" userDrawn="1">
          <p15:clr>
            <a:srgbClr val="F26B43"/>
          </p15:clr>
        </p15:guide>
        <p15:guide id="7" pos="4104" userDrawn="1">
          <p15:clr>
            <a:srgbClr val="F26B43"/>
          </p15:clr>
        </p15:guide>
        <p15:guide id="8" pos="1968" userDrawn="1">
          <p15:clr>
            <a:srgbClr val="F26B43"/>
          </p15:clr>
        </p15:guide>
        <p15:guide id="9" pos="36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3.xml"/><Relationship Id="rId1" Type="http://schemas.openxmlformats.org/officeDocument/2006/relationships/themeOverride" Target="../theme/themeOverride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FABFE-AD7B-9188-C889-4270CACA8954}"/>
              </a:ext>
            </a:extLst>
          </p:cNvPr>
          <p:cNvSpPr>
            <a:spLocks noGrp="1"/>
          </p:cNvSpPr>
          <p:nvPr>
            <p:ph type="title"/>
          </p:nvPr>
        </p:nvSpPr>
        <p:spPr>
          <a:xfrm>
            <a:off x="763588" y="866775"/>
            <a:ext cx="4494212" cy="1847850"/>
          </a:xfrm>
        </p:spPr>
        <p:txBody>
          <a:bodyPr lIns="0" tIns="45720" rIns="0" bIns="45720" anchor="b"/>
          <a:lstStyle/>
          <a:p>
            <a:r>
              <a:rPr lang="en-US" dirty="0">
                <a:latin typeface="Arial"/>
                <a:cs typeface="Arial"/>
              </a:rPr>
              <a:t>Sales Forecasting</a:t>
            </a:r>
            <a:endParaRPr lang="en-US" dirty="0">
              <a:latin typeface="Arial" panose="020B0604020202020204" pitchFamily="34" charset="0"/>
              <a:ea typeface="Inter Medium"/>
            </a:endParaRPr>
          </a:p>
        </p:txBody>
      </p:sp>
      <p:sp>
        <p:nvSpPr>
          <p:cNvPr id="15" name="Text Placeholder 14">
            <a:extLst>
              <a:ext uri="{FF2B5EF4-FFF2-40B4-BE49-F238E27FC236}">
                <a16:creationId xmlns:a16="http://schemas.microsoft.com/office/drawing/2014/main" id="{4ABE029C-943E-1AB0-A6A6-0E1D6F88768A}"/>
              </a:ext>
            </a:extLst>
          </p:cNvPr>
          <p:cNvSpPr>
            <a:spLocks noGrp="1"/>
          </p:cNvSpPr>
          <p:nvPr>
            <p:ph type="body" sz="quarter" idx="10"/>
          </p:nvPr>
        </p:nvSpPr>
        <p:spPr>
          <a:xfrm>
            <a:off x="763588" y="2871574"/>
            <a:ext cx="3732212" cy="563971"/>
          </a:xfrm>
        </p:spPr>
        <p:txBody>
          <a:bodyPr/>
          <a:lstStyle/>
          <a:p>
            <a:r>
              <a:rPr lang="en-US"/>
              <a:t>Process Definition and Reference Documentation</a:t>
            </a:r>
          </a:p>
        </p:txBody>
      </p:sp>
    </p:spTree>
    <p:extLst>
      <p:ext uri="{BB962C8B-B14F-4D97-AF65-F5344CB8AC3E}">
        <p14:creationId xmlns:p14="http://schemas.microsoft.com/office/powerpoint/2010/main" val="1682908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6A417-5481-EE7B-53B7-DF4C3CA1B1F3}"/>
              </a:ext>
            </a:extLst>
          </p:cNvPr>
          <p:cNvSpPr>
            <a:spLocks noGrp="1"/>
          </p:cNvSpPr>
          <p:nvPr>
            <p:ph type="title"/>
          </p:nvPr>
        </p:nvSpPr>
        <p:spPr/>
        <p:txBody>
          <a:bodyPr/>
          <a:lstStyle/>
          <a:p>
            <a:r>
              <a:rPr lang="en-US"/>
              <a:t>Version Information</a:t>
            </a:r>
          </a:p>
        </p:txBody>
      </p:sp>
      <p:sp>
        <p:nvSpPr>
          <p:cNvPr id="3" name="TextBox 2">
            <a:extLst>
              <a:ext uri="{FF2B5EF4-FFF2-40B4-BE49-F238E27FC236}">
                <a16:creationId xmlns:a16="http://schemas.microsoft.com/office/drawing/2014/main" id="{7F2F2B00-3453-2417-0B9A-2DFDE50D94FE}"/>
              </a:ext>
            </a:extLst>
          </p:cNvPr>
          <p:cNvSpPr txBox="1"/>
          <p:nvPr/>
        </p:nvSpPr>
        <p:spPr>
          <a:xfrm>
            <a:off x="667512" y="1024128"/>
            <a:ext cx="7598664" cy="338554"/>
          </a:xfrm>
          <a:prstGeom prst="rect">
            <a:avLst/>
          </a:prstGeom>
          <a:noFill/>
        </p:spPr>
        <p:txBody>
          <a:bodyPr wrap="square" lIns="0" tIns="45720" rIns="91440" bIns="45720" rtlCol="0" anchor="t">
            <a:spAutoFit/>
          </a:bodyPr>
          <a:lstStyle/>
          <a:p>
            <a:pPr algn="l">
              <a:buClrTx/>
            </a:pPr>
            <a:r>
              <a:rPr lang="en-US" sz="1600">
                <a:solidFill>
                  <a:schemeClr val="tx2"/>
                </a:solidFill>
                <a:latin typeface="Arial"/>
                <a:ea typeface="Inter Light" panose="02000503000000020004" pitchFamily="2" charset="0"/>
                <a:cs typeface="Arial"/>
              </a:rPr>
              <a:t>This document version relates to 1.0 version of the applications.</a:t>
            </a:r>
          </a:p>
        </p:txBody>
      </p:sp>
      <p:graphicFrame>
        <p:nvGraphicFramePr>
          <p:cNvPr id="4" name="Table 3">
            <a:extLst>
              <a:ext uri="{FF2B5EF4-FFF2-40B4-BE49-F238E27FC236}">
                <a16:creationId xmlns:a16="http://schemas.microsoft.com/office/drawing/2014/main" id="{7CFA55C8-C031-4CE7-09BF-E4A9803B4ED3}"/>
              </a:ext>
            </a:extLst>
          </p:cNvPr>
          <p:cNvGraphicFramePr>
            <a:graphicFrameLocks noGrp="1"/>
          </p:cNvGraphicFramePr>
          <p:nvPr>
            <p:extLst>
              <p:ext uri="{D42A27DB-BD31-4B8C-83A1-F6EECF244321}">
                <p14:modId xmlns:p14="http://schemas.microsoft.com/office/powerpoint/2010/main" val="2224093726"/>
              </p:ext>
            </p:extLst>
          </p:nvPr>
        </p:nvGraphicFramePr>
        <p:xfrm>
          <a:off x="667512" y="1637030"/>
          <a:ext cx="7671816" cy="694690"/>
        </p:xfrm>
        <a:graphic>
          <a:graphicData uri="http://schemas.openxmlformats.org/drawingml/2006/table">
            <a:tbl>
              <a:tblPr firstRow="1" bandRow="1">
                <a:tableStyleId>{7E9639D4-E3E2-4D34-9284-5A2195B3D0D7}</a:tableStyleId>
              </a:tblPr>
              <a:tblGrid>
                <a:gridCol w="1271016">
                  <a:extLst>
                    <a:ext uri="{9D8B030D-6E8A-4147-A177-3AD203B41FA5}">
                      <a16:colId xmlns:a16="http://schemas.microsoft.com/office/drawing/2014/main" val="2652240627"/>
                    </a:ext>
                  </a:extLst>
                </a:gridCol>
                <a:gridCol w="1399032">
                  <a:extLst>
                    <a:ext uri="{9D8B030D-6E8A-4147-A177-3AD203B41FA5}">
                      <a16:colId xmlns:a16="http://schemas.microsoft.com/office/drawing/2014/main" val="2766664649"/>
                    </a:ext>
                  </a:extLst>
                </a:gridCol>
                <a:gridCol w="5001768">
                  <a:extLst>
                    <a:ext uri="{9D8B030D-6E8A-4147-A177-3AD203B41FA5}">
                      <a16:colId xmlns:a16="http://schemas.microsoft.com/office/drawing/2014/main" val="30261400"/>
                    </a:ext>
                  </a:extLst>
                </a:gridCol>
              </a:tblGrid>
              <a:tr h="347345">
                <a:tc>
                  <a:txBody>
                    <a:bodyPr/>
                    <a:lstStyle/>
                    <a:p>
                      <a:r>
                        <a:rPr lang="en-US" sz="1000"/>
                        <a:t>Version no</a:t>
                      </a:r>
                    </a:p>
                  </a:txBody>
                  <a:tcPr/>
                </a:tc>
                <a:tc>
                  <a:txBody>
                    <a:bodyPr/>
                    <a:lstStyle/>
                    <a:p>
                      <a:r>
                        <a:rPr lang="en-US" sz="1000"/>
                        <a:t>Updated by</a:t>
                      </a:r>
                    </a:p>
                  </a:txBody>
                  <a:tcPr/>
                </a:tc>
                <a:tc>
                  <a:txBody>
                    <a:bodyPr/>
                    <a:lstStyle/>
                    <a:p>
                      <a:r>
                        <a:rPr lang="en-US" sz="1000"/>
                        <a:t>Comments</a:t>
                      </a:r>
                    </a:p>
                  </a:txBody>
                  <a:tcPr/>
                </a:tc>
                <a:extLst>
                  <a:ext uri="{0D108BD9-81ED-4DB2-BD59-A6C34878D82A}">
                    <a16:rowId xmlns:a16="http://schemas.microsoft.com/office/drawing/2014/main" val="2347539849"/>
                  </a:ext>
                </a:extLst>
              </a:tr>
              <a:tr h="347345">
                <a:tc>
                  <a:txBody>
                    <a:bodyPr/>
                    <a:lstStyle/>
                    <a:p>
                      <a:r>
                        <a:rPr lang="en-US" sz="1000"/>
                        <a:t>1.0</a:t>
                      </a:r>
                    </a:p>
                  </a:txBody>
                  <a:tcPr/>
                </a:tc>
                <a:tc>
                  <a:txBody>
                    <a:bodyPr/>
                    <a:lstStyle/>
                    <a:p>
                      <a:pPr lvl="0">
                        <a:buNone/>
                      </a:pPr>
                      <a:r>
                        <a:rPr lang="en-US" sz="1000"/>
                        <a:t>Lara Eksi</a:t>
                      </a:r>
                    </a:p>
                  </a:txBody>
                  <a:tcPr/>
                </a:tc>
                <a:tc>
                  <a:txBody>
                    <a:bodyPr/>
                    <a:lstStyle/>
                    <a:p>
                      <a:endParaRPr lang="en-US" sz="1000" dirty="0"/>
                    </a:p>
                  </a:txBody>
                  <a:tcPr/>
                </a:tc>
                <a:extLst>
                  <a:ext uri="{0D108BD9-81ED-4DB2-BD59-A6C34878D82A}">
                    <a16:rowId xmlns:a16="http://schemas.microsoft.com/office/drawing/2014/main" val="2495762205"/>
                  </a:ext>
                </a:extLst>
              </a:tr>
            </a:tbl>
          </a:graphicData>
        </a:graphic>
      </p:graphicFrame>
    </p:spTree>
    <p:extLst>
      <p:ext uri="{BB962C8B-B14F-4D97-AF65-F5344CB8AC3E}">
        <p14:creationId xmlns:p14="http://schemas.microsoft.com/office/powerpoint/2010/main" val="1333487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6AF2A-6D77-9CE4-9EBA-FB450FA9E3DA}"/>
              </a:ext>
            </a:extLst>
          </p:cNvPr>
          <p:cNvSpPr>
            <a:spLocks noGrp="1"/>
          </p:cNvSpPr>
          <p:nvPr>
            <p:ph type="title"/>
          </p:nvPr>
        </p:nvSpPr>
        <p:spPr/>
        <p:txBody>
          <a:bodyPr/>
          <a:lstStyle/>
          <a:p>
            <a:r>
              <a:rPr lang="en-US"/>
              <a:t>Overall Context</a:t>
            </a:r>
          </a:p>
        </p:txBody>
      </p:sp>
    </p:spTree>
    <p:extLst>
      <p:ext uri="{BB962C8B-B14F-4D97-AF65-F5344CB8AC3E}">
        <p14:creationId xmlns:p14="http://schemas.microsoft.com/office/powerpoint/2010/main" val="398109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1CF25-391E-4E4E-BDDE-353F826DA4F5}"/>
              </a:ext>
            </a:extLst>
          </p:cNvPr>
          <p:cNvSpPr>
            <a:spLocks noGrp="1"/>
          </p:cNvSpPr>
          <p:nvPr>
            <p:ph type="title"/>
          </p:nvPr>
        </p:nvSpPr>
        <p:spPr/>
        <p:txBody>
          <a:bodyPr/>
          <a:lstStyle/>
          <a:p>
            <a:r>
              <a:rPr lang="en-US"/>
              <a:t>Overview</a:t>
            </a:r>
            <a:endParaRPr lang="en-US">
              <a:solidFill>
                <a:schemeClr val="accent4"/>
              </a:solidFill>
            </a:endParaRPr>
          </a:p>
        </p:txBody>
      </p:sp>
      <p:sp>
        <p:nvSpPr>
          <p:cNvPr id="3" name="Content Placeholder 2">
            <a:extLst>
              <a:ext uri="{FF2B5EF4-FFF2-40B4-BE49-F238E27FC236}">
                <a16:creationId xmlns:a16="http://schemas.microsoft.com/office/drawing/2014/main" id="{48EEC360-616A-3275-B022-4E1B61702764}"/>
              </a:ext>
            </a:extLst>
          </p:cNvPr>
          <p:cNvSpPr>
            <a:spLocks noGrp="1"/>
          </p:cNvSpPr>
          <p:nvPr>
            <p:ph idx="1"/>
          </p:nvPr>
        </p:nvSpPr>
        <p:spPr>
          <a:xfrm>
            <a:off x="419100" y="834850"/>
            <a:ext cx="8153400" cy="3832566"/>
          </a:xfrm>
        </p:spPr>
        <p:txBody>
          <a:bodyPr lIns="0" tIns="45720" rIns="0" bIns="45720" anchor="t"/>
          <a:lstStyle/>
          <a:p>
            <a:pPr marL="0" indent="0">
              <a:buNone/>
            </a:pPr>
            <a:r>
              <a:rPr lang="en-US" sz="1400">
                <a:solidFill>
                  <a:schemeClr val="accent1"/>
                </a:solidFill>
              </a:rPr>
              <a:t>Purpose of this document</a:t>
            </a:r>
          </a:p>
          <a:p>
            <a:r>
              <a:rPr lang="en-US" sz="1400" dirty="0">
                <a:latin typeface="Arial"/>
                <a:cs typeface="Arial"/>
              </a:rPr>
              <a:t>This document is intended to describe the overall flow for the </a:t>
            </a:r>
            <a:r>
              <a:rPr lang="en-US" sz="1400" dirty="0">
                <a:solidFill>
                  <a:schemeClr val="accent1"/>
                </a:solidFill>
                <a:latin typeface="Arial"/>
                <a:cs typeface="Arial"/>
              </a:rPr>
              <a:t>Sales </a:t>
            </a:r>
            <a:r>
              <a:rPr lang="en-US" sz="1400">
                <a:solidFill>
                  <a:schemeClr val="accent1"/>
                </a:solidFill>
                <a:latin typeface="Arial"/>
                <a:cs typeface="Arial"/>
              </a:rPr>
              <a:t>Forecasting</a:t>
            </a:r>
            <a:r>
              <a:rPr lang="en-US" sz="1400" dirty="0">
                <a:solidFill>
                  <a:schemeClr val="accent1"/>
                </a:solidFill>
                <a:latin typeface="Arial"/>
                <a:cs typeface="Arial"/>
              </a:rPr>
              <a:t> </a:t>
            </a:r>
            <a:r>
              <a:rPr lang="en-US" sz="1400" dirty="0">
                <a:latin typeface="Arial"/>
                <a:cs typeface="Arial"/>
              </a:rPr>
              <a:t>process area</a:t>
            </a:r>
            <a:r>
              <a:rPr lang="en-US" sz="1400" dirty="0">
                <a:solidFill>
                  <a:srgbClr val="0A2F46"/>
                </a:solidFill>
                <a:latin typeface="Arial"/>
                <a:cs typeface="Arial"/>
              </a:rPr>
              <a:t> of </a:t>
            </a:r>
            <a:r>
              <a:rPr lang="en-US" sz="1400" dirty="0">
                <a:latin typeface="Arial"/>
                <a:cs typeface="Arial"/>
              </a:rPr>
              <a:t>the </a:t>
            </a:r>
            <a:r>
              <a:rPr lang="en-US" sz="1400" dirty="0">
                <a:solidFill>
                  <a:schemeClr val="accent1"/>
                </a:solidFill>
                <a:latin typeface="Arial"/>
                <a:cs typeface="Arial"/>
              </a:rPr>
              <a:t>RPM </a:t>
            </a:r>
            <a:r>
              <a:rPr lang="en-US" sz="1400" dirty="0">
                <a:solidFill>
                  <a:srgbClr val="0A2F46"/>
                </a:solidFill>
                <a:latin typeface="Arial"/>
                <a:cs typeface="Arial"/>
              </a:rPr>
              <a:t>applications </a:t>
            </a:r>
            <a:r>
              <a:rPr lang="en-US" sz="1400">
                <a:latin typeface="Arial"/>
                <a:cs typeface="Arial"/>
              </a:rPr>
              <a:t>and to detail each individual process step.</a:t>
            </a:r>
          </a:p>
          <a:p>
            <a:r>
              <a:rPr lang="en-US" sz="1400" dirty="0">
                <a:latin typeface="Arial"/>
                <a:cs typeface="Arial"/>
              </a:rPr>
              <a:t>This guide outlines the standardized procedures for generating, reviewing, adjusting, and finalizing sales forecasts. </a:t>
            </a:r>
            <a:endParaRPr lang="en-US" dirty="0"/>
          </a:p>
          <a:p>
            <a:r>
              <a:rPr lang="en-US" sz="1400" dirty="0">
                <a:latin typeface="Arial"/>
                <a:cs typeface="Arial"/>
              </a:rPr>
              <a:t>The primary goal of the Sales Forecasting App is to create a more accurate, efficient, and transparent forecasting process, leading to a reliable "single source of truth" for the company's sales outlook.</a:t>
            </a:r>
            <a:endParaRPr lang="en-US"/>
          </a:p>
          <a:p>
            <a:pPr marL="0" indent="0">
              <a:buNone/>
            </a:pPr>
            <a:endParaRPr lang="en-US" sz="1400"/>
          </a:p>
          <a:p>
            <a:pPr marL="0" indent="0">
              <a:buNone/>
            </a:pPr>
            <a:r>
              <a:rPr lang="en-US" sz="1400">
                <a:solidFill>
                  <a:schemeClr val="accent1"/>
                </a:solidFill>
              </a:rPr>
              <a:t>Document status</a:t>
            </a:r>
          </a:p>
          <a:p>
            <a:r>
              <a:rPr lang="en-US" sz="1400">
                <a:latin typeface="Arial"/>
                <a:cs typeface="Arial"/>
              </a:rPr>
              <a:t>This version relates to the </a:t>
            </a:r>
            <a:r>
              <a:rPr lang="en-US" sz="1400">
                <a:solidFill>
                  <a:schemeClr val="accent1"/>
                </a:solidFill>
                <a:latin typeface="Arial"/>
                <a:cs typeface="Arial"/>
              </a:rPr>
              <a:t>1.0 </a:t>
            </a:r>
            <a:r>
              <a:rPr lang="en-US" sz="1400">
                <a:latin typeface="Arial"/>
                <a:cs typeface="Arial"/>
              </a:rPr>
              <a:t>release of the applications</a:t>
            </a:r>
          </a:p>
          <a:p>
            <a:pPr marL="0" indent="0">
              <a:buNone/>
            </a:pPr>
            <a:endParaRPr lang="en-US" sz="1400"/>
          </a:p>
        </p:txBody>
      </p:sp>
      <p:sp>
        <p:nvSpPr>
          <p:cNvPr id="4" name="Rectangle 3">
            <a:extLst>
              <a:ext uri="{FF2B5EF4-FFF2-40B4-BE49-F238E27FC236}">
                <a16:creationId xmlns:a16="http://schemas.microsoft.com/office/drawing/2014/main" id="{4D302767-A124-2CB7-281B-5867E0AE043E}"/>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85962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5DE14-259F-A547-005F-96C4CA8A12B6}"/>
            </a:ext>
          </a:extLst>
        </p:cNvPr>
        <p:cNvGrpSpPr/>
        <p:nvPr/>
      </p:nvGrpSpPr>
      <p:grpSpPr>
        <a:xfrm>
          <a:off x="0" y="0"/>
          <a:ext cx="0" cy="0"/>
          <a:chOff x="0" y="0"/>
          <a:chExt cx="0" cy="0"/>
        </a:xfrm>
      </p:grpSpPr>
      <p:graphicFrame>
        <p:nvGraphicFramePr>
          <p:cNvPr id="6" name="Table 7">
            <a:extLst>
              <a:ext uri="{FF2B5EF4-FFF2-40B4-BE49-F238E27FC236}">
                <a16:creationId xmlns:a16="http://schemas.microsoft.com/office/drawing/2014/main" id="{3587CC6F-52C2-0781-1278-831ACFB7CB45}"/>
              </a:ext>
            </a:extLst>
          </p:cNvPr>
          <p:cNvGraphicFramePr>
            <a:graphicFrameLocks noGrp="1"/>
          </p:cNvGraphicFramePr>
          <p:nvPr>
            <p:extLst>
              <p:ext uri="{D42A27DB-BD31-4B8C-83A1-F6EECF244321}">
                <p14:modId xmlns:p14="http://schemas.microsoft.com/office/powerpoint/2010/main" val="1198207458"/>
              </p:ext>
            </p:extLst>
          </p:nvPr>
        </p:nvGraphicFramePr>
        <p:xfrm>
          <a:off x="3363040" y="832648"/>
          <a:ext cx="5209876" cy="2469641"/>
        </p:xfrm>
        <a:graphic>
          <a:graphicData uri="http://schemas.openxmlformats.org/drawingml/2006/table">
            <a:tbl>
              <a:tblPr firstRow="1" bandRow="1">
                <a:tableStyleId>{72833802-FEF1-4C79-8D5D-14CF1EAF98D9}</a:tableStyleId>
              </a:tblPr>
              <a:tblGrid>
                <a:gridCol w="841113">
                  <a:extLst>
                    <a:ext uri="{9D8B030D-6E8A-4147-A177-3AD203B41FA5}">
                      <a16:colId xmlns:a16="http://schemas.microsoft.com/office/drawing/2014/main" val="718031972"/>
                    </a:ext>
                  </a:extLst>
                </a:gridCol>
                <a:gridCol w="4368763">
                  <a:extLst>
                    <a:ext uri="{9D8B030D-6E8A-4147-A177-3AD203B41FA5}">
                      <a16:colId xmlns:a16="http://schemas.microsoft.com/office/drawing/2014/main" val="2646446585"/>
                    </a:ext>
                  </a:extLst>
                </a:gridCol>
              </a:tblGrid>
              <a:tr h="341913">
                <a:tc>
                  <a:txBody>
                    <a:bodyPr/>
                    <a:lstStyle/>
                    <a:p>
                      <a:r>
                        <a:rPr lang="en-US" sz="700"/>
                        <a:t>Process</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700"/>
                        <a:t>Description</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6781289"/>
                  </a:ext>
                </a:extLst>
              </a:tr>
              <a:tr h="443182">
                <a:tc>
                  <a:txBody>
                    <a:bodyPr/>
                    <a:lstStyle/>
                    <a:p>
                      <a:pPr marL="0" marR="0" lvl="0" indent="0" algn="l">
                        <a:lnSpc>
                          <a:spcPct val="100000"/>
                        </a:lnSpc>
                        <a:spcBef>
                          <a:spcPts val="0"/>
                        </a:spcBef>
                        <a:spcAft>
                          <a:spcPts val="0"/>
                        </a:spcAft>
                        <a:buNone/>
                      </a:pPr>
                      <a:r>
                        <a:rPr lang="en-US" sz="700" b="0" i="0" u="none" strike="noStrike" kern="1200" cap="none" spc="0" normalizeH="0" baseline="0" noProof="0">
                          <a:ln>
                            <a:noFill/>
                          </a:ln>
                          <a:solidFill>
                            <a:srgbClr val="0A2F46"/>
                          </a:solidFill>
                          <a:effectLst/>
                          <a:uLnTx/>
                          <a:uFillTx/>
                        </a:rPr>
                        <a:t>Create a Single Source of Truth</a:t>
                      </a:r>
                      <a:endParaRPr kumimoji="0" 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a:lnSpc>
                          <a:spcPct val="100000"/>
                        </a:lnSpc>
                        <a:spcBef>
                          <a:spcPts val="0"/>
                        </a:spcBef>
                        <a:spcAft>
                          <a:spcPts val="0"/>
                        </a:spcAft>
                        <a:buNone/>
                      </a:pPr>
                      <a:r>
                        <a:rPr lang="en-US" sz="700" b="0" i="0" u="none" strike="noStrike" kern="1200" cap="none" spc="0" normalizeH="0" baseline="0" noProof="0" dirty="0">
                          <a:ln>
                            <a:noFill/>
                          </a:ln>
                          <a:solidFill>
                            <a:srgbClr val="0A2F46"/>
                          </a:solidFill>
                          <a:effectLst/>
                          <a:uLnTx/>
                          <a:uFillTx/>
                        </a:rPr>
                        <a:t>To establish a unified platform that provides a single, trusted sales forecast for the entire organization.</a:t>
                      </a:r>
                      <a:endParaRPr kumimoji="0" 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20792711"/>
                  </a:ext>
                </a:extLst>
              </a:tr>
              <a:tr h="443182">
                <a:tc>
                  <a:txBody>
                    <a:bodyPr/>
                    <a:lstStyle/>
                    <a:p>
                      <a:pPr marL="0" marR="0" lvl="0" indent="0" algn="l">
                        <a:lnSpc>
                          <a:spcPct val="100000"/>
                        </a:lnSpc>
                        <a:spcBef>
                          <a:spcPts val="0"/>
                        </a:spcBef>
                        <a:spcAft>
                          <a:spcPts val="0"/>
                        </a:spcAft>
                        <a:buNone/>
                      </a:pPr>
                      <a:r>
                        <a:rPr lang="en-US" sz="700" b="0" i="0" u="none" strike="noStrike" kern="1200" cap="none" spc="0" normalizeH="0" baseline="0" noProof="0">
                          <a:ln>
                            <a:noFill/>
                          </a:ln>
                          <a:solidFill>
                            <a:srgbClr val="0A2F46"/>
                          </a:solidFill>
                          <a:effectLst/>
                          <a:uLnTx/>
                          <a:uFillTx/>
                        </a:rPr>
                        <a:t>Improve Forecast Accuracy</a:t>
                      </a:r>
                      <a:endParaRPr kumimoji="0" 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a:lnSpc>
                          <a:spcPct val="100000"/>
                        </a:lnSpc>
                        <a:spcBef>
                          <a:spcPts val="0"/>
                        </a:spcBef>
                        <a:spcAft>
                          <a:spcPts val="0"/>
                        </a:spcAft>
                        <a:buNone/>
                      </a:pPr>
                      <a:r>
                        <a:rPr lang="en-US" sz="700" b="0" i="0" u="none" strike="noStrike" kern="1200" cap="none" spc="0" normalizeH="0" baseline="0" noProof="0" dirty="0">
                          <a:ln>
                            <a:noFill/>
                          </a:ln>
                          <a:solidFill>
                            <a:srgbClr val="0A2F46"/>
                          </a:solidFill>
                          <a:effectLst/>
                          <a:uLnTx/>
                          <a:uFillTx/>
                          <a:latin typeface="+mn-lt"/>
                          <a:ea typeface="+mn-ea"/>
                          <a:cs typeface="+mn-cs"/>
                        </a:rPr>
                        <a:t>To leverage data-driven models and a consistent methodology to generate more reliable and accurate baseline forecasts.</a:t>
                      </a:r>
                      <a:endParaRPr lang="en-US" sz="700" b="0" i="0" u="none" strike="noStrike" kern="1200" cap="none" spc="0" normalizeH="0" baseline="0" dirty="0">
                        <a:ln>
                          <a:noFill/>
                        </a:ln>
                        <a:solidFill>
                          <a:srgbClr val="0A2F46"/>
                        </a:solidFill>
                        <a:effectLst/>
                        <a:uLnTx/>
                        <a:uFillTx/>
                        <a:latin typeface="+mn-lt"/>
                        <a:ea typeface="+mn-ea"/>
                        <a:cs typeface="+mn-cs"/>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47844716"/>
                  </a:ext>
                </a:extLst>
              </a:tr>
              <a:tr h="328283">
                <a:tc>
                  <a:txBody>
                    <a:bodyPr/>
                    <a:lstStyle/>
                    <a:p>
                      <a:pPr marL="0" marR="0" lvl="0" indent="0" algn="l">
                        <a:lnSpc>
                          <a:spcPct val="100000"/>
                        </a:lnSpc>
                        <a:spcBef>
                          <a:spcPts val="0"/>
                        </a:spcBef>
                        <a:spcAft>
                          <a:spcPts val="0"/>
                        </a:spcAft>
                        <a:buNone/>
                      </a:pPr>
                      <a:r>
                        <a:rPr lang="en-US" sz="700" b="0" i="0" u="none" strike="noStrike" kern="1200" cap="none" spc="0" normalizeH="0" baseline="0" noProof="0" dirty="0">
                          <a:ln>
                            <a:noFill/>
                          </a:ln>
                          <a:solidFill>
                            <a:srgbClr val="0A2F46"/>
                          </a:solidFill>
                          <a:effectLst/>
                          <a:uLnTx/>
                          <a:uFillTx/>
                        </a:rPr>
                        <a:t>Increase Efficiency</a:t>
                      </a:r>
                      <a:endParaRPr kumimoji="0" 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a:lnSpc>
                          <a:spcPct val="100000"/>
                        </a:lnSpc>
                        <a:spcBef>
                          <a:spcPts val="0"/>
                        </a:spcBef>
                        <a:spcAft>
                          <a:spcPts val="0"/>
                        </a:spcAft>
                        <a:buNone/>
                      </a:pPr>
                      <a:r>
                        <a:rPr lang="en-US" sz="700" b="0" i="0" u="none" strike="noStrike" kern="1200" cap="none" spc="0" normalizeH="0" baseline="0" noProof="0">
                          <a:ln>
                            <a:noFill/>
                          </a:ln>
                          <a:solidFill>
                            <a:srgbClr val="0A2F46"/>
                          </a:solidFill>
                          <a:effectLst/>
                          <a:uLnTx/>
                          <a:uFillTx/>
                        </a:rPr>
                        <a:t>To automate manual data preparation and consolidation tasks, freeing up valuable time for strategic analysis and decision-making.</a:t>
                      </a:r>
                      <a:endParaRPr kumimoji="0" 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4658414"/>
                  </a:ext>
                </a:extLst>
              </a:tr>
              <a:tr h="570925">
                <a:tc>
                  <a:txBody>
                    <a:bodyPr/>
                    <a:lstStyle/>
                    <a:p>
                      <a:pPr marL="0" marR="0" lvl="0" indent="0" algn="l">
                        <a:lnSpc>
                          <a:spcPct val="100000"/>
                        </a:lnSpc>
                        <a:spcBef>
                          <a:spcPts val="0"/>
                        </a:spcBef>
                        <a:spcAft>
                          <a:spcPts val="0"/>
                        </a:spcAft>
                        <a:buNone/>
                      </a:pPr>
                      <a:r>
                        <a:rPr lang="en-US" sz="700" b="0" i="0" u="none" strike="noStrike" kern="1200" cap="none" spc="0" normalizeH="0" baseline="0" noProof="0">
                          <a:ln>
                            <a:noFill/>
                          </a:ln>
                          <a:solidFill>
                            <a:srgbClr val="0A2F46"/>
                          </a:solidFill>
                          <a:effectLst/>
                          <a:uLnTx/>
                          <a:uFillTx/>
                        </a:rPr>
                        <a:t>Enhance Transparency and Collaboration</a:t>
                      </a:r>
                      <a:endParaRPr kumimoji="0" 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lvl="0" indent="0" algn="l">
                        <a:lnSpc>
                          <a:spcPct val="100000"/>
                        </a:lnSpc>
                        <a:spcBef>
                          <a:spcPts val="0"/>
                        </a:spcBef>
                        <a:spcAft>
                          <a:spcPts val="0"/>
                        </a:spcAft>
                        <a:buNone/>
                      </a:pPr>
                      <a:r>
                        <a:rPr lang="en-US" sz="700" b="0" i="0" u="none" strike="noStrike" kern="1200" cap="none" spc="0" normalizeH="0" baseline="0" noProof="0">
                          <a:ln>
                            <a:noFill/>
                          </a:ln>
                          <a:solidFill>
                            <a:srgbClr val="0A2F46"/>
                          </a:solidFill>
                          <a:effectLst/>
                          <a:uLnTx/>
                          <a:uFillTx/>
                        </a:rPr>
                        <a:t>To provide a clear, auditable trail of all forecast adjustments and create a collaborative environment for all stakeholders involved in the process.</a:t>
                      </a:r>
                      <a:endParaRPr 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8445556"/>
                  </a:ext>
                </a:extLst>
              </a:tr>
              <a:tr h="342156">
                <a:tc>
                  <a:txBody>
                    <a:bodyPr/>
                    <a:lstStyle/>
                    <a:p>
                      <a:pPr marL="0" marR="0" lvl="0" indent="0" algn="l">
                        <a:lnSpc>
                          <a:spcPct val="100000"/>
                        </a:lnSpc>
                        <a:spcBef>
                          <a:spcPts val="0"/>
                        </a:spcBef>
                        <a:spcAft>
                          <a:spcPts val="0"/>
                        </a:spcAft>
                        <a:buNone/>
                      </a:pPr>
                      <a:r>
                        <a:rPr lang="en-US" sz="700" b="0" i="0" u="none" strike="noStrike" kern="1200" cap="none" spc="0" normalizeH="0" baseline="0" noProof="0">
                          <a:ln>
                            <a:noFill/>
                          </a:ln>
                          <a:solidFill>
                            <a:srgbClr val="0A2F46"/>
                          </a:solidFill>
                          <a:effectLst/>
                          <a:uLnTx/>
                          <a:uFillTx/>
                        </a:rPr>
                        <a:t>Standardize the Process</a:t>
                      </a:r>
                      <a:endParaRPr kumimoji="0" 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a:lnSpc>
                          <a:spcPct val="100000"/>
                        </a:lnSpc>
                        <a:spcBef>
                          <a:spcPts val="0"/>
                        </a:spcBef>
                        <a:spcAft>
                          <a:spcPts val="0"/>
                        </a:spcAft>
                        <a:buNone/>
                      </a:pPr>
                      <a:r>
                        <a:rPr lang="en-US" sz="700" b="0" i="0" u="none" strike="noStrike" kern="1200" cap="none" spc="0" normalizeH="0" baseline="0" noProof="0" dirty="0">
                          <a:ln>
                            <a:noFill/>
                          </a:ln>
                          <a:solidFill>
                            <a:srgbClr val="0A2F46"/>
                          </a:solidFill>
                          <a:effectLst/>
                          <a:uLnTx/>
                          <a:uFillTx/>
                        </a:rPr>
                        <a:t>To implement a single, end-to-end workflow for forecasting that is consistent across all business units and geographies.</a:t>
                      </a:r>
                      <a:endParaRPr kumimoji="0" lang="en-US"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19728654"/>
                  </a:ext>
                </a:extLst>
              </a:tr>
            </a:tbl>
          </a:graphicData>
        </a:graphic>
      </p:graphicFrame>
      <p:sp>
        <p:nvSpPr>
          <p:cNvPr id="2" name="Title 1">
            <a:extLst>
              <a:ext uri="{FF2B5EF4-FFF2-40B4-BE49-F238E27FC236}">
                <a16:creationId xmlns:a16="http://schemas.microsoft.com/office/drawing/2014/main" id="{FF54E200-BEBC-01A6-DF74-383E752BCB05}"/>
              </a:ext>
            </a:extLst>
          </p:cNvPr>
          <p:cNvSpPr>
            <a:spLocks noGrp="1"/>
          </p:cNvSpPr>
          <p:nvPr>
            <p:ph type="title"/>
          </p:nvPr>
        </p:nvSpPr>
        <p:spPr/>
        <p:txBody>
          <a:bodyPr lIns="0" tIns="45720" rIns="0" bIns="45720" anchor="t"/>
          <a:lstStyle/>
          <a:p>
            <a:r>
              <a:rPr lang="en-US">
                <a:latin typeface="Arial"/>
                <a:cs typeface="Arial"/>
              </a:rPr>
              <a:t>Process Context</a:t>
            </a:r>
            <a:endParaRPr lang="en-US">
              <a:solidFill>
                <a:schemeClr val="accent4"/>
              </a:solidFill>
              <a:latin typeface="Arial"/>
              <a:cs typeface="Arial"/>
            </a:endParaRPr>
          </a:p>
        </p:txBody>
      </p:sp>
      <p:grpSp>
        <p:nvGrpSpPr>
          <p:cNvPr id="49" name="Group 48">
            <a:extLst>
              <a:ext uri="{FF2B5EF4-FFF2-40B4-BE49-F238E27FC236}">
                <a16:creationId xmlns:a16="http://schemas.microsoft.com/office/drawing/2014/main" id="{B4476697-CA8D-2AAA-D81A-052B4F541E4A}"/>
              </a:ext>
            </a:extLst>
          </p:cNvPr>
          <p:cNvGrpSpPr/>
          <p:nvPr/>
        </p:nvGrpSpPr>
        <p:grpSpPr>
          <a:xfrm>
            <a:off x="377687" y="943276"/>
            <a:ext cx="2635184" cy="3224477"/>
            <a:chOff x="377687" y="943276"/>
            <a:chExt cx="2635184" cy="3224477"/>
          </a:xfrm>
        </p:grpSpPr>
        <p:sp>
          <p:nvSpPr>
            <p:cNvPr id="36" name="Rectangle 35">
              <a:extLst>
                <a:ext uri="{FF2B5EF4-FFF2-40B4-BE49-F238E27FC236}">
                  <a16:creationId xmlns:a16="http://schemas.microsoft.com/office/drawing/2014/main" id="{8B2329EA-CCF7-7D96-BE6D-DE09F5B0AB53}"/>
                </a:ext>
              </a:extLst>
            </p:cNvPr>
            <p:cNvSpPr/>
            <p:nvPr/>
          </p:nvSpPr>
          <p:spPr>
            <a:xfrm>
              <a:off x="1796144" y="1446233"/>
              <a:ext cx="67426" cy="2881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cxnSp>
          <p:nvCxnSpPr>
            <p:cNvPr id="12" name="Elbow Connector 11">
              <a:extLst>
                <a:ext uri="{FF2B5EF4-FFF2-40B4-BE49-F238E27FC236}">
                  <a16:creationId xmlns:a16="http://schemas.microsoft.com/office/drawing/2014/main" id="{C77D7C45-77EF-A68C-80A8-233C5DCE3786}"/>
                </a:ext>
              </a:extLst>
            </p:cNvPr>
            <p:cNvCxnSpPr>
              <a:cxnSpLocks/>
              <a:stCxn id="3" idx="3"/>
              <a:endCxn id="4" idx="0"/>
            </p:cNvCxnSpPr>
            <p:nvPr/>
          </p:nvCxnSpPr>
          <p:spPr>
            <a:xfrm>
              <a:off x="1046696" y="1215808"/>
              <a:ext cx="154969" cy="415957"/>
            </a:xfrm>
            <a:prstGeom prst="bentConnector2">
              <a:avLst/>
            </a:prstGeom>
            <a:ln w="15875" cap="rnd">
              <a:solidFill>
                <a:schemeClr val="tx2"/>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3" name="Rounded Rectangle 2">
              <a:extLst>
                <a:ext uri="{FF2B5EF4-FFF2-40B4-BE49-F238E27FC236}">
                  <a16:creationId xmlns:a16="http://schemas.microsoft.com/office/drawing/2014/main" id="{F8CD5843-9D00-0128-6E32-DA64A3741C9A}"/>
                </a:ext>
              </a:extLst>
            </p:cNvPr>
            <p:cNvSpPr/>
            <p:nvPr/>
          </p:nvSpPr>
          <p:spPr>
            <a:xfrm>
              <a:off x="377687" y="943276"/>
              <a:ext cx="669009" cy="545064"/>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45720" rIns="0" bIns="45720" rtlCol="0" anchor="ctr"/>
            <a:lstStyle/>
            <a:p>
              <a:pPr algn="ctr"/>
              <a:r>
                <a:rPr lang="en-US" sz="800" dirty="0">
                  <a:solidFill>
                    <a:schemeClr val="bg1"/>
                  </a:solidFill>
                  <a:ea typeface="+mn-lt"/>
                  <a:cs typeface="+mn-lt"/>
                </a:rPr>
                <a:t>Single Source of </a:t>
              </a:r>
              <a:r>
                <a:rPr lang="en-US" sz="800">
                  <a:solidFill>
                    <a:schemeClr val="bg1"/>
                  </a:solidFill>
                  <a:ea typeface="+mn-lt"/>
                  <a:cs typeface="+mn-lt"/>
                </a:rPr>
                <a:t>Truth</a:t>
              </a:r>
              <a:endParaRPr lang="en-US" sz="800" dirty="0">
                <a:solidFill>
                  <a:schemeClr val="bg1"/>
                </a:solidFill>
                <a:cs typeface="Arial"/>
              </a:endParaRPr>
            </a:p>
          </p:txBody>
        </p:sp>
        <p:sp>
          <p:nvSpPr>
            <p:cNvPr id="4" name="Rounded Rectangle 3">
              <a:extLst>
                <a:ext uri="{FF2B5EF4-FFF2-40B4-BE49-F238E27FC236}">
                  <a16:creationId xmlns:a16="http://schemas.microsoft.com/office/drawing/2014/main" id="{C9ED1538-1AC1-91A0-F0DA-86A09D19233B}"/>
                </a:ext>
              </a:extLst>
            </p:cNvPr>
            <p:cNvSpPr/>
            <p:nvPr/>
          </p:nvSpPr>
          <p:spPr>
            <a:xfrm>
              <a:off x="867160" y="1631765"/>
              <a:ext cx="669009" cy="470521"/>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45720" rIns="0" bIns="45720" rtlCol="0" anchor="ctr"/>
            <a:lstStyle/>
            <a:p>
              <a:pPr algn="ctr"/>
              <a:r>
                <a:rPr lang="en-US" sz="800">
                  <a:solidFill>
                    <a:schemeClr val="bg1"/>
                  </a:solidFill>
                  <a:latin typeface="Arial"/>
                  <a:ea typeface="Verdana"/>
                  <a:cs typeface="Arial"/>
                </a:rPr>
                <a:t>Improve Forecast </a:t>
              </a:r>
              <a:r>
                <a:rPr lang="en-US" sz="800" dirty="0">
                  <a:solidFill>
                    <a:schemeClr val="bg1"/>
                  </a:solidFill>
                  <a:latin typeface="Arial"/>
                  <a:ea typeface="Verdana"/>
                  <a:cs typeface="Arial"/>
                </a:rPr>
                <a:t>Accuracy</a:t>
              </a:r>
              <a:endParaRPr lang="en-US" sz="800">
                <a:solidFill>
                  <a:schemeClr val="bg1"/>
                </a:solidFill>
                <a:ea typeface="Verdana"/>
                <a:cs typeface="Arial"/>
              </a:endParaRPr>
            </a:p>
          </p:txBody>
        </p:sp>
        <p:sp>
          <p:nvSpPr>
            <p:cNvPr id="7" name="Rounded Rectangle 6">
              <a:extLst>
                <a:ext uri="{FF2B5EF4-FFF2-40B4-BE49-F238E27FC236}">
                  <a16:creationId xmlns:a16="http://schemas.microsoft.com/office/drawing/2014/main" id="{CA871301-5D1A-9F5A-7834-A6EE07BF99F4}"/>
                </a:ext>
              </a:extLst>
            </p:cNvPr>
            <p:cNvSpPr/>
            <p:nvPr/>
          </p:nvSpPr>
          <p:spPr>
            <a:xfrm>
              <a:off x="1356633" y="2320254"/>
              <a:ext cx="677292" cy="470521"/>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45720" rIns="0" bIns="45720" rtlCol="0" anchor="ctr"/>
            <a:lstStyle/>
            <a:p>
              <a:pPr algn="ctr"/>
              <a:r>
                <a:rPr lang="en-US" sz="800" dirty="0">
                  <a:solidFill>
                    <a:schemeClr val="bg1"/>
                  </a:solidFill>
                  <a:latin typeface="Arial"/>
                  <a:ea typeface="Verdana"/>
                  <a:cs typeface="Arial"/>
                </a:rPr>
                <a:t>Increase </a:t>
              </a:r>
              <a:r>
                <a:rPr lang="en-US" sz="800">
                  <a:solidFill>
                    <a:schemeClr val="bg1"/>
                  </a:solidFill>
                  <a:latin typeface="Arial"/>
                  <a:ea typeface="Verdana"/>
                  <a:cs typeface="Arial"/>
                </a:rPr>
                <a:t>Efficiency</a:t>
              </a:r>
              <a:endParaRPr lang="en-US" sz="800">
                <a:solidFill>
                  <a:schemeClr val="bg1"/>
                </a:solidFill>
                <a:ea typeface="Verdana"/>
                <a:cs typeface="Arial"/>
              </a:endParaRPr>
            </a:p>
          </p:txBody>
        </p:sp>
        <p:sp>
          <p:nvSpPr>
            <p:cNvPr id="8" name="Rounded Rectangle 7">
              <a:extLst>
                <a:ext uri="{FF2B5EF4-FFF2-40B4-BE49-F238E27FC236}">
                  <a16:creationId xmlns:a16="http://schemas.microsoft.com/office/drawing/2014/main" id="{BB9EFAA5-DEB3-D578-FA5A-CB0AB78A2F77}"/>
                </a:ext>
              </a:extLst>
            </p:cNvPr>
            <p:cNvSpPr/>
            <p:nvPr/>
          </p:nvSpPr>
          <p:spPr>
            <a:xfrm>
              <a:off x="1846106" y="3008743"/>
              <a:ext cx="677292" cy="470521"/>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45720" rIns="0" bIns="45720" rtlCol="0" anchor="ctr"/>
            <a:lstStyle/>
            <a:p>
              <a:pPr algn="ctr"/>
              <a:r>
                <a:rPr lang="en-US" sz="800" dirty="0">
                  <a:solidFill>
                    <a:schemeClr val="bg1"/>
                  </a:solidFill>
                  <a:latin typeface="Arial"/>
                  <a:ea typeface="Verdana"/>
                  <a:cs typeface="Arial"/>
                </a:rPr>
                <a:t>Transparency </a:t>
              </a:r>
              <a:r>
                <a:rPr lang="en-US" sz="800">
                  <a:solidFill>
                    <a:schemeClr val="bg1"/>
                  </a:solidFill>
                  <a:latin typeface="Arial"/>
                  <a:ea typeface="Verdana"/>
                  <a:cs typeface="Arial"/>
                </a:rPr>
                <a:t>&amp; Collaboration</a:t>
              </a:r>
              <a:endParaRPr lang="en-US" sz="80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E70CC69A-01DE-1516-C6D0-0B746427F9B8}"/>
                </a:ext>
              </a:extLst>
            </p:cNvPr>
            <p:cNvSpPr/>
            <p:nvPr/>
          </p:nvSpPr>
          <p:spPr>
            <a:xfrm>
              <a:off x="2335579" y="3697232"/>
              <a:ext cx="677292" cy="470521"/>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45720" rIns="0" bIns="45720" rtlCol="0" anchor="ctr"/>
            <a:lstStyle/>
            <a:p>
              <a:pPr algn="ctr"/>
              <a:r>
                <a:rPr lang="en-US" sz="800" dirty="0">
                  <a:solidFill>
                    <a:schemeClr val="bg1"/>
                  </a:solidFill>
                  <a:latin typeface="Arial"/>
                  <a:ea typeface="Verdana"/>
                  <a:cs typeface="Arial"/>
                </a:rPr>
                <a:t>Standardiz</a:t>
              </a:r>
              <a:r>
                <a:rPr lang="en-US" sz="800">
                  <a:solidFill>
                    <a:schemeClr val="bg1"/>
                  </a:solidFill>
                  <a:latin typeface="Arial"/>
                  <a:ea typeface="Verdana"/>
                  <a:cs typeface="Arial"/>
                </a:rPr>
                <a:t>e the Process</a:t>
              </a:r>
              <a:endParaRPr lang="en-US">
                <a:solidFill>
                  <a:schemeClr val="bg1"/>
                </a:solidFill>
              </a:endParaRPr>
            </a:p>
          </p:txBody>
        </p:sp>
        <p:cxnSp>
          <p:nvCxnSpPr>
            <p:cNvPr id="20" name="Elbow Connector 19">
              <a:extLst>
                <a:ext uri="{FF2B5EF4-FFF2-40B4-BE49-F238E27FC236}">
                  <a16:creationId xmlns:a16="http://schemas.microsoft.com/office/drawing/2014/main" id="{2E6CA556-8F7F-B05C-5486-FA0CA07E07D8}"/>
                </a:ext>
              </a:extLst>
            </p:cNvPr>
            <p:cNvCxnSpPr>
              <a:cxnSpLocks/>
            </p:cNvCxnSpPr>
            <p:nvPr/>
          </p:nvCxnSpPr>
          <p:spPr>
            <a:xfrm rot="16200000" flipH="1">
              <a:off x="1839467" y="2706585"/>
              <a:ext cx="397151" cy="173889"/>
            </a:xfrm>
            <a:prstGeom prst="bentConnector3">
              <a:avLst>
                <a:gd name="adj1" fmla="val 663"/>
              </a:avLst>
            </a:prstGeom>
            <a:ln w="15875" cap="rnd">
              <a:solidFill>
                <a:schemeClr val="tx2"/>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9D3A7200-BB90-4BA3-8CFF-6E2BF542D6D4}"/>
                </a:ext>
              </a:extLst>
            </p:cNvPr>
            <p:cNvSpPr/>
            <p:nvPr/>
          </p:nvSpPr>
          <p:spPr>
            <a:xfrm>
              <a:off x="2625427" y="3337259"/>
              <a:ext cx="47343" cy="2120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grpSp>
      <p:sp>
        <p:nvSpPr>
          <p:cNvPr id="5" name="Rectangle 4">
            <a:extLst>
              <a:ext uri="{FF2B5EF4-FFF2-40B4-BE49-F238E27FC236}">
                <a16:creationId xmlns:a16="http://schemas.microsoft.com/office/drawing/2014/main" id="{AAFCCBBF-3BCC-B8BC-A58B-67E905417A93}"/>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cxnSp>
        <p:nvCxnSpPr>
          <p:cNvPr id="15" name="Elbow Connector 19">
            <a:extLst>
              <a:ext uri="{FF2B5EF4-FFF2-40B4-BE49-F238E27FC236}">
                <a16:creationId xmlns:a16="http://schemas.microsoft.com/office/drawing/2014/main" id="{B47A6C32-FD33-D920-F9E5-714A7FB09349}"/>
              </a:ext>
            </a:extLst>
          </p:cNvPr>
          <p:cNvCxnSpPr>
            <a:cxnSpLocks/>
          </p:cNvCxnSpPr>
          <p:nvPr/>
        </p:nvCxnSpPr>
        <p:spPr>
          <a:xfrm rot="16200000" flipH="1">
            <a:off x="1428650" y="1989311"/>
            <a:ext cx="397151" cy="173889"/>
          </a:xfrm>
          <a:prstGeom prst="bentConnector3">
            <a:avLst>
              <a:gd name="adj1" fmla="val 663"/>
            </a:avLst>
          </a:prstGeom>
          <a:ln w="15875" cap="rnd">
            <a:solidFill>
              <a:schemeClr val="tx2"/>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7" name="Elbow Connector 19">
            <a:extLst>
              <a:ext uri="{FF2B5EF4-FFF2-40B4-BE49-F238E27FC236}">
                <a16:creationId xmlns:a16="http://schemas.microsoft.com/office/drawing/2014/main" id="{2A3DD5F1-BAC4-7AB9-2F7B-FECA26F193A7}"/>
              </a:ext>
            </a:extLst>
          </p:cNvPr>
          <p:cNvCxnSpPr>
            <a:cxnSpLocks/>
          </p:cNvCxnSpPr>
          <p:nvPr/>
        </p:nvCxnSpPr>
        <p:spPr>
          <a:xfrm rot="16200000" flipH="1">
            <a:off x="2405997" y="3413920"/>
            <a:ext cx="397151" cy="173889"/>
          </a:xfrm>
          <a:prstGeom prst="bentConnector3">
            <a:avLst>
              <a:gd name="adj1" fmla="val 663"/>
            </a:avLst>
          </a:prstGeom>
          <a:ln w="15875" cap="rnd">
            <a:solidFill>
              <a:schemeClr val="tx2"/>
            </a:solidFill>
            <a:headEnd type="non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2363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A395E-9E03-E9D7-3269-6D64E0E4A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344211-4315-797B-08A2-298206BC40B3}"/>
              </a:ext>
            </a:extLst>
          </p:cNvPr>
          <p:cNvSpPr>
            <a:spLocks noGrp="1"/>
          </p:cNvSpPr>
          <p:nvPr>
            <p:ph type="title"/>
          </p:nvPr>
        </p:nvSpPr>
        <p:spPr/>
        <p:txBody>
          <a:bodyPr lIns="0" tIns="45720" rIns="0" bIns="45720" anchor="t"/>
          <a:lstStyle/>
          <a:p>
            <a:r>
              <a:rPr lang="en-US" dirty="0">
                <a:latin typeface="Arial"/>
                <a:cs typeface="Arial"/>
              </a:rPr>
              <a:t>Sales Forecasting Functional Flow</a:t>
            </a:r>
            <a:endParaRPr lang="en-US" dirty="0">
              <a:solidFill>
                <a:schemeClr val="accent4"/>
              </a:solidFill>
              <a:latin typeface="Arial"/>
              <a:cs typeface="Arial"/>
            </a:endParaRPr>
          </a:p>
        </p:txBody>
      </p:sp>
      <p:sp>
        <p:nvSpPr>
          <p:cNvPr id="47" name="TextBox 46">
            <a:extLst>
              <a:ext uri="{FF2B5EF4-FFF2-40B4-BE49-F238E27FC236}">
                <a16:creationId xmlns:a16="http://schemas.microsoft.com/office/drawing/2014/main" id="{D39D47E7-A49A-1FAC-8D3B-0CAE2F84A0AB}"/>
              </a:ext>
            </a:extLst>
          </p:cNvPr>
          <p:cNvSpPr txBox="1"/>
          <p:nvPr/>
        </p:nvSpPr>
        <p:spPr>
          <a:xfrm>
            <a:off x="381000" y="813718"/>
            <a:ext cx="1371600" cy="369332"/>
          </a:xfrm>
          <a:prstGeom prst="rect">
            <a:avLst/>
          </a:prstGeom>
          <a:noFill/>
        </p:spPr>
        <p:txBody>
          <a:bodyPr wrap="square" lIns="0" tIns="45720" rIns="91440" bIns="45720" rtlCol="0" anchor="t">
            <a:spAutoFit/>
          </a:bodyPr>
          <a:lstStyle/>
          <a:p>
            <a:pPr algn="ctr"/>
            <a:r>
              <a:rPr lang="en-US" sz="900" dirty="0">
                <a:solidFill>
                  <a:schemeClr val="tx2"/>
                </a:solidFill>
                <a:ea typeface="Verdana"/>
                <a:cs typeface="+mn-lt"/>
              </a:rPr>
              <a:t>1. Data Ingestion &amp; Preparation</a:t>
            </a:r>
            <a:endParaRPr lang="en-US" sz="900" dirty="0">
              <a:solidFill>
                <a:schemeClr val="tx2"/>
              </a:solidFill>
            </a:endParaRPr>
          </a:p>
        </p:txBody>
      </p:sp>
      <p:sp>
        <p:nvSpPr>
          <p:cNvPr id="48" name="TextBox 47">
            <a:extLst>
              <a:ext uri="{FF2B5EF4-FFF2-40B4-BE49-F238E27FC236}">
                <a16:creationId xmlns:a16="http://schemas.microsoft.com/office/drawing/2014/main" id="{F3A1F05E-997E-83DB-85B9-B01E6ED08461}"/>
              </a:ext>
            </a:extLst>
          </p:cNvPr>
          <p:cNvSpPr txBox="1"/>
          <p:nvPr/>
        </p:nvSpPr>
        <p:spPr>
          <a:xfrm>
            <a:off x="2133600" y="813718"/>
            <a:ext cx="1371600" cy="369332"/>
          </a:xfrm>
          <a:prstGeom prst="rect">
            <a:avLst/>
          </a:prstGeom>
          <a:noFill/>
        </p:spPr>
        <p:txBody>
          <a:bodyPr wrap="square" lIns="0" tIns="45720" rIns="91440" bIns="45720" rtlCol="0" anchor="t">
            <a:spAutoFit/>
          </a:bodyPr>
          <a:lstStyle/>
          <a:p>
            <a:pPr algn="ctr"/>
            <a:r>
              <a:rPr lang="en-US" sz="900" dirty="0">
                <a:solidFill>
                  <a:schemeClr val="tx2"/>
                </a:solidFill>
                <a:ea typeface="+mn-lt"/>
                <a:cs typeface="+mn-lt"/>
              </a:rPr>
              <a:t>2. Baseline Forecast Generation</a:t>
            </a:r>
          </a:p>
        </p:txBody>
      </p:sp>
      <p:sp>
        <p:nvSpPr>
          <p:cNvPr id="49" name="TextBox 48">
            <a:extLst>
              <a:ext uri="{FF2B5EF4-FFF2-40B4-BE49-F238E27FC236}">
                <a16:creationId xmlns:a16="http://schemas.microsoft.com/office/drawing/2014/main" id="{9D60AFA0-5DDE-4C50-F1AB-23D713DE8ECC}"/>
              </a:ext>
            </a:extLst>
          </p:cNvPr>
          <p:cNvSpPr txBox="1"/>
          <p:nvPr/>
        </p:nvSpPr>
        <p:spPr>
          <a:xfrm>
            <a:off x="3886200" y="813718"/>
            <a:ext cx="1371600" cy="369332"/>
          </a:xfrm>
          <a:prstGeom prst="rect">
            <a:avLst/>
          </a:prstGeom>
          <a:noFill/>
        </p:spPr>
        <p:txBody>
          <a:bodyPr wrap="square" lIns="0" tIns="45720" rIns="91440" bIns="45720" rtlCol="0" anchor="t">
            <a:spAutoFit/>
          </a:bodyPr>
          <a:lstStyle/>
          <a:p>
            <a:pPr algn="ctr"/>
            <a:r>
              <a:rPr lang="en-US" sz="900" dirty="0">
                <a:solidFill>
                  <a:schemeClr val="tx2"/>
                </a:solidFill>
                <a:ea typeface="+mn-lt"/>
                <a:cs typeface="+mn-lt"/>
              </a:rPr>
              <a:t>3. Field Sales Review &amp; Enrichment</a:t>
            </a:r>
          </a:p>
        </p:txBody>
      </p:sp>
      <p:sp>
        <p:nvSpPr>
          <p:cNvPr id="50" name="TextBox 49">
            <a:extLst>
              <a:ext uri="{FF2B5EF4-FFF2-40B4-BE49-F238E27FC236}">
                <a16:creationId xmlns:a16="http://schemas.microsoft.com/office/drawing/2014/main" id="{BBCA1B65-99F4-BC05-E8F9-8A4037A0C9A1}"/>
              </a:ext>
            </a:extLst>
          </p:cNvPr>
          <p:cNvSpPr txBox="1"/>
          <p:nvPr/>
        </p:nvSpPr>
        <p:spPr>
          <a:xfrm>
            <a:off x="5638800" y="813718"/>
            <a:ext cx="1371600" cy="369332"/>
          </a:xfrm>
          <a:prstGeom prst="rect">
            <a:avLst/>
          </a:prstGeom>
          <a:noFill/>
        </p:spPr>
        <p:txBody>
          <a:bodyPr wrap="square" lIns="0" tIns="45720" rIns="91440" bIns="45720" rtlCol="0" anchor="t">
            <a:spAutoFit/>
          </a:bodyPr>
          <a:lstStyle/>
          <a:p>
            <a:pPr algn="ctr"/>
            <a:r>
              <a:rPr lang="en-US" sz="900" dirty="0">
                <a:solidFill>
                  <a:schemeClr val="tx2"/>
                </a:solidFill>
                <a:ea typeface="+mn-lt"/>
                <a:cs typeface="+mn-lt"/>
              </a:rPr>
              <a:t>4. Sales Management Review &amp; Adjustment</a:t>
            </a:r>
          </a:p>
        </p:txBody>
      </p:sp>
      <p:cxnSp>
        <p:nvCxnSpPr>
          <p:cNvPr id="52" name="Straight Connector 51">
            <a:extLst>
              <a:ext uri="{FF2B5EF4-FFF2-40B4-BE49-F238E27FC236}">
                <a16:creationId xmlns:a16="http://schemas.microsoft.com/office/drawing/2014/main" id="{13403018-7EA5-D125-7672-ABE16E431157}"/>
              </a:ext>
            </a:extLst>
          </p:cNvPr>
          <p:cNvCxnSpPr>
            <a:cxnSpLocks/>
          </p:cNvCxnSpPr>
          <p:nvPr/>
        </p:nvCxnSpPr>
        <p:spPr>
          <a:xfrm>
            <a:off x="381000" y="1203611"/>
            <a:ext cx="1371600" cy="0"/>
          </a:xfrm>
          <a:prstGeom prst="line">
            <a:avLst/>
          </a:prstGeom>
          <a:ln w="19050" cap="rnd">
            <a:solidFill>
              <a:schemeClr val="accent1"/>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0A608C1D-E5E8-953D-AA40-E34C9F63E6B6}"/>
              </a:ext>
            </a:extLst>
          </p:cNvPr>
          <p:cNvCxnSpPr>
            <a:cxnSpLocks/>
          </p:cNvCxnSpPr>
          <p:nvPr/>
        </p:nvCxnSpPr>
        <p:spPr>
          <a:xfrm>
            <a:off x="2133600" y="1203611"/>
            <a:ext cx="1371600" cy="0"/>
          </a:xfrm>
          <a:prstGeom prst="line">
            <a:avLst/>
          </a:prstGeom>
          <a:ln w="19050" cap="rnd">
            <a:solidFill>
              <a:schemeClr val="accent1"/>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4F27E903-14CF-4DF0-D637-0C6FB4257205}"/>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
        <p:nvSpPr>
          <p:cNvPr id="30" name="TextBox 29">
            <a:extLst>
              <a:ext uri="{FF2B5EF4-FFF2-40B4-BE49-F238E27FC236}">
                <a16:creationId xmlns:a16="http://schemas.microsoft.com/office/drawing/2014/main" id="{0DF42A9E-44BB-D41A-3B7D-352D6FE3D636}"/>
              </a:ext>
            </a:extLst>
          </p:cNvPr>
          <p:cNvSpPr txBox="1"/>
          <p:nvPr/>
        </p:nvSpPr>
        <p:spPr>
          <a:xfrm>
            <a:off x="7391400" y="813718"/>
            <a:ext cx="1371600" cy="369332"/>
          </a:xfrm>
          <a:prstGeom prst="rect">
            <a:avLst/>
          </a:prstGeom>
          <a:noFill/>
        </p:spPr>
        <p:txBody>
          <a:bodyPr wrap="square" lIns="0" tIns="45720" rIns="91440" bIns="45720" rtlCol="0" anchor="t">
            <a:spAutoFit/>
          </a:bodyPr>
          <a:lstStyle/>
          <a:p>
            <a:pPr algn="ctr"/>
            <a:r>
              <a:rPr lang="en-US" sz="900" dirty="0">
                <a:solidFill>
                  <a:schemeClr val="tx2"/>
                </a:solidFill>
                <a:ea typeface="+mn-lt"/>
                <a:cs typeface="+mn-lt"/>
              </a:rPr>
              <a:t>5. Final Forecast Submission</a:t>
            </a:r>
          </a:p>
        </p:txBody>
      </p:sp>
      <p:cxnSp>
        <p:nvCxnSpPr>
          <p:cNvPr id="33" name="Straight Connector 32">
            <a:extLst>
              <a:ext uri="{FF2B5EF4-FFF2-40B4-BE49-F238E27FC236}">
                <a16:creationId xmlns:a16="http://schemas.microsoft.com/office/drawing/2014/main" id="{0CB01AC5-51F2-2E3B-155C-6EDCFE658641}"/>
              </a:ext>
            </a:extLst>
          </p:cNvPr>
          <p:cNvCxnSpPr>
            <a:cxnSpLocks/>
          </p:cNvCxnSpPr>
          <p:nvPr/>
        </p:nvCxnSpPr>
        <p:spPr>
          <a:xfrm>
            <a:off x="3886200" y="1203611"/>
            <a:ext cx="1371600" cy="0"/>
          </a:xfrm>
          <a:prstGeom prst="line">
            <a:avLst/>
          </a:prstGeom>
          <a:ln w="19050" cap="rnd">
            <a:solidFill>
              <a:schemeClr val="accent1"/>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7E51FD2-CA2F-A8E8-A6BF-43DF34A3D05C}"/>
              </a:ext>
            </a:extLst>
          </p:cNvPr>
          <p:cNvCxnSpPr>
            <a:cxnSpLocks/>
          </p:cNvCxnSpPr>
          <p:nvPr/>
        </p:nvCxnSpPr>
        <p:spPr>
          <a:xfrm>
            <a:off x="5638800" y="1203611"/>
            <a:ext cx="1371600" cy="0"/>
          </a:xfrm>
          <a:prstGeom prst="line">
            <a:avLst/>
          </a:prstGeom>
          <a:ln w="19050" cap="rnd">
            <a:solidFill>
              <a:schemeClr val="accent1"/>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3C6ACEDE-AE65-7F75-4BD6-7E14842DA9BF}"/>
              </a:ext>
            </a:extLst>
          </p:cNvPr>
          <p:cNvCxnSpPr>
            <a:cxnSpLocks/>
          </p:cNvCxnSpPr>
          <p:nvPr/>
        </p:nvCxnSpPr>
        <p:spPr>
          <a:xfrm>
            <a:off x="7391400" y="1203611"/>
            <a:ext cx="1371600" cy="0"/>
          </a:xfrm>
          <a:prstGeom prst="line">
            <a:avLst/>
          </a:prstGeom>
          <a:ln w="19050" cap="rnd">
            <a:solidFill>
              <a:schemeClr val="accent1"/>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61" name="Rounded Rectangle 60">
            <a:extLst>
              <a:ext uri="{FF2B5EF4-FFF2-40B4-BE49-F238E27FC236}">
                <a16:creationId xmlns:a16="http://schemas.microsoft.com/office/drawing/2014/main" id="{969B5DE0-C398-6CE3-0904-0C21AFD85534}"/>
              </a:ext>
            </a:extLst>
          </p:cNvPr>
          <p:cNvSpPr/>
          <p:nvPr/>
        </p:nvSpPr>
        <p:spPr>
          <a:xfrm>
            <a:off x="443743" y="1384135"/>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Historical Data, CRM Opportunities, Quota Information, Product &amp; Customer Master Data</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62" name="Rounded Rectangle 61">
            <a:extLst>
              <a:ext uri="{FF2B5EF4-FFF2-40B4-BE49-F238E27FC236}">
                <a16:creationId xmlns:a16="http://schemas.microsoft.com/office/drawing/2014/main" id="{EEEE103D-B573-3F21-7D81-153F00203503}"/>
              </a:ext>
            </a:extLst>
          </p:cNvPr>
          <p:cNvSpPr/>
          <p:nvPr/>
        </p:nvSpPr>
        <p:spPr>
          <a:xfrm>
            <a:off x="443743" y="2456804"/>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Automated process extracts and loads cleansed source data into the Anaplan model</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63" name="Rounded Rectangle 62">
            <a:extLst>
              <a:ext uri="{FF2B5EF4-FFF2-40B4-BE49-F238E27FC236}">
                <a16:creationId xmlns:a16="http://schemas.microsoft.com/office/drawing/2014/main" id="{6337BD5B-CDFC-E901-5C7E-7737F556B70A}"/>
              </a:ext>
            </a:extLst>
          </p:cNvPr>
          <p:cNvSpPr/>
          <p:nvPr/>
        </p:nvSpPr>
        <p:spPr>
          <a:xfrm>
            <a:off x="443743" y="3529473"/>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Staging models in Anaplan are populated with the latest historical and pipeline data.</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65" name="Rounded Rectangle 64">
            <a:extLst>
              <a:ext uri="{FF2B5EF4-FFF2-40B4-BE49-F238E27FC236}">
                <a16:creationId xmlns:a16="http://schemas.microsoft.com/office/drawing/2014/main" id="{6B972D70-EFCC-C75B-911D-74B97EB9A567}"/>
              </a:ext>
            </a:extLst>
          </p:cNvPr>
          <p:cNvSpPr/>
          <p:nvPr/>
        </p:nvSpPr>
        <p:spPr>
          <a:xfrm>
            <a:off x="2183794" y="1384135"/>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Prepared historical and opportunity data</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66" name="Rounded Rectangle 65">
            <a:extLst>
              <a:ext uri="{FF2B5EF4-FFF2-40B4-BE49-F238E27FC236}">
                <a16:creationId xmlns:a16="http://schemas.microsoft.com/office/drawing/2014/main" id="{ABCB896D-BA4B-7D02-5B71-AB62E0C991FE}"/>
              </a:ext>
            </a:extLst>
          </p:cNvPr>
          <p:cNvSpPr/>
          <p:nvPr/>
        </p:nvSpPr>
        <p:spPr>
          <a:xfrm>
            <a:off x="2183794" y="3529473"/>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 baseline, system-generated forecast. Forecast is created for each sales territory/segment</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67" name="Rounded Rectangle 66">
            <a:extLst>
              <a:ext uri="{FF2B5EF4-FFF2-40B4-BE49-F238E27FC236}">
                <a16:creationId xmlns:a16="http://schemas.microsoft.com/office/drawing/2014/main" id="{BB95752E-41CF-11C3-9FAD-EE6E34A9804B}"/>
              </a:ext>
            </a:extLst>
          </p:cNvPr>
          <p:cNvSpPr/>
          <p:nvPr/>
        </p:nvSpPr>
        <p:spPr>
          <a:xfrm>
            <a:off x="2183794" y="2456804"/>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Sales Ops triggers the Anaplan process to run the statistical forecasting models</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68" name="Rounded Rectangle 67">
            <a:extLst>
              <a:ext uri="{FF2B5EF4-FFF2-40B4-BE49-F238E27FC236}">
                <a16:creationId xmlns:a16="http://schemas.microsoft.com/office/drawing/2014/main" id="{83920526-498B-3D1F-CB4A-658F99CC1B83}"/>
              </a:ext>
            </a:extLst>
          </p:cNvPr>
          <p:cNvSpPr/>
          <p:nvPr/>
        </p:nvSpPr>
        <p:spPr>
          <a:xfrm>
            <a:off x="3923845" y="1384135"/>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System-generated "Stat Forecast."</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69" name="Rounded Rectangle 68">
            <a:extLst>
              <a:ext uri="{FF2B5EF4-FFF2-40B4-BE49-F238E27FC236}">
                <a16:creationId xmlns:a16="http://schemas.microsoft.com/office/drawing/2014/main" id="{7416674A-FD56-F015-CE4A-9ED7DA582F35}"/>
              </a:ext>
            </a:extLst>
          </p:cNvPr>
          <p:cNvSpPr/>
          <p:nvPr/>
        </p:nvSpPr>
        <p:spPr>
          <a:xfrm>
            <a:off x="3923845" y="3529473"/>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"Sales Submission," reflecting both statistical analysis and field-level expertise</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70" name="Rounded Rectangle 69">
            <a:extLst>
              <a:ext uri="{FF2B5EF4-FFF2-40B4-BE49-F238E27FC236}">
                <a16:creationId xmlns:a16="http://schemas.microsoft.com/office/drawing/2014/main" id="{CE8D68F4-EB1B-71A4-2A14-4A6BCD504627}"/>
              </a:ext>
            </a:extLst>
          </p:cNvPr>
          <p:cNvSpPr/>
          <p:nvPr/>
        </p:nvSpPr>
        <p:spPr>
          <a:xfrm>
            <a:off x="3923845" y="2456804"/>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Sales reps review and adjust the baseline forecast with their deal-level insights.</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71" name="Rounded Rectangle 70">
            <a:extLst>
              <a:ext uri="{FF2B5EF4-FFF2-40B4-BE49-F238E27FC236}">
                <a16:creationId xmlns:a16="http://schemas.microsoft.com/office/drawing/2014/main" id="{5EA8871E-6127-4CFF-5BDB-30B0D43A9F02}"/>
              </a:ext>
            </a:extLst>
          </p:cNvPr>
          <p:cNvSpPr/>
          <p:nvPr/>
        </p:nvSpPr>
        <p:spPr>
          <a:xfrm>
            <a:off x="5663896" y="1384135"/>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The "Sales Submission" from the field team</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72" name="Rounded Rectangle 71">
            <a:extLst>
              <a:ext uri="{FF2B5EF4-FFF2-40B4-BE49-F238E27FC236}">
                <a16:creationId xmlns:a16="http://schemas.microsoft.com/office/drawing/2014/main" id="{E76E77D2-A540-CB7F-8981-34AED2683CC5}"/>
              </a:ext>
            </a:extLst>
          </p:cNvPr>
          <p:cNvSpPr/>
          <p:nvPr/>
        </p:nvSpPr>
        <p:spPr>
          <a:xfrm>
            <a:off x="5663896" y="3529473"/>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An adjusted forecast, now called the "Management Forecast."</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73" name="Rounded Rectangle 72">
            <a:extLst>
              <a:ext uri="{FF2B5EF4-FFF2-40B4-BE49-F238E27FC236}">
                <a16:creationId xmlns:a16="http://schemas.microsoft.com/office/drawing/2014/main" id="{4E75DF71-D252-BEC6-89FE-E8042ADA2E1C}"/>
              </a:ext>
            </a:extLst>
          </p:cNvPr>
          <p:cNvSpPr/>
          <p:nvPr/>
        </p:nvSpPr>
        <p:spPr>
          <a:xfrm>
            <a:off x="5663896" y="2456804"/>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Sales leaders review forecasts for region and make high-level "top-down" adjustments</a:t>
            </a:r>
          </a:p>
        </p:txBody>
      </p:sp>
      <p:sp>
        <p:nvSpPr>
          <p:cNvPr id="74" name="Rounded Rectangle 73">
            <a:extLst>
              <a:ext uri="{FF2B5EF4-FFF2-40B4-BE49-F238E27FC236}">
                <a16:creationId xmlns:a16="http://schemas.microsoft.com/office/drawing/2014/main" id="{91C962DE-9700-AAE6-4FDE-C58F3DBE7022}"/>
              </a:ext>
            </a:extLst>
          </p:cNvPr>
          <p:cNvSpPr/>
          <p:nvPr/>
        </p:nvSpPr>
        <p:spPr>
          <a:xfrm>
            <a:off x="7403947" y="1384135"/>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The final "Management Forecast."</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75" name="Rounded Rectangle 74">
            <a:extLst>
              <a:ext uri="{FF2B5EF4-FFF2-40B4-BE49-F238E27FC236}">
                <a16:creationId xmlns:a16="http://schemas.microsoft.com/office/drawing/2014/main" id="{42032DEA-E7A0-ADD4-34B7-D3DF2D1D2AFD}"/>
              </a:ext>
            </a:extLst>
          </p:cNvPr>
          <p:cNvSpPr/>
          <p:nvPr/>
        </p:nvSpPr>
        <p:spPr>
          <a:xfrm>
            <a:off x="7403947" y="3529473"/>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 single, approved "Final Forecast" that becomes the official record for the company</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76" name="Rounded Rectangle 75">
            <a:extLst>
              <a:ext uri="{FF2B5EF4-FFF2-40B4-BE49-F238E27FC236}">
                <a16:creationId xmlns:a16="http://schemas.microsoft.com/office/drawing/2014/main" id="{A1B48BF4-2C74-09E8-1B27-BFFFC63182EB}"/>
              </a:ext>
            </a:extLst>
          </p:cNvPr>
          <p:cNvSpPr/>
          <p:nvPr/>
        </p:nvSpPr>
        <p:spPr>
          <a:xfrm>
            <a:off x="7403947" y="2456804"/>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After all reviews, the final forecast is locked and submitted for the period.</a:t>
            </a:r>
          </a:p>
        </p:txBody>
      </p:sp>
      <p:cxnSp>
        <p:nvCxnSpPr>
          <p:cNvPr id="81" name="Straight Arrow Connector 80">
            <a:extLst>
              <a:ext uri="{FF2B5EF4-FFF2-40B4-BE49-F238E27FC236}">
                <a16:creationId xmlns:a16="http://schemas.microsoft.com/office/drawing/2014/main" id="{C27344A6-8FAF-46AA-2AB1-561570A4C245}"/>
              </a:ext>
            </a:extLst>
          </p:cNvPr>
          <p:cNvCxnSpPr>
            <a:stCxn id="61" idx="2"/>
            <a:endCxn id="62" idx="0"/>
          </p:cNvCxnSpPr>
          <p:nvPr/>
        </p:nvCxnSpPr>
        <p:spPr>
          <a:xfrm>
            <a:off x="1091897" y="2024230"/>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9BC3640A-4D05-9467-7B4F-A709A38A0895}"/>
              </a:ext>
            </a:extLst>
          </p:cNvPr>
          <p:cNvCxnSpPr>
            <a:stCxn id="62" idx="2"/>
            <a:endCxn id="63" idx="0"/>
          </p:cNvCxnSpPr>
          <p:nvPr/>
        </p:nvCxnSpPr>
        <p:spPr>
          <a:xfrm>
            <a:off x="1091897" y="3096899"/>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85" name="Elbow Connector 84">
            <a:extLst>
              <a:ext uri="{FF2B5EF4-FFF2-40B4-BE49-F238E27FC236}">
                <a16:creationId xmlns:a16="http://schemas.microsoft.com/office/drawing/2014/main" id="{E3C638DC-6150-06A8-DF4A-C58A60E03919}"/>
              </a:ext>
            </a:extLst>
          </p:cNvPr>
          <p:cNvCxnSpPr>
            <a:stCxn id="63" idx="3"/>
            <a:endCxn id="65" idx="1"/>
          </p:cNvCxnSpPr>
          <p:nvPr/>
        </p:nvCxnSpPr>
        <p:spPr>
          <a:xfrm flipV="1">
            <a:off x="1740051" y="1704183"/>
            <a:ext cx="443743" cy="2145338"/>
          </a:xfrm>
          <a:prstGeom prst="bentConnector3">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E3D388CF-B1DF-F751-332D-B112151A5F39}"/>
              </a:ext>
            </a:extLst>
          </p:cNvPr>
          <p:cNvCxnSpPr>
            <a:stCxn id="65" idx="2"/>
            <a:endCxn id="67" idx="0"/>
          </p:cNvCxnSpPr>
          <p:nvPr/>
        </p:nvCxnSpPr>
        <p:spPr>
          <a:xfrm>
            <a:off x="2831948" y="2024230"/>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1CDD903D-CCA3-7620-08A7-4F5C5588AD52}"/>
              </a:ext>
            </a:extLst>
          </p:cNvPr>
          <p:cNvCxnSpPr>
            <a:stCxn id="67" idx="2"/>
            <a:endCxn id="66" idx="0"/>
          </p:cNvCxnSpPr>
          <p:nvPr/>
        </p:nvCxnSpPr>
        <p:spPr>
          <a:xfrm>
            <a:off x="2831948" y="3096899"/>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1" name="Elbow Connector 90">
            <a:extLst>
              <a:ext uri="{FF2B5EF4-FFF2-40B4-BE49-F238E27FC236}">
                <a16:creationId xmlns:a16="http://schemas.microsoft.com/office/drawing/2014/main" id="{3757124D-703C-C4A1-3967-109A3FF12B7C}"/>
              </a:ext>
            </a:extLst>
          </p:cNvPr>
          <p:cNvCxnSpPr>
            <a:stCxn id="66" idx="3"/>
            <a:endCxn id="68" idx="1"/>
          </p:cNvCxnSpPr>
          <p:nvPr/>
        </p:nvCxnSpPr>
        <p:spPr>
          <a:xfrm flipV="1">
            <a:off x="3480102" y="1704183"/>
            <a:ext cx="443743" cy="2145338"/>
          </a:xfrm>
          <a:prstGeom prst="bentConnector3">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3B324D26-2F13-7B3B-F984-04A32A7BA6D5}"/>
              </a:ext>
            </a:extLst>
          </p:cNvPr>
          <p:cNvCxnSpPr>
            <a:stCxn id="68" idx="2"/>
            <a:endCxn id="70" idx="0"/>
          </p:cNvCxnSpPr>
          <p:nvPr/>
        </p:nvCxnSpPr>
        <p:spPr>
          <a:xfrm>
            <a:off x="4571999" y="2024230"/>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F369090A-6343-98A7-D1E7-2D53503DA819}"/>
              </a:ext>
            </a:extLst>
          </p:cNvPr>
          <p:cNvCxnSpPr>
            <a:stCxn id="70" idx="2"/>
            <a:endCxn id="69" idx="0"/>
          </p:cNvCxnSpPr>
          <p:nvPr/>
        </p:nvCxnSpPr>
        <p:spPr>
          <a:xfrm>
            <a:off x="4571999" y="3096899"/>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CCA25BC7-744C-8AB5-CAEF-81C778E87E57}"/>
              </a:ext>
            </a:extLst>
          </p:cNvPr>
          <p:cNvCxnSpPr>
            <a:stCxn id="71" idx="2"/>
            <a:endCxn id="73" idx="0"/>
          </p:cNvCxnSpPr>
          <p:nvPr/>
        </p:nvCxnSpPr>
        <p:spPr>
          <a:xfrm>
            <a:off x="6312050" y="2024230"/>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01" name="Straight Arrow Connector 100">
            <a:extLst>
              <a:ext uri="{FF2B5EF4-FFF2-40B4-BE49-F238E27FC236}">
                <a16:creationId xmlns:a16="http://schemas.microsoft.com/office/drawing/2014/main" id="{69CAC18A-1749-EFDF-6D2D-2203534197DF}"/>
              </a:ext>
            </a:extLst>
          </p:cNvPr>
          <p:cNvCxnSpPr>
            <a:stCxn id="73" idx="2"/>
            <a:endCxn id="72" idx="0"/>
          </p:cNvCxnSpPr>
          <p:nvPr/>
        </p:nvCxnSpPr>
        <p:spPr>
          <a:xfrm>
            <a:off x="6312050" y="3096899"/>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8B7EB835-3C32-3702-A76F-1B1D2F385CDC}"/>
              </a:ext>
            </a:extLst>
          </p:cNvPr>
          <p:cNvCxnSpPr>
            <a:stCxn id="74" idx="2"/>
            <a:endCxn id="76" idx="0"/>
          </p:cNvCxnSpPr>
          <p:nvPr/>
        </p:nvCxnSpPr>
        <p:spPr>
          <a:xfrm>
            <a:off x="8052101" y="2024230"/>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97F26B58-2F98-D2B7-7D6F-40790EC41A0B}"/>
              </a:ext>
            </a:extLst>
          </p:cNvPr>
          <p:cNvCxnSpPr>
            <a:stCxn id="76" idx="2"/>
            <a:endCxn id="75" idx="0"/>
          </p:cNvCxnSpPr>
          <p:nvPr/>
        </p:nvCxnSpPr>
        <p:spPr>
          <a:xfrm>
            <a:off x="8052101" y="3096899"/>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2" name="Elbow Connector 111">
            <a:extLst>
              <a:ext uri="{FF2B5EF4-FFF2-40B4-BE49-F238E27FC236}">
                <a16:creationId xmlns:a16="http://schemas.microsoft.com/office/drawing/2014/main" id="{C1569329-D3C2-D78D-5D83-028535832CC1}"/>
              </a:ext>
            </a:extLst>
          </p:cNvPr>
          <p:cNvCxnSpPr>
            <a:cxnSpLocks/>
            <a:stCxn id="69" idx="3"/>
            <a:endCxn id="71" idx="1"/>
          </p:cNvCxnSpPr>
          <p:nvPr/>
        </p:nvCxnSpPr>
        <p:spPr>
          <a:xfrm flipV="1">
            <a:off x="5220153" y="1704183"/>
            <a:ext cx="443743" cy="2145338"/>
          </a:xfrm>
          <a:prstGeom prst="bentConnector3">
            <a:avLst>
              <a:gd name="adj1" fmla="val 50000"/>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5" name="Elbow Connector 114">
            <a:extLst>
              <a:ext uri="{FF2B5EF4-FFF2-40B4-BE49-F238E27FC236}">
                <a16:creationId xmlns:a16="http://schemas.microsoft.com/office/drawing/2014/main" id="{A027CA33-B9B2-1DFF-966A-6EAE6EEC66F0}"/>
              </a:ext>
            </a:extLst>
          </p:cNvPr>
          <p:cNvCxnSpPr>
            <a:cxnSpLocks/>
            <a:stCxn id="72" idx="3"/>
            <a:endCxn id="74" idx="1"/>
          </p:cNvCxnSpPr>
          <p:nvPr/>
        </p:nvCxnSpPr>
        <p:spPr>
          <a:xfrm flipV="1">
            <a:off x="6960204" y="1704183"/>
            <a:ext cx="443743" cy="2145338"/>
          </a:xfrm>
          <a:prstGeom prst="bentConnector3">
            <a:avLst>
              <a:gd name="adj1" fmla="val 50000"/>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3764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2D617-EC24-C1B7-3C38-73732417B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B30D01-8CC9-A7F0-52CE-E15A1D186AAF}"/>
              </a:ext>
            </a:extLst>
          </p:cNvPr>
          <p:cNvSpPr>
            <a:spLocks noGrp="1"/>
          </p:cNvSpPr>
          <p:nvPr>
            <p:ph type="title"/>
          </p:nvPr>
        </p:nvSpPr>
        <p:spPr/>
        <p:txBody>
          <a:bodyPr lIns="0" tIns="45720" rIns="0" bIns="45720" anchor="t"/>
          <a:lstStyle/>
          <a:p>
            <a:r>
              <a:rPr lang="en-US" dirty="0">
                <a:latin typeface="Arial"/>
                <a:cs typeface="Arial"/>
              </a:rPr>
              <a:t>Sales Forecasting Functional Flow</a:t>
            </a:r>
            <a:endParaRPr lang="en-US" dirty="0">
              <a:solidFill>
                <a:schemeClr val="accent4"/>
              </a:solidFill>
              <a:latin typeface="Arial"/>
              <a:cs typeface="Arial"/>
            </a:endParaRPr>
          </a:p>
        </p:txBody>
      </p:sp>
      <p:sp>
        <p:nvSpPr>
          <p:cNvPr id="47" name="TextBox 46">
            <a:extLst>
              <a:ext uri="{FF2B5EF4-FFF2-40B4-BE49-F238E27FC236}">
                <a16:creationId xmlns:a16="http://schemas.microsoft.com/office/drawing/2014/main" id="{7017A189-5DB1-493C-C02D-5F4083B54875}"/>
              </a:ext>
            </a:extLst>
          </p:cNvPr>
          <p:cNvSpPr txBox="1"/>
          <p:nvPr/>
        </p:nvSpPr>
        <p:spPr>
          <a:xfrm>
            <a:off x="381000" y="882968"/>
            <a:ext cx="1371600" cy="230832"/>
          </a:xfrm>
          <a:prstGeom prst="rect">
            <a:avLst/>
          </a:prstGeom>
          <a:noFill/>
        </p:spPr>
        <p:txBody>
          <a:bodyPr wrap="square" lIns="0" tIns="45720" rIns="91440" bIns="45720" rtlCol="0" anchor="t">
            <a:spAutoFit/>
          </a:bodyPr>
          <a:lstStyle/>
          <a:p>
            <a:pPr algn="ctr"/>
            <a:r>
              <a:rPr lang="en-US" sz="900" dirty="0">
                <a:solidFill>
                  <a:schemeClr val="tx2"/>
                </a:solidFill>
                <a:ea typeface="Verdana"/>
                <a:cs typeface="+mn-lt"/>
              </a:rPr>
              <a:t>1. Scenario Planning</a:t>
            </a:r>
            <a:endParaRPr lang="en-US" sz="900" dirty="0">
              <a:solidFill>
                <a:schemeClr val="tx2"/>
              </a:solidFill>
            </a:endParaRPr>
          </a:p>
        </p:txBody>
      </p:sp>
      <p:sp>
        <p:nvSpPr>
          <p:cNvPr id="48" name="TextBox 47">
            <a:extLst>
              <a:ext uri="{FF2B5EF4-FFF2-40B4-BE49-F238E27FC236}">
                <a16:creationId xmlns:a16="http://schemas.microsoft.com/office/drawing/2014/main" id="{B41E7EFC-E7A3-FE20-E6B4-00CC4D74EB13}"/>
              </a:ext>
            </a:extLst>
          </p:cNvPr>
          <p:cNvSpPr txBox="1"/>
          <p:nvPr/>
        </p:nvSpPr>
        <p:spPr>
          <a:xfrm>
            <a:off x="2133600" y="813718"/>
            <a:ext cx="1371600" cy="369332"/>
          </a:xfrm>
          <a:prstGeom prst="rect">
            <a:avLst/>
          </a:prstGeom>
          <a:noFill/>
        </p:spPr>
        <p:txBody>
          <a:bodyPr wrap="square" lIns="0" tIns="45720" rIns="91440" bIns="45720" rtlCol="0" anchor="t">
            <a:spAutoFit/>
          </a:bodyPr>
          <a:lstStyle/>
          <a:p>
            <a:pPr algn="ctr"/>
            <a:r>
              <a:rPr lang="en-US" sz="900" dirty="0">
                <a:solidFill>
                  <a:schemeClr val="tx2"/>
                </a:solidFill>
                <a:ea typeface="+mn-lt"/>
                <a:cs typeface="+mn-lt"/>
              </a:rPr>
              <a:t>2. Opportunity Adjustment</a:t>
            </a:r>
          </a:p>
        </p:txBody>
      </p:sp>
      <p:sp>
        <p:nvSpPr>
          <p:cNvPr id="49" name="TextBox 48">
            <a:extLst>
              <a:ext uri="{FF2B5EF4-FFF2-40B4-BE49-F238E27FC236}">
                <a16:creationId xmlns:a16="http://schemas.microsoft.com/office/drawing/2014/main" id="{ED37F1BE-F749-46AC-6212-F2DC3A494F71}"/>
              </a:ext>
            </a:extLst>
          </p:cNvPr>
          <p:cNvSpPr txBox="1"/>
          <p:nvPr/>
        </p:nvSpPr>
        <p:spPr>
          <a:xfrm>
            <a:off x="3886200" y="882968"/>
            <a:ext cx="1371600" cy="230832"/>
          </a:xfrm>
          <a:prstGeom prst="rect">
            <a:avLst/>
          </a:prstGeom>
          <a:noFill/>
        </p:spPr>
        <p:txBody>
          <a:bodyPr wrap="square" lIns="0" tIns="45720" rIns="91440" bIns="45720" rtlCol="0" anchor="t">
            <a:spAutoFit/>
          </a:bodyPr>
          <a:lstStyle/>
          <a:p>
            <a:pPr algn="ctr"/>
            <a:r>
              <a:rPr lang="en-US" sz="900" dirty="0">
                <a:solidFill>
                  <a:schemeClr val="tx2"/>
                </a:solidFill>
                <a:ea typeface="+mn-lt"/>
                <a:cs typeface="+mn-lt"/>
              </a:rPr>
              <a:t>3. Anaplan Prediction</a:t>
            </a:r>
          </a:p>
        </p:txBody>
      </p:sp>
      <p:sp>
        <p:nvSpPr>
          <p:cNvPr id="50" name="TextBox 49">
            <a:extLst>
              <a:ext uri="{FF2B5EF4-FFF2-40B4-BE49-F238E27FC236}">
                <a16:creationId xmlns:a16="http://schemas.microsoft.com/office/drawing/2014/main" id="{BF4AA041-7B86-237A-7AD3-BC66AB557C74}"/>
              </a:ext>
            </a:extLst>
          </p:cNvPr>
          <p:cNvSpPr txBox="1"/>
          <p:nvPr/>
        </p:nvSpPr>
        <p:spPr>
          <a:xfrm>
            <a:off x="5638800" y="813718"/>
            <a:ext cx="1371600" cy="369332"/>
          </a:xfrm>
          <a:prstGeom prst="rect">
            <a:avLst/>
          </a:prstGeom>
          <a:noFill/>
        </p:spPr>
        <p:txBody>
          <a:bodyPr wrap="square" lIns="0" tIns="45720" rIns="91440" bIns="45720" rtlCol="0" anchor="t">
            <a:spAutoFit/>
          </a:bodyPr>
          <a:lstStyle/>
          <a:p>
            <a:pPr algn="ctr"/>
            <a:r>
              <a:rPr lang="en-US" sz="900" dirty="0">
                <a:solidFill>
                  <a:schemeClr val="tx2"/>
                </a:solidFill>
                <a:ea typeface="+mn-lt"/>
                <a:cs typeface="+mn-lt"/>
              </a:rPr>
              <a:t>4. Person-level Adjustment</a:t>
            </a:r>
          </a:p>
        </p:txBody>
      </p:sp>
      <p:cxnSp>
        <p:nvCxnSpPr>
          <p:cNvPr id="52" name="Straight Connector 51">
            <a:extLst>
              <a:ext uri="{FF2B5EF4-FFF2-40B4-BE49-F238E27FC236}">
                <a16:creationId xmlns:a16="http://schemas.microsoft.com/office/drawing/2014/main" id="{A1A2D097-8AE5-2191-42F2-A52D043C3BCA}"/>
              </a:ext>
            </a:extLst>
          </p:cNvPr>
          <p:cNvCxnSpPr>
            <a:cxnSpLocks/>
          </p:cNvCxnSpPr>
          <p:nvPr/>
        </p:nvCxnSpPr>
        <p:spPr>
          <a:xfrm>
            <a:off x="381000" y="1203611"/>
            <a:ext cx="1371600" cy="0"/>
          </a:xfrm>
          <a:prstGeom prst="line">
            <a:avLst/>
          </a:prstGeom>
          <a:ln w="19050" cap="rnd">
            <a:solidFill>
              <a:schemeClr val="accent1"/>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CB7D6E98-39AC-9358-C6C6-9F74B1D54463}"/>
              </a:ext>
            </a:extLst>
          </p:cNvPr>
          <p:cNvCxnSpPr>
            <a:cxnSpLocks/>
          </p:cNvCxnSpPr>
          <p:nvPr/>
        </p:nvCxnSpPr>
        <p:spPr>
          <a:xfrm>
            <a:off x="2133600" y="1203611"/>
            <a:ext cx="1371600" cy="0"/>
          </a:xfrm>
          <a:prstGeom prst="line">
            <a:avLst/>
          </a:prstGeom>
          <a:ln w="19050" cap="rnd">
            <a:solidFill>
              <a:schemeClr val="accent1"/>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71E526F9-4ED9-4FD6-17C1-EE28743C2327}"/>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
        <p:nvSpPr>
          <p:cNvPr id="30" name="TextBox 29">
            <a:extLst>
              <a:ext uri="{FF2B5EF4-FFF2-40B4-BE49-F238E27FC236}">
                <a16:creationId xmlns:a16="http://schemas.microsoft.com/office/drawing/2014/main" id="{BEC84257-D984-0DA1-7980-A4DC5AB81862}"/>
              </a:ext>
            </a:extLst>
          </p:cNvPr>
          <p:cNvSpPr txBox="1"/>
          <p:nvPr/>
        </p:nvSpPr>
        <p:spPr>
          <a:xfrm>
            <a:off x="7391400" y="882968"/>
            <a:ext cx="1371600" cy="230832"/>
          </a:xfrm>
          <a:prstGeom prst="rect">
            <a:avLst/>
          </a:prstGeom>
          <a:noFill/>
        </p:spPr>
        <p:txBody>
          <a:bodyPr wrap="square" lIns="0" tIns="45720" rIns="91440" bIns="45720" rtlCol="0" anchor="t">
            <a:spAutoFit/>
          </a:bodyPr>
          <a:lstStyle/>
          <a:p>
            <a:pPr algn="ctr"/>
            <a:r>
              <a:rPr lang="en-US" sz="900" dirty="0">
                <a:solidFill>
                  <a:schemeClr val="tx2"/>
                </a:solidFill>
                <a:ea typeface="+mn-lt"/>
                <a:cs typeface="+mn-lt"/>
              </a:rPr>
              <a:t>5. Commit Call</a:t>
            </a:r>
          </a:p>
        </p:txBody>
      </p:sp>
      <p:cxnSp>
        <p:nvCxnSpPr>
          <p:cNvPr id="33" name="Straight Connector 32">
            <a:extLst>
              <a:ext uri="{FF2B5EF4-FFF2-40B4-BE49-F238E27FC236}">
                <a16:creationId xmlns:a16="http://schemas.microsoft.com/office/drawing/2014/main" id="{E7B7E6D5-1928-6E64-E8E4-051FC5BDA901}"/>
              </a:ext>
            </a:extLst>
          </p:cNvPr>
          <p:cNvCxnSpPr>
            <a:cxnSpLocks/>
          </p:cNvCxnSpPr>
          <p:nvPr/>
        </p:nvCxnSpPr>
        <p:spPr>
          <a:xfrm>
            <a:off x="3886200" y="1203611"/>
            <a:ext cx="1371600" cy="0"/>
          </a:xfrm>
          <a:prstGeom prst="line">
            <a:avLst/>
          </a:prstGeom>
          <a:ln w="19050" cap="rnd">
            <a:solidFill>
              <a:schemeClr val="accent1"/>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8C4364D-868A-8DD2-3C16-2EA1B591C7AE}"/>
              </a:ext>
            </a:extLst>
          </p:cNvPr>
          <p:cNvCxnSpPr>
            <a:cxnSpLocks/>
          </p:cNvCxnSpPr>
          <p:nvPr/>
        </p:nvCxnSpPr>
        <p:spPr>
          <a:xfrm>
            <a:off x="5638800" y="1203611"/>
            <a:ext cx="1371600" cy="0"/>
          </a:xfrm>
          <a:prstGeom prst="line">
            <a:avLst/>
          </a:prstGeom>
          <a:ln w="19050" cap="rnd">
            <a:solidFill>
              <a:schemeClr val="accent1"/>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82591394-DB89-3142-7F73-8B824052AE67}"/>
              </a:ext>
            </a:extLst>
          </p:cNvPr>
          <p:cNvCxnSpPr>
            <a:cxnSpLocks/>
          </p:cNvCxnSpPr>
          <p:nvPr/>
        </p:nvCxnSpPr>
        <p:spPr>
          <a:xfrm>
            <a:off x="7391400" y="1203611"/>
            <a:ext cx="1371600" cy="0"/>
          </a:xfrm>
          <a:prstGeom prst="line">
            <a:avLst/>
          </a:prstGeom>
          <a:ln w="19050" cap="rnd">
            <a:solidFill>
              <a:schemeClr val="accent1"/>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61" name="Rounded Rectangle 60">
            <a:extLst>
              <a:ext uri="{FF2B5EF4-FFF2-40B4-BE49-F238E27FC236}">
                <a16:creationId xmlns:a16="http://schemas.microsoft.com/office/drawing/2014/main" id="{770C18FA-30F5-51C1-B792-B08C3DB7C945}"/>
              </a:ext>
            </a:extLst>
          </p:cNvPr>
          <p:cNvSpPr/>
          <p:nvPr/>
        </p:nvSpPr>
        <p:spPr>
          <a:xfrm>
            <a:off x="443743" y="1384135"/>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Historical Data, CRM Opportunities, Quota Information, Product &amp; Customer Master Data</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62" name="Rounded Rectangle 61">
            <a:extLst>
              <a:ext uri="{FF2B5EF4-FFF2-40B4-BE49-F238E27FC236}">
                <a16:creationId xmlns:a16="http://schemas.microsoft.com/office/drawing/2014/main" id="{21A81647-5A66-91EC-2074-B85062B13DBF}"/>
              </a:ext>
            </a:extLst>
          </p:cNvPr>
          <p:cNvSpPr/>
          <p:nvPr/>
        </p:nvSpPr>
        <p:spPr>
          <a:xfrm>
            <a:off x="443743" y="2456804"/>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Automated process extracts and loads cleansed source data into the Anaplan model</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63" name="Rounded Rectangle 62">
            <a:extLst>
              <a:ext uri="{FF2B5EF4-FFF2-40B4-BE49-F238E27FC236}">
                <a16:creationId xmlns:a16="http://schemas.microsoft.com/office/drawing/2014/main" id="{2C906D82-56FE-C42F-C54E-7B7A13EA5D22}"/>
              </a:ext>
            </a:extLst>
          </p:cNvPr>
          <p:cNvSpPr/>
          <p:nvPr/>
        </p:nvSpPr>
        <p:spPr>
          <a:xfrm>
            <a:off x="443743" y="3529473"/>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Staging models in Anaplan are populated with the latest historical and pipeline data.</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65" name="Rounded Rectangle 64">
            <a:extLst>
              <a:ext uri="{FF2B5EF4-FFF2-40B4-BE49-F238E27FC236}">
                <a16:creationId xmlns:a16="http://schemas.microsoft.com/office/drawing/2014/main" id="{907AE525-90B1-9137-68D2-E1F5BB174708}"/>
              </a:ext>
            </a:extLst>
          </p:cNvPr>
          <p:cNvSpPr/>
          <p:nvPr/>
        </p:nvSpPr>
        <p:spPr>
          <a:xfrm>
            <a:off x="2183794" y="1384135"/>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Prepared historical and opportunity data</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66" name="Rounded Rectangle 65">
            <a:extLst>
              <a:ext uri="{FF2B5EF4-FFF2-40B4-BE49-F238E27FC236}">
                <a16:creationId xmlns:a16="http://schemas.microsoft.com/office/drawing/2014/main" id="{71DB00BA-46EA-ECA8-5DA4-CDAD9513D871}"/>
              </a:ext>
            </a:extLst>
          </p:cNvPr>
          <p:cNvSpPr/>
          <p:nvPr/>
        </p:nvSpPr>
        <p:spPr>
          <a:xfrm>
            <a:off x="2183794" y="3529473"/>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 baseline, system-generated forecast. Forecast is created for each sales territory/segment</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67" name="Rounded Rectangle 66">
            <a:extLst>
              <a:ext uri="{FF2B5EF4-FFF2-40B4-BE49-F238E27FC236}">
                <a16:creationId xmlns:a16="http://schemas.microsoft.com/office/drawing/2014/main" id="{F25A25BD-2920-302E-BEC0-35E2FBA22522}"/>
              </a:ext>
            </a:extLst>
          </p:cNvPr>
          <p:cNvSpPr/>
          <p:nvPr/>
        </p:nvSpPr>
        <p:spPr>
          <a:xfrm>
            <a:off x="2183794" y="2456804"/>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Sales Ops triggers the Anaplan process to run the statistical forecasting models</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68" name="Rounded Rectangle 67">
            <a:extLst>
              <a:ext uri="{FF2B5EF4-FFF2-40B4-BE49-F238E27FC236}">
                <a16:creationId xmlns:a16="http://schemas.microsoft.com/office/drawing/2014/main" id="{DF3301B2-50E3-6110-4EF0-8A0ECFC80AD3}"/>
              </a:ext>
            </a:extLst>
          </p:cNvPr>
          <p:cNvSpPr/>
          <p:nvPr/>
        </p:nvSpPr>
        <p:spPr>
          <a:xfrm>
            <a:off x="3923845" y="1384135"/>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System-generated "Stat Forecast."</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69" name="Rounded Rectangle 68">
            <a:extLst>
              <a:ext uri="{FF2B5EF4-FFF2-40B4-BE49-F238E27FC236}">
                <a16:creationId xmlns:a16="http://schemas.microsoft.com/office/drawing/2014/main" id="{BB33560A-0D97-3887-C6F6-2FD278775C53}"/>
              </a:ext>
            </a:extLst>
          </p:cNvPr>
          <p:cNvSpPr/>
          <p:nvPr/>
        </p:nvSpPr>
        <p:spPr>
          <a:xfrm>
            <a:off x="3923845" y="3529473"/>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"Sales Submission," reflecting both statistical analysis and field-level expertise</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70" name="Rounded Rectangle 69">
            <a:extLst>
              <a:ext uri="{FF2B5EF4-FFF2-40B4-BE49-F238E27FC236}">
                <a16:creationId xmlns:a16="http://schemas.microsoft.com/office/drawing/2014/main" id="{8F325989-579E-2881-AE50-22C59598DDE5}"/>
              </a:ext>
            </a:extLst>
          </p:cNvPr>
          <p:cNvSpPr/>
          <p:nvPr/>
        </p:nvSpPr>
        <p:spPr>
          <a:xfrm>
            <a:off x="3923845" y="2456804"/>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Sales reps review and adjust the baseline forecast with their deal-level insights.</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71" name="Rounded Rectangle 70">
            <a:extLst>
              <a:ext uri="{FF2B5EF4-FFF2-40B4-BE49-F238E27FC236}">
                <a16:creationId xmlns:a16="http://schemas.microsoft.com/office/drawing/2014/main" id="{18C37F16-EA2D-176F-609E-EA02EB7D1C63}"/>
              </a:ext>
            </a:extLst>
          </p:cNvPr>
          <p:cNvSpPr/>
          <p:nvPr/>
        </p:nvSpPr>
        <p:spPr>
          <a:xfrm>
            <a:off x="5663896" y="1384135"/>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The "Sales Submission" from the field team</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72" name="Rounded Rectangle 71">
            <a:extLst>
              <a:ext uri="{FF2B5EF4-FFF2-40B4-BE49-F238E27FC236}">
                <a16:creationId xmlns:a16="http://schemas.microsoft.com/office/drawing/2014/main" id="{C877FA9D-DB85-D828-491B-E1F62A1057D5}"/>
              </a:ext>
            </a:extLst>
          </p:cNvPr>
          <p:cNvSpPr/>
          <p:nvPr/>
        </p:nvSpPr>
        <p:spPr>
          <a:xfrm>
            <a:off x="5663896" y="3529473"/>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An adjusted forecast, now called the "Management Forecast."</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73" name="Rounded Rectangle 72">
            <a:extLst>
              <a:ext uri="{FF2B5EF4-FFF2-40B4-BE49-F238E27FC236}">
                <a16:creationId xmlns:a16="http://schemas.microsoft.com/office/drawing/2014/main" id="{4F237ABF-6BEE-B2EB-588A-FD255C3316E7}"/>
              </a:ext>
            </a:extLst>
          </p:cNvPr>
          <p:cNvSpPr/>
          <p:nvPr/>
        </p:nvSpPr>
        <p:spPr>
          <a:xfrm>
            <a:off x="5663896" y="2456804"/>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Sales leaders review forecasts for region and make high-level "top-down" adjustments</a:t>
            </a:r>
          </a:p>
        </p:txBody>
      </p:sp>
      <p:sp>
        <p:nvSpPr>
          <p:cNvPr id="74" name="Rounded Rectangle 73">
            <a:extLst>
              <a:ext uri="{FF2B5EF4-FFF2-40B4-BE49-F238E27FC236}">
                <a16:creationId xmlns:a16="http://schemas.microsoft.com/office/drawing/2014/main" id="{AE87D608-ED35-88DA-AE87-685493D8726C}"/>
              </a:ext>
            </a:extLst>
          </p:cNvPr>
          <p:cNvSpPr/>
          <p:nvPr/>
        </p:nvSpPr>
        <p:spPr>
          <a:xfrm>
            <a:off x="7403947" y="1384135"/>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The final "Management Forecast."</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75" name="Rounded Rectangle 74">
            <a:extLst>
              <a:ext uri="{FF2B5EF4-FFF2-40B4-BE49-F238E27FC236}">
                <a16:creationId xmlns:a16="http://schemas.microsoft.com/office/drawing/2014/main" id="{0E97EEB8-A3EF-5153-8E45-9822E7F2C718}"/>
              </a:ext>
            </a:extLst>
          </p:cNvPr>
          <p:cNvSpPr/>
          <p:nvPr/>
        </p:nvSpPr>
        <p:spPr>
          <a:xfrm>
            <a:off x="7403947" y="3529473"/>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 single, approved "Final Forecast" that becomes the official record for the company</a:t>
            </a:r>
            <a:endParaRPr lang="en-US" sz="800" dirty="0">
              <a:solidFill>
                <a:schemeClr val="bg1"/>
              </a:solidFill>
              <a:latin typeface="Arial" panose="020B0604020202020204" pitchFamily="34" charset="0"/>
              <a:ea typeface="Verdana" charset="0"/>
              <a:cs typeface="Arial" panose="020B0604020202020204" pitchFamily="34" charset="0"/>
            </a:endParaRPr>
          </a:p>
        </p:txBody>
      </p:sp>
      <p:sp>
        <p:nvSpPr>
          <p:cNvPr id="76" name="Rounded Rectangle 75">
            <a:extLst>
              <a:ext uri="{FF2B5EF4-FFF2-40B4-BE49-F238E27FC236}">
                <a16:creationId xmlns:a16="http://schemas.microsoft.com/office/drawing/2014/main" id="{A4B29304-E1BB-8EFB-56AE-F49368066015}"/>
              </a:ext>
            </a:extLst>
          </p:cNvPr>
          <p:cNvSpPr/>
          <p:nvPr/>
        </p:nvSpPr>
        <p:spPr>
          <a:xfrm>
            <a:off x="7403947" y="2456804"/>
            <a:ext cx="1296308" cy="64009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After all reviews, the final forecast is locked and submitted for the period.</a:t>
            </a:r>
          </a:p>
        </p:txBody>
      </p:sp>
      <p:cxnSp>
        <p:nvCxnSpPr>
          <p:cNvPr id="81" name="Straight Arrow Connector 80">
            <a:extLst>
              <a:ext uri="{FF2B5EF4-FFF2-40B4-BE49-F238E27FC236}">
                <a16:creationId xmlns:a16="http://schemas.microsoft.com/office/drawing/2014/main" id="{538833C3-433E-8D41-CE6A-85532437541D}"/>
              </a:ext>
            </a:extLst>
          </p:cNvPr>
          <p:cNvCxnSpPr>
            <a:stCxn id="61" idx="2"/>
            <a:endCxn id="62" idx="0"/>
          </p:cNvCxnSpPr>
          <p:nvPr/>
        </p:nvCxnSpPr>
        <p:spPr>
          <a:xfrm>
            <a:off x="1091897" y="2024230"/>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ED89B1E0-9459-2675-A5E7-626A333AB5D3}"/>
              </a:ext>
            </a:extLst>
          </p:cNvPr>
          <p:cNvCxnSpPr>
            <a:stCxn id="62" idx="2"/>
            <a:endCxn id="63" idx="0"/>
          </p:cNvCxnSpPr>
          <p:nvPr/>
        </p:nvCxnSpPr>
        <p:spPr>
          <a:xfrm>
            <a:off x="1091897" y="3096899"/>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85" name="Elbow Connector 84">
            <a:extLst>
              <a:ext uri="{FF2B5EF4-FFF2-40B4-BE49-F238E27FC236}">
                <a16:creationId xmlns:a16="http://schemas.microsoft.com/office/drawing/2014/main" id="{9D86C545-BB3F-CE58-C58F-A7B0234CAB4F}"/>
              </a:ext>
            </a:extLst>
          </p:cNvPr>
          <p:cNvCxnSpPr>
            <a:stCxn id="63" idx="3"/>
            <a:endCxn id="65" idx="1"/>
          </p:cNvCxnSpPr>
          <p:nvPr/>
        </p:nvCxnSpPr>
        <p:spPr>
          <a:xfrm flipV="1">
            <a:off x="1740051" y="1704183"/>
            <a:ext cx="443743" cy="2145338"/>
          </a:xfrm>
          <a:prstGeom prst="bentConnector3">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5E6ADC67-289A-3BF3-AC49-5805ED5F3CFE}"/>
              </a:ext>
            </a:extLst>
          </p:cNvPr>
          <p:cNvCxnSpPr>
            <a:stCxn id="65" idx="2"/>
            <a:endCxn id="67" idx="0"/>
          </p:cNvCxnSpPr>
          <p:nvPr/>
        </p:nvCxnSpPr>
        <p:spPr>
          <a:xfrm>
            <a:off x="2831948" y="2024230"/>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B5A34E38-C0D5-168C-E2AF-63EF90E44674}"/>
              </a:ext>
            </a:extLst>
          </p:cNvPr>
          <p:cNvCxnSpPr>
            <a:stCxn id="67" idx="2"/>
            <a:endCxn id="66" idx="0"/>
          </p:cNvCxnSpPr>
          <p:nvPr/>
        </p:nvCxnSpPr>
        <p:spPr>
          <a:xfrm>
            <a:off x="2831948" y="3096899"/>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1" name="Elbow Connector 90">
            <a:extLst>
              <a:ext uri="{FF2B5EF4-FFF2-40B4-BE49-F238E27FC236}">
                <a16:creationId xmlns:a16="http://schemas.microsoft.com/office/drawing/2014/main" id="{3411C6A9-A235-F1D7-5B81-CDC0195975FF}"/>
              </a:ext>
            </a:extLst>
          </p:cNvPr>
          <p:cNvCxnSpPr>
            <a:stCxn id="66" idx="3"/>
            <a:endCxn id="68" idx="1"/>
          </p:cNvCxnSpPr>
          <p:nvPr/>
        </p:nvCxnSpPr>
        <p:spPr>
          <a:xfrm flipV="1">
            <a:off x="3480102" y="1704183"/>
            <a:ext cx="443743" cy="2145338"/>
          </a:xfrm>
          <a:prstGeom prst="bentConnector3">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BC0C4F5E-1BDF-1DA6-B34A-E6C9A010AC6A}"/>
              </a:ext>
            </a:extLst>
          </p:cNvPr>
          <p:cNvCxnSpPr>
            <a:stCxn id="68" idx="2"/>
            <a:endCxn id="70" idx="0"/>
          </p:cNvCxnSpPr>
          <p:nvPr/>
        </p:nvCxnSpPr>
        <p:spPr>
          <a:xfrm>
            <a:off x="4571999" y="2024230"/>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6F2B9C04-99A2-5A7C-FDB1-629EC35CA1A7}"/>
              </a:ext>
            </a:extLst>
          </p:cNvPr>
          <p:cNvCxnSpPr>
            <a:stCxn id="70" idx="2"/>
            <a:endCxn id="69" idx="0"/>
          </p:cNvCxnSpPr>
          <p:nvPr/>
        </p:nvCxnSpPr>
        <p:spPr>
          <a:xfrm>
            <a:off x="4571999" y="3096899"/>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A71E0050-F22A-25A7-2DA3-C57A1F14B2D9}"/>
              </a:ext>
            </a:extLst>
          </p:cNvPr>
          <p:cNvCxnSpPr>
            <a:stCxn id="71" idx="2"/>
            <a:endCxn id="73" idx="0"/>
          </p:cNvCxnSpPr>
          <p:nvPr/>
        </p:nvCxnSpPr>
        <p:spPr>
          <a:xfrm>
            <a:off x="6312050" y="2024230"/>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01" name="Straight Arrow Connector 100">
            <a:extLst>
              <a:ext uri="{FF2B5EF4-FFF2-40B4-BE49-F238E27FC236}">
                <a16:creationId xmlns:a16="http://schemas.microsoft.com/office/drawing/2014/main" id="{3F38DBC8-95FA-7370-A4F3-150936A2A7AA}"/>
              </a:ext>
            </a:extLst>
          </p:cNvPr>
          <p:cNvCxnSpPr>
            <a:stCxn id="73" idx="2"/>
            <a:endCxn id="72" idx="0"/>
          </p:cNvCxnSpPr>
          <p:nvPr/>
        </p:nvCxnSpPr>
        <p:spPr>
          <a:xfrm>
            <a:off x="6312050" y="3096899"/>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D2DA6CFC-BB1E-7852-8A18-130254CA1323}"/>
              </a:ext>
            </a:extLst>
          </p:cNvPr>
          <p:cNvCxnSpPr>
            <a:stCxn id="74" idx="2"/>
            <a:endCxn id="76" idx="0"/>
          </p:cNvCxnSpPr>
          <p:nvPr/>
        </p:nvCxnSpPr>
        <p:spPr>
          <a:xfrm>
            <a:off x="8052101" y="2024230"/>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2FD3FDBA-9A73-A5EE-716F-8708883AB06E}"/>
              </a:ext>
            </a:extLst>
          </p:cNvPr>
          <p:cNvCxnSpPr>
            <a:stCxn id="76" idx="2"/>
            <a:endCxn id="75" idx="0"/>
          </p:cNvCxnSpPr>
          <p:nvPr/>
        </p:nvCxnSpPr>
        <p:spPr>
          <a:xfrm>
            <a:off x="8052101" y="3096899"/>
            <a:ext cx="0" cy="43257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2" name="Elbow Connector 111">
            <a:extLst>
              <a:ext uri="{FF2B5EF4-FFF2-40B4-BE49-F238E27FC236}">
                <a16:creationId xmlns:a16="http://schemas.microsoft.com/office/drawing/2014/main" id="{8B8C8DDB-B895-8497-3FB8-9591DA851DCB}"/>
              </a:ext>
            </a:extLst>
          </p:cNvPr>
          <p:cNvCxnSpPr>
            <a:cxnSpLocks/>
            <a:stCxn id="69" idx="3"/>
            <a:endCxn id="71" idx="1"/>
          </p:cNvCxnSpPr>
          <p:nvPr/>
        </p:nvCxnSpPr>
        <p:spPr>
          <a:xfrm flipV="1">
            <a:off x="5220153" y="1704183"/>
            <a:ext cx="443743" cy="2145338"/>
          </a:xfrm>
          <a:prstGeom prst="bentConnector3">
            <a:avLst>
              <a:gd name="adj1" fmla="val 50000"/>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5" name="Elbow Connector 114">
            <a:extLst>
              <a:ext uri="{FF2B5EF4-FFF2-40B4-BE49-F238E27FC236}">
                <a16:creationId xmlns:a16="http://schemas.microsoft.com/office/drawing/2014/main" id="{8016206F-A7AB-6B5D-8FA5-BB4B3DC26BAC}"/>
              </a:ext>
            </a:extLst>
          </p:cNvPr>
          <p:cNvCxnSpPr>
            <a:cxnSpLocks/>
            <a:stCxn id="72" idx="3"/>
            <a:endCxn id="74" idx="1"/>
          </p:cNvCxnSpPr>
          <p:nvPr/>
        </p:nvCxnSpPr>
        <p:spPr>
          <a:xfrm flipV="1">
            <a:off x="6960204" y="1704183"/>
            <a:ext cx="443743" cy="2145338"/>
          </a:xfrm>
          <a:prstGeom prst="bentConnector3">
            <a:avLst>
              <a:gd name="adj1" fmla="val 50000"/>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141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1CF25-391E-4E4E-BDDE-353F826DA4F5}"/>
              </a:ext>
            </a:extLst>
          </p:cNvPr>
          <p:cNvSpPr>
            <a:spLocks noGrp="1"/>
          </p:cNvSpPr>
          <p:nvPr>
            <p:ph type="title"/>
          </p:nvPr>
        </p:nvSpPr>
        <p:spPr/>
        <p:txBody>
          <a:bodyPr/>
          <a:lstStyle/>
          <a:p>
            <a:r>
              <a:rPr lang="en-US" b="1" dirty="0"/>
              <a:t>Sales Forecasting – </a:t>
            </a:r>
            <a:r>
              <a:rPr lang="en-US" b="1" dirty="0">
                <a:solidFill>
                  <a:schemeClr val="tx2"/>
                </a:solidFill>
              </a:rPr>
              <a:t>Process Catalogue </a:t>
            </a:r>
          </a:p>
        </p:txBody>
      </p:sp>
      <p:graphicFrame>
        <p:nvGraphicFramePr>
          <p:cNvPr id="5" name="Table 7">
            <a:extLst>
              <a:ext uri="{FF2B5EF4-FFF2-40B4-BE49-F238E27FC236}">
                <a16:creationId xmlns:a16="http://schemas.microsoft.com/office/drawing/2014/main" id="{662DE45F-A510-D17E-F290-289877C51993}"/>
              </a:ext>
            </a:extLst>
          </p:cNvPr>
          <p:cNvGraphicFramePr>
            <a:graphicFrameLocks noGrp="1"/>
          </p:cNvGraphicFramePr>
          <p:nvPr>
            <p:extLst>
              <p:ext uri="{D42A27DB-BD31-4B8C-83A1-F6EECF244321}">
                <p14:modId xmlns:p14="http://schemas.microsoft.com/office/powerpoint/2010/main" val="3201409018"/>
              </p:ext>
            </p:extLst>
          </p:nvPr>
        </p:nvGraphicFramePr>
        <p:xfrm>
          <a:off x="419101" y="889907"/>
          <a:ext cx="8153401" cy="2143494"/>
        </p:xfrm>
        <a:graphic>
          <a:graphicData uri="http://schemas.openxmlformats.org/drawingml/2006/table">
            <a:tbl>
              <a:tblPr firstRow="1" bandRow="1">
                <a:tableStyleId>{72833802-FEF1-4C79-8D5D-14CF1EAF98D9}</a:tableStyleId>
              </a:tblPr>
              <a:tblGrid>
                <a:gridCol w="1291358">
                  <a:extLst>
                    <a:ext uri="{9D8B030D-6E8A-4147-A177-3AD203B41FA5}">
                      <a16:colId xmlns:a16="http://schemas.microsoft.com/office/drawing/2014/main" val="718031972"/>
                    </a:ext>
                  </a:extLst>
                </a:gridCol>
                <a:gridCol w="839768">
                  <a:extLst>
                    <a:ext uri="{9D8B030D-6E8A-4147-A177-3AD203B41FA5}">
                      <a16:colId xmlns:a16="http://schemas.microsoft.com/office/drawing/2014/main" val="1955053113"/>
                    </a:ext>
                  </a:extLst>
                </a:gridCol>
                <a:gridCol w="1161382">
                  <a:extLst>
                    <a:ext uri="{9D8B030D-6E8A-4147-A177-3AD203B41FA5}">
                      <a16:colId xmlns:a16="http://schemas.microsoft.com/office/drawing/2014/main" val="4105104177"/>
                    </a:ext>
                  </a:extLst>
                </a:gridCol>
                <a:gridCol w="4860893">
                  <a:extLst>
                    <a:ext uri="{9D8B030D-6E8A-4147-A177-3AD203B41FA5}">
                      <a16:colId xmlns:a16="http://schemas.microsoft.com/office/drawing/2014/main" val="2646446585"/>
                    </a:ext>
                  </a:extLst>
                </a:gridCol>
              </a:tblGrid>
              <a:tr h="357249">
                <a:tc>
                  <a:txBody>
                    <a:bodyPr/>
                    <a:lstStyle/>
                    <a:p>
                      <a:r>
                        <a:rPr lang="en-US" sz="900"/>
                        <a:t>Process Step</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r>
                        <a:rPr lang="en-US" sz="900"/>
                        <a:t>Reference</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r>
                        <a:rPr lang="en-US" sz="900"/>
                        <a:t>Key Pages</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r>
                        <a:rPr lang="en-US" sz="900"/>
                        <a:t>Description</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926781289"/>
                  </a:ext>
                </a:extLst>
              </a:tr>
              <a:tr h="357249">
                <a:tc>
                  <a:txBody>
                    <a:bodyPr/>
                    <a:lstStyle/>
                    <a:p>
                      <a:pPr algn="l"/>
                      <a:r>
                        <a:rPr lang="en-US" sz="900" dirty="0">
                          <a:solidFill>
                            <a:schemeClr val="tx2"/>
                          </a:solidFill>
                          <a:ea typeface="Verdana"/>
                          <a:cs typeface="+mn-lt"/>
                        </a:rPr>
                        <a:t>Scenario Planning</a:t>
                      </a:r>
                      <a:endParaRPr lang="en-US" sz="900" dirty="0">
                        <a:solidFill>
                          <a:schemeClr val="tx2"/>
                        </a:solidFill>
                      </a:endParaRP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1.0</a:t>
                      </a: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a:lnSpc>
                          <a:spcPct val="100000"/>
                        </a:lnSpc>
                        <a:spcBef>
                          <a:spcPts val="0"/>
                        </a:spcBef>
                        <a:spcAft>
                          <a:spcPts val="0"/>
                        </a:spcAft>
                        <a:buNone/>
                      </a:pPr>
                      <a:r>
                        <a:rPr lang="en-US" sz="900" b="0" i="0" u="none" strike="noStrike" kern="1200" cap="none" spc="0" normalizeH="0" baseline="0" noProof="0">
                          <a:ln>
                            <a:noFill/>
                          </a:ln>
                          <a:solidFill>
                            <a:srgbClr val="0A2F46"/>
                          </a:solidFill>
                          <a:effectLst/>
                          <a:uLnTx/>
                          <a:uFillTx/>
                          <a:latin typeface="Arial"/>
                          <a:ea typeface="Verdana"/>
                          <a:cs typeface="Arial"/>
                        </a:rPr>
                        <a:t>1.1 - 1.6</a:t>
                      </a:r>
                      <a:endParaRPr kumimoji="0" lang="en-US" sz="900" b="0" i="0" u="none" strike="noStrike" kern="1200" cap="none" spc="0" normalizeH="0" baseline="0" noProof="0">
                        <a:ln>
                          <a:noFill/>
                        </a:ln>
                        <a:solidFill>
                          <a:srgbClr val="0A2F46"/>
                        </a:solidFill>
                        <a:effectLst/>
                        <a:uLnTx/>
                        <a:uFillTx/>
                        <a:latin typeface="Arial" panose="020B0604020202020204" pitchFamily="34" charset="0"/>
                        <a:ea typeface="Verdana" charset="0"/>
                        <a:cs typeface="Arial" panose="020B0604020202020204" pitchFamily="34" charset="0"/>
                      </a:endParaRP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endParaRP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620792711"/>
                  </a:ext>
                </a:extLst>
              </a:tr>
              <a:tr h="357249">
                <a:tc>
                  <a:txBody>
                    <a:bodyPr/>
                    <a:lstStyle/>
                    <a:p>
                      <a:pPr algn="l"/>
                      <a:r>
                        <a:rPr lang="en-US" sz="900" dirty="0">
                          <a:solidFill>
                            <a:schemeClr val="tx2"/>
                          </a:solidFill>
                          <a:ea typeface="+mn-lt"/>
                          <a:cs typeface="+mn-lt"/>
                        </a:rPr>
                        <a:t>Opportunity Adjustment</a:t>
                      </a: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2.0</a:t>
                      </a: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a:lnSpc>
                          <a:spcPct val="100000"/>
                        </a:lnSpc>
                        <a:spcBef>
                          <a:spcPts val="0"/>
                        </a:spcBef>
                        <a:spcAft>
                          <a:spcPts val="0"/>
                        </a:spcAft>
                        <a:buNone/>
                      </a:pPr>
                      <a:r>
                        <a:rPr lang="en-US" sz="900" b="0" i="0" u="none" strike="noStrike" kern="1200" cap="none" spc="0" normalizeH="0" baseline="0" noProof="0">
                          <a:ln>
                            <a:noFill/>
                          </a:ln>
                          <a:solidFill>
                            <a:srgbClr val="0A2F46"/>
                          </a:solidFill>
                          <a:effectLst/>
                          <a:uLnTx/>
                          <a:uFillTx/>
                          <a:latin typeface="Arial"/>
                          <a:ea typeface="Verdana"/>
                          <a:cs typeface="Arial"/>
                        </a:rPr>
                        <a:t>2.1 - 2.6</a:t>
                      </a:r>
                      <a:endParaRPr kumimoji="0" lang="en-US" sz="900" b="0" i="0" u="none" strike="noStrike" kern="1200" cap="none" spc="0" normalizeH="0" baseline="0" noProof="0">
                        <a:ln>
                          <a:noFill/>
                        </a:ln>
                        <a:solidFill>
                          <a:srgbClr val="0A2F46"/>
                        </a:solidFill>
                        <a:effectLst/>
                        <a:uLnTx/>
                        <a:uFillTx/>
                        <a:latin typeface="Arial" panose="020B0604020202020204" pitchFamily="34" charset="0"/>
                        <a:ea typeface="Verdana"/>
                        <a:cs typeface="Arial" panose="020B0604020202020204" pitchFamily="34" charset="0"/>
                      </a:endParaRP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endParaRP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15329482"/>
                  </a:ext>
                </a:extLst>
              </a:tr>
              <a:tr h="357249">
                <a:tc>
                  <a:txBody>
                    <a:bodyPr/>
                    <a:lstStyle/>
                    <a:p>
                      <a:pPr algn="l"/>
                      <a:r>
                        <a:rPr lang="en-US" sz="900" dirty="0">
                          <a:solidFill>
                            <a:schemeClr val="tx2"/>
                          </a:solidFill>
                          <a:ea typeface="+mn-lt"/>
                          <a:cs typeface="+mn-lt"/>
                        </a:rPr>
                        <a:t>Anaplan Prediction</a:t>
                      </a: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3.0</a:t>
                      </a: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a:lnSpc>
                          <a:spcPct val="100000"/>
                        </a:lnSpc>
                        <a:spcBef>
                          <a:spcPts val="0"/>
                        </a:spcBef>
                        <a:spcAft>
                          <a:spcPts val="0"/>
                        </a:spcAft>
                        <a:buNone/>
                      </a:pPr>
                      <a:r>
                        <a:rPr lang="en-US" sz="900" b="0" i="0" u="none" strike="noStrike" kern="1200" cap="none" spc="0" normalizeH="0" baseline="0" noProof="0">
                          <a:ln>
                            <a:noFill/>
                          </a:ln>
                          <a:solidFill>
                            <a:srgbClr val="0A2F46"/>
                          </a:solidFill>
                          <a:effectLst/>
                          <a:uLnTx/>
                          <a:uFillTx/>
                          <a:latin typeface="Arial"/>
                          <a:ea typeface="Verdana"/>
                          <a:cs typeface="Arial"/>
                        </a:rPr>
                        <a:t>3.1 - 3.6</a:t>
                      </a:r>
                      <a:endParaRPr kumimoji="0" lang="en-US" sz="900" b="0" i="0" u="none" strike="noStrike" kern="1200" cap="none" spc="0" normalizeH="0" baseline="0" noProof="0" dirty="0">
                        <a:ln>
                          <a:noFill/>
                        </a:ln>
                        <a:solidFill>
                          <a:srgbClr val="0A2F46"/>
                        </a:solidFill>
                        <a:effectLst/>
                        <a:uLnTx/>
                        <a:uFillTx/>
                        <a:latin typeface="Arial" panose="020B0604020202020204" pitchFamily="34" charset="0"/>
                        <a:ea typeface="Verdana"/>
                        <a:cs typeface="Arial" panose="020B0604020202020204" pitchFamily="34" charset="0"/>
                      </a:endParaRP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endParaRP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024230692"/>
                  </a:ext>
                </a:extLst>
              </a:tr>
              <a:tr h="357249">
                <a:tc>
                  <a:txBody>
                    <a:bodyPr/>
                    <a:lstStyle/>
                    <a:p>
                      <a:pPr algn="l"/>
                      <a:r>
                        <a:rPr lang="en-US" sz="900" dirty="0">
                          <a:solidFill>
                            <a:schemeClr val="tx2"/>
                          </a:solidFill>
                          <a:ea typeface="+mn-lt"/>
                          <a:cs typeface="+mn-lt"/>
                        </a:rPr>
                        <a:t>Person-level Adjustment</a:t>
                      </a: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4.0</a:t>
                      </a: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a:lnSpc>
                          <a:spcPct val="100000"/>
                        </a:lnSpc>
                        <a:spcBef>
                          <a:spcPts val="0"/>
                        </a:spcBef>
                        <a:spcAft>
                          <a:spcPts val="0"/>
                        </a:spcAft>
                        <a:buNone/>
                      </a:pPr>
                      <a:r>
                        <a:rPr lang="en-US" sz="900" b="0" i="0" u="none" strike="noStrike" kern="1200" cap="none" spc="0" normalizeH="0" baseline="0" noProof="0">
                          <a:ln>
                            <a:noFill/>
                          </a:ln>
                          <a:solidFill>
                            <a:srgbClr val="0A2F46"/>
                          </a:solidFill>
                          <a:effectLst/>
                          <a:uLnTx/>
                          <a:uFillTx/>
                          <a:latin typeface="Arial"/>
                          <a:ea typeface="Verdana"/>
                          <a:cs typeface="Arial"/>
                        </a:rPr>
                        <a:t>4.1 - 4.6</a:t>
                      </a:r>
                      <a:endParaRPr kumimoji="0" lang="en-US" sz="900" b="0" i="0" u="none" strike="noStrike" kern="1200" cap="none" spc="0" normalizeH="0" baseline="0" noProof="0">
                        <a:ln>
                          <a:noFill/>
                        </a:ln>
                        <a:solidFill>
                          <a:srgbClr val="0A2F46"/>
                        </a:solidFill>
                        <a:effectLst/>
                        <a:uLnTx/>
                        <a:uFillTx/>
                        <a:latin typeface="Arial" panose="020B0604020202020204" pitchFamily="34" charset="0"/>
                        <a:ea typeface="Verdana"/>
                        <a:cs typeface="Arial" panose="020B0604020202020204" pitchFamily="34" charset="0"/>
                      </a:endParaRP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endParaRP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648298928"/>
                  </a:ext>
                </a:extLst>
              </a:tr>
              <a:tr h="357249">
                <a:tc>
                  <a:txBody>
                    <a:bodyPr/>
                    <a:lstStyle/>
                    <a:p>
                      <a:pPr algn="l"/>
                      <a:r>
                        <a:rPr lang="en-US" sz="900" dirty="0">
                          <a:solidFill>
                            <a:schemeClr val="tx2"/>
                          </a:solidFill>
                          <a:ea typeface="+mn-lt"/>
                          <a:cs typeface="+mn-lt"/>
                        </a:rPr>
                        <a:t>Commit Call</a:t>
                      </a: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5.0</a:t>
                      </a: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a:lnSpc>
                          <a:spcPct val="100000"/>
                        </a:lnSpc>
                        <a:spcBef>
                          <a:spcPts val="0"/>
                        </a:spcBef>
                        <a:spcAft>
                          <a:spcPts val="0"/>
                        </a:spcAft>
                        <a:buNone/>
                      </a:pPr>
                      <a:r>
                        <a:rPr lang="en-US" sz="900" b="0" i="0" u="none" strike="noStrike" kern="1200" cap="none" spc="0" normalizeH="0" baseline="0" noProof="0">
                          <a:ln>
                            <a:noFill/>
                          </a:ln>
                          <a:solidFill>
                            <a:srgbClr val="0A2F46"/>
                          </a:solidFill>
                          <a:effectLst/>
                          <a:uLnTx/>
                          <a:uFillTx/>
                          <a:latin typeface="Arial"/>
                          <a:ea typeface="Verdana"/>
                          <a:cs typeface="Arial"/>
                        </a:rPr>
                        <a:t>5.1 - 5.6</a:t>
                      </a:r>
                      <a:endParaRPr kumimoji="0" lang="en-US" sz="900" b="0" i="0" u="none" strike="noStrike" kern="1200" cap="none" spc="0" normalizeH="0" baseline="0" noProof="0">
                        <a:ln>
                          <a:noFill/>
                        </a:ln>
                        <a:solidFill>
                          <a:srgbClr val="0A2F46"/>
                        </a:solidFill>
                        <a:effectLst/>
                        <a:uLnTx/>
                        <a:uFillTx/>
                        <a:latin typeface="Arial" panose="020B0604020202020204" pitchFamily="34" charset="0"/>
                        <a:ea typeface="Verdana"/>
                        <a:cs typeface="Arial" panose="020B0604020202020204" pitchFamily="34" charset="0"/>
                      </a:endParaRP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endParaRPr>
                    </a:p>
                  </a:txBody>
                  <a:tcPr marL="90000" marR="10800" marT="9525"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30024120"/>
                  </a:ext>
                </a:extLst>
              </a:tr>
            </a:tbl>
          </a:graphicData>
        </a:graphic>
      </p:graphicFrame>
      <p:sp>
        <p:nvSpPr>
          <p:cNvPr id="3" name="Rectangle 2">
            <a:extLst>
              <a:ext uri="{FF2B5EF4-FFF2-40B4-BE49-F238E27FC236}">
                <a16:creationId xmlns:a16="http://schemas.microsoft.com/office/drawing/2014/main" id="{91B4AF4C-7732-E93E-086A-1E7EE35D9EB6}"/>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38130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E0A25-547C-01F6-2081-6F44B85B2E8A}"/>
              </a:ext>
            </a:extLst>
          </p:cNvPr>
          <p:cNvSpPr>
            <a:spLocks noGrp="1"/>
          </p:cNvSpPr>
          <p:nvPr>
            <p:ph type="title"/>
          </p:nvPr>
        </p:nvSpPr>
        <p:spPr/>
        <p:txBody>
          <a:bodyPr/>
          <a:lstStyle/>
          <a:p>
            <a:r>
              <a:rPr lang="en-US"/>
              <a:t>Process Steps Descriptions</a:t>
            </a:r>
          </a:p>
        </p:txBody>
      </p:sp>
    </p:spTree>
    <p:extLst>
      <p:ext uri="{BB962C8B-B14F-4D97-AF65-F5344CB8AC3E}">
        <p14:creationId xmlns:p14="http://schemas.microsoft.com/office/powerpoint/2010/main" val="4132610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DD71B-D2B7-85DD-DA9B-C5BCA5418094}"/>
              </a:ext>
            </a:extLst>
          </p:cNvPr>
          <p:cNvSpPr>
            <a:spLocks noGrp="1"/>
          </p:cNvSpPr>
          <p:nvPr>
            <p:ph type="title"/>
          </p:nvPr>
        </p:nvSpPr>
        <p:spPr/>
        <p:txBody>
          <a:bodyPr/>
          <a:lstStyle/>
          <a:p>
            <a:r>
              <a:rPr lang="en-US" dirty="0">
                <a:solidFill>
                  <a:schemeClr val="tx2"/>
                </a:solidFill>
                <a:ea typeface="Verdana"/>
                <a:cs typeface="+mn-lt"/>
              </a:rPr>
              <a:t>Master Data &amp; Hierarchy Management</a:t>
            </a:r>
            <a:endParaRPr lang="en-US" dirty="0">
              <a:solidFill>
                <a:schemeClr val="tx2"/>
              </a:solidFill>
            </a:endParaRPr>
          </a:p>
        </p:txBody>
      </p:sp>
    </p:spTree>
    <p:extLst>
      <p:ext uri="{BB962C8B-B14F-4D97-AF65-F5344CB8AC3E}">
        <p14:creationId xmlns:p14="http://schemas.microsoft.com/office/powerpoint/2010/main" val="209841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1CF25-391E-4E4E-BDDE-353F826DA4F5}"/>
              </a:ext>
            </a:extLst>
          </p:cNvPr>
          <p:cNvSpPr>
            <a:spLocks noGrp="1"/>
          </p:cNvSpPr>
          <p:nvPr>
            <p:ph type="title"/>
          </p:nvPr>
        </p:nvSpPr>
        <p:spPr/>
        <p:txBody>
          <a:bodyPr/>
          <a:lstStyle/>
          <a:p>
            <a:r>
              <a:rPr lang="en-US" b="1" dirty="0">
                <a:solidFill>
                  <a:schemeClr val="tx2"/>
                </a:solidFill>
                <a:ea typeface="Verdana"/>
                <a:cs typeface="+mn-lt"/>
              </a:rPr>
              <a:t>Master Data &amp; Hierarchy Management </a:t>
            </a:r>
            <a:r>
              <a:rPr lang="en-US" b="1" dirty="0"/>
              <a:t>- </a:t>
            </a:r>
            <a:r>
              <a:rPr lang="en-US" b="1" dirty="0">
                <a:solidFill>
                  <a:schemeClr val="tx2"/>
                </a:solidFill>
              </a:rPr>
              <a:t>Key Concepts</a:t>
            </a:r>
          </a:p>
        </p:txBody>
      </p:sp>
      <p:sp>
        <p:nvSpPr>
          <p:cNvPr id="3" name="Content Placeholder 2">
            <a:extLst>
              <a:ext uri="{FF2B5EF4-FFF2-40B4-BE49-F238E27FC236}">
                <a16:creationId xmlns:a16="http://schemas.microsoft.com/office/drawing/2014/main" id="{492E840C-A574-934C-944A-AF3AC537CF91}"/>
              </a:ext>
            </a:extLst>
          </p:cNvPr>
          <p:cNvSpPr>
            <a:spLocks noGrp="1"/>
          </p:cNvSpPr>
          <p:nvPr>
            <p:ph idx="1"/>
          </p:nvPr>
        </p:nvSpPr>
        <p:spPr>
          <a:xfrm>
            <a:off x="419100" y="778146"/>
            <a:ext cx="8153400" cy="3984800"/>
          </a:xfrm>
        </p:spPr>
        <p:txBody>
          <a:bodyPr/>
          <a:lstStyle/>
          <a:p>
            <a:pPr>
              <a:spcBef>
                <a:spcPts val="300"/>
              </a:spcBef>
              <a:spcAft>
                <a:spcPts val="300"/>
              </a:spcAft>
              <a:buClr>
                <a:schemeClr val="accent1"/>
              </a:buClr>
            </a:pPr>
            <a:r>
              <a:rPr lang="en-US" sz="1350" dirty="0"/>
              <a:t>Creating the Structural Backbone: This process is about establishing the essential hierarchies that define the business. It answers the questions: </a:t>
            </a:r>
          </a:p>
          <a:p>
            <a:pPr lvl="1">
              <a:spcBef>
                <a:spcPts val="300"/>
              </a:spcBef>
              <a:spcAft>
                <a:spcPts val="300"/>
              </a:spcAft>
              <a:buClr>
                <a:schemeClr val="accent1"/>
              </a:buClr>
            </a:pPr>
            <a:r>
              <a:rPr lang="en-US" sz="1350" dirty="0"/>
              <a:t>Who? (Sales Hierarchy: How do individual reps roll up into districts, regions, and national views?)</a:t>
            </a:r>
          </a:p>
          <a:p>
            <a:pPr lvl="1">
              <a:spcBef>
                <a:spcPts val="300"/>
              </a:spcBef>
              <a:spcAft>
                <a:spcPts val="300"/>
              </a:spcAft>
              <a:buClr>
                <a:schemeClr val="accent1"/>
              </a:buClr>
            </a:pPr>
            <a:r>
              <a:rPr lang="en-US" sz="1350" dirty="0"/>
              <a:t>What? (Product Hierarchy: How do individual SKUs roll up into product families and business units?)</a:t>
            </a:r>
          </a:p>
          <a:p>
            <a:pPr lvl="1">
              <a:spcBef>
                <a:spcPts val="300"/>
              </a:spcBef>
              <a:spcAft>
                <a:spcPts val="300"/>
              </a:spcAft>
              <a:buClr>
                <a:schemeClr val="accent1"/>
              </a:buClr>
            </a:pPr>
            <a:r>
              <a:rPr lang="en-US" sz="1350" dirty="0"/>
              <a:t>Where? (Customer/Geographic Hierarchy: How are customers segmented or grouped into territories?)</a:t>
            </a:r>
          </a:p>
          <a:p>
            <a:pPr>
              <a:spcBef>
                <a:spcPts val="300"/>
              </a:spcBef>
              <a:spcAft>
                <a:spcPts val="300"/>
              </a:spcAft>
              <a:buClr>
                <a:schemeClr val="accent1"/>
              </a:buClr>
            </a:pPr>
            <a:r>
              <a:rPr lang="en-US" sz="1350" dirty="0"/>
              <a:t>Data Integrity and Governance: The core principle is ensuring the master data is clean, consistent, and accurate. Any errors in these foundational lists (e.g., duplicate customers, incorrect product categories, outdated sales territory assignments) will create inaccuracies throughout the entire forecast.</a:t>
            </a:r>
          </a:p>
          <a:p>
            <a:pPr>
              <a:spcBef>
                <a:spcPts val="300"/>
              </a:spcBef>
              <a:spcAft>
                <a:spcPts val="300"/>
              </a:spcAft>
              <a:buClr>
                <a:schemeClr val="accent1"/>
              </a:buClr>
            </a:pPr>
            <a:r>
              <a:rPr lang="en-US" sz="1350" dirty="0"/>
              <a:t>Single Source of Truth for Structure: This process ensures that there is one, and only one, official version of the company's hierarchies used for forecasting. This prevents the common problem of different teams using slightly different roll-up structures and getting different results.</a:t>
            </a:r>
          </a:p>
          <a:p>
            <a:pPr>
              <a:spcBef>
                <a:spcPts val="300"/>
              </a:spcBef>
              <a:spcAft>
                <a:spcPts val="300"/>
              </a:spcAft>
              <a:buClr>
                <a:schemeClr val="accent1"/>
              </a:buClr>
            </a:pPr>
            <a:r>
              <a:rPr lang="en-US" sz="1350" dirty="0"/>
              <a:t>Enabling Correct Aggregation and Analysis: Without properly managed hierarchies, you cannot correctly aggregate (roll-up) a forecast from the individual sales rep level to a national view, or slice and dice the forecast by product line. This process makes meaningful analysis possible.</a:t>
            </a:r>
          </a:p>
          <a:p>
            <a:pPr marL="0" indent="0">
              <a:spcBef>
                <a:spcPts val="300"/>
              </a:spcBef>
              <a:spcAft>
                <a:spcPts val="300"/>
              </a:spcAft>
              <a:buClr>
                <a:schemeClr val="accent1"/>
              </a:buClr>
              <a:buNone/>
            </a:pPr>
            <a:endParaRPr lang="en-US" sz="1350" dirty="0"/>
          </a:p>
        </p:txBody>
      </p:sp>
      <p:sp>
        <p:nvSpPr>
          <p:cNvPr id="4" name="Rectangle 3">
            <a:extLst>
              <a:ext uri="{FF2B5EF4-FFF2-40B4-BE49-F238E27FC236}">
                <a16:creationId xmlns:a16="http://schemas.microsoft.com/office/drawing/2014/main" id="{FAEA29CA-54F9-66D1-E91B-3CBCDCEB5D3C}"/>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2715379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9163E-6CA1-64DE-B540-21FEAB2CC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5BEFB-FB7E-9A56-713F-77054E7144DE}"/>
              </a:ext>
            </a:extLst>
          </p:cNvPr>
          <p:cNvSpPr>
            <a:spLocks noGrp="1"/>
          </p:cNvSpPr>
          <p:nvPr>
            <p:ph type="title"/>
          </p:nvPr>
        </p:nvSpPr>
        <p:spPr/>
        <p:txBody>
          <a:bodyPr/>
          <a:lstStyle/>
          <a:p>
            <a:r>
              <a:rPr lang="en-US" b="1" dirty="0">
                <a:solidFill>
                  <a:schemeClr val="tx2"/>
                </a:solidFill>
                <a:ea typeface="Verdana"/>
                <a:cs typeface="+mn-lt"/>
              </a:rPr>
              <a:t>Master Data &amp; Hierarchy Management</a:t>
            </a:r>
            <a:r>
              <a:rPr lang="en-US" b="1" dirty="0"/>
              <a:t> </a:t>
            </a:r>
            <a:r>
              <a:rPr lang="en-US" dirty="0"/>
              <a:t>- </a:t>
            </a:r>
            <a:r>
              <a:rPr lang="en-US" b="1" dirty="0">
                <a:solidFill>
                  <a:schemeClr val="tx2"/>
                </a:solidFill>
              </a:rPr>
              <a:t>Process</a:t>
            </a:r>
          </a:p>
        </p:txBody>
      </p:sp>
      <p:sp>
        <p:nvSpPr>
          <p:cNvPr id="45" name="TextBox 44">
            <a:extLst>
              <a:ext uri="{FF2B5EF4-FFF2-40B4-BE49-F238E27FC236}">
                <a16:creationId xmlns:a16="http://schemas.microsoft.com/office/drawing/2014/main" id="{6F48F49D-7E74-1CF9-BECD-D55EE14EBEFC}"/>
              </a:ext>
            </a:extLst>
          </p:cNvPr>
          <p:cNvSpPr txBox="1"/>
          <p:nvPr/>
        </p:nvSpPr>
        <p:spPr>
          <a:xfrm>
            <a:off x="1258276" y="2912101"/>
            <a:ext cx="1528519" cy="707886"/>
          </a:xfrm>
          <a:prstGeom prst="rect">
            <a:avLst/>
          </a:prstGeom>
          <a:noFill/>
        </p:spPr>
        <p:txBody>
          <a:bodyPr wrap="square" rtlCol="0">
            <a:spAutoFit/>
          </a:bodyPr>
          <a:lstStyle/>
          <a:p>
            <a:pPr algn="ctr"/>
            <a:r>
              <a:rPr lang="en-US" sz="1000" dirty="0"/>
              <a:t>Historical Data, CRM Opportunities, Quota Information, Product &amp; Customer Master Data</a:t>
            </a:r>
            <a:endParaRPr lang="en-US" sz="1000" dirty="0">
              <a:solidFill>
                <a:schemeClr val="bg1"/>
              </a:solidFill>
              <a:latin typeface="Arial" panose="020B0604020202020204" pitchFamily="34" charset="0"/>
              <a:ea typeface="Verdana" charset="0"/>
              <a:cs typeface="Arial" panose="020B0604020202020204" pitchFamily="34" charset="0"/>
            </a:endParaRPr>
          </a:p>
        </p:txBody>
      </p:sp>
      <p:sp>
        <p:nvSpPr>
          <p:cNvPr id="65" name="Oval 64">
            <a:extLst>
              <a:ext uri="{FF2B5EF4-FFF2-40B4-BE49-F238E27FC236}">
                <a16:creationId xmlns:a16="http://schemas.microsoft.com/office/drawing/2014/main" id="{6D7908CE-F4CA-5F31-AA11-0298BD4DA9B6}"/>
              </a:ext>
            </a:extLst>
          </p:cNvPr>
          <p:cNvSpPr/>
          <p:nvPr/>
        </p:nvSpPr>
        <p:spPr>
          <a:xfrm>
            <a:off x="1755036" y="2038214"/>
            <a:ext cx="535000" cy="535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latin typeface="Arial" panose="020B0604020202020204" pitchFamily="34" charset="0"/>
                <a:ea typeface="Verdana" charset="0"/>
                <a:cs typeface="Arial" panose="020B0604020202020204" pitchFamily="34" charset="0"/>
              </a:rPr>
              <a:t>In</a:t>
            </a:r>
          </a:p>
        </p:txBody>
      </p:sp>
      <p:sp>
        <p:nvSpPr>
          <p:cNvPr id="66" name="Oval 65">
            <a:extLst>
              <a:ext uri="{FF2B5EF4-FFF2-40B4-BE49-F238E27FC236}">
                <a16:creationId xmlns:a16="http://schemas.microsoft.com/office/drawing/2014/main" id="{5B3A6F09-9846-210D-2603-05AB92F93D36}"/>
              </a:ext>
            </a:extLst>
          </p:cNvPr>
          <p:cNvSpPr/>
          <p:nvPr/>
        </p:nvSpPr>
        <p:spPr>
          <a:xfrm>
            <a:off x="6853965" y="2030263"/>
            <a:ext cx="535000" cy="535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bg1"/>
                </a:solidFill>
                <a:latin typeface="Arial" panose="020B0604020202020204" pitchFamily="34" charset="0"/>
                <a:ea typeface="Verdana" charset="0"/>
                <a:cs typeface="Arial" panose="020B0604020202020204" pitchFamily="34" charset="0"/>
              </a:rPr>
              <a:t>Out</a:t>
            </a:r>
          </a:p>
        </p:txBody>
      </p:sp>
      <p:sp>
        <p:nvSpPr>
          <p:cNvPr id="67" name="Rounded Rectangle 66">
            <a:extLst>
              <a:ext uri="{FF2B5EF4-FFF2-40B4-BE49-F238E27FC236}">
                <a16:creationId xmlns:a16="http://schemas.microsoft.com/office/drawing/2014/main" id="{CCEE95CB-AB49-EFBF-B43E-FA7245C61551}"/>
              </a:ext>
            </a:extLst>
          </p:cNvPr>
          <p:cNvSpPr/>
          <p:nvPr/>
        </p:nvSpPr>
        <p:spPr>
          <a:xfrm>
            <a:off x="4045072" y="1946705"/>
            <a:ext cx="1053857" cy="71801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800" dirty="0"/>
              <a:t>Automated process extracts and loads cleansed source data into the Anaplan model</a:t>
            </a:r>
            <a:endParaRPr lang="en-US" sz="800" dirty="0">
              <a:solidFill>
                <a:schemeClr val="bg1"/>
              </a:solidFill>
              <a:latin typeface="Arial" panose="020B0604020202020204" pitchFamily="34" charset="0"/>
              <a:ea typeface="Verdana" charset="0"/>
              <a:cs typeface="Arial" panose="020B0604020202020204" pitchFamily="34" charset="0"/>
            </a:endParaRPr>
          </a:p>
        </p:txBody>
      </p:sp>
      <p:cxnSp>
        <p:nvCxnSpPr>
          <p:cNvPr id="72" name="Straight Arrow Connector 71">
            <a:extLst>
              <a:ext uri="{FF2B5EF4-FFF2-40B4-BE49-F238E27FC236}">
                <a16:creationId xmlns:a16="http://schemas.microsoft.com/office/drawing/2014/main" id="{D7429E06-43AF-2E1A-2A89-7F0CEF4EF7E5}"/>
              </a:ext>
            </a:extLst>
          </p:cNvPr>
          <p:cNvCxnSpPr>
            <a:cxnSpLocks/>
            <a:stCxn id="65" idx="6"/>
            <a:endCxn id="67" idx="1"/>
          </p:cNvCxnSpPr>
          <p:nvPr/>
        </p:nvCxnSpPr>
        <p:spPr>
          <a:xfrm>
            <a:off x="2290036" y="2305714"/>
            <a:ext cx="1755036" cy="0"/>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F24EB93C-1DBA-CEA1-58CA-CCBFD3213247}"/>
              </a:ext>
            </a:extLst>
          </p:cNvPr>
          <p:cNvCxnSpPr>
            <a:cxnSpLocks/>
            <a:stCxn id="67" idx="3"/>
            <a:endCxn id="66" idx="2"/>
          </p:cNvCxnSpPr>
          <p:nvPr/>
        </p:nvCxnSpPr>
        <p:spPr>
          <a:xfrm flipV="1">
            <a:off x="5098929" y="2297763"/>
            <a:ext cx="1755036" cy="7951"/>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85" name="Group 84">
            <a:extLst>
              <a:ext uri="{FF2B5EF4-FFF2-40B4-BE49-F238E27FC236}">
                <a16:creationId xmlns:a16="http://schemas.microsoft.com/office/drawing/2014/main" id="{942CC5AE-DEEA-F4D5-08A7-6D53CE20D45A}"/>
              </a:ext>
            </a:extLst>
          </p:cNvPr>
          <p:cNvGrpSpPr/>
          <p:nvPr/>
        </p:nvGrpSpPr>
        <p:grpSpPr>
          <a:xfrm>
            <a:off x="4097044" y="2912101"/>
            <a:ext cx="949911" cy="706036"/>
            <a:chOff x="1562593" y="1809020"/>
            <a:chExt cx="949911" cy="706036"/>
          </a:xfrm>
        </p:grpSpPr>
        <p:sp>
          <p:nvSpPr>
            <p:cNvPr id="86" name="TextBox 85">
              <a:extLst>
                <a:ext uri="{FF2B5EF4-FFF2-40B4-BE49-F238E27FC236}">
                  <a16:creationId xmlns:a16="http://schemas.microsoft.com/office/drawing/2014/main" id="{5177B6F1-6D4D-F2E9-4DA4-7557F67707EB}"/>
                </a:ext>
              </a:extLst>
            </p:cNvPr>
            <p:cNvSpPr txBox="1"/>
            <p:nvPr/>
          </p:nvSpPr>
          <p:spPr>
            <a:xfrm>
              <a:off x="1562593" y="2261140"/>
              <a:ext cx="949911" cy="253916"/>
            </a:xfrm>
            <a:prstGeom prst="rect">
              <a:avLst/>
            </a:prstGeom>
            <a:noFill/>
          </p:spPr>
          <p:txBody>
            <a:bodyPr wrap="square" rtlCol="0">
              <a:spAutoFit/>
            </a:bodyPr>
            <a:lstStyle/>
            <a:p>
              <a:pPr algn="ctr">
                <a:buClrTx/>
              </a:pPr>
              <a:r>
                <a:rPr lang="en-US" sz="1050">
                  <a:latin typeface="Arial" panose="020B0604020202020204" pitchFamily="34" charset="0"/>
                  <a:ea typeface="Verdana" charset="0"/>
                  <a:cs typeface="Arial" panose="020B0604020202020204" pitchFamily="34" charset="0"/>
                </a:rPr>
                <a:t>Cal based</a:t>
              </a:r>
            </a:p>
          </p:txBody>
        </p:sp>
        <p:pic>
          <p:nvPicPr>
            <p:cNvPr id="87" name="Picture 86">
              <a:extLst>
                <a:ext uri="{FF2B5EF4-FFF2-40B4-BE49-F238E27FC236}">
                  <a16:creationId xmlns:a16="http://schemas.microsoft.com/office/drawing/2014/main" id="{E87C07AD-ADCF-7974-70E7-633F5F4774F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21648" y="1809020"/>
              <a:ext cx="431800" cy="431800"/>
            </a:xfrm>
            <a:prstGeom prst="rect">
              <a:avLst/>
            </a:prstGeom>
          </p:spPr>
        </p:pic>
      </p:grpSp>
      <p:sp>
        <p:nvSpPr>
          <p:cNvPr id="4" name="Rectangle 3">
            <a:extLst>
              <a:ext uri="{FF2B5EF4-FFF2-40B4-BE49-F238E27FC236}">
                <a16:creationId xmlns:a16="http://schemas.microsoft.com/office/drawing/2014/main" id="{E0587660-0D30-7E33-1FBE-D4C29EB8E81F}"/>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
        <p:nvSpPr>
          <p:cNvPr id="9" name="TextBox 8">
            <a:extLst>
              <a:ext uri="{FF2B5EF4-FFF2-40B4-BE49-F238E27FC236}">
                <a16:creationId xmlns:a16="http://schemas.microsoft.com/office/drawing/2014/main" id="{767DD84D-BB9E-96DD-F667-A6D0E5F9F8FD}"/>
              </a:ext>
            </a:extLst>
          </p:cNvPr>
          <p:cNvSpPr txBox="1"/>
          <p:nvPr/>
        </p:nvSpPr>
        <p:spPr>
          <a:xfrm>
            <a:off x="6357205" y="2912101"/>
            <a:ext cx="1528519" cy="861774"/>
          </a:xfrm>
          <a:prstGeom prst="rect">
            <a:avLst/>
          </a:prstGeom>
          <a:noFill/>
        </p:spPr>
        <p:txBody>
          <a:bodyPr wrap="square" rtlCol="0">
            <a:spAutoFit/>
          </a:bodyPr>
          <a:lstStyle/>
          <a:p>
            <a:pPr algn="ctr"/>
            <a:r>
              <a:rPr lang="en-US" sz="1000" dirty="0"/>
              <a:t>A baseline, system-generated forecast. Forecast is created for each sales territory/segment</a:t>
            </a:r>
            <a:endParaRPr lang="en-US" sz="1000" dirty="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226845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1CF25-391E-4E4E-BDDE-353F826DA4F5}"/>
              </a:ext>
            </a:extLst>
          </p:cNvPr>
          <p:cNvSpPr>
            <a:spLocks noGrp="1"/>
          </p:cNvSpPr>
          <p:nvPr>
            <p:ph type="title"/>
          </p:nvPr>
        </p:nvSpPr>
        <p:spPr>
          <a:xfrm>
            <a:off x="419100" y="294640"/>
            <a:ext cx="8153401" cy="338554"/>
          </a:xfrm>
        </p:spPr>
        <p:txBody>
          <a:bodyPr/>
          <a:lstStyle/>
          <a:p>
            <a:r>
              <a:rPr lang="en-US" b="1" dirty="0">
                <a:solidFill>
                  <a:schemeClr val="tx2"/>
                </a:solidFill>
                <a:ea typeface="Verdana"/>
                <a:cs typeface="+mn-lt"/>
              </a:rPr>
              <a:t>Master Data &amp; Hierarchy Management</a:t>
            </a:r>
            <a:r>
              <a:rPr lang="en-US" b="1" dirty="0"/>
              <a:t> </a:t>
            </a:r>
            <a:r>
              <a:rPr lang="en-US" dirty="0"/>
              <a:t>- </a:t>
            </a:r>
            <a:r>
              <a:rPr lang="en-US" b="1" dirty="0">
                <a:solidFill>
                  <a:schemeClr val="tx2"/>
                </a:solidFill>
              </a:rPr>
              <a:t>Parameters</a:t>
            </a:r>
          </a:p>
        </p:txBody>
      </p:sp>
      <p:graphicFrame>
        <p:nvGraphicFramePr>
          <p:cNvPr id="7" name="Table 7">
            <a:extLst>
              <a:ext uri="{FF2B5EF4-FFF2-40B4-BE49-F238E27FC236}">
                <a16:creationId xmlns:a16="http://schemas.microsoft.com/office/drawing/2014/main" id="{A3514DB5-DCAC-2FC1-EF87-B681B45410C2}"/>
              </a:ext>
            </a:extLst>
          </p:cNvPr>
          <p:cNvGraphicFramePr>
            <a:graphicFrameLocks noGrp="1"/>
          </p:cNvGraphicFramePr>
          <p:nvPr>
            <p:extLst>
              <p:ext uri="{D42A27DB-BD31-4B8C-83A1-F6EECF244321}">
                <p14:modId xmlns:p14="http://schemas.microsoft.com/office/powerpoint/2010/main" val="2669655401"/>
              </p:ext>
            </p:extLst>
          </p:nvPr>
        </p:nvGraphicFramePr>
        <p:xfrm>
          <a:off x="419100" y="1022930"/>
          <a:ext cx="8153400" cy="764760"/>
        </p:xfrm>
        <a:graphic>
          <a:graphicData uri="http://schemas.openxmlformats.org/drawingml/2006/table">
            <a:tbl>
              <a:tblPr firstRow="1" bandRow="1">
                <a:tableStyleId>{72833802-FEF1-4C79-8D5D-14CF1EAF98D9}</a:tableStyleId>
              </a:tblPr>
              <a:tblGrid>
                <a:gridCol w="1701497">
                  <a:extLst>
                    <a:ext uri="{9D8B030D-6E8A-4147-A177-3AD203B41FA5}">
                      <a16:colId xmlns:a16="http://schemas.microsoft.com/office/drawing/2014/main" val="718031972"/>
                    </a:ext>
                  </a:extLst>
                </a:gridCol>
                <a:gridCol w="6451903">
                  <a:extLst>
                    <a:ext uri="{9D8B030D-6E8A-4147-A177-3AD203B41FA5}">
                      <a16:colId xmlns:a16="http://schemas.microsoft.com/office/drawing/2014/main" val="1955053113"/>
                    </a:ext>
                  </a:extLst>
                </a:gridCol>
              </a:tblGrid>
              <a:tr h="264464">
                <a:tc>
                  <a:txBody>
                    <a:bodyPr/>
                    <a:lstStyle/>
                    <a:p>
                      <a:r>
                        <a:rPr lang="en-US" sz="900"/>
                        <a:t>Parameter</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r>
                        <a:rPr lang="en-US" sz="900"/>
                        <a:t>Purpose</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926781289"/>
                  </a:ext>
                </a:extLst>
              </a:tr>
              <a:tr h="2472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Model Time Scale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Defines when the forecast applies and ensures all data is aligned on the same timeline. </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620792711"/>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Data Files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Defines all data needs for the model and accurate forecasting.</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47844716"/>
                  </a:ext>
                </a:extLst>
              </a:tr>
            </a:tbl>
          </a:graphicData>
        </a:graphic>
      </p:graphicFrame>
      <p:sp>
        <p:nvSpPr>
          <p:cNvPr id="4" name="Rectangle 3">
            <a:extLst>
              <a:ext uri="{FF2B5EF4-FFF2-40B4-BE49-F238E27FC236}">
                <a16:creationId xmlns:a16="http://schemas.microsoft.com/office/drawing/2014/main" id="{EB4BFE1A-45EB-9269-4D57-077F086B45B0}"/>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4154387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2C27A-EE35-FF4B-A1EC-E0B30AECE2CE}"/>
              </a:ext>
            </a:extLst>
          </p:cNvPr>
          <p:cNvSpPr>
            <a:spLocks noGrp="1"/>
          </p:cNvSpPr>
          <p:nvPr>
            <p:ph type="title"/>
          </p:nvPr>
        </p:nvSpPr>
        <p:spPr/>
        <p:txBody>
          <a:bodyPr/>
          <a:lstStyle/>
          <a:p>
            <a:r>
              <a:rPr lang="en-US" b="1" dirty="0">
                <a:solidFill>
                  <a:schemeClr val="tx2"/>
                </a:solidFill>
                <a:ea typeface="Verdana"/>
                <a:cs typeface="+mn-lt"/>
              </a:rPr>
              <a:t>Master Data &amp; Hierarchy Management </a:t>
            </a:r>
            <a:r>
              <a:rPr lang="en-US" dirty="0"/>
              <a:t>– </a:t>
            </a:r>
            <a:r>
              <a:rPr lang="en-US" b="1" dirty="0">
                <a:solidFill>
                  <a:schemeClr val="tx2"/>
                </a:solidFill>
              </a:rPr>
              <a:t>Key Screens</a:t>
            </a:r>
          </a:p>
        </p:txBody>
      </p:sp>
      <p:sp>
        <p:nvSpPr>
          <p:cNvPr id="4" name="TextBox 3">
            <a:extLst>
              <a:ext uri="{FF2B5EF4-FFF2-40B4-BE49-F238E27FC236}">
                <a16:creationId xmlns:a16="http://schemas.microsoft.com/office/drawing/2014/main" id="{CC5AA823-6214-1AA3-B366-15378CE2ECE5}"/>
              </a:ext>
            </a:extLst>
          </p:cNvPr>
          <p:cNvSpPr txBox="1"/>
          <p:nvPr/>
        </p:nvSpPr>
        <p:spPr>
          <a:xfrm>
            <a:off x="356616" y="633194"/>
            <a:ext cx="4572000" cy="307777"/>
          </a:xfrm>
          <a:prstGeom prst="rect">
            <a:avLst/>
          </a:prstGeom>
          <a:noFill/>
        </p:spPr>
        <p:txBody>
          <a:bodyPr wrap="square">
            <a:spAutoFit/>
          </a:bodyPr>
          <a:lstStyle/>
          <a:p>
            <a:r>
              <a:rPr lang="en-GB" sz="1400" i="0" dirty="0">
                <a:solidFill>
                  <a:schemeClr val="accent1"/>
                </a:solidFill>
                <a:effectLst/>
                <a:latin typeface="Arial" panose="020B0604020202020204" pitchFamily="34" charset="0"/>
                <a:cs typeface="Arial" panose="020B0604020202020204" pitchFamily="34" charset="0"/>
              </a:rPr>
              <a:t>Data Orchestrator</a:t>
            </a:r>
            <a:endParaRPr lang="en-US" sz="1400" dirty="0">
              <a:solidFill>
                <a:schemeClr val="accent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B064BFD-A6EB-EDAA-593F-D2A75DED702B}"/>
              </a:ext>
            </a:extLst>
          </p:cNvPr>
          <p:cNvSpPr txBox="1"/>
          <p:nvPr/>
        </p:nvSpPr>
        <p:spPr>
          <a:xfrm>
            <a:off x="6470132" y="1025609"/>
            <a:ext cx="2190031" cy="892552"/>
          </a:xfrm>
          <a:prstGeom prst="rect">
            <a:avLst/>
          </a:prstGeom>
          <a:noFill/>
          <a:ln>
            <a:noFill/>
          </a:ln>
        </p:spPr>
        <p:txBody>
          <a:bodyPr wrap="square" rtlCol="0">
            <a:spAutoFit/>
          </a:bodyPr>
          <a:lstStyle/>
          <a:p>
            <a:pPr marL="180975" indent="-180975" algn="l">
              <a:spcBef>
                <a:spcPts val="300"/>
              </a:spcBef>
              <a:spcAft>
                <a:spcPts val="300"/>
              </a:spcAft>
              <a:buClrTx/>
              <a:buFont typeface="Arial" panose="020B0604020202020204" pitchFamily="34" charset="0"/>
              <a:buChar char="•"/>
            </a:pPr>
            <a:r>
              <a:rPr lang="en-US" sz="1050" b="0" dirty="0">
                <a:solidFill>
                  <a:schemeClr val="tx2"/>
                </a:solidFill>
                <a:latin typeface="Arial" panose="020B0604020202020204" pitchFamily="34" charset="0"/>
                <a:ea typeface="Verdana" charset="0"/>
                <a:cs typeface="Arial" panose="020B0604020202020204" pitchFamily="34" charset="0"/>
              </a:rPr>
              <a:t>Add data files</a:t>
            </a:r>
          </a:p>
          <a:p>
            <a:pPr marL="180975" indent="-180975" algn="l">
              <a:spcBef>
                <a:spcPts val="300"/>
              </a:spcBef>
              <a:spcAft>
                <a:spcPts val="300"/>
              </a:spcAft>
              <a:buClrTx/>
              <a:buFont typeface="Arial" panose="020B0604020202020204" pitchFamily="34" charset="0"/>
              <a:buChar char="•"/>
            </a:pPr>
            <a:r>
              <a:rPr lang="en-US" sz="1050" dirty="0">
                <a:solidFill>
                  <a:schemeClr val="tx2"/>
                </a:solidFill>
                <a:latin typeface="Arial" panose="020B0604020202020204" pitchFamily="34" charset="0"/>
                <a:ea typeface="Verdana" charset="0"/>
                <a:cs typeface="Arial" panose="020B0604020202020204" pitchFamily="34" charset="0"/>
              </a:rPr>
              <a:t>Transform data files</a:t>
            </a:r>
          </a:p>
          <a:p>
            <a:pPr marL="180975" indent="-180975" algn="l">
              <a:spcBef>
                <a:spcPts val="300"/>
              </a:spcBef>
              <a:spcAft>
                <a:spcPts val="300"/>
              </a:spcAft>
              <a:buClrTx/>
              <a:buFont typeface="Arial" panose="020B0604020202020204" pitchFamily="34" charset="0"/>
              <a:buChar char="•"/>
            </a:pPr>
            <a:r>
              <a:rPr lang="en-US" sz="1050" b="0" dirty="0">
                <a:solidFill>
                  <a:schemeClr val="tx2"/>
                </a:solidFill>
                <a:latin typeface="Arial" panose="020B0604020202020204" pitchFamily="34" charset="0"/>
                <a:ea typeface="Verdana" charset="0"/>
                <a:cs typeface="Arial" panose="020B0604020202020204" pitchFamily="34" charset="0"/>
              </a:rPr>
              <a:t>Create links to load data into the model</a:t>
            </a:r>
          </a:p>
        </p:txBody>
      </p:sp>
      <p:sp>
        <p:nvSpPr>
          <p:cNvPr id="3" name="Rectangle 2">
            <a:extLst>
              <a:ext uri="{FF2B5EF4-FFF2-40B4-BE49-F238E27FC236}">
                <a16:creationId xmlns:a16="http://schemas.microsoft.com/office/drawing/2014/main" id="{82401ADB-1680-078A-B085-69F7703D1585}"/>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pic>
        <p:nvPicPr>
          <p:cNvPr id="5" name="Picture 4">
            <a:extLst>
              <a:ext uri="{FF2B5EF4-FFF2-40B4-BE49-F238E27FC236}">
                <a16:creationId xmlns:a16="http://schemas.microsoft.com/office/drawing/2014/main" id="{F3A8A701-CABD-27D4-D8F9-BCC4813CC770}"/>
              </a:ext>
            </a:extLst>
          </p:cNvPr>
          <p:cNvPicPr>
            <a:picLocks noChangeAspect="1"/>
          </p:cNvPicPr>
          <p:nvPr/>
        </p:nvPicPr>
        <p:blipFill>
          <a:blip r:embed="rId2"/>
          <a:srcRect l="811" t="792" r="35601"/>
          <a:stretch>
            <a:fillRect/>
          </a:stretch>
        </p:blipFill>
        <p:spPr>
          <a:xfrm>
            <a:off x="419100" y="1028691"/>
            <a:ext cx="5757562" cy="3517722"/>
          </a:xfrm>
          <a:prstGeom prst="rect">
            <a:avLst/>
          </a:prstGeom>
          <a:ln>
            <a:solidFill>
              <a:schemeClr val="tx1"/>
            </a:solidFill>
          </a:ln>
        </p:spPr>
      </p:pic>
    </p:spTree>
    <p:extLst>
      <p:ext uri="{BB962C8B-B14F-4D97-AF65-F5344CB8AC3E}">
        <p14:creationId xmlns:p14="http://schemas.microsoft.com/office/powerpoint/2010/main" val="2855719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5948E-B0F4-57E1-6DD2-061EE2A9EDE1}"/>
              </a:ext>
            </a:extLst>
          </p:cNvPr>
          <p:cNvSpPr>
            <a:spLocks noGrp="1"/>
          </p:cNvSpPr>
          <p:nvPr>
            <p:ph type="title"/>
          </p:nvPr>
        </p:nvSpPr>
        <p:spPr/>
        <p:txBody>
          <a:bodyPr/>
          <a:lstStyle/>
          <a:p>
            <a:r>
              <a:rPr lang="en-US" b="1" dirty="0">
                <a:solidFill>
                  <a:schemeClr val="tx2"/>
                </a:solidFill>
                <a:ea typeface="Verdana"/>
                <a:cs typeface="+mn-lt"/>
              </a:rPr>
              <a:t>Master Data &amp; Hierarchy Management </a:t>
            </a:r>
            <a:r>
              <a:rPr lang="en-US" dirty="0"/>
              <a:t>- </a:t>
            </a:r>
            <a:r>
              <a:rPr lang="en-US" b="1" dirty="0">
                <a:solidFill>
                  <a:schemeClr val="tx2"/>
                </a:solidFill>
              </a:rPr>
              <a:t>Hints and Tips</a:t>
            </a:r>
          </a:p>
        </p:txBody>
      </p:sp>
      <p:sp>
        <p:nvSpPr>
          <p:cNvPr id="3" name="Content Placeholder 2">
            <a:extLst>
              <a:ext uri="{FF2B5EF4-FFF2-40B4-BE49-F238E27FC236}">
                <a16:creationId xmlns:a16="http://schemas.microsoft.com/office/drawing/2014/main" id="{E152D8A9-A266-ACBB-0CA1-99AD803583AA}"/>
              </a:ext>
            </a:extLst>
          </p:cNvPr>
          <p:cNvSpPr>
            <a:spLocks noGrp="1"/>
          </p:cNvSpPr>
          <p:nvPr>
            <p:ph idx="1"/>
          </p:nvPr>
        </p:nvSpPr>
        <p:spPr/>
        <p:txBody>
          <a:bodyPr lIns="0" rIns="0"/>
          <a:lstStyle/>
          <a:p>
            <a:pPr>
              <a:spcBef>
                <a:spcPts val="300"/>
              </a:spcBef>
              <a:spcAft>
                <a:spcPts val="300"/>
              </a:spcAft>
              <a:buClr>
                <a:schemeClr val="accent1"/>
              </a:buClr>
            </a:pPr>
            <a:r>
              <a:rPr lang="en-US" sz="1200" dirty="0"/>
              <a:t>Centralize Data Flows: Use ADO to replace manual staging models by having it store and transform data before pushing to Anaplan, ensuring a clear, manageable data lineage.</a:t>
            </a:r>
          </a:p>
          <a:p>
            <a:pPr>
              <a:spcBef>
                <a:spcPts val="300"/>
              </a:spcBef>
              <a:spcAft>
                <a:spcPts val="300"/>
              </a:spcAft>
              <a:buClr>
                <a:schemeClr val="accent1"/>
              </a:buClr>
            </a:pPr>
            <a:r>
              <a:rPr lang="en-US" sz="1200" dirty="0"/>
              <a:t>Optimize Performance with Parallel Workflows: In ADO Workflows, convert sequential steps to parallel processing (up to 5 concurrent syncs) to significantly shorten data loading times, particularly for independent data loads.</a:t>
            </a:r>
          </a:p>
          <a:p>
            <a:pPr>
              <a:spcBef>
                <a:spcPts val="300"/>
              </a:spcBef>
              <a:spcAft>
                <a:spcPts val="300"/>
              </a:spcAft>
              <a:buClr>
                <a:schemeClr val="accent1"/>
              </a:buClr>
            </a:pPr>
            <a:r>
              <a:rPr lang="en-US" sz="1200" dirty="0"/>
              <a:t>Leverage Push-Based Scheduling: Shift away from pull-based actions triggered inside Anaplan. Instead, use ADO to push data from external systems as soon as it is ready, increasing reliability.</a:t>
            </a:r>
          </a:p>
          <a:p>
            <a:pPr>
              <a:spcBef>
                <a:spcPts val="300"/>
              </a:spcBef>
              <a:spcAft>
                <a:spcPts val="300"/>
              </a:spcAft>
              <a:buClr>
                <a:schemeClr val="accent1"/>
              </a:buClr>
            </a:pPr>
            <a:r>
              <a:rPr lang="en-US" sz="1200" dirty="0"/>
              <a:t>Use Built-in Transformations: Utilize ADO's transformation capabilities—such as renaming columns, filtering, and aggregating data—before it hits the target model to reduce model complexity.</a:t>
            </a:r>
          </a:p>
          <a:p>
            <a:pPr>
              <a:spcBef>
                <a:spcPts val="300"/>
              </a:spcBef>
              <a:spcAft>
                <a:spcPts val="300"/>
              </a:spcAft>
              <a:buClr>
                <a:schemeClr val="accent1"/>
              </a:buClr>
            </a:pPr>
            <a:r>
              <a:rPr lang="en-US" sz="1200" dirty="0"/>
              <a:t>Handle Data Formats Carefully: Ensure that file names, time formats, and data types match exactly what is expected in the target module to avoid ingestion errors, particularly with file uploads.</a:t>
            </a:r>
          </a:p>
          <a:p>
            <a:pPr>
              <a:spcBef>
                <a:spcPts val="300"/>
              </a:spcBef>
              <a:spcAft>
                <a:spcPts val="300"/>
              </a:spcAft>
              <a:buClr>
                <a:schemeClr val="accent1"/>
              </a:buClr>
            </a:pPr>
            <a:r>
              <a:rPr lang="en-US" sz="1200" dirty="0"/>
              <a:t>Leverage "</a:t>
            </a:r>
            <a:r>
              <a:rPr lang="en-US" sz="1200" dirty="0" err="1"/>
              <a:t>Upsert</a:t>
            </a:r>
            <a:r>
              <a:rPr lang="en-US" sz="1200" dirty="0"/>
              <a:t>" for Data Integrity: When pushing data from ADO to Anaplan lists or modules, use the "</a:t>
            </a:r>
            <a:r>
              <a:rPr lang="en-US" sz="1200" dirty="0" err="1"/>
              <a:t>Upsert</a:t>
            </a:r>
            <a:r>
              <a:rPr lang="en-US" sz="1200" dirty="0"/>
              <a:t>" action to update existing records and insert new ones efficiently.</a:t>
            </a:r>
          </a:p>
          <a:p>
            <a:pPr>
              <a:spcBef>
                <a:spcPts val="300"/>
              </a:spcBef>
              <a:spcAft>
                <a:spcPts val="300"/>
              </a:spcAft>
              <a:buClr>
                <a:schemeClr val="accent1"/>
              </a:buClr>
            </a:pPr>
            <a:r>
              <a:rPr lang="en-US" sz="1200" dirty="0"/>
              <a:t>Data Validation and Reconciliation: Build in validation steps within your pipeline (e.g., checking row counts or checksums) to ensure data accuracy.</a:t>
            </a:r>
          </a:p>
          <a:p>
            <a:pPr>
              <a:spcBef>
                <a:spcPts val="300"/>
              </a:spcBef>
              <a:spcAft>
                <a:spcPts val="300"/>
              </a:spcAft>
              <a:buClr>
                <a:schemeClr val="accent1"/>
              </a:buClr>
            </a:pPr>
            <a:r>
              <a:rPr lang="en-US" sz="1200" dirty="0"/>
              <a:t>Manage Large Files: Be aware of the 1GB file size limit per upload; if necessary, break large datasets into smaller chunks.</a:t>
            </a:r>
          </a:p>
          <a:p>
            <a:pPr>
              <a:spcBef>
                <a:spcPts val="300"/>
              </a:spcBef>
              <a:spcAft>
                <a:spcPts val="300"/>
              </a:spcAft>
              <a:buClr>
                <a:schemeClr val="accent1"/>
              </a:buClr>
            </a:pPr>
            <a:endParaRPr lang="en-US" sz="1200" dirty="0"/>
          </a:p>
        </p:txBody>
      </p:sp>
      <p:sp>
        <p:nvSpPr>
          <p:cNvPr id="4" name="Rectangle 3">
            <a:extLst>
              <a:ext uri="{FF2B5EF4-FFF2-40B4-BE49-F238E27FC236}">
                <a16:creationId xmlns:a16="http://schemas.microsoft.com/office/drawing/2014/main" id="{F01AC97D-B4DE-ADCF-F47D-09FA24038C7F}"/>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3764608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14476-A482-0538-F657-6BCE9B7796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B0FD3-F036-8EF7-1DBB-E55EE617C430}"/>
              </a:ext>
            </a:extLst>
          </p:cNvPr>
          <p:cNvSpPr>
            <a:spLocks noGrp="1"/>
          </p:cNvSpPr>
          <p:nvPr>
            <p:ph type="title"/>
          </p:nvPr>
        </p:nvSpPr>
        <p:spPr/>
        <p:txBody>
          <a:bodyPr/>
          <a:lstStyle/>
          <a:p>
            <a:r>
              <a:rPr lang="en-US" b="1" dirty="0">
                <a:solidFill>
                  <a:schemeClr val="tx2"/>
                </a:solidFill>
                <a:ea typeface="Verdana"/>
                <a:cs typeface="+mn-lt"/>
              </a:rPr>
              <a:t>Master Data &amp; Hierarchy Management </a:t>
            </a:r>
            <a:r>
              <a:rPr lang="en-US" dirty="0"/>
              <a:t>- </a:t>
            </a:r>
            <a:r>
              <a:rPr lang="en-US" b="1" dirty="0">
                <a:solidFill>
                  <a:schemeClr val="tx2"/>
                </a:solidFill>
              </a:rPr>
              <a:t>Implementation and Configuration Considerations</a:t>
            </a:r>
          </a:p>
        </p:txBody>
      </p:sp>
      <p:sp>
        <p:nvSpPr>
          <p:cNvPr id="3" name="Content Placeholder 2">
            <a:extLst>
              <a:ext uri="{FF2B5EF4-FFF2-40B4-BE49-F238E27FC236}">
                <a16:creationId xmlns:a16="http://schemas.microsoft.com/office/drawing/2014/main" id="{A954EB7B-CEAD-834F-30CE-71C2E772EC69}"/>
              </a:ext>
            </a:extLst>
          </p:cNvPr>
          <p:cNvSpPr>
            <a:spLocks noGrp="1"/>
          </p:cNvSpPr>
          <p:nvPr>
            <p:ph idx="1"/>
          </p:nvPr>
        </p:nvSpPr>
        <p:spPr/>
        <p:txBody>
          <a:bodyPr lIns="0" rIns="0"/>
          <a:lstStyle/>
          <a:p>
            <a:pPr>
              <a:spcBef>
                <a:spcPts val="300"/>
              </a:spcBef>
              <a:spcAft>
                <a:spcPts val="300"/>
              </a:spcAft>
              <a:buClr>
                <a:schemeClr val="accent1"/>
              </a:buClr>
            </a:pPr>
            <a:r>
              <a:rPr lang="en-US" sz="1200" dirty="0"/>
              <a:t>Automate from a Single Source of Truth:</a:t>
            </a:r>
          </a:p>
          <a:p>
            <a:pPr lvl="1">
              <a:spcBef>
                <a:spcPts val="300"/>
              </a:spcBef>
              <a:spcAft>
                <a:spcPts val="300"/>
              </a:spcAft>
              <a:buClr>
                <a:schemeClr val="accent1"/>
              </a:buClr>
            </a:pPr>
            <a:r>
              <a:rPr lang="en-US" sz="1200" dirty="0"/>
              <a:t>Identify and integrate directly from the official source system for each hierarchy (e.g., HRIS for people, CRM for customers, ERP for products).</a:t>
            </a:r>
          </a:p>
          <a:p>
            <a:pPr lvl="1">
              <a:spcBef>
                <a:spcPts val="300"/>
              </a:spcBef>
              <a:spcAft>
                <a:spcPts val="300"/>
              </a:spcAft>
              <a:buClr>
                <a:schemeClr val="accent1"/>
              </a:buClr>
            </a:pPr>
            <a:r>
              <a:rPr lang="en-US" sz="1200" dirty="0"/>
              <a:t>Avoid manual file uploads; use automated data feeds into a central Anaplan "Data Hub" model.</a:t>
            </a:r>
          </a:p>
          <a:p>
            <a:pPr>
              <a:spcBef>
                <a:spcPts val="300"/>
              </a:spcBef>
              <a:spcAft>
                <a:spcPts val="300"/>
              </a:spcAft>
              <a:buClr>
                <a:schemeClr val="accent1"/>
              </a:buClr>
            </a:pPr>
            <a:r>
              <a:rPr lang="en-US" sz="1200" dirty="0"/>
              <a:t>Design for Business Reality:</a:t>
            </a:r>
          </a:p>
          <a:p>
            <a:pPr lvl="1">
              <a:spcBef>
                <a:spcPts val="300"/>
              </a:spcBef>
              <a:spcAft>
                <a:spcPts val="300"/>
              </a:spcAft>
              <a:buClr>
                <a:schemeClr val="accent1"/>
              </a:buClr>
            </a:pPr>
            <a:r>
              <a:rPr lang="en-US" sz="1200" dirty="0"/>
              <a:t>Build hierarchies to the right level of detail needed for reporting, but no deeper.</a:t>
            </a:r>
          </a:p>
          <a:p>
            <a:pPr lvl="1">
              <a:spcBef>
                <a:spcPts val="300"/>
              </a:spcBef>
              <a:spcAft>
                <a:spcPts val="300"/>
              </a:spcAft>
              <a:buClr>
                <a:schemeClr val="accent1"/>
              </a:buClr>
            </a:pPr>
            <a:r>
              <a:rPr lang="en-US" sz="1200" dirty="0"/>
              <a:t>Ensure the model can handle real-world structures like reorganizations and uneven ("ragged") hierarchies.</a:t>
            </a:r>
          </a:p>
          <a:p>
            <a:pPr>
              <a:spcBef>
                <a:spcPts val="300"/>
              </a:spcBef>
              <a:spcAft>
                <a:spcPts val="300"/>
              </a:spcAft>
              <a:buClr>
                <a:schemeClr val="accent1"/>
              </a:buClr>
            </a:pPr>
            <a:r>
              <a:rPr lang="en-US" sz="1200" dirty="0"/>
              <a:t>Establish Strong Governance:</a:t>
            </a:r>
          </a:p>
          <a:p>
            <a:pPr lvl="1">
              <a:spcBef>
                <a:spcPts val="300"/>
              </a:spcBef>
              <a:spcAft>
                <a:spcPts val="300"/>
              </a:spcAft>
              <a:buClr>
                <a:schemeClr val="accent1"/>
              </a:buClr>
            </a:pPr>
            <a:r>
              <a:rPr lang="en-US" sz="1200" dirty="0"/>
              <a:t>Assign a clear business owner responsible for the accuracy of each data source.</a:t>
            </a:r>
          </a:p>
          <a:p>
            <a:pPr lvl="1">
              <a:spcBef>
                <a:spcPts val="300"/>
              </a:spcBef>
              <a:spcAft>
                <a:spcPts val="300"/>
              </a:spcAft>
              <a:buClr>
                <a:schemeClr val="accent1"/>
              </a:buClr>
            </a:pPr>
            <a:r>
              <a:rPr lang="en-US" sz="1200" dirty="0"/>
              <a:t>Create a formal process for managing changes to hierarchies (e.g., territory realignments, new hires). Use effective-dating to preserve historical accuracy.</a:t>
            </a:r>
          </a:p>
          <a:p>
            <a:pPr>
              <a:spcBef>
                <a:spcPts val="300"/>
              </a:spcBef>
              <a:spcAft>
                <a:spcPts val="300"/>
              </a:spcAft>
              <a:buClr>
                <a:schemeClr val="accent1"/>
              </a:buClr>
            </a:pPr>
            <a:r>
              <a:rPr lang="en-US" sz="1200" dirty="0"/>
              <a:t>Use Anaplan Best Practices:</a:t>
            </a:r>
          </a:p>
          <a:p>
            <a:pPr lvl="1">
              <a:spcBef>
                <a:spcPts val="300"/>
              </a:spcBef>
              <a:spcAft>
                <a:spcPts val="300"/>
              </a:spcAft>
              <a:buClr>
                <a:schemeClr val="accent1"/>
              </a:buClr>
            </a:pPr>
            <a:r>
              <a:rPr lang="en-US" sz="1200" dirty="0"/>
              <a:t>Use Numbered Lists for stable, unique IDs.</a:t>
            </a:r>
          </a:p>
          <a:p>
            <a:pPr lvl="1">
              <a:spcBef>
                <a:spcPts val="300"/>
              </a:spcBef>
              <a:spcAft>
                <a:spcPts val="300"/>
              </a:spcAft>
              <a:buClr>
                <a:schemeClr val="accent1"/>
              </a:buClr>
            </a:pPr>
            <a:r>
              <a:rPr lang="en-US" sz="1200" dirty="0"/>
              <a:t>Configure Selective Access to ensure users only see their own data.</a:t>
            </a:r>
          </a:p>
          <a:p>
            <a:pPr lvl="1">
              <a:spcBef>
                <a:spcPts val="300"/>
              </a:spcBef>
              <a:spcAft>
                <a:spcPts val="300"/>
              </a:spcAft>
              <a:buClr>
                <a:schemeClr val="accent1"/>
              </a:buClr>
            </a:pPr>
            <a:r>
              <a:rPr lang="en-US" sz="1200" dirty="0"/>
              <a:t>Implement Application Lifecycle Management (ALM) to move changes safely from development to production.</a:t>
            </a:r>
          </a:p>
        </p:txBody>
      </p:sp>
      <p:sp>
        <p:nvSpPr>
          <p:cNvPr id="4" name="Rectangle 3">
            <a:extLst>
              <a:ext uri="{FF2B5EF4-FFF2-40B4-BE49-F238E27FC236}">
                <a16:creationId xmlns:a16="http://schemas.microsoft.com/office/drawing/2014/main" id="{3EFFF26A-1691-FDCA-3CD8-45A28BE961F4}"/>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317163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8B13B-7A9C-6308-1CAC-3B26586F7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E7EB73-AA6E-1624-8BA8-BEB5C4C8CBB2}"/>
              </a:ext>
            </a:extLst>
          </p:cNvPr>
          <p:cNvSpPr>
            <a:spLocks noGrp="1"/>
          </p:cNvSpPr>
          <p:nvPr>
            <p:ph type="title"/>
          </p:nvPr>
        </p:nvSpPr>
        <p:spPr/>
        <p:txBody>
          <a:bodyPr/>
          <a:lstStyle/>
          <a:p>
            <a:r>
              <a:rPr lang="en-US" dirty="0"/>
              <a:t>Historical &amp; Actuals Data Loading</a:t>
            </a:r>
            <a:endParaRPr lang="en-US" dirty="0">
              <a:solidFill>
                <a:schemeClr val="tx2"/>
              </a:solidFill>
            </a:endParaRPr>
          </a:p>
        </p:txBody>
      </p:sp>
    </p:spTree>
    <p:extLst>
      <p:ext uri="{BB962C8B-B14F-4D97-AF65-F5344CB8AC3E}">
        <p14:creationId xmlns:p14="http://schemas.microsoft.com/office/powerpoint/2010/main" val="389825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C7FDD-9D40-D896-A855-74F733D0BE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172D77-35F8-FD38-4EE1-18601A6DB2E3}"/>
              </a:ext>
            </a:extLst>
          </p:cNvPr>
          <p:cNvSpPr>
            <a:spLocks noGrp="1"/>
          </p:cNvSpPr>
          <p:nvPr>
            <p:ph type="title"/>
          </p:nvPr>
        </p:nvSpPr>
        <p:spPr/>
        <p:txBody>
          <a:bodyPr/>
          <a:lstStyle/>
          <a:p>
            <a:r>
              <a:rPr lang="en-US" b="1" dirty="0"/>
              <a:t>Historical &amp; Actuals Data Loading- </a:t>
            </a:r>
            <a:r>
              <a:rPr lang="en-US" b="1" dirty="0">
                <a:solidFill>
                  <a:schemeClr val="tx2"/>
                </a:solidFill>
              </a:rPr>
              <a:t>Key Concepts</a:t>
            </a:r>
          </a:p>
        </p:txBody>
      </p:sp>
      <p:sp>
        <p:nvSpPr>
          <p:cNvPr id="3" name="Content Placeholder 2">
            <a:extLst>
              <a:ext uri="{FF2B5EF4-FFF2-40B4-BE49-F238E27FC236}">
                <a16:creationId xmlns:a16="http://schemas.microsoft.com/office/drawing/2014/main" id="{7BF126CF-7CA0-56DF-1391-B145163E2203}"/>
              </a:ext>
            </a:extLst>
          </p:cNvPr>
          <p:cNvSpPr>
            <a:spLocks noGrp="1"/>
          </p:cNvSpPr>
          <p:nvPr>
            <p:ph idx="1"/>
          </p:nvPr>
        </p:nvSpPr>
        <p:spPr/>
        <p:txBody>
          <a:bodyPr/>
          <a:lstStyle/>
          <a:p>
            <a:pPr>
              <a:spcBef>
                <a:spcPts val="300"/>
              </a:spcBef>
              <a:spcAft>
                <a:spcPts val="300"/>
              </a:spcAft>
              <a:buClr>
                <a:schemeClr val="accent1"/>
              </a:buClr>
            </a:pPr>
            <a:r>
              <a:rPr lang="en-US" sz="1200" dirty="0"/>
              <a:t>Looking Backwards to Predict the Future (Historical Data):</a:t>
            </a:r>
          </a:p>
          <a:p>
            <a:pPr lvl="1">
              <a:spcBef>
                <a:spcPts val="300"/>
              </a:spcBef>
              <a:spcAft>
                <a:spcPts val="300"/>
              </a:spcAft>
              <a:buClr>
                <a:schemeClr val="accent1"/>
              </a:buClr>
            </a:pPr>
            <a:r>
              <a:rPr lang="en-US" sz="1200" dirty="0"/>
              <a:t>The fundamental concept here is that a statistical forecast learns from the past. This process feeds the Anaplan model with historical sales data (e.g., the last 2-3 years of closed deals).</a:t>
            </a:r>
          </a:p>
          <a:p>
            <a:pPr lvl="1">
              <a:spcBef>
                <a:spcPts val="300"/>
              </a:spcBef>
              <a:spcAft>
                <a:spcPts val="300"/>
              </a:spcAft>
              <a:buClr>
                <a:schemeClr val="accent1"/>
              </a:buClr>
            </a:pPr>
            <a:r>
              <a:rPr lang="en-US" sz="1200" dirty="0"/>
              <a:t>This historical data is the raw material the model uses to identify crucial patterns like trends (are sales growing?), seasonality (do we sell more in Q4?), and cyclicality. Without this data, a statistical baseline forecast is impossible.</a:t>
            </a:r>
          </a:p>
          <a:p>
            <a:pPr>
              <a:spcBef>
                <a:spcPts val="300"/>
              </a:spcBef>
              <a:spcAft>
                <a:spcPts val="300"/>
              </a:spcAft>
              <a:buClr>
                <a:schemeClr val="accent1"/>
              </a:buClr>
            </a:pPr>
            <a:r>
              <a:rPr lang="en-US" sz="1200" dirty="0"/>
              <a:t>Establishing the Ground Truth (Actuals Data):</a:t>
            </a:r>
          </a:p>
          <a:p>
            <a:pPr lvl="1">
              <a:spcBef>
                <a:spcPts val="300"/>
              </a:spcBef>
              <a:spcAft>
                <a:spcPts val="300"/>
              </a:spcAft>
              <a:buClr>
                <a:schemeClr val="accent1"/>
              </a:buClr>
            </a:pPr>
            <a:r>
              <a:rPr lang="en-US" sz="1200" dirty="0"/>
              <a:t>This concept is about tracking reality as it unfolds. As the current forecast period progresses (e.g., week by week through a quarter), this process loads "actuals" – the sales that have officially closed.</a:t>
            </a:r>
          </a:p>
          <a:p>
            <a:pPr lvl="1">
              <a:spcBef>
                <a:spcPts val="300"/>
              </a:spcBef>
              <a:spcAft>
                <a:spcPts val="300"/>
              </a:spcAft>
              <a:buClr>
                <a:schemeClr val="accent1"/>
              </a:buClr>
            </a:pPr>
            <a:r>
              <a:rPr lang="en-US" sz="1200" dirty="0"/>
              <a:t>This provides the critical ability to perform variance analysis (Forecast vs. Actuals). It answers the most important question for sales leaders: </a:t>
            </a:r>
            <a:r>
              <a:rPr lang="en-US" sz="1200" i="1" dirty="0"/>
              <a:t>"How are we tracking against the plan?"</a:t>
            </a:r>
            <a:r>
              <a:rPr lang="en-US" sz="1200" dirty="0"/>
              <a:t> This allows for real-time course correction.</a:t>
            </a:r>
          </a:p>
          <a:p>
            <a:pPr>
              <a:spcBef>
                <a:spcPts val="300"/>
              </a:spcBef>
              <a:spcAft>
                <a:spcPts val="300"/>
              </a:spcAft>
              <a:buClr>
                <a:schemeClr val="accent1"/>
              </a:buClr>
            </a:pPr>
            <a:r>
              <a:rPr lang="en-US" sz="1200" dirty="0"/>
              <a:t>Automation and Reliability (The ETL Process):</a:t>
            </a:r>
          </a:p>
          <a:p>
            <a:pPr lvl="1">
              <a:spcBef>
                <a:spcPts val="300"/>
              </a:spcBef>
              <a:spcAft>
                <a:spcPts val="300"/>
              </a:spcAft>
              <a:buClr>
                <a:schemeClr val="accent1"/>
              </a:buClr>
            </a:pPr>
            <a:r>
              <a:rPr lang="en-US" sz="1200" dirty="0"/>
              <a:t>A core principle of this step is to be as automated and "hands-off" as possible. The process uses an ETL (Extract, Transform, Load) workflow to pull data from a trusted source (like the Data Warehouse) and load it into Anaplan.</a:t>
            </a:r>
          </a:p>
          <a:p>
            <a:pPr lvl="1">
              <a:spcBef>
                <a:spcPts val="300"/>
              </a:spcBef>
              <a:spcAft>
                <a:spcPts val="300"/>
              </a:spcAft>
              <a:buClr>
                <a:schemeClr val="accent1"/>
              </a:buClr>
            </a:pPr>
            <a:r>
              <a:rPr lang="en-US" sz="1200" dirty="0"/>
              <a:t>This automation ensures the data is timely, consistent, and reliable, removing the risks and delays associated with manual data gathering and uploads. It guarantees everyone is working from the same set of numbers.</a:t>
            </a:r>
          </a:p>
          <a:p>
            <a:pPr>
              <a:spcBef>
                <a:spcPts val="300"/>
              </a:spcBef>
              <a:spcAft>
                <a:spcPts val="300"/>
              </a:spcAft>
              <a:buClr>
                <a:schemeClr val="accent1"/>
              </a:buClr>
            </a:pPr>
            <a:endParaRPr lang="en-US" sz="1200" dirty="0"/>
          </a:p>
          <a:p>
            <a:pPr marL="0" indent="0">
              <a:spcBef>
                <a:spcPts val="300"/>
              </a:spcBef>
              <a:spcAft>
                <a:spcPts val="300"/>
              </a:spcAft>
              <a:buClr>
                <a:schemeClr val="accent1"/>
              </a:buClr>
              <a:buNone/>
            </a:pPr>
            <a:endParaRPr lang="en-US" sz="1200" dirty="0"/>
          </a:p>
        </p:txBody>
      </p:sp>
      <p:sp>
        <p:nvSpPr>
          <p:cNvPr id="4" name="Rectangle 3">
            <a:extLst>
              <a:ext uri="{FF2B5EF4-FFF2-40B4-BE49-F238E27FC236}">
                <a16:creationId xmlns:a16="http://schemas.microsoft.com/office/drawing/2014/main" id="{4D076D9D-AEE5-CD74-B22E-1D94B52B1343}"/>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2465831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F0ABF-FCF2-1193-1776-4E0CF434F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BAEC55-0B3F-090F-35E5-6D14E3A30A49}"/>
              </a:ext>
            </a:extLst>
          </p:cNvPr>
          <p:cNvSpPr>
            <a:spLocks noGrp="1"/>
          </p:cNvSpPr>
          <p:nvPr>
            <p:ph type="title"/>
          </p:nvPr>
        </p:nvSpPr>
        <p:spPr/>
        <p:txBody>
          <a:bodyPr/>
          <a:lstStyle/>
          <a:p>
            <a:r>
              <a:rPr lang="en-US" b="1" dirty="0"/>
              <a:t>Historical &amp; Actuals Data Loading- </a:t>
            </a:r>
            <a:r>
              <a:rPr lang="en-US" b="1" dirty="0">
                <a:solidFill>
                  <a:schemeClr val="tx2"/>
                </a:solidFill>
              </a:rPr>
              <a:t>Process</a:t>
            </a:r>
          </a:p>
        </p:txBody>
      </p:sp>
      <p:sp>
        <p:nvSpPr>
          <p:cNvPr id="45" name="TextBox 44">
            <a:extLst>
              <a:ext uri="{FF2B5EF4-FFF2-40B4-BE49-F238E27FC236}">
                <a16:creationId xmlns:a16="http://schemas.microsoft.com/office/drawing/2014/main" id="{7FF583EE-5B44-235B-8D6A-EB8B90AED7D0}"/>
              </a:ext>
            </a:extLst>
          </p:cNvPr>
          <p:cNvSpPr txBox="1"/>
          <p:nvPr/>
        </p:nvSpPr>
        <p:spPr>
          <a:xfrm>
            <a:off x="1258276" y="2912101"/>
            <a:ext cx="1528519" cy="400110"/>
          </a:xfrm>
          <a:prstGeom prst="rect">
            <a:avLst/>
          </a:prstGeom>
          <a:noFill/>
        </p:spPr>
        <p:txBody>
          <a:bodyPr wrap="square" rtlCol="0">
            <a:spAutoFit/>
          </a:bodyPr>
          <a:lstStyle/>
          <a:p>
            <a:pPr algn="ctr"/>
            <a:r>
              <a:rPr lang="en-US" sz="1000" dirty="0"/>
              <a:t>Prepared historical and opportunity data</a:t>
            </a:r>
            <a:endParaRPr lang="en-US" sz="1000" dirty="0">
              <a:solidFill>
                <a:schemeClr val="bg1"/>
              </a:solidFill>
              <a:latin typeface="Arial" panose="020B0604020202020204" pitchFamily="34" charset="0"/>
              <a:ea typeface="Verdana" charset="0"/>
              <a:cs typeface="Arial" panose="020B0604020202020204" pitchFamily="34" charset="0"/>
            </a:endParaRPr>
          </a:p>
        </p:txBody>
      </p:sp>
      <p:sp>
        <p:nvSpPr>
          <p:cNvPr id="65" name="Oval 64">
            <a:extLst>
              <a:ext uri="{FF2B5EF4-FFF2-40B4-BE49-F238E27FC236}">
                <a16:creationId xmlns:a16="http://schemas.microsoft.com/office/drawing/2014/main" id="{B80DFC8A-261E-7AEA-75BA-8BE3A2F08800}"/>
              </a:ext>
            </a:extLst>
          </p:cNvPr>
          <p:cNvSpPr/>
          <p:nvPr/>
        </p:nvSpPr>
        <p:spPr>
          <a:xfrm>
            <a:off x="1755036" y="2038214"/>
            <a:ext cx="535000" cy="535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latin typeface="Arial" panose="020B0604020202020204" pitchFamily="34" charset="0"/>
                <a:ea typeface="Verdana" charset="0"/>
                <a:cs typeface="Arial" panose="020B0604020202020204" pitchFamily="34" charset="0"/>
              </a:rPr>
              <a:t>In</a:t>
            </a:r>
          </a:p>
        </p:txBody>
      </p:sp>
      <p:sp>
        <p:nvSpPr>
          <p:cNvPr id="66" name="Oval 65">
            <a:extLst>
              <a:ext uri="{FF2B5EF4-FFF2-40B4-BE49-F238E27FC236}">
                <a16:creationId xmlns:a16="http://schemas.microsoft.com/office/drawing/2014/main" id="{5E76251B-E9FE-08B8-407B-A8F6A531BEFF}"/>
              </a:ext>
            </a:extLst>
          </p:cNvPr>
          <p:cNvSpPr/>
          <p:nvPr/>
        </p:nvSpPr>
        <p:spPr>
          <a:xfrm>
            <a:off x="6853965" y="2030263"/>
            <a:ext cx="535000" cy="535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bg1"/>
                </a:solidFill>
                <a:latin typeface="Arial" panose="020B0604020202020204" pitchFamily="34" charset="0"/>
                <a:ea typeface="Verdana" charset="0"/>
                <a:cs typeface="Arial" panose="020B0604020202020204" pitchFamily="34" charset="0"/>
              </a:rPr>
              <a:t>Out</a:t>
            </a:r>
          </a:p>
        </p:txBody>
      </p:sp>
      <p:sp>
        <p:nvSpPr>
          <p:cNvPr id="67" name="Rounded Rectangle 66">
            <a:extLst>
              <a:ext uri="{FF2B5EF4-FFF2-40B4-BE49-F238E27FC236}">
                <a16:creationId xmlns:a16="http://schemas.microsoft.com/office/drawing/2014/main" id="{533D269D-59F7-83D6-6B0D-E0F675637159}"/>
              </a:ext>
            </a:extLst>
          </p:cNvPr>
          <p:cNvSpPr/>
          <p:nvPr/>
        </p:nvSpPr>
        <p:spPr>
          <a:xfrm>
            <a:off x="4045072" y="1946705"/>
            <a:ext cx="1053857" cy="71801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800" dirty="0"/>
              <a:t>ADO</a:t>
            </a:r>
            <a:endParaRPr lang="en-US" sz="800" dirty="0">
              <a:solidFill>
                <a:schemeClr val="bg1"/>
              </a:solidFill>
              <a:latin typeface="Arial" panose="020B0604020202020204" pitchFamily="34" charset="0"/>
              <a:ea typeface="Verdana" charset="0"/>
              <a:cs typeface="Arial" panose="020B0604020202020204" pitchFamily="34" charset="0"/>
            </a:endParaRPr>
          </a:p>
        </p:txBody>
      </p:sp>
      <p:cxnSp>
        <p:nvCxnSpPr>
          <p:cNvPr id="72" name="Straight Arrow Connector 71">
            <a:extLst>
              <a:ext uri="{FF2B5EF4-FFF2-40B4-BE49-F238E27FC236}">
                <a16:creationId xmlns:a16="http://schemas.microsoft.com/office/drawing/2014/main" id="{5AD4EAB9-3F47-6D68-B401-175A62472AB0}"/>
              </a:ext>
            </a:extLst>
          </p:cNvPr>
          <p:cNvCxnSpPr>
            <a:cxnSpLocks/>
            <a:stCxn id="65" idx="6"/>
            <a:endCxn id="67" idx="1"/>
          </p:cNvCxnSpPr>
          <p:nvPr/>
        </p:nvCxnSpPr>
        <p:spPr>
          <a:xfrm>
            <a:off x="2290036" y="2305714"/>
            <a:ext cx="1755036" cy="0"/>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F68DDC3F-D402-D297-E5AA-EEF5B0250180}"/>
              </a:ext>
            </a:extLst>
          </p:cNvPr>
          <p:cNvCxnSpPr>
            <a:cxnSpLocks/>
            <a:stCxn id="67" idx="3"/>
            <a:endCxn id="66" idx="2"/>
          </p:cNvCxnSpPr>
          <p:nvPr/>
        </p:nvCxnSpPr>
        <p:spPr>
          <a:xfrm flipV="1">
            <a:off x="5098929" y="2297763"/>
            <a:ext cx="1755036" cy="7951"/>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85" name="Group 84">
            <a:extLst>
              <a:ext uri="{FF2B5EF4-FFF2-40B4-BE49-F238E27FC236}">
                <a16:creationId xmlns:a16="http://schemas.microsoft.com/office/drawing/2014/main" id="{D6D95B4C-8462-80F7-56BE-F2693474442E}"/>
              </a:ext>
            </a:extLst>
          </p:cNvPr>
          <p:cNvGrpSpPr/>
          <p:nvPr/>
        </p:nvGrpSpPr>
        <p:grpSpPr>
          <a:xfrm>
            <a:off x="4097044" y="2912101"/>
            <a:ext cx="949911" cy="706036"/>
            <a:chOff x="1562593" y="1809020"/>
            <a:chExt cx="949911" cy="706036"/>
          </a:xfrm>
        </p:grpSpPr>
        <p:sp>
          <p:nvSpPr>
            <p:cNvPr id="86" name="TextBox 85">
              <a:extLst>
                <a:ext uri="{FF2B5EF4-FFF2-40B4-BE49-F238E27FC236}">
                  <a16:creationId xmlns:a16="http://schemas.microsoft.com/office/drawing/2014/main" id="{33C6F802-3F0D-9F4C-B51B-916E06651D6E}"/>
                </a:ext>
              </a:extLst>
            </p:cNvPr>
            <p:cNvSpPr txBox="1"/>
            <p:nvPr/>
          </p:nvSpPr>
          <p:spPr>
            <a:xfrm>
              <a:off x="1562593" y="2261140"/>
              <a:ext cx="949911" cy="253916"/>
            </a:xfrm>
            <a:prstGeom prst="rect">
              <a:avLst/>
            </a:prstGeom>
            <a:noFill/>
          </p:spPr>
          <p:txBody>
            <a:bodyPr wrap="square" rtlCol="0">
              <a:spAutoFit/>
            </a:bodyPr>
            <a:lstStyle/>
            <a:p>
              <a:pPr algn="ctr">
                <a:buClrTx/>
              </a:pPr>
              <a:r>
                <a:rPr lang="en-US" sz="1050">
                  <a:latin typeface="Arial" panose="020B0604020202020204" pitchFamily="34" charset="0"/>
                  <a:ea typeface="Verdana" charset="0"/>
                  <a:cs typeface="Arial" panose="020B0604020202020204" pitchFamily="34" charset="0"/>
                </a:rPr>
                <a:t>Cal based</a:t>
              </a:r>
            </a:p>
          </p:txBody>
        </p:sp>
        <p:pic>
          <p:nvPicPr>
            <p:cNvPr id="87" name="Picture 86">
              <a:extLst>
                <a:ext uri="{FF2B5EF4-FFF2-40B4-BE49-F238E27FC236}">
                  <a16:creationId xmlns:a16="http://schemas.microsoft.com/office/drawing/2014/main" id="{5EAF8F95-52EC-DAD2-A164-07BEAF30D69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21648" y="1809020"/>
              <a:ext cx="431800" cy="431800"/>
            </a:xfrm>
            <a:prstGeom prst="rect">
              <a:avLst/>
            </a:prstGeom>
          </p:spPr>
        </p:pic>
      </p:grpSp>
      <p:sp>
        <p:nvSpPr>
          <p:cNvPr id="4" name="Rectangle 3">
            <a:extLst>
              <a:ext uri="{FF2B5EF4-FFF2-40B4-BE49-F238E27FC236}">
                <a16:creationId xmlns:a16="http://schemas.microsoft.com/office/drawing/2014/main" id="{A9C81D98-EE0C-6A8E-0E31-D85BEFD719D8}"/>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
        <p:nvSpPr>
          <p:cNvPr id="9" name="TextBox 8">
            <a:extLst>
              <a:ext uri="{FF2B5EF4-FFF2-40B4-BE49-F238E27FC236}">
                <a16:creationId xmlns:a16="http://schemas.microsoft.com/office/drawing/2014/main" id="{88478A75-DBBD-E1A8-BBD0-99D33D6A67BB}"/>
              </a:ext>
            </a:extLst>
          </p:cNvPr>
          <p:cNvSpPr txBox="1"/>
          <p:nvPr/>
        </p:nvSpPr>
        <p:spPr>
          <a:xfrm>
            <a:off x="6357205" y="2912101"/>
            <a:ext cx="1528519" cy="707886"/>
          </a:xfrm>
          <a:prstGeom prst="rect">
            <a:avLst/>
          </a:prstGeom>
          <a:noFill/>
        </p:spPr>
        <p:txBody>
          <a:bodyPr wrap="square" rtlCol="0">
            <a:spAutoFit/>
          </a:bodyPr>
          <a:lstStyle/>
          <a:p>
            <a:pPr algn="ctr"/>
            <a:r>
              <a:rPr lang="en-US" sz="1000" dirty="0"/>
              <a:t>Staging models in Anaplan are populated with the latest historical and pipeline data.</a:t>
            </a:r>
            <a:endParaRPr lang="en-US" sz="1000" dirty="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01898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D76F8-EE4A-FF24-F9C2-A7601254F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85429-6E95-186C-E6A5-8F3C0C28B064}"/>
              </a:ext>
            </a:extLst>
          </p:cNvPr>
          <p:cNvSpPr>
            <a:spLocks noGrp="1"/>
          </p:cNvSpPr>
          <p:nvPr>
            <p:ph type="title"/>
          </p:nvPr>
        </p:nvSpPr>
        <p:spPr>
          <a:xfrm>
            <a:off x="419100" y="294640"/>
            <a:ext cx="8153401" cy="338554"/>
          </a:xfrm>
        </p:spPr>
        <p:txBody>
          <a:bodyPr/>
          <a:lstStyle/>
          <a:p>
            <a:r>
              <a:rPr lang="en-US" b="1" dirty="0"/>
              <a:t>Historical &amp; Actuals Data Loading - </a:t>
            </a:r>
            <a:r>
              <a:rPr lang="en-US" b="1" dirty="0">
                <a:solidFill>
                  <a:schemeClr val="tx2"/>
                </a:solidFill>
              </a:rPr>
              <a:t>Parameters</a:t>
            </a:r>
          </a:p>
        </p:txBody>
      </p:sp>
      <p:graphicFrame>
        <p:nvGraphicFramePr>
          <p:cNvPr id="7" name="Table 7">
            <a:extLst>
              <a:ext uri="{FF2B5EF4-FFF2-40B4-BE49-F238E27FC236}">
                <a16:creationId xmlns:a16="http://schemas.microsoft.com/office/drawing/2014/main" id="{BA1481DE-97DE-B1D6-A88E-0D69D44F923A}"/>
              </a:ext>
            </a:extLst>
          </p:cNvPr>
          <p:cNvGraphicFramePr>
            <a:graphicFrameLocks noGrp="1"/>
          </p:cNvGraphicFramePr>
          <p:nvPr>
            <p:extLst>
              <p:ext uri="{D42A27DB-BD31-4B8C-83A1-F6EECF244321}">
                <p14:modId xmlns:p14="http://schemas.microsoft.com/office/powerpoint/2010/main" val="298182007"/>
              </p:ext>
            </p:extLst>
          </p:nvPr>
        </p:nvGraphicFramePr>
        <p:xfrm>
          <a:off x="419100" y="1022930"/>
          <a:ext cx="8153400" cy="1777112"/>
        </p:xfrm>
        <a:graphic>
          <a:graphicData uri="http://schemas.openxmlformats.org/drawingml/2006/table">
            <a:tbl>
              <a:tblPr firstRow="1" bandRow="1">
                <a:tableStyleId>{72833802-FEF1-4C79-8D5D-14CF1EAF98D9}</a:tableStyleId>
              </a:tblPr>
              <a:tblGrid>
                <a:gridCol w="1701497">
                  <a:extLst>
                    <a:ext uri="{9D8B030D-6E8A-4147-A177-3AD203B41FA5}">
                      <a16:colId xmlns:a16="http://schemas.microsoft.com/office/drawing/2014/main" val="718031972"/>
                    </a:ext>
                  </a:extLst>
                </a:gridCol>
                <a:gridCol w="6451903">
                  <a:extLst>
                    <a:ext uri="{9D8B030D-6E8A-4147-A177-3AD203B41FA5}">
                      <a16:colId xmlns:a16="http://schemas.microsoft.com/office/drawing/2014/main" val="1955053113"/>
                    </a:ext>
                  </a:extLst>
                </a:gridCol>
              </a:tblGrid>
              <a:tr h="264464">
                <a:tc>
                  <a:txBody>
                    <a:bodyPr/>
                    <a:lstStyle/>
                    <a:p>
                      <a:r>
                        <a:rPr lang="en-US" sz="900"/>
                        <a:t>Parameter</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r>
                        <a:rPr lang="en-US" sz="900"/>
                        <a:t>Purpose</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926781289"/>
                  </a:ext>
                </a:extLst>
              </a:tr>
              <a:tr h="2472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Transaction Value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monetary value of the sale. This is the core metric being forecasted.</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620792711"/>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Transaction Date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date the sale was officially closed or booked</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47844716"/>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Product Identifier</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unique code for the product or service that was sold</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080469651"/>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Customer Identifier</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unique code for the customer account that made the purchase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779808244"/>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Sales Representative Identifier</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unique ID of the sales representative credited with the sale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861359854"/>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Quantity / Units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number of units sold, if applicable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868883622"/>
                  </a:ext>
                </a:extLst>
              </a:tr>
            </a:tbl>
          </a:graphicData>
        </a:graphic>
      </p:graphicFrame>
      <p:sp>
        <p:nvSpPr>
          <p:cNvPr id="4" name="Rectangle 3">
            <a:extLst>
              <a:ext uri="{FF2B5EF4-FFF2-40B4-BE49-F238E27FC236}">
                <a16:creationId xmlns:a16="http://schemas.microsoft.com/office/drawing/2014/main" id="{D595CDA8-6A78-63AF-B5D6-4CE7C2300D8D}"/>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2536588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99784-89D6-F621-A115-E1E6F67E9E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3380D-46F4-992A-5E11-7302E1F91CD6}"/>
              </a:ext>
            </a:extLst>
          </p:cNvPr>
          <p:cNvSpPr>
            <a:spLocks noGrp="1"/>
          </p:cNvSpPr>
          <p:nvPr>
            <p:ph type="title"/>
          </p:nvPr>
        </p:nvSpPr>
        <p:spPr/>
        <p:txBody>
          <a:bodyPr/>
          <a:lstStyle/>
          <a:p>
            <a:r>
              <a:rPr lang="en-US" b="1" dirty="0"/>
              <a:t>Historical &amp; Actuals Data Loading - </a:t>
            </a:r>
            <a:r>
              <a:rPr lang="en-US" b="1" dirty="0">
                <a:solidFill>
                  <a:schemeClr val="tx2"/>
                </a:solidFill>
              </a:rPr>
              <a:t>Key Screens</a:t>
            </a:r>
          </a:p>
        </p:txBody>
      </p:sp>
      <p:sp>
        <p:nvSpPr>
          <p:cNvPr id="4" name="TextBox 3">
            <a:extLst>
              <a:ext uri="{FF2B5EF4-FFF2-40B4-BE49-F238E27FC236}">
                <a16:creationId xmlns:a16="http://schemas.microsoft.com/office/drawing/2014/main" id="{3CF92F56-F1EA-A85D-74CA-CE347C5B866F}"/>
              </a:ext>
            </a:extLst>
          </p:cNvPr>
          <p:cNvSpPr txBox="1"/>
          <p:nvPr/>
        </p:nvSpPr>
        <p:spPr>
          <a:xfrm>
            <a:off x="356616" y="633194"/>
            <a:ext cx="4572000" cy="307777"/>
          </a:xfrm>
          <a:prstGeom prst="rect">
            <a:avLst/>
          </a:prstGeom>
          <a:noFill/>
        </p:spPr>
        <p:txBody>
          <a:bodyPr wrap="square">
            <a:spAutoFit/>
          </a:bodyPr>
          <a:lstStyle/>
          <a:p>
            <a:r>
              <a:rPr lang="en-GB" sz="1400" dirty="0">
                <a:solidFill>
                  <a:schemeClr val="accent1"/>
                </a:solidFill>
                <a:latin typeface="Arial" panose="020B0604020202020204" pitchFamily="34" charset="0"/>
                <a:cs typeface="Arial" panose="020B0604020202020204" pitchFamily="34" charset="0"/>
              </a:rPr>
              <a:t>Data Modules</a:t>
            </a:r>
            <a:endParaRPr lang="en-US" sz="1400" dirty="0">
              <a:solidFill>
                <a:schemeClr val="accent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419AA75-4365-3567-6DB9-5A6E448F8B64}"/>
              </a:ext>
            </a:extLst>
          </p:cNvPr>
          <p:cNvSpPr txBox="1"/>
          <p:nvPr/>
        </p:nvSpPr>
        <p:spPr>
          <a:xfrm>
            <a:off x="6470132" y="1025609"/>
            <a:ext cx="2190031" cy="415498"/>
          </a:xfrm>
          <a:prstGeom prst="rect">
            <a:avLst/>
          </a:prstGeom>
          <a:noFill/>
          <a:ln>
            <a:noFill/>
          </a:ln>
        </p:spPr>
        <p:txBody>
          <a:bodyPr wrap="square" rtlCol="0">
            <a:spAutoFit/>
          </a:bodyPr>
          <a:lstStyle/>
          <a:p>
            <a:pPr marL="180975" indent="-180975" algn="l">
              <a:spcBef>
                <a:spcPts val="300"/>
              </a:spcBef>
              <a:spcAft>
                <a:spcPts val="300"/>
              </a:spcAft>
              <a:buClrTx/>
              <a:buFont typeface="Arial" panose="020B0604020202020204" pitchFamily="34" charset="0"/>
              <a:buChar char="•"/>
            </a:pPr>
            <a:r>
              <a:rPr lang="en-US" sz="1050" b="0" dirty="0">
                <a:solidFill>
                  <a:schemeClr val="tx2"/>
                </a:solidFill>
                <a:latin typeface="Arial" panose="020B0604020202020204" pitchFamily="34" charset="0"/>
                <a:ea typeface="Verdana" charset="0"/>
                <a:cs typeface="Arial" panose="020B0604020202020204" pitchFamily="34" charset="0"/>
              </a:rPr>
              <a:t>Import the data into the model – modules, list actions</a:t>
            </a:r>
          </a:p>
        </p:txBody>
      </p:sp>
      <p:sp>
        <p:nvSpPr>
          <p:cNvPr id="3" name="Rectangle 2">
            <a:extLst>
              <a:ext uri="{FF2B5EF4-FFF2-40B4-BE49-F238E27FC236}">
                <a16:creationId xmlns:a16="http://schemas.microsoft.com/office/drawing/2014/main" id="{C51FC2AE-166C-D306-3666-59100A1A35CA}"/>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pic>
        <p:nvPicPr>
          <p:cNvPr id="7" name="Picture 6">
            <a:extLst>
              <a:ext uri="{FF2B5EF4-FFF2-40B4-BE49-F238E27FC236}">
                <a16:creationId xmlns:a16="http://schemas.microsoft.com/office/drawing/2014/main" id="{14C0B947-D515-3351-FE4C-F0D30424E75D}"/>
              </a:ext>
            </a:extLst>
          </p:cNvPr>
          <p:cNvPicPr>
            <a:picLocks noChangeAspect="1"/>
          </p:cNvPicPr>
          <p:nvPr/>
        </p:nvPicPr>
        <p:blipFill>
          <a:blip r:embed="rId2"/>
          <a:srcRect l="1" r="498" b="45531"/>
          <a:stretch>
            <a:fillRect/>
          </a:stretch>
        </p:blipFill>
        <p:spPr>
          <a:xfrm>
            <a:off x="419100" y="1025609"/>
            <a:ext cx="5720744" cy="2740146"/>
          </a:xfrm>
          <a:prstGeom prst="rect">
            <a:avLst/>
          </a:prstGeom>
          <a:ln>
            <a:solidFill>
              <a:schemeClr val="tx1"/>
            </a:solidFill>
          </a:ln>
        </p:spPr>
      </p:pic>
    </p:spTree>
    <p:extLst>
      <p:ext uri="{BB962C8B-B14F-4D97-AF65-F5344CB8AC3E}">
        <p14:creationId xmlns:p14="http://schemas.microsoft.com/office/powerpoint/2010/main" val="2981330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11EE0-AAC6-41DC-245E-53CF866C37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AA27DF-D35B-3A3E-FB0A-6FF023502A64}"/>
              </a:ext>
            </a:extLst>
          </p:cNvPr>
          <p:cNvSpPr>
            <a:spLocks noGrp="1"/>
          </p:cNvSpPr>
          <p:nvPr>
            <p:ph type="title"/>
          </p:nvPr>
        </p:nvSpPr>
        <p:spPr/>
        <p:txBody>
          <a:bodyPr/>
          <a:lstStyle/>
          <a:p>
            <a:r>
              <a:rPr lang="en-US" b="1" dirty="0"/>
              <a:t>Historical &amp; Actuals Data Loading - </a:t>
            </a:r>
            <a:r>
              <a:rPr lang="en-US" b="1" dirty="0">
                <a:solidFill>
                  <a:schemeClr val="tx2"/>
                </a:solidFill>
              </a:rPr>
              <a:t>Hints and Tips</a:t>
            </a:r>
          </a:p>
        </p:txBody>
      </p:sp>
      <p:sp>
        <p:nvSpPr>
          <p:cNvPr id="3" name="Content Placeholder 2">
            <a:extLst>
              <a:ext uri="{FF2B5EF4-FFF2-40B4-BE49-F238E27FC236}">
                <a16:creationId xmlns:a16="http://schemas.microsoft.com/office/drawing/2014/main" id="{8C8E9911-D7AC-EBFC-A50B-E3D4B9D658E6}"/>
              </a:ext>
            </a:extLst>
          </p:cNvPr>
          <p:cNvSpPr>
            <a:spLocks noGrp="1"/>
          </p:cNvSpPr>
          <p:nvPr>
            <p:ph idx="1"/>
          </p:nvPr>
        </p:nvSpPr>
        <p:spPr/>
        <p:txBody>
          <a:bodyPr lIns="0" rIns="0"/>
          <a:lstStyle/>
          <a:p>
            <a:pPr>
              <a:spcBef>
                <a:spcPts val="300"/>
              </a:spcBef>
              <a:spcAft>
                <a:spcPts val="300"/>
              </a:spcAft>
              <a:buClr>
                <a:schemeClr val="accent1"/>
              </a:buClr>
            </a:pPr>
            <a:r>
              <a:rPr lang="en-US" dirty="0"/>
              <a:t>Clean Data Before Loading: Do data cleansing in your source system or ETL tool, not in Anaplan.</a:t>
            </a:r>
          </a:p>
          <a:p>
            <a:pPr>
              <a:spcBef>
                <a:spcPts val="300"/>
              </a:spcBef>
              <a:spcAft>
                <a:spcPts val="300"/>
              </a:spcAft>
              <a:buClr>
                <a:schemeClr val="accent1"/>
              </a:buClr>
            </a:pPr>
            <a:r>
              <a:rPr lang="en-US" dirty="0"/>
              <a:t>Validate All IDs: Ensure every transaction ID (Product, Customer, Sales Rep) perfectly matches an item in your master data hierarchies to prevent data rejection.</a:t>
            </a:r>
          </a:p>
          <a:p>
            <a:pPr>
              <a:spcBef>
                <a:spcPts val="300"/>
              </a:spcBef>
              <a:spcAft>
                <a:spcPts val="300"/>
              </a:spcAft>
              <a:buClr>
                <a:schemeClr val="accent1"/>
              </a:buClr>
            </a:pPr>
            <a:r>
              <a:rPr lang="en-US" dirty="0"/>
              <a:t>Automate Everything: Avoid manual CSV uploads for production. Build reliable, automated integrations with error notifications from day one.</a:t>
            </a:r>
          </a:p>
          <a:p>
            <a:pPr>
              <a:spcBef>
                <a:spcPts val="300"/>
              </a:spcBef>
              <a:spcAft>
                <a:spcPts val="300"/>
              </a:spcAft>
              <a:buClr>
                <a:schemeClr val="accent1"/>
              </a:buClr>
            </a:pPr>
            <a:r>
              <a:rPr lang="en-US" dirty="0"/>
              <a:t>Use Staging Modules: Load data into a temporary "staging" area in Anaplan first. This allows you to check and validate it before pushing it into the final model.</a:t>
            </a:r>
          </a:p>
          <a:p>
            <a:pPr>
              <a:spcBef>
                <a:spcPts val="300"/>
              </a:spcBef>
              <a:spcAft>
                <a:spcPts val="300"/>
              </a:spcAft>
              <a:buClr>
                <a:schemeClr val="accent1"/>
              </a:buClr>
            </a:pPr>
            <a:r>
              <a:rPr lang="en-US" dirty="0"/>
              <a:t>Load Only What You Need: To maximize performance, aggregate data to the right level (e.g., load daily data instead of hourly) before it enters Anaplan.</a:t>
            </a:r>
          </a:p>
          <a:p>
            <a:pPr>
              <a:spcBef>
                <a:spcPts val="300"/>
              </a:spcBef>
              <a:spcAft>
                <a:spcPts val="300"/>
              </a:spcAft>
              <a:buClr>
                <a:schemeClr val="accent1"/>
              </a:buClr>
            </a:pPr>
            <a:r>
              <a:rPr lang="en-US" dirty="0"/>
              <a:t>Account for History: Be aware of major past events (like mergers or market shifts) that could skew the historical data and mislead the forecast. Adjust accordingly.</a:t>
            </a:r>
          </a:p>
        </p:txBody>
      </p:sp>
      <p:sp>
        <p:nvSpPr>
          <p:cNvPr id="4" name="Rectangle 3">
            <a:extLst>
              <a:ext uri="{FF2B5EF4-FFF2-40B4-BE49-F238E27FC236}">
                <a16:creationId xmlns:a16="http://schemas.microsoft.com/office/drawing/2014/main" id="{4D40FC5C-2C27-FF05-8479-362CEABE72D3}"/>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3662841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B117E-A39B-5777-B371-CB7DE1F59E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1596D-A2D4-6C54-915D-A8A822929DC3}"/>
              </a:ext>
            </a:extLst>
          </p:cNvPr>
          <p:cNvSpPr>
            <a:spLocks noGrp="1"/>
          </p:cNvSpPr>
          <p:nvPr>
            <p:ph type="title"/>
          </p:nvPr>
        </p:nvSpPr>
        <p:spPr/>
        <p:txBody>
          <a:bodyPr/>
          <a:lstStyle/>
          <a:p>
            <a:r>
              <a:rPr lang="en-US" b="1" dirty="0"/>
              <a:t>Historical &amp; Actuals Data Loading - </a:t>
            </a:r>
            <a:r>
              <a:rPr lang="en-US" b="1" dirty="0">
                <a:solidFill>
                  <a:schemeClr val="tx2"/>
                </a:solidFill>
              </a:rPr>
              <a:t>Implementation and Configuration Considerations</a:t>
            </a:r>
          </a:p>
        </p:txBody>
      </p:sp>
      <p:sp>
        <p:nvSpPr>
          <p:cNvPr id="3" name="Content Placeholder 2">
            <a:extLst>
              <a:ext uri="{FF2B5EF4-FFF2-40B4-BE49-F238E27FC236}">
                <a16:creationId xmlns:a16="http://schemas.microsoft.com/office/drawing/2014/main" id="{4B050215-C239-2EFB-7334-C4A8ABDEBAF0}"/>
              </a:ext>
            </a:extLst>
          </p:cNvPr>
          <p:cNvSpPr>
            <a:spLocks noGrp="1"/>
          </p:cNvSpPr>
          <p:nvPr>
            <p:ph idx="1"/>
          </p:nvPr>
        </p:nvSpPr>
        <p:spPr>
          <a:xfrm>
            <a:off x="419100" y="933172"/>
            <a:ext cx="8153400" cy="3984800"/>
          </a:xfrm>
        </p:spPr>
        <p:txBody>
          <a:bodyPr lIns="0" rIns="0"/>
          <a:lstStyle/>
          <a:p>
            <a:pPr>
              <a:spcBef>
                <a:spcPts val="300"/>
              </a:spcBef>
              <a:spcAft>
                <a:spcPts val="300"/>
              </a:spcAft>
              <a:buClr>
                <a:schemeClr val="accent1"/>
              </a:buClr>
            </a:pPr>
            <a:r>
              <a:rPr lang="en-US" sz="1400" dirty="0"/>
              <a:t>In Your Integration Tool (e.g., </a:t>
            </a:r>
            <a:r>
              <a:rPr lang="en-US" sz="1400" dirty="0" err="1"/>
              <a:t>CloudWorks</a:t>
            </a:r>
            <a:r>
              <a:rPr lang="en-US" sz="1400" dirty="0"/>
              <a:t>, MuleSoft)</a:t>
            </a:r>
          </a:p>
          <a:p>
            <a:pPr lvl="1"/>
            <a:r>
              <a:rPr lang="en-US" sz="1400" dirty="0"/>
              <a:t>Use a Service Account: Configure connections using a dedicated integration user, not a person's account.</a:t>
            </a:r>
          </a:p>
          <a:p>
            <a:pPr lvl="1"/>
            <a:r>
              <a:rPr lang="en-US" sz="1400" dirty="0"/>
              <a:t>Map and Schedule: Map the fields from the source view to the Anaplan import action. Schedule the job to run automatically (e.g., nightly) and configure email alerts for any failures.</a:t>
            </a:r>
          </a:p>
          <a:p>
            <a:pPr>
              <a:spcBef>
                <a:spcPts val="300"/>
              </a:spcBef>
              <a:spcAft>
                <a:spcPts val="300"/>
              </a:spcAft>
              <a:buClr>
                <a:schemeClr val="accent1"/>
              </a:buClr>
            </a:pPr>
            <a:r>
              <a:rPr lang="en-US" sz="1400" dirty="0"/>
              <a:t>In Your Anaplan Model</a:t>
            </a:r>
          </a:p>
          <a:p>
            <a:pPr lvl="1"/>
            <a:r>
              <a:rPr lang="en-US" sz="1400" dirty="0"/>
              <a:t>Use a Data Hub Model: Follow best practices by loading data into a central "Data Hub" model, not directly into the main user application.</a:t>
            </a:r>
          </a:p>
          <a:p>
            <a:pPr lvl="1"/>
            <a:r>
              <a:rPr lang="en-US" sz="1400" dirty="0"/>
              <a:t>Create a Staging Module: Build a simple, flat module to receive the initial data load.</a:t>
            </a:r>
          </a:p>
          <a:p>
            <a:pPr lvl="1"/>
            <a:r>
              <a:rPr lang="en-US" sz="1400" dirty="0"/>
              <a:t>Build an Import Action: Create the specific import action in Anaplan that your integration tool will trigger.</a:t>
            </a:r>
          </a:p>
          <a:p>
            <a:pPr lvl="1"/>
            <a:r>
              <a:rPr lang="en-US" sz="1400" dirty="0"/>
              <a:t>Validate Before Committing: Use other modules to validate the data from the staging area. Only after it's confirmed to be clean and correct should it be moved into the final data modules that the main Sales Forecasting app will read from</a:t>
            </a:r>
          </a:p>
        </p:txBody>
      </p:sp>
      <p:sp>
        <p:nvSpPr>
          <p:cNvPr id="4" name="Rectangle 3">
            <a:extLst>
              <a:ext uri="{FF2B5EF4-FFF2-40B4-BE49-F238E27FC236}">
                <a16:creationId xmlns:a16="http://schemas.microsoft.com/office/drawing/2014/main" id="{5D50A31F-C80A-54FA-5A50-738C34008DD6}"/>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53356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FFE26-91AC-6C47-99E3-BDDC753B5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D8559D-8783-D7A2-4647-DA9800C7952A}"/>
              </a:ext>
            </a:extLst>
          </p:cNvPr>
          <p:cNvSpPr>
            <a:spLocks noGrp="1"/>
          </p:cNvSpPr>
          <p:nvPr>
            <p:ph type="title"/>
          </p:nvPr>
        </p:nvSpPr>
        <p:spPr/>
        <p:txBody>
          <a:bodyPr/>
          <a:lstStyle/>
          <a:p>
            <a:r>
              <a:rPr lang="en-US" dirty="0">
                <a:solidFill>
                  <a:schemeClr val="tx2"/>
                </a:solidFill>
                <a:ea typeface="+mn-lt"/>
                <a:cs typeface="+mn-lt"/>
              </a:rPr>
              <a:t>Baseline Forecast Generation</a:t>
            </a:r>
          </a:p>
        </p:txBody>
      </p:sp>
    </p:spTree>
    <p:extLst>
      <p:ext uri="{BB962C8B-B14F-4D97-AF65-F5344CB8AC3E}">
        <p14:creationId xmlns:p14="http://schemas.microsoft.com/office/powerpoint/2010/main" val="3487798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AFFCB-6004-3E17-A3C7-D8C8248C8B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675470-4851-DB0F-C49E-054F8A128026}"/>
              </a:ext>
            </a:extLst>
          </p:cNvPr>
          <p:cNvSpPr>
            <a:spLocks noGrp="1"/>
          </p:cNvSpPr>
          <p:nvPr>
            <p:ph type="title"/>
          </p:nvPr>
        </p:nvSpPr>
        <p:spPr/>
        <p:txBody>
          <a:bodyPr/>
          <a:lstStyle/>
          <a:p>
            <a:r>
              <a:rPr lang="en-US" b="1" dirty="0">
                <a:solidFill>
                  <a:schemeClr val="tx2"/>
                </a:solidFill>
                <a:ea typeface="+mn-lt"/>
                <a:cs typeface="+mn-lt"/>
              </a:rPr>
              <a:t>Baseline Forecast Generation - </a:t>
            </a:r>
            <a:r>
              <a:rPr lang="en-US" b="1" dirty="0">
                <a:solidFill>
                  <a:schemeClr val="tx2"/>
                </a:solidFill>
              </a:rPr>
              <a:t>Key Concepts</a:t>
            </a:r>
          </a:p>
        </p:txBody>
      </p:sp>
      <p:sp>
        <p:nvSpPr>
          <p:cNvPr id="3" name="Content Placeholder 2">
            <a:extLst>
              <a:ext uri="{FF2B5EF4-FFF2-40B4-BE49-F238E27FC236}">
                <a16:creationId xmlns:a16="http://schemas.microsoft.com/office/drawing/2014/main" id="{C7EB77FF-0707-B610-9D93-5A8177F1C4DF}"/>
              </a:ext>
            </a:extLst>
          </p:cNvPr>
          <p:cNvSpPr>
            <a:spLocks noGrp="1"/>
          </p:cNvSpPr>
          <p:nvPr>
            <p:ph idx="1"/>
          </p:nvPr>
        </p:nvSpPr>
        <p:spPr/>
        <p:txBody>
          <a:bodyPr/>
          <a:lstStyle/>
          <a:p>
            <a:pPr>
              <a:spcBef>
                <a:spcPts val="300"/>
              </a:spcBef>
              <a:spcAft>
                <a:spcPts val="300"/>
              </a:spcAft>
              <a:buClr>
                <a:schemeClr val="accent1"/>
              </a:buClr>
            </a:pPr>
            <a:r>
              <a:rPr lang="en-US" dirty="0"/>
              <a:t>Creates an Unbiased Starting Point: It generates a purely statistical forecast based only on historical data, removing human emotion and bias from the initial number.</a:t>
            </a:r>
          </a:p>
          <a:p>
            <a:pPr>
              <a:spcBef>
                <a:spcPts val="300"/>
              </a:spcBef>
              <a:spcAft>
                <a:spcPts val="300"/>
              </a:spcAft>
              <a:buClr>
                <a:schemeClr val="accent1"/>
              </a:buClr>
            </a:pPr>
            <a:r>
              <a:rPr lang="en-US" dirty="0"/>
              <a:t>Automates Manual Work: It replaces the time-consuming process of creating a baseline in spreadsheets with a "one-click" action in Anaplan, freeing up significant time for the sales team.</a:t>
            </a:r>
          </a:p>
          <a:p>
            <a:pPr>
              <a:spcBef>
                <a:spcPts val="300"/>
              </a:spcBef>
              <a:spcAft>
                <a:spcPts val="300"/>
              </a:spcAft>
              <a:buClr>
                <a:schemeClr val="accent1"/>
              </a:buClr>
            </a:pPr>
            <a:r>
              <a:rPr lang="en-US" dirty="0"/>
              <a:t>Provides a "First Draft," Not the Final Answer: The goal is not perfection, but to provide a reasonable, data-driven foundation that the sales team can quickly refine with their expert, real-time knowledge.</a:t>
            </a:r>
          </a:p>
          <a:p>
            <a:pPr marL="0" indent="0">
              <a:spcBef>
                <a:spcPts val="300"/>
              </a:spcBef>
              <a:spcAft>
                <a:spcPts val="300"/>
              </a:spcAft>
              <a:buClr>
                <a:schemeClr val="accent1"/>
              </a:buClr>
              <a:buNone/>
            </a:pPr>
            <a:endParaRPr lang="en-US" sz="1200" dirty="0"/>
          </a:p>
        </p:txBody>
      </p:sp>
      <p:sp>
        <p:nvSpPr>
          <p:cNvPr id="4" name="Rectangle 3">
            <a:extLst>
              <a:ext uri="{FF2B5EF4-FFF2-40B4-BE49-F238E27FC236}">
                <a16:creationId xmlns:a16="http://schemas.microsoft.com/office/drawing/2014/main" id="{F1D21894-19E1-576D-39F6-936551611919}"/>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1954175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97BBD-EDED-1084-F8B6-BA286A5D5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0A45E-31CC-5062-75D6-42713E5F2682}"/>
              </a:ext>
            </a:extLst>
          </p:cNvPr>
          <p:cNvSpPr>
            <a:spLocks noGrp="1"/>
          </p:cNvSpPr>
          <p:nvPr>
            <p:ph type="title"/>
          </p:nvPr>
        </p:nvSpPr>
        <p:spPr/>
        <p:txBody>
          <a:bodyPr/>
          <a:lstStyle/>
          <a:p>
            <a:r>
              <a:rPr lang="en-US" b="1" dirty="0">
                <a:solidFill>
                  <a:schemeClr val="tx2"/>
                </a:solidFill>
                <a:ea typeface="+mn-lt"/>
                <a:cs typeface="+mn-lt"/>
              </a:rPr>
              <a:t>Baseline Forecast Generation - </a:t>
            </a:r>
            <a:r>
              <a:rPr lang="en-US" b="1" dirty="0">
                <a:solidFill>
                  <a:schemeClr val="tx2"/>
                </a:solidFill>
              </a:rPr>
              <a:t>Process</a:t>
            </a:r>
          </a:p>
        </p:txBody>
      </p:sp>
      <p:sp>
        <p:nvSpPr>
          <p:cNvPr id="45" name="TextBox 44">
            <a:extLst>
              <a:ext uri="{FF2B5EF4-FFF2-40B4-BE49-F238E27FC236}">
                <a16:creationId xmlns:a16="http://schemas.microsoft.com/office/drawing/2014/main" id="{2D00A900-7D46-D24E-8FC1-6C4550DD4F13}"/>
              </a:ext>
            </a:extLst>
          </p:cNvPr>
          <p:cNvSpPr txBox="1"/>
          <p:nvPr/>
        </p:nvSpPr>
        <p:spPr>
          <a:xfrm>
            <a:off x="1258276" y="2912101"/>
            <a:ext cx="1528519" cy="400110"/>
          </a:xfrm>
          <a:prstGeom prst="rect">
            <a:avLst/>
          </a:prstGeom>
          <a:noFill/>
        </p:spPr>
        <p:txBody>
          <a:bodyPr wrap="square" rtlCol="0">
            <a:spAutoFit/>
          </a:bodyPr>
          <a:lstStyle/>
          <a:p>
            <a:pPr algn="ctr"/>
            <a:r>
              <a:rPr lang="en-US" sz="1000" dirty="0"/>
              <a:t>Prepared historical and opportunity data</a:t>
            </a:r>
            <a:endParaRPr lang="en-US" sz="1000" dirty="0">
              <a:solidFill>
                <a:schemeClr val="bg1"/>
              </a:solidFill>
              <a:latin typeface="Arial" panose="020B0604020202020204" pitchFamily="34" charset="0"/>
              <a:ea typeface="Verdana" charset="0"/>
              <a:cs typeface="Arial" panose="020B0604020202020204" pitchFamily="34" charset="0"/>
            </a:endParaRPr>
          </a:p>
        </p:txBody>
      </p:sp>
      <p:sp>
        <p:nvSpPr>
          <p:cNvPr id="65" name="Oval 64">
            <a:extLst>
              <a:ext uri="{FF2B5EF4-FFF2-40B4-BE49-F238E27FC236}">
                <a16:creationId xmlns:a16="http://schemas.microsoft.com/office/drawing/2014/main" id="{E9DA15B2-CDD5-68CD-5D15-783021C982DD}"/>
              </a:ext>
            </a:extLst>
          </p:cNvPr>
          <p:cNvSpPr/>
          <p:nvPr/>
        </p:nvSpPr>
        <p:spPr>
          <a:xfrm>
            <a:off x="1755036" y="2038214"/>
            <a:ext cx="535000" cy="535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latin typeface="Arial" panose="020B0604020202020204" pitchFamily="34" charset="0"/>
                <a:ea typeface="Verdana" charset="0"/>
                <a:cs typeface="Arial" panose="020B0604020202020204" pitchFamily="34" charset="0"/>
              </a:rPr>
              <a:t>In</a:t>
            </a:r>
          </a:p>
        </p:txBody>
      </p:sp>
      <p:sp>
        <p:nvSpPr>
          <p:cNvPr id="66" name="Oval 65">
            <a:extLst>
              <a:ext uri="{FF2B5EF4-FFF2-40B4-BE49-F238E27FC236}">
                <a16:creationId xmlns:a16="http://schemas.microsoft.com/office/drawing/2014/main" id="{C133BB67-CBCC-D415-9337-3E1C1AD94BD6}"/>
              </a:ext>
            </a:extLst>
          </p:cNvPr>
          <p:cNvSpPr/>
          <p:nvPr/>
        </p:nvSpPr>
        <p:spPr>
          <a:xfrm>
            <a:off x="6853965" y="2030263"/>
            <a:ext cx="535000" cy="535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bg1"/>
                </a:solidFill>
                <a:latin typeface="Arial" panose="020B0604020202020204" pitchFamily="34" charset="0"/>
                <a:ea typeface="Verdana" charset="0"/>
                <a:cs typeface="Arial" panose="020B0604020202020204" pitchFamily="34" charset="0"/>
              </a:rPr>
              <a:t>Out</a:t>
            </a:r>
          </a:p>
        </p:txBody>
      </p:sp>
      <p:sp>
        <p:nvSpPr>
          <p:cNvPr id="67" name="Rounded Rectangle 66">
            <a:extLst>
              <a:ext uri="{FF2B5EF4-FFF2-40B4-BE49-F238E27FC236}">
                <a16:creationId xmlns:a16="http://schemas.microsoft.com/office/drawing/2014/main" id="{6FBFDFB7-FF74-BCEA-4041-A83BD9685832}"/>
              </a:ext>
            </a:extLst>
          </p:cNvPr>
          <p:cNvSpPr/>
          <p:nvPr/>
        </p:nvSpPr>
        <p:spPr>
          <a:xfrm>
            <a:off x="4045072" y="1946705"/>
            <a:ext cx="1053857" cy="71801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800" dirty="0"/>
              <a:t>Sales Ops triggers the Anaplan process to run the statistical forecasting models</a:t>
            </a:r>
            <a:endParaRPr lang="en-US" sz="800" dirty="0">
              <a:solidFill>
                <a:schemeClr val="bg1"/>
              </a:solidFill>
              <a:latin typeface="Arial" panose="020B0604020202020204" pitchFamily="34" charset="0"/>
              <a:ea typeface="Verdana" charset="0"/>
              <a:cs typeface="Arial" panose="020B0604020202020204" pitchFamily="34" charset="0"/>
            </a:endParaRPr>
          </a:p>
        </p:txBody>
      </p:sp>
      <p:cxnSp>
        <p:nvCxnSpPr>
          <p:cNvPr id="72" name="Straight Arrow Connector 71">
            <a:extLst>
              <a:ext uri="{FF2B5EF4-FFF2-40B4-BE49-F238E27FC236}">
                <a16:creationId xmlns:a16="http://schemas.microsoft.com/office/drawing/2014/main" id="{1AF01A50-2966-D339-D1AE-671D6865685D}"/>
              </a:ext>
            </a:extLst>
          </p:cNvPr>
          <p:cNvCxnSpPr>
            <a:cxnSpLocks/>
            <a:stCxn id="65" idx="6"/>
            <a:endCxn id="67" idx="1"/>
          </p:cNvCxnSpPr>
          <p:nvPr/>
        </p:nvCxnSpPr>
        <p:spPr>
          <a:xfrm>
            <a:off x="2290036" y="2305714"/>
            <a:ext cx="1755036" cy="0"/>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C2882557-592F-F3E8-EB16-C71DFA3E6451}"/>
              </a:ext>
            </a:extLst>
          </p:cNvPr>
          <p:cNvCxnSpPr>
            <a:cxnSpLocks/>
            <a:stCxn id="67" idx="3"/>
            <a:endCxn id="66" idx="2"/>
          </p:cNvCxnSpPr>
          <p:nvPr/>
        </p:nvCxnSpPr>
        <p:spPr>
          <a:xfrm flipV="1">
            <a:off x="5098929" y="2297763"/>
            <a:ext cx="1755036" cy="7951"/>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85" name="Group 84">
            <a:extLst>
              <a:ext uri="{FF2B5EF4-FFF2-40B4-BE49-F238E27FC236}">
                <a16:creationId xmlns:a16="http://schemas.microsoft.com/office/drawing/2014/main" id="{CEA094C6-1FB6-4709-5719-80F6D9422B00}"/>
              </a:ext>
            </a:extLst>
          </p:cNvPr>
          <p:cNvGrpSpPr/>
          <p:nvPr/>
        </p:nvGrpSpPr>
        <p:grpSpPr>
          <a:xfrm>
            <a:off x="4097044" y="2912101"/>
            <a:ext cx="949911" cy="706036"/>
            <a:chOff x="1562593" y="1809020"/>
            <a:chExt cx="949911" cy="706036"/>
          </a:xfrm>
        </p:grpSpPr>
        <p:sp>
          <p:nvSpPr>
            <p:cNvPr id="86" name="TextBox 85">
              <a:extLst>
                <a:ext uri="{FF2B5EF4-FFF2-40B4-BE49-F238E27FC236}">
                  <a16:creationId xmlns:a16="http://schemas.microsoft.com/office/drawing/2014/main" id="{82E36DF3-2491-4474-E108-8C0813F8A842}"/>
                </a:ext>
              </a:extLst>
            </p:cNvPr>
            <p:cNvSpPr txBox="1"/>
            <p:nvPr/>
          </p:nvSpPr>
          <p:spPr>
            <a:xfrm>
              <a:off x="1562593" y="2261140"/>
              <a:ext cx="949911" cy="253916"/>
            </a:xfrm>
            <a:prstGeom prst="rect">
              <a:avLst/>
            </a:prstGeom>
            <a:noFill/>
          </p:spPr>
          <p:txBody>
            <a:bodyPr wrap="square" rtlCol="0">
              <a:spAutoFit/>
            </a:bodyPr>
            <a:lstStyle/>
            <a:p>
              <a:pPr algn="ctr">
                <a:buClrTx/>
              </a:pPr>
              <a:r>
                <a:rPr lang="en-US" sz="1050">
                  <a:latin typeface="Arial" panose="020B0604020202020204" pitchFamily="34" charset="0"/>
                  <a:ea typeface="Verdana" charset="0"/>
                  <a:cs typeface="Arial" panose="020B0604020202020204" pitchFamily="34" charset="0"/>
                </a:rPr>
                <a:t>Cal based</a:t>
              </a:r>
            </a:p>
          </p:txBody>
        </p:sp>
        <p:pic>
          <p:nvPicPr>
            <p:cNvPr id="87" name="Picture 86">
              <a:extLst>
                <a:ext uri="{FF2B5EF4-FFF2-40B4-BE49-F238E27FC236}">
                  <a16:creationId xmlns:a16="http://schemas.microsoft.com/office/drawing/2014/main" id="{AB14D667-CBCF-C045-9005-98B170148D8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21648" y="1809020"/>
              <a:ext cx="431800" cy="431800"/>
            </a:xfrm>
            <a:prstGeom prst="rect">
              <a:avLst/>
            </a:prstGeom>
          </p:spPr>
        </p:pic>
      </p:grpSp>
      <p:sp>
        <p:nvSpPr>
          <p:cNvPr id="4" name="Rectangle 3">
            <a:extLst>
              <a:ext uri="{FF2B5EF4-FFF2-40B4-BE49-F238E27FC236}">
                <a16:creationId xmlns:a16="http://schemas.microsoft.com/office/drawing/2014/main" id="{FE32EAB5-B572-3610-A3B9-839150BB0F9C}"/>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
        <p:nvSpPr>
          <p:cNvPr id="9" name="TextBox 8">
            <a:extLst>
              <a:ext uri="{FF2B5EF4-FFF2-40B4-BE49-F238E27FC236}">
                <a16:creationId xmlns:a16="http://schemas.microsoft.com/office/drawing/2014/main" id="{F7B1C40B-09BF-3A02-F3DF-568767F59034}"/>
              </a:ext>
            </a:extLst>
          </p:cNvPr>
          <p:cNvSpPr txBox="1"/>
          <p:nvPr/>
        </p:nvSpPr>
        <p:spPr>
          <a:xfrm>
            <a:off x="6357205" y="2912101"/>
            <a:ext cx="1528519" cy="861774"/>
          </a:xfrm>
          <a:prstGeom prst="rect">
            <a:avLst/>
          </a:prstGeom>
          <a:noFill/>
        </p:spPr>
        <p:txBody>
          <a:bodyPr wrap="square" rtlCol="0">
            <a:spAutoFit/>
          </a:bodyPr>
          <a:lstStyle/>
          <a:p>
            <a:pPr algn="ctr"/>
            <a:r>
              <a:rPr lang="en-US" sz="1000" dirty="0"/>
              <a:t>A baseline, system-generated forecast. Forecast is created for each sales territory/segment</a:t>
            </a:r>
            <a:endParaRPr lang="en-US" sz="1000" dirty="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065725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38F66-1622-E07F-D7BE-D158CCA08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B030F-02BA-C41B-5FA2-6B4A8437A5C3}"/>
              </a:ext>
            </a:extLst>
          </p:cNvPr>
          <p:cNvSpPr>
            <a:spLocks noGrp="1"/>
          </p:cNvSpPr>
          <p:nvPr>
            <p:ph type="title"/>
          </p:nvPr>
        </p:nvSpPr>
        <p:spPr>
          <a:xfrm>
            <a:off x="419100" y="294640"/>
            <a:ext cx="8153401" cy="338554"/>
          </a:xfrm>
        </p:spPr>
        <p:txBody>
          <a:bodyPr/>
          <a:lstStyle/>
          <a:p>
            <a:r>
              <a:rPr lang="en-US" b="1" dirty="0">
                <a:solidFill>
                  <a:schemeClr val="tx2"/>
                </a:solidFill>
                <a:ea typeface="+mn-lt"/>
                <a:cs typeface="+mn-lt"/>
              </a:rPr>
              <a:t>Baseline Forecast Generation </a:t>
            </a:r>
            <a:r>
              <a:rPr lang="en-US" b="1" dirty="0"/>
              <a:t>- </a:t>
            </a:r>
            <a:r>
              <a:rPr lang="en-US" b="1" dirty="0">
                <a:solidFill>
                  <a:schemeClr val="tx2"/>
                </a:solidFill>
              </a:rPr>
              <a:t>Parameters</a:t>
            </a:r>
          </a:p>
        </p:txBody>
      </p:sp>
      <p:graphicFrame>
        <p:nvGraphicFramePr>
          <p:cNvPr id="7" name="Table 7">
            <a:extLst>
              <a:ext uri="{FF2B5EF4-FFF2-40B4-BE49-F238E27FC236}">
                <a16:creationId xmlns:a16="http://schemas.microsoft.com/office/drawing/2014/main" id="{04A51BF6-1E6D-04F3-77F4-0BB7097F0927}"/>
              </a:ext>
            </a:extLst>
          </p:cNvPr>
          <p:cNvGraphicFramePr>
            <a:graphicFrameLocks noGrp="1"/>
          </p:cNvGraphicFramePr>
          <p:nvPr>
            <p:extLst>
              <p:ext uri="{D42A27DB-BD31-4B8C-83A1-F6EECF244321}">
                <p14:modId xmlns:p14="http://schemas.microsoft.com/office/powerpoint/2010/main" val="3284885372"/>
              </p:ext>
            </p:extLst>
          </p:nvPr>
        </p:nvGraphicFramePr>
        <p:xfrm>
          <a:off x="419100" y="1022930"/>
          <a:ext cx="8153400" cy="1353128"/>
        </p:xfrm>
        <a:graphic>
          <a:graphicData uri="http://schemas.openxmlformats.org/drawingml/2006/table">
            <a:tbl>
              <a:tblPr firstRow="1" bandRow="1">
                <a:tableStyleId>{72833802-FEF1-4C79-8D5D-14CF1EAF98D9}</a:tableStyleId>
              </a:tblPr>
              <a:tblGrid>
                <a:gridCol w="1701497">
                  <a:extLst>
                    <a:ext uri="{9D8B030D-6E8A-4147-A177-3AD203B41FA5}">
                      <a16:colId xmlns:a16="http://schemas.microsoft.com/office/drawing/2014/main" val="718031972"/>
                    </a:ext>
                  </a:extLst>
                </a:gridCol>
                <a:gridCol w="6451903">
                  <a:extLst>
                    <a:ext uri="{9D8B030D-6E8A-4147-A177-3AD203B41FA5}">
                      <a16:colId xmlns:a16="http://schemas.microsoft.com/office/drawing/2014/main" val="1955053113"/>
                    </a:ext>
                  </a:extLst>
                </a:gridCol>
              </a:tblGrid>
              <a:tr h="264464">
                <a:tc>
                  <a:txBody>
                    <a:bodyPr/>
                    <a:lstStyle/>
                    <a:p>
                      <a:r>
                        <a:rPr lang="en-US" sz="900"/>
                        <a:t>Parameter</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r>
                        <a:rPr lang="en-US" sz="900"/>
                        <a:t>Purpose</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926781289"/>
                  </a:ext>
                </a:extLst>
              </a:tr>
              <a:tr h="2472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Input Data Parameters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specific dataset(s) the model will use to learn from</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620792711"/>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Time-Related Parameters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timeframe settings that define the scope of the calculation</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47844716"/>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Model Configuration Parameters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settings that control the statistical algorithm itself</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080469651"/>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Hierarchy &amp; Granularity Parameters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level of detail at which the forecast is calculated</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779808244"/>
                  </a:ext>
                </a:extLst>
              </a:tr>
            </a:tbl>
          </a:graphicData>
        </a:graphic>
      </p:graphicFrame>
      <p:sp>
        <p:nvSpPr>
          <p:cNvPr id="4" name="Rectangle 3">
            <a:extLst>
              <a:ext uri="{FF2B5EF4-FFF2-40B4-BE49-F238E27FC236}">
                <a16:creationId xmlns:a16="http://schemas.microsoft.com/office/drawing/2014/main" id="{3A562A09-8C3B-5153-D2C6-D584D76CB1A7}"/>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623616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F611B-1495-99B1-9CCD-E68E2D83B7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64E752-DAE2-B73C-57E1-A498358B801B}"/>
              </a:ext>
            </a:extLst>
          </p:cNvPr>
          <p:cNvSpPr>
            <a:spLocks noGrp="1"/>
          </p:cNvSpPr>
          <p:nvPr>
            <p:ph type="title"/>
          </p:nvPr>
        </p:nvSpPr>
        <p:spPr/>
        <p:txBody>
          <a:bodyPr/>
          <a:lstStyle/>
          <a:p>
            <a:r>
              <a:rPr lang="en-US" b="1" dirty="0">
                <a:solidFill>
                  <a:schemeClr val="tx2"/>
                </a:solidFill>
                <a:ea typeface="+mn-lt"/>
                <a:cs typeface="+mn-lt"/>
              </a:rPr>
              <a:t>Baseline Forecast Generation </a:t>
            </a:r>
            <a:r>
              <a:rPr lang="en-US" b="1" dirty="0"/>
              <a:t>- </a:t>
            </a:r>
            <a:r>
              <a:rPr lang="en-US" b="1" dirty="0">
                <a:solidFill>
                  <a:schemeClr val="tx2"/>
                </a:solidFill>
              </a:rPr>
              <a:t>Key Screens</a:t>
            </a:r>
          </a:p>
        </p:txBody>
      </p:sp>
      <p:sp>
        <p:nvSpPr>
          <p:cNvPr id="4" name="TextBox 3">
            <a:extLst>
              <a:ext uri="{FF2B5EF4-FFF2-40B4-BE49-F238E27FC236}">
                <a16:creationId xmlns:a16="http://schemas.microsoft.com/office/drawing/2014/main" id="{87363D41-8B2C-8F19-902C-01EEBECAE32B}"/>
              </a:ext>
            </a:extLst>
          </p:cNvPr>
          <p:cNvSpPr txBox="1"/>
          <p:nvPr/>
        </p:nvSpPr>
        <p:spPr>
          <a:xfrm>
            <a:off x="356616" y="633194"/>
            <a:ext cx="4572000" cy="307777"/>
          </a:xfrm>
          <a:prstGeom prst="rect">
            <a:avLst/>
          </a:prstGeom>
          <a:noFill/>
        </p:spPr>
        <p:txBody>
          <a:bodyPr wrap="square">
            <a:spAutoFit/>
          </a:bodyPr>
          <a:lstStyle/>
          <a:p>
            <a:r>
              <a:rPr lang="en-GB" sz="1400" i="0" dirty="0">
                <a:solidFill>
                  <a:schemeClr val="accent1"/>
                </a:solidFill>
                <a:effectLst/>
                <a:latin typeface="Arial" panose="020B0604020202020204" pitchFamily="34" charset="0"/>
                <a:cs typeface="Arial" panose="020B0604020202020204" pitchFamily="34" charset="0"/>
              </a:rPr>
              <a:t>Forecaster</a:t>
            </a:r>
            <a:endParaRPr lang="en-US" sz="1400" dirty="0">
              <a:solidFill>
                <a:schemeClr val="accent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617DAC6-FE2B-EA0C-5B04-0C7F5D2E23CD}"/>
              </a:ext>
            </a:extLst>
          </p:cNvPr>
          <p:cNvSpPr txBox="1"/>
          <p:nvPr/>
        </p:nvSpPr>
        <p:spPr>
          <a:xfrm>
            <a:off x="6470132" y="1025609"/>
            <a:ext cx="2190031" cy="2100575"/>
          </a:xfrm>
          <a:prstGeom prst="rect">
            <a:avLst/>
          </a:prstGeom>
          <a:noFill/>
          <a:ln>
            <a:noFill/>
          </a:ln>
        </p:spPr>
        <p:txBody>
          <a:bodyPr wrap="square" rtlCol="0">
            <a:spAutoFit/>
          </a:bodyPr>
          <a:lstStyle/>
          <a:p>
            <a:pPr marL="180975" indent="-180975" algn="l">
              <a:spcBef>
                <a:spcPts val="300"/>
              </a:spcBef>
              <a:spcAft>
                <a:spcPts val="300"/>
              </a:spcAft>
              <a:buClrTx/>
              <a:buFont typeface="Arial" panose="020B0604020202020204" pitchFamily="34" charset="0"/>
              <a:buChar char="•"/>
            </a:pPr>
            <a:r>
              <a:rPr lang="en-US" sz="1050" b="0" dirty="0">
                <a:solidFill>
                  <a:schemeClr val="tx2"/>
                </a:solidFill>
                <a:latin typeface="Arial" panose="020B0604020202020204" pitchFamily="34" charset="0"/>
                <a:ea typeface="Verdana" charset="0"/>
                <a:cs typeface="Arial" panose="020B0604020202020204" pitchFamily="34" charset="0"/>
              </a:rPr>
              <a:t>Generate dat</a:t>
            </a:r>
            <a:r>
              <a:rPr lang="en-US" sz="1050" dirty="0">
                <a:solidFill>
                  <a:schemeClr val="tx2"/>
                </a:solidFill>
                <a:latin typeface="Arial" panose="020B0604020202020204" pitchFamily="34" charset="0"/>
                <a:ea typeface="Verdana" charset="0"/>
                <a:cs typeface="Arial" panose="020B0604020202020204" pitchFamily="34" charset="0"/>
              </a:rPr>
              <a:t>a collections to compile all historical data needed for forecaster</a:t>
            </a:r>
          </a:p>
          <a:p>
            <a:pPr marL="180975" indent="-180975" algn="l">
              <a:spcBef>
                <a:spcPts val="300"/>
              </a:spcBef>
              <a:spcAft>
                <a:spcPts val="300"/>
              </a:spcAft>
              <a:buClrTx/>
              <a:buFont typeface="Arial" panose="020B0604020202020204" pitchFamily="34" charset="0"/>
              <a:buChar char="•"/>
            </a:pPr>
            <a:r>
              <a:rPr lang="en-US" sz="1050" b="0" dirty="0">
                <a:solidFill>
                  <a:schemeClr val="tx2"/>
                </a:solidFill>
                <a:latin typeface="Arial" panose="020B0604020202020204" pitchFamily="34" charset="0"/>
                <a:ea typeface="Verdana" charset="0"/>
                <a:cs typeface="Arial" panose="020B0604020202020204" pitchFamily="34" charset="0"/>
              </a:rPr>
              <a:t>Build a forecaster model for each algorithm to allow t</a:t>
            </a:r>
            <a:r>
              <a:rPr lang="en-US" sz="1050" dirty="0">
                <a:solidFill>
                  <a:schemeClr val="tx2"/>
                </a:solidFill>
                <a:latin typeface="Arial" panose="020B0604020202020204" pitchFamily="34" charset="0"/>
                <a:ea typeface="Verdana" charset="0"/>
                <a:cs typeface="Arial" panose="020B0604020202020204" pitchFamily="34" charset="0"/>
              </a:rPr>
              <a:t>he most accurate forecast</a:t>
            </a:r>
          </a:p>
          <a:p>
            <a:pPr marL="180975" indent="-180975" algn="l">
              <a:spcBef>
                <a:spcPts val="300"/>
              </a:spcBef>
              <a:spcAft>
                <a:spcPts val="300"/>
              </a:spcAft>
              <a:buClrTx/>
              <a:buFont typeface="Arial" panose="020B0604020202020204" pitchFamily="34" charset="0"/>
              <a:buChar char="•"/>
            </a:pPr>
            <a:r>
              <a:rPr lang="en-US" sz="1050" dirty="0">
                <a:solidFill>
                  <a:schemeClr val="tx2"/>
                </a:solidFill>
                <a:latin typeface="Arial" panose="020B0604020202020204" pitchFamily="34" charset="0"/>
                <a:ea typeface="Verdana" charset="0"/>
                <a:cs typeface="Arial" panose="020B0604020202020204" pitchFamily="34" charset="0"/>
              </a:rPr>
              <a:t>Create forecaster actions to trigger the models and generate a forecast for each hierarchy node</a:t>
            </a:r>
          </a:p>
          <a:p>
            <a:pPr marL="180975" indent="-180975" algn="l">
              <a:spcBef>
                <a:spcPts val="300"/>
              </a:spcBef>
              <a:spcAft>
                <a:spcPts val="300"/>
              </a:spcAft>
              <a:buClrTx/>
              <a:buFont typeface="Arial" panose="020B0604020202020204" pitchFamily="34" charset="0"/>
              <a:buChar char="•"/>
            </a:pPr>
            <a:endParaRPr lang="en-US" sz="1050" b="0" dirty="0">
              <a:solidFill>
                <a:schemeClr val="tx2"/>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D0A40118-149F-8F73-C6D7-BDECA086AD98}"/>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pic>
        <p:nvPicPr>
          <p:cNvPr id="5" name="Picture 4">
            <a:extLst>
              <a:ext uri="{FF2B5EF4-FFF2-40B4-BE49-F238E27FC236}">
                <a16:creationId xmlns:a16="http://schemas.microsoft.com/office/drawing/2014/main" id="{303BB345-CE46-68BC-C04C-6E73692304E1}"/>
              </a:ext>
            </a:extLst>
          </p:cNvPr>
          <p:cNvPicPr>
            <a:picLocks noGrp="1" noRot="1" noChangeAspect="1" noMove="1" noResize="1" noEditPoints="1" noAdjustHandles="1" noChangeArrowheads="1" noChangeShapeType="1" noCrop="1"/>
          </p:cNvPicPr>
          <p:nvPr/>
        </p:nvPicPr>
        <p:blipFill>
          <a:blip r:embed="rId2"/>
          <a:stretch>
            <a:fillRect/>
          </a:stretch>
        </p:blipFill>
        <p:spPr>
          <a:xfrm>
            <a:off x="419100" y="1048434"/>
            <a:ext cx="6082715" cy="2894302"/>
          </a:xfrm>
          <a:prstGeom prst="rect">
            <a:avLst/>
          </a:prstGeom>
          <a:ln>
            <a:solidFill>
              <a:schemeClr val="tx1"/>
            </a:solidFill>
          </a:ln>
        </p:spPr>
      </p:pic>
      <p:sp>
        <p:nvSpPr>
          <p:cNvPr id="8" name="Rectangle 7">
            <a:extLst>
              <a:ext uri="{FF2B5EF4-FFF2-40B4-BE49-F238E27FC236}">
                <a16:creationId xmlns:a16="http://schemas.microsoft.com/office/drawing/2014/main" id="{F4823E0D-D8C4-69BD-5C69-1699F4F74062}"/>
              </a:ext>
            </a:extLst>
          </p:cNvPr>
          <p:cNvSpPr>
            <a:spLocks noGrp="1" noRot="1" noMove="1" noResize="1" noEditPoints="1" noAdjustHandles="1" noChangeArrowheads="1" noChangeShapeType="1"/>
          </p:cNvSpPr>
          <p:nvPr/>
        </p:nvSpPr>
        <p:spPr>
          <a:xfrm>
            <a:off x="5089453" y="1061049"/>
            <a:ext cx="1396409" cy="87267"/>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67011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9A27A-881E-4A41-FBA5-B9A51DF83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9E408F-503B-A458-78C8-8BADEE452A7C}"/>
              </a:ext>
            </a:extLst>
          </p:cNvPr>
          <p:cNvSpPr>
            <a:spLocks noGrp="1"/>
          </p:cNvSpPr>
          <p:nvPr>
            <p:ph type="title"/>
          </p:nvPr>
        </p:nvSpPr>
        <p:spPr/>
        <p:txBody>
          <a:bodyPr/>
          <a:lstStyle/>
          <a:p>
            <a:r>
              <a:rPr lang="en-US" b="1" dirty="0">
                <a:solidFill>
                  <a:schemeClr val="tx2"/>
                </a:solidFill>
                <a:ea typeface="+mn-lt"/>
                <a:cs typeface="+mn-lt"/>
              </a:rPr>
              <a:t>Baseline Forecast Generation </a:t>
            </a:r>
            <a:r>
              <a:rPr lang="en-US" b="1" dirty="0"/>
              <a:t>- </a:t>
            </a:r>
            <a:r>
              <a:rPr lang="en-US" b="1" dirty="0">
                <a:solidFill>
                  <a:schemeClr val="tx2"/>
                </a:solidFill>
              </a:rPr>
              <a:t>Hints and Tips</a:t>
            </a:r>
          </a:p>
        </p:txBody>
      </p:sp>
      <p:sp>
        <p:nvSpPr>
          <p:cNvPr id="3" name="Content Placeholder 2">
            <a:extLst>
              <a:ext uri="{FF2B5EF4-FFF2-40B4-BE49-F238E27FC236}">
                <a16:creationId xmlns:a16="http://schemas.microsoft.com/office/drawing/2014/main" id="{7CD9DB71-B51B-0F69-6F49-0E03A45E474D}"/>
              </a:ext>
            </a:extLst>
          </p:cNvPr>
          <p:cNvSpPr>
            <a:spLocks noGrp="1"/>
          </p:cNvSpPr>
          <p:nvPr>
            <p:ph idx="1"/>
          </p:nvPr>
        </p:nvSpPr>
        <p:spPr/>
        <p:txBody>
          <a:bodyPr lIns="0" rIns="0"/>
          <a:lstStyle/>
          <a:p>
            <a:pPr>
              <a:spcBef>
                <a:spcPts val="300"/>
              </a:spcBef>
              <a:spcAft>
                <a:spcPts val="300"/>
              </a:spcAft>
              <a:buClr>
                <a:schemeClr val="accent1"/>
              </a:buClr>
            </a:pPr>
            <a:r>
              <a:rPr lang="en-US" sz="1400" dirty="0"/>
              <a:t>Prioritize Data Quality: Ensure historical data is clean and consistent. Forecaster helps identify gaps, but manual removal of outliers or handling zero-values before running the model improves accuracy.</a:t>
            </a:r>
          </a:p>
          <a:p>
            <a:pPr>
              <a:spcBef>
                <a:spcPts val="300"/>
              </a:spcBef>
              <a:spcAft>
                <a:spcPts val="300"/>
              </a:spcAft>
              <a:buClr>
                <a:schemeClr val="accent1"/>
              </a:buClr>
            </a:pPr>
            <a:r>
              <a:rPr lang="en-US" sz="1400" dirty="0"/>
              <a:t>Leverage Automated ML Models: Use "Best Fit" to allow Anaplan's ML engines to evaluate data and select the best algorithm among alternatives like Prophet or </a:t>
            </a:r>
            <a:r>
              <a:rPr lang="en-US" sz="1400" dirty="0" err="1"/>
              <a:t>XGBoost</a:t>
            </a:r>
            <a:r>
              <a:rPr lang="en-US" sz="1400" dirty="0"/>
              <a:t>.</a:t>
            </a:r>
          </a:p>
          <a:p>
            <a:pPr>
              <a:spcBef>
                <a:spcPts val="300"/>
              </a:spcBef>
              <a:spcAft>
                <a:spcPts val="300"/>
              </a:spcAft>
              <a:buClr>
                <a:schemeClr val="accent1"/>
              </a:buClr>
            </a:pPr>
            <a:r>
              <a:rPr lang="en-US" sz="1400" dirty="0"/>
              <a:t>Use Related Data for Context: Improve accuracy by incorporating external factors (e.g., promotional calendars, inflation rates, or weather data).</a:t>
            </a:r>
          </a:p>
          <a:p>
            <a:pPr>
              <a:spcBef>
                <a:spcPts val="300"/>
              </a:spcBef>
              <a:spcAft>
                <a:spcPts val="300"/>
              </a:spcAft>
              <a:buClr>
                <a:schemeClr val="accent1"/>
              </a:buClr>
            </a:pPr>
            <a:r>
              <a:rPr lang="en-US" sz="1400" dirty="0" err="1"/>
              <a:t>Opt</a:t>
            </a:r>
            <a:r>
              <a:rPr lang="en-US" sz="1400" dirty="0"/>
              <a:t> for Coarser Granularity: Follow the "granularity = responsibility" principle to improve statistical stability, as too much detail often reduces accuracy.</a:t>
            </a:r>
          </a:p>
          <a:p>
            <a:pPr>
              <a:spcBef>
                <a:spcPts val="300"/>
              </a:spcBef>
              <a:spcAft>
                <a:spcPts val="300"/>
              </a:spcAft>
              <a:buClr>
                <a:schemeClr val="accent1"/>
              </a:buClr>
            </a:pPr>
            <a:r>
              <a:rPr lang="en-US" sz="1400" dirty="0"/>
              <a:t>Implement </a:t>
            </a:r>
            <a:r>
              <a:rPr lang="en-US" sz="1400" dirty="0" err="1"/>
              <a:t>Backtesting</a:t>
            </a:r>
            <a:r>
              <a:rPr lang="en-US" sz="1400" dirty="0"/>
              <a:t>: Use a "</a:t>
            </a:r>
            <a:r>
              <a:rPr lang="en-US" sz="1400" dirty="0" err="1"/>
              <a:t>backtest</a:t>
            </a:r>
            <a:r>
              <a:rPr lang="en-US" sz="1400" dirty="0"/>
              <a:t> window" (e.g., forecasting the last 12 months using older data) to evaluate model performance before deploying.</a:t>
            </a:r>
          </a:p>
          <a:p>
            <a:pPr>
              <a:spcBef>
                <a:spcPts val="300"/>
              </a:spcBef>
              <a:spcAft>
                <a:spcPts val="300"/>
              </a:spcAft>
              <a:buClr>
                <a:schemeClr val="accent1"/>
              </a:buClr>
            </a:pPr>
            <a:r>
              <a:rPr lang="en-US" sz="1400" dirty="0"/>
              <a:t>Structure Your Data: Create dedicated, clearly named saved views for source modules to easily identify historical data, attributes, and results.</a:t>
            </a:r>
          </a:p>
          <a:p>
            <a:pPr>
              <a:spcBef>
                <a:spcPts val="300"/>
              </a:spcBef>
              <a:spcAft>
                <a:spcPts val="300"/>
              </a:spcAft>
              <a:buClr>
                <a:schemeClr val="accent1"/>
              </a:buClr>
            </a:pPr>
            <a:r>
              <a:rPr lang="en-US" sz="1400" dirty="0"/>
              <a:t>Manage Capacity: Keep an eye on "planning units" (SKU/location combinations) as they consume allocated quota per run</a:t>
            </a:r>
          </a:p>
        </p:txBody>
      </p:sp>
      <p:sp>
        <p:nvSpPr>
          <p:cNvPr id="4" name="Rectangle 3">
            <a:extLst>
              <a:ext uri="{FF2B5EF4-FFF2-40B4-BE49-F238E27FC236}">
                <a16:creationId xmlns:a16="http://schemas.microsoft.com/office/drawing/2014/main" id="{DC74E845-E85D-C8B5-3F05-012ABDF215D5}"/>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3319162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9BE54-5625-F4B9-05DB-56C248035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0DFA4-0A0A-1B25-B9E5-2D63FBAE8F58}"/>
              </a:ext>
            </a:extLst>
          </p:cNvPr>
          <p:cNvSpPr>
            <a:spLocks noGrp="1"/>
          </p:cNvSpPr>
          <p:nvPr>
            <p:ph type="title"/>
          </p:nvPr>
        </p:nvSpPr>
        <p:spPr/>
        <p:txBody>
          <a:bodyPr/>
          <a:lstStyle/>
          <a:p>
            <a:r>
              <a:rPr lang="en-US" b="1" dirty="0">
                <a:solidFill>
                  <a:schemeClr val="tx2"/>
                </a:solidFill>
                <a:ea typeface="+mn-lt"/>
                <a:cs typeface="+mn-lt"/>
              </a:rPr>
              <a:t>Baseline Forecast Generation </a:t>
            </a:r>
            <a:r>
              <a:rPr lang="en-US" b="1" dirty="0"/>
              <a:t>- </a:t>
            </a:r>
            <a:r>
              <a:rPr lang="en-US" b="1" dirty="0">
                <a:solidFill>
                  <a:schemeClr val="tx2"/>
                </a:solidFill>
              </a:rPr>
              <a:t>Implementation and Configuration Considerations</a:t>
            </a:r>
          </a:p>
        </p:txBody>
      </p:sp>
      <p:sp>
        <p:nvSpPr>
          <p:cNvPr id="3" name="Content Placeholder 2">
            <a:extLst>
              <a:ext uri="{FF2B5EF4-FFF2-40B4-BE49-F238E27FC236}">
                <a16:creationId xmlns:a16="http://schemas.microsoft.com/office/drawing/2014/main" id="{DA9B26BF-7690-5E24-0612-D89FC974F659}"/>
              </a:ext>
            </a:extLst>
          </p:cNvPr>
          <p:cNvSpPr>
            <a:spLocks noGrp="1"/>
          </p:cNvSpPr>
          <p:nvPr>
            <p:ph idx="1"/>
          </p:nvPr>
        </p:nvSpPr>
        <p:spPr>
          <a:xfrm>
            <a:off x="419100" y="933172"/>
            <a:ext cx="8153400" cy="3984800"/>
          </a:xfrm>
        </p:spPr>
        <p:txBody>
          <a:bodyPr lIns="0" rIns="0"/>
          <a:lstStyle/>
          <a:p>
            <a:pPr>
              <a:spcBef>
                <a:spcPts val="300"/>
              </a:spcBef>
              <a:spcAft>
                <a:spcPts val="300"/>
              </a:spcAft>
              <a:buClr>
                <a:schemeClr val="accent1"/>
              </a:buClr>
            </a:pPr>
            <a:r>
              <a:rPr lang="en-US" sz="1400" dirty="0"/>
              <a:t>Create a Settings Module (SYS | Forecast Settings):</a:t>
            </a:r>
          </a:p>
          <a:p>
            <a:pPr lvl="1"/>
            <a:r>
              <a:rPr lang="en-US" sz="1400" dirty="0"/>
              <a:t>Build a simple module for administrators to control the key forecast parameters (e.g., Historical Period to Use, Forecast Method).</a:t>
            </a:r>
          </a:p>
          <a:p>
            <a:pPr>
              <a:spcBef>
                <a:spcPts val="300"/>
              </a:spcBef>
              <a:spcAft>
                <a:spcPts val="300"/>
              </a:spcAft>
              <a:buClr>
                <a:schemeClr val="accent1"/>
              </a:buClr>
            </a:pPr>
            <a:r>
              <a:rPr lang="en-US" sz="1400" dirty="0"/>
              <a:t>Build the Calculation Module (CALC | Baseline Forecast):</a:t>
            </a:r>
          </a:p>
          <a:p>
            <a:pPr lvl="1"/>
            <a:r>
              <a:rPr lang="en-US" sz="1400" dirty="0"/>
              <a:t>This is the engine. Create a module dimensioned by your forecast granularity (e.g., Product Family, Territory, Time).</a:t>
            </a:r>
          </a:p>
          <a:p>
            <a:pPr lvl="1"/>
            <a:r>
              <a:rPr lang="en-US" sz="1400" dirty="0"/>
              <a:t>Use Anaplan's FORECAST() function in a line item here, pointing to your historical data and the settings from the module above.</a:t>
            </a:r>
          </a:p>
          <a:p>
            <a:pPr>
              <a:spcBef>
                <a:spcPts val="300"/>
              </a:spcBef>
              <a:spcAft>
                <a:spcPts val="300"/>
              </a:spcAft>
              <a:buClr>
                <a:schemeClr val="accent1"/>
              </a:buClr>
            </a:pPr>
            <a:r>
              <a:rPr lang="en-US" sz="1400" dirty="0"/>
              <a:t>Create a Results Module (DAT | Stat Forecast):</a:t>
            </a:r>
          </a:p>
          <a:p>
            <a:pPr lvl="1"/>
            <a:r>
              <a:rPr lang="en-US" sz="1400" dirty="0"/>
              <a:t>Create a separate, formula-free module with the same dimensions. This module will store the final baseline forecast numbers. This is a critical performance best practice.</a:t>
            </a:r>
          </a:p>
          <a:p>
            <a:pPr>
              <a:spcBef>
                <a:spcPts val="300"/>
              </a:spcBef>
              <a:spcAft>
                <a:spcPts val="300"/>
              </a:spcAft>
              <a:buClr>
                <a:schemeClr val="accent1"/>
              </a:buClr>
            </a:pPr>
            <a:r>
              <a:rPr lang="en-US" sz="1400" dirty="0"/>
              <a:t>Create an Action:</a:t>
            </a:r>
          </a:p>
          <a:p>
            <a:pPr lvl="1"/>
            <a:r>
              <a:rPr lang="en-US" sz="1400" dirty="0"/>
              <a:t>Build an Anaplan Action that copies the result from the CALC module into the DAT module.</a:t>
            </a:r>
          </a:p>
        </p:txBody>
      </p:sp>
      <p:sp>
        <p:nvSpPr>
          <p:cNvPr id="4" name="Rectangle 3">
            <a:extLst>
              <a:ext uri="{FF2B5EF4-FFF2-40B4-BE49-F238E27FC236}">
                <a16:creationId xmlns:a16="http://schemas.microsoft.com/office/drawing/2014/main" id="{0D0A34A6-EEF7-2CBE-9180-5A6D1DFC1FC0}"/>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4224481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4D952-04D6-6036-7C0F-ED00265D4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6477A0-0CD9-20F5-E721-40DE5F524D3B}"/>
              </a:ext>
            </a:extLst>
          </p:cNvPr>
          <p:cNvSpPr>
            <a:spLocks noGrp="1"/>
          </p:cNvSpPr>
          <p:nvPr>
            <p:ph type="title"/>
          </p:nvPr>
        </p:nvSpPr>
        <p:spPr/>
        <p:txBody>
          <a:bodyPr/>
          <a:lstStyle/>
          <a:p>
            <a:r>
              <a:rPr lang="en-US" dirty="0">
                <a:solidFill>
                  <a:schemeClr val="tx2"/>
                </a:solidFill>
                <a:ea typeface="+mn-lt"/>
                <a:cs typeface="+mn-lt"/>
              </a:rPr>
              <a:t>Forecast Review and Adjustment</a:t>
            </a:r>
          </a:p>
        </p:txBody>
      </p:sp>
    </p:spTree>
    <p:extLst>
      <p:ext uri="{BB962C8B-B14F-4D97-AF65-F5344CB8AC3E}">
        <p14:creationId xmlns:p14="http://schemas.microsoft.com/office/powerpoint/2010/main" val="3806169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76B6C-EB2A-8CE1-93E2-8451508DBD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3AEF0E-993F-3CE1-6BD4-4A9E24D218B0}"/>
              </a:ext>
            </a:extLst>
          </p:cNvPr>
          <p:cNvSpPr>
            <a:spLocks noGrp="1"/>
          </p:cNvSpPr>
          <p:nvPr>
            <p:ph type="title"/>
          </p:nvPr>
        </p:nvSpPr>
        <p:spPr/>
        <p:txBody>
          <a:bodyPr/>
          <a:lstStyle/>
          <a:p>
            <a:r>
              <a:rPr lang="en-US" b="1" dirty="0">
                <a:solidFill>
                  <a:schemeClr val="tx2"/>
                </a:solidFill>
                <a:ea typeface="+mn-lt"/>
                <a:cs typeface="+mn-lt"/>
              </a:rPr>
              <a:t>Forecast Review and Adjustment - </a:t>
            </a:r>
            <a:r>
              <a:rPr lang="en-US" b="1" dirty="0">
                <a:solidFill>
                  <a:schemeClr val="tx2"/>
                </a:solidFill>
              </a:rPr>
              <a:t>Key Concepts</a:t>
            </a:r>
          </a:p>
        </p:txBody>
      </p:sp>
      <p:sp>
        <p:nvSpPr>
          <p:cNvPr id="3" name="Content Placeholder 2">
            <a:extLst>
              <a:ext uri="{FF2B5EF4-FFF2-40B4-BE49-F238E27FC236}">
                <a16:creationId xmlns:a16="http://schemas.microsoft.com/office/drawing/2014/main" id="{DC65174A-4647-C73C-66F8-E1E4CEF23468}"/>
              </a:ext>
            </a:extLst>
          </p:cNvPr>
          <p:cNvSpPr>
            <a:spLocks noGrp="1"/>
          </p:cNvSpPr>
          <p:nvPr>
            <p:ph idx="1"/>
          </p:nvPr>
        </p:nvSpPr>
        <p:spPr/>
        <p:txBody>
          <a:bodyPr lIns="0" rIns="0"/>
          <a:lstStyle/>
          <a:p>
            <a:pPr>
              <a:spcBef>
                <a:spcPts val="300"/>
              </a:spcBef>
              <a:spcAft>
                <a:spcPts val="300"/>
              </a:spcAft>
              <a:buClr>
                <a:schemeClr val="accent1"/>
              </a:buClr>
            </a:pPr>
            <a:r>
              <a:rPr lang="en-US" sz="1400" dirty="0"/>
              <a:t>The "Bottom-Up" Forecast: Applying Field Intelligence</a:t>
            </a:r>
            <a:br>
              <a:rPr lang="en-US" sz="1400" dirty="0"/>
            </a:br>
            <a:r>
              <a:rPr lang="en-US" sz="1400" dirty="0"/>
              <a:t>This is where sales reps, who are closest to the customer, enrich the statistical baseline. They use their real-time, deal-level knowledge (e.g., "this deal is closing early," "that customer's budget is frozen") to adjust the system-generated number and submit their own "Commit." This adds essential human intelligence that a machine cannot have.</a:t>
            </a:r>
          </a:p>
          <a:p>
            <a:pPr>
              <a:spcBef>
                <a:spcPts val="300"/>
              </a:spcBef>
              <a:spcAft>
                <a:spcPts val="300"/>
              </a:spcAft>
              <a:buClr>
                <a:schemeClr val="accent1"/>
              </a:buClr>
            </a:pPr>
            <a:r>
              <a:rPr lang="en-US" sz="1400" dirty="0"/>
              <a:t>The "Top-Down" Forecast: Adding Strategic Judgment</a:t>
            </a:r>
            <a:br>
              <a:rPr lang="en-US" sz="1400" dirty="0"/>
            </a:br>
            <a:r>
              <a:rPr lang="en-US" sz="1400" dirty="0"/>
              <a:t>This is where sales managers apply a higher-level, portfolio view. They review their team's combined submissions and add a "Management Overlay" to account for broader factors an individual rep might not see, such as regional market risks, competitive threats, or the potential lift from a new marketing campaign. This provides crucial risk management.</a:t>
            </a:r>
          </a:p>
          <a:p>
            <a:pPr>
              <a:spcBef>
                <a:spcPts val="300"/>
              </a:spcBef>
              <a:spcAft>
                <a:spcPts val="300"/>
              </a:spcAft>
              <a:buClr>
                <a:schemeClr val="accent1"/>
              </a:buClr>
            </a:pPr>
            <a:r>
              <a:rPr lang="en-US" sz="1400" dirty="0"/>
              <a:t>Creating a Transparent, Collaborative Forecast</a:t>
            </a:r>
            <a:br>
              <a:rPr lang="en-US" sz="1400" dirty="0"/>
            </a:br>
            <a:r>
              <a:rPr lang="en-US" sz="1400" dirty="0"/>
              <a:t>This process brings the "science" (the baseline) and the "art" (human judgment) together in one system. By combining the statistical forecast, the reps' bottom-up submissions, and the managers' top-down adjustments, it creates a single, auditable forecast number. This transparency builds trust and accountability for the final number across the organization.</a:t>
            </a:r>
          </a:p>
          <a:p>
            <a:pPr>
              <a:spcBef>
                <a:spcPts val="300"/>
              </a:spcBef>
              <a:spcAft>
                <a:spcPts val="300"/>
              </a:spcAft>
              <a:buClr>
                <a:schemeClr val="accent1"/>
              </a:buClr>
            </a:pPr>
            <a:endParaRPr lang="en-US" sz="1200" dirty="0"/>
          </a:p>
        </p:txBody>
      </p:sp>
      <p:sp>
        <p:nvSpPr>
          <p:cNvPr id="4" name="Rectangle 3">
            <a:extLst>
              <a:ext uri="{FF2B5EF4-FFF2-40B4-BE49-F238E27FC236}">
                <a16:creationId xmlns:a16="http://schemas.microsoft.com/office/drawing/2014/main" id="{350E772A-22F7-656E-21CB-6F5F2C129734}"/>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216636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96AA9-6A4B-A93A-FBCB-2456DB51C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19481-7738-8369-1F21-4E8AF6CDA5A5}"/>
              </a:ext>
            </a:extLst>
          </p:cNvPr>
          <p:cNvSpPr>
            <a:spLocks noGrp="1"/>
          </p:cNvSpPr>
          <p:nvPr>
            <p:ph type="title"/>
          </p:nvPr>
        </p:nvSpPr>
        <p:spPr/>
        <p:txBody>
          <a:bodyPr/>
          <a:lstStyle/>
          <a:p>
            <a:r>
              <a:rPr lang="en-US" b="1" dirty="0">
                <a:solidFill>
                  <a:schemeClr val="tx2"/>
                </a:solidFill>
                <a:ea typeface="+mn-lt"/>
                <a:cs typeface="+mn-lt"/>
              </a:rPr>
              <a:t>Forecast Review and Adjustment - </a:t>
            </a:r>
            <a:r>
              <a:rPr lang="en-US" b="1" dirty="0">
                <a:solidFill>
                  <a:schemeClr val="tx2"/>
                </a:solidFill>
              </a:rPr>
              <a:t>Process</a:t>
            </a:r>
          </a:p>
        </p:txBody>
      </p:sp>
      <p:sp>
        <p:nvSpPr>
          <p:cNvPr id="45" name="TextBox 44">
            <a:extLst>
              <a:ext uri="{FF2B5EF4-FFF2-40B4-BE49-F238E27FC236}">
                <a16:creationId xmlns:a16="http://schemas.microsoft.com/office/drawing/2014/main" id="{243D3DB3-6ADB-412C-A698-15DB504BE8C5}"/>
              </a:ext>
            </a:extLst>
          </p:cNvPr>
          <p:cNvSpPr txBox="1"/>
          <p:nvPr/>
        </p:nvSpPr>
        <p:spPr>
          <a:xfrm>
            <a:off x="696497" y="2901120"/>
            <a:ext cx="1528519" cy="400110"/>
          </a:xfrm>
          <a:prstGeom prst="rect">
            <a:avLst/>
          </a:prstGeom>
          <a:noFill/>
        </p:spPr>
        <p:txBody>
          <a:bodyPr wrap="square" rtlCol="0">
            <a:spAutoFit/>
          </a:bodyPr>
          <a:lstStyle/>
          <a:p>
            <a:pPr algn="ctr"/>
            <a:r>
              <a:rPr lang="en-US" sz="1000" dirty="0"/>
              <a:t>System-generated "Stat Forecast."</a:t>
            </a:r>
            <a:endParaRPr lang="en-US" sz="1000" dirty="0">
              <a:solidFill>
                <a:schemeClr val="bg1"/>
              </a:solidFill>
              <a:latin typeface="Arial" panose="020B0604020202020204" pitchFamily="34" charset="0"/>
              <a:ea typeface="Verdana" charset="0"/>
              <a:cs typeface="Arial" panose="020B0604020202020204" pitchFamily="34" charset="0"/>
            </a:endParaRPr>
          </a:p>
        </p:txBody>
      </p:sp>
      <p:sp>
        <p:nvSpPr>
          <p:cNvPr id="65" name="Oval 64">
            <a:extLst>
              <a:ext uri="{FF2B5EF4-FFF2-40B4-BE49-F238E27FC236}">
                <a16:creationId xmlns:a16="http://schemas.microsoft.com/office/drawing/2014/main" id="{451FC8B0-709B-0B47-D58D-DDE23CE0F046}"/>
              </a:ext>
            </a:extLst>
          </p:cNvPr>
          <p:cNvSpPr/>
          <p:nvPr/>
        </p:nvSpPr>
        <p:spPr>
          <a:xfrm>
            <a:off x="1193257" y="2019541"/>
            <a:ext cx="535000" cy="535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Arial" panose="020B0604020202020204" pitchFamily="34" charset="0"/>
                <a:ea typeface="Verdana" charset="0"/>
                <a:cs typeface="Arial" panose="020B0604020202020204" pitchFamily="34" charset="0"/>
              </a:rPr>
              <a:t>In</a:t>
            </a:r>
          </a:p>
        </p:txBody>
      </p:sp>
      <p:sp>
        <p:nvSpPr>
          <p:cNvPr id="66" name="Oval 65">
            <a:extLst>
              <a:ext uri="{FF2B5EF4-FFF2-40B4-BE49-F238E27FC236}">
                <a16:creationId xmlns:a16="http://schemas.microsoft.com/office/drawing/2014/main" id="{4669C207-37FA-3742-615D-FED6C10B85B2}"/>
              </a:ext>
            </a:extLst>
          </p:cNvPr>
          <p:cNvSpPr/>
          <p:nvPr/>
        </p:nvSpPr>
        <p:spPr>
          <a:xfrm>
            <a:off x="7415742" y="2022768"/>
            <a:ext cx="535000" cy="535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bg1"/>
                </a:solidFill>
                <a:latin typeface="Arial" panose="020B0604020202020204" pitchFamily="34" charset="0"/>
                <a:ea typeface="Verdana" charset="0"/>
                <a:cs typeface="Arial" panose="020B0604020202020204" pitchFamily="34" charset="0"/>
              </a:rPr>
              <a:t>Out</a:t>
            </a:r>
          </a:p>
        </p:txBody>
      </p:sp>
      <p:sp>
        <p:nvSpPr>
          <p:cNvPr id="67" name="Rounded Rectangle 66">
            <a:extLst>
              <a:ext uri="{FF2B5EF4-FFF2-40B4-BE49-F238E27FC236}">
                <a16:creationId xmlns:a16="http://schemas.microsoft.com/office/drawing/2014/main" id="{CB3E6182-9FF5-1D7D-D131-E6F69E00B2FD}"/>
              </a:ext>
            </a:extLst>
          </p:cNvPr>
          <p:cNvSpPr/>
          <p:nvPr/>
        </p:nvSpPr>
        <p:spPr>
          <a:xfrm>
            <a:off x="2921514" y="1922798"/>
            <a:ext cx="1053857" cy="71801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800" dirty="0"/>
              <a:t>Sales reps review and adjust the baseline forecast with their deal-level insights.</a:t>
            </a:r>
            <a:endParaRPr lang="en-US" sz="800" dirty="0">
              <a:solidFill>
                <a:schemeClr val="bg1"/>
              </a:solidFill>
              <a:latin typeface="Arial" panose="020B0604020202020204" pitchFamily="34" charset="0"/>
              <a:ea typeface="Verdana" charset="0"/>
              <a:cs typeface="Arial" panose="020B0604020202020204" pitchFamily="34" charset="0"/>
            </a:endParaRPr>
          </a:p>
        </p:txBody>
      </p:sp>
      <p:cxnSp>
        <p:nvCxnSpPr>
          <p:cNvPr id="72" name="Straight Arrow Connector 71">
            <a:extLst>
              <a:ext uri="{FF2B5EF4-FFF2-40B4-BE49-F238E27FC236}">
                <a16:creationId xmlns:a16="http://schemas.microsoft.com/office/drawing/2014/main" id="{B3FB1FE8-DAA9-202E-3A02-7F1602F7D7CE}"/>
              </a:ext>
            </a:extLst>
          </p:cNvPr>
          <p:cNvCxnSpPr>
            <a:cxnSpLocks/>
            <a:stCxn id="65" idx="6"/>
            <a:endCxn id="67" idx="1"/>
          </p:cNvCxnSpPr>
          <p:nvPr/>
        </p:nvCxnSpPr>
        <p:spPr>
          <a:xfrm flipV="1">
            <a:off x="1728257" y="2281807"/>
            <a:ext cx="1193257" cy="523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DFAFCFC4-6667-1622-E895-09DC7759247A}"/>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
        <p:nvSpPr>
          <p:cNvPr id="9" name="TextBox 8">
            <a:extLst>
              <a:ext uri="{FF2B5EF4-FFF2-40B4-BE49-F238E27FC236}">
                <a16:creationId xmlns:a16="http://schemas.microsoft.com/office/drawing/2014/main" id="{B67F7886-5B98-AA8E-3A82-AB27418177EB}"/>
              </a:ext>
            </a:extLst>
          </p:cNvPr>
          <p:cNvSpPr txBox="1"/>
          <p:nvPr/>
        </p:nvSpPr>
        <p:spPr>
          <a:xfrm>
            <a:off x="6918982" y="2901120"/>
            <a:ext cx="1528519" cy="707886"/>
          </a:xfrm>
          <a:prstGeom prst="rect">
            <a:avLst/>
          </a:prstGeom>
          <a:noFill/>
        </p:spPr>
        <p:txBody>
          <a:bodyPr wrap="square" rtlCol="0">
            <a:spAutoFit/>
          </a:bodyPr>
          <a:lstStyle/>
          <a:p>
            <a:pPr algn="ctr"/>
            <a:r>
              <a:rPr lang="en-US" sz="1000" dirty="0"/>
              <a:t>An adjusted forecast, now called the "Management Forecast."</a:t>
            </a:r>
            <a:endParaRPr lang="en-US" sz="1000" dirty="0">
              <a:solidFill>
                <a:schemeClr val="bg1"/>
              </a:solidFill>
              <a:latin typeface="Arial" panose="020B0604020202020204" pitchFamily="34" charset="0"/>
              <a:ea typeface="Verdana" charset="0"/>
              <a:cs typeface="Arial" panose="020B0604020202020204" pitchFamily="34" charset="0"/>
            </a:endParaRPr>
          </a:p>
        </p:txBody>
      </p:sp>
      <p:grpSp>
        <p:nvGrpSpPr>
          <p:cNvPr id="6" name="Group 5">
            <a:extLst>
              <a:ext uri="{FF2B5EF4-FFF2-40B4-BE49-F238E27FC236}">
                <a16:creationId xmlns:a16="http://schemas.microsoft.com/office/drawing/2014/main" id="{B63A9FCC-CEAC-44C8-DDB6-3CAE5A117997}"/>
              </a:ext>
            </a:extLst>
          </p:cNvPr>
          <p:cNvGrpSpPr/>
          <p:nvPr/>
        </p:nvGrpSpPr>
        <p:grpSpPr>
          <a:xfrm>
            <a:off x="2973486" y="2901120"/>
            <a:ext cx="949911" cy="706036"/>
            <a:chOff x="1562593" y="1809020"/>
            <a:chExt cx="949911" cy="706036"/>
          </a:xfrm>
        </p:grpSpPr>
        <p:sp>
          <p:nvSpPr>
            <p:cNvPr id="7" name="TextBox 17">
              <a:extLst>
                <a:ext uri="{FF2B5EF4-FFF2-40B4-BE49-F238E27FC236}">
                  <a16:creationId xmlns:a16="http://schemas.microsoft.com/office/drawing/2014/main" id="{6BE78D2E-390C-92A1-23BA-B15C0E1FFD9A}"/>
                </a:ext>
              </a:extLst>
            </p:cNvPr>
            <p:cNvSpPr txBox="1"/>
            <p:nvPr/>
          </p:nvSpPr>
          <p:spPr>
            <a:xfrm>
              <a:off x="1562593" y="2261140"/>
              <a:ext cx="949911"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Tx/>
              </a:pPr>
              <a:r>
                <a:rPr lang="en-US" sz="1050">
                  <a:latin typeface="Arial" panose="020B0604020202020204" pitchFamily="34" charset="0"/>
                  <a:ea typeface="Verdana" charset="0"/>
                  <a:cs typeface="Arial" panose="020B0604020202020204" pitchFamily="34" charset="0"/>
                </a:rPr>
                <a:t>User input</a:t>
              </a:r>
            </a:p>
          </p:txBody>
        </p:sp>
        <p:pic>
          <p:nvPicPr>
            <p:cNvPr id="8" name="Picture 7" descr="A blue line drawing of a person&#10;&#10;AI-generated content may be incorrect.">
              <a:extLst>
                <a:ext uri="{FF2B5EF4-FFF2-40B4-BE49-F238E27FC236}">
                  <a16:creationId xmlns:a16="http://schemas.microsoft.com/office/drawing/2014/main" id="{A50D9010-00AF-70FE-BD6E-2B4828A355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1648" y="1809020"/>
              <a:ext cx="431800" cy="431800"/>
            </a:xfrm>
            <a:prstGeom prst="rect">
              <a:avLst/>
            </a:prstGeom>
          </p:spPr>
        </p:pic>
      </p:grpSp>
      <p:sp>
        <p:nvSpPr>
          <p:cNvPr id="10" name="Rounded Rectangle 9">
            <a:extLst>
              <a:ext uri="{FF2B5EF4-FFF2-40B4-BE49-F238E27FC236}">
                <a16:creationId xmlns:a16="http://schemas.microsoft.com/office/drawing/2014/main" id="{7D9459A3-8A0F-FE19-994A-6BB01F320B66}"/>
              </a:ext>
            </a:extLst>
          </p:cNvPr>
          <p:cNvSpPr/>
          <p:nvPr/>
        </p:nvSpPr>
        <p:spPr>
          <a:xfrm>
            <a:off x="5168628" y="1922798"/>
            <a:ext cx="1053857" cy="71801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800" dirty="0"/>
              <a:t>Sales leaders review forecasts for region and make high-level "top-down" adjustments</a:t>
            </a:r>
          </a:p>
        </p:txBody>
      </p:sp>
      <p:grpSp>
        <p:nvGrpSpPr>
          <p:cNvPr id="11" name="Group 10">
            <a:extLst>
              <a:ext uri="{FF2B5EF4-FFF2-40B4-BE49-F238E27FC236}">
                <a16:creationId xmlns:a16="http://schemas.microsoft.com/office/drawing/2014/main" id="{77685FBC-B4D3-6CD3-E06D-163DAC126395}"/>
              </a:ext>
            </a:extLst>
          </p:cNvPr>
          <p:cNvGrpSpPr/>
          <p:nvPr/>
        </p:nvGrpSpPr>
        <p:grpSpPr>
          <a:xfrm>
            <a:off x="5220605" y="2901120"/>
            <a:ext cx="949911" cy="706036"/>
            <a:chOff x="1562593" y="1809020"/>
            <a:chExt cx="949911" cy="706036"/>
          </a:xfrm>
        </p:grpSpPr>
        <p:sp>
          <p:nvSpPr>
            <p:cNvPr id="12" name="TextBox 17">
              <a:extLst>
                <a:ext uri="{FF2B5EF4-FFF2-40B4-BE49-F238E27FC236}">
                  <a16:creationId xmlns:a16="http://schemas.microsoft.com/office/drawing/2014/main" id="{D55ECBCD-BA18-343D-AC17-4382DB0A8B8E}"/>
                </a:ext>
              </a:extLst>
            </p:cNvPr>
            <p:cNvSpPr txBox="1"/>
            <p:nvPr/>
          </p:nvSpPr>
          <p:spPr>
            <a:xfrm>
              <a:off x="1562593" y="2261140"/>
              <a:ext cx="949911"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Tx/>
              </a:pPr>
              <a:r>
                <a:rPr lang="en-US" sz="1050">
                  <a:latin typeface="Arial" panose="020B0604020202020204" pitchFamily="34" charset="0"/>
                  <a:ea typeface="Verdana" charset="0"/>
                  <a:cs typeface="Arial" panose="020B0604020202020204" pitchFamily="34" charset="0"/>
                </a:rPr>
                <a:t>User input</a:t>
              </a:r>
            </a:p>
          </p:txBody>
        </p:sp>
        <p:pic>
          <p:nvPicPr>
            <p:cNvPr id="13" name="Picture 12" descr="A blue line drawing of a person&#10;&#10;AI-generated content may be incorrect.">
              <a:extLst>
                <a:ext uri="{FF2B5EF4-FFF2-40B4-BE49-F238E27FC236}">
                  <a16:creationId xmlns:a16="http://schemas.microsoft.com/office/drawing/2014/main" id="{5F0DF272-22E5-DE5B-99F7-ADCABA3CA3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1648" y="1809020"/>
              <a:ext cx="431800" cy="431800"/>
            </a:xfrm>
            <a:prstGeom prst="rect">
              <a:avLst/>
            </a:prstGeom>
          </p:spPr>
        </p:pic>
      </p:grpSp>
      <p:cxnSp>
        <p:nvCxnSpPr>
          <p:cNvPr id="15" name="Straight Arrow Connector 14">
            <a:extLst>
              <a:ext uri="{FF2B5EF4-FFF2-40B4-BE49-F238E27FC236}">
                <a16:creationId xmlns:a16="http://schemas.microsoft.com/office/drawing/2014/main" id="{D2988EEB-81AA-56CA-762B-15C651B197CA}"/>
              </a:ext>
            </a:extLst>
          </p:cNvPr>
          <p:cNvCxnSpPr>
            <a:stCxn id="67" idx="3"/>
            <a:endCxn id="10" idx="1"/>
          </p:cNvCxnSpPr>
          <p:nvPr/>
        </p:nvCxnSpPr>
        <p:spPr>
          <a:xfrm>
            <a:off x="3975371" y="2281807"/>
            <a:ext cx="1193257" cy="0"/>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F21511B-3E68-F385-C57F-724701DD958B}"/>
              </a:ext>
            </a:extLst>
          </p:cNvPr>
          <p:cNvCxnSpPr>
            <a:cxnSpLocks/>
            <a:stCxn id="10" idx="3"/>
            <a:endCxn id="66" idx="2"/>
          </p:cNvCxnSpPr>
          <p:nvPr/>
        </p:nvCxnSpPr>
        <p:spPr>
          <a:xfrm>
            <a:off x="6222485" y="2281807"/>
            <a:ext cx="1193257" cy="8461"/>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70068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123CB-6679-A260-BA1E-D169B52309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AFB03-6517-A6A0-CBEE-8702C3BC3764}"/>
              </a:ext>
            </a:extLst>
          </p:cNvPr>
          <p:cNvSpPr>
            <a:spLocks noGrp="1"/>
          </p:cNvSpPr>
          <p:nvPr>
            <p:ph type="title"/>
          </p:nvPr>
        </p:nvSpPr>
        <p:spPr>
          <a:xfrm>
            <a:off x="419100" y="294640"/>
            <a:ext cx="8153401" cy="338554"/>
          </a:xfrm>
        </p:spPr>
        <p:txBody>
          <a:bodyPr/>
          <a:lstStyle/>
          <a:p>
            <a:r>
              <a:rPr lang="en-US" b="1" dirty="0">
                <a:solidFill>
                  <a:schemeClr val="tx2"/>
                </a:solidFill>
                <a:ea typeface="+mn-lt"/>
                <a:cs typeface="+mn-lt"/>
              </a:rPr>
              <a:t>Forecast Review and Adjustment </a:t>
            </a:r>
            <a:r>
              <a:rPr lang="en-US" b="1" dirty="0"/>
              <a:t>- </a:t>
            </a:r>
            <a:r>
              <a:rPr lang="en-US" b="1" dirty="0">
                <a:solidFill>
                  <a:schemeClr val="tx2"/>
                </a:solidFill>
              </a:rPr>
              <a:t>Parameters</a:t>
            </a:r>
          </a:p>
        </p:txBody>
      </p:sp>
      <p:graphicFrame>
        <p:nvGraphicFramePr>
          <p:cNvPr id="7" name="Table 7">
            <a:extLst>
              <a:ext uri="{FF2B5EF4-FFF2-40B4-BE49-F238E27FC236}">
                <a16:creationId xmlns:a16="http://schemas.microsoft.com/office/drawing/2014/main" id="{93B45975-EDFF-2B3B-B4A0-BE9152A21EA8}"/>
              </a:ext>
            </a:extLst>
          </p:cNvPr>
          <p:cNvGraphicFramePr>
            <a:graphicFrameLocks noGrp="1"/>
          </p:cNvGraphicFramePr>
          <p:nvPr>
            <p:extLst>
              <p:ext uri="{D42A27DB-BD31-4B8C-83A1-F6EECF244321}">
                <p14:modId xmlns:p14="http://schemas.microsoft.com/office/powerpoint/2010/main" val="4033582839"/>
              </p:ext>
            </p:extLst>
          </p:nvPr>
        </p:nvGraphicFramePr>
        <p:xfrm>
          <a:off x="419100" y="1022930"/>
          <a:ext cx="8153400" cy="2194584"/>
        </p:xfrm>
        <a:graphic>
          <a:graphicData uri="http://schemas.openxmlformats.org/drawingml/2006/table">
            <a:tbl>
              <a:tblPr firstRow="1" bandRow="1">
                <a:tableStyleId>{72833802-FEF1-4C79-8D5D-14CF1EAF98D9}</a:tableStyleId>
              </a:tblPr>
              <a:tblGrid>
                <a:gridCol w="1701497">
                  <a:extLst>
                    <a:ext uri="{9D8B030D-6E8A-4147-A177-3AD203B41FA5}">
                      <a16:colId xmlns:a16="http://schemas.microsoft.com/office/drawing/2014/main" val="718031972"/>
                    </a:ext>
                  </a:extLst>
                </a:gridCol>
                <a:gridCol w="6451903">
                  <a:extLst>
                    <a:ext uri="{9D8B030D-6E8A-4147-A177-3AD203B41FA5}">
                      <a16:colId xmlns:a16="http://schemas.microsoft.com/office/drawing/2014/main" val="1955053113"/>
                    </a:ext>
                  </a:extLst>
                </a:gridCol>
              </a:tblGrid>
              <a:tr h="264464">
                <a:tc>
                  <a:txBody>
                    <a:bodyPr/>
                    <a:lstStyle/>
                    <a:p>
                      <a:r>
                        <a:rPr lang="en-US" sz="900"/>
                        <a:t>Parameter</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r>
                        <a:rPr lang="en-US" sz="900"/>
                        <a:t>Purpose</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926781289"/>
                  </a:ext>
                </a:extLst>
              </a:tr>
              <a:tr h="2472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Stat Forecast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system-generated baseline forecast for their territory. This is the starting point.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620792711"/>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Open Opportunity Pipeline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A live view of their open deals from the CRM for the forecast period.</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47844716"/>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Historical Sales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Their territory's sales performance from previous periods.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080469651"/>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Quota / Target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Their sales goal for the period.</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779808244"/>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Sales Submission</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number the rep is committing to. This is a manual input field where they can either accept the Stat Forecast or override it with their own number based on the other inputs.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703409048"/>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Aggregated Values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aggregated view of a manager’s team Quota, Target, Sales Submission, </a:t>
                      </a:r>
                      <a:r>
                        <a:rPr kumimoji="0" lang="en-US" sz="800" b="0" i="0" u="none" strike="noStrike" kern="1200" cap="none" spc="0" normalizeH="0" baseline="0" noProof="0" dirty="0" err="1">
                          <a:ln>
                            <a:noFill/>
                          </a:ln>
                          <a:solidFill>
                            <a:srgbClr val="0A2F46"/>
                          </a:solidFill>
                          <a:effectLst/>
                          <a:uLnTx/>
                          <a:uFillTx/>
                          <a:latin typeface="Arial" panose="020B0604020202020204" pitchFamily="34" charset="0"/>
                          <a:ea typeface="Verdana" charset="0"/>
                          <a:cs typeface="Arial" panose="020B0604020202020204" pitchFamily="34" charset="0"/>
                        </a:rPr>
                        <a:t>etc</a:t>
                      </a:r>
                      <a:endPar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937406349"/>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Management Adjustment / Overlay</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A high-level adjustment amount (positive or negative) that the manager applies to their team's total forecast. They do this to account for broader risks or opportunities their team may not see. This is the primary "top-down" input.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885225462"/>
                  </a:ext>
                </a:extLst>
              </a:tr>
            </a:tbl>
          </a:graphicData>
        </a:graphic>
      </p:graphicFrame>
      <p:sp>
        <p:nvSpPr>
          <p:cNvPr id="4" name="Rectangle 3">
            <a:extLst>
              <a:ext uri="{FF2B5EF4-FFF2-40B4-BE49-F238E27FC236}">
                <a16:creationId xmlns:a16="http://schemas.microsoft.com/office/drawing/2014/main" id="{F7CDECCE-F2C1-BAE1-0D2A-0F4167CA821F}"/>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134952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D11A3-0996-B4FD-1F9F-750EAED89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E38BF9-3A36-79DF-5CC6-CBA5CF8EE4A8}"/>
              </a:ext>
            </a:extLst>
          </p:cNvPr>
          <p:cNvSpPr>
            <a:spLocks noGrp="1"/>
          </p:cNvSpPr>
          <p:nvPr>
            <p:ph type="title"/>
          </p:nvPr>
        </p:nvSpPr>
        <p:spPr/>
        <p:txBody>
          <a:bodyPr/>
          <a:lstStyle/>
          <a:p>
            <a:r>
              <a:rPr lang="en-US" b="1" dirty="0">
                <a:solidFill>
                  <a:schemeClr val="tx2"/>
                </a:solidFill>
                <a:ea typeface="+mn-lt"/>
                <a:cs typeface="+mn-lt"/>
              </a:rPr>
              <a:t>Forecast Review and Adjustment </a:t>
            </a:r>
            <a:r>
              <a:rPr lang="en-US" b="1" dirty="0"/>
              <a:t>- </a:t>
            </a:r>
            <a:r>
              <a:rPr lang="en-US" b="1" dirty="0">
                <a:solidFill>
                  <a:schemeClr val="tx2"/>
                </a:solidFill>
              </a:rPr>
              <a:t>Key Screens</a:t>
            </a:r>
          </a:p>
        </p:txBody>
      </p:sp>
      <p:sp>
        <p:nvSpPr>
          <p:cNvPr id="4" name="TextBox 3">
            <a:extLst>
              <a:ext uri="{FF2B5EF4-FFF2-40B4-BE49-F238E27FC236}">
                <a16:creationId xmlns:a16="http://schemas.microsoft.com/office/drawing/2014/main" id="{AC595038-C0A6-E367-D4B7-D383EC5E2F9D}"/>
              </a:ext>
            </a:extLst>
          </p:cNvPr>
          <p:cNvSpPr txBox="1"/>
          <p:nvPr/>
        </p:nvSpPr>
        <p:spPr>
          <a:xfrm>
            <a:off x="356616" y="633194"/>
            <a:ext cx="4572000" cy="307777"/>
          </a:xfrm>
          <a:prstGeom prst="rect">
            <a:avLst/>
          </a:prstGeom>
          <a:noFill/>
        </p:spPr>
        <p:txBody>
          <a:bodyPr wrap="square">
            <a:spAutoFit/>
          </a:bodyPr>
          <a:lstStyle/>
          <a:p>
            <a:r>
              <a:rPr lang="en-GB" sz="1400" dirty="0">
                <a:solidFill>
                  <a:schemeClr val="accent1"/>
                </a:solidFill>
                <a:latin typeface="Arial" panose="020B0604020202020204" pitchFamily="34" charset="0"/>
                <a:cs typeface="Arial" panose="020B0604020202020204" pitchFamily="34" charset="0"/>
              </a:rPr>
              <a:t>1.1 Forecast</a:t>
            </a:r>
            <a:endParaRPr lang="en-US" sz="1400" dirty="0">
              <a:solidFill>
                <a:schemeClr val="accent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8B60EFA-EF92-0B25-3535-B62114888B41}"/>
              </a:ext>
            </a:extLst>
          </p:cNvPr>
          <p:cNvSpPr txBox="1"/>
          <p:nvPr/>
        </p:nvSpPr>
        <p:spPr>
          <a:xfrm>
            <a:off x="6470132" y="1025609"/>
            <a:ext cx="2190031" cy="1692771"/>
          </a:xfrm>
          <a:prstGeom prst="rect">
            <a:avLst/>
          </a:prstGeom>
          <a:noFill/>
          <a:ln>
            <a:noFill/>
          </a:ln>
        </p:spPr>
        <p:txBody>
          <a:bodyPr wrap="square" rtlCol="0">
            <a:spAutoFit/>
          </a:bodyPr>
          <a:lstStyle/>
          <a:p>
            <a:pPr marL="180975" indent="-180975" algn="l">
              <a:spcBef>
                <a:spcPts val="300"/>
              </a:spcBef>
              <a:spcAft>
                <a:spcPts val="300"/>
              </a:spcAft>
              <a:buClrTx/>
              <a:buFont typeface="Arial" panose="020B0604020202020204" pitchFamily="34" charset="0"/>
              <a:buChar char="•"/>
            </a:pPr>
            <a:r>
              <a:rPr lang="en-US" sz="1050" b="0" dirty="0">
                <a:solidFill>
                  <a:schemeClr val="tx2"/>
                </a:solidFill>
                <a:latin typeface="Arial" panose="020B0604020202020204" pitchFamily="34" charset="0"/>
                <a:ea typeface="Verdana" charset="0"/>
                <a:cs typeface="Arial" panose="020B0604020202020204" pitchFamily="34" charset="0"/>
              </a:rPr>
              <a:t>Review forecast values, won, commit, pipeline, </a:t>
            </a:r>
            <a:r>
              <a:rPr lang="en-US" sz="1050" b="0" dirty="0" err="1">
                <a:solidFill>
                  <a:schemeClr val="tx2"/>
                </a:solidFill>
                <a:latin typeface="Arial" panose="020B0604020202020204" pitchFamily="34" charset="0"/>
                <a:ea typeface="Verdana" charset="0"/>
                <a:cs typeface="Arial" panose="020B0604020202020204" pitchFamily="34" charset="0"/>
              </a:rPr>
              <a:t>etc</a:t>
            </a:r>
            <a:endParaRPr lang="en-US" sz="1050" dirty="0">
              <a:solidFill>
                <a:schemeClr val="tx2"/>
              </a:solidFill>
              <a:latin typeface="Arial" panose="020B0604020202020204" pitchFamily="34" charset="0"/>
              <a:ea typeface="Verdana" charset="0"/>
              <a:cs typeface="Arial" panose="020B0604020202020204" pitchFamily="34" charset="0"/>
            </a:endParaRPr>
          </a:p>
          <a:p>
            <a:pPr marL="180975" indent="-180975" algn="l">
              <a:spcBef>
                <a:spcPts val="300"/>
              </a:spcBef>
              <a:spcAft>
                <a:spcPts val="300"/>
              </a:spcAft>
              <a:buClrTx/>
              <a:buFont typeface="Arial" panose="020B0604020202020204" pitchFamily="34" charset="0"/>
              <a:buChar char="•"/>
            </a:pPr>
            <a:r>
              <a:rPr lang="en-US" sz="1050" b="0" dirty="0">
                <a:solidFill>
                  <a:schemeClr val="tx2"/>
                </a:solidFill>
                <a:latin typeface="Arial" panose="020B0604020202020204" pitchFamily="34" charset="0"/>
                <a:ea typeface="Verdana" charset="0"/>
                <a:cs typeface="Arial" panose="020B0604020202020204" pitchFamily="34" charset="0"/>
              </a:rPr>
              <a:t>Adjust own forecast</a:t>
            </a:r>
            <a:endParaRPr lang="en-US" sz="1050" dirty="0">
              <a:solidFill>
                <a:schemeClr val="tx2"/>
              </a:solidFill>
              <a:latin typeface="Arial" panose="020B0604020202020204" pitchFamily="34" charset="0"/>
              <a:ea typeface="Verdana" charset="0"/>
              <a:cs typeface="Arial" panose="020B0604020202020204" pitchFamily="34" charset="0"/>
            </a:endParaRPr>
          </a:p>
          <a:p>
            <a:pPr marL="180975" indent="-180975" algn="l">
              <a:spcBef>
                <a:spcPts val="300"/>
              </a:spcBef>
              <a:spcAft>
                <a:spcPts val="300"/>
              </a:spcAft>
              <a:buClrTx/>
              <a:buFont typeface="Arial" panose="020B0604020202020204" pitchFamily="34" charset="0"/>
              <a:buChar char="•"/>
            </a:pPr>
            <a:r>
              <a:rPr lang="en-US" sz="1050" dirty="0">
                <a:solidFill>
                  <a:schemeClr val="tx2"/>
                </a:solidFill>
                <a:latin typeface="Arial" panose="020B0604020202020204" pitchFamily="34" charset="0"/>
                <a:ea typeface="Verdana" charset="0"/>
                <a:cs typeface="Arial" panose="020B0604020202020204" pitchFamily="34" charset="0"/>
              </a:rPr>
              <a:t>Review / adjust team’s forecast</a:t>
            </a:r>
          </a:p>
          <a:p>
            <a:pPr marL="180975" indent="-180975" algn="l">
              <a:spcBef>
                <a:spcPts val="300"/>
              </a:spcBef>
              <a:spcAft>
                <a:spcPts val="300"/>
              </a:spcAft>
              <a:buClrTx/>
              <a:buFont typeface="Arial" panose="020B0604020202020204" pitchFamily="34" charset="0"/>
              <a:buChar char="•"/>
            </a:pPr>
            <a:r>
              <a:rPr lang="en-US" sz="1050" dirty="0">
                <a:solidFill>
                  <a:schemeClr val="tx2"/>
                </a:solidFill>
                <a:latin typeface="Arial" panose="020B0604020202020204" pitchFamily="34" charset="0"/>
                <a:ea typeface="Verdana" charset="0"/>
                <a:cs typeface="Arial" panose="020B0604020202020204" pitchFamily="34" charset="0"/>
              </a:rPr>
              <a:t>Submit/lock forecast for the period</a:t>
            </a:r>
          </a:p>
          <a:p>
            <a:pPr marL="180975" indent="-180975" algn="l">
              <a:spcBef>
                <a:spcPts val="300"/>
              </a:spcBef>
              <a:spcAft>
                <a:spcPts val="300"/>
              </a:spcAft>
              <a:buClrTx/>
              <a:buFont typeface="Arial" panose="020B0604020202020204" pitchFamily="34" charset="0"/>
              <a:buChar char="•"/>
            </a:pPr>
            <a:endParaRPr lang="en-US" sz="1050" b="0" dirty="0">
              <a:solidFill>
                <a:schemeClr val="tx2"/>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55C4D035-BE15-AC58-32BC-9B0FC160BBA9}"/>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
        <p:nvSpPr>
          <p:cNvPr id="8" name="Rectangle 7">
            <a:extLst>
              <a:ext uri="{FF2B5EF4-FFF2-40B4-BE49-F238E27FC236}">
                <a16:creationId xmlns:a16="http://schemas.microsoft.com/office/drawing/2014/main" id="{A103C948-0BCB-E58E-C1E4-C9741A89FAD1}"/>
              </a:ext>
            </a:extLst>
          </p:cNvPr>
          <p:cNvSpPr>
            <a:spLocks noGrp="1" noRot="1" noMove="1" noResize="1" noEditPoints="1" noAdjustHandles="1" noChangeArrowheads="1" noChangeShapeType="1"/>
          </p:cNvSpPr>
          <p:nvPr/>
        </p:nvSpPr>
        <p:spPr>
          <a:xfrm>
            <a:off x="5089453" y="1061049"/>
            <a:ext cx="1396409" cy="87267"/>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Arial" panose="020B0604020202020204" pitchFamily="34" charset="0"/>
              <a:ea typeface="Verdana" charset="0"/>
              <a:cs typeface="Arial" panose="020B0604020202020204" pitchFamily="34" charset="0"/>
            </a:endParaRPr>
          </a:p>
        </p:txBody>
      </p:sp>
      <p:sp>
        <p:nvSpPr>
          <p:cNvPr id="9" name="Rectangle 8">
            <a:extLst>
              <a:ext uri="{FF2B5EF4-FFF2-40B4-BE49-F238E27FC236}">
                <a16:creationId xmlns:a16="http://schemas.microsoft.com/office/drawing/2014/main" id="{5ECAA4D7-85D2-CEFD-927A-2E8B17CCA8DF}"/>
              </a:ext>
            </a:extLst>
          </p:cNvPr>
          <p:cNvSpPr>
            <a:spLocks noGrp="1" noRot="1" noMove="1" noResize="1" noEditPoints="1" noAdjustHandles="1" noChangeArrowheads="1" noChangeShapeType="1"/>
          </p:cNvSpPr>
          <p:nvPr/>
        </p:nvSpPr>
        <p:spPr>
          <a:xfrm>
            <a:off x="5943600" y="1061049"/>
            <a:ext cx="529562" cy="8726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98868E3-0AE9-364D-6CAE-6E547009AA4B}"/>
              </a:ext>
            </a:extLst>
          </p:cNvPr>
          <p:cNvPicPr>
            <a:picLocks noChangeAspect="1"/>
          </p:cNvPicPr>
          <p:nvPr/>
        </p:nvPicPr>
        <p:blipFill>
          <a:blip r:embed="rId2"/>
          <a:stretch>
            <a:fillRect/>
          </a:stretch>
        </p:blipFill>
        <p:spPr>
          <a:xfrm>
            <a:off x="419100" y="1061049"/>
            <a:ext cx="5939121" cy="2064400"/>
          </a:xfrm>
          <a:prstGeom prst="rect">
            <a:avLst/>
          </a:prstGeom>
          <a:ln>
            <a:solidFill>
              <a:schemeClr val="tx1"/>
            </a:solidFill>
          </a:ln>
        </p:spPr>
      </p:pic>
    </p:spTree>
    <p:extLst>
      <p:ext uri="{BB962C8B-B14F-4D97-AF65-F5344CB8AC3E}">
        <p14:creationId xmlns:p14="http://schemas.microsoft.com/office/powerpoint/2010/main" val="3140689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B60E2-6D4B-2429-7D74-9DCC2199BE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B2FA7-890B-6BFA-4C14-F1AD587E5CAA}"/>
              </a:ext>
            </a:extLst>
          </p:cNvPr>
          <p:cNvSpPr>
            <a:spLocks noGrp="1"/>
          </p:cNvSpPr>
          <p:nvPr>
            <p:ph type="title"/>
          </p:nvPr>
        </p:nvSpPr>
        <p:spPr/>
        <p:txBody>
          <a:bodyPr/>
          <a:lstStyle/>
          <a:p>
            <a:r>
              <a:rPr lang="en-US" b="1" dirty="0">
                <a:solidFill>
                  <a:schemeClr val="tx2"/>
                </a:solidFill>
                <a:ea typeface="+mn-lt"/>
                <a:cs typeface="+mn-lt"/>
              </a:rPr>
              <a:t>Forecast Review and Adjustment </a:t>
            </a:r>
            <a:r>
              <a:rPr lang="en-US" b="1" dirty="0"/>
              <a:t>- </a:t>
            </a:r>
            <a:r>
              <a:rPr lang="en-US" b="1" dirty="0">
                <a:solidFill>
                  <a:schemeClr val="tx2"/>
                </a:solidFill>
              </a:rPr>
              <a:t>Hints and Tips</a:t>
            </a:r>
          </a:p>
        </p:txBody>
      </p:sp>
      <p:sp>
        <p:nvSpPr>
          <p:cNvPr id="3" name="Content Placeholder 2">
            <a:extLst>
              <a:ext uri="{FF2B5EF4-FFF2-40B4-BE49-F238E27FC236}">
                <a16:creationId xmlns:a16="http://schemas.microsoft.com/office/drawing/2014/main" id="{14E40297-CE27-AD87-5494-C0D2D53F1DC9}"/>
              </a:ext>
            </a:extLst>
          </p:cNvPr>
          <p:cNvSpPr>
            <a:spLocks noGrp="1"/>
          </p:cNvSpPr>
          <p:nvPr>
            <p:ph idx="1"/>
          </p:nvPr>
        </p:nvSpPr>
        <p:spPr>
          <a:xfrm>
            <a:off x="419100" y="819860"/>
            <a:ext cx="8153400" cy="3984800"/>
          </a:xfrm>
        </p:spPr>
        <p:txBody>
          <a:bodyPr lIns="0" rIns="0"/>
          <a:lstStyle/>
          <a:p>
            <a:pPr>
              <a:spcBef>
                <a:spcPts val="300"/>
              </a:spcBef>
              <a:spcAft>
                <a:spcPts val="300"/>
              </a:spcAft>
              <a:buClr>
                <a:schemeClr val="accent1"/>
              </a:buClr>
            </a:pPr>
            <a:r>
              <a:rPr lang="en-US" sz="1200" dirty="0"/>
              <a:t>Tips for Sales Representatives (Bottom-Up)</a:t>
            </a:r>
          </a:p>
          <a:p>
            <a:pPr lvl="1">
              <a:spcBef>
                <a:spcPts val="300"/>
              </a:spcBef>
              <a:spcAft>
                <a:spcPts val="300"/>
              </a:spcAft>
              <a:buClr>
                <a:schemeClr val="accent1"/>
              </a:buClr>
            </a:pPr>
            <a:r>
              <a:rPr lang="en-US" sz="1200" dirty="0"/>
              <a:t>Justify Your Adjustments: Your commentary explaining why you changed the forecast is as important as the number itself.</a:t>
            </a:r>
          </a:p>
          <a:p>
            <a:pPr lvl="1">
              <a:spcBef>
                <a:spcPts val="300"/>
              </a:spcBef>
              <a:spcAft>
                <a:spcPts val="300"/>
              </a:spcAft>
              <a:buClr>
                <a:schemeClr val="accent1"/>
              </a:buClr>
            </a:pPr>
            <a:r>
              <a:rPr lang="en-US" sz="1200" dirty="0"/>
              <a:t>Challenge the Baseline: Use the statistical forecast as a starting point, but focus your energy on adding your expert knowledge about specific deals.</a:t>
            </a:r>
          </a:p>
          <a:p>
            <a:pPr lvl="1">
              <a:spcBef>
                <a:spcPts val="300"/>
              </a:spcBef>
              <a:spcAft>
                <a:spcPts val="300"/>
              </a:spcAft>
              <a:buClr>
                <a:schemeClr val="accent1"/>
              </a:buClr>
            </a:pPr>
            <a:r>
              <a:rPr lang="en-US" sz="1200" dirty="0"/>
              <a:t>Flag Both Risks and Upside: A good forecast is realistic. Use comments to note potential deals that could slip out or extra deals that might pull in.</a:t>
            </a:r>
          </a:p>
          <a:p>
            <a:pPr lvl="1">
              <a:spcBef>
                <a:spcPts val="300"/>
              </a:spcBef>
              <a:spcAft>
                <a:spcPts val="300"/>
              </a:spcAft>
              <a:buClr>
                <a:schemeClr val="accent1"/>
              </a:buClr>
            </a:pPr>
            <a:r>
              <a:rPr lang="en-US" sz="1200" dirty="0"/>
              <a:t>Communicate Big Changes Early: Don't wait for the formal review to surprise your manager with a major change to a key deal.</a:t>
            </a:r>
          </a:p>
          <a:p>
            <a:pPr>
              <a:spcBef>
                <a:spcPts val="300"/>
              </a:spcBef>
              <a:spcAft>
                <a:spcPts val="300"/>
              </a:spcAft>
              <a:buClr>
                <a:schemeClr val="accent1"/>
              </a:buClr>
            </a:pPr>
            <a:r>
              <a:rPr lang="en-US" sz="1200" dirty="0"/>
              <a:t>Tips for Sales Managers (Top-Down)</a:t>
            </a:r>
          </a:p>
          <a:p>
            <a:pPr lvl="1">
              <a:spcBef>
                <a:spcPts val="300"/>
              </a:spcBef>
              <a:spcAft>
                <a:spcPts val="300"/>
              </a:spcAft>
              <a:buClr>
                <a:schemeClr val="accent1"/>
              </a:buClr>
            </a:pPr>
            <a:r>
              <a:rPr lang="en-US" sz="1200" dirty="0"/>
              <a:t>Coach for Accuracy: Use historical Forecast vs. Actuals data to help your reps identify their biases and improve their forecasting muscle.</a:t>
            </a:r>
          </a:p>
          <a:p>
            <a:pPr lvl="1">
              <a:spcBef>
                <a:spcPts val="300"/>
              </a:spcBef>
              <a:spcAft>
                <a:spcPts val="300"/>
              </a:spcAft>
              <a:buClr>
                <a:schemeClr val="accent1"/>
              </a:buClr>
            </a:pPr>
            <a:r>
              <a:rPr lang="en-US" sz="1200" dirty="0"/>
              <a:t>Manage the Portfolio: Apply your judgment to the team's total forecast to account for overall risks and opportunities that individuals may not see.</a:t>
            </a:r>
          </a:p>
          <a:p>
            <a:pPr lvl="1">
              <a:spcBef>
                <a:spcPts val="300"/>
              </a:spcBef>
              <a:spcAft>
                <a:spcPts val="300"/>
              </a:spcAft>
              <a:buClr>
                <a:schemeClr val="accent1"/>
              </a:buClr>
            </a:pPr>
            <a:r>
              <a:rPr lang="en-US" sz="1200" dirty="0"/>
              <a:t>Use Overlays for Strategy, Not Micromanagement: Your adjustment should reflect broad factors (market trends, campaigns). If you disagree with a single rep's commit, talk to them directly.</a:t>
            </a:r>
          </a:p>
          <a:p>
            <a:pPr lvl="1">
              <a:spcBef>
                <a:spcPts val="300"/>
              </a:spcBef>
              <a:spcAft>
                <a:spcPts val="300"/>
              </a:spcAft>
              <a:buClr>
                <a:schemeClr val="accent1"/>
              </a:buClr>
            </a:pPr>
            <a:r>
              <a:rPr lang="en-US" sz="1200" dirty="0"/>
              <a:t>Justify Your Own Adjustments: Provide clear commentary for any top-down overlay you apply to ensure transparency for both your team and your leadership.</a:t>
            </a:r>
          </a:p>
        </p:txBody>
      </p:sp>
      <p:sp>
        <p:nvSpPr>
          <p:cNvPr id="4" name="Rectangle 3">
            <a:extLst>
              <a:ext uri="{FF2B5EF4-FFF2-40B4-BE49-F238E27FC236}">
                <a16:creationId xmlns:a16="http://schemas.microsoft.com/office/drawing/2014/main" id="{86322B59-3C2D-C98C-A2BF-03509BA8C15D}"/>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3399210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E997DD2C-30FB-46D4-FAC8-FA409DCCC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57DBE6-61A9-D157-11BA-882FDAC3791A}"/>
              </a:ext>
            </a:extLst>
          </p:cNvPr>
          <p:cNvSpPr>
            <a:spLocks noGrp="1"/>
          </p:cNvSpPr>
          <p:nvPr>
            <p:ph type="title"/>
          </p:nvPr>
        </p:nvSpPr>
        <p:spPr/>
        <p:txBody>
          <a:bodyPr/>
          <a:lstStyle/>
          <a:p>
            <a:r>
              <a:rPr lang="en-US" b="1" dirty="0">
                <a:solidFill>
                  <a:schemeClr val="tx2"/>
                </a:solidFill>
                <a:ea typeface="+mn-lt"/>
                <a:cs typeface="+mn-lt"/>
              </a:rPr>
              <a:t>Forecast Review and Adjustment </a:t>
            </a:r>
            <a:r>
              <a:rPr lang="en-US" b="1" dirty="0"/>
              <a:t>- </a:t>
            </a:r>
            <a:r>
              <a:rPr lang="en-US" b="1" dirty="0">
                <a:solidFill>
                  <a:schemeClr val="tx2"/>
                </a:solidFill>
              </a:rPr>
              <a:t>Implementation and Configuration Considerations</a:t>
            </a:r>
          </a:p>
        </p:txBody>
      </p:sp>
      <p:sp>
        <p:nvSpPr>
          <p:cNvPr id="3" name="Content Placeholder 2">
            <a:extLst>
              <a:ext uri="{FF2B5EF4-FFF2-40B4-BE49-F238E27FC236}">
                <a16:creationId xmlns:a16="http://schemas.microsoft.com/office/drawing/2014/main" id="{94DDC0DF-5680-C586-2F00-C70ACEA11E68}"/>
              </a:ext>
            </a:extLst>
          </p:cNvPr>
          <p:cNvSpPr>
            <a:spLocks noGrp="1"/>
          </p:cNvSpPr>
          <p:nvPr>
            <p:ph idx="1"/>
          </p:nvPr>
        </p:nvSpPr>
        <p:spPr>
          <a:xfrm>
            <a:off x="419100" y="933172"/>
            <a:ext cx="8153400" cy="3984800"/>
          </a:xfrm>
        </p:spPr>
        <p:txBody>
          <a:bodyPr lIns="0" rIns="0"/>
          <a:lstStyle/>
          <a:p>
            <a:pPr>
              <a:spcBef>
                <a:spcPts val="300"/>
              </a:spcBef>
              <a:spcAft>
                <a:spcPts val="300"/>
              </a:spcAft>
              <a:buClr>
                <a:schemeClr val="accent1"/>
              </a:buClr>
            </a:pPr>
            <a:r>
              <a:rPr lang="en-US" sz="1200" dirty="0"/>
              <a:t>Field Sales Dashboard (Bottom-Up) - a simple workspace for a rep to submit their forecast.</a:t>
            </a:r>
          </a:p>
          <a:p>
            <a:pPr lvl="1">
              <a:spcBef>
                <a:spcPts val="300"/>
              </a:spcBef>
              <a:spcAft>
                <a:spcPts val="300"/>
              </a:spcAft>
              <a:buClr>
                <a:schemeClr val="accent1"/>
              </a:buClr>
            </a:pPr>
            <a:r>
              <a:rPr lang="en-US" sz="1200" dirty="0"/>
              <a:t>Show Key Metrics (Read-Only): Display the user's Stat Forecast, Open Pipeline, and Quota.</a:t>
            </a:r>
          </a:p>
          <a:p>
            <a:pPr lvl="1">
              <a:spcBef>
                <a:spcPts val="300"/>
              </a:spcBef>
              <a:spcAft>
                <a:spcPts val="300"/>
              </a:spcAft>
              <a:buClr>
                <a:schemeClr val="accent1"/>
              </a:buClr>
            </a:pPr>
            <a:r>
              <a:rPr lang="en-US" sz="1200" dirty="0"/>
              <a:t>Provide Input Fields (Editable): Create a grid where the user can enter their Sales Submission number and provide a justification in a Commentary text field.</a:t>
            </a:r>
          </a:p>
          <a:p>
            <a:pPr lvl="1">
              <a:spcBef>
                <a:spcPts val="300"/>
              </a:spcBef>
              <a:spcAft>
                <a:spcPts val="300"/>
              </a:spcAft>
              <a:buClr>
                <a:schemeClr val="accent1"/>
              </a:buClr>
            </a:pPr>
            <a:r>
              <a:rPr lang="en-US" sz="1200" dirty="0"/>
              <a:t>Include a "Submit" Button: A single button to signal their forecast is complete.</a:t>
            </a:r>
          </a:p>
          <a:p>
            <a:pPr>
              <a:spcBef>
                <a:spcPts val="300"/>
              </a:spcBef>
              <a:spcAft>
                <a:spcPts val="300"/>
              </a:spcAft>
              <a:buClr>
                <a:schemeClr val="accent1"/>
              </a:buClr>
            </a:pPr>
            <a:r>
              <a:rPr lang="en-US" sz="1200" dirty="0"/>
              <a:t>Sales Management Dashboard (Top-Down) - a roll-up view for a manager to review their team and apply their strategic judgment.</a:t>
            </a:r>
          </a:p>
          <a:p>
            <a:pPr lvl="1">
              <a:spcBef>
                <a:spcPts val="300"/>
              </a:spcBef>
              <a:spcAft>
                <a:spcPts val="300"/>
              </a:spcAft>
              <a:buClr>
                <a:schemeClr val="accent1"/>
              </a:buClr>
            </a:pPr>
            <a:r>
              <a:rPr lang="en-US" sz="1200" dirty="0"/>
              <a:t>Show Team Roll-up: Display aggregated totals for the team's Sales Submission vs. their Quota.</a:t>
            </a:r>
          </a:p>
          <a:p>
            <a:pPr lvl="1">
              <a:spcBef>
                <a:spcPts val="300"/>
              </a:spcBef>
              <a:spcAft>
                <a:spcPts val="300"/>
              </a:spcAft>
              <a:buClr>
                <a:schemeClr val="accent1"/>
              </a:buClr>
            </a:pPr>
            <a:r>
              <a:rPr lang="en-US" sz="1200" dirty="0"/>
              <a:t>Enable Drill-Down: Provide a grid showing each team member's submission and, most importantly, their Commentary.</a:t>
            </a:r>
          </a:p>
          <a:p>
            <a:pPr lvl="1">
              <a:spcBef>
                <a:spcPts val="300"/>
              </a:spcBef>
              <a:spcAft>
                <a:spcPts val="300"/>
              </a:spcAft>
              <a:buClr>
                <a:schemeClr val="accent1"/>
              </a:buClr>
            </a:pPr>
            <a:r>
              <a:rPr lang="en-US" sz="1200" dirty="0"/>
              <a:t>Provide Adjustment Fields (Editable): Create a simple input area for the manager to enter a Management Adjustment / Overlay and a corresponding Manager Commentary.</a:t>
            </a:r>
          </a:p>
          <a:p>
            <a:pPr>
              <a:spcBef>
                <a:spcPts val="300"/>
              </a:spcBef>
              <a:spcAft>
                <a:spcPts val="300"/>
              </a:spcAft>
              <a:buClr>
                <a:schemeClr val="accent1"/>
              </a:buClr>
            </a:pPr>
            <a:r>
              <a:rPr lang="en-US" sz="1200" dirty="0"/>
              <a:t>Core Anaplan Backend Configuration</a:t>
            </a:r>
          </a:p>
          <a:p>
            <a:pPr lvl="1">
              <a:spcBef>
                <a:spcPts val="300"/>
              </a:spcBef>
              <a:spcAft>
                <a:spcPts val="300"/>
              </a:spcAft>
              <a:buClr>
                <a:schemeClr val="accent1"/>
              </a:buClr>
            </a:pPr>
            <a:r>
              <a:rPr lang="en-US" sz="1200" dirty="0"/>
              <a:t>Central Input Module: Create one main module to hold all forecast data (Stat Forecast, Sales Submission, Management Adjustment, etc.) to keep the model organized.</a:t>
            </a:r>
          </a:p>
          <a:p>
            <a:pPr lvl="1">
              <a:spcBef>
                <a:spcPts val="300"/>
              </a:spcBef>
              <a:spcAft>
                <a:spcPts val="300"/>
              </a:spcAft>
              <a:buClr>
                <a:schemeClr val="accent1"/>
              </a:buClr>
            </a:pPr>
            <a:r>
              <a:rPr lang="en-US" sz="1200" dirty="0"/>
              <a:t>Selective Access: Configure user permissions so that reps can only edit their own data and managers can only adjust their own team's roll-up. This is essential for security and data integrity.</a:t>
            </a:r>
          </a:p>
        </p:txBody>
      </p:sp>
      <p:sp>
        <p:nvSpPr>
          <p:cNvPr id="4" name="Rectangle 3">
            <a:extLst>
              <a:ext uri="{FF2B5EF4-FFF2-40B4-BE49-F238E27FC236}">
                <a16:creationId xmlns:a16="http://schemas.microsoft.com/office/drawing/2014/main" id="{B1D70A57-A949-14AD-3AF8-A6868CEAD1E3}"/>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27327719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5E3BC-8CF9-4ADC-113C-B64CEB17C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49C8A7-781F-BD47-94DD-0187F6DD4603}"/>
              </a:ext>
            </a:extLst>
          </p:cNvPr>
          <p:cNvSpPr>
            <a:spLocks noGrp="1"/>
          </p:cNvSpPr>
          <p:nvPr>
            <p:ph type="title"/>
          </p:nvPr>
        </p:nvSpPr>
        <p:spPr/>
        <p:txBody>
          <a:bodyPr/>
          <a:lstStyle/>
          <a:p>
            <a:r>
              <a:rPr lang="en-US" dirty="0">
                <a:solidFill>
                  <a:schemeClr val="tx2"/>
                </a:solidFill>
                <a:ea typeface="+mn-lt"/>
                <a:cs typeface="+mn-lt"/>
              </a:rPr>
              <a:t>Forecast Review and Adjustment</a:t>
            </a:r>
          </a:p>
        </p:txBody>
      </p:sp>
    </p:spTree>
    <p:extLst>
      <p:ext uri="{BB962C8B-B14F-4D97-AF65-F5344CB8AC3E}">
        <p14:creationId xmlns:p14="http://schemas.microsoft.com/office/powerpoint/2010/main" val="2836125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373A8-8334-27FC-31FA-898381A77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88574B-A6F5-D8BC-3297-06912A751C82}"/>
              </a:ext>
            </a:extLst>
          </p:cNvPr>
          <p:cNvSpPr>
            <a:spLocks noGrp="1"/>
          </p:cNvSpPr>
          <p:nvPr>
            <p:ph type="title"/>
          </p:nvPr>
        </p:nvSpPr>
        <p:spPr/>
        <p:txBody>
          <a:bodyPr/>
          <a:lstStyle/>
          <a:p>
            <a:r>
              <a:rPr lang="en-US" b="1" dirty="0">
                <a:solidFill>
                  <a:schemeClr val="tx2"/>
                </a:solidFill>
                <a:ea typeface="+mn-lt"/>
                <a:cs typeface="+mn-lt"/>
              </a:rPr>
              <a:t>Forecast Review and Adjustment - </a:t>
            </a:r>
            <a:r>
              <a:rPr lang="en-US" b="1" dirty="0">
                <a:solidFill>
                  <a:schemeClr val="tx2"/>
                </a:solidFill>
              </a:rPr>
              <a:t>Key Concepts</a:t>
            </a:r>
          </a:p>
        </p:txBody>
      </p:sp>
      <p:sp>
        <p:nvSpPr>
          <p:cNvPr id="3" name="Content Placeholder 2">
            <a:extLst>
              <a:ext uri="{FF2B5EF4-FFF2-40B4-BE49-F238E27FC236}">
                <a16:creationId xmlns:a16="http://schemas.microsoft.com/office/drawing/2014/main" id="{48E75BA1-D9FC-8925-330D-BCDDF88EC644}"/>
              </a:ext>
            </a:extLst>
          </p:cNvPr>
          <p:cNvSpPr>
            <a:spLocks noGrp="1"/>
          </p:cNvSpPr>
          <p:nvPr>
            <p:ph idx="1"/>
          </p:nvPr>
        </p:nvSpPr>
        <p:spPr/>
        <p:txBody>
          <a:bodyPr lIns="0" rIns="0"/>
          <a:lstStyle/>
          <a:p>
            <a:pPr>
              <a:spcBef>
                <a:spcPts val="300"/>
              </a:spcBef>
              <a:spcAft>
                <a:spcPts val="300"/>
              </a:spcAft>
              <a:buClr>
                <a:schemeClr val="accent1"/>
              </a:buClr>
            </a:pPr>
            <a:r>
              <a:rPr lang="en-US" sz="1400" dirty="0"/>
              <a:t>The "Bottom-Up" Forecast: Applying Field Intelligence</a:t>
            </a:r>
            <a:br>
              <a:rPr lang="en-US" sz="1400" dirty="0"/>
            </a:br>
            <a:r>
              <a:rPr lang="en-US" sz="1400" dirty="0"/>
              <a:t>This is where sales reps, who are closest to the customer, enrich the statistical baseline. They use their real-time, deal-level knowledge (e.g., "this deal is closing early," "that customer's budget is frozen") to adjust the system-generated number and submit their own "Commit." This adds essential human intelligence that a machine cannot have.</a:t>
            </a:r>
          </a:p>
          <a:p>
            <a:pPr>
              <a:spcBef>
                <a:spcPts val="300"/>
              </a:spcBef>
              <a:spcAft>
                <a:spcPts val="300"/>
              </a:spcAft>
              <a:buClr>
                <a:schemeClr val="accent1"/>
              </a:buClr>
            </a:pPr>
            <a:r>
              <a:rPr lang="en-US" sz="1400" dirty="0"/>
              <a:t>The "Top-Down" Forecast: Adding Strategic Judgment</a:t>
            </a:r>
            <a:br>
              <a:rPr lang="en-US" sz="1400" dirty="0"/>
            </a:br>
            <a:r>
              <a:rPr lang="en-US" sz="1400" dirty="0"/>
              <a:t>This is where sales managers apply a higher-level, portfolio view. They review their team's combined submissions and add a "Management Overlay" to account for broader factors an individual rep might not see, such as regional market risks, competitive threats, or the potential lift from a new marketing campaign. This provides crucial risk management.</a:t>
            </a:r>
          </a:p>
          <a:p>
            <a:pPr>
              <a:spcBef>
                <a:spcPts val="300"/>
              </a:spcBef>
              <a:spcAft>
                <a:spcPts val="300"/>
              </a:spcAft>
              <a:buClr>
                <a:schemeClr val="accent1"/>
              </a:buClr>
            </a:pPr>
            <a:r>
              <a:rPr lang="en-US" sz="1400" dirty="0"/>
              <a:t>Creating a Transparent, Collaborative Forecast</a:t>
            </a:r>
            <a:br>
              <a:rPr lang="en-US" sz="1400" dirty="0"/>
            </a:br>
            <a:r>
              <a:rPr lang="en-US" sz="1400" dirty="0"/>
              <a:t>This process brings the "science" (the baseline) and the "art" (human judgment) together in one system. By combining the statistical forecast, the reps' bottom-up submissions, and the managers' top-down adjustments, it creates a single, auditable forecast number. This transparency builds trust and accountability for the final number across the organization.</a:t>
            </a:r>
          </a:p>
          <a:p>
            <a:pPr>
              <a:spcBef>
                <a:spcPts val="300"/>
              </a:spcBef>
              <a:spcAft>
                <a:spcPts val="300"/>
              </a:spcAft>
              <a:buClr>
                <a:schemeClr val="accent1"/>
              </a:buClr>
            </a:pPr>
            <a:endParaRPr lang="en-US" sz="1200" dirty="0"/>
          </a:p>
        </p:txBody>
      </p:sp>
      <p:sp>
        <p:nvSpPr>
          <p:cNvPr id="4" name="Rectangle 3">
            <a:extLst>
              <a:ext uri="{FF2B5EF4-FFF2-40B4-BE49-F238E27FC236}">
                <a16:creationId xmlns:a16="http://schemas.microsoft.com/office/drawing/2014/main" id="{450B0484-2C1A-1BFA-7CD4-4A8E26FDA85D}"/>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794993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2CC6F-7522-6447-8A6D-1B37D9D46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D5B59C-58CC-25D7-EC35-4062BD20160B}"/>
              </a:ext>
            </a:extLst>
          </p:cNvPr>
          <p:cNvSpPr>
            <a:spLocks noGrp="1"/>
          </p:cNvSpPr>
          <p:nvPr>
            <p:ph type="title"/>
          </p:nvPr>
        </p:nvSpPr>
        <p:spPr/>
        <p:txBody>
          <a:bodyPr/>
          <a:lstStyle/>
          <a:p>
            <a:r>
              <a:rPr lang="en-US" b="1" dirty="0">
                <a:solidFill>
                  <a:schemeClr val="tx2"/>
                </a:solidFill>
                <a:ea typeface="+mn-lt"/>
                <a:cs typeface="+mn-lt"/>
              </a:rPr>
              <a:t>Forecast Review and Adjustment - </a:t>
            </a:r>
            <a:r>
              <a:rPr lang="en-US" b="1" dirty="0">
                <a:solidFill>
                  <a:schemeClr val="tx2"/>
                </a:solidFill>
              </a:rPr>
              <a:t>Process</a:t>
            </a:r>
          </a:p>
        </p:txBody>
      </p:sp>
      <p:sp>
        <p:nvSpPr>
          <p:cNvPr id="45" name="TextBox 44">
            <a:extLst>
              <a:ext uri="{FF2B5EF4-FFF2-40B4-BE49-F238E27FC236}">
                <a16:creationId xmlns:a16="http://schemas.microsoft.com/office/drawing/2014/main" id="{8A15E1C8-99C8-CD97-A277-37CEF7C44DE1}"/>
              </a:ext>
            </a:extLst>
          </p:cNvPr>
          <p:cNvSpPr txBox="1"/>
          <p:nvPr/>
        </p:nvSpPr>
        <p:spPr>
          <a:xfrm>
            <a:off x="696497" y="2901120"/>
            <a:ext cx="1528519" cy="400110"/>
          </a:xfrm>
          <a:prstGeom prst="rect">
            <a:avLst/>
          </a:prstGeom>
          <a:noFill/>
        </p:spPr>
        <p:txBody>
          <a:bodyPr wrap="square" rtlCol="0">
            <a:spAutoFit/>
          </a:bodyPr>
          <a:lstStyle/>
          <a:p>
            <a:pPr algn="ctr"/>
            <a:r>
              <a:rPr lang="en-US" sz="1000" dirty="0"/>
              <a:t>System-generated "Stat Forecast."</a:t>
            </a:r>
            <a:endParaRPr lang="en-US" sz="1000" dirty="0">
              <a:solidFill>
                <a:schemeClr val="bg1"/>
              </a:solidFill>
              <a:latin typeface="Arial" panose="020B0604020202020204" pitchFamily="34" charset="0"/>
              <a:ea typeface="Verdana" charset="0"/>
              <a:cs typeface="Arial" panose="020B0604020202020204" pitchFamily="34" charset="0"/>
            </a:endParaRPr>
          </a:p>
        </p:txBody>
      </p:sp>
      <p:sp>
        <p:nvSpPr>
          <p:cNvPr id="65" name="Oval 64">
            <a:extLst>
              <a:ext uri="{FF2B5EF4-FFF2-40B4-BE49-F238E27FC236}">
                <a16:creationId xmlns:a16="http://schemas.microsoft.com/office/drawing/2014/main" id="{6746A701-37F2-AED3-74F8-D36171C9915B}"/>
              </a:ext>
            </a:extLst>
          </p:cNvPr>
          <p:cNvSpPr/>
          <p:nvPr/>
        </p:nvSpPr>
        <p:spPr>
          <a:xfrm>
            <a:off x="1193257" y="2019541"/>
            <a:ext cx="535000" cy="535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Arial" panose="020B0604020202020204" pitchFamily="34" charset="0"/>
                <a:ea typeface="Verdana" charset="0"/>
                <a:cs typeface="Arial" panose="020B0604020202020204" pitchFamily="34" charset="0"/>
              </a:rPr>
              <a:t>In</a:t>
            </a:r>
          </a:p>
        </p:txBody>
      </p:sp>
      <p:sp>
        <p:nvSpPr>
          <p:cNvPr id="66" name="Oval 65">
            <a:extLst>
              <a:ext uri="{FF2B5EF4-FFF2-40B4-BE49-F238E27FC236}">
                <a16:creationId xmlns:a16="http://schemas.microsoft.com/office/drawing/2014/main" id="{58D78397-D41C-6805-9F9F-6A3EB239CB96}"/>
              </a:ext>
            </a:extLst>
          </p:cNvPr>
          <p:cNvSpPr/>
          <p:nvPr/>
        </p:nvSpPr>
        <p:spPr>
          <a:xfrm>
            <a:off x="7415742" y="2022768"/>
            <a:ext cx="535000" cy="535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bg1"/>
                </a:solidFill>
                <a:latin typeface="Arial" panose="020B0604020202020204" pitchFamily="34" charset="0"/>
                <a:ea typeface="Verdana" charset="0"/>
                <a:cs typeface="Arial" panose="020B0604020202020204" pitchFamily="34" charset="0"/>
              </a:rPr>
              <a:t>Out</a:t>
            </a:r>
          </a:p>
        </p:txBody>
      </p:sp>
      <p:sp>
        <p:nvSpPr>
          <p:cNvPr id="67" name="Rounded Rectangle 66">
            <a:extLst>
              <a:ext uri="{FF2B5EF4-FFF2-40B4-BE49-F238E27FC236}">
                <a16:creationId xmlns:a16="http://schemas.microsoft.com/office/drawing/2014/main" id="{FC2F562C-044E-CF62-406E-95E0DBF41D49}"/>
              </a:ext>
            </a:extLst>
          </p:cNvPr>
          <p:cNvSpPr/>
          <p:nvPr/>
        </p:nvSpPr>
        <p:spPr>
          <a:xfrm>
            <a:off x="2921514" y="1922798"/>
            <a:ext cx="1053857" cy="71801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800" dirty="0"/>
              <a:t>Sales reps review and adjust the baseline forecast with their deal-level insights.</a:t>
            </a:r>
            <a:endParaRPr lang="en-US" sz="800" dirty="0">
              <a:solidFill>
                <a:schemeClr val="bg1"/>
              </a:solidFill>
              <a:latin typeface="Arial" panose="020B0604020202020204" pitchFamily="34" charset="0"/>
              <a:ea typeface="Verdana" charset="0"/>
              <a:cs typeface="Arial" panose="020B0604020202020204" pitchFamily="34" charset="0"/>
            </a:endParaRPr>
          </a:p>
        </p:txBody>
      </p:sp>
      <p:cxnSp>
        <p:nvCxnSpPr>
          <p:cNvPr id="72" name="Straight Arrow Connector 71">
            <a:extLst>
              <a:ext uri="{FF2B5EF4-FFF2-40B4-BE49-F238E27FC236}">
                <a16:creationId xmlns:a16="http://schemas.microsoft.com/office/drawing/2014/main" id="{15982BCE-0B57-1089-47AE-5560DCBC3E77}"/>
              </a:ext>
            </a:extLst>
          </p:cNvPr>
          <p:cNvCxnSpPr>
            <a:cxnSpLocks/>
            <a:stCxn id="65" idx="6"/>
            <a:endCxn id="67" idx="1"/>
          </p:cNvCxnSpPr>
          <p:nvPr/>
        </p:nvCxnSpPr>
        <p:spPr>
          <a:xfrm flipV="1">
            <a:off x="1728257" y="2281807"/>
            <a:ext cx="1193257" cy="523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8D6980BE-C914-1D6B-60FB-9DC973EB8D4B}"/>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
        <p:nvSpPr>
          <p:cNvPr id="9" name="TextBox 8">
            <a:extLst>
              <a:ext uri="{FF2B5EF4-FFF2-40B4-BE49-F238E27FC236}">
                <a16:creationId xmlns:a16="http://schemas.microsoft.com/office/drawing/2014/main" id="{04049AB8-3E34-93A8-4192-A03ED5A3C4FE}"/>
              </a:ext>
            </a:extLst>
          </p:cNvPr>
          <p:cNvSpPr txBox="1"/>
          <p:nvPr/>
        </p:nvSpPr>
        <p:spPr>
          <a:xfrm>
            <a:off x="6918982" y="2901120"/>
            <a:ext cx="1528519" cy="707886"/>
          </a:xfrm>
          <a:prstGeom prst="rect">
            <a:avLst/>
          </a:prstGeom>
          <a:noFill/>
        </p:spPr>
        <p:txBody>
          <a:bodyPr wrap="square" rtlCol="0">
            <a:spAutoFit/>
          </a:bodyPr>
          <a:lstStyle/>
          <a:p>
            <a:pPr algn="ctr"/>
            <a:r>
              <a:rPr lang="en-US" sz="1000" dirty="0"/>
              <a:t>An adjusted forecast, now called the "Management Forecast."</a:t>
            </a:r>
            <a:endParaRPr lang="en-US" sz="1000" dirty="0">
              <a:solidFill>
                <a:schemeClr val="bg1"/>
              </a:solidFill>
              <a:latin typeface="Arial" panose="020B0604020202020204" pitchFamily="34" charset="0"/>
              <a:ea typeface="Verdana" charset="0"/>
              <a:cs typeface="Arial" panose="020B0604020202020204" pitchFamily="34" charset="0"/>
            </a:endParaRPr>
          </a:p>
        </p:txBody>
      </p:sp>
      <p:grpSp>
        <p:nvGrpSpPr>
          <p:cNvPr id="6" name="Group 5">
            <a:extLst>
              <a:ext uri="{FF2B5EF4-FFF2-40B4-BE49-F238E27FC236}">
                <a16:creationId xmlns:a16="http://schemas.microsoft.com/office/drawing/2014/main" id="{96268F98-84BC-85E2-08D2-0604171FEE28}"/>
              </a:ext>
            </a:extLst>
          </p:cNvPr>
          <p:cNvGrpSpPr/>
          <p:nvPr/>
        </p:nvGrpSpPr>
        <p:grpSpPr>
          <a:xfrm>
            <a:off x="2973486" y="2901120"/>
            <a:ext cx="949911" cy="706036"/>
            <a:chOff x="1562593" y="1809020"/>
            <a:chExt cx="949911" cy="706036"/>
          </a:xfrm>
        </p:grpSpPr>
        <p:sp>
          <p:nvSpPr>
            <p:cNvPr id="7" name="TextBox 17">
              <a:extLst>
                <a:ext uri="{FF2B5EF4-FFF2-40B4-BE49-F238E27FC236}">
                  <a16:creationId xmlns:a16="http://schemas.microsoft.com/office/drawing/2014/main" id="{2D68FFE3-E6D2-EA4B-38B8-5D74EA07477F}"/>
                </a:ext>
              </a:extLst>
            </p:cNvPr>
            <p:cNvSpPr txBox="1"/>
            <p:nvPr/>
          </p:nvSpPr>
          <p:spPr>
            <a:xfrm>
              <a:off x="1562593" y="2261140"/>
              <a:ext cx="949911"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Tx/>
              </a:pPr>
              <a:r>
                <a:rPr lang="en-US" sz="1050">
                  <a:latin typeface="Arial" panose="020B0604020202020204" pitchFamily="34" charset="0"/>
                  <a:ea typeface="Verdana" charset="0"/>
                  <a:cs typeface="Arial" panose="020B0604020202020204" pitchFamily="34" charset="0"/>
                </a:rPr>
                <a:t>User input</a:t>
              </a:r>
            </a:p>
          </p:txBody>
        </p:sp>
        <p:pic>
          <p:nvPicPr>
            <p:cNvPr id="8" name="Picture 7" descr="A blue line drawing of a person&#10;&#10;AI-generated content may be incorrect.">
              <a:extLst>
                <a:ext uri="{FF2B5EF4-FFF2-40B4-BE49-F238E27FC236}">
                  <a16:creationId xmlns:a16="http://schemas.microsoft.com/office/drawing/2014/main" id="{7ADE9DA3-2641-18CF-23D9-B092B338A5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1648" y="1809020"/>
              <a:ext cx="431800" cy="431800"/>
            </a:xfrm>
            <a:prstGeom prst="rect">
              <a:avLst/>
            </a:prstGeom>
          </p:spPr>
        </p:pic>
      </p:grpSp>
      <p:sp>
        <p:nvSpPr>
          <p:cNvPr id="10" name="Rounded Rectangle 9">
            <a:extLst>
              <a:ext uri="{FF2B5EF4-FFF2-40B4-BE49-F238E27FC236}">
                <a16:creationId xmlns:a16="http://schemas.microsoft.com/office/drawing/2014/main" id="{4EEE23EC-4785-55DF-779B-0DFA2A8B37BE}"/>
              </a:ext>
            </a:extLst>
          </p:cNvPr>
          <p:cNvSpPr/>
          <p:nvPr/>
        </p:nvSpPr>
        <p:spPr>
          <a:xfrm>
            <a:off x="5168628" y="1922798"/>
            <a:ext cx="1053857" cy="71801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800" dirty="0"/>
              <a:t>Sales leaders review forecasts for region and make high-level "top-down" adjustments</a:t>
            </a:r>
          </a:p>
        </p:txBody>
      </p:sp>
      <p:grpSp>
        <p:nvGrpSpPr>
          <p:cNvPr id="11" name="Group 10">
            <a:extLst>
              <a:ext uri="{FF2B5EF4-FFF2-40B4-BE49-F238E27FC236}">
                <a16:creationId xmlns:a16="http://schemas.microsoft.com/office/drawing/2014/main" id="{029D26FE-37AD-5B8D-0AE8-0BC55CF8D7B1}"/>
              </a:ext>
            </a:extLst>
          </p:cNvPr>
          <p:cNvGrpSpPr/>
          <p:nvPr/>
        </p:nvGrpSpPr>
        <p:grpSpPr>
          <a:xfrm>
            <a:off x="5220605" y="2901120"/>
            <a:ext cx="949911" cy="706036"/>
            <a:chOff x="1562593" y="1809020"/>
            <a:chExt cx="949911" cy="706036"/>
          </a:xfrm>
        </p:grpSpPr>
        <p:sp>
          <p:nvSpPr>
            <p:cNvPr id="12" name="TextBox 17">
              <a:extLst>
                <a:ext uri="{FF2B5EF4-FFF2-40B4-BE49-F238E27FC236}">
                  <a16:creationId xmlns:a16="http://schemas.microsoft.com/office/drawing/2014/main" id="{65656536-CD50-1369-4244-79B24408424E}"/>
                </a:ext>
              </a:extLst>
            </p:cNvPr>
            <p:cNvSpPr txBox="1"/>
            <p:nvPr/>
          </p:nvSpPr>
          <p:spPr>
            <a:xfrm>
              <a:off x="1562593" y="2261140"/>
              <a:ext cx="949911"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Tx/>
              </a:pPr>
              <a:r>
                <a:rPr lang="en-US" sz="1050">
                  <a:latin typeface="Arial" panose="020B0604020202020204" pitchFamily="34" charset="0"/>
                  <a:ea typeface="Verdana" charset="0"/>
                  <a:cs typeface="Arial" panose="020B0604020202020204" pitchFamily="34" charset="0"/>
                </a:rPr>
                <a:t>User input</a:t>
              </a:r>
            </a:p>
          </p:txBody>
        </p:sp>
        <p:pic>
          <p:nvPicPr>
            <p:cNvPr id="13" name="Picture 12" descr="A blue line drawing of a person&#10;&#10;AI-generated content may be incorrect.">
              <a:extLst>
                <a:ext uri="{FF2B5EF4-FFF2-40B4-BE49-F238E27FC236}">
                  <a16:creationId xmlns:a16="http://schemas.microsoft.com/office/drawing/2014/main" id="{0DD0F5B0-4814-2A98-389A-A8EE003622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1648" y="1809020"/>
              <a:ext cx="431800" cy="431800"/>
            </a:xfrm>
            <a:prstGeom prst="rect">
              <a:avLst/>
            </a:prstGeom>
          </p:spPr>
        </p:pic>
      </p:grpSp>
      <p:cxnSp>
        <p:nvCxnSpPr>
          <p:cNvPr id="15" name="Straight Arrow Connector 14">
            <a:extLst>
              <a:ext uri="{FF2B5EF4-FFF2-40B4-BE49-F238E27FC236}">
                <a16:creationId xmlns:a16="http://schemas.microsoft.com/office/drawing/2014/main" id="{2E6F684B-58DE-CEAB-EF54-E1BA35D23AF7}"/>
              </a:ext>
            </a:extLst>
          </p:cNvPr>
          <p:cNvCxnSpPr>
            <a:stCxn id="67" idx="3"/>
            <a:endCxn id="10" idx="1"/>
          </p:cNvCxnSpPr>
          <p:nvPr/>
        </p:nvCxnSpPr>
        <p:spPr>
          <a:xfrm>
            <a:off x="3975371" y="2281807"/>
            <a:ext cx="1193257" cy="0"/>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D5340802-7E16-B641-DD03-5A68B7C191A9}"/>
              </a:ext>
            </a:extLst>
          </p:cNvPr>
          <p:cNvCxnSpPr>
            <a:cxnSpLocks/>
            <a:stCxn id="10" idx="3"/>
            <a:endCxn id="66" idx="2"/>
          </p:cNvCxnSpPr>
          <p:nvPr/>
        </p:nvCxnSpPr>
        <p:spPr>
          <a:xfrm>
            <a:off x="6222485" y="2281807"/>
            <a:ext cx="1193257" cy="8461"/>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9582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66BBD-86DC-7E4A-218B-6C1C3D481B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AC312C-B16E-0525-249C-B10081C0880D}"/>
              </a:ext>
            </a:extLst>
          </p:cNvPr>
          <p:cNvSpPr>
            <a:spLocks noGrp="1"/>
          </p:cNvSpPr>
          <p:nvPr>
            <p:ph type="title"/>
          </p:nvPr>
        </p:nvSpPr>
        <p:spPr>
          <a:xfrm>
            <a:off x="419100" y="294640"/>
            <a:ext cx="8153401" cy="338554"/>
          </a:xfrm>
        </p:spPr>
        <p:txBody>
          <a:bodyPr/>
          <a:lstStyle/>
          <a:p>
            <a:r>
              <a:rPr lang="en-US" b="1" dirty="0">
                <a:solidFill>
                  <a:schemeClr val="tx2"/>
                </a:solidFill>
                <a:ea typeface="+mn-lt"/>
                <a:cs typeface="+mn-lt"/>
              </a:rPr>
              <a:t>Forecast Review and Adjustment </a:t>
            </a:r>
            <a:r>
              <a:rPr lang="en-US" b="1" dirty="0"/>
              <a:t>- </a:t>
            </a:r>
            <a:r>
              <a:rPr lang="en-US" b="1" dirty="0">
                <a:solidFill>
                  <a:schemeClr val="tx2"/>
                </a:solidFill>
              </a:rPr>
              <a:t>Parameters</a:t>
            </a:r>
          </a:p>
        </p:txBody>
      </p:sp>
      <p:graphicFrame>
        <p:nvGraphicFramePr>
          <p:cNvPr id="7" name="Table 7">
            <a:extLst>
              <a:ext uri="{FF2B5EF4-FFF2-40B4-BE49-F238E27FC236}">
                <a16:creationId xmlns:a16="http://schemas.microsoft.com/office/drawing/2014/main" id="{70B30CA6-947B-FE48-BDB0-9E500CB7C81F}"/>
              </a:ext>
            </a:extLst>
          </p:cNvPr>
          <p:cNvGraphicFramePr>
            <a:graphicFrameLocks noGrp="1"/>
          </p:cNvGraphicFramePr>
          <p:nvPr/>
        </p:nvGraphicFramePr>
        <p:xfrm>
          <a:off x="419100" y="1022930"/>
          <a:ext cx="8153400" cy="2194584"/>
        </p:xfrm>
        <a:graphic>
          <a:graphicData uri="http://schemas.openxmlformats.org/drawingml/2006/table">
            <a:tbl>
              <a:tblPr firstRow="1" bandRow="1">
                <a:tableStyleId>{72833802-FEF1-4C79-8D5D-14CF1EAF98D9}</a:tableStyleId>
              </a:tblPr>
              <a:tblGrid>
                <a:gridCol w="1701497">
                  <a:extLst>
                    <a:ext uri="{9D8B030D-6E8A-4147-A177-3AD203B41FA5}">
                      <a16:colId xmlns:a16="http://schemas.microsoft.com/office/drawing/2014/main" val="718031972"/>
                    </a:ext>
                  </a:extLst>
                </a:gridCol>
                <a:gridCol w="6451903">
                  <a:extLst>
                    <a:ext uri="{9D8B030D-6E8A-4147-A177-3AD203B41FA5}">
                      <a16:colId xmlns:a16="http://schemas.microsoft.com/office/drawing/2014/main" val="1955053113"/>
                    </a:ext>
                  </a:extLst>
                </a:gridCol>
              </a:tblGrid>
              <a:tr h="264464">
                <a:tc>
                  <a:txBody>
                    <a:bodyPr/>
                    <a:lstStyle/>
                    <a:p>
                      <a:r>
                        <a:rPr lang="en-US" sz="900"/>
                        <a:t>Parameter</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r>
                        <a:rPr lang="en-US" sz="900"/>
                        <a:t>Purpose</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926781289"/>
                  </a:ext>
                </a:extLst>
              </a:tr>
              <a:tr h="2472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Stat Forecast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system-generated baseline forecast for their territory. This is the starting point.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620792711"/>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Open Opportunity Pipeline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A live view of their open deals from the CRM for the forecast period.</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47844716"/>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Historical Sales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Their territory's sales performance from previous periods.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080469651"/>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Quota / Target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Their sales goal for the period.</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779808244"/>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Sales Submission</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number the rep is committing to. This is a manual input field where they can either accept the Stat Forecast or override it with their own number based on the other inputs.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703409048"/>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Aggregated Values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The aggregated view of a manager’s team Quota, Target, Sales Submission, </a:t>
                      </a:r>
                      <a:r>
                        <a:rPr kumimoji="0" lang="en-US" sz="800" b="0" i="0" u="none" strike="noStrike" kern="1200" cap="none" spc="0" normalizeH="0" baseline="0" noProof="0" dirty="0" err="1">
                          <a:ln>
                            <a:noFill/>
                          </a:ln>
                          <a:solidFill>
                            <a:srgbClr val="0A2F46"/>
                          </a:solidFill>
                          <a:effectLst/>
                          <a:uLnTx/>
                          <a:uFillTx/>
                          <a:latin typeface="Arial" panose="020B0604020202020204" pitchFamily="34" charset="0"/>
                          <a:ea typeface="Verdana" charset="0"/>
                          <a:cs typeface="Arial" panose="020B0604020202020204" pitchFamily="34" charset="0"/>
                        </a:rPr>
                        <a:t>etc</a:t>
                      </a:r>
                      <a:endPar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937406349"/>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Management Adjustment / Overlay</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A high-level adjustment amount (positive or negative) that the manager applies to their team's total forecast. They do this to account for broader risks or opportunities their team may not see. This is the primary "top-down" input.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885225462"/>
                  </a:ext>
                </a:extLst>
              </a:tr>
            </a:tbl>
          </a:graphicData>
        </a:graphic>
      </p:graphicFrame>
      <p:sp>
        <p:nvSpPr>
          <p:cNvPr id="4" name="Rectangle 3">
            <a:extLst>
              <a:ext uri="{FF2B5EF4-FFF2-40B4-BE49-F238E27FC236}">
                <a16:creationId xmlns:a16="http://schemas.microsoft.com/office/drawing/2014/main" id="{EDB3EC18-C099-175D-CD6C-2376D6112246}"/>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1317213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D9933-948B-B931-396E-B7E157D4E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57C3D-00E2-1841-1B98-8CF9A0DD52EF}"/>
              </a:ext>
            </a:extLst>
          </p:cNvPr>
          <p:cNvSpPr>
            <a:spLocks noGrp="1"/>
          </p:cNvSpPr>
          <p:nvPr>
            <p:ph type="title"/>
          </p:nvPr>
        </p:nvSpPr>
        <p:spPr/>
        <p:txBody>
          <a:bodyPr/>
          <a:lstStyle/>
          <a:p>
            <a:r>
              <a:rPr lang="en-US" b="1" dirty="0">
                <a:solidFill>
                  <a:schemeClr val="tx2"/>
                </a:solidFill>
                <a:ea typeface="+mn-lt"/>
                <a:cs typeface="+mn-lt"/>
              </a:rPr>
              <a:t>Forecast Review and Adjustment </a:t>
            </a:r>
            <a:r>
              <a:rPr lang="en-US" b="1" dirty="0"/>
              <a:t>- </a:t>
            </a:r>
            <a:r>
              <a:rPr lang="en-US" b="1" dirty="0">
                <a:solidFill>
                  <a:schemeClr val="tx2"/>
                </a:solidFill>
              </a:rPr>
              <a:t>Key Screens</a:t>
            </a:r>
          </a:p>
        </p:txBody>
      </p:sp>
      <p:sp>
        <p:nvSpPr>
          <p:cNvPr id="4" name="TextBox 3">
            <a:extLst>
              <a:ext uri="{FF2B5EF4-FFF2-40B4-BE49-F238E27FC236}">
                <a16:creationId xmlns:a16="http://schemas.microsoft.com/office/drawing/2014/main" id="{A5B3FE25-D315-C331-4A8B-06B67FC0EA23}"/>
              </a:ext>
            </a:extLst>
          </p:cNvPr>
          <p:cNvSpPr txBox="1"/>
          <p:nvPr/>
        </p:nvSpPr>
        <p:spPr>
          <a:xfrm>
            <a:off x="356616" y="633194"/>
            <a:ext cx="4572000" cy="307777"/>
          </a:xfrm>
          <a:prstGeom prst="rect">
            <a:avLst/>
          </a:prstGeom>
          <a:noFill/>
        </p:spPr>
        <p:txBody>
          <a:bodyPr wrap="square">
            <a:spAutoFit/>
          </a:bodyPr>
          <a:lstStyle/>
          <a:p>
            <a:r>
              <a:rPr lang="en-GB" sz="1400" dirty="0">
                <a:solidFill>
                  <a:schemeClr val="accent1"/>
                </a:solidFill>
                <a:latin typeface="Arial" panose="020B0604020202020204" pitchFamily="34" charset="0"/>
                <a:cs typeface="Arial" panose="020B0604020202020204" pitchFamily="34" charset="0"/>
              </a:rPr>
              <a:t>1.1 Forecast</a:t>
            </a:r>
            <a:endParaRPr lang="en-US" sz="1400" dirty="0">
              <a:solidFill>
                <a:schemeClr val="accent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89122F3-4E83-1E16-7AB7-F486CE8081F9}"/>
              </a:ext>
            </a:extLst>
          </p:cNvPr>
          <p:cNvSpPr txBox="1"/>
          <p:nvPr/>
        </p:nvSpPr>
        <p:spPr>
          <a:xfrm>
            <a:off x="6470132" y="1025609"/>
            <a:ext cx="2190031" cy="1692771"/>
          </a:xfrm>
          <a:prstGeom prst="rect">
            <a:avLst/>
          </a:prstGeom>
          <a:noFill/>
          <a:ln>
            <a:noFill/>
          </a:ln>
        </p:spPr>
        <p:txBody>
          <a:bodyPr wrap="square" rtlCol="0">
            <a:spAutoFit/>
          </a:bodyPr>
          <a:lstStyle/>
          <a:p>
            <a:pPr marL="180975" indent="-180975" algn="l">
              <a:spcBef>
                <a:spcPts val="300"/>
              </a:spcBef>
              <a:spcAft>
                <a:spcPts val="300"/>
              </a:spcAft>
              <a:buClrTx/>
              <a:buFont typeface="Arial" panose="020B0604020202020204" pitchFamily="34" charset="0"/>
              <a:buChar char="•"/>
            </a:pPr>
            <a:r>
              <a:rPr lang="en-US" sz="1050" b="0" dirty="0">
                <a:solidFill>
                  <a:schemeClr val="tx2"/>
                </a:solidFill>
                <a:latin typeface="Arial" panose="020B0604020202020204" pitchFamily="34" charset="0"/>
                <a:ea typeface="Verdana" charset="0"/>
                <a:cs typeface="Arial" panose="020B0604020202020204" pitchFamily="34" charset="0"/>
              </a:rPr>
              <a:t>Review forecast values, won, commit, pipeline, </a:t>
            </a:r>
            <a:r>
              <a:rPr lang="en-US" sz="1050" b="0" dirty="0" err="1">
                <a:solidFill>
                  <a:schemeClr val="tx2"/>
                </a:solidFill>
                <a:latin typeface="Arial" panose="020B0604020202020204" pitchFamily="34" charset="0"/>
                <a:ea typeface="Verdana" charset="0"/>
                <a:cs typeface="Arial" panose="020B0604020202020204" pitchFamily="34" charset="0"/>
              </a:rPr>
              <a:t>etc</a:t>
            </a:r>
            <a:endParaRPr lang="en-US" sz="1050" dirty="0">
              <a:solidFill>
                <a:schemeClr val="tx2"/>
              </a:solidFill>
              <a:latin typeface="Arial" panose="020B0604020202020204" pitchFamily="34" charset="0"/>
              <a:ea typeface="Verdana" charset="0"/>
              <a:cs typeface="Arial" panose="020B0604020202020204" pitchFamily="34" charset="0"/>
            </a:endParaRPr>
          </a:p>
          <a:p>
            <a:pPr marL="180975" indent="-180975" algn="l">
              <a:spcBef>
                <a:spcPts val="300"/>
              </a:spcBef>
              <a:spcAft>
                <a:spcPts val="300"/>
              </a:spcAft>
              <a:buClrTx/>
              <a:buFont typeface="Arial" panose="020B0604020202020204" pitchFamily="34" charset="0"/>
              <a:buChar char="•"/>
            </a:pPr>
            <a:r>
              <a:rPr lang="en-US" sz="1050" b="0" dirty="0">
                <a:solidFill>
                  <a:schemeClr val="tx2"/>
                </a:solidFill>
                <a:latin typeface="Arial" panose="020B0604020202020204" pitchFamily="34" charset="0"/>
                <a:ea typeface="Verdana" charset="0"/>
                <a:cs typeface="Arial" panose="020B0604020202020204" pitchFamily="34" charset="0"/>
              </a:rPr>
              <a:t>Adjust own forecast</a:t>
            </a:r>
            <a:endParaRPr lang="en-US" sz="1050" dirty="0">
              <a:solidFill>
                <a:schemeClr val="tx2"/>
              </a:solidFill>
              <a:latin typeface="Arial" panose="020B0604020202020204" pitchFamily="34" charset="0"/>
              <a:ea typeface="Verdana" charset="0"/>
              <a:cs typeface="Arial" panose="020B0604020202020204" pitchFamily="34" charset="0"/>
            </a:endParaRPr>
          </a:p>
          <a:p>
            <a:pPr marL="180975" indent="-180975" algn="l">
              <a:spcBef>
                <a:spcPts val="300"/>
              </a:spcBef>
              <a:spcAft>
                <a:spcPts val="300"/>
              </a:spcAft>
              <a:buClrTx/>
              <a:buFont typeface="Arial" panose="020B0604020202020204" pitchFamily="34" charset="0"/>
              <a:buChar char="•"/>
            </a:pPr>
            <a:r>
              <a:rPr lang="en-US" sz="1050" dirty="0">
                <a:solidFill>
                  <a:schemeClr val="tx2"/>
                </a:solidFill>
                <a:latin typeface="Arial" panose="020B0604020202020204" pitchFamily="34" charset="0"/>
                <a:ea typeface="Verdana" charset="0"/>
                <a:cs typeface="Arial" panose="020B0604020202020204" pitchFamily="34" charset="0"/>
              </a:rPr>
              <a:t>Review / adjust team’s forecast</a:t>
            </a:r>
          </a:p>
          <a:p>
            <a:pPr marL="180975" indent="-180975" algn="l">
              <a:spcBef>
                <a:spcPts val="300"/>
              </a:spcBef>
              <a:spcAft>
                <a:spcPts val="300"/>
              </a:spcAft>
              <a:buClrTx/>
              <a:buFont typeface="Arial" panose="020B0604020202020204" pitchFamily="34" charset="0"/>
              <a:buChar char="•"/>
            </a:pPr>
            <a:r>
              <a:rPr lang="en-US" sz="1050" dirty="0">
                <a:solidFill>
                  <a:schemeClr val="tx2"/>
                </a:solidFill>
                <a:latin typeface="Arial" panose="020B0604020202020204" pitchFamily="34" charset="0"/>
                <a:ea typeface="Verdana" charset="0"/>
                <a:cs typeface="Arial" panose="020B0604020202020204" pitchFamily="34" charset="0"/>
              </a:rPr>
              <a:t>Submit/lock forecast for the period</a:t>
            </a:r>
          </a:p>
          <a:p>
            <a:pPr marL="180975" indent="-180975" algn="l">
              <a:spcBef>
                <a:spcPts val="300"/>
              </a:spcBef>
              <a:spcAft>
                <a:spcPts val="300"/>
              </a:spcAft>
              <a:buClrTx/>
              <a:buFont typeface="Arial" panose="020B0604020202020204" pitchFamily="34" charset="0"/>
              <a:buChar char="•"/>
            </a:pPr>
            <a:endParaRPr lang="en-US" sz="1050" b="0" dirty="0">
              <a:solidFill>
                <a:schemeClr val="tx2"/>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A8626F48-11E1-A18B-2F58-CDEFA218BEE9}"/>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
        <p:nvSpPr>
          <p:cNvPr id="8" name="Rectangle 7">
            <a:extLst>
              <a:ext uri="{FF2B5EF4-FFF2-40B4-BE49-F238E27FC236}">
                <a16:creationId xmlns:a16="http://schemas.microsoft.com/office/drawing/2014/main" id="{31424F03-BE36-DB89-A9A1-C99A6EA0A5FF}"/>
              </a:ext>
            </a:extLst>
          </p:cNvPr>
          <p:cNvSpPr>
            <a:spLocks noGrp="1" noRot="1" noMove="1" noResize="1" noEditPoints="1" noAdjustHandles="1" noChangeArrowheads="1" noChangeShapeType="1"/>
          </p:cNvSpPr>
          <p:nvPr/>
        </p:nvSpPr>
        <p:spPr>
          <a:xfrm>
            <a:off x="5089453" y="1061049"/>
            <a:ext cx="1396409" cy="87267"/>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Arial" panose="020B0604020202020204" pitchFamily="34" charset="0"/>
              <a:ea typeface="Verdana" charset="0"/>
              <a:cs typeface="Arial" panose="020B0604020202020204" pitchFamily="34" charset="0"/>
            </a:endParaRPr>
          </a:p>
        </p:txBody>
      </p:sp>
      <p:sp>
        <p:nvSpPr>
          <p:cNvPr id="9" name="Rectangle 8">
            <a:extLst>
              <a:ext uri="{FF2B5EF4-FFF2-40B4-BE49-F238E27FC236}">
                <a16:creationId xmlns:a16="http://schemas.microsoft.com/office/drawing/2014/main" id="{FAF8420D-EBE9-47FD-3E8F-2BAD49108E3C}"/>
              </a:ext>
            </a:extLst>
          </p:cNvPr>
          <p:cNvSpPr>
            <a:spLocks noGrp="1" noRot="1" noMove="1" noResize="1" noEditPoints="1" noAdjustHandles="1" noChangeArrowheads="1" noChangeShapeType="1"/>
          </p:cNvSpPr>
          <p:nvPr/>
        </p:nvSpPr>
        <p:spPr>
          <a:xfrm>
            <a:off x="5943600" y="1061049"/>
            <a:ext cx="529562" cy="8726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B67CE8AB-7A2B-3BDF-6AF4-109A91F7AE1E}"/>
              </a:ext>
            </a:extLst>
          </p:cNvPr>
          <p:cNvPicPr>
            <a:picLocks noChangeAspect="1"/>
          </p:cNvPicPr>
          <p:nvPr/>
        </p:nvPicPr>
        <p:blipFill>
          <a:blip r:embed="rId2"/>
          <a:stretch>
            <a:fillRect/>
          </a:stretch>
        </p:blipFill>
        <p:spPr>
          <a:xfrm>
            <a:off x="419100" y="1061049"/>
            <a:ext cx="5939121" cy="2064400"/>
          </a:xfrm>
          <a:prstGeom prst="rect">
            <a:avLst/>
          </a:prstGeom>
          <a:ln>
            <a:solidFill>
              <a:schemeClr val="tx1"/>
            </a:solidFill>
          </a:ln>
        </p:spPr>
      </p:pic>
    </p:spTree>
    <p:extLst>
      <p:ext uri="{BB962C8B-B14F-4D97-AF65-F5344CB8AC3E}">
        <p14:creationId xmlns:p14="http://schemas.microsoft.com/office/powerpoint/2010/main" val="2717347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28633-D201-1ABC-81AF-A2C60B83C2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CCCB02-F609-B487-A522-60250B7417EF}"/>
              </a:ext>
            </a:extLst>
          </p:cNvPr>
          <p:cNvSpPr>
            <a:spLocks noGrp="1"/>
          </p:cNvSpPr>
          <p:nvPr>
            <p:ph type="title"/>
          </p:nvPr>
        </p:nvSpPr>
        <p:spPr/>
        <p:txBody>
          <a:bodyPr/>
          <a:lstStyle/>
          <a:p>
            <a:r>
              <a:rPr lang="en-US" b="1" dirty="0">
                <a:solidFill>
                  <a:schemeClr val="tx2"/>
                </a:solidFill>
                <a:ea typeface="+mn-lt"/>
                <a:cs typeface="+mn-lt"/>
              </a:rPr>
              <a:t>Forecast Review and Adjustment </a:t>
            </a:r>
            <a:r>
              <a:rPr lang="en-US" b="1" dirty="0"/>
              <a:t>- </a:t>
            </a:r>
            <a:r>
              <a:rPr lang="en-US" b="1" dirty="0">
                <a:solidFill>
                  <a:schemeClr val="tx2"/>
                </a:solidFill>
              </a:rPr>
              <a:t>Hints and Tips</a:t>
            </a:r>
          </a:p>
        </p:txBody>
      </p:sp>
      <p:sp>
        <p:nvSpPr>
          <p:cNvPr id="3" name="Content Placeholder 2">
            <a:extLst>
              <a:ext uri="{FF2B5EF4-FFF2-40B4-BE49-F238E27FC236}">
                <a16:creationId xmlns:a16="http://schemas.microsoft.com/office/drawing/2014/main" id="{D4989540-E580-D740-66C5-D04275998B90}"/>
              </a:ext>
            </a:extLst>
          </p:cNvPr>
          <p:cNvSpPr>
            <a:spLocks noGrp="1"/>
          </p:cNvSpPr>
          <p:nvPr>
            <p:ph idx="1"/>
          </p:nvPr>
        </p:nvSpPr>
        <p:spPr>
          <a:xfrm>
            <a:off x="419100" y="819860"/>
            <a:ext cx="8153400" cy="3984800"/>
          </a:xfrm>
        </p:spPr>
        <p:txBody>
          <a:bodyPr lIns="0" rIns="0"/>
          <a:lstStyle/>
          <a:p>
            <a:pPr>
              <a:spcBef>
                <a:spcPts val="300"/>
              </a:spcBef>
              <a:spcAft>
                <a:spcPts val="300"/>
              </a:spcAft>
              <a:buClr>
                <a:schemeClr val="accent1"/>
              </a:buClr>
            </a:pPr>
            <a:r>
              <a:rPr lang="en-US" sz="1200" dirty="0"/>
              <a:t>Tips for Sales Representatives (Bottom-Up)</a:t>
            </a:r>
          </a:p>
          <a:p>
            <a:pPr lvl="1">
              <a:spcBef>
                <a:spcPts val="300"/>
              </a:spcBef>
              <a:spcAft>
                <a:spcPts val="300"/>
              </a:spcAft>
              <a:buClr>
                <a:schemeClr val="accent1"/>
              </a:buClr>
            </a:pPr>
            <a:r>
              <a:rPr lang="en-US" sz="1200" dirty="0"/>
              <a:t>Justify Your Adjustments: Your commentary explaining why you changed the forecast is as important as the number itself.</a:t>
            </a:r>
          </a:p>
          <a:p>
            <a:pPr lvl="1">
              <a:spcBef>
                <a:spcPts val="300"/>
              </a:spcBef>
              <a:spcAft>
                <a:spcPts val="300"/>
              </a:spcAft>
              <a:buClr>
                <a:schemeClr val="accent1"/>
              </a:buClr>
            </a:pPr>
            <a:r>
              <a:rPr lang="en-US" sz="1200" dirty="0"/>
              <a:t>Challenge the Baseline: Use the statistical forecast as a starting point, but focus your energy on adding your expert knowledge about specific deals.</a:t>
            </a:r>
          </a:p>
          <a:p>
            <a:pPr lvl="1">
              <a:spcBef>
                <a:spcPts val="300"/>
              </a:spcBef>
              <a:spcAft>
                <a:spcPts val="300"/>
              </a:spcAft>
              <a:buClr>
                <a:schemeClr val="accent1"/>
              </a:buClr>
            </a:pPr>
            <a:r>
              <a:rPr lang="en-US" sz="1200" dirty="0"/>
              <a:t>Flag Both Risks and Upside: A good forecast is realistic. Use comments to note potential deals that could slip out or extra deals that might pull in.</a:t>
            </a:r>
          </a:p>
          <a:p>
            <a:pPr lvl="1">
              <a:spcBef>
                <a:spcPts val="300"/>
              </a:spcBef>
              <a:spcAft>
                <a:spcPts val="300"/>
              </a:spcAft>
              <a:buClr>
                <a:schemeClr val="accent1"/>
              </a:buClr>
            </a:pPr>
            <a:r>
              <a:rPr lang="en-US" sz="1200" dirty="0"/>
              <a:t>Communicate Big Changes Early: Don't wait for the formal review to surprise your manager with a major change to a key deal.</a:t>
            </a:r>
          </a:p>
          <a:p>
            <a:pPr>
              <a:spcBef>
                <a:spcPts val="300"/>
              </a:spcBef>
              <a:spcAft>
                <a:spcPts val="300"/>
              </a:spcAft>
              <a:buClr>
                <a:schemeClr val="accent1"/>
              </a:buClr>
            </a:pPr>
            <a:r>
              <a:rPr lang="en-US" sz="1200" dirty="0"/>
              <a:t>Tips for Sales Managers (Top-Down)</a:t>
            </a:r>
          </a:p>
          <a:p>
            <a:pPr lvl="1">
              <a:spcBef>
                <a:spcPts val="300"/>
              </a:spcBef>
              <a:spcAft>
                <a:spcPts val="300"/>
              </a:spcAft>
              <a:buClr>
                <a:schemeClr val="accent1"/>
              </a:buClr>
            </a:pPr>
            <a:r>
              <a:rPr lang="en-US" sz="1200" dirty="0"/>
              <a:t>Coach for Accuracy: Use historical Forecast vs. Actuals data to help your reps identify their biases and improve their forecasting muscle.</a:t>
            </a:r>
          </a:p>
          <a:p>
            <a:pPr lvl="1">
              <a:spcBef>
                <a:spcPts val="300"/>
              </a:spcBef>
              <a:spcAft>
                <a:spcPts val="300"/>
              </a:spcAft>
              <a:buClr>
                <a:schemeClr val="accent1"/>
              </a:buClr>
            </a:pPr>
            <a:r>
              <a:rPr lang="en-US" sz="1200" dirty="0"/>
              <a:t>Manage the Portfolio: Apply your judgment to the team's total forecast to account for overall risks and opportunities that individuals may not see.</a:t>
            </a:r>
          </a:p>
          <a:p>
            <a:pPr lvl="1">
              <a:spcBef>
                <a:spcPts val="300"/>
              </a:spcBef>
              <a:spcAft>
                <a:spcPts val="300"/>
              </a:spcAft>
              <a:buClr>
                <a:schemeClr val="accent1"/>
              </a:buClr>
            </a:pPr>
            <a:r>
              <a:rPr lang="en-US" sz="1200" dirty="0"/>
              <a:t>Use Overlays for Strategy, Not Micromanagement: Your adjustment should reflect broad factors (market trends, campaigns). If you disagree with a single rep's commit, talk to them directly.</a:t>
            </a:r>
          </a:p>
          <a:p>
            <a:pPr lvl="1">
              <a:spcBef>
                <a:spcPts val="300"/>
              </a:spcBef>
              <a:spcAft>
                <a:spcPts val="300"/>
              </a:spcAft>
              <a:buClr>
                <a:schemeClr val="accent1"/>
              </a:buClr>
            </a:pPr>
            <a:r>
              <a:rPr lang="en-US" sz="1200" dirty="0"/>
              <a:t>Justify Your Own Adjustments: Provide clear commentary for any top-down overlay you apply to ensure transparency for both your team and your leadership.</a:t>
            </a:r>
          </a:p>
        </p:txBody>
      </p:sp>
      <p:sp>
        <p:nvSpPr>
          <p:cNvPr id="4" name="Rectangle 3">
            <a:extLst>
              <a:ext uri="{FF2B5EF4-FFF2-40B4-BE49-F238E27FC236}">
                <a16:creationId xmlns:a16="http://schemas.microsoft.com/office/drawing/2014/main" id="{C4E2EB33-259D-4C37-DE4A-433D9BAA9840}"/>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2352979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96866-1572-EDEE-C4B8-B92B966DC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31BF8-D27A-B969-E0ED-34CC78DCD2AD}"/>
              </a:ext>
            </a:extLst>
          </p:cNvPr>
          <p:cNvSpPr>
            <a:spLocks noGrp="1"/>
          </p:cNvSpPr>
          <p:nvPr>
            <p:ph type="title"/>
          </p:nvPr>
        </p:nvSpPr>
        <p:spPr/>
        <p:txBody>
          <a:bodyPr/>
          <a:lstStyle/>
          <a:p>
            <a:r>
              <a:rPr lang="en-US" b="1" dirty="0">
                <a:solidFill>
                  <a:schemeClr val="tx2"/>
                </a:solidFill>
                <a:ea typeface="+mn-lt"/>
                <a:cs typeface="+mn-lt"/>
              </a:rPr>
              <a:t>Forecast Review and Adjustment </a:t>
            </a:r>
            <a:r>
              <a:rPr lang="en-US" b="1" dirty="0"/>
              <a:t>- </a:t>
            </a:r>
            <a:r>
              <a:rPr lang="en-US" b="1" dirty="0">
                <a:solidFill>
                  <a:schemeClr val="tx2"/>
                </a:solidFill>
              </a:rPr>
              <a:t>Implementation and Configuration Considerations</a:t>
            </a:r>
          </a:p>
        </p:txBody>
      </p:sp>
      <p:sp>
        <p:nvSpPr>
          <p:cNvPr id="3" name="Content Placeholder 2">
            <a:extLst>
              <a:ext uri="{FF2B5EF4-FFF2-40B4-BE49-F238E27FC236}">
                <a16:creationId xmlns:a16="http://schemas.microsoft.com/office/drawing/2014/main" id="{3BFF7DEC-C30F-667C-A39D-4F91D52E7F5D}"/>
              </a:ext>
            </a:extLst>
          </p:cNvPr>
          <p:cNvSpPr>
            <a:spLocks noGrp="1"/>
          </p:cNvSpPr>
          <p:nvPr>
            <p:ph idx="1"/>
          </p:nvPr>
        </p:nvSpPr>
        <p:spPr>
          <a:xfrm>
            <a:off x="419100" y="933172"/>
            <a:ext cx="8153400" cy="3984800"/>
          </a:xfrm>
        </p:spPr>
        <p:txBody>
          <a:bodyPr lIns="0" rIns="0"/>
          <a:lstStyle/>
          <a:p>
            <a:pPr>
              <a:spcBef>
                <a:spcPts val="300"/>
              </a:spcBef>
              <a:spcAft>
                <a:spcPts val="300"/>
              </a:spcAft>
              <a:buClr>
                <a:schemeClr val="accent1"/>
              </a:buClr>
            </a:pPr>
            <a:r>
              <a:rPr lang="en-US" sz="1200" dirty="0"/>
              <a:t>Field Sales Dashboard (Bottom-Up) - a simple workspace for a rep to submit their forecast.</a:t>
            </a:r>
          </a:p>
          <a:p>
            <a:pPr lvl="1">
              <a:spcBef>
                <a:spcPts val="300"/>
              </a:spcBef>
              <a:spcAft>
                <a:spcPts val="300"/>
              </a:spcAft>
              <a:buClr>
                <a:schemeClr val="accent1"/>
              </a:buClr>
            </a:pPr>
            <a:r>
              <a:rPr lang="en-US" sz="1200" dirty="0"/>
              <a:t>Show Key Metrics (Read-Only): Display the user's Stat Forecast, Open Pipeline, and Quota.</a:t>
            </a:r>
          </a:p>
          <a:p>
            <a:pPr lvl="1">
              <a:spcBef>
                <a:spcPts val="300"/>
              </a:spcBef>
              <a:spcAft>
                <a:spcPts val="300"/>
              </a:spcAft>
              <a:buClr>
                <a:schemeClr val="accent1"/>
              </a:buClr>
            </a:pPr>
            <a:r>
              <a:rPr lang="en-US" sz="1200" dirty="0"/>
              <a:t>Provide Input Fields (Editable): Create a grid where the user can enter their Sales Submission number and provide a justification in a Commentary text field.</a:t>
            </a:r>
          </a:p>
          <a:p>
            <a:pPr lvl="1">
              <a:spcBef>
                <a:spcPts val="300"/>
              </a:spcBef>
              <a:spcAft>
                <a:spcPts val="300"/>
              </a:spcAft>
              <a:buClr>
                <a:schemeClr val="accent1"/>
              </a:buClr>
            </a:pPr>
            <a:r>
              <a:rPr lang="en-US" sz="1200" dirty="0"/>
              <a:t>Include a "Submit" Button: A single button to signal their forecast is complete.</a:t>
            </a:r>
          </a:p>
          <a:p>
            <a:pPr>
              <a:spcBef>
                <a:spcPts val="300"/>
              </a:spcBef>
              <a:spcAft>
                <a:spcPts val="300"/>
              </a:spcAft>
              <a:buClr>
                <a:schemeClr val="accent1"/>
              </a:buClr>
            </a:pPr>
            <a:r>
              <a:rPr lang="en-US" sz="1200" dirty="0"/>
              <a:t>Sales Management Dashboard (Top-Down) - a roll-up view for a manager to review their team and apply their strategic judgment.</a:t>
            </a:r>
          </a:p>
          <a:p>
            <a:pPr lvl="1">
              <a:spcBef>
                <a:spcPts val="300"/>
              </a:spcBef>
              <a:spcAft>
                <a:spcPts val="300"/>
              </a:spcAft>
              <a:buClr>
                <a:schemeClr val="accent1"/>
              </a:buClr>
            </a:pPr>
            <a:r>
              <a:rPr lang="en-US" sz="1200" dirty="0"/>
              <a:t>Show Team Roll-up: Display aggregated totals for the team's Sales Submission vs. their Quota.</a:t>
            </a:r>
          </a:p>
          <a:p>
            <a:pPr lvl="1">
              <a:spcBef>
                <a:spcPts val="300"/>
              </a:spcBef>
              <a:spcAft>
                <a:spcPts val="300"/>
              </a:spcAft>
              <a:buClr>
                <a:schemeClr val="accent1"/>
              </a:buClr>
            </a:pPr>
            <a:r>
              <a:rPr lang="en-US" sz="1200" dirty="0"/>
              <a:t>Enable Drill-Down: Provide a grid showing each team member's submission and, most importantly, their Commentary.</a:t>
            </a:r>
          </a:p>
          <a:p>
            <a:pPr lvl="1">
              <a:spcBef>
                <a:spcPts val="300"/>
              </a:spcBef>
              <a:spcAft>
                <a:spcPts val="300"/>
              </a:spcAft>
              <a:buClr>
                <a:schemeClr val="accent1"/>
              </a:buClr>
            </a:pPr>
            <a:r>
              <a:rPr lang="en-US" sz="1200" dirty="0"/>
              <a:t>Provide Adjustment Fields (Editable): Create a simple input area for the manager to enter a Management Adjustment / Overlay and a corresponding Manager Commentary.</a:t>
            </a:r>
          </a:p>
          <a:p>
            <a:pPr>
              <a:spcBef>
                <a:spcPts val="300"/>
              </a:spcBef>
              <a:spcAft>
                <a:spcPts val="300"/>
              </a:spcAft>
              <a:buClr>
                <a:schemeClr val="accent1"/>
              </a:buClr>
            </a:pPr>
            <a:r>
              <a:rPr lang="en-US" sz="1200" dirty="0"/>
              <a:t>Core Anaplan Backend Configuration</a:t>
            </a:r>
          </a:p>
          <a:p>
            <a:pPr lvl="1">
              <a:spcBef>
                <a:spcPts val="300"/>
              </a:spcBef>
              <a:spcAft>
                <a:spcPts val="300"/>
              </a:spcAft>
              <a:buClr>
                <a:schemeClr val="accent1"/>
              </a:buClr>
            </a:pPr>
            <a:r>
              <a:rPr lang="en-US" sz="1200" dirty="0"/>
              <a:t>Central Input Module: Create one main module to hold all forecast data (Stat Forecast, Sales Submission, Management Adjustment, etc.) to keep the model organized.</a:t>
            </a:r>
          </a:p>
          <a:p>
            <a:pPr lvl="1">
              <a:spcBef>
                <a:spcPts val="300"/>
              </a:spcBef>
              <a:spcAft>
                <a:spcPts val="300"/>
              </a:spcAft>
              <a:buClr>
                <a:schemeClr val="accent1"/>
              </a:buClr>
            </a:pPr>
            <a:r>
              <a:rPr lang="en-US" sz="1200" dirty="0"/>
              <a:t>Selective Access: Configure user permissions so that reps can only edit their own data and managers can only adjust their own team's roll-up. This is essential for security and data integrity.</a:t>
            </a:r>
          </a:p>
        </p:txBody>
      </p:sp>
      <p:sp>
        <p:nvSpPr>
          <p:cNvPr id="4" name="Rectangle 3">
            <a:extLst>
              <a:ext uri="{FF2B5EF4-FFF2-40B4-BE49-F238E27FC236}">
                <a16:creationId xmlns:a16="http://schemas.microsoft.com/office/drawing/2014/main" id="{DF55B0D3-B199-A2B2-F8AE-2F83DD370669}"/>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3711953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F6B03-8404-274C-549F-2092F37B9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C7251-2B86-227B-1D1A-9D15FCFD7587}"/>
              </a:ext>
            </a:extLst>
          </p:cNvPr>
          <p:cNvSpPr>
            <a:spLocks noGrp="1"/>
          </p:cNvSpPr>
          <p:nvPr>
            <p:ph type="title"/>
          </p:nvPr>
        </p:nvSpPr>
        <p:spPr/>
        <p:txBody>
          <a:bodyPr/>
          <a:lstStyle/>
          <a:p>
            <a:r>
              <a:rPr lang="en-US" dirty="0">
                <a:solidFill>
                  <a:schemeClr val="tx2"/>
                </a:solidFill>
                <a:ea typeface="+mn-lt"/>
                <a:cs typeface="+mn-lt"/>
              </a:rPr>
              <a:t>Final Forecast Submission &amp; Lock</a:t>
            </a:r>
          </a:p>
        </p:txBody>
      </p:sp>
    </p:spTree>
    <p:extLst>
      <p:ext uri="{BB962C8B-B14F-4D97-AF65-F5344CB8AC3E}">
        <p14:creationId xmlns:p14="http://schemas.microsoft.com/office/powerpoint/2010/main" val="2283804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2478E-125B-2320-5166-E5A080167E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7C35D-6968-C3C7-733F-983028D1B12D}"/>
              </a:ext>
            </a:extLst>
          </p:cNvPr>
          <p:cNvSpPr>
            <a:spLocks noGrp="1"/>
          </p:cNvSpPr>
          <p:nvPr>
            <p:ph type="title"/>
          </p:nvPr>
        </p:nvSpPr>
        <p:spPr/>
        <p:txBody>
          <a:bodyPr/>
          <a:lstStyle/>
          <a:p>
            <a:r>
              <a:rPr lang="en-US" b="1" dirty="0">
                <a:solidFill>
                  <a:schemeClr val="tx2"/>
                </a:solidFill>
                <a:ea typeface="+mn-lt"/>
                <a:cs typeface="+mn-lt"/>
              </a:rPr>
              <a:t>Final Forecast Submission &amp; Lock - </a:t>
            </a:r>
            <a:r>
              <a:rPr lang="en-US" b="1" dirty="0">
                <a:solidFill>
                  <a:schemeClr val="tx2"/>
                </a:solidFill>
              </a:rPr>
              <a:t>Key Concepts</a:t>
            </a:r>
          </a:p>
        </p:txBody>
      </p:sp>
      <p:sp>
        <p:nvSpPr>
          <p:cNvPr id="3" name="Content Placeholder 2">
            <a:extLst>
              <a:ext uri="{FF2B5EF4-FFF2-40B4-BE49-F238E27FC236}">
                <a16:creationId xmlns:a16="http://schemas.microsoft.com/office/drawing/2014/main" id="{193D3AEC-8AC6-C033-0DAD-93EF92130118}"/>
              </a:ext>
            </a:extLst>
          </p:cNvPr>
          <p:cNvSpPr>
            <a:spLocks noGrp="1"/>
          </p:cNvSpPr>
          <p:nvPr>
            <p:ph idx="1"/>
          </p:nvPr>
        </p:nvSpPr>
        <p:spPr/>
        <p:txBody>
          <a:bodyPr lIns="0" rIns="0"/>
          <a:lstStyle/>
          <a:p>
            <a:pPr>
              <a:spcBef>
                <a:spcPts val="300"/>
              </a:spcBef>
              <a:spcAft>
                <a:spcPts val="300"/>
              </a:spcAft>
              <a:buClr>
                <a:schemeClr val="accent1"/>
              </a:buClr>
            </a:pPr>
            <a:r>
              <a:rPr lang="en-US" dirty="0"/>
              <a:t>Final Executive Approval:</a:t>
            </a:r>
            <a:br>
              <a:rPr lang="en-US" dirty="0"/>
            </a:br>
            <a:r>
              <a:rPr lang="en-US" dirty="0"/>
              <a:t>Reps formally review and accept the forecast number, taking ultimate accountability for the commitment.</a:t>
            </a:r>
          </a:p>
          <a:p>
            <a:pPr>
              <a:spcBef>
                <a:spcPts val="300"/>
              </a:spcBef>
              <a:spcAft>
                <a:spcPts val="300"/>
              </a:spcAft>
              <a:buClr>
                <a:schemeClr val="accent1"/>
              </a:buClr>
            </a:pPr>
            <a:r>
              <a:rPr lang="en-US" dirty="0"/>
              <a:t>Creates an Immutable Record (The "Lock"):</a:t>
            </a:r>
            <a:br>
              <a:rPr lang="en-US" dirty="0"/>
            </a:br>
            <a:r>
              <a:rPr lang="en-US" dirty="0"/>
              <a:t>This is the critical system action. The forecast is submitted, locking the forecast for the period, making it read-only. This prevents any further changes and ensures the integrity of the number that was approved, creating a permanent audit trail.</a:t>
            </a:r>
          </a:p>
          <a:p>
            <a:pPr>
              <a:spcBef>
                <a:spcPts val="300"/>
              </a:spcBef>
              <a:spcAft>
                <a:spcPts val="300"/>
              </a:spcAft>
              <a:buClr>
                <a:schemeClr val="accent1"/>
              </a:buClr>
            </a:pPr>
            <a:r>
              <a:rPr lang="en-US" dirty="0"/>
              <a:t>Becomes the Official Company Commitment:</a:t>
            </a:r>
            <a:br>
              <a:rPr lang="en-US" dirty="0"/>
            </a:br>
            <a:r>
              <a:rPr lang="en-US" dirty="0"/>
              <a:t>The locked forecast is published as the "single source of truth." It becomes the official number used by Finance for financial planning, by Supply Chain for inventory, and by leadership for tracking performance against the plan.</a:t>
            </a:r>
          </a:p>
          <a:p>
            <a:pPr>
              <a:spcBef>
                <a:spcPts val="300"/>
              </a:spcBef>
              <a:spcAft>
                <a:spcPts val="300"/>
              </a:spcAft>
              <a:buClr>
                <a:schemeClr val="accent1"/>
              </a:buClr>
            </a:pPr>
            <a:endParaRPr lang="en-US" sz="1200" dirty="0"/>
          </a:p>
        </p:txBody>
      </p:sp>
      <p:sp>
        <p:nvSpPr>
          <p:cNvPr id="4" name="Rectangle 3">
            <a:extLst>
              <a:ext uri="{FF2B5EF4-FFF2-40B4-BE49-F238E27FC236}">
                <a16:creationId xmlns:a16="http://schemas.microsoft.com/office/drawing/2014/main" id="{D8E18BD7-010C-7C12-25F7-D2CCBC4093CD}"/>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4243633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9BCE2-0898-D20C-AA13-084F8DEB42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977CD-B945-A108-68B6-0590D37C14A9}"/>
              </a:ext>
            </a:extLst>
          </p:cNvPr>
          <p:cNvSpPr>
            <a:spLocks noGrp="1"/>
          </p:cNvSpPr>
          <p:nvPr>
            <p:ph type="title"/>
          </p:nvPr>
        </p:nvSpPr>
        <p:spPr/>
        <p:txBody>
          <a:bodyPr/>
          <a:lstStyle/>
          <a:p>
            <a:r>
              <a:rPr lang="en-US" b="1" dirty="0">
                <a:solidFill>
                  <a:schemeClr val="tx2"/>
                </a:solidFill>
                <a:ea typeface="+mn-lt"/>
                <a:cs typeface="+mn-lt"/>
              </a:rPr>
              <a:t>Final Forecast Submission &amp; Lock - </a:t>
            </a:r>
            <a:r>
              <a:rPr lang="en-US" b="1" dirty="0">
                <a:solidFill>
                  <a:schemeClr val="tx2"/>
                </a:solidFill>
              </a:rPr>
              <a:t>Process</a:t>
            </a:r>
          </a:p>
        </p:txBody>
      </p:sp>
      <p:sp>
        <p:nvSpPr>
          <p:cNvPr id="45" name="TextBox 44">
            <a:extLst>
              <a:ext uri="{FF2B5EF4-FFF2-40B4-BE49-F238E27FC236}">
                <a16:creationId xmlns:a16="http://schemas.microsoft.com/office/drawing/2014/main" id="{D0C8DDD4-01BC-442B-F042-2A62A8E7262C}"/>
              </a:ext>
            </a:extLst>
          </p:cNvPr>
          <p:cNvSpPr txBox="1"/>
          <p:nvPr/>
        </p:nvSpPr>
        <p:spPr>
          <a:xfrm>
            <a:off x="1258276" y="2830061"/>
            <a:ext cx="1528519" cy="400110"/>
          </a:xfrm>
          <a:prstGeom prst="rect">
            <a:avLst/>
          </a:prstGeom>
          <a:noFill/>
        </p:spPr>
        <p:txBody>
          <a:bodyPr wrap="square" rtlCol="0">
            <a:spAutoFit/>
          </a:bodyPr>
          <a:lstStyle/>
          <a:p>
            <a:pPr algn="ctr"/>
            <a:r>
              <a:rPr lang="en-US" sz="1000" dirty="0"/>
              <a:t>The final "Management Forecast."</a:t>
            </a:r>
            <a:endParaRPr lang="en-US" sz="1000" dirty="0">
              <a:solidFill>
                <a:schemeClr val="bg1"/>
              </a:solidFill>
              <a:latin typeface="Arial" panose="020B0604020202020204" pitchFamily="34" charset="0"/>
              <a:ea typeface="Verdana" charset="0"/>
              <a:cs typeface="Arial" panose="020B0604020202020204" pitchFamily="34" charset="0"/>
            </a:endParaRPr>
          </a:p>
        </p:txBody>
      </p:sp>
      <p:sp>
        <p:nvSpPr>
          <p:cNvPr id="65" name="Oval 64">
            <a:extLst>
              <a:ext uri="{FF2B5EF4-FFF2-40B4-BE49-F238E27FC236}">
                <a16:creationId xmlns:a16="http://schemas.microsoft.com/office/drawing/2014/main" id="{BD309634-A17B-B2D8-E641-7626CDF58D7C}"/>
              </a:ext>
            </a:extLst>
          </p:cNvPr>
          <p:cNvSpPr/>
          <p:nvPr/>
        </p:nvSpPr>
        <p:spPr>
          <a:xfrm>
            <a:off x="1755036" y="2019541"/>
            <a:ext cx="535000" cy="535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Arial" panose="020B0604020202020204" pitchFamily="34" charset="0"/>
                <a:ea typeface="Verdana" charset="0"/>
                <a:cs typeface="Arial" panose="020B0604020202020204" pitchFamily="34" charset="0"/>
              </a:rPr>
              <a:t>In</a:t>
            </a:r>
          </a:p>
        </p:txBody>
      </p:sp>
      <p:sp>
        <p:nvSpPr>
          <p:cNvPr id="66" name="Oval 65">
            <a:extLst>
              <a:ext uri="{FF2B5EF4-FFF2-40B4-BE49-F238E27FC236}">
                <a16:creationId xmlns:a16="http://schemas.microsoft.com/office/drawing/2014/main" id="{E7BF3031-104F-BCCD-B162-BA964DC47841}"/>
              </a:ext>
            </a:extLst>
          </p:cNvPr>
          <p:cNvSpPr/>
          <p:nvPr/>
        </p:nvSpPr>
        <p:spPr>
          <a:xfrm>
            <a:off x="6853965" y="2022768"/>
            <a:ext cx="535000" cy="535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bg1"/>
                </a:solidFill>
                <a:latin typeface="Arial" panose="020B0604020202020204" pitchFamily="34" charset="0"/>
                <a:ea typeface="Verdana" charset="0"/>
                <a:cs typeface="Arial" panose="020B0604020202020204" pitchFamily="34" charset="0"/>
              </a:rPr>
              <a:t>Out</a:t>
            </a:r>
          </a:p>
        </p:txBody>
      </p:sp>
      <p:sp>
        <p:nvSpPr>
          <p:cNvPr id="67" name="Rounded Rectangle 66">
            <a:extLst>
              <a:ext uri="{FF2B5EF4-FFF2-40B4-BE49-F238E27FC236}">
                <a16:creationId xmlns:a16="http://schemas.microsoft.com/office/drawing/2014/main" id="{24DD1D1A-C8A5-E342-49AF-0C2A50B0BDAF}"/>
              </a:ext>
            </a:extLst>
          </p:cNvPr>
          <p:cNvSpPr/>
          <p:nvPr/>
        </p:nvSpPr>
        <p:spPr>
          <a:xfrm>
            <a:off x="4045072" y="1922798"/>
            <a:ext cx="1053857" cy="71801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800" dirty="0"/>
              <a:t>After all adjustments, the final forecast is locked and submitted for the period.</a:t>
            </a:r>
          </a:p>
        </p:txBody>
      </p:sp>
      <p:cxnSp>
        <p:nvCxnSpPr>
          <p:cNvPr id="72" name="Straight Arrow Connector 71">
            <a:extLst>
              <a:ext uri="{FF2B5EF4-FFF2-40B4-BE49-F238E27FC236}">
                <a16:creationId xmlns:a16="http://schemas.microsoft.com/office/drawing/2014/main" id="{09EBE8A0-D298-0B02-E7E3-D0A49FD52496}"/>
              </a:ext>
            </a:extLst>
          </p:cNvPr>
          <p:cNvCxnSpPr>
            <a:cxnSpLocks/>
            <a:stCxn id="65" idx="6"/>
            <a:endCxn id="67" idx="1"/>
          </p:cNvCxnSpPr>
          <p:nvPr/>
        </p:nvCxnSpPr>
        <p:spPr>
          <a:xfrm flipV="1">
            <a:off x="2290036" y="2281807"/>
            <a:ext cx="1755036" cy="5234"/>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03A2857C-50B6-F57C-72EE-E83A4C79BE5A}"/>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
        <p:nvSpPr>
          <p:cNvPr id="9" name="TextBox 8">
            <a:extLst>
              <a:ext uri="{FF2B5EF4-FFF2-40B4-BE49-F238E27FC236}">
                <a16:creationId xmlns:a16="http://schemas.microsoft.com/office/drawing/2014/main" id="{E464E998-D322-15DE-7E49-4DF9EF63812F}"/>
              </a:ext>
            </a:extLst>
          </p:cNvPr>
          <p:cNvSpPr txBox="1"/>
          <p:nvPr/>
        </p:nvSpPr>
        <p:spPr>
          <a:xfrm>
            <a:off x="6357205" y="2830061"/>
            <a:ext cx="1528519" cy="707886"/>
          </a:xfrm>
          <a:prstGeom prst="rect">
            <a:avLst/>
          </a:prstGeom>
          <a:noFill/>
        </p:spPr>
        <p:txBody>
          <a:bodyPr wrap="square" rtlCol="0">
            <a:spAutoFit/>
          </a:bodyPr>
          <a:lstStyle/>
          <a:p>
            <a:pPr algn="ctr"/>
            <a:r>
              <a:rPr lang="en-US" sz="1000" dirty="0"/>
              <a:t>A single, approved "Final Forecast" that becomes the official record for the company</a:t>
            </a:r>
            <a:endParaRPr lang="en-US" sz="1000" dirty="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Arrow Connector 14">
            <a:extLst>
              <a:ext uri="{FF2B5EF4-FFF2-40B4-BE49-F238E27FC236}">
                <a16:creationId xmlns:a16="http://schemas.microsoft.com/office/drawing/2014/main" id="{EF886D4F-5163-2EBE-1C6F-D02EE3754E87}"/>
              </a:ext>
            </a:extLst>
          </p:cNvPr>
          <p:cNvCxnSpPr>
            <a:cxnSpLocks/>
            <a:stCxn id="67" idx="3"/>
            <a:endCxn id="66" idx="2"/>
          </p:cNvCxnSpPr>
          <p:nvPr/>
        </p:nvCxnSpPr>
        <p:spPr>
          <a:xfrm>
            <a:off x="5098929" y="2281807"/>
            <a:ext cx="1755036" cy="8461"/>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pic>
        <p:nvPicPr>
          <p:cNvPr id="14" name="Graphic 13" descr="Repeat with solid fill">
            <a:extLst>
              <a:ext uri="{FF2B5EF4-FFF2-40B4-BE49-F238E27FC236}">
                <a16:creationId xmlns:a16="http://schemas.microsoft.com/office/drawing/2014/main" id="{D94041A4-41F2-7593-88D6-AE7A454488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43183" y="2819486"/>
            <a:ext cx="457634" cy="457634"/>
          </a:xfrm>
          <a:prstGeom prst="rect">
            <a:avLst/>
          </a:prstGeom>
        </p:spPr>
      </p:pic>
      <p:sp>
        <p:nvSpPr>
          <p:cNvPr id="16" name="TextBox 17">
            <a:extLst>
              <a:ext uri="{FF2B5EF4-FFF2-40B4-BE49-F238E27FC236}">
                <a16:creationId xmlns:a16="http://schemas.microsoft.com/office/drawing/2014/main" id="{AF81B4BC-C4A4-C794-E50D-614B57D28F4C}"/>
              </a:ext>
            </a:extLst>
          </p:cNvPr>
          <p:cNvSpPr txBox="1">
            <a:spLocks/>
          </p:cNvSpPr>
          <p:nvPr/>
        </p:nvSpPr>
        <p:spPr>
          <a:xfrm>
            <a:off x="4045072" y="3284031"/>
            <a:ext cx="1053857"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Tx/>
            </a:pPr>
            <a:r>
              <a:rPr lang="en-US" sz="1050" dirty="0">
                <a:latin typeface="Arial" panose="020B0604020202020204" pitchFamily="34" charset="0"/>
                <a:ea typeface="Verdana" charset="0"/>
                <a:cs typeface="Arial" panose="020B0604020202020204" pitchFamily="34" charset="0"/>
              </a:rPr>
              <a:t>Submit Action</a:t>
            </a:r>
          </a:p>
        </p:txBody>
      </p:sp>
    </p:spTree>
    <p:extLst>
      <p:ext uri="{BB962C8B-B14F-4D97-AF65-F5344CB8AC3E}">
        <p14:creationId xmlns:p14="http://schemas.microsoft.com/office/powerpoint/2010/main" val="1342985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51F44-8524-E735-7EA5-6A469092E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E03D9-D8B5-DC6B-5035-19C04FE8F548}"/>
              </a:ext>
            </a:extLst>
          </p:cNvPr>
          <p:cNvSpPr>
            <a:spLocks noGrp="1"/>
          </p:cNvSpPr>
          <p:nvPr>
            <p:ph type="title"/>
          </p:nvPr>
        </p:nvSpPr>
        <p:spPr>
          <a:xfrm>
            <a:off x="419100" y="294640"/>
            <a:ext cx="8153401" cy="338554"/>
          </a:xfrm>
        </p:spPr>
        <p:txBody>
          <a:bodyPr/>
          <a:lstStyle/>
          <a:p>
            <a:r>
              <a:rPr lang="en-US" b="1" dirty="0">
                <a:solidFill>
                  <a:schemeClr val="tx2"/>
                </a:solidFill>
                <a:ea typeface="+mn-lt"/>
                <a:cs typeface="+mn-lt"/>
              </a:rPr>
              <a:t>Final Forecast Submission &amp; Lock </a:t>
            </a:r>
            <a:r>
              <a:rPr lang="en-US" b="1" dirty="0"/>
              <a:t>- </a:t>
            </a:r>
            <a:r>
              <a:rPr lang="en-US" b="1" dirty="0">
                <a:solidFill>
                  <a:schemeClr val="tx2"/>
                </a:solidFill>
              </a:rPr>
              <a:t>Parameters</a:t>
            </a:r>
          </a:p>
        </p:txBody>
      </p:sp>
      <p:graphicFrame>
        <p:nvGraphicFramePr>
          <p:cNvPr id="7" name="Table 7">
            <a:extLst>
              <a:ext uri="{FF2B5EF4-FFF2-40B4-BE49-F238E27FC236}">
                <a16:creationId xmlns:a16="http://schemas.microsoft.com/office/drawing/2014/main" id="{AD9FD01C-7F6E-19E8-6D41-0F01F5501E70}"/>
              </a:ext>
            </a:extLst>
          </p:cNvPr>
          <p:cNvGraphicFramePr>
            <a:graphicFrameLocks noGrp="1"/>
          </p:cNvGraphicFramePr>
          <p:nvPr>
            <p:extLst>
              <p:ext uri="{D42A27DB-BD31-4B8C-83A1-F6EECF244321}">
                <p14:modId xmlns:p14="http://schemas.microsoft.com/office/powerpoint/2010/main" val="2813110842"/>
              </p:ext>
            </p:extLst>
          </p:nvPr>
        </p:nvGraphicFramePr>
        <p:xfrm>
          <a:off x="419100" y="1022930"/>
          <a:ext cx="8153400" cy="1435320"/>
        </p:xfrm>
        <a:graphic>
          <a:graphicData uri="http://schemas.openxmlformats.org/drawingml/2006/table">
            <a:tbl>
              <a:tblPr firstRow="1" bandRow="1">
                <a:tableStyleId>{72833802-FEF1-4C79-8D5D-14CF1EAF98D9}</a:tableStyleId>
              </a:tblPr>
              <a:tblGrid>
                <a:gridCol w="1694513">
                  <a:extLst>
                    <a:ext uri="{9D8B030D-6E8A-4147-A177-3AD203B41FA5}">
                      <a16:colId xmlns:a16="http://schemas.microsoft.com/office/drawing/2014/main" val="718031972"/>
                    </a:ext>
                  </a:extLst>
                </a:gridCol>
                <a:gridCol w="6458887">
                  <a:extLst>
                    <a:ext uri="{9D8B030D-6E8A-4147-A177-3AD203B41FA5}">
                      <a16:colId xmlns:a16="http://schemas.microsoft.com/office/drawing/2014/main" val="1955053113"/>
                    </a:ext>
                  </a:extLst>
                </a:gridCol>
              </a:tblGrid>
              <a:tr h="264464">
                <a:tc>
                  <a:txBody>
                    <a:bodyPr/>
                    <a:lstStyle/>
                    <a:p>
                      <a:r>
                        <a:rPr lang="en-US" sz="900"/>
                        <a:t>Parameter</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tc>
                  <a:txBody>
                    <a:bodyPr/>
                    <a:lstStyle/>
                    <a:p>
                      <a:r>
                        <a:rPr lang="en-US" sz="900"/>
                        <a:t>Purpose</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926781289"/>
                  </a:ext>
                </a:extLst>
              </a:tr>
              <a:tr h="2472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Forecast Period Selector</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To target the lock action to the correct time period</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620792711"/>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Lock Forecast Action</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To trigger the sequence of Anaplan actions that locks the forecast and copies the final forecast to make the period read-only.</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080469651"/>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Forecast Lock Status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This is the most critical status parameter. It drives the behavior of the entire model. All input line items are configured to be READ-ONLY if Forecast Lock Status = TRUE for that period</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779808244"/>
                  </a:ext>
                </a:extLst>
              </a:tr>
              <a:tr h="253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Forecast of Record</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A2F46"/>
                          </a:solidFill>
                          <a:effectLst/>
                          <a:uLnTx/>
                          <a:uFillTx/>
                          <a:latin typeface="Arial" panose="020B0604020202020204" pitchFamily="34" charset="0"/>
                          <a:ea typeface="Verdana" charset="0"/>
                          <a:cs typeface="Arial" panose="020B0604020202020204" pitchFamily="34" charset="0"/>
                        </a:rPr>
                        <a:t>To store a permanent, untouchable archive of the official forecast number that was submitted. All downstream reporting and financial planning processes should source their data from this Forecast of Record.</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703409048"/>
                  </a:ext>
                </a:extLst>
              </a:tr>
            </a:tbl>
          </a:graphicData>
        </a:graphic>
      </p:graphicFrame>
      <p:sp>
        <p:nvSpPr>
          <p:cNvPr id="4" name="Rectangle 3">
            <a:extLst>
              <a:ext uri="{FF2B5EF4-FFF2-40B4-BE49-F238E27FC236}">
                <a16:creationId xmlns:a16="http://schemas.microsoft.com/office/drawing/2014/main" id="{9192CE12-D264-4A26-C6C1-05F1CC929D20}"/>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687930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B2E0D-C39B-0B41-627B-A45C4F8156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0FB23-9781-5624-A74E-D95142325463}"/>
              </a:ext>
            </a:extLst>
          </p:cNvPr>
          <p:cNvSpPr>
            <a:spLocks noGrp="1"/>
          </p:cNvSpPr>
          <p:nvPr>
            <p:ph type="title"/>
          </p:nvPr>
        </p:nvSpPr>
        <p:spPr/>
        <p:txBody>
          <a:bodyPr/>
          <a:lstStyle/>
          <a:p>
            <a:r>
              <a:rPr lang="en-US" b="1" dirty="0">
                <a:solidFill>
                  <a:schemeClr val="tx2"/>
                </a:solidFill>
                <a:ea typeface="+mn-lt"/>
                <a:cs typeface="+mn-lt"/>
              </a:rPr>
              <a:t>Final Forecast Submission &amp; Lock </a:t>
            </a:r>
            <a:r>
              <a:rPr lang="en-US" b="1" dirty="0"/>
              <a:t>- </a:t>
            </a:r>
            <a:r>
              <a:rPr lang="en-US" b="1" dirty="0">
                <a:solidFill>
                  <a:schemeClr val="tx2"/>
                </a:solidFill>
              </a:rPr>
              <a:t>Key Screens</a:t>
            </a:r>
          </a:p>
        </p:txBody>
      </p:sp>
      <p:sp>
        <p:nvSpPr>
          <p:cNvPr id="4" name="TextBox 3">
            <a:extLst>
              <a:ext uri="{FF2B5EF4-FFF2-40B4-BE49-F238E27FC236}">
                <a16:creationId xmlns:a16="http://schemas.microsoft.com/office/drawing/2014/main" id="{8EE338A2-B586-DFE1-B8C3-F62C64614C00}"/>
              </a:ext>
            </a:extLst>
          </p:cNvPr>
          <p:cNvSpPr txBox="1"/>
          <p:nvPr/>
        </p:nvSpPr>
        <p:spPr>
          <a:xfrm>
            <a:off x="356616" y="633194"/>
            <a:ext cx="4572000" cy="307777"/>
          </a:xfrm>
          <a:prstGeom prst="rect">
            <a:avLst/>
          </a:prstGeom>
          <a:noFill/>
        </p:spPr>
        <p:txBody>
          <a:bodyPr wrap="square">
            <a:spAutoFit/>
          </a:bodyPr>
          <a:lstStyle/>
          <a:p>
            <a:r>
              <a:rPr lang="en-GB" sz="1400" dirty="0">
                <a:solidFill>
                  <a:schemeClr val="accent1"/>
                </a:solidFill>
                <a:latin typeface="Arial" panose="020B0604020202020204" pitchFamily="34" charset="0"/>
                <a:cs typeface="Arial" panose="020B0604020202020204" pitchFamily="34" charset="0"/>
              </a:rPr>
              <a:t>1.1 Forecast</a:t>
            </a:r>
            <a:endParaRPr lang="en-US" sz="1400" dirty="0">
              <a:solidFill>
                <a:schemeClr val="accent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AB0FFC80-1B0C-3005-5E99-F5757F6A60CC}"/>
              </a:ext>
            </a:extLst>
          </p:cNvPr>
          <p:cNvSpPr txBox="1"/>
          <p:nvPr/>
        </p:nvSpPr>
        <p:spPr>
          <a:xfrm>
            <a:off x="6470132" y="1025609"/>
            <a:ext cx="2190031" cy="1538883"/>
          </a:xfrm>
          <a:prstGeom prst="rect">
            <a:avLst/>
          </a:prstGeom>
          <a:noFill/>
          <a:ln>
            <a:noFill/>
          </a:ln>
        </p:spPr>
        <p:txBody>
          <a:bodyPr wrap="square" rtlCol="0">
            <a:spAutoFit/>
          </a:bodyPr>
          <a:lstStyle/>
          <a:p>
            <a:pPr marL="180975" indent="-180975" algn="l">
              <a:spcBef>
                <a:spcPts val="300"/>
              </a:spcBef>
              <a:spcAft>
                <a:spcPts val="300"/>
              </a:spcAft>
              <a:buClrTx/>
              <a:buFont typeface="Arial" panose="020B0604020202020204" pitchFamily="34" charset="0"/>
              <a:buChar char="•"/>
            </a:pPr>
            <a:r>
              <a:rPr lang="en-US" sz="1050" b="0" dirty="0">
                <a:solidFill>
                  <a:schemeClr val="tx2"/>
                </a:solidFill>
                <a:latin typeface="Arial" panose="020B0604020202020204" pitchFamily="34" charset="0"/>
                <a:ea typeface="Verdana" charset="0"/>
                <a:cs typeface="Arial" panose="020B0604020202020204" pitchFamily="34" charset="0"/>
              </a:rPr>
              <a:t>Submit forecast values for the period</a:t>
            </a:r>
            <a:endParaRPr lang="en-US" sz="1050" dirty="0">
              <a:solidFill>
                <a:schemeClr val="tx2"/>
              </a:solidFill>
              <a:latin typeface="Arial" panose="020B0604020202020204" pitchFamily="34" charset="0"/>
              <a:ea typeface="Verdana" charset="0"/>
              <a:cs typeface="Arial" panose="020B0604020202020204" pitchFamily="34" charset="0"/>
            </a:endParaRPr>
          </a:p>
          <a:p>
            <a:pPr marL="180975" indent="-180975" algn="l">
              <a:spcBef>
                <a:spcPts val="300"/>
              </a:spcBef>
              <a:spcAft>
                <a:spcPts val="300"/>
              </a:spcAft>
              <a:buClrTx/>
              <a:buFont typeface="Arial" panose="020B0604020202020204" pitchFamily="34" charset="0"/>
              <a:buChar char="•"/>
            </a:pPr>
            <a:r>
              <a:rPr lang="en-US" sz="1050" b="0" dirty="0">
                <a:solidFill>
                  <a:schemeClr val="tx2"/>
                </a:solidFill>
                <a:latin typeface="Arial" panose="020B0604020202020204" pitchFamily="34" charset="0"/>
                <a:ea typeface="Verdana" charset="0"/>
                <a:cs typeface="Arial" panose="020B0604020202020204" pitchFamily="34" charset="0"/>
              </a:rPr>
              <a:t>Forecast values are locked for the period and no further edits can be made</a:t>
            </a:r>
          </a:p>
          <a:p>
            <a:pPr marL="180975" indent="-180975" algn="l">
              <a:spcBef>
                <a:spcPts val="300"/>
              </a:spcBef>
              <a:spcAft>
                <a:spcPts val="300"/>
              </a:spcAft>
              <a:buClrTx/>
              <a:buFont typeface="Arial" panose="020B0604020202020204" pitchFamily="34" charset="0"/>
              <a:buChar char="•"/>
            </a:pPr>
            <a:r>
              <a:rPr lang="en-US" sz="1050" dirty="0">
                <a:solidFill>
                  <a:schemeClr val="tx2"/>
                </a:solidFill>
                <a:latin typeface="Arial" panose="020B0604020202020204" pitchFamily="34" charset="0"/>
                <a:ea typeface="Verdana" charset="0"/>
                <a:cs typeface="Arial" panose="020B0604020202020204" pitchFamily="34" charset="0"/>
              </a:rPr>
              <a:t>Snapshot is taken to maintain a clean record of historical forecasts</a:t>
            </a:r>
          </a:p>
        </p:txBody>
      </p:sp>
      <p:sp>
        <p:nvSpPr>
          <p:cNvPr id="3" name="Rectangle 2">
            <a:extLst>
              <a:ext uri="{FF2B5EF4-FFF2-40B4-BE49-F238E27FC236}">
                <a16:creationId xmlns:a16="http://schemas.microsoft.com/office/drawing/2014/main" id="{92B218BE-FF85-8F58-F5A9-24DC4C8F8A1D}"/>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
        <p:nvSpPr>
          <p:cNvPr id="8" name="Rectangle 7">
            <a:extLst>
              <a:ext uri="{FF2B5EF4-FFF2-40B4-BE49-F238E27FC236}">
                <a16:creationId xmlns:a16="http://schemas.microsoft.com/office/drawing/2014/main" id="{E5995E62-7BD5-389B-DBE6-DACD82B62B63}"/>
              </a:ext>
            </a:extLst>
          </p:cNvPr>
          <p:cNvSpPr>
            <a:spLocks noGrp="1" noRot="1" noMove="1" noResize="1" noEditPoints="1" noAdjustHandles="1" noChangeArrowheads="1" noChangeShapeType="1"/>
          </p:cNvSpPr>
          <p:nvPr/>
        </p:nvSpPr>
        <p:spPr>
          <a:xfrm>
            <a:off x="5089453" y="1061049"/>
            <a:ext cx="1396409" cy="87267"/>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Arial" panose="020B0604020202020204" pitchFamily="34" charset="0"/>
              <a:ea typeface="Verdana" charset="0"/>
              <a:cs typeface="Arial" panose="020B0604020202020204" pitchFamily="34" charset="0"/>
            </a:endParaRPr>
          </a:p>
        </p:txBody>
      </p:sp>
      <p:sp>
        <p:nvSpPr>
          <p:cNvPr id="9" name="Rectangle 8">
            <a:extLst>
              <a:ext uri="{FF2B5EF4-FFF2-40B4-BE49-F238E27FC236}">
                <a16:creationId xmlns:a16="http://schemas.microsoft.com/office/drawing/2014/main" id="{58304DC8-71CF-BB4D-851C-03AF7D0A9617}"/>
              </a:ext>
            </a:extLst>
          </p:cNvPr>
          <p:cNvSpPr>
            <a:spLocks noGrp="1" noRot="1" noMove="1" noResize="1" noEditPoints="1" noAdjustHandles="1" noChangeArrowheads="1" noChangeShapeType="1"/>
          </p:cNvSpPr>
          <p:nvPr/>
        </p:nvSpPr>
        <p:spPr>
          <a:xfrm>
            <a:off x="5943600" y="1061049"/>
            <a:ext cx="529562" cy="8726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F92DA48-CECE-BB94-9D06-6E2F4108A69B}"/>
              </a:ext>
            </a:extLst>
          </p:cNvPr>
          <p:cNvPicPr>
            <a:picLocks noChangeAspect="1"/>
          </p:cNvPicPr>
          <p:nvPr/>
        </p:nvPicPr>
        <p:blipFill>
          <a:blip r:embed="rId2"/>
          <a:stretch>
            <a:fillRect/>
          </a:stretch>
        </p:blipFill>
        <p:spPr>
          <a:xfrm>
            <a:off x="419100" y="1111706"/>
            <a:ext cx="6062266" cy="2658319"/>
          </a:xfrm>
          <a:prstGeom prst="rect">
            <a:avLst/>
          </a:prstGeom>
          <a:ln>
            <a:solidFill>
              <a:schemeClr val="tx1"/>
            </a:solidFill>
          </a:ln>
        </p:spPr>
      </p:pic>
    </p:spTree>
    <p:extLst>
      <p:ext uri="{BB962C8B-B14F-4D97-AF65-F5344CB8AC3E}">
        <p14:creationId xmlns:p14="http://schemas.microsoft.com/office/powerpoint/2010/main" val="1494940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50E56-1365-A00E-E5BA-7B8378BDB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26071-B849-A074-3D0B-97A16AB04F25}"/>
              </a:ext>
            </a:extLst>
          </p:cNvPr>
          <p:cNvSpPr>
            <a:spLocks noGrp="1"/>
          </p:cNvSpPr>
          <p:nvPr>
            <p:ph type="title"/>
          </p:nvPr>
        </p:nvSpPr>
        <p:spPr/>
        <p:txBody>
          <a:bodyPr/>
          <a:lstStyle/>
          <a:p>
            <a:r>
              <a:rPr lang="en-US" b="1" dirty="0">
                <a:solidFill>
                  <a:schemeClr val="tx2"/>
                </a:solidFill>
                <a:ea typeface="+mn-lt"/>
                <a:cs typeface="+mn-lt"/>
              </a:rPr>
              <a:t>Final Forecast Submission &amp; Lock </a:t>
            </a:r>
            <a:r>
              <a:rPr lang="en-US" b="1" dirty="0"/>
              <a:t>- </a:t>
            </a:r>
            <a:r>
              <a:rPr lang="en-US" b="1" dirty="0">
                <a:solidFill>
                  <a:schemeClr val="tx2"/>
                </a:solidFill>
              </a:rPr>
              <a:t>Hints and Tips</a:t>
            </a:r>
          </a:p>
        </p:txBody>
      </p:sp>
      <p:sp>
        <p:nvSpPr>
          <p:cNvPr id="3" name="Content Placeholder 2">
            <a:extLst>
              <a:ext uri="{FF2B5EF4-FFF2-40B4-BE49-F238E27FC236}">
                <a16:creationId xmlns:a16="http://schemas.microsoft.com/office/drawing/2014/main" id="{1F96456F-B762-CA84-86F2-A0DC90A45240}"/>
              </a:ext>
            </a:extLst>
          </p:cNvPr>
          <p:cNvSpPr>
            <a:spLocks noGrp="1"/>
          </p:cNvSpPr>
          <p:nvPr>
            <p:ph idx="1"/>
          </p:nvPr>
        </p:nvSpPr>
        <p:spPr>
          <a:xfrm>
            <a:off x="419100" y="819860"/>
            <a:ext cx="8153400" cy="3984800"/>
          </a:xfrm>
        </p:spPr>
        <p:txBody>
          <a:bodyPr lIns="0" rIns="0"/>
          <a:lstStyle/>
          <a:p>
            <a:pPr>
              <a:spcBef>
                <a:spcPts val="300"/>
              </a:spcBef>
              <a:spcAft>
                <a:spcPts val="300"/>
              </a:spcAft>
              <a:buClr>
                <a:schemeClr val="accent1"/>
              </a:buClr>
            </a:pPr>
            <a:r>
              <a:rPr lang="en-US" sz="1200" dirty="0"/>
              <a:t>Tips for Sales Representatives (Bottom-Up)</a:t>
            </a:r>
          </a:p>
          <a:p>
            <a:pPr lvl="1">
              <a:spcBef>
                <a:spcPts val="300"/>
              </a:spcBef>
              <a:spcAft>
                <a:spcPts val="300"/>
              </a:spcAft>
              <a:buClr>
                <a:schemeClr val="accent1"/>
              </a:buClr>
            </a:pPr>
            <a:r>
              <a:rPr lang="en-US" sz="1200" dirty="0"/>
              <a:t>Challenge the Baseline: Use the statistical forecast as a starting point, but focus your energy on adding your expert knowledge about specific deals.</a:t>
            </a:r>
          </a:p>
          <a:p>
            <a:pPr lvl="1">
              <a:spcBef>
                <a:spcPts val="300"/>
              </a:spcBef>
              <a:spcAft>
                <a:spcPts val="300"/>
              </a:spcAft>
              <a:buClr>
                <a:schemeClr val="accent1"/>
              </a:buClr>
            </a:pPr>
            <a:r>
              <a:rPr lang="en-US" sz="1200" dirty="0"/>
              <a:t>Flag Both Risks and Upside: A good forecast is realistic. Note comments potential deals that could slip out or extra deals that might pull in.</a:t>
            </a:r>
          </a:p>
          <a:p>
            <a:pPr lvl="1">
              <a:spcBef>
                <a:spcPts val="300"/>
              </a:spcBef>
              <a:spcAft>
                <a:spcPts val="300"/>
              </a:spcAft>
              <a:buClr>
                <a:schemeClr val="accent1"/>
              </a:buClr>
            </a:pPr>
            <a:r>
              <a:rPr lang="en-US" sz="1200" dirty="0"/>
              <a:t>Communicate Big Changes Early: Don't wait for the formal review to surprise your manager with a major change to a key deal.</a:t>
            </a:r>
          </a:p>
          <a:p>
            <a:pPr>
              <a:spcBef>
                <a:spcPts val="300"/>
              </a:spcBef>
              <a:spcAft>
                <a:spcPts val="300"/>
              </a:spcAft>
              <a:buClr>
                <a:schemeClr val="accent1"/>
              </a:buClr>
            </a:pPr>
            <a:r>
              <a:rPr lang="en-US" sz="1200" dirty="0"/>
              <a:t>Tips for Sales Managers (Top-Down)</a:t>
            </a:r>
          </a:p>
          <a:p>
            <a:pPr lvl="1">
              <a:spcBef>
                <a:spcPts val="300"/>
              </a:spcBef>
              <a:spcAft>
                <a:spcPts val="300"/>
              </a:spcAft>
              <a:buClr>
                <a:schemeClr val="accent1"/>
              </a:buClr>
            </a:pPr>
            <a:r>
              <a:rPr lang="en-US" sz="1200" dirty="0"/>
              <a:t>Coach for Accuracy: Use historical Forecast vs. Actuals data to help your reps identify their biases and improve their forecasting muscle.</a:t>
            </a:r>
          </a:p>
          <a:p>
            <a:pPr lvl="1">
              <a:spcBef>
                <a:spcPts val="300"/>
              </a:spcBef>
              <a:spcAft>
                <a:spcPts val="300"/>
              </a:spcAft>
              <a:buClr>
                <a:schemeClr val="accent1"/>
              </a:buClr>
            </a:pPr>
            <a:r>
              <a:rPr lang="en-US" sz="1200" dirty="0"/>
              <a:t>Manage the Portfolio: Apply your judgment to the team's total forecast to account for overall risks and opportunities that individuals may not see.</a:t>
            </a:r>
          </a:p>
          <a:p>
            <a:pPr lvl="1">
              <a:spcBef>
                <a:spcPts val="300"/>
              </a:spcBef>
              <a:spcAft>
                <a:spcPts val="300"/>
              </a:spcAft>
              <a:buClr>
                <a:schemeClr val="accent1"/>
              </a:buClr>
            </a:pPr>
            <a:r>
              <a:rPr lang="en-US" sz="1200" dirty="0"/>
              <a:t>Use Overlays for Strategy, Not Micromanagement: Your adjustment should reflect broad factors (market trends, campaigns). If you disagree with a single rep's commit, talk to them directly.</a:t>
            </a:r>
          </a:p>
          <a:p>
            <a:pPr lvl="1">
              <a:spcBef>
                <a:spcPts val="300"/>
              </a:spcBef>
              <a:spcAft>
                <a:spcPts val="300"/>
              </a:spcAft>
              <a:buClr>
                <a:schemeClr val="accent1"/>
              </a:buClr>
            </a:pPr>
            <a:r>
              <a:rPr lang="en-US" sz="1200" dirty="0"/>
              <a:t>Justify Your Own Adjustments: Provide clear commentary for any top-down overlay you apply to ensure transparency for both your team and your leadership.</a:t>
            </a:r>
          </a:p>
        </p:txBody>
      </p:sp>
      <p:sp>
        <p:nvSpPr>
          <p:cNvPr id="4" name="Rectangle 3">
            <a:extLst>
              <a:ext uri="{FF2B5EF4-FFF2-40B4-BE49-F238E27FC236}">
                <a16:creationId xmlns:a16="http://schemas.microsoft.com/office/drawing/2014/main" id="{528B019F-DD53-CCBA-027F-FC647D9C2BB3}"/>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633241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A6CF5-FB2B-3690-BDAE-B8B6F75A91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BA385A-2238-2FFD-DA08-1438CD45A538}"/>
              </a:ext>
            </a:extLst>
          </p:cNvPr>
          <p:cNvSpPr>
            <a:spLocks noGrp="1"/>
          </p:cNvSpPr>
          <p:nvPr>
            <p:ph type="title"/>
          </p:nvPr>
        </p:nvSpPr>
        <p:spPr/>
        <p:txBody>
          <a:bodyPr/>
          <a:lstStyle/>
          <a:p>
            <a:r>
              <a:rPr lang="en-US" b="1" dirty="0">
                <a:solidFill>
                  <a:schemeClr val="tx2"/>
                </a:solidFill>
                <a:ea typeface="+mn-lt"/>
                <a:cs typeface="+mn-lt"/>
              </a:rPr>
              <a:t>Final Forecast Submission &amp; Lock </a:t>
            </a:r>
            <a:r>
              <a:rPr lang="en-US" b="1" dirty="0"/>
              <a:t>- </a:t>
            </a:r>
            <a:r>
              <a:rPr lang="en-US" b="1" dirty="0">
                <a:solidFill>
                  <a:schemeClr val="tx2"/>
                </a:solidFill>
              </a:rPr>
              <a:t>Implementation and Configuration Considerations</a:t>
            </a:r>
          </a:p>
        </p:txBody>
      </p:sp>
      <p:sp>
        <p:nvSpPr>
          <p:cNvPr id="3" name="Content Placeholder 2">
            <a:extLst>
              <a:ext uri="{FF2B5EF4-FFF2-40B4-BE49-F238E27FC236}">
                <a16:creationId xmlns:a16="http://schemas.microsoft.com/office/drawing/2014/main" id="{13A53601-95F7-387C-4875-0FFC545EAC8E}"/>
              </a:ext>
            </a:extLst>
          </p:cNvPr>
          <p:cNvSpPr>
            <a:spLocks noGrp="1"/>
          </p:cNvSpPr>
          <p:nvPr>
            <p:ph idx="1"/>
          </p:nvPr>
        </p:nvSpPr>
        <p:spPr>
          <a:xfrm>
            <a:off x="419100" y="933172"/>
            <a:ext cx="8153400" cy="3984800"/>
          </a:xfrm>
        </p:spPr>
        <p:txBody>
          <a:bodyPr lIns="0" rIns="0"/>
          <a:lstStyle/>
          <a:p>
            <a:pPr>
              <a:spcBef>
                <a:spcPts val="300"/>
              </a:spcBef>
              <a:spcAft>
                <a:spcPts val="300"/>
              </a:spcAft>
              <a:buClr>
                <a:schemeClr val="accent1"/>
              </a:buClr>
            </a:pPr>
            <a:r>
              <a:rPr lang="en-US" sz="1200" dirty="0"/>
              <a:t>The Locking Mechanism (In the Model)</a:t>
            </a:r>
          </a:p>
          <a:p>
            <a:pPr lvl="1">
              <a:spcBef>
                <a:spcPts val="300"/>
              </a:spcBef>
              <a:spcAft>
                <a:spcPts val="300"/>
              </a:spcAft>
              <a:buClr>
                <a:schemeClr val="accent1"/>
              </a:buClr>
            </a:pPr>
            <a:r>
              <a:rPr lang="en-US" sz="1200" dirty="0"/>
              <a:t>Drive Editability: Use this </a:t>
            </a:r>
            <a:r>
              <a:rPr lang="en-US" sz="1200" dirty="0" err="1"/>
              <a:t>boolean</a:t>
            </a:r>
            <a:r>
              <a:rPr lang="en-US" sz="1200" dirty="0"/>
              <a:t> to control the "Write Access" formula for all forecast input fields (like Sales Submission). If Forecast Lock Status is TRUE, the formula should resolve to FALSE, making the cells read-only.</a:t>
            </a:r>
          </a:p>
          <a:p>
            <a:pPr lvl="1">
              <a:spcBef>
                <a:spcPts val="300"/>
              </a:spcBef>
              <a:spcAft>
                <a:spcPts val="300"/>
              </a:spcAft>
              <a:buClr>
                <a:schemeClr val="accent1"/>
              </a:buClr>
            </a:pPr>
            <a:r>
              <a:rPr lang="en-US" sz="1200" dirty="0"/>
              <a:t>Create a Snapshot: In the model, take a snapshot of the Forecast per period to permanently store the final, locked numbers.</a:t>
            </a:r>
          </a:p>
          <a:p>
            <a:pPr lvl="1">
              <a:spcBef>
                <a:spcPts val="300"/>
              </a:spcBef>
              <a:spcAft>
                <a:spcPts val="300"/>
              </a:spcAft>
              <a:buClr>
                <a:schemeClr val="accent1"/>
              </a:buClr>
            </a:pPr>
            <a:r>
              <a:rPr lang="en-US" sz="1200" dirty="0"/>
              <a:t>Reset: A process within the model to reset the Forecast Lock weekly</a:t>
            </a:r>
          </a:p>
        </p:txBody>
      </p:sp>
      <p:sp>
        <p:nvSpPr>
          <p:cNvPr id="4" name="Rectangle 3">
            <a:extLst>
              <a:ext uri="{FF2B5EF4-FFF2-40B4-BE49-F238E27FC236}">
                <a16:creationId xmlns:a16="http://schemas.microsoft.com/office/drawing/2014/main" id="{79B0E190-7298-19DA-0745-7C76C9215F3F}"/>
              </a:ext>
            </a:extLst>
          </p:cNvPr>
          <p:cNvSpPr/>
          <p:nvPr/>
        </p:nvSpPr>
        <p:spPr>
          <a:xfrm>
            <a:off x="0" y="4854190"/>
            <a:ext cx="1484142" cy="289310"/>
          </a:xfrm>
          <a:prstGeom prst="rect">
            <a:avLst/>
          </a:prstGeom>
        </p:spPr>
        <p:txBody>
          <a:bodyPr wrap="square" lIns="182880" bIns="118872" anchor="ctr">
            <a:spAutoFit/>
          </a:bodyPr>
          <a:lstStyle/>
          <a:p>
            <a:pPr defTabSz="914355">
              <a:defRPr/>
            </a:pPr>
            <a:r>
              <a:rPr lang="en-US" sz="800"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2577128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082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rgbClr val="3B596B"/>
          </a:solidFill>
          <a:headEnd type="none"/>
          <a:tailEnd type="triangl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312f2c0-dda1-4b36-bf7c-5f95f823505b" xsi:nil="true"/>
    <lcf76f155ced4ddcb4097134ff3c332f xmlns="c4a93292-96be-422c-9bb6-49a5d66e42e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FEF226-2A2D-4391-9647-CAE00A0A4519}">
  <ds:schemaRefs>
    <ds:schemaRef ds:uri="http://schemas.microsoft.com/office/2006/metadata/properties"/>
    <ds:schemaRef ds:uri="http://purl.org/dc/elements/1.1/"/>
    <ds:schemaRef ds:uri="http://www.w3.org/XML/1998/namespace"/>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1312f2c0-dda1-4b36-bf7c-5f95f823505b"/>
    <ds:schemaRef ds:uri="c4a93292-96be-422c-9bb6-49a5d66e42ec"/>
    <ds:schemaRef ds:uri="http://purl.org/dc/terms/"/>
  </ds:schemaRefs>
</ds:datastoreItem>
</file>

<file path=customXml/itemProps2.xml><?xml version="1.0" encoding="utf-8"?>
<ds:datastoreItem xmlns:ds="http://schemas.openxmlformats.org/officeDocument/2006/customXml" ds:itemID="{1DF0ED3D-6654-403B-9884-CF65CF102955}">
  <ds:schemaRefs>
    <ds:schemaRef ds:uri="http://schemas.microsoft.com/sharepoint/v3/contenttype/forms"/>
  </ds:schemaRefs>
</ds:datastoreItem>
</file>

<file path=customXml/itemProps3.xml><?xml version="1.0" encoding="utf-8"?>
<ds:datastoreItem xmlns:ds="http://schemas.openxmlformats.org/officeDocument/2006/customXml" ds:itemID="{7466191F-AEFF-402D-A4C8-FA24410212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a93292-96be-422c-9bb6-49a5d66e42ec"/>
    <ds:schemaRef ds:uri="1312f2c0-dda1-4b36-bf7c-5f95f82350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TotalTime>
  <Words>5571</Words>
  <Application>Microsoft Office PowerPoint</Application>
  <PresentationFormat>On-screen Show (16:9)</PresentationFormat>
  <Paragraphs>467</Paragraphs>
  <Slides>52</Slides>
  <Notes>15</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1_Anaplan</vt:lpstr>
      <vt:lpstr>Sales Forecasting</vt:lpstr>
      <vt:lpstr>Version Information</vt:lpstr>
      <vt:lpstr>Overall Context</vt:lpstr>
      <vt:lpstr>Overview</vt:lpstr>
      <vt:lpstr>Process Context</vt:lpstr>
      <vt:lpstr>Sales Forecasting Functional Flow</vt:lpstr>
      <vt:lpstr>Sales Forecasting Functional Flow</vt:lpstr>
      <vt:lpstr>Sales Forecasting – Process Catalogue </vt:lpstr>
      <vt:lpstr>Process Steps Descriptions</vt:lpstr>
      <vt:lpstr>Master Data &amp; Hierarchy Management</vt:lpstr>
      <vt:lpstr>Master Data &amp; Hierarchy Management - Key Concepts</vt:lpstr>
      <vt:lpstr>Master Data &amp; Hierarchy Management - Process</vt:lpstr>
      <vt:lpstr>Master Data &amp; Hierarchy Management - Parameters</vt:lpstr>
      <vt:lpstr>Master Data &amp; Hierarchy Management – Key Screens</vt:lpstr>
      <vt:lpstr>Master Data &amp; Hierarchy Management - Hints and Tips</vt:lpstr>
      <vt:lpstr>Master Data &amp; Hierarchy Management - Implementation and Configuration Considerations</vt:lpstr>
      <vt:lpstr>Historical &amp; Actuals Data Loading</vt:lpstr>
      <vt:lpstr>Historical &amp; Actuals Data Loading- Key Concepts</vt:lpstr>
      <vt:lpstr>Historical &amp; Actuals Data Loading- Process</vt:lpstr>
      <vt:lpstr>Historical &amp; Actuals Data Loading - Parameters</vt:lpstr>
      <vt:lpstr>Historical &amp; Actuals Data Loading - Key Screens</vt:lpstr>
      <vt:lpstr>Historical &amp; Actuals Data Loading - Hints and Tips</vt:lpstr>
      <vt:lpstr>Historical &amp; Actuals Data Loading - Implementation and Configuration Considerations</vt:lpstr>
      <vt:lpstr>Baseline Forecast Generation</vt:lpstr>
      <vt:lpstr>Baseline Forecast Generation - Key Concepts</vt:lpstr>
      <vt:lpstr>Baseline Forecast Generation - Process</vt:lpstr>
      <vt:lpstr>Baseline Forecast Generation - Parameters</vt:lpstr>
      <vt:lpstr>Baseline Forecast Generation - Key Screens</vt:lpstr>
      <vt:lpstr>Baseline Forecast Generation - Hints and Tips</vt:lpstr>
      <vt:lpstr>Baseline Forecast Generation - Implementation and Configuration Considerations</vt:lpstr>
      <vt:lpstr>Forecast Review and Adjustment</vt:lpstr>
      <vt:lpstr>Forecast Review and Adjustment - Key Concepts</vt:lpstr>
      <vt:lpstr>Forecast Review and Adjustment - Process</vt:lpstr>
      <vt:lpstr>Forecast Review and Adjustment - Parameters</vt:lpstr>
      <vt:lpstr>Forecast Review and Adjustment - Key Screens</vt:lpstr>
      <vt:lpstr>Forecast Review and Adjustment - Hints and Tips</vt:lpstr>
      <vt:lpstr>Forecast Review and Adjustment - Implementation and Configuration Considerations</vt:lpstr>
      <vt:lpstr>Forecast Review and Adjustment</vt:lpstr>
      <vt:lpstr>Forecast Review and Adjustment - Key Concepts</vt:lpstr>
      <vt:lpstr>Forecast Review and Adjustment - Process</vt:lpstr>
      <vt:lpstr>Forecast Review and Adjustment - Parameters</vt:lpstr>
      <vt:lpstr>Forecast Review and Adjustment - Key Screens</vt:lpstr>
      <vt:lpstr>Forecast Review and Adjustment - Hints and Tips</vt:lpstr>
      <vt:lpstr>Forecast Review and Adjustment - Implementation and Configuration Considerations</vt:lpstr>
      <vt:lpstr>Final Forecast Submission &amp; Lock</vt:lpstr>
      <vt:lpstr>Final Forecast Submission &amp; Lock - Key Concepts</vt:lpstr>
      <vt:lpstr>Final Forecast Submission &amp; Lock - Process</vt:lpstr>
      <vt:lpstr>Final Forecast Submission &amp; Lock - Parameters</vt:lpstr>
      <vt:lpstr>Final Forecast Submission &amp; Lock - Key Screens</vt:lpstr>
      <vt:lpstr>Final Forecast Submission &amp; Lock - Hints and Tips</vt:lpstr>
      <vt:lpstr>Final Forecast Submission &amp; Lock - Implementation and Configuration Considerations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Lara Eksi</cp:lastModifiedBy>
  <cp:revision>126</cp:revision>
  <cp:lastPrinted>2019-08-13T18:16:27Z</cp:lastPrinted>
  <dcterms:created xsi:type="dcterms:W3CDTF">2017-07-06T21:11:50Z</dcterms:created>
  <dcterms:modified xsi:type="dcterms:W3CDTF">2026-06-16T17:40:09Z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y fmtid="{D5CDD505-2E9C-101B-9397-08002B2CF9AE}" pid="4" name="Order">
    <vt:r8>4523100</vt:r8>
  </property>
  <property fmtid="{D5CDD505-2E9C-101B-9397-08002B2CF9AE}" pid="5" name="UsedinE2E">
    <vt:bool>true</vt:bool>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