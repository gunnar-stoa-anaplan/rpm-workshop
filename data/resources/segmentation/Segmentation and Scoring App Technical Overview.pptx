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theme/theme3.xml" ContentType="application/vnd.openxmlformats-officedocument.them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FFFEB49_512226CF.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FEB4A_4C122233.xml" ContentType="application/vnd.ms-powerpoint.comment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58" r:id="rId4"/>
    <p:sldMasterId id="2147484655" r:id="rId5"/>
    <p:sldMasterId id="2147484799" r:id="rId6"/>
  </p:sldMasterIdLst>
  <p:notesMasterIdLst>
    <p:notesMasterId r:id="rId33"/>
  </p:notesMasterIdLst>
  <p:sldIdLst>
    <p:sldId id="2147478329" r:id="rId7"/>
    <p:sldId id="2147478251" r:id="rId8"/>
    <p:sldId id="2147478249" r:id="rId9"/>
    <p:sldId id="2147478248" r:id="rId10"/>
    <p:sldId id="258" r:id="rId11"/>
    <p:sldId id="256" r:id="rId12"/>
    <p:sldId id="260" r:id="rId13"/>
    <p:sldId id="2147473698" r:id="rId14"/>
    <p:sldId id="262" r:id="rId15"/>
    <p:sldId id="292" r:id="rId16"/>
    <p:sldId id="2147478363" r:id="rId17"/>
    <p:sldId id="2147483646" r:id="rId18"/>
    <p:sldId id="257" r:id="rId19"/>
    <p:sldId id="2147478304" r:id="rId20"/>
    <p:sldId id="2147478305" r:id="rId21"/>
    <p:sldId id="2147483647" r:id="rId22"/>
    <p:sldId id="266" r:id="rId23"/>
    <p:sldId id="2147478333" r:id="rId24"/>
    <p:sldId id="265" r:id="rId25"/>
    <p:sldId id="2147478343" r:id="rId26"/>
    <p:sldId id="264" r:id="rId27"/>
    <p:sldId id="2147478345" r:id="rId28"/>
    <p:sldId id="263" r:id="rId29"/>
    <p:sldId id="2147478346" r:id="rId30"/>
    <p:sldId id="261" r:id="rId31"/>
    <p:sldId id="25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6C172A-B527-ADC0-8C41-6610E5A15B97}" name="Ankit Shah" initials="AS" userId="S::ankit.shah2@anaplan.com::2757cacc-899b-467a-9acb-8c8a9a3e31da" providerId="AD"/>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2B2EE461-3CB4-235B-5E4A-3A7F79BFDDFC}" name="Lisa Moore" initials="LM" userId="S::lisa.moore@anaplan.com::a088c166-9ee6-4a89-abf2-037fb7cf42c8" providerId="AD"/>
  <p188:author id="{7C14EEAD-990C-9DCE-D8F3-853C7749A6AB}" name="Scott Asplund" initials="SA" userId="S::scott.asplund@anaplan.com::6373835c-d467-44a1-84d9-f85b24f7a093" providerId="AD"/>
  <p188:author id="{BC648AC6-C026-B4FE-BC9B-3A11E0BE3CF0}" name="Guillaume Arnaud" initials="GA" userId="S::guillaume.arnaud@anaplan.com::5025ff07-367f-49c9-8057-55eefeaee3bd" providerId="AD"/>
  <p188:author id="{991F82DF-B7AA-8D83-1E74-42FD4FA11178}" name="Elizabeth Schera" initials="ES" userId="S::elizabeth.schera@anaplan.com::15d9bf91-ee17-4dc8-b27f-de53aa84949f"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C314B"/>
    <a:srgbClr val="F3F1EE"/>
    <a:srgbClr val="F6FAF2"/>
    <a:srgbClr val="F8F9F9"/>
    <a:srgbClr val="FF72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0D581-7F4B-A519-FED3-E60CCCF4D455}" v="674" dt="2025-11-11T20:37:48.362"/>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9"/>
    <p:restoredTop sz="97578"/>
  </p:normalViewPr>
  <p:slideViewPr>
    <p:cSldViewPr snapToGrid="0">
      <p:cViewPr varScale="1">
        <p:scale>
          <a:sx n="157" d="100"/>
          <a:sy n="157" d="100"/>
        </p:scale>
        <p:origin x="129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hah" userId="S::ankit.shah2@anaplan.com::2757cacc-899b-467a-9acb-8c8a9a3e31da" providerId="AD" clId="Web-{9D0329D1-DDDF-E7B5-3E0F-8A24290D02E8}"/>
    <pc:docChg chg="mod">
      <pc:chgData name="Ankit Shah" userId="S::ankit.shah2@anaplan.com::2757cacc-899b-467a-9acb-8c8a9a3e31da" providerId="AD" clId="Web-{9D0329D1-DDDF-E7B5-3E0F-8A24290D02E8}" dt="2025-10-30T17:26:45.325" v="0"/>
      <pc:docMkLst>
        <pc:docMk/>
      </pc:docMkLst>
    </pc:docChg>
  </pc:docChgLst>
  <pc:docChgLst>
    <pc:chgData name="Ankit Shah" userId="S::ankit.shah2@anaplan.com::2757cacc-899b-467a-9acb-8c8a9a3e31da" providerId="AD" clId="Web-{6AA0D581-7F4B-A519-FED3-E60CCCF4D455}"/>
    <pc:docChg chg="modSld">
      <pc:chgData name="Ankit Shah" userId="S::ankit.shah2@anaplan.com::2757cacc-899b-467a-9acb-8c8a9a3e31da" providerId="AD" clId="Web-{6AA0D581-7F4B-A519-FED3-E60CCCF4D455}" dt="2025-11-11T20:37:37.191" v="646"/>
      <pc:docMkLst>
        <pc:docMk/>
      </pc:docMkLst>
      <pc:sldChg chg="modSp">
        <pc:chgData name="Ankit Shah" userId="S::ankit.shah2@anaplan.com::2757cacc-899b-467a-9acb-8c8a9a3e31da" providerId="AD" clId="Web-{6AA0D581-7F4B-A519-FED3-E60CCCF4D455}" dt="2025-11-11T20:37:37.191" v="646"/>
        <pc:sldMkLst>
          <pc:docMk/>
          <pc:sldMk cId="1361192655" sldId="2147478345"/>
        </pc:sldMkLst>
        <pc:graphicFrameChg chg="mod modGraphic">
          <ac:chgData name="Ankit Shah" userId="S::ankit.shah2@anaplan.com::2757cacc-899b-467a-9acb-8c8a9a3e31da" providerId="AD" clId="Web-{6AA0D581-7F4B-A519-FED3-E60CCCF4D455}" dt="2025-11-11T20:37:37.191" v="646"/>
          <ac:graphicFrameMkLst>
            <pc:docMk/>
            <pc:sldMk cId="1361192655" sldId="2147478345"/>
            <ac:graphicFrameMk id="7" creationId="{6CB42485-806E-3677-A997-2952C1727BAD}"/>
          </ac:graphicFrameMkLst>
        </pc:graphicFrameChg>
      </pc:sldChg>
      <pc:sldChg chg="modSp">
        <pc:chgData name="Ankit Shah" userId="S::ankit.shah2@anaplan.com::2757cacc-899b-467a-9acb-8c8a9a3e31da" providerId="AD" clId="Web-{6AA0D581-7F4B-A519-FED3-E60CCCF4D455}" dt="2025-11-11T20:36:46.847" v="572"/>
        <pc:sldMkLst>
          <pc:docMk/>
          <pc:sldMk cId="1276256819" sldId="2147478346"/>
        </pc:sldMkLst>
        <pc:graphicFrameChg chg="mod modGraphic">
          <ac:chgData name="Ankit Shah" userId="S::ankit.shah2@anaplan.com::2757cacc-899b-467a-9acb-8c8a9a3e31da" providerId="AD" clId="Web-{6AA0D581-7F4B-A519-FED3-E60CCCF4D455}" dt="2025-11-11T20:36:46.847" v="572"/>
          <ac:graphicFrameMkLst>
            <pc:docMk/>
            <pc:sldMk cId="1276256819" sldId="2147478346"/>
            <ac:graphicFrameMk id="7" creationId="{1D42F499-3266-C07B-D088-9F93A66446A9}"/>
          </ac:graphicFrameMkLst>
        </pc:graphicFrameChg>
      </pc:sldChg>
    </pc:docChg>
  </pc:docChgLst>
</pc:chgInfo>
</file>

<file path=ppt/comments/modernComment_7FFFEB4A_4C122233.xml><?xml version="1.0" encoding="utf-8"?>
<p188:cmLst xmlns:a="http://schemas.openxmlformats.org/drawingml/2006/main" xmlns:r="http://schemas.openxmlformats.org/officeDocument/2006/relationships" xmlns:p188="http://schemas.microsoft.com/office/powerpoint/2018/8/main">
  <p188:cm id="{2979D159-AE3C-4AA3-BB68-41986AC2ED2C}" authorId="{1C6C172A-B527-ADC0-8C41-6610E5A15B97}" created="2025-11-11T20:35:55.159">
    <ac:txMkLst xmlns:ac="http://schemas.microsoft.com/office/drawing/2013/main/command">
      <pc:docMk xmlns:pc="http://schemas.microsoft.com/office/powerpoint/2013/main/command"/>
      <pc:sldMk xmlns:pc="http://schemas.microsoft.com/office/powerpoint/2013/main/command" cId="1276256819" sldId="2147478346"/>
      <ac:graphicFrameMk id="7" creationId="{1D42F499-3266-C07B-D088-9F93A66446A9}"/>
      <ac:tblMk/>
      <ac:tcMk rowId="793523115" colId="3748911495"/>
      <ac:txMk cp="0" len="57">
        <ac:context len="58" hash="2494262428"/>
      </ac:txMk>
    </ac:txMkLst>
    <p188:pos x="10718131" y="2927684"/>
    <p188:txBody>
      <a:bodyPr/>
      <a:lstStyle/>
      <a:p>
        <a:r>
          <a:rPr lang="en-US"/>
          <a:t>added</a:t>
        </a:r>
      </a:p>
    </p188:txBody>
  </p188:cm>
</p188:cmLst>
</file>

<file path=ppt/comments/modernComment_7FFFEB49_512226CF.xml><?xml version="1.0" encoding="utf-8"?>
<p188:cmLst xmlns:a="http://schemas.openxmlformats.org/drawingml/2006/main" xmlns:r="http://schemas.openxmlformats.org/officeDocument/2006/relationships" xmlns:p188="http://schemas.microsoft.com/office/powerpoint/2018/8/main">
  <p188:cm id="{270BB3D4-B4DD-43A5-B125-75B3F4D18852}" authorId="{2B2EE461-3CB4-235B-5E4A-3A7F79BFDDFC}" created="2025-06-05T14:05:17.938">
    <ac:txMkLst xmlns:ac="http://schemas.microsoft.com/office/drawing/2013/main/command">
      <pc:docMk xmlns:pc="http://schemas.microsoft.com/office/powerpoint/2013/main/command"/>
      <pc:sldMk xmlns:pc="http://schemas.microsoft.com/office/powerpoint/2013/main/command" cId="1361192655" sldId="2147478345"/>
      <ac:graphicFrameMk id="7" creationId="{6CB42485-806E-3677-A997-2952C1727BAD}"/>
      <ac:tblMk/>
      <ac:tcMk rowId="3011897978" colId="3697837074"/>
      <ac:txMk cp="36" len="7">
        <ac:context len="45" hash="1800823326"/>
      </ac:txMk>
    </ac:txMkLst>
    <p188:pos x="2674470" y="7470588"/>
    <p188:replyLst>
      <p188:reply id="{6999B49A-008E-2541-945A-0EA8CE042395}" authorId="{991F82DF-B7AA-8D83-1E74-42FD4FA11178}" created="2025-07-02T22:08:57.135">
        <p188:txBody>
          <a:bodyPr/>
          <a:lstStyle/>
          <a:p>
            <a:r>
              <a:rPr lang="en-US"/>
              <a:t>I think it may mean that you use this as a staging module for the Collect module??</a:t>
            </a:r>
          </a:p>
        </p188:txBody>
      </p188:reply>
    </p188:replyLst>
    <p188:txBody>
      <a:bodyPr/>
      <a:lstStyle/>
      <a:p>
        <a:r>
          <a:rPr lang="en-GB"/>
          <a:t>Why does the one above say "For Collect"? </a:t>
        </a:r>
      </a:p>
    </p188:txBody>
  </p188:cm>
  <p188:cm id="{33DE584E-6E26-4F5C-9668-DD39821EEFBE}" authorId="{1C6C172A-B527-ADC0-8C41-6610E5A15B97}" created="2025-11-11T20:37:43.269">
    <ac:txMkLst xmlns:ac="http://schemas.microsoft.com/office/drawing/2013/main/command">
      <pc:docMk xmlns:pc="http://schemas.microsoft.com/office/powerpoint/2013/main/command"/>
      <pc:sldMk xmlns:pc="http://schemas.microsoft.com/office/powerpoint/2013/main/command" cId="1361192655" sldId="2147478345"/>
      <ac:graphicFrameMk id="7" creationId="{6CB42485-806E-3677-A997-2952C1727BAD}"/>
      <ac:tblMk/>
      <ac:tcMk rowId="1675048290" colId="3748911495"/>
      <ac:txMk cp="0" len="57">
        <ac:context len="58" hash="1450030354"/>
      </ac:txMk>
    </ac:txMkLst>
    <p188:pos x="10778289" y="2667000"/>
    <p188:txBody>
      <a:bodyPr/>
      <a:lstStyle/>
      <a:p>
        <a:r>
          <a:rPr lang="en-US"/>
          <a:t>added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EA09A-D6CD-EE4A-96F8-299FA2C705B4}"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22278-1765-A847-9079-1366EC627DDD}" type="slidenum">
              <a:rPr lang="en-US" smtClean="0"/>
              <a:t>‹#›</a:t>
            </a:fld>
            <a:endParaRPr lang="en-US"/>
          </a:p>
        </p:txBody>
      </p:sp>
    </p:spTree>
    <p:extLst>
      <p:ext uri="{BB962C8B-B14F-4D97-AF65-F5344CB8AC3E}">
        <p14:creationId xmlns:p14="http://schemas.microsoft.com/office/powerpoint/2010/main" val="318816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105FA-664D-F83A-4201-F5DB2E794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37A07-8E80-BD0D-E377-EF71974A6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5E34F-A05F-28C9-7628-51AD8EEB6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BD823E-CA44-41DD-BD9D-EE0CAC45F0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543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9</a:t>
            </a:fld>
            <a:endParaRPr lang="en-GB"/>
          </a:p>
        </p:txBody>
      </p:sp>
    </p:spTree>
    <p:extLst>
      <p:ext uri="{BB962C8B-B14F-4D97-AF65-F5344CB8AC3E}">
        <p14:creationId xmlns:p14="http://schemas.microsoft.com/office/powerpoint/2010/main" val="36431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C4B7-B018-A468-F931-07C983296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A4686-8C45-05B3-E086-A67DF16AC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F6069-B316-A700-B54B-EE027431B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4DA6DF-39D6-455C-1305-D12526D5B4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6394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5867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3580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97070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6752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17</a:t>
            </a:fld>
            <a:endParaRPr lang="en-GB"/>
          </a:p>
        </p:txBody>
      </p:sp>
    </p:spTree>
    <p:extLst>
      <p:ext uri="{BB962C8B-B14F-4D97-AF65-F5344CB8AC3E}">
        <p14:creationId xmlns:p14="http://schemas.microsoft.com/office/powerpoint/2010/main" val="839410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F8C2-D4B9-05B2-3AB7-41633C9B3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53402-CA14-52D8-B81F-37C16C95D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4D928-94F0-EEC0-052F-161F46E3FB5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DDD35DD0-4D5C-2A7A-F958-51F56DF92B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1046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19</a:t>
            </a:fld>
            <a:endParaRPr lang="en-GB"/>
          </a:p>
        </p:txBody>
      </p:sp>
    </p:spTree>
    <p:extLst>
      <p:ext uri="{BB962C8B-B14F-4D97-AF65-F5344CB8AC3E}">
        <p14:creationId xmlns:p14="http://schemas.microsoft.com/office/powerpoint/2010/main" val="2970714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CE884-C90F-C71A-9862-12C0BA72B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847BF-0D1D-E146-8FF3-76AC85C91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45FA4-B8F6-52B6-F4B3-505DB52CC349}"/>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7D7CCF3E-FA2F-C961-05C0-4452D63D09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52966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21</a:t>
            </a:fld>
            <a:endParaRPr lang="en-GB"/>
          </a:p>
        </p:txBody>
      </p:sp>
    </p:spTree>
    <p:extLst>
      <p:ext uri="{BB962C8B-B14F-4D97-AF65-F5344CB8AC3E}">
        <p14:creationId xmlns:p14="http://schemas.microsoft.com/office/powerpoint/2010/main" val="1053977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5D68B-EDE6-A544-2AB1-6D17AC5DB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94F76-5FB6-D90F-4381-B1E90BB46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C6F40-C88C-FCB1-01AC-AFF98F3BDE6A}"/>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8B44545D-2DA1-6295-1DD0-90471ED65A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70685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23</a:t>
            </a:fld>
            <a:endParaRPr lang="en-GB"/>
          </a:p>
        </p:txBody>
      </p:sp>
    </p:spTree>
    <p:extLst>
      <p:ext uri="{BB962C8B-B14F-4D97-AF65-F5344CB8AC3E}">
        <p14:creationId xmlns:p14="http://schemas.microsoft.com/office/powerpoint/2010/main" val="639843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928F1-FAFA-0637-F4F8-E90D6F88E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CECCA-343F-C0F5-3CF9-5E8FBCCAC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47371-0DD6-FDC4-4C51-39257FE671F3}"/>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934638C6-C5FD-E3AF-051A-35D5BDEC89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59441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250-2B09-2B1F-3363-3B49378C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AD40-681B-A76F-D9B9-D6F7DD6C7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9E29-6B05-489B-C399-19524CF41AE2}"/>
              </a:ext>
            </a:extLst>
          </p:cNvPr>
          <p:cNvSpPr>
            <a:spLocks noGrp="1"/>
          </p:cNvSpPr>
          <p:nvPr>
            <p:ph type="body" idx="1"/>
          </p:nvPr>
        </p:nvSpPr>
        <p:spPr/>
        <p:txBody>
          <a:bodyPr/>
          <a:lstStyle/>
          <a:p>
            <a:pPr defTabSz="465887">
              <a:defRPr/>
            </a:pPr>
            <a:r>
              <a:rPr lang="en-US"/>
              <a:t>One of the most valuable assets any enterprise maintains is its data.  In an increasingly information-driven, AI world, data is critical to success.  From the intricate specifics about every customer and prospect interaction/transaction to granular details about P&amp;L performance and margins, data in the linchpin.   But the challenge most companies face is how to turn this growing base of historical, system of record data into a competitive advantage that fully enables cross-functional scenario planning and analysis, and ultimately becomes a forward-looking predictor of ideal outcomes.  This is where Anaplan comes in – our platform is purpose-built to simplify the activation of corporate data for granular scenario planning and predictive analytics, so that your data becomes “something that starts working” for you.</a:t>
            </a:r>
          </a:p>
          <a:p>
            <a:endParaRPr lang="en-US"/>
          </a:p>
        </p:txBody>
      </p:sp>
      <p:sp>
        <p:nvSpPr>
          <p:cNvPr id="4" name="Slide Number Placeholder 3">
            <a:extLst>
              <a:ext uri="{FF2B5EF4-FFF2-40B4-BE49-F238E27FC236}">
                <a16:creationId xmlns:a16="http://schemas.microsoft.com/office/drawing/2014/main" id="{03A374F4-EE45-E922-E3BA-957E778A2E08}"/>
              </a:ext>
            </a:extLst>
          </p:cNvPr>
          <p:cNvSpPr>
            <a:spLocks noGrp="1"/>
          </p:cNvSpPr>
          <p:nvPr>
            <p:ph type="sldNum" sz="quarter" idx="5"/>
          </p:nvPr>
        </p:nvSpPr>
        <p:spPr/>
        <p:txBody>
          <a:bodyPr/>
          <a:lstStyle/>
          <a:p>
            <a:fld id="{46126D52-3F71-407B-A565-F8D36F9592B9}" type="slidenum">
              <a:rPr lang="en-GB" smtClean="0"/>
              <a:t>25</a:t>
            </a:fld>
            <a:endParaRPr lang="en-GB"/>
          </a:p>
        </p:txBody>
      </p:sp>
    </p:spTree>
    <p:extLst>
      <p:ext uri="{BB962C8B-B14F-4D97-AF65-F5344CB8AC3E}">
        <p14:creationId xmlns:p14="http://schemas.microsoft.com/office/powerpoint/2010/main" val="23157203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24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24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7.svg"/></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7.svg"/></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Master" Target="../slideMasters/slideMaster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Master" Target="../slideMasters/slideMaster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Layouts/_rels/slideLayout38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Master" Target="../slideMasters/slideMaster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Layouts/_rels/slideLayout38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Master" Target="../slideMasters/slideMaster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4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15.svg"/></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15.svg"/></Relationships>
</file>

<file path=ppt/slideLayouts/_rels/slideLayout4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16.svg"/></Relationships>
</file>

<file path=ppt/slideLayouts/_rels/slideLayout4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16.svg"/></Relationships>
</file>

<file path=ppt/slideLayouts/_rels/slideLayout4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4.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7.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1"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6"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1"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4"/>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2"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2"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8"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5"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2"/>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28594" indent="-228594">
              <a:spcBef>
                <a:spcPts val="0"/>
              </a:spcBef>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38417"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72023"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6055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9104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08264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9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0522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7685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03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78612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77832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88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6572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272966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94917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7529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67652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8195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02841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94862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3825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416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57694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465918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774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4481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69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280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37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80468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37145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724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07518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134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5661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5063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25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50837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33452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41938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0136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28721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2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75579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2724494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862411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5221864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01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75026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15941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16481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23756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37354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108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5739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9064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952966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867816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0319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536662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48452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45283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55710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66262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0525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002700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35725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95381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61366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4925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40865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205242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03291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0888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0975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8180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5250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8090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53505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1276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573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085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2930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8217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9197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089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30389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097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328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3290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60531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827221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8731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60123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56572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632169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4708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336762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854827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3859010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74115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26312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41575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15989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053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23121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76927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6399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79277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6063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4738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14178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33529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3476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5375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052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6561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4246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917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086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898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2142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22428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65397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6558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55883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47878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59523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273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71949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4591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4139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60731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93547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099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01524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37999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01801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2017182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7926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5081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148070831"/>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21211012"/>
      </p:ext>
    </p:extLst>
  </p:cSld>
  <p:clrMapOvr>
    <a:masterClrMapping/>
  </p:clrMapOvr>
  <p:extLst>
    <p:ext uri="{DCECCB84-F9BA-43D5-87BE-67443E8EF086}">
      <p15:sldGuideLst xmlns:p15="http://schemas.microsoft.com/office/powerpoint/2012/main"/>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2838841"/>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17764816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21518381"/>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65346908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5901570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25760013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18800903"/>
      </p:ext>
    </p:extLst>
  </p:cSld>
  <p:clrMapOvr>
    <a:overrideClrMapping bg1="lt1" tx1="dk1" bg2="lt2" tx2="dk2" accent1="accent1" accent2="accent2" accent3="accent3" accent4="accent4" accent5="accent5" accent6="accent6" hlink="hlink" folHlink="folHlink"/>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19710597"/>
      </p:ext>
    </p:extLst>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4493092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27342974"/>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69221840"/>
      </p:ext>
    </p:extLst>
  </p:cSld>
  <p:clrMapOvr>
    <a:overrideClrMapping bg1="dk1" tx1="lt1" bg2="dk2" tx2="lt2" accent1="accent1" accent2="accent2" accent3="accent3" accent4="accent4" accent5="accent5" accent6="accent6" hlink="hlink" folHlink="folHlink"/>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1559893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375539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79762655"/>
      </p:ext>
    </p:extLst>
  </p:cSld>
  <p:clrMapOvr>
    <a:overrideClrMapping bg1="dk1" tx1="lt1" bg2="dk2" tx2="lt2" accent1="accent1" accent2="accent2" accent3="accent3" accent4="accent4" accent5="accent5" accent6="accent6" hlink="hlink" folHlink="folHlink"/>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056746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0137857"/>
      </p:ext>
    </p:extLst>
  </p:cSld>
  <p:clrMapOvr>
    <a:masterClrMapping/>
  </p:clrMapOvr>
  <p:extLst>
    <p:ext uri="{DCECCB84-F9BA-43D5-87BE-67443E8EF086}">
      <p15:sldGuideLst xmlns:p15="http://schemas.microsoft.com/office/powerpoint/2012/main"/>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3958948625"/>
      </p:ext>
    </p:extLst>
  </p:cSld>
  <p:clrMapOvr>
    <a:masterClrMapping/>
  </p:clrMapOvr>
  <p:extLst>
    <p:ext uri="{DCECCB84-F9BA-43D5-87BE-67443E8EF086}">
      <p15:sldGuideLst xmlns:p15="http://schemas.microsoft.com/office/powerpoint/2012/main"/>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75570648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744764367"/>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864369174"/>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31187528"/>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44998851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5860695"/>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30843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210244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9069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4459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84215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52338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88479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8587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40046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0933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953458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178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40056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7356697"/>
      </p:ext>
    </p:extLst>
  </p:cSld>
  <p:clrMapOvr>
    <a:masterClrMapping/>
  </p:clrMapOvr>
  <p:extLst>
    <p:ext uri="{DCECCB84-F9BA-43D5-87BE-67443E8EF086}">
      <p15:sldGuideLst xmlns:p15="http://schemas.microsoft.com/office/powerpoint/2012/main"/>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415436892"/>
      </p:ext>
    </p:extLst>
  </p:cSld>
  <p:clrMapOvr>
    <a:masterClrMapping/>
  </p:clrMapOvr>
  <p:extLst>
    <p:ext uri="{DCECCB84-F9BA-43D5-87BE-67443E8EF086}">
      <p15:sldGuideLst xmlns:p15="http://schemas.microsoft.com/office/powerpoint/2012/main"/>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8000337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6896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89772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6880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3431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2448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94692115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625640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1848212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790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36966568"/>
      </p:ext>
    </p:extLst>
  </p:cSld>
  <p:clrMapOvr>
    <a:overrideClrMapping bg1="lt1" tx1="dk1" bg2="lt2" tx2="dk2" accent1="accent1" accent2="accent2" accent3="accent3" accent4="accent4" accent5="accent5" accent6="accent6" hlink="hlink" folHlink="folHlink"/>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0093837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6684880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521318932"/>
      </p:ext>
    </p:extLst>
  </p:cSld>
  <p:clrMapOvr>
    <a:overrideClrMapping bg1="lt1" tx1="dk1" bg2="lt2" tx2="dk2" accent1="accent1" accent2="accent2" accent3="accent3" accent4="accent4" accent5="accent5" accent6="accent6" hlink="hlink" folHlink="folHlink"/>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64885266"/>
      </p:ext>
    </p:extLst>
  </p:cSld>
  <p:clrMapOvr>
    <a:overrideClrMapping bg1="lt1" tx1="dk1" bg2="lt2" tx2="dk2" accent1="accent1" accent2="accent2" accent3="accent3" accent4="accent4" accent5="accent5" accent6="accent6" hlink="hlink" folHlink="folHlink"/>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7299206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92498293"/>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6367789"/>
      </p:ext>
    </p:extLst>
  </p:cSld>
  <p:clrMapOvr>
    <a:overrideClrMapping bg1="lt1" tx1="dk1" bg2="lt2" tx2="dk2" accent1="accent1" accent2="accent2" accent3="accent3" accent4="accent4" accent5="accent5" accent6="accent6" hlink="hlink" folHlink="folHlink"/>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748646"/>
      </p:ext>
    </p:extLst>
  </p:cSld>
  <p:clrMapOvr>
    <a:overrideClrMapping bg1="lt1" tx1="dk1" bg2="lt2" tx2="dk2" accent1="accent1" accent2="accent2" accent3="accent3" accent4="accent4" accent5="accent5" accent6="accent6" hlink="hlink" folHlink="folHlink"/>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7298125"/>
      </p:ext>
    </p:extLst>
  </p:cSld>
  <p:clrMapOvr>
    <a:overrideClrMapping bg1="lt1" tx1="dk1" bg2="lt2" tx2="dk2" accent1="accent1" accent2="accent2" accent3="accent3" accent4="accent4" accent5="accent5" accent6="accent6" hlink="hlink" folHlink="folHlink"/>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5566084"/>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4119"/>
      </p:ext>
    </p:extLst>
  </p:cSld>
  <p:clrMapOvr>
    <a:overrideClrMapping bg1="lt1" tx1="dk1" bg2="lt2" tx2="dk2" accent1="accent1" accent2="accent2" accent3="accent3" accent4="accent4" accent5="accent5" accent6="accent6" hlink="hlink" folHlink="folHlink"/>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0873173"/>
      </p:ext>
    </p:extLst>
  </p:cSld>
  <p:clrMapOvr>
    <a:overrideClrMapping bg1="lt1" tx1="dk1" bg2="lt2" tx2="dk2" accent1="accent1" accent2="accent2" accent3="accent3" accent4="accent4" accent5="accent5" accent6="accent6" hlink="hlink" folHlink="folHlink"/>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9192289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5595529"/>
      </p:ext>
    </p:extLst>
  </p:cSld>
  <p:clrMapOvr>
    <a:overrideClrMapping bg1="lt1" tx1="dk1" bg2="lt2" tx2="dk2" accent1="accent1" accent2="accent2" accent3="accent3" accent4="accent4" accent5="accent5" accent6="accent6" hlink="hlink" folHlink="folHlink"/>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6081978"/>
      </p:ext>
    </p:extLst>
  </p:cSld>
  <p:clrMapOvr>
    <a:overrideClrMapping bg1="lt1" tx1="dk1" bg2="lt2" tx2="dk2" accent1="accent1" accent2="accent2" accent3="accent3" accent4="accent4" accent5="accent5" accent6="accent6" hlink="hlink" folHlink="folHlink"/>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71756118"/>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72854732"/>
      </p:ext>
    </p:extLst>
  </p:cSld>
  <p:clrMapOvr>
    <a:overrideClrMapping bg1="lt1" tx1="dk1" bg2="lt2" tx2="dk2" accent1="accent1" accent2="accent2" accent3="accent3" accent4="accent4" accent5="accent5" accent6="accent6" hlink="hlink" folHlink="folHlink"/>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168704627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816742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306083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622340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61848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577692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328401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519645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6744005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10773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313326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007111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304106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8737543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2365913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2489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8144285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023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038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035302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837890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99573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34017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605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18692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92805962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94289069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5570060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9703727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588997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217305969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9171182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320275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7336384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47855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151305343"/>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1499187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41308542"/>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97083853"/>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90664155"/>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4104446128"/>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75252354"/>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8316555"/>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0059837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2069831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677228764"/>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3328332833"/>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44739865"/>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536858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34226696"/>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451080714"/>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60090304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193661853"/>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284027100"/>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458477509"/>
      </p:ext>
    </p:extLst>
  </p:cSld>
  <p:clrMapOvr>
    <a:overrideClrMapping bg1="dk1" tx1="lt1" bg2="dk2" tx2="lt2" accent1="accent1" accent2="accent2" accent3="accent3" accent4="accent4" accent5="accent5" accent6="accent6" hlink="hlink" folHlink="folHlink"/>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2200243"/>
      </p:ext>
    </p:extLst>
  </p:cSld>
  <p:clrMapOvr>
    <a:overrideClrMapping bg1="dk1" tx1="lt1" bg2="dk2" tx2="lt2" accent1="accent1" accent2="accent2" accent3="accent3" accent4="accent4" accent5="accent5" accent6="accent6" hlink="hlink" folHlink="folHlink"/>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303083"/>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30310813"/>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848804170"/>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293972523"/>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3378370"/>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25839922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3880819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65196210"/>
      </p:ext>
    </p:extLst>
  </p:cSld>
  <p:clrMapOvr>
    <a:overrideClrMapping bg1="dk1" tx1="lt1" bg2="dk2" tx2="lt2" accent1="accent1" accent2="accent2" accent3="accent3" accent4="accent4" accent5="accent5" accent6="accent6" hlink="hlink" folHlink="folHlink"/>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94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86786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991898496"/>
      </p:ext>
    </p:extLst>
  </p:cSld>
  <p:clrMapOvr>
    <a:overrideClrMapping bg1="lt1" tx1="dk1" bg2="lt2" tx2="dk2" accent1="accent1" accent2="accent2" accent3="accent3" accent4="accent4" accent5="accent5" accent6="accent6" hlink="hlink" folHlink="folHlink"/>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817042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615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81327027"/>
      </p:ext>
    </p:extLst>
  </p:cSld>
  <p:clrMapOvr>
    <a:masterClrMapping/>
  </p:clrMapOvr>
  <p:extLst>
    <p:ext uri="{DCECCB84-F9BA-43D5-87BE-67443E8EF086}">
      <p15:sldGuideLst xmlns:p15="http://schemas.microsoft.com/office/powerpoint/2012/main"/>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47208959"/>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238255537"/>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99213228"/>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037028991"/>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99274509"/>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18661153"/>
      </p:ext>
    </p:extLst>
  </p:cSld>
  <p:clrMapOvr>
    <a:masterClrMapping/>
  </p:clrMapOvr>
  <p:extLst>
    <p:ext uri="{DCECCB84-F9BA-43D5-87BE-67443E8EF086}">
      <p15:sldGuideLst xmlns:p15="http://schemas.microsoft.com/office/powerpoint/2012/main"/>
    </p:ext>
  </p:extLst>
</p:sldLayout>
</file>

<file path=ppt/slideLayouts/slideLayout42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2369137628"/>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577037313"/>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422.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478641287"/>
      </p:ext>
    </p:extLst>
  </p:cSld>
  <p:clrMapOvr>
    <a:masterClrMapping/>
  </p:clrMapOvr>
  <p:extLst>
    <p:ext uri="{DCECCB84-F9BA-43D5-87BE-67443E8EF086}">
      <p15:sldGuideLst xmlns:p15="http://schemas.microsoft.com/office/powerpoint/2012/main"/>
    </p:ext>
  </p:extLst>
</p:sldLayout>
</file>

<file path=ppt/slideLayouts/slideLayout423.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18598758"/>
      </p:ext>
    </p:extLst>
  </p:cSld>
  <p:clrMapOvr>
    <a:masterClrMapping/>
  </p:clrMapOvr>
  <p:extLst>
    <p:ext uri="{DCECCB84-F9BA-43D5-87BE-67443E8EF086}">
      <p15:sldGuideLst xmlns:p15="http://schemas.microsoft.com/office/powerpoint/2012/main"/>
    </p:ext>
  </p:extLst>
</p:sldLayout>
</file>

<file path=ppt/slideLayouts/slideLayout424.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4067359840"/>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4158865660"/>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6.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300464899"/>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7.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marL="0" marR="0" lvl="0" indent="0" algn="l" defTabSz="1219170" rtl="0" eaLnBrk="1" fontAlgn="auto" latinLnBrk="0" hangingPunct="1">
              <a:lnSpc>
                <a:spcPct val="100000"/>
              </a:lnSpc>
              <a:spcBef>
                <a:spcPts val="0"/>
              </a:spcBef>
              <a:spcAft>
                <a:spcPts val="2400"/>
              </a:spcAft>
              <a:buClrTx/>
              <a:buSzTx/>
              <a:buFontTx/>
              <a:buNone/>
              <a:tabLst/>
              <a:defRPr/>
            </a:pPr>
            <a:endParaRPr kumimoji="0" lang="en-US" sz="1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58604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28.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3"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3" y="1113133"/>
            <a:ext cx="10983484" cy="5256323"/>
          </a:xfrm>
          <a:prstGeom prst="rect">
            <a:avLst/>
          </a:prstGeom>
        </p:spPr>
        <p:txBody>
          <a:bodyPr lIns="0" rIns="0"/>
          <a:lstStyle>
            <a:lvl1pPr marL="232812" indent="-23281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50" indent="-232812">
              <a:buClrTx/>
              <a:buFont typeface="Arial"/>
              <a:buChar char="•"/>
              <a:tabLst/>
              <a:defRPr b="0" i="0">
                <a:solidFill>
                  <a:schemeClr val="bg2"/>
                </a:solidFill>
                <a:latin typeface="Arial" panose="020B0604020202020204" pitchFamily="34" charset="0"/>
                <a:cs typeface="Gotham Book" pitchFamily="2" charset="0"/>
              </a:defRPr>
            </a:lvl2pPr>
            <a:lvl3pPr marL="1449773" indent="-23069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87514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256.xml"/><Relationship Id="rId21" Type="http://schemas.openxmlformats.org/officeDocument/2006/relationships/slideLayout" Target="../slideLayouts/slideLayout160.xml"/><Relationship Id="rId42" Type="http://schemas.openxmlformats.org/officeDocument/2006/relationships/slideLayout" Target="../slideLayouts/slideLayout181.xml"/><Relationship Id="rId63" Type="http://schemas.openxmlformats.org/officeDocument/2006/relationships/slideLayout" Target="../slideLayouts/slideLayout202.xml"/><Relationship Id="rId84" Type="http://schemas.openxmlformats.org/officeDocument/2006/relationships/slideLayout" Target="../slideLayouts/slideLayout223.xml"/><Relationship Id="rId138" Type="http://schemas.openxmlformats.org/officeDocument/2006/relationships/theme" Target="../theme/theme2.xml"/><Relationship Id="rId16" Type="http://schemas.openxmlformats.org/officeDocument/2006/relationships/slideLayout" Target="../slideLayouts/slideLayout155.xml"/><Relationship Id="rId107" Type="http://schemas.openxmlformats.org/officeDocument/2006/relationships/slideLayout" Target="../slideLayouts/slideLayout246.xml"/><Relationship Id="rId11" Type="http://schemas.openxmlformats.org/officeDocument/2006/relationships/slideLayout" Target="../slideLayouts/slideLayout150.xml"/><Relationship Id="rId32" Type="http://schemas.openxmlformats.org/officeDocument/2006/relationships/slideLayout" Target="../slideLayouts/slideLayout171.xml"/><Relationship Id="rId37" Type="http://schemas.openxmlformats.org/officeDocument/2006/relationships/slideLayout" Target="../slideLayouts/slideLayout176.xml"/><Relationship Id="rId53" Type="http://schemas.openxmlformats.org/officeDocument/2006/relationships/slideLayout" Target="../slideLayouts/slideLayout192.xml"/><Relationship Id="rId58" Type="http://schemas.openxmlformats.org/officeDocument/2006/relationships/slideLayout" Target="../slideLayouts/slideLayout197.xml"/><Relationship Id="rId74" Type="http://schemas.openxmlformats.org/officeDocument/2006/relationships/slideLayout" Target="../slideLayouts/slideLayout213.xml"/><Relationship Id="rId79" Type="http://schemas.openxmlformats.org/officeDocument/2006/relationships/slideLayout" Target="../slideLayouts/slideLayout218.xml"/><Relationship Id="rId102" Type="http://schemas.openxmlformats.org/officeDocument/2006/relationships/slideLayout" Target="../slideLayouts/slideLayout241.xml"/><Relationship Id="rId123" Type="http://schemas.openxmlformats.org/officeDocument/2006/relationships/slideLayout" Target="../slideLayouts/slideLayout262.xml"/><Relationship Id="rId128" Type="http://schemas.openxmlformats.org/officeDocument/2006/relationships/slideLayout" Target="../slideLayouts/slideLayout267.xml"/><Relationship Id="rId5" Type="http://schemas.openxmlformats.org/officeDocument/2006/relationships/slideLayout" Target="../slideLayouts/slideLayout144.xml"/><Relationship Id="rId90" Type="http://schemas.openxmlformats.org/officeDocument/2006/relationships/slideLayout" Target="../slideLayouts/slideLayout229.xml"/><Relationship Id="rId95" Type="http://schemas.openxmlformats.org/officeDocument/2006/relationships/slideLayout" Target="../slideLayouts/slideLayout234.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43" Type="http://schemas.openxmlformats.org/officeDocument/2006/relationships/slideLayout" Target="../slideLayouts/slideLayout182.xml"/><Relationship Id="rId48" Type="http://schemas.openxmlformats.org/officeDocument/2006/relationships/slideLayout" Target="../slideLayouts/slideLayout187.xml"/><Relationship Id="rId64" Type="http://schemas.openxmlformats.org/officeDocument/2006/relationships/slideLayout" Target="../slideLayouts/slideLayout203.xml"/><Relationship Id="rId69" Type="http://schemas.openxmlformats.org/officeDocument/2006/relationships/slideLayout" Target="../slideLayouts/slideLayout208.xml"/><Relationship Id="rId113" Type="http://schemas.openxmlformats.org/officeDocument/2006/relationships/slideLayout" Target="../slideLayouts/slideLayout252.xml"/><Relationship Id="rId118" Type="http://schemas.openxmlformats.org/officeDocument/2006/relationships/slideLayout" Target="../slideLayouts/slideLayout257.xml"/><Relationship Id="rId134" Type="http://schemas.openxmlformats.org/officeDocument/2006/relationships/slideLayout" Target="../slideLayouts/slideLayout273.xml"/><Relationship Id="rId139" Type="http://schemas.openxmlformats.org/officeDocument/2006/relationships/image" Target="../media/image1.png"/><Relationship Id="rId80" Type="http://schemas.openxmlformats.org/officeDocument/2006/relationships/slideLayout" Target="../slideLayouts/slideLayout219.xml"/><Relationship Id="rId85" Type="http://schemas.openxmlformats.org/officeDocument/2006/relationships/slideLayout" Target="../slideLayouts/slideLayout224.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33" Type="http://schemas.openxmlformats.org/officeDocument/2006/relationships/slideLayout" Target="../slideLayouts/slideLayout172.xml"/><Relationship Id="rId38" Type="http://schemas.openxmlformats.org/officeDocument/2006/relationships/slideLayout" Target="../slideLayouts/slideLayout177.xml"/><Relationship Id="rId59" Type="http://schemas.openxmlformats.org/officeDocument/2006/relationships/slideLayout" Target="../slideLayouts/slideLayout198.xml"/><Relationship Id="rId103" Type="http://schemas.openxmlformats.org/officeDocument/2006/relationships/slideLayout" Target="../slideLayouts/slideLayout242.xml"/><Relationship Id="rId108" Type="http://schemas.openxmlformats.org/officeDocument/2006/relationships/slideLayout" Target="../slideLayouts/slideLayout247.xml"/><Relationship Id="rId124" Type="http://schemas.openxmlformats.org/officeDocument/2006/relationships/slideLayout" Target="../slideLayouts/slideLayout263.xml"/><Relationship Id="rId129" Type="http://schemas.openxmlformats.org/officeDocument/2006/relationships/slideLayout" Target="../slideLayouts/slideLayout268.xml"/><Relationship Id="rId54" Type="http://schemas.openxmlformats.org/officeDocument/2006/relationships/slideLayout" Target="../slideLayouts/slideLayout193.xml"/><Relationship Id="rId70" Type="http://schemas.openxmlformats.org/officeDocument/2006/relationships/slideLayout" Target="../slideLayouts/slideLayout209.xml"/><Relationship Id="rId75" Type="http://schemas.openxmlformats.org/officeDocument/2006/relationships/slideLayout" Target="../slideLayouts/slideLayout214.xml"/><Relationship Id="rId91" Type="http://schemas.openxmlformats.org/officeDocument/2006/relationships/slideLayout" Target="../slideLayouts/slideLayout230.xml"/><Relationship Id="rId96" Type="http://schemas.openxmlformats.org/officeDocument/2006/relationships/slideLayout" Target="../slideLayouts/slideLayout235.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23" Type="http://schemas.openxmlformats.org/officeDocument/2006/relationships/slideLayout" Target="../slideLayouts/slideLayout162.xml"/><Relationship Id="rId28" Type="http://schemas.openxmlformats.org/officeDocument/2006/relationships/slideLayout" Target="../slideLayouts/slideLayout167.xml"/><Relationship Id="rId49" Type="http://schemas.openxmlformats.org/officeDocument/2006/relationships/slideLayout" Target="../slideLayouts/slideLayout188.xml"/><Relationship Id="rId114" Type="http://schemas.openxmlformats.org/officeDocument/2006/relationships/slideLayout" Target="../slideLayouts/slideLayout253.xml"/><Relationship Id="rId119" Type="http://schemas.openxmlformats.org/officeDocument/2006/relationships/slideLayout" Target="../slideLayouts/slideLayout258.xml"/><Relationship Id="rId44" Type="http://schemas.openxmlformats.org/officeDocument/2006/relationships/slideLayout" Target="../slideLayouts/slideLayout183.xml"/><Relationship Id="rId60" Type="http://schemas.openxmlformats.org/officeDocument/2006/relationships/slideLayout" Target="../slideLayouts/slideLayout199.xml"/><Relationship Id="rId65" Type="http://schemas.openxmlformats.org/officeDocument/2006/relationships/slideLayout" Target="../slideLayouts/slideLayout204.xml"/><Relationship Id="rId81" Type="http://schemas.openxmlformats.org/officeDocument/2006/relationships/slideLayout" Target="../slideLayouts/slideLayout220.xml"/><Relationship Id="rId86" Type="http://schemas.openxmlformats.org/officeDocument/2006/relationships/slideLayout" Target="../slideLayouts/slideLayout225.xml"/><Relationship Id="rId130" Type="http://schemas.openxmlformats.org/officeDocument/2006/relationships/slideLayout" Target="../slideLayouts/slideLayout269.xml"/><Relationship Id="rId135" Type="http://schemas.openxmlformats.org/officeDocument/2006/relationships/slideLayout" Target="../slideLayouts/slideLayout274.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39" Type="http://schemas.openxmlformats.org/officeDocument/2006/relationships/slideLayout" Target="../slideLayouts/slideLayout178.xml"/><Relationship Id="rId109" Type="http://schemas.openxmlformats.org/officeDocument/2006/relationships/slideLayout" Target="../slideLayouts/slideLayout248.xml"/><Relationship Id="rId34" Type="http://schemas.openxmlformats.org/officeDocument/2006/relationships/slideLayout" Target="../slideLayouts/slideLayout173.xml"/><Relationship Id="rId50" Type="http://schemas.openxmlformats.org/officeDocument/2006/relationships/slideLayout" Target="../slideLayouts/slideLayout189.xml"/><Relationship Id="rId55" Type="http://schemas.openxmlformats.org/officeDocument/2006/relationships/slideLayout" Target="../slideLayouts/slideLayout194.xml"/><Relationship Id="rId76" Type="http://schemas.openxmlformats.org/officeDocument/2006/relationships/slideLayout" Target="../slideLayouts/slideLayout215.xml"/><Relationship Id="rId97" Type="http://schemas.openxmlformats.org/officeDocument/2006/relationships/slideLayout" Target="../slideLayouts/slideLayout236.xml"/><Relationship Id="rId104" Type="http://schemas.openxmlformats.org/officeDocument/2006/relationships/slideLayout" Target="../slideLayouts/slideLayout243.xml"/><Relationship Id="rId120" Type="http://schemas.openxmlformats.org/officeDocument/2006/relationships/slideLayout" Target="../slideLayouts/slideLayout259.xml"/><Relationship Id="rId125" Type="http://schemas.openxmlformats.org/officeDocument/2006/relationships/slideLayout" Target="../slideLayouts/slideLayout264.xml"/><Relationship Id="rId7" Type="http://schemas.openxmlformats.org/officeDocument/2006/relationships/slideLayout" Target="../slideLayouts/slideLayout146.xml"/><Relationship Id="rId71" Type="http://schemas.openxmlformats.org/officeDocument/2006/relationships/slideLayout" Target="../slideLayouts/slideLayout210.xml"/><Relationship Id="rId92" Type="http://schemas.openxmlformats.org/officeDocument/2006/relationships/slideLayout" Target="../slideLayouts/slideLayout231.xml"/><Relationship Id="rId2" Type="http://schemas.openxmlformats.org/officeDocument/2006/relationships/slideLayout" Target="../slideLayouts/slideLayout141.xml"/><Relationship Id="rId29" Type="http://schemas.openxmlformats.org/officeDocument/2006/relationships/slideLayout" Target="../slideLayouts/slideLayout168.xml"/><Relationship Id="rId24" Type="http://schemas.openxmlformats.org/officeDocument/2006/relationships/slideLayout" Target="../slideLayouts/slideLayout163.xml"/><Relationship Id="rId40" Type="http://schemas.openxmlformats.org/officeDocument/2006/relationships/slideLayout" Target="../slideLayouts/slideLayout179.xml"/><Relationship Id="rId45" Type="http://schemas.openxmlformats.org/officeDocument/2006/relationships/slideLayout" Target="../slideLayouts/slideLayout184.xml"/><Relationship Id="rId66" Type="http://schemas.openxmlformats.org/officeDocument/2006/relationships/slideLayout" Target="../slideLayouts/slideLayout205.xml"/><Relationship Id="rId87" Type="http://schemas.openxmlformats.org/officeDocument/2006/relationships/slideLayout" Target="../slideLayouts/slideLayout226.xml"/><Relationship Id="rId110" Type="http://schemas.openxmlformats.org/officeDocument/2006/relationships/slideLayout" Target="../slideLayouts/slideLayout249.xml"/><Relationship Id="rId115" Type="http://schemas.openxmlformats.org/officeDocument/2006/relationships/slideLayout" Target="../slideLayouts/slideLayout254.xml"/><Relationship Id="rId131" Type="http://schemas.openxmlformats.org/officeDocument/2006/relationships/slideLayout" Target="../slideLayouts/slideLayout270.xml"/><Relationship Id="rId136" Type="http://schemas.openxmlformats.org/officeDocument/2006/relationships/slideLayout" Target="../slideLayouts/slideLayout275.xml"/><Relationship Id="rId61" Type="http://schemas.openxmlformats.org/officeDocument/2006/relationships/slideLayout" Target="../slideLayouts/slideLayout200.xml"/><Relationship Id="rId82" Type="http://schemas.openxmlformats.org/officeDocument/2006/relationships/slideLayout" Target="../slideLayouts/slideLayout221.xml"/><Relationship Id="rId19" Type="http://schemas.openxmlformats.org/officeDocument/2006/relationships/slideLayout" Target="../slideLayouts/slideLayout158.xml"/><Relationship Id="rId14" Type="http://schemas.openxmlformats.org/officeDocument/2006/relationships/slideLayout" Target="../slideLayouts/slideLayout153.xml"/><Relationship Id="rId30" Type="http://schemas.openxmlformats.org/officeDocument/2006/relationships/slideLayout" Target="../slideLayouts/slideLayout169.xml"/><Relationship Id="rId35" Type="http://schemas.openxmlformats.org/officeDocument/2006/relationships/slideLayout" Target="../slideLayouts/slideLayout174.xml"/><Relationship Id="rId56" Type="http://schemas.openxmlformats.org/officeDocument/2006/relationships/slideLayout" Target="../slideLayouts/slideLayout195.xml"/><Relationship Id="rId77" Type="http://schemas.openxmlformats.org/officeDocument/2006/relationships/slideLayout" Target="../slideLayouts/slideLayout216.xml"/><Relationship Id="rId100" Type="http://schemas.openxmlformats.org/officeDocument/2006/relationships/slideLayout" Target="../slideLayouts/slideLayout239.xml"/><Relationship Id="rId105" Type="http://schemas.openxmlformats.org/officeDocument/2006/relationships/slideLayout" Target="../slideLayouts/slideLayout244.xml"/><Relationship Id="rId126" Type="http://schemas.openxmlformats.org/officeDocument/2006/relationships/slideLayout" Target="../slideLayouts/slideLayout265.xml"/><Relationship Id="rId8" Type="http://schemas.openxmlformats.org/officeDocument/2006/relationships/slideLayout" Target="../slideLayouts/slideLayout147.xml"/><Relationship Id="rId51" Type="http://schemas.openxmlformats.org/officeDocument/2006/relationships/slideLayout" Target="../slideLayouts/slideLayout190.xml"/><Relationship Id="rId72" Type="http://schemas.openxmlformats.org/officeDocument/2006/relationships/slideLayout" Target="../slideLayouts/slideLayout211.xml"/><Relationship Id="rId93" Type="http://schemas.openxmlformats.org/officeDocument/2006/relationships/slideLayout" Target="../slideLayouts/slideLayout232.xml"/><Relationship Id="rId98" Type="http://schemas.openxmlformats.org/officeDocument/2006/relationships/slideLayout" Target="../slideLayouts/slideLayout237.xml"/><Relationship Id="rId121" Type="http://schemas.openxmlformats.org/officeDocument/2006/relationships/slideLayout" Target="../slideLayouts/slideLayout260.xml"/><Relationship Id="rId3" Type="http://schemas.openxmlformats.org/officeDocument/2006/relationships/slideLayout" Target="../slideLayouts/slideLayout142.xml"/><Relationship Id="rId25" Type="http://schemas.openxmlformats.org/officeDocument/2006/relationships/slideLayout" Target="../slideLayouts/slideLayout164.xml"/><Relationship Id="rId46" Type="http://schemas.openxmlformats.org/officeDocument/2006/relationships/slideLayout" Target="../slideLayouts/slideLayout185.xml"/><Relationship Id="rId67" Type="http://schemas.openxmlformats.org/officeDocument/2006/relationships/slideLayout" Target="../slideLayouts/slideLayout206.xml"/><Relationship Id="rId116" Type="http://schemas.openxmlformats.org/officeDocument/2006/relationships/slideLayout" Target="../slideLayouts/slideLayout255.xml"/><Relationship Id="rId137" Type="http://schemas.openxmlformats.org/officeDocument/2006/relationships/slideLayout" Target="../slideLayouts/slideLayout276.xml"/><Relationship Id="rId20" Type="http://schemas.openxmlformats.org/officeDocument/2006/relationships/slideLayout" Target="../slideLayouts/slideLayout159.xml"/><Relationship Id="rId41" Type="http://schemas.openxmlformats.org/officeDocument/2006/relationships/slideLayout" Target="../slideLayouts/slideLayout180.xml"/><Relationship Id="rId62" Type="http://schemas.openxmlformats.org/officeDocument/2006/relationships/slideLayout" Target="../slideLayouts/slideLayout201.xml"/><Relationship Id="rId83" Type="http://schemas.openxmlformats.org/officeDocument/2006/relationships/slideLayout" Target="../slideLayouts/slideLayout222.xml"/><Relationship Id="rId88" Type="http://schemas.openxmlformats.org/officeDocument/2006/relationships/slideLayout" Target="../slideLayouts/slideLayout227.xml"/><Relationship Id="rId111" Type="http://schemas.openxmlformats.org/officeDocument/2006/relationships/slideLayout" Target="../slideLayouts/slideLayout250.xml"/><Relationship Id="rId132" Type="http://schemas.openxmlformats.org/officeDocument/2006/relationships/slideLayout" Target="../slideLayouts/slideLayout271.xml"/><Relationship Id="rId15" Type="http://schemas.openxmlformats.org/officeDocument/2006/relationships/slideLayout" Target="../slideLayouts/slideLayout154.xml"/><Relationship Id="rId36" Type="http://schemas.openxmlformats.org/officeDocument/2006/relationships/slideLayout" Target="../slideLayouts/slideLayout175.xml"/><Relationship Id="rId57" Type="http://schemas.openxmlformats.org/officeDocument/2006/relationships/slideLayout" Target="../slideLayouts/slideLayout196.xml"/><Relationship Id="rId106" Type="http://schemas.openxmlformats.org/officeDocument/2006/relationships/slideLayout" Target="../slideLayouts/slideLayout245.xml"/><Relationship Id="rId127" Type="http://schemas.openxmlformats.org/officeDocument/2006/relationships/slideLayout" Target="../slideLayouts/slideLayout266.xml"/><Relationship Id="rId10" Type="http://schemas.openxmlformats.org/officeDocument/2006/relationships/slideLayout" Target="../slideLayouts/slideLayout149.xml"/><Relationship Id="rId31" Type="http://schemas.openxmlformats.org/officeDocument/2006/relationships/slideLayout" Target="../slideLayouts/slideLayout170.xml"/><Relationship Id="rId52" Type="http://schemas.openxmlformats.org/officeDocument/2006/relationships/slideLayout" Target="../slideLayouts/slideLayout191.xml"/><Relationship Id="rId73" Type="http://schemas.openxmlformats.org/officeDocument/2006/relationships/slideLayout" Target="../slideLayouts/slideLayout212.xml"/><Relationship Id="rId78" Type="http://schemas.openxmlformats.org/officeDocument/2006/relationships/slideLayout" Target="../slideLayouts/slideLayout217.xml"/><Relationship Id="rId94" Type="http://schemas.openxmlformats.org/officeDocument/2006/relationships/slideLayout" Target="../slideLayouts/slideLayout233.xml"/><Relationship Id="rId99" Type="http://schemas.openxmlformats.org/officeDocument/2006/relationships/slideLayout" Target="../slideLayouts/slideLayout238.xml"/><Relationship Id="rId101" Type="http://schemas.openxmlformats.org/officeDocument/2006/relationships/slideLayout" Target="../slideLayouts/slideLayout240.xml"/><Relationship Id="rId122" Type="http://schemas.openxmlformats.org/officeDocument/2006/relationships/slideLayout" Target="../slideLayouts/slideLayout261.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26" Type="http://schemas.openxmlformats.org/officeDocument/2006/relationships/slideLayout" Target="../slideLayouts/slideLayout165.xml"/><Relationship Id="rId47" Type="http://schemas.openxmlformats.org/officeDocument/2006/relationships/slideLayout" Target="../slideLayouts/slideLayout186.xml"/><Relationship Id="rId68" Type="http://schemas.openxmlformats.org/officeDocument/2006/relationships/slideLayout" Target="../slideLayouts/slideLayout207.xml"/><Relationship Id="rId89" Type="http://schemas.openxmlformats.org/officeDocument/2006/relationships/slideLayout" Target="../slideLayouts/slideLayout228.xml"/><Relationship Id="rId112" Type="http://schemas.openxmlformats.org/officeDocument/2006/relationships/slideLayout" Target="../slideLayouts/slideLayout251.xml"/><Relationship Id="rId133" Type="http://schemas.openxmlformats.org/officeDocument/2006/relationships/slideLayout" Target="../slideLayouts/slideLayout272.xml"/></Relationships>
</file>

<file path=ppt/slideMasters/_rels/slideMaster3.xml.rels><?xml version="1.0" encoding="UTF-8" standalone="yes"?>
<Relationships xmlns="http://schemas.openxmlformats.org/package/2006/relationships"><Relationship Id="rId117" Type="http://schemas.openxmlformats.org/officeDocument/2006/relationships/slideLayout" Target="../slideLayouts/slideLayout393.xml"/><Relationship Id="rId21" Type="http://schemas.openxmlformats.org/officeDocument/2006/relationships/slideLayout" Target="../slideLayouts/slideLayout297.xml"/><Relationship Id="rId42" Type="http://schemas.openxmlformats.org/officeDocument/2006/relationships/slideLayout" Target="../slideLayouts/slideLayout318.xml"/><Relationship Id="rId63" Type="http://schemas.openxmlformats.org/officeDocument/2006/relationships/slideLayout" Target="../slideLayouts/slideLayout339.xml"/><Relationship Id="rId84" Type="http://schemas.openxmlformats.org/officeDocument/2006/relationships/slideLayout" Target="../slideLayouts/slideLayout360.xml"/><Relationship Id="rId138" Type="http://schemas.openxmlformats.org/officeDocument/2006/relationships/slideLayout" Target="../slideLayouts/slideLayout414.xml"/><Relationship Id="rId107" Type="http://schemas.openxmlformats.org/officeDocument/2006/relationships/slideLayout" Target="../slideLayouts/slideLayout383.xml"/><Relationship Id="rId11" Type="http://schemas.openxmlformats.org/officeDocument/2006/relationships/slideLayout" Target="../slideLayouts/slideLayout287.xml"/><Relationship Id="rId32" Type="http://schemas.openxmlformats.org/officeDocument/2006/relationships/slideLayout" Target="../slideLayouts/slideLayout308.xml"/><Relationship Id="rId53" Type="http://schemas.openxmlformats.org/officeDocument/2006/relationships/slideLayout" Target="../slideLayouts/slideLayout329.xml"/><Relationship Id="rId74" Type="http://schemas.openxmlformats.org/officeDocument/2006/relationships/slideLayout" Target="../slideLayouts/slideLayout350.xml"/><Relationship Id="rId128" Type="http://schemas.openxmlformats.org/officeDocument/2006/relationships/slideLayout" Target="../slideLayouts/slideLayout404.xml"/><Relationship Id="rId149" Type="http://schemas.openxmlformats.org/officeDocument/2006/relationships/slideLayout" Target="../slideLayouts/slideLayout425.xml"/><Relationship Id="rId5" Type="http://schemas.openxmlformats.org/officeDocument/2006/relationships/slideLayout" Target="../slideLayouts/slideLayout281.xml"/><Relationship Id="rId95" Type="http://schemas.openxmlformats.org/officeDocument/2006/relationships/slideLayout" Target="../slideLayouts/slideLayout371.xml"/><Relationship Id="rId22" Type="http://schemas.openxmlformats.org/officeDocument/2006/relationships/slideLayout" Target="../slideLayouts/slideLayout298.xml"/><Relationship Id="rId27" Type="http://schemas.openxmlformats.org/officeDocument/2006/relationships/slideLayout" Target="../slideLayouts/slideLayout303.xml"/><Relationship Id="rId43" Type="http://schemas.openxmlformats.org/officeDocument/2006/relationships/slideLayout" Target="../slideLayouts/slideLayout319.xml"/><Relationship Id="rId48" Type="http://schemas.openxmlformats.org/officeDocument/2006/relationships/slideLayout" Target="../slideLayouts/slideLayout324.xml"/><Relationship Id="rId64" Type="http://schemas.openxmlformats.org/officeDocument/2006/relationships/slideLayout" Target="../slideLayouts/slideLayout340.xml"/><Relationship Id="rId69" Type="http://schemas.openxmlformats.org/officeDocument/2006/relationships/slideLayout" Target="../slideLayouts/slideLayout345.xml"/><Relationship Id="rId113" Type="http://schemas.openxmlformats.org/officeDocument/2006/relationships/slideLayout" Target="../slideLayouts/slideLayout389.xml"/><Relationship Id="rId118" Type="http://schemas.openxmlformats.org/officeDocument/2006/relationships/slideLayout" Target="../slideLayouts/slideLayout394.xml"/><Relationship Id="rId134" Type="http://schemas.openxmlformats.org/officeDocument/2006/relationships/slideLayout" Target="../slideLayouts/slideLayout410.xml"/><Relationship Id="rId139" Type="http://schemas.openxmlformats.org/officeDocument/2006/relationships/slideLayout" Target="../slideLayouts/slideLayout415.xml"/><Relationship Id="rId80" Type="http://schemas.openxmlformats.org/officeDocument/2006/relationships/slideLayout" Target="../slideLayouts/slideLayout356.xml"/><Relationship Id="rId85" Type="http://schemas.openxmlformats.org/officeDocument/2006/relationships/slideLayout" Target="../slideLayouts/slideLayout361.xml"/><Relationship Id="rId150" Type="http://schemas.openxmlformats.org/officeDocument/2006/relationships/slideLayout" Target="../slideLayouts/slideLayout426.xml"/><Relationship Id="rId12" Type="http://schemas.openxmlformats.org/officeDocument/2006/relationships/slideLayout" Target="../slideLayouts/slideLayout288.xml"/><Relationship Id="rId17" Type="http://schemas.openxmlformats.org/officeDocument/2006/relationships/slideLayout" Target="../slideLayouts/slideLayout293.xml"/><Relationship Id="rId33" Type="http://schemas.openxmlformats.org/officeDocument/2006/relationships/slideLayout" Target="../slideLayouts/slideLayout309.xml"/><Relationship Id="rId38" Type="http://schemas.openxmlformats.org/officeDocument/2006/relationships/slideLayout" Target="../slideLayouts/slideLayout314.xml"/><Relationship Id="rId59" Type="http://schemas.openxmlformats.org/officeDocument/2006/relationships/slideLayout" Target="../slideLayouts/slideLayout335.xml"/><Relationship Id="rId103" Type="http://schemas.openxmlformats.org/officeDocument/2006/relationships/slideLayout" Target="../slideLayouts/slideLayout379.xml"/><Relationship Id="rId108" Type="http://schemas.openxmlformats.org/officeDocument/2006/relationships/slideLayout" Target="../slideLayouts/slideLayout384.xml"/><Relationship Id="rId124" Type="http://schemas.openxmlformats.org/officeDocument/2006/relationships/slideLayout" Target="../slideLayouts/slideLayout400.xml"/><Relationship Id="rId129" Type="http://schemas.openxmlformats.org/officeDocument/2006/relationships/slideLayout" Target="../slideLayouts/slideLayout405.xml"/><Relationship Id="rId54" Type="http://schemas.openxmlformats.org/officeDocument/2006/relationships/slideLayout" Target="../slideLayouts/slideLayout330.xml"/><Relationship Id="rId70" Type="http://schemas.openxmlformats.org/officeDocument/2006/relationships/slideLayout" Target="../slideLayouts/slideLayout346.xml"/><Relationship Id="rId75" Type="http://schemas.openxmlformats.org/officeDocument/2006/relationships/slideLayout" Target="../slideLayouts/slideLayout351.xml"/><Relationship Id="rId91" Type="http://schemas.openxmlformats.org/officeDocument/2006/relationships/slideLayout" Target="../slideLayouts/slideLayout367.xml"/><Relationship Id="rId96" Type="http://schemas.openxmlformats.org/officeDocument/2006/relationships/slideLayout" Target="../slideLayouts/slideLayout372.xml"/><Relationship Id="rId140" Type="http://schemas.openxmlformats.org/officeDocument/2006/relationships/slideLayout" Target="../slideLayouts/slideLayout416.xml"/><Relationship Id="rId145" Type="http://schemas.openxmlformats.org/officeDocument/2006/relationships/slideLayout" Target="../slideLayouts/slideLayout421.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23" Type="http://schemas.openxmlformats.org/officeDocument/2006/relationships/slideLayout" Target="../slideLayouts/slideLayout299.xml"/><Relationship Id="rId28" Type="http://schemas.openxmlformats.org/officeDocument/2006/relationships/slideLayout" Target="../slideLayouts/slideLayout304.xml"/><Relationship Id="rId49" Type="http://schemas.openxmlformats.org/officeDocument/2006/relationships/slideLayout" Target="../slideLayouts/slideLayout325.xml"/><Relationship Id="rId114" Type="http://schemas.openxmlformats.org/officeDocument/2006/relationships/slideLayout" Target="../slideLayouts/slideLayout390.xml"/><Relationship Id="rId119" Type="http://schemas.openxmlformats.org/officeDocument/2006/relationships/slideLayout" Target="../slideLayouts/slideLayout395.xml"/><Relationship Id="rId44" Type="http://schemas.openxmlformats.org/officeDocument/2006/relationships/slideLayout" Target="../slideLayouts/slideLayout320.xml"/><Relationship Id="rId60" Type="http://schemas.openxmlformats.org/officeDocument/2006/relationships/slideLayout" Target="../slideLayouts/slideLayout336.xml"/><Relationship Id="rId65" Type="http://schemas.openxmlformats.org/officeDocument/2006/relationships/slideLayout" Target="../slideLayouts/slideLayout341.xml"/><Relationship Id="rId81" Type="http://schemas.openxmlformats.org/officeDocument/2006/relationships/slideLayout" Target="../slideLayouts/slideLayout357.xml"/><Relationship Id="rId86" Type="http://schemas.openxmlformats.org/officeDocument/2006/relationships/slideLayout" Target="../slideLayouts/slideLayout362.xml"/><Relationship Id="rId130" Type="http://schemas.openxmlformats.org/officeDocument/2006/relationships/slideLayout" Target="../slideLayouts/slideLayout406.xml"/><Relationship Id="rId135" Type="http://schemas.openxmlformats.org/officeDocument/2006/relationships/slideLayout" Target="../slideLayouts/slideLayout411.xml"/><Relationship Id="rId151" Type="http://schemas.openxmlformats.org/officeDocument/2006/relationships/slideLayout" Target="../slideLayouts/slideLayout427.xml"/><Relationship Id="rId13" Type="http://schemas.openxmlformats.org/officeDocument/2006/relationships/slideLayout" Target="../slideLayouts/slideLayout289.xml"/><Relationship Id="rId18" Type="http://schemas.openxmlformats.org/officeDocument/2006/relationships/slideLayout" Target="../slideLayouts/slideLayout294.xml"/><Relationship Id="rId39" Type="http://schemas.openxmlformats.org/officeDocument/2006/relationships/slideLayout" Target="../slideLayouts/slideLayout315.xml"/><Relationship Id="rId109" Type="http://schemas.openxmlformats.org/officeDocument/2006/relationships/slideLayout" Target="../slideLayouts/slideLayout385.xml"/><Relationship Id="rId34" Type="http://schemas.openxmlformats.org/officeDocument/2006/relationships/slideLayout" Target="../slideLayouts/slideLayout310.xml"/><Relationship Id="rId50" Type="http://schemas.openxmlformats.org/officeDocument/2006/relationships/slideLayout" Target="../slideLayouts/slideLayout326.xml"/><Relationship Id="rId55" Type="http://schemas.openxmlformats.org/officeDocument/2006/relationships/slideLayout" Target="../slideLayouts/slideLayout331.xml"/><Relationship Id="rId76" Type="http://schemas.openxmlformats.org/officeDocument/2006/relationships/slideLayout" Target="../slideLayouts/slideLayout352.xml"/><Relationship Id="rId97" Type="http://schemas.openxmlformats.org/officeDocument/2006/relationships/slideLayout" Target="../slideLayouts/slideLayout373.xml"/><Relationship Id="rId104" Type="http://schemas.openxmlformats.org/officeDocument/2006/relationships/slideLayout" Target="../slideLayouts/slideLayout380.xml"/><Relationship Id="rId120" Type="http://schemas.openxmlformats.org/officeDocument/2006/relationships/slideLayout" Target="../slideLayouts/slideLayout396.xml"/><Relationship Id="rId125" Type="http://schemas.openxmlformats.org/officeDocument/2006/relationships/slideLayout" Target="../slideLayouts/slideLayout401.xml"/><Relationship Id="rId141" Type="http://schemas.openxmlformats.org/officeDocument/2006/relationships/slideLayout" Target="../slideLayouts/slideLayout417.xml"/><Relationship Id="rId146" Type="http://schemas.openxmlformats.org/officeDocument/2006/relationships/slideLayout" Target="../slideLayouts/slideLayout422.xml"/><Relationship Id="rId7" Type="http://schemas.openxmlformats.org/officeDocument/2006/relationships/slideLayout" Target="../slideLayouts/slideLayout283.xml"/><Relationship Id="rId71" Type="http://schemas.openxmlformats.org/officeDocument/2006/relationships/slideLayout" Target="../slideLayouts/slideLayout347.xml"/><Relationship Id="rId92" Type="http://schemas.openxmlformats.org/officeDocument/2006/relationships/slideLayout" Target="../slideLayouts/slideLayout368.xml"/><Relationship Id="rId2" Type="http://schemas.openxmlformats.org/officeDocument/2006/relationships/slideLayout" Target="../slideLayouts/slideLayout278.xml"/><Relationship Id="rId29" Type="http://schemas.openxmlformats.org/officeDocument/2006/relationships/slideLayout" Target="../slideLayouts/slideLayout305.xml"/><Relationship Id="rId24" Type="http://schemas.openxmlformats.org/officeDocument/2006/relationships/slideLayout" Target="../slideLayouts/slideLayout300.xml"/><Relationship Id="rId40" Type="http://schemas.openxmlformats.org/officeDocument/2006/relationships/slideLayout" Target="../slideLayouts/slideLayout316.xml"/><Relationship Id="rId45" Type="http://schemas.openxmlformats.org/officeDocument/2006/relationships/slideLayout" Target="../slideLayouts/slideLayout321.xml"/><Relationship Id="rId66" Type="http://schemas.openxmlformats.org/officeDocument/2006/relationships/slideLayout" Target="../slideLayouts/slideLayout342.xml"/><Relationship Id="rId87" Type="http://schemas.openxmlformats.org/officeDocument/2006/relationships/slideLayout" Target="../slideLayouts/slideLayout363.xml"/><Relationship Id="rId110" Type="http://schemas.openxmlformats.org/officeDocument/2006/relationships/slideLayout" Target="../slideLayouts/slideLayout386.xml"/><Relationship Id="rId115" Type="http://schemas.openxmlformats.org/officeDocument/2006/relationships/slideLayout" Target="../slideLayouts/slideLayout391.xml"/><Relationship Id="rId131" Type="http://schemas.openxmlformats.org/officeDocument/2006/relationships/slideLayout" Target="../slideLayouts/slideLayout407.xml"/><Relationship Id="rId136" Type="http://schemas.openxmlformats.org/officeDocument/2006/relationships/slideLayout" Target="../slideLayouts/slideLayout412.xml"/><Relationship Id="rId61" Type="http://schemas.openxmlformats.org/officeDocument/2006/relationships/slideLayout" Target="../slideLayouts/slideLayout337.xml"/><Relationship Id="rId82" Type="http://schemas.openxmlformats.org/officeDocument/2006/relationships/slideLayout" Target="../slideLayouts/slideLayout358.xml"/><Relationship Id="rId152" Type="http://schemas.openxmlformats.org/officeDocument/2006/relationships/slideLayout" Target="../slideLayouts/slideLayout428.xml"/><Relationship Id="rId19" Type="http://schemas.openxmlformats.org/officeDocument/2006/relationships/slideLayout" Target="../slideLayouts/slideLayout295.xml"/><Relationship Id="rId14" Type="http://schemas.openxmlformats.org/officeDocument/2006/relationships/slideLayout" Target="../slideLayouts/slideLayout290.xml"/><Relationship Id="rId30" Type="http://schemas.openxmlformats.org/officeDocument/2006/relationships/slideLayout" Target="../slideLayouts/slideLayout306.xml"/><Relationship Id="rId35" Type="http://schemas.openxmlformats.org/officeDocument/2006/relationships/slideLayout" Target="../slideLayouts/slideLayout311.xml"/><Relationship Id="rId56" Type="http://schemas.openxmlformats.org/officeDocument/2006/relationships/slideLayout" Target="../slideLayouts/slideLayout332.xml"/><Relationship Id="rId77" Type="http://schemas.openxmlformats.org/officeDocument/2006/relationships/slideLayout" Target="../slideLayouts/slideLayout353.xml"/><Relationship Id="rId100" Type="http://schemas.openxmlformats.org/officeDocument/2006/relationships/slideLayout" Target="../slideLayouts/slideLayout376.xml"/><Relationship Id="rId105" Type="http://schemas.openxmlformats.org/officeDocument/2006/relationships/slideLayout" Target="../slideLayouts/slideLayout381.xml"/><Relationship Id="rId126" Type="http://schemas.openxmlformats.org/officeDocument/2006/relationships/slideLayout" Target="../slideLayouts/slideLayout402.xml"/><Relationship Id="rId147" Type="http://schemas.openxmlformats.org/officeDocument/2006/relationships/slideLayout" Target="../slideLayouts/slideLayout423.xml"/><Relationship Id="rId8" Type="http://schemas.openxmlformats.org/officeDocument/2006/relationships/slideLayout" Target="../slideLayouts/slideLayout284.xml"/><Relationship Id="rId51" Type="http://schemas.openxmlformats.org/officeDocument/2006/relationships/slideLayout" Target="../slideLayouts/slideLayout327.xml"/><Relationship Id="rId72" Type="http://schemas.openxmlformats.org/officeDocument/2006/relationships/slideLayout" Target="../slideLayouts/slideLayout348.xml"/><Relationship Id="rId93" Type="http://schemas.openxmlformats.org/officeDocument/2006/relationships/slideLayout" Target="../slideLayouts/slideLayout369.xml"/><Relationship Id="rId98" Type="http://schemas.openxmlformats.org/officeDocument/2006/relationships/slideLayout" Target="../slideLayouts/slideLayout374.xml"/><Relationship Id="rId121" Type="http://schemas.openxmlformats.org/officeDocument/2006/relationships/slideLayout" Target="../slideLayouts/slideLayout397.xml"/><Relationship Id="rId142" Type="http://schemas.openxmlformats.org/officeDocument/2006/relationships/slideLayout" Target="../slideLayouts/slideLayout418.xml"/><Relationship Id="rId3" Type="http://schemas.openxmlformats.org/officeDocument/2006/relationships/slideLayout" Target="../slideLayouts/slideLayout279.xml"/><Relationship Id="rId25" Type="http://schemas.openxmlformats.org/officeDocument/2006/relationships/slideLayout" Target="../slideLayouts/slideLayout301.xml"/><Relationship Id="rId46" Type="http://schemas.openxmlformats.org/officeDocument/2006/relationships/slideLayout" Target="../slideLayouts/slideLayout322.xml"/><Relationship Id="rId67" Type="http://schemas.openxmlformats.org/officeDocument/2006/relationships/slideLayout" Target="../slideLayouts/slideLayout343.xml"/><Relationship Id="rId116" Type="http://schemas.openxmlformats.org/officeDocument/2006/relationships/slideLayout" Target="../slideLayouts/slideLayout392.xml"/><Relationship Id="rId137" Type="http://schemas.openxmlformats.org/officeDocument/2006/relationships/slideLayout" Target="../slideLayouts/slideLayout413.xml"/><Relationship Id="rId20" Type="http://schemas.openxmlformats.org/officeDocument/2006/relationships/slideLayout" Target="../slideLayouts/slideLayout296.xml"/><Relationship Id="rId41" Type="http://schemas.openxmlformats.org/officeDocument/2006/relationships/slideLayout" Target="../slideLayouts/slideLayout317.xml"/><Relationship Id="rId62" Type="http://schemas.openxmlformats.org/officeDocument/2006/relationships/slideLayout" Target="../slideLayouts/slideLayout338.xml"/><Relationship Id="rId83" Type="http://schemas.openxmlformats.org/officeDocument/2006/relationships/slideLayout" Target="../slideLayouts/slideLayout359.xml"/><Relationship Id="rId88" Type="http://schemas.openxmlformats.org/officeDocument/2006/relationships/slideLayout" Target="../slideLayouts/slideLayout364.xml"/><Relationship Id="rId111" Type="http://schemas.openxmlformats.org/officeDocument/2006/relationships/slideLayout" Target="../slideLayouts/slideLayout387.xml"/><Relationship Id="rId132" Type="http://schemas.openxmlformats.org/officeDocument/2006/relationships/slideLayout" Target="../slideLayouts/slideLayout408.xml"/><Relationship Id="rId153" Type="http://schemas.openxmlformats.org/officeDocument/2006/relationships/theme" Target="../theme/theme3.xml"/><Relationship Id="rId15" Type="http://schemas.openxmlformats.org/officeDocument/2006/relationships/slideLayout" Target="../slideLayouts/slideLayout291.xml"/><Relationship Id="rId36" Type="http://schemas.openxmlformats.org/officeDocument/2006/relationships/slideLayout" Target="../slideLayouts/slideLayout312.xml"/><Relationship Id="rId57" Type="http://schemas.openxmlformats.org/officeDocument/2006/relationships/slideLayout" Target="../slideLayouts/slideLayout333.xml"/><Relationship Id="rId106" Type="http://schemas.openxmlformats.org/officeDocument/2006/relationships/slideLayout" Target="../slideLayouts/slideLayout382.xml"/><Relationship Id="rId127" Type="http://schemas.openxmlformats.org/officeDocument/2006/relationships/slideLayout" Target="../slideLayouts/slideLayout403.xml"/><Relationship Id="rId10" Type="http://schemas.openxmlformats.org/officeDocument/2006/relationships/slideLayout" Target="../slideLayouts/slideLayout286.xml"/><Relationship Id="rId31" Type="http://schemas.openxmlformats.org/officeDocument/2006/relationships/slideLayout" Target="../slideLayouts/slideLayout307.xml"/><Relationship Id="rId52" Type="http://schemas.openxmlformats.org/officeDocument/2006/relationships/slideLayout" Target="../slideLayouts/slideLayout328.xml"/><Relationship Id="rId73" Type="http://schemas.openxmlformats.org/officeDocument/2006/relationships/slideLayout" Target="../slideLayouts/slideLayout349.xml"/><Relationship Id="rId78" Type="http://schemas.openxmlformats.org/officeDocument/2006/relationships/slideLayout" Target="../slideLayouts/slideLayout354.xml"/><Relationship Id="rId94" Type="http://schemas.openxmlformats.org/officeDocument/2006/relationships/slideLayout" Target="../slideLayouts/slideLayout370.xml"/><Relationship Id="rId99" Type="http://schemas.openxmlformats.org/officeDocument/2006/relationships/slideLayout" Target="../slideLayouts/slideLayout375.xml"/><Relationship Id="rId101" Type="http://schemas.openxmlformats.org/officeDocument/2006/relationships/slideLayout" Target="../slideLayouts/slideLayout377.xml"/><Relationship Id="rId122" Type="http://schemas.openxmlformats.org/officeDocument/2006/relationships/slideLayout" Target="../slideLayouts/slideLayout398.xml"/><Relationship Id="rId143" Type="http://schemas.openxmlformats.org/officeDocument/2006/relationships/slideLayout" Target="../slideLayouts/slideLayout419.xml"/><Relationship Id="rId148" Type="http://schemas.openxmlformats.org/officeDocument/2006/relationships/slideLayout" Target="../slideLayouts/slideLayout424.xml"/><Relationship Id="rId4" Type="http://schemas.openxmlformats.org/officeDocument/2006/relationships/slideLayout" Target="../slideLayouts/slideLayout280.xml"/><Relationship Id="rId9" Type="http://schemas.openxmlformats.org/officeDocument/2006/relationships/slideLayout" Target="../slideLayouts/slideLayout285.xml"/><Relationship Id="rId26" Type="http://schemas.openxmlformats.org/officeDocument/2006/relationships/slideLayout" Target="../slideLayouts/slideLayout302.xml"/><Relationship Id="rId47" Type="http://schemas.openxmlformats.org/officeDocument/2006/relationships/slideLayout" Target="../slideLayouts/slideLayout323.xml"/><Relationship Id="rId68" Type="http://schemas.openxmlformats.org/officeDocument/2006/relationships/slideLayout" Target="../slideLayouts/slideLayout344.xml"/><Relationship Id="rId89" Type="http://schemas.openxmlformats.org/officeDocument/2006/relationships/slideLayout" Target="../slideLayouts/slideLayout365.xml"/><Relationship Id="rId112" Type="http://schemas.openxmlformats.org/officeDocument/2006/relationships/slideLayout" Target="../slideLayouts/slideLayout388.xml"/><Relationship Id="rId133" Type="http://schemas.openxmlformats.org/officeDocument/2006/relationships/slideLayout" Target="../slideLayouts/slideLayout409.xml"/><Relationship Id="rId154" Type="http://schemas.openxmlformats.org/officeDocument/2006/relationships/image" Target="../media/image1.png"/><Relationship Id="rId16" Type="http://schemas.openxmlformats.org/officeDocument/2006/relationships/slideLayout" Target="../slideLayouts/slideLayout292.xml"/><Relationship Id="rId37" Type="http://schemas.openxmlformats.org/officeDocument/2006/relationships/slideLayout" Target="../slideLayouts/slideLayout313.xml"/><Relationship Id="rId58" Type="http://schemas.openxmlformats.org/officeDocument/2006/relationships/slideLayout" Target="../slideLayouts/slideLayout334.xml"/><Relationship Id="rId79" Type="http://schemas.openxmlformats.org/officeDocument/2006/relationships/slideLayout" Target="../slideLayouts/slideLayout355.xml"/><Relationship Id="rId102" Type="http://schemas.openxmlformats.org/officeDocument/2006/relationships/slideLayout" Target="../slideLayouts/slideLayout378.xml"/><Relationship Id="rId123" Type="http://schemas.openxmlformats.org/officeDocument/2006/relationships/slideLayout" Target="../slideLayouts/slideLayout399.xml"/><Relationship Id="rId144" Type="http://schemas.openxmlformats.org/officeDocument/2006/relationships/slideLayout" Target="../slideLayouts/slideLayout420.xml"/><Relationship Id="rId90" Type="http://schemas.openxmlformats.org/officeDocument/2006/relationships/slideLayout" Target="../slideLayouts/slideLayout3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1"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 id="2147484653" r:id="rId137"/>
    <p:sldLayoutId id="2147484654" r:id="rId138"/>
    <p:sldLayoutId id="2147484952" r:id="rId1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776" userDrawn="1">
          <p15:clr>
            <a:srgbClr val="F26B43"/>
          </p15:clr>
        </p15:guide>
        <p15:guide id="3" pos="352" userDrawn="1">
          <p15:clr>
            <a:srgbClr val="F26B43"/>
          </p15:clr>
        </p15:guide>
        <p15:guide id="4" pos="7200" userDrawn="1">
          <p15:clr>
            <a:srgbClr val="F26B43"/>
          </p15:clr>
        </p15:guide>
        <p15:guide id="5" orient="horz" pos="4048" userDrawn="1">
          <p15:clr>
            <a:srgbClr val="F26B43"/>
          </p15:clr>
        </p15:guide>
        <p15:guide id="6" pos="2048" userDrawn="1">
          <p15:clr>
            <a:srgbClr val="F26B43"/>
          </p15:clr>
        </p15:guide>
        <p15:guide id="7" pos="5472" userDrawn="1">
          <p15:clr>
            <a:srgbClr val="F26B43"/>
          </p15:clr>
        </p15:guide>
        <p15:guide id="8" pos="2624" userDrawn="1">
          <p15:clr>
            <a:srgbClr val="F26B43"/>
          </p15:clr>
        </p15:guide>
        <p15:guide id="9" pos="492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39"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224441" y="6522350"/>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a:off x="7683784" y="6566339"/>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446863" y="6674617"/>
            <a:ext cx="9627476" cy="0"/>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9274793"/>
      </p:ext>
    </p:extLst>
  </p:cSld>
  <p:clrMap bg1="lt1" tx1="dk1" bg2="lt2" tx2="dk2" accent1="accent1" accent2="accent2" accent3="accent3" accent4="accent4" accent5="accent5" accent6="accent6" hlink="hlink" folHlink="folHlink"/>
  <p:sldLayoutIdLst>
    <p:sldLayoutId id="2147484656" r:id="rId1"/>
    <p:sldLayoutId id="2147484657" r:id="rId2"/>
    <p:sldLayoutId id="2147484658" r:id="rId3"/>
    <p:sldLayoutId id="2147484659" r:id="rId4"/>
    <p:sldLayoutId id="2147484660" r:id="rId5"/>
    <p:sldLayoutId id="2147484661" r:id="rId6"/>
    <p:sldLayoutId id="2147484662" r:id="rId7"/>
    <p:sldLayoutId id="2147484663" r:id="rId8"/>
    <p:sldLayoutId id="2147484664" r:id="rId9"/>
    <p:sldLayoutId id="2147484665" r:id="rId10"/>
    <p:sldLayoutId id="2147484666" r:id="rId11"/>
    <p:sldLayoutId id="2147484667" r:id="rId12"/>
    <p:sldLayoutId id="2147484668" r:id="rId13"/>
    <p:sldLayoutId id="2147484669" r:id="rId14"/>
    <p:sldLayoutId id="2147484670" r:id="rId15"/>
    <p:sldLayoutId id="2147484671" r:id="rId16"/>
    <p:sldLayoutId id="2147484672" r:id="rId17"/>
    <p:sldLayoutId id="2147484673" r:id="rId18"/>
    <p:sldLayoutId id="2147484674" r:id="rId19"/>
    <p:sldLayoutId id="2147484675" r:id="rId20"/>
    <p:sldLayoutId id="2147484676" r:id="rId21"/>
    <p:sldLayoutId id="2147484677" r:id="rId22"/>
    <p:sldLayoutId id="2147484678" r:id="rId23"/>
    <p:sldLayoutId id="2147484679" r:id="rId24"/>
    <p:sldLayoutId id="2147484680" r:id="rId25"/>
    <p:sldLayoutId id="2147484681" r:id="rId26"/>
    <p:sldLayoutId id="2147484682" r:id="rId27"/>
    <p:sldLayoutId id="2147484683" r:id="rId28"/>
    <p:sldLayoutId id="2147484684" r:id="rId29"/>
    <p:sldLayoutId id="2147484685" r:id="rId30"/>
    <p:sldLayoutId id="2147484686" r:id="rId31"/>
    <p:sldLayoutId id="2147484687" r:id="rId32"/>
    <p:sldLayoutId id="2147484688" r:id="rId33"/>
    <p:sldLayoutId id="2147484689" r:id="rId34"/>
    <p:sldLayoutId id="2147484690" r:id="rId35"/>
    <p:sldLayoutId id="2147484691" r:id="rId36"/>
    <p:sldLayoutId id="2147484692" r:id="rId37"/>
    <p:sldLayoutId id="2147484693" r:id="rId38"/>
    <p:sldLayoutId id="2147484694" r:id="rId39"/>
    <p:sldLayoutId id="2147484695" r:id="rId40"/>
    <p:sldLayoutId id="2147484696" r:id="rId41"/>
    <p:sldLayoutId id="2147484697" r:id="rId42"/>
    <p:sldLayoutId id="2147484698" r:id="rId43"/>
    <p:sldLayoutId id="2147484699" r:id="rId44"/>
    <p:sldLayoutId id="2147484700" r:id="rId45"/>
    <p:sldLayoutId id="2147484701" r:id="rId46"/>
    <p:sldLayoutId id="2147484702" r:id="rId47"/>
    <p:sldLayoutId id="2147484703" r:id="rId48"/>
    <p:sldLayoutId id="2147484704" r:id="rId49"/>
    <p:sldLayoutId id="2147484705" r:id="rId50"/>
    <p:sldLayoutId id="2147484706" r:id="rId51"/>
    <p:sldLayoutId id="2147484707" r:id="rId52"/>
    <p:sldLayoutId id="2147484708" r:id="rId53"/>
    <p:sldLayoutId id="2147484709" r:id="rId54"/>
    <p:sldLayoutId id="2147484710" r:id="rId55"/>
    <p:sldLayoutId id="2147484711" r:id="rId56"/>
    <p:sldLayoutId id="2147484712" r:id="rId57"/>
    <p:sldLayoutId id="2147484713" r:id="rId58"/>
    <p:sldLayoutId id="2147484714" r:id="rId59"/>
    <p:sldLayoutId id="2147484715" r:id="rId60"/>
    <p:sldLayoutId id="2147484716" r:id="rId61"/>
    <p:sldLayoutId id="2147484717" r:id="rId62"/>
    <p:sldLayoutId id="2147484718" r:id="rId63"/>
    <p:sldLayoutId id="2147484719" r:id="rId64"/>
    <p:sldLayoutId id="2147484720" r:id="rId65"/>
    <p:sldLayoutId id="2147484721" r:id="rId66"/>
    <p:sldLayoutId id="2147484722" r:id="rId67"/>
    <p:sldLayoutId id="2147484723" r:id="rId68"/>
    <p:sldLayoutId id="2147484724" r:id="rId69"/>
    <p:sldLayoutId id="2147484725" r:id="rId70"/>
    <p:sldLayoutId id="2147484726" r:id="rId71"/>
    <p:sldLayoutId id="2147484727" r:id="rId72"/>
    <p:sldLayoutId id="2147484728" r:id="rId73"/>
    <p:sldLayoutId id="2147484729" r:id="rId74"/>
    <p:sldLayoutId id="2147484730" r:id="rId75"/>
    <p:sldLayoutId id="2147484731" r:id="rId76"/>
    <p:sldLayoutId id="2147484732" r:id="rId77"/>
    <p:sldLayoutId id="2147484733" r:id="rId78"/>
    <p:sldLayoutId id="2147484734" r:id="rId79"/>
    <p:sldLayoutId id="2147484735" r:id="rId80"/>
    <p:sldLayoutId id="2147484736" r:id="rId81"/>
    <p:sldLayoutId id="2147484737" r:id="rId82"/>
    <p:sldLayoutId id="2147484738" r:id="rId83"/>
    <p:sldLayoutId id="2147484739" r:id="rId84"/>
    <p:sldLayoutId id="2147484740" r:id="rId85"/>
    <p:sldLayoutId id="2147484741" r:id="rId86"/>
    <p:sldLayoutId id="2147484742" r:id="rId87"/>
    <p:sldLayoutId id="2147484743" r:id="rId88"/>
    <p:sldLayoutId id="2147484744" r:id="rId89"/>
    <p:sldLayoutId id="2147484745" r:id="rId90"/>
    <p:sldLayoutId id="2147484746" r:id="rId91"/>
    <p:sldLayoutId id="2147484747" r:id="rId92"/>
    <p:sldLayoutId id="2147484748" r:id="rId93"/>
    <p:sldLayoutId id="2147484749" r:id="rId94"/>
    <p:sldLayoutId id="2147484750" r:id="rId95"/>
    <p:sldLayoutId id="2147484751" r:id="rId96"/>
    <p:sldLayoutId id="2147484752" r:id="rId97"/>
    <p:sldLayoutId id="2147484753" r:id="rId98"/>
    <p:sldLayoutId id="2147484754" r:id="rId99"/>
    <p:sldLayoutId id="2147484755" r:id="rId100"/>
    <p:sldLayoutId id="2147484756" r:id="rId101"/>
    <p:sldLayoutId id="2147484757" r:id="rId102"/>
    <p:sldLayoutId id="2147484758" r:id="rId103"/>
    <p:sldLayoutId id="2147484759" r:id="rId104"/>
    <p:sldLayoutId id="2147484760" r:id="rId105"/>
    <p:sldLayoutId id="2147484761" r:id="rId106"/>
    <p:sldLayoutId id="2147484762" r:id="rId107"/>
    <p:sldLayoutId id="2147484763" r:id="rId108"/>
    <p:sldLayoutId id="2147484764" r:id="rId109"/>
    <p:sldLayoutId id="2147484765" r:id="rId110"/>
    <p:sldLayoutId id="2147484766" r:id="rId111"/>
    <p:sldLayoutId id="2147484767" r:id="rId112"/>
    <p:sldLayoutId id="2147484768" r:id="rId113"/>
    <p:sldLayoutId id="2147484769" r:id="rId114"/>
    <p:sldLayoutId id="2147484770" r:id="rId115"/>
    <p:sldLayoutId id="2147484771" r:id="rId116"/>
    <p:sldLayoutId id="2147484772" r:id="rId117"/>
    <p:sldLayoutId id="2147484773" r:id="rId118"/>
    <p:sldLayoutId id="2147484774" r:id="rId119"/>
    <p:sldLayoutId id="2147484775" r:id="rId120"/>
    <p:sldLayoutId id="2147484776" r:id="rId121"/>
    <p:sldLayoutId id="2147484777" r:id="rId122"/>
    <p:sldLayoutId id="2147484778" r:id="rId123"/>
    <p:sldLayoutId id="2147484779" r:id="rId124"/>
    <p:sldLayoutId id="2147484780" r:id="rId125"/>
    <p:sldLayoutId id="2147484781" r:id="rId126"/>
    <p:sldLayoutId id="2147484782" r:id="rId127"/>
    <p:sldLayoutId id="2147484783" r:id="rId128"/>
    <p:sldLayoutId id="2147484784" r:id="rId129"/>
    <p:sldLayoutId id="2147484785" r:id="rId130"/>
    <p:sldLayoutId id="2147484786" r:id="rId131"/>
    <p:sldLayoutId id="2147484787" r:id="rId132"/>
    <p:sldLayoutId id="2147484788" r:id="rId133"/>
    <p:sldLayoutId id="2147484789" r:id="rId134"/>
    <p:sldLayoutId id="2147484790" r:id="rId135"/>
    <p:sldLayoutId id="2147484791" r:id="rId136"/>
    <p:sldLayoutId id="2147484797" r:id="rId1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4"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9243067"/>
      </p:ext>
    </p:extLst>
  </p:cSld>
  <p:clrMap bg1="lt1" tx1="dk1" bg2="lt2" tx2="dk2" accent1="accent1" accent2="accent2" accent3="accent3" accent4="accent4" accent5="accent5" accent6="accent6" hlink="hlink" folHlink="folHlink"/>
  <p:sldLayoutIdLst>
    <p:sldLayoutId id="2147484800" r:id="rId1"/>
    <p:sldLayoutId id="2147484801" r:id="rId2"/>
    <p:sldLayoutId id="2147484802"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5" r:id="rId16"/>
    <p:sldLayoutId id="2147484816" r:id="rId17"/>
    <p:sldLayoutId id="2147484817" r:id="rId18"/>
    <p:sldLayoutId id="2147484818" r:id="rId19"/>
    <p:sldLayoutId id="2147484819" r:id="rId20"/>
    <p:sldLayoutId id="2147484820" r:id="rId21"/>
    <p:sldLayoutId id="2147484821" r:id="rId22"/>
    <p:sldLayoutId id="2147484822" r:id="rId23"/>
    <p:sldLayoutId id="2147484823" r:id="rId24"/>
    <p:sldLayoutId id="2147484824" r:id="rId25"/>
    <p:sldLayoutId id="2147484825" r:id="rId26"/>
    <p:sldLayoutId id="2147484826" r:id="rId27"/>
    <p:sldLayoutId id="2147484827" r:id="rId28"/>
    <p:sldLayoutId id="2147484828" r:id="rId29"/>
    <p:sldLayoutId id="2147484829" r:id="rId30"/>
    <p:sldLayoutId id="2147484830" r:id="rId31"/>
    <p:sldLayoutId id="2147484831" r:id="rId32"/>
    <p:sldLayoutId id="2147484832" r:id="rId33"/>
    <p:sldLayoutId id="2147484833" r:id="rId34"/>
    <p:sldLayoutId id="2147484834" r:id="rId35"/>
    <p:sldLayoutId id="2147484835" r:id="rId36"/>
    <p:sldLayoutId id="2147484836" r:id="rId37"/>
    <p:sldLayoutId id="2147484837" r:id="rId38"/>
    <p:sldLayoutId id="2147484838" r:id="rId39"/>
    <p:sldLayoutId id="2147484839" r:id="rId40"/>
    <p:sldLayoutId id="2147484840" r:id="rId41"/>
    <p:sldLayoutId id="2147484841" r:id="rId42"/>
    <p:sldLayoutId id="2147484842" r:id="rId43"/>
    <p:sldLayoutId id="2147484843" r:id="rId44"/>
    <p:sldLayoutId id="2147484844" r:id="rId45"/>
    <p:sldLayoutId id="2147484845" r:id="rId46"/>
    <p:sldLayoutId id="2147484846" r:id="rId47"/>
    <p:sldLayoutId id="2147484847" r:id="rId48"/>
    <p:sldLayoutId id="2147484848" r:id="rId49"/>
    <p:sldLayoutId id="2147484849" r:id="rId50"/>
    <p:sldLayoutId id="2147484850" r:id="rId51"/>
    <p:sldLayoutId id="2147484851" r:id="rId52"/>
    <p:sldLayoutId id="2147484852" r:id="rId53"/>
    <p:sldLayoutId id="2147484853" r:id="rId54"/>
    <p:sldLayoutId id="2147484854" r:id="rId55"/>
    <p:sldLayoutId id="2147484855" r:id="rId56"/>
    <p:sldLayoutId id="2147484856" r:id="rId57"/>
    <p:sldLayoutId id="2147484857" r:id="rId58"/>
    <p:sldLayoutId id="2147484858" r:id="rId59"/>
    <p:sldLayoutId id="2147484859" r:id="rId60"/>
    <p:sldLayoutId id="2147484860" r:id="rId61"/>
    <p:sldLayoutId id="2147484861" r:id="rId62"/>
    <p:sldLayoutId id="2147484862" r:id="rId63"/>
    <p:sldLayoutId id="2147484863" r:id="rId64"/>
    <p:sldLayoutId id="2147484864" r:id="rId65"/>
    <p:sldLayoutId id="2147484865" r:id="rId66"/>
    <p:sldLayoutId id="2147484866" r:id="rId67"/>
    <p:sldLayoutId id="2147484867" r:id="rId68"/>
    <p:sldLayoutId id="2147484868" r:id="rId69"/>
    <p:sldLayoutId id="2147484869" r:id="rId70"/>
    <p:sldLayoutId id="2147484870" r:id="rId71"/>
    <p:sldLayoutId id="2147484871" r:id="rId72"/>
    <p:sldLayoutId id="2147484872" r:id="rId73"/>
    <p:sldLayoutId id="2147484873" r:id="rId74"/>
    <p:sldLayoutId id="2147484874" r:id="rId75"/>
    <p:sldLayoutId id="2147484875" r:id="rId76"/>
    <p:sldLayoutId id="2147484876" r:id="rId77"/>
    <p:sldLayoutId id="2147484877" r:id="rId78"/>
    <p:sldLayoutId id="2147484878" r:id="rId79"/>
    <p:sldLayoutId id="2147484879" r:id="rId80"/>
    <p:sldLayoutId id="2147484880" r:id="rId81"/>
    <p:sldLayoutId id="2147484881" r:id="rId82"/>
    <p:sldLayoutId id="2147484882" r:id="rId83"/>
    <p:sldLayoutId id="2147484883" r:id="rId84"/>
    <p:sldLayoutId id="2147484884" r:id="rId85"/>
    <p:sldLayoutId id="2147484885" r:id="rId86"/>
    <p:sldLayoutId id="2147484886" r:id="rId87"/>
    <p:sldLayoutId id="2147484887" r:id="rId88"/>
    <p:sldLayoutId id="2147484888" r:id="rId89"/>
    <p:sldLayoutId id="2147484889" r:id="rId90"/>
    <p:sldLayoutId id="2147484890" r:id="rId91"/>
    <p:sldLayoutId id="2147484891" r:id="rId92"/>
    <p:sldLayoutId id="2147484892" r:id="rId93"/>
    <p:sldLayoutId id="2147484893" r:id="rId94"/>
    <p:sldLayoutId id="2147484894" r:id="rId95"/>
    <p:sldLayoutId id="2147484895" r:id="rId96"/>
    <p:sldLayoutId id="2147484896" r:id="rId97"/>
    <p:sldLayoutId id="2147484897" r:id="rId98"/>
    <p:sldLayoutId id="2147484898" r:id="rId99"/>
    <p:sldLayoutId id="2147484899" r:id="rId100"/>
    <p:sldLayoutId id="2147484900" r:id="rId101"/>
    <p:sldLayoutId id="2147484901" r:id="rId102"/>
    <p:sldLayoutId id="2147484902" r:id="rId103"/>
    <p:sldLayoutId id="2147484903" r:id="rId104"/>
    <p:sldLayoutId id="2147484904" r:id="rId105"/>
    <p:sldLayoutId id="2147484905" r:id="rId106"/>
    <p:sldLayoutId id="2147484906" r:id="rId107"/>
    <p:sldLayoutId id="2147484907" r:id="rId108"/>
    <p:sldLayoutId id="2147484908" r:id="rId109"/>
    <p:sldLayoutId id="2147484909" r:id="rId110"/>
    <p:sldLayoutId id="2147484910" r:id="rId111"/>
    <p:sldLayoutId id="2147484911" r:id="rId112"/>
    <p:sldLayoutId id="2147484912" r:id="rId113"/>
    <p:sldLayoutId id="2147484913" r:id="rId114"/>
    <p:sldLayoutId id="2147484914" r:id="rId115"/>
    <p:sldLayoutId id="2147484915" r:id="rId116"/>
    <p:sldLayoutId id="2147484916" r:id="rId117"/>
    <p:sldLayoutId id="2147484917" r:id="rId118"/>
    <p:sldLayoutId id="2147484918" r:id="rId119"/>
    <p:sldLayoutId id="2147484919" r:id="rId120"/>
    <p:sldLayoutId id="2147484920" r:id="rId121"/>
    <p:sldLayoutId id="2147484921" r:id="rId122"/>
    <p:sldLayoutId id="2147484922" r:id="rId123"/>
    <p:sldLayoutId id="2147484923" r:id="rId124"/>
    <p:sldLayoutId id="2147484924" r:id="rId125"/>
    <p:sldLayoutId id="2147484925" r:id="rId126"/>
    <p:sldLayoutId id="2147484926" r:id="rId127"/>
    <p:sldLayoutId id="2147484927" r:id="rId128"/>
    <p:sldLayoutId id="2147484928" r:id="rId129"/>
    <p:sldLayoutId id="2147484929" r:id="rId130"/>
    <p:sldLayoutId id="2147484930" r:id="rId131"/>
    <p:sldLayoutId id="2147484931" r:id="rId132"/>
    <p:sldLayoutId id="2147484932" r:id="rId133"/>
    <p:sldLayoutId id="2147484933" r:id="rId134"/>
    <p:sldLayoutId id="2147484934" r:id="rId135"/>
    <p:sldLayoutId id="2147484935" r:id="rId136"/>
    <p:sldLayoutId id="2147484936" r:id="rId137"/>
    <p:sldLayoutId id="2147484937" r:id="rId138"/>
    <p:sldLayoutId id="2147484938" r:id="rId139"/>
    <p:sldLayoutId id="2147484939" r:id="rId140"/>
    <p:sldLayoutId id="2147484940" r:id="rId141"/>
    <p:sldLayoutId id="2147484941" r:id="rId142"/>
    <p:sldLayoutId id="2147484942" r:id="rId143"/>
    <p:sldLayoutId id="2147484943" r:id="rId144"/>
    <p:sldLayoutId id="2147484944" r:id="rId145"/>
    <p:sldLayoutId id="2147484945" r:id="rId146"/>
    <p:sldLayoutId id="2147484946" r:id="rId147"/>
    <p:sldLayoutId id="2147484947" r:id="rId148"/>
    <p:sldLayoutId id="2147484948" r:id="rId149"/>
    <p:sldLayoutId id="2147484949" r:id="rId150"/>
    <p:sldLayoutId id="2147484950" r:id="rId151"/>
    <p:sldLayoutId id="2147484951" r:id="rId152"/>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9.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168.xml"/><Relationship Id="rId6" Type="http://schemas.openxmlformats.org/officeDocument/2006/relationships/image" Target="../media/image18.jpeg"/><Relationship Id="rId5" Type="http://schemas.openxmlformats.org/officeDocument/2006/relationships/slide" Target="slide16.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7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31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7FFFEB49_512226CF.xml"/><Relationship Id="rId2" Type="http://schemas.openxmlformats.org/officeDocument/2006/relationships/notesSlide" Target="../notesSlides/notesSlide13.xml"/><Relationship Id="rId1" Type="http://schemas.openxmlformats.org/officeDocument/2006/relationships/slideLayout" Target="../slideLayouts/slideLayout1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7FFFEB4A_4C122233.xml"/><Relationship Id="rId2" Type="http://schemas.openxmlformats.org/officeDocument/2006/relationships/notesSlide" Target="../notesSlides/notesSlide15.xml"/><Relationship Id="rId1" Type="http://schemas.openxmlformats.org/officeDocument/2006/relationships/slideLayout" Target="../slideLayouts/slideLayout13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hyperlink" Target="https://applications.anaplan.com/anaplan-segmentation-and-scoring-application-5db66237-2bbc-4462-b9cd-ce24e363eb85" TargetMode="External"/><Relationship Id="rId1" Type="http://schemas.openxmlformats.org/officeDocument/2006/relationships/slideLayout" Target="../slideLayouts/slideLayout2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1B4D48-8D4A-27B9-157B-FA4B828158B0}"/>
              </a:ext>
            </a:extLst>
          </p:cNvPr>
          <p:cNvSpPr>
            <a:spLocks noGrp="1"/>
          </p:cNvSpPr>
          <p:nvPr>
            <p:ph type="title"/>
          </p:nvPr>
        </p:nvSpPr>
        <p:spPr>
          <a:xfrm>
            <a:off x="1018035" y="1183094"/>
            <a:ext cx="9740161" cy="2003310"/>
          </a:xfrm>
        </p:spPr>
        <p:txBody>
          <a:bodyPr anchor="ctr"/>
          <a:lstStyle/>
          <a:p>
            <a:r>
              <a:rPr lang="en-US" sz="6000" dirty="0"/>
              <a:t>Anaplan </a:t>
            </a:r>
            <a:br>
              <a:rPr lang="en-US" sz="6000" dirty="0"/>
            </a:br>
            <a:r>
              <a:rPr lang="en-US" sz="6000" dirty="0"/>
              <a:t>Go-to-market Planning Applications</a:t>
            </a:r>
          </a:p>
        </p:txBody>
      </p:sp>
      <p:sp>
        <p:nvSpPr>
          <p:cNvPr id="10" name="Subtitle 2">
            <a:extLst>
              <a:ext uri="{FF2B5EF4-FFF2-40B4-BE49-F238E27FC236}">
                <a16:creationId xmlns:a16="http://schemas.microsoft.com/office/drawing/2014/main" id="{07F42822-E08B-2096-3BE3-B3B6E176DC27}"/>
              </a:ext>
            </a:extLst>
          </p:cNvPr>
          <p:cNvSpPr>
            <a:spLocks noGrp="1"/>
          </p:cNvSpPr>
          <p:nvPr>
            <p:ph type="body" sz="quarter" idx="10"/>
          </p:nvPr>
        </p:nvSpPr>
        <p:spPr>
          <a:xfrm>
            <a:off x="1018035" y="3762759"/>
            <a:ext cx="6036456" cy="978576"/>
          </a:xfrm>
        </p:spPr>
        <p:txBody>
          <a:bodyPr vert="horz" lIns="0" tIns="45720" rIns="91440" bIns="45720" rtlCol="0" anchor="ctr">
            <a:normAutofit/>
          </a:bodyPr>
          <a:lstStyle/>
          <a:p>
            <a:pPr>
              <a:lnSpc>
                <a:spcPts val="2500"/>
              </a:lnSpc>
            </a:pPr>
            <a:r>
              <a:rPr lang="en-US" sz="2200" dirty="0">
                <a:latin typeface="Arial"/>
                <a:cs typeface="Arial"/>
              </a:rPr>
              <a:t>Segmentation &amp; Scoring</a:t>
            </a:r>
          </a:p>
          <a:p>
            <a:pPr>
              <a:lnSpc>
                <a:spcPts val="2500"/>
              </a:lnSpc>
            </a:pPr>
            <a:r>
              <a:rPr lang="en-US" sz="2200" dirty="0">
                <a:solidFill>
                  <a:schemeClr val="accent1"/>
                </a:solidFill>
                <a:latin typeface="Arial"/>
                <a:cs typeface="Arial"/>
              </a:rPr>
              <a:t>Technical Overview </a:t>
            </a:r>
          </a:p>
        </p:txBody>
      </p:sp>
      <p:sp>
        <p:nvSpPr>
          <p:cNvPr id="20" name="TextBox 19">
            <a:extLst>
              <a:ext uri="{FF2B5EF4-FFF2-40B4-BE49-F238E27FC236}">
                <a16:creationId xmlns:a16="http://schemas.microsoft.com/office/drawing/2014/main" id="{50C3F7BF-7895-C605-605F-64BB9F8A4E91}"/>
              </a:ext>
            </a:extLst>
          </p:cNvPr>
          <p:cNvSpPr txBox="1"/>
          <p:nvPr/>
        </p:nvSpPr>
        <p:spPr>
          <a:xfrm>
            <a:off x="8256642" y="5675849"/>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bg2"/>
                </a:solidFill>
                <a:ea typeface="Calibri"/>
                <a:cs typeface="Calibri"/>
              </a:rPr>
              <a:t>Application Version 1.1.0</a:t>
            </a:r>
          </a:p>
          <a:p>
            <a:r>
              <a:rPr lang="en-US" sz="1200" dirty="0">
                <a:solidFill>
                  <a:schemeClr val="bg2"/>
                </a:solidFill>
                <a:ea typeface="Calibri"/>
                <a:cs typeface="Calibri"/>
              </a:rPr>
              <a:t>Last updated July 2, 2025</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dirty="0">
                <a:latin typeface="Arial"/>
                <a:cs typeface="Arial"/>
              </a:rPr>
              <a:t>Confidentiality notice</a:t>
            </a:r>
            <a:endParaRPr lang="en-US" dirty="0"/>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623733"/>
            <a:ext cx="8228710" cy="2246769"/>
          </a:xfrm>
          <a:prstGeom prst="rect">
            <a:avLst/>
          </a:prstGeom>
          <a:noFill/>
        </p:spPr>
        <p:txBody>
          <a:bodyPr wrap="square" lIns="0" tIns="45720" rIns="91440" bIns="45720" rtlCol="0" anchor="t">
            <a:spAutoFit/>
          </a:bodyPr>
          <a:lstStyle/>
          <a:p>
            <a:pPr>
              <a:defRPr/>
            </a:pP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This documentation and any related materials are provided solely for the use of authorized Anaplan customers who have purchased the </a:t>
            </a:r>
            <a:r>
              <a:rPr lang="en-US" sz="1000" b="1" dirty="0">
                <a:solidFill>
                  <a:srgbClr val="0A2F46"/>
                </a:solidFill>
                <a:latin typeface="Arial" panose="020B0604020202020204"/>
              </a:rPr>
              <a:t>Segmentation and Scoring Application</a:t>
            </a:r>
            <a:r>
              <a:rPr lang="en-US" sz="1000" dirty="0">
                <a:solidFill>
                  <a:srgbClr val="0A2F46"/>
                </a:solidFill>
                <a:latin typeface="Arial" panose="020B0604020202020204"/>
              </a:rPr>
              <a:t> </a:t>
            </a:r>
            <a:r>
              <a:rPr lang="en-US" sz="1000" i="1" dirty="0">
                <a:solidFill>
                  <a:srgbClr val="0A2F46"/>
                </a:solidFill>
                <a:latin typeface="Arial" panose="020B0604020202020204"/>
              </a:rPr>
              <a:t>and</a:t>
            </a:r>
            <a:r>
              <a:rPr kumimoji="0" lang="en-US" sz="1000" b="0" i="1" u="none" strike="noStrike" kern="1200" cap="none" spc="0" normalizeH="0" baseline="0" noProof="0" dirty="0">
                <a:ln>
                  <a:noFill/>
                </a:ln>
                <a:solidFill>
                  <a:srgbClr val="0A2F46"/>
                </a:solidFill>
                <a:effectLst/>
                <a:uLnTx/>
                <a:uFillTx/>
                <a:latin typeface="Arial" panose="020B0604020202020204"/>
                <a:ea typeface="+mn-ea"/>
                <a:cs typeface="+mn-cs"/>
              </a:rPr>
              <a:t> are considered Anaplan proprietary information</a:t>
            </a: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 The information contained herein is intended exclusively for the purpose of implementing the application </a:t>
            </a:r>
            <a:r>
              <a:rPr kumimoji="0" lang="en-US" sz="1000" b="0" i="1" u="none" strike="noStrike" kern="1200" cap="none" spc="0" normalizeH="0" baseline="0" noProof="0" dirty="0">
                <a:ln>
                  <a:noFill/>
                </a:ln>
                <a:solidFill>
                  <a:srgbClr val="0A2F46"/>
                </a:solidFill>
                <a:effectLst/>
                <a:uLnTx/>
                <a:uFillTx/>
                <a:latin typeface="Arial" panose="020B0604020202020204"/>
                <a:ea typeface="+mn-ea"/>
                <a:cs typeface="+mn-cs"/>
              </a:rPr>
              <a:t>by authorized customers</a:t>
            </a: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 </a:t>
            </a:r>
            <a:r>
              <a:rPr kumimoji="0" lang="en-US" sz="1000" b="1" i="0" u="none" strike="noStrike" kern="1200" cap="none" spc="0" normalizeH="0" baseline="0" noProof="0" dirty="0">
                <a:ln>
                  <a:noFill/>
                </a:ln>
                <a:solidFill>
                  <a:srgbClr val="0A2F46"/>
                </a:solidFill>
                <a:effectLst/>
                <a:uLnTx/>
                <a:uFillTx/>
                <a:latin typeface="Arial" panose="020B0604020202020204"/>
                <a:ea typeface="+mn-ea"/>
                <a:cs typeface="+mn-cs"/>
              </a:rPr>
              <a:t> Any use outside of this intended purpose is strictly prohibited</a:t>
            </a: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 including but not limited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Sharing, distributing, or disclosing this content with or to individuals or entities not directly involved in the customer’s authorized implementation. </a:t>
            </a:r>
            <a:endParaRPr lang="en-US" sz="1000" b="0" i="0" u="none" strike="noStrike" kern="1200" cap="none" spc="0" normalizeH="0" baseline="0" noProof="0" dirty="0">
              <a:ln>
                <a:noFill/>
              </a:ln>
              <a:solidFill>
                <a:srgbClr val="0A2F46"/>
              </a:solidFill>
              <a:effectLst/>
              <a:uLnTx/>
              <a:uFillTx/>
              <a:latin typeface="Arial" panose="020B0604020202020204"/>
              <a:cs typeface="Arial"/>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Using the documentation, in whole or in part, to replicate, retrofit, or reverse-engineer the functionality in other models, environments, or platforms. </a:t>
            </a:r>
            <a:endParaRPr lang="en-US" sz="1000" b="0" i="0" u="none" strike="noStrike" kern="1200" cap="none" spc="0" normalizeH="0" baseline="0" noProof="0" dirty="0">
              <a:ln>
                <a:noFill/>
              </a:ln>
              <a:solidFill>
                <a:srgbClr val="0A2F46"/>
              </a:solidFill>
              <a:effectLst/>
              <a:uLnTx/>
              <a:uFillTx/>
              <a:latin typeface="Arial" panose="020B06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000" b="0" i="0" u="none" strike="noStrike" kern="1200" cap="none" spc="0" normalizeH="0" baseline="0" noProof="0" dirty="0">
                <a:ln>
                  <a:noFill/>
                </a:ln>
                <a:effectLst/>
                <a:uLnTx/>
                <a:uFillTx/>
                <a:latin typeface="Arial" panose="020B0604020202020204"/>
              </a:rPr>
            </a:b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This documentation contains proprietary information of Anaplan and is protected by applicable intellectual property laws.</a:t>
            </a:r>
            <a:b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rPr>
              <a:t>Any unauthorized use, reproduction, or dissemination is a violation of these terms and may result in legal action. </a:t>
            </a:r>
            <a:br>
              <a:rPr lang="en-US" sz="1000" b="0" i="0" u="none" strike="noStrike" kern="1200" cap="none" spc="0" normalizeH="0" baseline="0" noProof="0" dirty="0">
                <a:ln>
                  <a:noFill/>
                </a:ln>
                <a:effectLst/>
                <a:uLnTx/>
                <a:uFillTx/>
                <a:latin typeface="Arial" panose="020B0604020202020204"/>
              </a:rPr>
            </a:br>
            <a:endParaRPr kumimoji="0" lang="en-US" sz="1000" b="0" i="0" u="none" strike="noStrike" kern="1200" cap="none" spc="0" normalizeH="0" baseline="0" noProof="0" dirty="0">
              <a:ln>
                <a:noFill/>
              </a:ln>
              <a:solidFill>
                <a:srgbClr val="0A2F4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397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EFD1-FD64-2D93-C7C4-071D0B8B6A26}"/>
              </a:ext>
            </a:extLst>
          </p:cNvPr>
          <p:cNvSpPr>
            <a:spLocks noGrp="1"/>
          </p:cNvSpPr>
          <p:nvPr>
            <p:ph type="title"/>
          </p:nvPr>
        </p:nvSpPr>
        <p:spPr/>
        <p:txBody>
          <a:bodyPr/>
          <a:lstStyle/>
          <a:p>
            <a:r>
              <a:rPr lang="en-US" sz="2000" dirty="0"/>
              <a:t>Table of Contents</a:t>
            </a:r>
          </a:p>
        </p:txBody>
      </p:sp>
      <p:grpSp>
        <p:nvGrpSpPr>
          <p:cNvPr id="32" name="Group 31">
            <a:extLst>
              <a:ext uri="{FF2B5EF4-FFF2-40B4-BE49-F238E27FC236}">
                <a16:creationId xmlns:a16="http://schemas.microsoft.com/office/drawing/2014/main" id="{724FA615-28A9-616F-5463-D8E12A6FF96C}"/>
              </a:ext>
            </a:extLst>
          </p:cNvPr>
          <p:cNvGrpSpPr/>
          <p:nvPr/>
        </p:nvGrpSpPr>
        <p:grpSpPr>
          <a:xfrm>
            <a:off x="665018" y="1116130"/>
            <a:ext cx="5989320" cy="700795"/>
            <a:chOff x="665018" y="1116130"/>
            <a:chExt cx="5989320" cy="700795"/>
          </a:xfrm>
        </p:grpSpPr>
        <p:cxnSp>
          <p:nvCxnSpPr>
            <p:cNvPr id="4" name="Straight Connector 3">
              <a:extLst>
                <a:ext uri="{FF2B5EF4-FFF2-40B4-BE49-F238E27FC236}">
                  <a16:creationId xmlns:a16="http://schemas.microsoft.com/office/drawing/2014/main" id="{2A1598FC-EEF7-EFBC-6909-8B7AFF80DD6A}"/>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CB26CD3-6190-9285-4115-935DC77D294C}"/>
                </a:ext>
              </a:extLst>
            </p:cNvPr>
            <p:cNvSpPr txBox="1"/>
            <p:nvPr/>
          </p:nvSpPr>
          <p:spPr>
            <a:xfrm>
              <a:off x="665018" y="1116130"/>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A1E28A66-2B0E-25AC-7375-C31483D12C4C}"/>
                </a:ext>
              </a:extLst>
            </p:cNvPr>
            <p:cNvSpPr txBox="1"/>
            <p:nvPr/>
          </p:nvSpPr>
          <p:spPr>
            <a:xfrm>
              <a:off x="1196788" y="1116130"/>
              <a:ext cx="5455522" cy="523220"/>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rgbClr val="0A2F46"/>
                  </a:solidFill>
                  <a:latin typeface="Arial"/>
                  <a:ea typeface="Inter Light" panose="02000503000000020004" pitchFamily="2" charset="0"/>
                  <a:cs typeface="Arial"/>
                  <a:hlinkClick r:id="rId2" action="ppaction://hlinksldjump">
                    <a:extLst>
                      <a:ext uri="{A12FA001-AC4F-418D-AE19-62706E023703}">
                        <ahyp:hlinkClr xmlns:ahyp="http://schemas.microsoft.com/office/drawing/2018/hyperlinkcolor" val="tx"/>
                      </a:ext>
                    </a:extLst>
                  </a:hlinkClick>
                </a:rPr>
                <a:t>Overview</a:t>
              </a:r>
              <a:endParaRPr kumimoji="0" lang="en-US" sz="2800" b="0" i="0" strike="noStrike" kern="1200" cap="none" spc="0" normalizeH="0" baseline="0" noProof="0" dirty="0">
                <a:ln>
                  <a:noFill/>
                </a:ln>
                <a:solidFill>
                  <a:srgbClr val="0A2F46"/>
                </a:solidFill>
                <a:effectLst/>
                <a:uLnTx/>
                <a:uFillTx/>
                <a:latin typeface="Arial"/>
                <a:ea typeface="Inter Light" panose="02000503000000020004" pitchFamily="2" charset="0"/>
                <a:cs typeface="Arial"/>
                <a:hlinkClick r:id="rId2" action="ppaction://hlinksldjump">
                  <a:extLst>
                    <a:ext uri="{A12FA001-AC4F-418D-AE19-62706E023703}">
                      <ahyp:hlinkClr xmlns:ahyp="http://schemas.microsoft.com/office/drawing/2018/hyperlinkcolor" val="tx"/>
                    </a:ext>
                  </a:extLst>
                </a:hlinkClick>
              </a:endParaRPr>
            </a:p>
          </p:txBody>
        </p:sp>
      </p:grpSp>
      <p:grpSp>
        <p:nvGrpSpPr>
          <p:cNvPr id="33" name="Group 32">
            <a:extLst>
              <a:ext uri="{FF2B5EF4-FFF2-40B4-BE49-F238E27FC236}">
                <a16:creationId xmlns:a16="http://schemas.microsoft.com/office/drawing/2014/main" id="{42E6DE38-EFDB-EC4F-D906-8763EC008C3D}"/>
              </a:ext>
            </a:extLst>
          </p:cNvPr>
          <p:cNvGrpSpPr/>
          <p:nvPr/>
        </p:nvGrpSpPr>
        <p:grpSpPr>
          <a:xfrm>
            <a:off x="665018" y="2296652"/>
            <a:ext cx="6640134" cy="954107"/>
            <a:chOff x="665018" y="1791547"/>
            <a:chExt cx="5990738" cy="954107"/>
          </a:xfrm>
        </p:grpSpPr>
        <p:cxnSp>
          <p:nvCxnSpPr>
            <p:cNvPr id="6" name="Straight Connector 5">
              <a:extLst>
                <a:ext uri="{FF2B5EF4-FFF2-40B4-BE49-F238E27FC236}">
                  <a16:creationId xmlns:a16="http://schemas.microsoft.com/office/drawing/2014/main" id="{B3AA4EC6-3CB6-67BE-E17B-DCFF4D92F03C}"/>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A6A8A0-2EE1-EC5A-3431-93621FFA47E7}"/>
                </a:ext>
              </a:extLst>
            </p:cNvPr>
            <p:cNvSpPr txBox="1"/>
            <p:nvPr/>
          </p:nvSpPr>
          <p:spPr>
            <a:xfrm>
              <a:off x="665018" y="1857807"/>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E4E749B-D189-21B3-F2C9-CCE95FE54FFB}"/>
                </a:ext>
              </a:extLst>
            </p:cNvPr>
            <p:cNvSpPr txBox="1"/>
            <p:nvPr/>
          </p:nvSpPr>
          <p:spPr>
            <a:xfrm>
              <a:off x="1117081" y="1791547"/>
              <a:ext cx="5458968" cy="954107"/>
            </a:xfrm>
            <a:prstGeom prst="rect">
              <a:avLst/>
            </a:prstGeom>
            <a:noFill/>
          </p:spPr>
          <p:txBody>
            <a:bodyPr wrap="square" lIns="0" tIns="45720" rIns="91440" bIns="45720" rtlCol="0" anchor="t">
              <a:spAutoFit/>
            </a:bodyPr>
            <a:lstStyle/>
            <a:p>
              <a:pPr>
                <a:defRPr/>
              </a:pPr>
              <a:r>
                <a:rPr kumimoji="0" lang="en-US" sz="2800" b="0" i="0" u="none" strike="noStrike" kern="1200" cap="none" spc="0" normalizeH="0" baseline="0" noProof="0" dirty="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Process </a:t>
              </a:r>
              <a:r>
                <a:rPr lang="en-US" sz="2800" dirty="0">
                  <a:solidFill>
                    <a:srgbClr val="0A2F46"/>
                  </a:solidFill>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and configurable</a:t>
              </a:r>
              <a:r>
                <a:rPr kumimoji="0" lang="en-US" sz="2800" b="0" i="0" u="none" strike="noStrike" kern="1200" cap="none" spc="0" normalizeH="0" baseline="0" noProof="0" dirty="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 </a:t>
              </a:r>
              <a:r>
                <a:rPr lang="en-US" sz="2800" dirty="0">
                  <a:solidFill>
                    <a:srgbClr val="0A2F46"/>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elements</a:t>
              </a:r>
              <a:endParaRPr lang="en-US" sz="2800" b="0" i="0" u="none" strike="noStrike" kern="1200" cap="none" spc="0" normalizeH="0" baseline="0" noProof="0" dirty="0">
                <a:ln>
                  <a:noFill/>
                </a:ln>
                <a:solidFill>
                  <a:srgbClr val="0A2F46"/>
                </a:solidFill>
                <a:effectLst/>
                <a:uLnTx/>
                <a:uFillTx/>
                <a:latin typeface="Arial"/>
                <a:ea typeface="Inter Light" panose="02000503000000020004" pitchFamily="2" charset="0"/>
                <a:cs typeface="Arial"/>
              </a:endParaRPr>
            </a:p>
          </p:txBody>
        </p:sp>
      </p:grpSp>
      <p:grpSp>
        <p:nvGrpSpPr>
          <p:cNvPr id="34" name="Group 33">
            <a:extLst>
              <a:ext uri="{FF2B5EF4-FFF2-40B4-BE49-F238E27FC236}">
                <a16:creationId xmlns:a16="http://schemas.microsoft.com/office/drawing/2014/main" id="{83DB37FB-9C36-9466-817D-F53F75B7669A}"/>
              </a:ext>
            </a:extLst>
          </p:cNvPr>
          <p:cNvGrpSpPr/>
          <p:nvPr/>
        </p:nvGrpSpPr>
        <p:grpSpPr>
          <a:xfrm>
            <a:off x="660154" y="3630528"/>
            <a:ext cx="5990738" cy="953347"/>
            <a:chOff x="665018" y="2714615"/>
            <a:chExt cx="5990738" cy="953347"/>
          </a:xfrm>
        </p:grpSpPr>
        <p:cxnSp>
          <p:nvCxnSpPr>
            <p:cNvPr id="8" name="Straight Connector 7">
              <a:extLst>
                <a:ext uri="{FF2B5EF4-FFF2-40B4-BE49-F238E27FC236}">
                  <a16:creationId xmlns:a16="http://schemas.microsoft.com/office/drawing/2014/main" id="{F02F77F8-1D01-60A8-6E15-F0CA9C5597FD}"/>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C5BA2E2-2F60-90A1-2702-C1C23C799C62}"/>
                </a:ext>
              </a:extLst>
            </p:cNvPr>
            <p:cNvSpPr txBox="1"/>
            <p:nvPr/>
          </p:nvSpPr>
          <p:spPr>
            <a:xfrm>
              <a:off x="665018" y="2714615"/>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8E29B5F-2F71-752F-D227-727449157AF6}"/>
                </a:ext>
              </a:extLst>
            </p:cNvPr>
            <p:cNvSpPr txBox="1"/>
            <p:nvPr/>
          </p:nvSpPr>
          <p:spPr>
            <a:xfrm>
              <a:off x="1196788" y="2714615"/>
              <a:ext cx="5458968" cy="523220"/>
            </a:xfrm>
            <a:prstGeom prst="rect">
              <a:avLst/>
            </a:prstGeom>
            <a:noFill/>
          </p:spPr>
          <p:txBody>
            <a:bodyPr wrap="square" lIns="0" tIns="45720" rIns="91440" bIns="45720" rtlCol="0" anchor="t">
              <a:spAutoFit/>
            </a:bodyPr>
            <a:lstStyle/>
            <a:p>
              <a:pPr>
                <a:defRPr/>
              </a:pPr>
              <a:r>
                <a:rPr kumimoji="0" lang="en-US" sz="2800" b="0" i="0" u="none" strike="noStrike" kern="1200" cap="none" spc="0" normalizeH="0" baseline="0" noProof="0" dirty="0">
                  <a:ln>
                    <a:noFill/>
                  </a:ln>
                  <a:solidFill>
                    <a:schemeClr val="tx2"/>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Prework </a:t>
              </a:r>
              <a:r>
                <a:rPr lang="en-US" sz="2800" dirty="0">
                  <a:solidFill>
                    <a:schemeClr val="tx2"/>
                  </a:solidFill>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and assumptions</a:t>
              </a:r>
              <a:endParaRPr lang="en-US" sz="2800" b="0" i="0" u="none" strike="noStrike" kern="1200" cap="none" spc="0" normalizeH="0" baseline="0" noProof="0" dirty="0">
                <a:ln>
                  <a:noFill/>
                </a:ln>
                <a:solidFill>
                  <a:schemeClr val="tx2"/>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endParaRPr>
            </a:p>
          </p:txBody>
        </p:sp>
      </p:grpSp>
      <p:grpSp>
        <p:nvGrpSpPr>
          <p:cNvPr id="35" name="Group 34">
            <a:extLst>
              <a:ext uri="{FF2B5EF4-FFF2-40B4-BE49-F238E27FC236}">
                <a16:creationId xmlns:a16="http://schemas.microsoft.com/office/drawing/2014/main" id="{095805EB-2CB1-6C64-0235-118BB4994FD5}"/>
              </a:ext>
            </a:extLst>
          </p:cNvPr>
          <p:cNvGrpSpPr/>
          <p:nvPr/>
        </p:nvGrpSpPr>
        <p:grpSpPr>
          <a:xfrm>
            <a:off x="661572" y="5014002"/>
            <a:ext cx="5990738" cy="953348"/>
            <a:chOff x="665018" y="3781578"/>
            <a:chExt cx="5990738" cy="953348"/>
          </a:xfrm>
        </p:grpSpPr>
        <p:cxnSp>
          <p:nvCxnSpPr>
            <p:cNvPr id="10" name="Straight Connector 9">
              <a:extLst>
                <a:ext uri="{FF2B5EF4-FFF2-40B4-BE49-F238E27FC236}">
                  <a16:creationId xmlns:a16="http://schemas.microsoft.com/office/drawing/2014/main" id="{0012160B-C6EA-99EF-1872-FCF02D94776A}"/>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85B7454-C96A-A2CB-DD95-89948C210F67}"/>
                </a:ext>
              </a:extLst>
            </p:cNvPr>
            <p:cNvSpPr txBox="1"/>
            <p:nvPr/>
          </p:nvSpPr>
          <p:spPr>
            <a:xfrm>
              <a:off x="665018" y="3781578"/>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4 </a:t>
              </a:r>
            </a:p>
          </p:txBody>
        </p:sp>
        <p:sp>
          <p:nvSpPr>
            <p:cNvPr id="17" name="TextBox 16">
              <a:extLst>
                <a:ext uri="{FF2B5EF4-FFF2-40B4-BE49-F238E27FC236}">
                  <a16:creationId xmlns:a16="http://schemas.microsoft.com/office/drawing/2014/main" id="{D2BBC799-3138-A521-70AB-CF939E473CFF}"/>
                </a:ext>
              </a:extLst>
            </p:cNvPr>
            <p:cNvSpPr txBox="1"/>
            <p:nvPr/>
          </p:nvSpPr>
          <p:spPr>
            <a:xfrm>
              <a:off x="1196788" y="3781578"/>
              <a:ext cx="5458968" cy="523220"/>
            </a:xfrm>
            <a:prstGeom prst="rect">
              <a:avLst/>
            </a:prstGeom>
            <a:noFill/>
          </p:spPr>
          <p:txBody>
            <a:bodyPr wrap="square" lIns="0" tIns="45720" rIns="91440" bIns="45720" rtlCol="0" anchor="t">
              <a:spAutoFit/>
            </a:bodyPr>
            <a:lstStyle/>
            <a:p>
              <a:pPr>
                <a:defRPr/>
              </a:pPr>
              <a:r>
                <a:rPr lang="en-US" sz="2800" dirty="0">
                  <a:solidFill>
                    <a:schemeClr val="tx2"/>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Model</a:t>
              </a:r>
              <a:r>
                <a:rPr kumimoji="0" lang="en-US" sz="2800" b="0" i="0" u="none" strike="noStrike" kern="1200" cap="none" spc="0" normalizeH="0" baseline="0" noProof="0" dirty="0">
                  <a:ln>
                    <a:noFill/>
                  </a:ln>
                  <a:solidFill>
                    <a:schemeClr val="tx2"/>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 </a:t>
              </a:r>
              <a:r>
                <a:rPr lang="en-US" sz="2800" dirty="0">
                  <a:solidFill>
                    <a:schemeClr val="tx2"/>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design</a:t>
              </a:r>
              <a:endParaRPr lang="en-US" sz="2800" b="0" i="0" u="none" strike="noStrike" kern="1200" cap="none" spc="0" normalizeH="0" baseline="0" noProof="0" dirty="0">
                <a:ln>
                  <a:noFill/>
                </a:ln>
                <a:solidFill>
                  <a:schemeClr val="tx2"/>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endParaRPr>
            </a:p>
          </p:txBody>
        </p:sp>
      </p:grpSp>
      <p:pic>
        <p:nvPicPr>
          <p:cNvPr id="25" name="Picture Placeholder 8" descr="A person using a computer&#10;&#10;AI-generated content may be incorrect.">
            <a:extLst>
              <a:ext uri="{FF2B5EF4-FFF2-40B4-BE49-F238E27FC236}">
                <a16:creationId xmlns:a16="http://schemas.microsoft.com/office/drawing/2014/main" id="{30C79F12-6C2D-1340-870E-F22390E1D409}"/>
              </a:ext>
            </a:extLst>
          </p:cNvPr>
          <p:cNvPicPr>
            <a:picLocks noChangeAspect="1"/>
          </p:cNvPicPr>
          <p:nvPr/>
        </p:nvPicPr>
        <p:blipFill>
          <a:blip r:embed="rId6"/>
          <a:srcRect l="21853" r="21853"/>
          <a:stretch>
            <a:fillRect/>
          </a:stretch>
        </p:blipFill>
        <p:spPr>
          <a:xfrm>
            <a:off x="7144506" y="872505"/>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81828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35E6C-9843-7BE3-6861-404C1963B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0603E-6946-0A31-A5C1-B35C7CADF0B3}"/>
              </a:ext>
            </a:extLst>
          </p:cNvPr>
          <p:cNvSpPr>
            <a:spLocks noGrp="1"/>
          </p:cNvSpPr>
          <p:nvPr>
            <p:ph type="title"/>
          </p:nvPr>
        </p:nvSpPr>
        <p:spPr/>
        <p:txBody>
          <a:bodyPr/>
          <a:lstStyle/>
          <a:p>
            <a:r>
              <a:rPr lang="en-US"/>
              <a:t>Overview</a:t>
            </a:r>
          </a:p>
        </p:txBody>
      </p:sp>
      <p:sp>
        <p:nvSpPr>
          <p:cNvPr id="3" name="Text Placeholder 2">
            <a:extLst>
              <a:ext uri="{FF2B5EF4-FFF2-40B4-BE49-F238E27FC236}">
                <a16:creationId xmlns:a16="http://schemas.microsoft.com/office/drawing/2014/main" id="{54036A85-D793-C2BB-0340-613CA0B7B727}"/>
              </a:ext>
            </a:extLst>
          </p:cNvPr>
          <p:cNvSpPr>
            <a:spLocks noGrp="1"/>
          </p:cNvSpPr>
          <p:nvPr>
            <p:ph type="body" sz="quarter" idx="10"/>
          </p:nvPr>
        </p:nvSpPr>
        <p:spPr/>
        <p:txBody>
          <a:bodyPr/>
          <a:lstStyle/>
          <a:p>
            <a:r>
              <a:rPr lang="en-US"/>
              <a:t>Section 1</a:t>
            </a:r>
          </a:p>
        </p:txBody>
      </p:sp>
    </p:spTree>
    <p:extLst>
      <p:ext uri="{BB962C8B-B14F-4D97-AF65-F5344CB8AC3E}">
        <p14:creationId xmlns:p14="http://schemas.microsoft.com/office/powerpoint/2010/main" val="51120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2">
            <a:extLst>
              <a:ext uri="{FF2B5EF4-FFF2-40B4-BE49-F238E27FC236}">
                <a16:creationId xmlns:a16="http://schemas.microsoft.com/office/drawing/2014/main" id="{B599E559-54B4-5796-38B7-48C5D3AC5D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0128" y="1284806"/>
            <a:ext cx="5380879" cy="296088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a:extLst>
              <a:ext uri="{FF2B5EF4-FFF2-40B4-BE49-F238E27FC236}">
                <a16:creationId xmlns:a16="http://schemas.microsoft.com/office/drawing/2014/main" id="{B6CC42C0-A3FC-01D8-4FC6-42609D128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8150" y="3252180"/>
            <a:ext cx="5404377" cy="2885149"/>
          </a:xfrm>
          <a:prstGeom prst="rect">
            <a:avLst/>
          </a:prstGeom>
          <a:noFill/>
          <a:extLst>
            <a:ext uri="{909E8E84-426E-40DD-AFC4-6F175D3DCCD1}">
              <a14:hiddenFill xmlns:a14="http://schemas.microsoft.com/office/drawing/2010/main">
                <a:solidFill>
                  <a:srgbClr val="FFFFFF"/>
                </a:solidFill>
              </a14:hiddenFill>
            </a:ext>
          </a:extLst>
        </p:spPr>
      </p:pic>
      <p:sp>
        <p:nvSpPr>
          <p:cNvPr id="48" name="Rounded Rectangle 4">
            <a:extLst>
              <a:ext uri="{FF2B5EF4-FFF2-40B4-BE49-F238E27FC236}">
                <a16:creationId xmlns:a16="http://schemas.microsoft.com/office/drawing/2014/main" id="{6592B50F-B834-D2CE-8DBC-9FADB3C0E34D}"/>
              </a:ext>
            </a:extLst>
          </p:cNvPr>
          <p:cNvSpPr/>
          <p:nvPr/>
        </p:nvSpPr>
        <p:spPr>
          <a:xfrm>
            <a:off x="365459" y="1179534"/>
            <a:ext cx="5089943" cy="5385490"/>
          </a:xfrm>
          <a:prstGeom prst="roundRect">
            <a:avLst>
              <a:gd name="adj" fmla="val 2075"/>
            </a:avLst>
          </a:prstGeom>
          <a:solidFill>
            <a:srgbClr val="F2F1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Verdana" charset="0"/>
              <a:cs typeface="Arial" panose="020B0604020202020204" pitchFamily="34" charset="0"/>
            </a:endParaRPr>
          </a:p>
        </p:txBody>
      </p:sp>
      <p:sp>
        <p:nvSpPr>
          <p:cNvPr id="49" name="Text Placeholder 12">
            <a:extLst>
              <a:ext uri="{FF2B5EF4-FFF2-40B4-BE49-F238E27FC236}">
                <a16:creationId xmlns:a16="http://schemas.microsoft.com/office/drawing/2014/main" id="{7F13D7F6-9590-547B-730E-B2F8E9683E3B}"/>
              </a:ext>
            </a:extLst>
          </p:cNvPr>
          <p:cNvSpPr txBox="1">
            <a:spLocks/>
          </p:cNvSpPr>
          <p:nvPr/>
        </p:nvSpPr>
        <p:spPr>
          <a:xfrm>
            <a:off x="499473" y="1352302"/>
            <a:ext cx="4797344" cy="4619043"/>
          </a:xfrm>
          <a:prstGeom prst="rect">
            <a:avLst/>
          </a:prstGeom>
        </p:spPr>
        <p:txBody>
          <a:bodyPr lIns="91440" tIns="45720" rIns="91440" bIns="45720" anchor="t"/>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914378" rtl="0" eaLnBrk="1" fontAlgn="base" latinLnBrk="0" hangingPunct="1">
              <a:lnSpc>
                <a:spcPct val="100000"/>
              </a:lnSpc>
              <a:spcBef>
                <a:spcPct val="20000"/>
              </a:spcBef>
              <a:spcAft>
                <a:spcPts val="0"/>
              </a:spcAft>
              <a:buClr>
                <a:srgbClr val="FF6100"/>
              </a:buClr>
              <a:buSzTx/>
              <a:buNone/>
              <a:tabLst/>
              <a:defRPr/>
            </a:pPr>
            <a:r>
              <a:rPr kumimoji="0" lang="en-US" sz="900" b="1" i="0" u="none" strike="noStrike" kern="1200" cap="none" spc="0" normalizeH="0" baseline="0" noProof="0" dirty="0">
                <a:ln>
                  <a:noFill/>
                </a:ln>
                <a:solidFill>
                  <a:srgbClr val="0C314B"/>
                </a:solidFill>
                <a:effectLst/>
                <a:uLnTx/>
                <a:uFillTx/>
                <a:latin typeface="Arial"/>
                <a:ea typeface="Verdana"/>
                <a:cs typeface="Arial"/>
              </a:rPr>
              <a:t>Market maturity analysis</a:t>
            </a:r>
            <a:endParaRPr kumimoji="0" lang="en-US" sz="900" b="0" i="0" u="none" strike="noStrike" kern="1200" cap="none" spc="0" normalizeH="0" baseline="0" noProof="0" dirty="0">
              <a:ln>
                <a:noFill/>
              </a:ln>
              <a:solidFill>
                <a:srgbClr val="0C314B"/>
              </a:solidFill>
              <a:effectLst/>
              <a:uLnTx/>
              <a:uFillTx/>
              <a:latin typeface="Arial"/>
              <a:ea typeface="Verdana"/>
              <a:cs typeface="Arial"/>
            </a:endParaRP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Define country tiering based on market maturity and growth potential.</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Classify markets by expansion potential and buying behavior to guide GTM strategy.</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Flag restricted or embargoed markets and assess business impact.</a:t>
            </a:r>
            <a:br>
              <a:rPr kumimoji="0" lang="en-US" sz="900" b="0" i="0" u="none" strike="noStrike" kern="1200" cap="none" spc="0" normalizeH="0" baseline="0" noProof="0" dirty="0">
                <a:ln>
                  <a:noFill/>
                </a:ln>
                <a:solidFill>
                  <a:srgbClr val="0C314B"/>
                </a:solidFill>
                <a:effectLst/>
                <a:uLnTx/>
                <a:uFillTx/>
                <a:latin typeface="Arial"/>
                <a:ea typeface="Verdana"/>
                <a:cs typeface="Arial"/>
              </a:rPr>
            </a:br>
            <a:endParaRPr kumimoji="0" lang="en-US" sz="900" b="0" i="0" u="none" strike="noStrike" kern="1200" cap="none" spc="0" normalizeH="0" baseline="0" noProof="0" dirty="0">
              <a:ln>
                <a:noFill/>
              </a:ln>
              <a:solidFill>
                <a:srgbClr val="0C314B"/>
              </a:solidFill>
              <a:effectLst/>
              <a:uLnTx/>
              <a:uFillTx/>
              <a:latin typeface="Arial"/>
              <a:ea typeface="Verdana"/>
              <a:cs typeface="Arial"/>
            </a:endParaRPr>
          </a:p>
          <a:p>
            <a:pPr marL="0" marR="0" lvl="0" indent="0" algn="l" defTabSz="914378" rtl="0" eaLnBrk="1" fontAlgn="base" latinLnBrk="0" hangingPunct="1">
              <a:lnSpc>
                <a:spcPct val="100000"/>
              </a:lnSpc>
              <a:spcBef>
                <a:spcPct val="20000"/>
              </a:spcBef>
              <a:spcAft>
                <a:spcPts val="0"/>
              </a:spcAft>
              <a:buClr>
                <a:srgbClr val="FF6100"/>
              </a:buClr>
              <a:buSzTx/>
              <a:buNone/>
              <a:tabLst/>
              <a:defRPr/>
            </a:pPr>
            <a:r>
              <a:rPr kumimoji="0" lang="en-US" sz="900" b="1" i="0" u="none" strike="noStrike" kern="1200" cap="none" spc="0" normalizeH="0" baseline="0" noProof="0" dirty="0">
                <a:ln>
                  <a:noFill/>
                </a:ln>
                <a:solidFill>
                  <a:srgbClr val="0C314B"/>
                </a:solidFill>
                <a:effectLst/>
                <a:uLnTx/>
                <a:uFillTx/>
                <a:latin typeface="Arial"/>
                <a:ea typeface="Verdana"/>
                <a:cs typeface="Arial"/>
              </a:rPr>
              <a:t>GTM performance review</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Analyze sales, CS, and marketing performance across customizable dimensions.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Uncover upsell and cross-sell opportunities to grow accounts.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Support CRO-level insights with prebuilt trend and resource analyses and optimization.</a:t>
            </a:r>
            <a:br>
              <a:rPr kumimoji="0" lang="en-US" sz="900" b="0" i="0" u="none" strike="noStrike" kern="1200" cap="none" spc="0" normalizeH="0" baseline="0" noProof="0" dirty="0">
                <a:ln>
                  <a:noFill/>
                </a:ln>
                <a:solidFill>
                  <a:srgbClr val="0C314B"/>
                </a:solidFill>
                <a:effectLst/>
                <a:uLnTx/>
                <a:uFillTx/>
                <a:latin typeface="Arial"/>
                <a:ea typeface="Verdana"/>
                <a:cs typeface="Arial"/>
              </a:rPr>
            </a:br>
            <a:endParaRPr kumimoji="0" lang="en-US" sz="900" b="0" i="0" u="none" strike="noStrike" kern="1200" cap="none" spc="0" normalizeH="0" baseline="0" noProof="0" dirty="0">
              <a:ln>
                <a:noFill/>
              </a:ln>
              <a:solidFill>
                <a:srgbClr val="0C314B"/>
              </a:solidFill>
              <a:effectLst/>
              <a:uLnTx/>
              <a:uFillTx/>
              <a:latin typeface="Arial"/>
              <a:ea typeface="Verdana"/>
              <a:cs typeface="Arial"/>
            </a:endParaRPr>
          </a:p>
          <a:p>
            <a:pPr marL="0" marR="0" lvl="0" indent="0" algn="l" defTabSz="914378" rtl="0" eaLnBrk="1" fontAlgn="base" latinLnBrk="0" hangingPunct="1">
              <a:lnSpc>
                <a:spcPct val="100000"/>
              </a:lnSpc>
              <a:spcBef>
                <a:spcPct val="20000"/>
              </a:spcBef>
              <a:spcAft>
                <a:spcPts val="0"/>
              </a:spcAft>
              <a:buClr>
                <a:srgbClr val="FF6100"/>
              </a:buClr>
              <a:buSzTx/>
              <a:buNone/>
              <a:tabLst/>
              <a:defRPr/>
            </a:pPr>
            <a:r>
              <a:rPr kumimoji="0" lang="en-US" sz="900" b="1" i="0" u="none" strike="noStrike" kern="1200" cap="none" spc="0" normalizeH="0" baseline="0" noProof="0" dirty="0">
                <a:ln>
                  <a:noFill/>
                </a:ln>
                <a:solidFill>
                  <a:srgbClr val="0C314B"/>
                </a:solidFill>
                <a:effectLst/>
                <a:uLnTx/>
                <a:uFillTx/>
                <a:latin typeface="Arial"/>
                <a:ea typeface="Verdana"/>
                <a:cs typeface="Arial"/>
              </a:rPr>
              <a:t>Ideal Customer Profile (ICP) and wallet sizing</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Filter out unwanted accounts using predefined ICP criteria (for example, size, region, industry).</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Quantify the wallet size impact of excluded accounts.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Choose from multiple wallet size calculation methods.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Compare methodologies to identify the best fit by industry or other dimensions.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Simulate wallet size scenarios and flag outliers.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Empower targeting and account prioritization with real-time ICP insights.</a:t>
            </a:r>
            <a:br>
              <a:rPr kumimoji="0" lang="en-US" sz="900" b="0" i="0" u="none" strike="noStrike" kern="1200" cap="none" spc="0" normalizeH="0" baseline="0" noProof="0" dirty="0">
                <a:ln>
                  <a:noFill/>
                </a:ln>
                <a:solidFill>
                  <a:srgbClr val="0C314B"/>
                </a:solidFill>
                <a:effectLst/>
                <a:uLnTx/>
                <a:uFillTx/>
                <a:latin typeface="Arial"/>
                <a:ea typeface="Verdana"/>
                <a:cs typeface="Arial"/>
              </a:rPr>
            </a:br>
            <a:endParaRPr kumimoji="0" lang="en-US" sz="900" b="0" i="0" u="none" strike="noStrike" kern="1200" cap="none" spc="0" normalizeH="0" baseline="0" noProof="0" dirty="0">
              <a:ln>
                <a:noFill/>
              </a:ln>
              <a:solidFill>
                <a:srgbClr val="0C314B"/>
              </a:solidFill>
              <a:effectLst/>
              <a:uLnTx/>
              <a:uFillTx/>
              <a:latin typeface="Arial"/>
              <a:ea typeface="Verdana"/>
              <a:cs typeface="Arial"/>
            </a:endParaRPr>
          </a:p>
          <a:p>
            <a:pPr marL="0" marR="0" lvl="0" indent="0" algn="l" defTabSz="914378" rtl="0" eaLnBrk="1" fontAlgn="base" latinLnBrk="0" hangingPunct="1">
              <a:lnSpc>
                <a:spcPct val="100000"/>
              </a:lnSpc>
              <a:spcBef>
                <a:spcPct val="20000"/>
              </a:spcBef>
              <a:spcAft>
                <a:spcPts val="0"/>
              </a:spcAft>
              <a:buClr>
                <a:srgbClr val="FF6100"/>
              </a:buClr>
              <a:buSzTx/>
              <a:buNone/>
              <a:tabLst/>
              <a:defRPr/>
            </a:pPr>
            <a:r>
              <a:rPr kumimoji="0" lang="en-US" sz="900" b="1" i="0" u="none" strike="noStrike" kern="1200" cap="none" spc="0" normalizeH="0" baseline="0" noProof="0" dirty="0">
                <a:ln>
                  <a:noFill/>
                </a:ln>
                <a:solidFill>
                  <a:srgbClr val="0C314B"/>
                </a:solidFill>
                <a:effectLst/>
                <a:uLnTx/>
                <a:uFillTx/>
                <a:latin typeface="Arial"/>
                <a:ea typeface="Verdana"/>
                <a:cs typeface="Arial"/>
              </a:rPr>
              <a:t>Account segmentation</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Score and segment accounts based on firmographics and key attributes.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Apply rule-based or score-based segmentation with configurable metrics.</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Track segmentation changes year-over-year.</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Identify capacity gaps in real time as segments shift.</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Capture field input with built-in feedback workflows.</a:t>
            </a:r>
            <a:br>
              <a:rPr kumimoji="0" lang="en-US" sz="900" b="0" i="0" u="none" strike="noStrike" kern="1200" cap="none" spc="0" normalizeH="0" baseline="0" noProof="0" dirty="0">
                <a:ln>
                  <a:noFill/>
                </a:ln>
                <a:solidFill>
                  <a:srgbClr val="0C314B"/>
                </a:solidFill>
                <a:effectLst/>
                <a:uLnTx/>
                <a:uFillTx/>
                <a:latin typeface="Arial"/>
                <a:ea typeface="Verdana"/>
                <a:cs typeface="Arial"/>
              </a:rPr>
            </a:br>
            <a:endParaRPr kumimoji="0" lang="en-US" sz="900" b="0" i="0" u="none" strike="noStrike" kern="1200" cap="none" spc="0" normalizeH="0" baseline="0" noProof="0" dirty="0">
              <a:ln>
                <a:noFill/>
              </a:ln>
              <a:solidFill>
                <a:srgbClr val="0C314B"/>
              </a:solidFill>
              <a:effectLst/>
              <a:uLnTx/>
              <a:uFillTx/>
              <a:latin typeface="Arial"/>
              <a:ea typeface="Verdana"/>
              <a:cs typeface="Arial"/>
            </a:endParaRPr>
          </a:p>
          <a:p>
            <a:pPr marL="0" marR="0" lvl="0" indent="0" algn="l" defTabSz="914378" rtl="0" eaLnBrk="1" fontAlgn="base" latinLnBrk="0" hangingPunct="1">
              <a:lnSpc>
                <a:spcPct val="100000"/>
              </a:lnSpc>
              <a:spcBef>
                <a:spcPct val="20000"/>
              </a:spcBef>
              <a:spcAft>
                <a:spcPts val="0"/>
              </a:spcAft>
              <a:buClr>
                <a:srgbClr val="FF6100"/>
              </a:buClr>
              <a:buSzTx/>
              <a:buNone/>
              <a:tabLst/>
              <a:defRPr/>
            </a:pPr>
            <a:r>
              <a:rPr kumimoji="0" lang="en-US" sz="900" b="1" i="0" u="none" strike="noStrike" kern="1200" cap="none" spc="0" normalizeH="0" baseline="0" noProof="0" dirty="0">
                <a:ln>
                  <a:noFill/>
                </a:ln>
                <a:solidFill>
                  <a:srgbClr val="0C314B"/>
                </a:solidFill>
                <a:effectLst/>
                <a:uLnTx/>
                <a:uFillTx/>
                <a:latin typeface="Arial"/>
                <a:ea typeface="Verdana"/>
                <a:cs typeface="Arial"/>
              </a:rPr>
              <a:t>Hierarchy refinement</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Visualize and adjust account hierarchies for greater accuracy.</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Aggregate firmographics to improve scoring consistency.</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Group child accounts under parent organizations for clearer GTM execution.</a:t>
            </a:r>
          </a:p>
          <a:p>
            <a:pPr marL="216535" marR="0" lvl="1" indent="-102870" algn="l" defTabSz="914378" rtl="0" eaLnBrk="1" fontAlgn="base" latinLnBrk="0" hangingPunct="1">
              <a:lnSpc>
                <a:spcPct val="100000"/>
              </a:lnSpc>
              <a:spcBef>
                <a:spcPct val="20000"/>
              </a:spcBef>
              <a:spcAft>
                <a:spcPts val="0"/>
              </a:spcAft>
              <a:buClr>
                <a:srgbClr val="0A2F46"/>
              </a:buClr>
              <a:buSzTx/>
              <a:buFont typeface="Arial"/>
              <a:buChar char="•"/>
              <a:tabLst/>
              <a:defRPr/>
            </a:pPr>
            <a:r>
              <a:rPr kumimoji="0" lang="en-US" sz="900" b="0" i="0" u="none" strike="noStrike" kern="1200" cap="none" spc="0" normalizeH="0" baseline="0" noProof="0" dirty="0">
                <a:ln>
                  <a:noFill/>
                </a:ln>
                <a:solidFill>
                  <a:srgbClr val="0C314B"/>
                </a:solidFill>
                <a:effectLst/>
                <a:uLnTx/>
                <a:uFillTx/>
                <a:latin typeface="Arial"/>
                <a:ea typeface="Verdana"/>
                <a:cs typeface="Arial"/>
              </a:rPr>
              <a:t>Align hierarchy structures with GTM strategies to avoid planning missteps.</a:t>
            </a:r>
            <a:endParaRPr kumimoji="0" lang="en-US" sz="900" b="0" i="0" u="none" strike="noStrike" kern="1200" cap="none" spc="0" normalizeH="0" baseline="0" noProof="0" dirty="0">
              <a:ln>
                <a:noFill/>
              </a:ln>
              <a:solidFill>
                <a:srgbClr val="0C314B"/>
              </a:solidFill>
              <a:effectLst/>
              <a:uLnTx/>
              <a:uFillTx/>
              <a:latin typeface="Arial" panose="020B0604020202020204" pitchFamily="34" charset="0"/>
              <a:ea typeface="Verdana" charset="0"/>
              <a:cs typeface="Arial" panose="020B0604020202020204" pitchFamily="34" charset="0"/>
            </a:endParaRPr>
          </a:p>
          <a:p>
            <a:pPr marL="0" marR="0" lvl="0" indent="0" algn="l" defTabSz="914378" rtl="0" eaLnBrk="1" fontAlgn="base" latinLnBrk="0" hangingPunct="1">
              <a:lnSpc>
                <a:spcPts val="1238"/>
              </a:lnSpc>
              <a:spcBef>
                <a:spcPct val="20000"/>
              </a:spcBef>
              <a:spcAft>
                <a:spcPts val="0"/>
              </a:spcAft>
              <a:buClr>
                <a:srgbClr val="FF6100"/>
              </a:buClr>
              <a:buSzTx/>
              <a:buFont typeface="Arial" panose="020B0604020202020204" pitchFamily="34" charset="0"/>
              <a:buNone/>
              <a:tabLst/>
              <a:defRPr/>
            </a:pPr>
            <a:endParaRPr kumimoji="0" lang="en-US" sz="900" b="0" i="0" u="none" strike="noStrike" kern="1200" cap="none" spc="0" normalizeH="0" baseline="0" noProof="0" dirty="0">
              <a:ln>
                <a:noFill/>
              </a:ln>
              <a:solidFill>
                <a:srgbClr val="0C314B"/>
              </a:solidFill>
              <a:effectLst/>
              <a:uLnTx/>
              <a:uFillTx/>
              <a:latin typeface="Arial" panose="020B0604020202020204" pitchFamily="34" charset="0"/>
              <a:ea typeface="Verdana" charset="0"/>
              <a:cs typeface="Arial" panose="020B0604020202020204" pitchFamily="34" charset="0"/>
            </a:endParaRPr>
          </a:p>
        </p:txBody>
      </p:sp>
      <p:sp>
        <p:nvSpPr>
          <p:cNvPr id="53" name="Title 4">
            <a:extLst>
              <a:ext uri="{FF2B5EF4-FFF2-40B4-BE49-F238E27FC236}">
                <a16:creationId xmlns:a16="http://schemas.microsoft.com/office/drawing/2014/main" id="{5B01AEE4-7E65-79E7-98BC-C37173D04865}"/>
              </a:ext>
            </a:extLst>
          </p:cNvPr>
          <p:cNvSpPr txBox="1">
            <a:spLocks/>
          </p:cNvSpPr>
          <p:nvPr/>
        </p:nvSpPr>
        <p:spPr>
          <a:xfrm>
            <a:off x="365460" y="305908"/>
            <a:ext cx="10871904" cy="451405"/>
          </a:xfrm>
          <a:prstGeom prst="rect">
            <a:avLst/>
          </a:prstGeom>
        </p:spPr>
        <p:txBody>
          <a:bodyPr lIns="0" tIns="60960" rIns="0" bIns="60960" anchor="t"/>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r>
              <a:rPr lang="en-GB" sz="1800" dirty="0">
                <a:solidFill>
                  <a:schemeClr val="tx2"/>
                </a:solidFill>
                <a:ea typeface="Verdana"/>
              </a:rPr>
              <a:t>Segmentation and scoring</a:t>
            </a:r>
            <a:endParaRPr lang="en-US" sz="1400" b="0" dirty="0">
              <a:solidFill>
                <a:schemeClr val="tx1"/>
              </a:solidFill>
              <a:ea typeface="Verdana"/>
            </a:endParaRPr>
          </a:p>
          <a:p>
            <a:r>
              <a:rPr lang="en-US" sz="1400" dirty="0">
                <a:solidFill>
                  <a:schemeClr val="tx2"/>
                </a:solidFill>
              </a:rPr>
              <a:t>Out-of-the-Box functionalities to define ICP, quantify wallet size, score accounts, and segment markets</a:t>
            </a:r>
          </a:p>
          <a:p>
            <a:endParaRPr lang="en-US" sz="1400" b="0" dirty="0">
              <a:solidFill>
                <a:schemeClr val="tx1"/>
              </a:solidFill>
            </a:endParaRPr>
          </a:p>
        </p:txBody>
      </p:sp>
    </p:spTree>
    <p:extLst>
      <p:ext uri="{BB962C8B-B14F-4D97-AF65-F5344CB8AC3E}">
        <p14:creationId xmlns:p14="http://schemas.microsoft.com/office/powerpoint/2010/main" val="243717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D62-D23C-BCB9-0BAD-AEB1852267B6}"/>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580C2B6-DB46-0865-8055-A53ACDD40F55}"/>
              </a:ext>
            </a:extLst>
          </p:cNvPr>
          <p:cNvSpPr/>
          <p:nvPr/>
        </p:nvSpPr>
        <p:spPr>
          <a:xfrm>
            <a:off x="0" y="0"/>
            <a:ext cx="12192001" cy="4856606"/>
          </a:xfrm>
          <a:prstGeom prst="rect">
            <a:avLst/>
          </a:prstGeom>
          <a:solidFill>
            <a:srgbClr val="F3F1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0" name="Rectangle 79">
            <a:extLst>
              <a:ext uri="{FF2B5EF4-FFF2-40B4-BE49-F238E27FC236}">
                <a16:creationId xmlns:a16="http://schemas.microsoft.com/office/drawing/2014/main" id="{7CFA9DA9-F9EB-E475-7B66-384165D888DC}"/>
              </a:ext>
            </a:extLst>
          </p:cNvPr>
          <p:cNvSpPr/>
          <p:nvPr/>
        </p:nvSpPr>
        <p:spPr>
          <a:xfrm>
            <a:off x="1" y="4865776"/>
            <a:ext cx="12192000" cy="2002097"/>
          </a:xfrm>
          <a:prstGeom prst="rect">
            <a:avLst/>
          </a:prstGeom>
          <a:solidFill>
            <a:srgbClr val="092F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8" name="Title 1">
            <a:extLst>
              <a:ext uri="{FF2B5EF4-FFF2-40B4-BE49-F238E27FC236}">
                <a16:creationId xmlns:a16="http://schemas.microsoft.com/office/drawing/2014/main" id="{1C0582A2-1ED7-EDAC-BA10-554B924F8A11}"/>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dirty="0">
                <a:solidFill>
                  <a:srgbClr val="0C314B"/>
                </a:solidFill>
                <a:latin typeface="Arial"/>
                <a:ea typeface="Verdana"/>
                <a:cs typeface="Arial"/>
              </a:rPr>
              <a:t>Guided setup powered by the Anaplan Application Framework</a:t>
            </a:r>
            <a:endParaRPr lang="en-GB" sz="1800" b="0" dirty="0">
              <a:solidFill>
                <a:srgbClr val="0C314B"/>
              </a:solidFill>
              <a:latin typeface="Arial"/>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3D119E7B-1D12-02DA-BAA4-29FA7D2452F3}"/>
              </a:ext>
            </a:extLst>
          </p:cNvPr>
          <p:cNvPicPr>
            <a:picLocks noChangeAspect="1"/>
          </p:cNvPicPr>
          <p:nvPr/>
        </p:nvPicPr>
        <p:blipFill>
          <a:blip r:embed="rId3"/>
          <a:stretch>
            <a:fillRect/>
          </a:stretch>
        </p:blipFill>
        <p:spPr>
          <a:xfrm>
            <a:off x="1555483" y="5244226"/>
            <a:ext cx="1931968" cy="1208599"/>
          </a:xfrm>
          <a:prstGeom prst="rect">
            <a:avLst/>
          </a:prstGeom>
          <a:ln w="6350">
            <a:solidFill>
              <a:schemeClr val="tx1">
                <a:lumMod val="95000"/>
                <a:lumOff val="5000"/>
              </a:schemeClr>
            </a:solidFill>
          </a:ln>
        </p:spPr>
      </p:pic>
      <p:grpSp>
        <p:nvGrpSpPr>
          <p:cNvPr id="53" name="Group 52">
            <a:extLst>
              <a:ext uri="{FF2B5EF4-FFF2-40B4-BE49-F238E27FC236}">
                <a16:creationId xmlns:a16="http://schemas.microsoft.com/office/drawing/2014/main" id="{FB578C15-5E4D-F113-0F92-DF7DC3601326}"/>
              </a:ext>
            </a:extLst>
          </p:cNvPr>
          <p:cNvGrpSpPr/>
          <p:nvPr/>
        </p:nvGrpSpPr>
        <p:grpSpPr>
          <a:xfrm>
            <a:off x="1404407" y="5083980"/>
            <a:ext cx="302151" cy="302151"/>
            <a:chOff x="4203905" y="3643249"/>
            <a:chExt cx="502920" cy="502920"/>
          </a:xfrm>
        </p:grpSpPr>
        <p:sp>
          <p:nvSpPr>
            <p:cNvPr id="51" name="Oval 50">
              <a:extLst>
                <a:ext uri="{FF2B5EF4-FFF2-40B4-BE49-F238E27FC236}">
                  <a16:creationId xmlns:a16="http://schemas.microsoft.com/office/drawing/2014/main" id="{A17EE74E-0A8A-DA1B-2445-6B21EFA07F83}"/>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2" name="TextBox 51">
              <a:extLst>
                <a:ext uri="{FF2B5EF4-FFF2-40B4-BE49-F238E27FC236}">
                  <a16:creationId xmlns:a16="http://schemas.microsoft.com/office/drawing/2014/main" id="{040DEFD1-B354-018D-E3E1-4223587FF87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kumimoji="0" lang="en-US" sz="1100" b="1" i="0" u="none" strike="noStrike" kern="1200" cap="none" spc="0" normalizeH="0" baseline="0" noProof="0" dirty="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rPr>
                <a:t>1</a:t>
              </a:r>
            </a:p>
          </p:txBody>
        </p:sp>
      </p:grpSp>
      <p:pic>
        <p:nvPicPr>
          <p:cNvPr id="84" name="Picture 83" descr="A screenshot of a computer&#10;&#10;Description automatically generated">
            <a:extLst>
              <a:ext uri="{FF2B5EF4-FFF2-40B4-BE49-F238E27FC236}">
                <a16:creationId xmlns:a16="http://schemas.microsoft.com/office/drawing/2014/main" id="{6C405E69-DB3E-9EB6-FC84-C8F54B797685}"/>
              </a:ext>
            </a:extLst>
          </p:cNvPr>
          <p:cNvPicPr>
            <a:picLocks noChangeAspect="1"/>
          </p:cNvPicPr>
          <p:nvPr/>
        </p:nvPicPr>
        <p:blipFill>
          <a:blip r:embed="rId4"/>
          <a:stretch>
            <a:fillRect/>
          </a:stretch>
        </p:blipFill>
        <p:spPr>
          <a:xfrm>
            <a:off x="4034101" y="5244225"/>
            <a:ext cx="1927644" cy="1207008"/>
          </a:xfrm>
          <a:prstGeom prst="rect">
            <a:avLst/>
          </a:prstGeom>
          <a:ln w="6350">
            <a:solidFill>
              <a:schemeClr val="tx1">
                <a:lumMod val="95000"/>
                <a:lumOff val="5000"/>
              </a:schemeClr>
            </a:solidFill>
          </a:ln>
        </p:spPr>
      </p:pic>
      <p:pic>
        <p:nvPicPr>
          <p:cNvPr id="82" name="Picture 81" descr="A screenshot of a computer&#10;&#10;Description automatically generated">
            <a:extLst>
              <a:ext uri="{FF2B5EF4-FFF2-40B4-BE49-F238E27FC236}">
                <a16:creationId xmlns:a16="http://schemas.microsoft.com/office/drawing/2014/main" id="{BADF764F-0B01-FDD5-97BB-9B41F0D2AAF6}"/>
              </a:ext>
            </a:extLst>
          </p:cNvPr>
          <p:cNvPicPr>
            <a:picLocks noChangeAspect="1"/>
          </p:cNvPicPr>
          <p:nvPr/>
        </p:nvPicPr>
        <p:blipFill>
          <a:blip r:embed="rId5"/>
          <a:stretch>
            <a:fillRect/>
          </a:stretch>
        </p:blipFill>
        <p:spPr>
          <a:xfrm>
            <a:off x="5972724" y="1360013"/>
            <a:ext cx="5449360" cy="3134643"/>
          </a:xfrm>
          <a:prstGeom prst="rect">
            <a:avLst/>
          </a:prstGeom>
          <a:ln w="6350">
            <a:solidFill>
              <a:schemeClr val="bg1">
                <a:lumMod val="75000"/>
              </a:schemeClr>
            </a:solidFill>
          </a:ln>
        </p:spPr>
      </p:pic>
      <p:pic>
        <p:nvPicPr>
          <p:cNvPr id="86" name="Picture 85" descr="A screenshot of a computer&#10;&#10;Description automatically generated">
            <a:extLst>
              <a:ext uri="{FF2B5EF4-FFF2-40B4-BE49-F238E27FC236}">
                <a16:creationId xmlns:a16="http://schemas.microsoft.com/office/drawing/2014/main" id="{71EB1C7D-B6D1-2747-9696-7DEA7AAC429F}"/>
              </a:ext>
            </a:extLst>
          </p:cNvPr>
          <p:cNvPicPr>
            <a:picLocks noChangeAspect="1"/>
          </p:cNvPicPr>
          <p:nvPr/>
        </p:nvPicPr>
        <p:blipFill>
          <a:blip r:embed="rId6"/>
          <a:stretch>
            <a:fillRect/>
          </a:stretch>
        </p:blipFill>
        <p:spPr>
          <a:xfrm>
            <a:off x="6509955" y="5250805"/>
            <a:ext cx="1929427" cy="1207008"/>
          </a:xfrm>
          <a:prstGeom prst="rect">
            <a:avLst/>
          </a:prstGeom>
          <a:ln w="6350">
            <a:solidFill>
              <a:schemeClr val="tx1">
                <a:lumMod val="95000"/>
                <a:lumOff val="5000"/>
              </a:schemeClr>
            </a:solidFill>
          </a:ln>
        </p:spPr>
      </p:pic>
      <p:pic>
        <p:nvPicPr>
          <p:cNvPr id="88" name="Picture 87" descr="A screenshot of a computer&#10;&#10;Description automatically generated">
            <a:extLst>
              <a:ext uri="{FF2B5EF4-FFF2-40B4-BE49-F238E27FC236}">
                <a16:creationId xmlns:a16="http://schemas.microsoft.com/office/drawing/2014/main" id="{49BD33C5-3066-9EE1-22AA-1BE7C75A180F}"/>
              </a:ext>
            </a:extLst>
          </p:cNvPr>
          <p:cNvPicPr>
            <a:picLocks noChangeAspect="1"/>
          </p:cNvPicPr>
          <p:nvPr/>
        </p:nvPicPr>
        <p:blipFill>
          <a:blip r:embed="rId7"/>
          <a:stretch>
            <a:fillRect/>
          </a:stretch>
        </p:blipFill>
        <p:spPr>
          <a:xfrm>
            <a:off x="9002207" y="5250805"/>
            <a:ext cx="1929427" cy="1207008"/>
          </a:xfrm>
          <a:prstGeom prst="rect">
            <a:avLst/>
          </a:prstGeom>
          <a:ln w="6350">
            <a:solidFill>
              <a:schemeClr val="tx1">
                <a:lumMod val="95000"/>
                <a:lumOff val="5000"/>
              </a:schemeClr>
            </a:solidFill>
          </a:ln>
        </p:spPr>
      </p:pic>
      <p:sp>
        <p:nvSpPr>
          <p:cNvPr id="89" name="TextBox 88">
            <a:extLst>
              <a:ext uri="{FF2B5EF4-FFF2-40B4-BE49-F238E27FC236}">
                <a16:creationId xmlns:a16="http://schemas.microsoft.com/office/drawing/2014/main" id="{2D6A4687-C7A0-3CEF-BA57-C0C828894859}"/>
              </a:ext>
            </a:extLst>
          </p:cNvPr>
          <p:cNvSpPr txBox="1"/>
          <p:nvPr/>
        </p:nvSpPr>
        <p:spPr>
          <a:xfrm>
            <a:off x="11213749" y="6196903"/>
            <a:ext cx="797013" cy="26161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Deploy…</a:t>
            </a:r>
          </a:p>
        </p:txBody>
      </p:sp>
      <p:sp>
        <p:nvSpPr>
          <p:cNvPr id="93" name="TextBox 92">
            <a:extLst>
              <a:ext uri="{FF2B5EF4-FFF2-40B4-BE49-F238E27FC236}">
                <a16:creationId xmlns:a16="http://schemas.microsoft.com/office/drawing/2014/main" id="{D4350612-41A2-F1CE-B05C-4425D971F327}"/>
              </a:ext>
            </a:extLst>
          </p:cNvPr>
          <p:cNvSpPr txBox="1"/>
          <p:nvPr/>
        </p:nvSpPr>
        <p:spPr>
          <a:xfrm>
            <a:off x="2290472" y="6510529"/>
            <a:ext cx="461986"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Data</a:t>
            </a:r>
          </a:p>
        </p:txBody>
      </p:sp>
      <p:sp>
        <p:nvSpPr>
          <p:cNvPr id="94" name="TextBox 93">
            <a:extLst>
              <a:ext uri="{FF2B5EF4-FFF2-40B4-BE49-F238E27FC236}">
                <a16:creationId xmlns:a16="http://schemas.microsoft.com/office/drawing/2014/main" id="{E9BFF590-5B51-55CF-B4EE-91C4BFD97C91}"/>
              </a:ext>
            </a:extLst>
          </p:cNvPr>
          <p:cNvSpPr txBox="1"/>
          <p:nvPr/>
        </p:nvSpPr>
        <p:spPr>
          <a:xfrm>
            <a:off x="4561079" y="6509533"/>
            <a:ext cx="878767"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Hierarchies</a:t>
            </a:r>
          </a:p>
        </p:txBody>
      </p:sp>
      <p:sp>
        <p:nvSpPr>
          <p:cNvPr id="95" name="TextBox 94">
            <a:extLst>
              <a:ext uri="{FF2B5EF4-FFF2-40B4-BE49-F238E27FC236}">
                <a16:creationId xmlns:a16="http://schemas.microsoft.com/office/drawing/2014/main" id="{888248F7-EECF-FB19-7BEE-3FFE4424CA87}"/>
              </a:ext>
            </a:extLst>
          </p:cNvPr>
          <p:cNvSpPr txBox="1"/>
          <p:nvPr/>
        </p:nvSpPr>
        <p:spPr>
          <a:xfrm>
            <a:off x="7056127" y="6509533"/>
            <a:ext cx="837089"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Resources</a:t>
            </a:r>
          </a:p>
        </p:txBody>
      </p:sp>
      <p:sp>
        <p:nvSpPr>
          <p:cNvPr id="96" name="TextBox 95">
            <a:extLst>
              <a:ext uri="{FF2B5EF4-FFF2-40B4-BE49-F238E27FC236}">
                <a16:creationId xmlns:a16="http://schemas.microsoft.com/office/drawing/2014/main" id="{53C1FD8F-B3B3-499B-32B6-BB9881EB06E4}"/>
              </a:ext>
            </a:extLst>
          </p:cNvPr>
          <p:cNvSpPr txBox="1"/>
          <p:nvPr/>
        </p:nvSpPr>
        <p:spPr>
          <a:xfrm>
            <a:off x="9608323" y="6510529"/>
            <a:ext cx="987771"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Assignments</a:t>
            </a:r>
          </a:p>
        </p:txBody>
      </p:sp>
      <p:sp>
        <p:nvSpPr>
          <p:cNvPr id="97" name="TextBox 96">
            <a:extLst>
              <a:ext uri="{FF2B5EF4-FFF2-40B4-BE49-F238E27FC236}">
                <a16:creationId xmlns:a16="http://schemas.microsoft.com/office/drawing/2014/main" id="{7C3ED99B-89E3-B654-A9A9-9687ACEA6A56}"/>
              </a:ext>
            </a:extLst>
          </p:cNvPr>
          <p:cNvSpPr txBox="1"/>
          <p:nvPr/>
        </p:nvSpPr>
        <p:spPr>
          <a:xfrm>
            <a:off x="256739" y="5644546"/>
            <a:ext cx="1024639" cy="430887"/>
          </a:xfrm>
          <a:prstGeom prst="rect">
            <a:avLst/>
          </a:prstGeom>
          <a:noFill/>
        </p:spPr>
        <p:txBody>
          <a:bodyPr wrap="non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Step-by-step</a:t>
            </a:r>
          </a:p>
          <a:p>
            <a:pPr marL="0" marR="0" lvl="0" indent="0"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Configuration</a:t>
            </a:r>
          </a:p>
        </p:txBody>
      </p:sp>
      <p:sp>
        <p:nvSpPr>
          <p:cNvPr id="6" name="TextBox 5">
            <a:extLst>
              <a:ext uri="{FF2B5EF4-FFF2-40B4-BE49-F238E27FC236}">
                <a16:creationId xmlns:a16="http://schemas.microsoft.com/office/drawing/2014/main" id="{045078C9-A739-06F9-1A90-9E61C947BD3E}"/>
              </a:ext>
            </a:extLst>
          </p:cNvPr>
          <p:cNvSpPr txBox="1"/>
          <p:nvPr/>
        </p:nvSpPr>
        <p:spPr>
          <a:xfrm>
            <a:off x="788952" y="1417394"/>
            <a:ext cx="4660163" cy="584775"/>
          </a:xfrm>
          <a:prstGeom prst="rect">
            <a:avLst/>
          </a:prstGeom>
          <a:noFill/>
        </p:spPr>
        <p:txBody>
          <a:bodyPr wrap="square">
            <a:spAutoFit/>
          </a:bodyPr>
          <a:lstStyle/>
          <a:p>
            <a:pPr algn="ctr"/>
            <a:r>
              <a:rPr lang="en-US" sz="1600" dirty="0"/>
              <a:t>Designed to get you to value faster—with a </a:t>
            </a:r>
            <a:r>
              <a:rPr lang="en-US" sz="1600" b="1" dirty="0"/>
              <a:t>proven, repeatable configuration flow</a:t>
            </a:r>
            <a:r>
              <a:rPr lang="en-US" sz="1600" dirty="0"/>
              <a:t> </a:t>
            </a:r>
          </a:p>
        </p:txBody>
      </p:sp>
      <p:grpSp>
        <p:nvGrpSpPr>
          <p:cNvPr id="12" name="Group 11">
            <a:extLst>
              <a:ext uri="{FF2B5EF4-FFF2-40B4-BE49-F238E27FC236}">
                <a16:creationId xmlns:a16="http://schemas.microsoft.com/office/drawing/2014/main" id="{636D81E5-8C32-C36D-2B5F-7B6E347B77B5}"/>
              </a:ext>
            </a:extLst>
          </p:cNvPr>
          <p:cNvGrpSpPr/>
          <p:nvPr/>
        </p:nvGrpSpPr>
        <p:grpSpPr>
          <a:xfrm>
            <a:off x="3583934" y="5714173"/>
            <a:ext cx="365760" cy="365760"/>
            <a:chOff x="3591683" y="5714173"/>
            <a:chExt cx="365760" cy="365760"/>
          </a:xfrm>
        </p:grpSpPr>
        <p:sp>
          <p:nvSpPr>
            <p:cNvPr id="10" name="Oval 9">
              <a:extLst>
                <a:ext uri="{FF2B5EF4-FFF2-40B4-BE49-F238E27FC236}">
                  <a16:creationId xmlns:a16="http://schemas.microsoft.com/office/drawing/2014/main" id="{32A0988E-9680-7F56-25C0-91F075315506}"/>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1" name="Graphic 10">
              <a:extLst>
                <a:ext uri="{FF2B5EF4-FFF2-40B4-BE49-F238E27FC236}">
                  <a16:creationId xmlns:a16="http://schemas.microsoft.com/office/drawing/2014/main" id="{7EB41D08-2345-AFC8-962B-3607D2429C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14" name="Group 13">
            <a:extLst>
              <a:ext uri="{FF2B5EF4-FFF2-40B4-BE49-F238E27FC236}">
                <a16:creationId xmlns:a16="http://schemas.microsoft.com/office/drawing/2014/main" id="{10D07C74-0C5E-C106-FAB9-BBAA0547D094}"/>
              </a:ext>
            </a:extLst>
          </p:cNvPr>
          <p:cNvGrpSpPr/>
          <p:nvPr/>
        </p:nvGrpSpPr>
        <p:grpSpPr>
          <a:xfrm>
            <a:off x="6055913" y="5714173"/>
            <a:ext cx="365760" cy="365760"/>
            <a:chOff x="3591683" y="5714173"/>
            <a:chExt cx="365760" cy="365760"/>
          </a:xfrm>
        </p:grpSpPr>
        <p:sp>
          <p:nvSpPr>
            <p:cNvPr id="15" name="Oval 14">
              <a:extLst>
                <a:ext uri="{FF2B5EF4-FFF2-40B4-BE49-F238E27FC236}">
                  <a16:creationId xmlns:a16="http://schemas.microsoft.com/office/drawing/2014/main" id="{88D467C5-98E8-82E6-44D4-529A1F26D7A1}"/>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6" name="Graphic 15">
              <a:extLst>
                <a:ext uri="{FF2B5EF4-FFF2-40B4-BE49-F238E27FC236}">
                  <a16:creationId xmlns:a16="http://schemas.microsoft.com/office/drawing/2014/main" id="{2814C2C8-46B0-9630-35CA-A98408673E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17" name="Group 16">
            <a:extLst>
              <a:ext uri="{FF2B5EF4-FFF2-40B4-BE49-F238E27FC236}">
                <a16:creationId xmlns:a16="http://schemas.microsoft.com/office/drawing/2014/main" id="{5025B07D-DE92-484B-1D86-CEFF8D58C180}"/>
              </a:ext>
            </a:extLst>
          </p:cNvPr>
          <p:cNvGrpSpPr/>
          <p:nvPr/>
        </p:nvGrpSpPr>
        <p:grpSpPr>
          <a:xfrm>
            <a:off x="8535642" y="5714173"/>
            <a:ext cx="365760" cy="365760"/>
            <a:chOff x="3591683" y="5714173"/>
            <a:chExt cx="365760" cy="365760"/>
          </a:xfrm>
        </p:grpSpPr>
        <p:sp>
          <p:nvSpPr>
            <p:cNvPr id="18" name="Oval 17">
              <a:extLst>
                <a:ext uri="{FF2B5EF4-FFF2-40B4-BE49-F238E27FC236}">
                  <a16:creationId xmlns:a16="http://schemas.microsoft.com/office/drawing/2014/main" id="{4D658884-D7A9-65CB-4055-A92CB16204B3}"/>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9" name="Graphic 18">
              <a:extLst>
                <a:ext uri="{FF2B5EF4-FFF2-40B4-BE49-F238E27FC236}">
                  <a16:creationId xmlns:a16="http://schemas.microsoft.com/office/drawing/2014/main" id="{28F54DB5-D9A1-A188-3743-DA3B903336D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20" name="Group 19">
            <a:extLst>
              <a:ext uri="{FF2B5EF4-FFF2-40B4-BE49-F238E27FC236}">
                <a16:creationId xmlns:a16="http://schemas.microsoft.com/office/drawing/2014/main" id="{AE18B8CA-2A44-8B76-F405-B3822C1E0927}"/>
              </a:ext>
            </a:extLst>
          </p:cNvPr>
          <p:cNvGrpSpPr/>
          <p:nvPr/>
        </p:nvGrpSpPr>
        <p:grpSpPr>
          <a:xfrm>
            <a:off x="11030869" y="5714173"/>
            <a:ext cx="365760" cy="365760"/>
            <a:chOff x="3591683" y="5714173"/>
            <a:chExt cx="365760" cy="365760"/>
          </a:xfrm>
        </p:grpSpPr>
        <p:sp>
          <p:nvSpPr>
            <p:cNvPr id="21" name="Oval 20">
              <a:extLst>
                <a:ext uri="{FF2B5EF4-FFF2-40B4-BE49-F238E27FC236}">
                  <a16:creationId xmlns:a16="http://schemas.microsoft.com/office/drawing/2014/main" id="{1CA4CE54-F82E-6309-945B-186CE4332ADA}"/>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22" name="Graphic 21">
              <a:extLst>
                <a:ext uri="{FF2B5EF4-FFF2-40B4-BE49-F238E27FC236}">
                  <a16:creationId xmlns:a16="http://schemas.microsoft.com/office/drawing/2014/main" id="{4E0A6CF3-0C17-720B-E60E-41AFC8683A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35" name="Group 34">
            <a:extLst>
              <a:ext uri="{FF2B5EF4-FFF2-40B4-BE49-F238E27FC236}">
                <a16:creationId xmlns:a16="http://schemas.microsoft.com/office/drawing/2014/main" id="{F2CA4C9C-6DF7-85BE-FCD2-4971F57B0AB6}"/>
              </a:ext>
            </a:extLst>
          </p:cNvPr>
          <p:cNvGrpSpPr/>
          <p:nvPr/>
        </p:nvGrpSpPr>
        <p:grpSpPr>
          <a:xfrm>
            <a:off x="612183" y="2604624"/>
            <a:ext cx="5013702" cy="1895934"/>
            <a:chOff x="6342870" y="1785875"/>
            <a:chExt cx="5013702" cy="1895934"/>
          </a:xfrm>
        </p:grpSpPr>
        <p:sp>
          <p:nvSpPr>
            <p:cNvPr id="36" name="TextBox 35">
              <a:extLst>
                <a:ext uri="{FF2B5EF4-FFF2-40B4-BE49-F238E27FC236}">
                  <a16:creationId xmlns:a16="http://schemas.microsoft.com/office/drawing/2014/main" id="{10CF0B25-E446-0578-F498-FF9330C0C635}"/>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dirty="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37" name="Rounded Rectangle 36">
              <a:extLst>
                <a:ext uri="{FF2B5EF4-FFF2-40B4-BE49-F238E27FC236}">
                  <a16:creationId xmlns:a16="http://schemas.microsoft.com/office/drawing/2014/main" id="{8472CEFB-8CE8-F549-6A19-8022212CAEE7}"/>
                </a:ext>
              </a:extLst>
            </p:cNvPr>
            <p:cNvSpPr/>
            <p:nvPr/>
          </p:nvSpPr>
          <p:spPr>
            <a:xfrm>
              <a:off x="6342870" y="1785875"/>
              <a:ext cx="5013702" cy="1895934"/>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3" name="TextBox 42">
              <a:extLst>
                <a:ext uri="{FF2B5EF4-FFF2-40B4-BE49-F238E27FC236}">
                  <a16:creationId xmlns:a16="http://schemas.microsoft.com/office/drawing/2014/main" id="{7EC4706E-5018-0AFD-AE41-136023256EB6}"/>
                </a:ext>
              </a:extLst>
            </p:cNvPr>
            <p:cNvSpPr txBox="1"/>
            <p:nvPr/>
          </p:nvSpPr>
          <p:spPr>
            <a:xfrm>
              <a:off x="6617560" y="2125002"/>
              <a:ext cx="4399813" cy="1247008"/>
            </a:xfrm>
            <a:prstGeom prst="rect">
              <a:avLst/>
            </a:prstGeom>
            <a:noFill/>
          </p:spPr>
          <p:txBody>
            <a:bodyPr wrap="square" rtlCol="0">
              <a:spAutoFit/>
            </a:bodyPr>
            <a:lstStyle/>
            <a:p>
              <a:pPr lvl="0" algn="ctr" defTabSz="914377">
                <a:lnSpc>
                  <a:spcPct val="120000"/>
                </a:lnSpc>
                <a:defRPr/>
              </a:pPr>
              <a:r>
                <a:rPr lang="en-US" sz="1600" dirty="0">
                  <a:solidFill>
                    <a:srgbClr val="0C314B"/>
                  </a:solidFill>
                </a:rPr>
                <a:t>Quickly configure your application by answering structured questions about your business model, GTM structure, and planning needs—no blank canvas required. </a:t>
              </a:r>
              <a:endParaRPr kumimoji="0" lang="en-US" sz="1600" b="0" u="none" strike="noStrike" kern="1200" cap="none" spc="0" normalizeH="0" baseline="0" noProof="0" dirty="0">
                <a:ln>
                  <a:noFill/>
                </a:ln>
                <a:solidFill>
                  <a:srgbClr val="0C314B"/>
                </a:solidFill>
                <a:effectLst/>
                <a:uLnTx/>
                <a:uFillTx/>
                <a:latin typeface="Arial" panose="020B0604020202020204"/>
                <a:ea typeface="Verdana" panose="020B0604030504040204" pitchFamily="34" charset="0"/>
                <a:cs typeface="Verdana" panose="020B0604030504040204" pitchFamily="34" charset="0"/>
              </a:endParaRPr>
            </a:p>
          </p:txBody>
        </p:sp>
      </p:grpSp>
      <p:sp>
        <p:nvSpPr>
          <p:cNvPr id="45" name="Rounded Rectangle 44">
            <a:extLst>
              <a:ext uri="{FF2B5EF4-FFF2-40B4-BE49-F238E27FC236}">
                <a16:creationId xmlns:a16="http://schemas.microsoft.com/office/drawing/2014/main" id="{5E3EBD6D-3991-0D12-ADA7-41D012E05446}"/>
              </a:ext>
            </a:extLst>
          </p:cNvPr>
          <p:cNvSpPr/>
          <p:nvPr/>
        </p:nvSpPr>
        <p:spPr>
          <a:xfrm>
            <a:off x="2337535" y="2386739"/>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defTabSz="1219050">
              <a:spcBef>
                <a:spcPct val="0"/>
              </a:spcBef>
              <a:buClr>
                <a:srgbClr val="3C67EA"/>
              </a:buClr>
              <a:defRPr/>
            </a:pPr>
            <a:r>
              <a:rPr lang="en-GB" sz="1400" dirty="0">
                <a:solidFill>
                  <a:srgbClr val="FFFFFF"/>
                </a:solidFill>
                <a:ea typeface="Verdana"/>
                <a:cs typeface="Verdana" panose="020B0604030504040204" pitchFamily="34" charset="0"/>
              </a:rPr>
              <a:t>Guided Setup</a:t>
            </a:r>
            <a:endParaRPr lang="en-GB" sz="1400" dirty="0">
              <a:solidFill>
                <a:srgbClr val="FFFFFF"/>
              </a:solidFill>
              <a:ea typeface="Verdana" panose="020B0604030504040204" pitchFamily="34" charset="0"/>
              <a:cs typeface="Verdana" panose="020B0604030504040204" pitchFamily="34" charset="0"/>
            </a:endParaRPr>
          </a:p>
        </p:txBody>
      </p:sp>
      <p:grpSp>
        <p:nvGrpSpPr>
          <p:cNvPr id="46" name="Group 45">
            <a:extLst>
              <a:ext uri="{FF2B5EF4-FFF2-40B4-BE49-F238E27FC236}">
                <a16:creationId xmlns:a16="http://schemas.microsoft.com/office/drawing/2014/main" id="{CB79F39E-2D99-60A1-0D8B-DA46AE68C061}"/>
              </a:ext>
            </a:extLst>
          </p:cNvPr>
          <p:cNvGrpSpPr/>
          <p:nvPr/>
        </p:nvGrpSpPr>
        <p:grpSpPr>
          <a:xfrm>
            <a:off x="3870711" y="5083980"/>
            <a:ext cx="302151" cy="302151"/>
            <a:chOff x="4203905" y="3643249"/>
            <a:chExt cx="502920" cy="502920"/>
          </a:xfrm>
        </p:grpSpPr>
        <p:sp>
          <p:nvSpPr>
            <p:cNvPr id="47" name="Oval 46">
              <a:extLst>
                <a:ext uri="{FF2B5EF4-FFF2-40B4-BE49-F238E27FC236}">
                  <a16:creationId xmlns:a16="http://schemas.microsoft.com/office/drawing/2014/main" id="{B008B2DF-09FD-C076-0D0E-D152A5B246C7}"/>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8" name="TextBox 47">
              <a:extLst>
                <a:ext uri="{FF2B5EF4-FFF2-40B4-BE49-F238E27FC236}">
                  <a16:creationId xmlns:a16="http://schemas.microsoft.com/office/drawing/2014/main" id="{B5D71653-44DD-346A-47A2-3F0954F0248C}"/>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dirty="0">
                  <a:solidFill>
                    <a:srgbClr val="0C314B"/>
                  </a:solidFill>
                  <a:latin typeface="Arial" panose="020B0604020202020204" pitchFamily="34" charset="0"/>
                  <a:ea typeface="Verdana" panose="020B0604030504040204" pitchFamily="34" charset="0"/>
                  <a:cs typeface="Arial" panose="020B0604020202020204" pitchFamily="34" charset="0"/>
                </a:rPr>
                <a:t>2</a:t>
              </a:r>
              <a:endParaRPr kumimoji="0" lang="en-US" sz="1100" b="1" i="0" u="none" strike="noStrike" kern="1200" cap="none" spc="0" normalizeH="0" baseline="0" noProof="0" dirty="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5277D035-B233-4670-279F-2F3D4177413A}"/>
              </a:ext>
            </a:extLst>
          </p:cNvPr>
          <p:cNvGrpSpPr/>
          <p:nvPr/>
        </p:nvGrpSpPr>
        <p:grpSpPr>
          <a:xfrm>
            <a:off x="6356333" y="5083980"/>
            <a:ext cx="302151" cy="302151"/>
            <a:chOff x="4203905" y="3643249"/>
            <a:chExt cx="502920" cy="502920"/>
          </a:xfrm>
        </p:grpSpPr>
        <p:sp>
          <p:nvSpPr>
            <p:cNvPr id="50" name="Oval 49">
              <a:extLst>
                <a:ext uri="{FF2B5EF4-FFF2-40B4-BE49-F238E27FC236}">
                  <a16:creationId xmlns:a16="http://schemas.microsoft.com/office/drawing/2014/main" id="{000598A0-88DF-8A11-32E6-F77F7E9630E2}"/>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7" name="TextBox 56">
              <a:extLst>
                <a:ext uri="{FF2B5EF4-FFF2-40B4-BE49-F238E27FC236}">
                  <a16:creationId xmlns:a16="http://schemas.microsoft.com/office/drawing/2014/main" id="{3DDA612E-3437-2A7B-398C-D4C3654BFC5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dirty="0">
                  <a:solidFill>
                    <a:srgbClr val="0C314B"/>
                  </a:solidFill>
                  <a:latin typeface="Arial" panose="020B0604020202020204" pitchFamily="34" charset="0"/>
                  <a:ea typeface="Verdana" panose="020B0604030504040204" pitchFamily="34" charset="0"/>
                  <a:cs typeface="Arial" panose="020B0604020202020204" pitchFamily="34" charset="0"/>
                </a:rPr>
                <a:t>3</a:t>
              </a:r>
              <a:endParaRPr kumimoji="0" lang="en-US" sz="1100" b="1" i="0" u="none" strike="noStrike" kern="1200" cap="none" spc="0" normalizeH="0" baseline="0" noProof="0" dirty="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58" name="Group 57">
            <a:extLst>
              <a:ext uri="{FF2B5EF4-FFF2-40B4-BE49-F238E27FC236}">
                <a16:creationId xmlns:a16="http://schemas.microsoft.com/office/drawing/2014/main" id="{39F7EFA7-5B01-BE35-0F2D-07AD4A6E0367}"/>
              </a:ext>
            </a:extLst>
          </p:cNvPr>
          <p:cNvGrpSpPr/>
          <p:nvPr/>
        </p:nvGrpSpPr>
        <p:grpSpPr>
          <a:xfrm>
            <a:off x="8848395" y="5083980"/>
            <a:ext cx="302151" cy="302151"/>
            <a:chOff x="4203905" y="3643249"/>
            <a:chExt cx="502920" cy="502920"/>
          </a:xfrm>
        </p:grpSpPr>
        <p:sp>
          <p:nvSpPr>
            <p:cNvPr id="59" name="Oval 58">
              <a:extLst>
                <a:ext uri="{FF2B5EF4-FFF2-40B4-BE49-F238E27FC236}">
                  <a16:creationId xmlns:a16="http://schemas.microsoft.com/office/drawing/2014/main" id="{D315268C-F399-886D-C096-71D264AD6236}"/>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0" name="TextBox 59">
              <a:extLst>
                <a:ext uri="{FF2B5EF4-FFF2-40B4-BE49-F238E27FC236}">
                  <a16:creationId xmlns:a16="http://schemas.microsoft.com/office/drawing/2014/main" id="{09AD4C91-1A3C-48BC-03D2-D3E3EA59B344}"/>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dirty="0">
                  <a:solidFill>
                    <a:srgbClr val="0C314B"/>
                  </a:solidFill>
                  <a:latin typeface="Arial" panose="020B0604020202020204" pitchFamily="34" charset="0"/>
                  <a:ea typeface="Verdana" panose="020B0604030504040204" pitchFamily="34" charset="0"/>
                  <a:cs typeface="Arial" panose="020B0604020202020204" pitchFamily="34" charset="0"/>
                </a:rPr>
                <a:t>4</a:t>
              </a:r>
              <a:endParaRPr kumimoji="0" lang="en-US" sz="1100" b="1" i="0" u="none" strike="noStrike" kern="1200" cap="none" spc="0" normalizeH="0" baseline="0" noProof="0" dirty="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spTree>
    <p:extLst>
      <p:ext uri="{BB962C8B-B14F-4D97-AF65-F5344CB8AC3E}">
        <p14:creationId xmlns:p14="http://schemas.microsoft.com/office/powerpoint/2010/main" val="300639516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1BAA9-833C-5057-147E-610C09CE8970}"/>
              </a:ext>
            </a:extLst>
          </p:cNvPr>
          <p:cNvSpPr/>
          <p:nvPr/>
        </p:nvSpPr>
        <p:spPr>
          <a:xfrm>
            <a:off x="0" y="-1"/>
            <a:ext cx="5891753"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363ABCBB-F757-19DC-D8EE-536949116C55}"/>
              </a:ext>
            </a:extLst>
          </p:cNvPr>
          <p:cNvSpPr txBox="1">
            <a:spLocks/>
          </p:cNvSpPr>
          <p:nvPr/>
        </p:nvSpPr>
        <p:spPr>
          <a:xfrm>
            <a:off x="558800" y="392853"/>
            <a:ext cx="5749010"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A2F46"/>
                </a:solidFill>
                <a:effectLst/>
                <a:uLnTx/>
                <a:uFillTx/>
                <a:latin typeface="Arial" panose="020B0604020202020204" pitchFamily="34" charset="0"/>
                <a:ea typeface="Inter Medium" panose="02000503000000020004" pitchFamily="2" charset="0"/>
                <a:cs typeface="Arial" panose="020B0604020202020204" pitchFamily="34" charset="0"/>
              </a:rPr>
              <a:t>Anaplan </a:t>
            </a:r>
            <a:r>
              <a:rPr kumimoji="0" lang="en-GB" sz="2000" b="1" i="0" u="none" strike="noStrike" kern="1200" cap="none" spc="0" normalizeH="0" baseline="0" noProof="0" dirty="0">
                <a:ln>
                  <a:noFill/>
                </a:ln>
                <a:solidFill>
                  <a:srgbClr val="0A2F46"/>
                </a:solidFill>
                <a:effectLst/>
                <a:uLnTx/>
                <a:uFillTx/>
                <a:latin typeface="Arial" panose="020B0604020202020204" pitchFamily="34" charset="0"/>
                <a:ea typeface="Verdana"/>
                <a:cs typeface="Arial" panose="020B0604020202020204" pitchFamily="34" charset="0"/>
              </a:rPr>
              <a:t>Go-to-Market Planning</a:t>
            </a:r>
            <a:br>
              <a:rPr kumimoji="0" lang="en-GB" sz="2000" b="1" i="0" u="none" strike="noStrike" kern="1200" cap="none" spc="0" normalizeH="0" baseline="0" noProof="0" dirty="0">
                <a:ln>
                  <a:noFill/>
                </a:ln>
                <a:solidFill>
                  <a:srgbClr val="0A2F46"/>
                </a:solidFill>
                <a:effectLst/>
                <a:uLnTx/>
                <a:uFillTx/>
                <a:latin typeface="Arial" panose="020B0604020202020204" pitchFamily="34" charset="0"/>
                <a:ea typeface="Verdana"/>
                <a:cs typeface="Arial" panose="020B0604020202020204" pitchFamily="34" charset="0"/>
              </a:rPr>
            </a:br>
            <a:r>
              <a:rPr kumimoji="0" lang="en-GB" sz="2000" b="1" i="0" u="none" strike="noStrike" kern="1200" cap="none" spc="0" normalizeH="0" baseline="0" noProof="0" dirty="0">
                <a:ln>
                  <a:noFill/>
                </a:ln>
                <a:solidFill>
                  <a:srgbClr val="0A2F46"/>
                </a:solidFill>
                <a:effectLst/>
                <a:uLnTx/>
                <a:uFillTx/>
                <a:latin typeface="Arial" panose="020B0604020202020204" pitchFamily="34" charset="0"/>
                <a:ea typeface="Verdana"/>
                <a:cs typeface="Arial" panose="020B0604020202020204" pitchFamily="34" charset="0"/>
              </a:rPr>
              <a:t>Application Implementations</a:t>
            </a:r>
            <a:br>
              <a:rPr kumimoji="0" lang="en-GB" sz="2400" b="0" i="0" u="none" strike="noStrike" kern="1200" cap="none" spc="0" normalizeH="0" baseline="0" noProof="0" dirty="0">
                <a:ln>
                  <a:noFill/>
                </a:ln>
                <a:solidFill>
                  <a:srgbClr val="0A2F46"/>
                </a:solidFill>
                <a:effectLst/>
                <a:uLnTx/>
                <a:uFillTx/>
                <a:latin typeface="Arial" panose="020B0604020202020204" pitchFamily="34" charset="0"/>
                <a:ea typeface="Verdana" panose="020B0604030504040204" pitchFamily="34" charset="0"/>
                <a:cs typeface="Arial" panose="020B0604020202020204" pitchFamily="34" charset="0"/>
              </a:rPr>
            </a:br>
            <a:r>
              <a:rPr kumimoji="0" lang="en-US" sz="1600" b="0" i="0" u="none" strike="noStrike" kern="1200" cap="none" spc="0" normalizeH="0" baseline="0" noProof="0" dirty="0">
                <a:ln>
                  <a:noFill/>
                </a:ln>
                <a:solidFill>
                  <a:schemeClr val="accent1"/>
                </a:solidFill>
                <a:effectLst/>
                <a:uLnTx/>
                <a:uFillTx/>
                <a:latin typeface="Arial" panose="020B0604020202020204" pitchFamily="34" charset="0"/>
                <a:ea typeface="Verdana"/>
                <a:cs typeface="Arial" panose="020B0604020202020204" pitchFamily="34" charset="0"/>
              </a:rPr>
              <a:t>3-step implementation: Configure. Extend. Deploy.</a:t>
            </a:r>
            <a:endParaRPr kumimoji="0" lang="en-GB" sz="1600" b="0" i="0" u="none" strike="noStrike" kern="1200" cap="none" spc="0" normalizeH="0" baseline="0" noProof="0" dirty="0">
              <a:ln>
                <a:noFill/>
              </a:ln>
              <a:solidFill>
                <a:schemeClr val="accent1"/>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D0814B5B-2B20-1BE4-00C5-C62135F2C0F7}"/>
              </a:ext>
            </a:extLst>
          </p:cNvPr>
          <p:cNvSpPr/>
          <p:nvPr/>
        </p:nvSpPr>
        <p:spPr>
          <a:xfrm>
            <a:off x="506981" y="2025037"/>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Configure</a:t>
            </a:r>
          </a:p>
        </p:txBody>
      </p:sp>
      <p:sp>
        <p:nvSpPr>
          <p:cNvPr id="5" name="Rounded Rectangle 4">
            <a:extLst>
              <a:ext uri="{FF2B5EF4-FFF2-40B4-BE49-F238E27FC236}">
                <a16:creationId xmlns:a16="http://schemas.microsoft.com/office/drawing/2014/main" id="{001FEF9C-B216-908D-7C92-38FF793A2EB1}"/>
              </a:ext>
            </a:extLst>
          </p:cNvPr>
          <p:cNvSpPr/>
          <p:nvPr/>
        </p:nvSpPr>
        <p:spPr>
          <a:xfrm>
            <a:off x="495031" y="3412693"/>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a:ea typeface="Verdana" panose="020B0604030504040204" pitchFamily="34" charset="0"/>
                <a:cs typeface="Arial" panose="020B0604020202020204" pitchFamily="34" charset="0"/>
              </a:rPr>
              <a:t>Extend</a:t>
            </a:r>
          </a:p>
        </p:txBody>
      </p:sp>
      <p:sp>
        <p:nvSpPr>
          <p:cNvPr id="6" name="Rounded Rectangle 5">
            <a:extLst>
              <a:ext uri="{FF2B5EF4-FFF2-40B4-BE49-F238E27FC236}">
                <a16:creationId xmlns:a16="http://schemas.microsoft.com/office/drawing/2014/main" id="{9B6B784A-C1FE-4A73-8EEF-60F52E1C02D4}"/>
              </a:ext>
            </a:extLst>
          </p:cNvPr>
          <p:cNvSpPr/>
          <p:nvPr/>
        </p:nvSpPr>
        <p:spPr>
          <a:xfrm>
            <a:off x="492267" y="4808759"/>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a:ea typeface="Verdana" panose="020B0604030504040204" pitchFamily="34" charset="0"/>
                <a:cs typeface="Arial" panose="020B0604020202020204" pitchFamily="34" charset="0"/>
              </a:rPr>
              <a:t>Deploy</a:t>
            </a:r>
          </a:p>
        </p:txBody>
      </p:sp>
      <p:sp>
        <p:nvSpPr>
          <p:cNvPr id="7" name="TextBox 6">
            <a:extLst>
              <a:ext uri="{FF2B5EF4-FFF2-40B4-BE49-F238E27FC236}">
                <a16:creationId xmlns:a16="http://schemas.microsoft.com/office/drawing/2014/main" id="{D193EA40-960C-E837-D26B-FE79324964A7}"/>
              </a:ext>
            </a:extLst>
          </p:cNvPr>
          <p:cNvSpPr txBox="1"/>
          <p:nvPr/>
        </p:nvSpPr>
        <p:spPr>
          <a:xfrm>
            <a:off x="2173972" y="1797813"/>
            <a:ext cx="3320596" cy="1275093"/>
          </a:xfrm>
          <a:prstGeom prst="rect">
            <a:avLst/>
          </a:prstGeom>
          <a:noFill/>
        </p:spPr>
        <p:txBody>
          <a:bodyPr wrap="square">
            <a:spAutoFit/>
          </a:bodyPr>
          <a:lstStyle/>
          <a:p>
            <a:pPr>
              <a:defRPr/>
            </a:pPr>
            <a:br>
              <a:rPr lang="en-US" sz="1093" dirty="0">
                <a:solidFill>
                  <a:srgbClr val="0A2F46"/>
                </a:solidFill>
                <a:cs typeface="Arial" panose="020B0604020202020204" pitchFamily="34" charset="0"/>
              </a:rPr>
            </a:br>
            <a:r>
              <a:rPr lang="en-US" sz="1100" dirty="0">
                <a:solidFill>
                  <a:srgbClr val="0A2F46"/>
                </a:solidFill>
                <a:cs typeface="Arial" panose="020B0604020202020204" pitchFamily="34" charset="0"/>
              </a:rPr>
              <a:t>Start with a guided setup that builds your model and UX automatically—based on structured inputs about your hierarchies, data, naming conventions, and GTM logic. Your planning foundation is purpose-built from day one. </a:t>
            </a:r>
            <a:br>
              <a:rPr lang="en-US" sz="1093" dirty="0">
                <a:solidFill>
                  <a:srgbClr val="0A2F46"/>
                </a:solidFill>
                <a:cs typeface="Arial" panose="020B0604020202020204" pitchFamily="34" charset="0"/>
              </a:rPr>
            </a:br>
            <a:endParaRPr lang="en-US" sz="1093" dirty="0">
              <a:solidFill>
                <a:srgbClr val="0A2F46"/>
              </a:solidFill>
              <a:cs typeface="Arial" panose="020B0604020202020204" pitchFamily="34" charset="0"/>
            </a:endParaRPr>
          </a:p>
        </p:txBody>
      </p:sp>
      <p:sp>
        <p:nvSpPr>
          <p:cNvPr id="8" name="TextBox 7">
            <a:extLst>
              <a:ext uri="{FF2B5EF4-FFF2-40B4-BE49-F238E27FC236}">
                <a16:creationId xmlns:a16="http://schemas.microsoft.com/office/drawing/2014/main" id="{57FFB5E8-4871-5B37-DF3C-98E8B47FAA0C}"/>
              </a:ext>
            </a:extLst>
          </p:cNvPr>
          <p:cNvSpPr txBox="1"/>
          <p:nvPr/>
        </p:nvSpPr>
        <p:spPr>
          <a:xfrm>
            <a:off x="2173972" y="3353726"/>
            <a:ext cx="3320596" cy="767261"/>
          </a:xfrm>
          <a:prstGeom prst="rect">
            <a:avLst/>
          </a:prstGeom>
          <a:noFill/>
        </p:spPr>
        <p:txBody>
          <a:bodyPr wrap="square">
            <a:spAutoFit/>
          </a:bodyPr>
          <a:lstStyle/>
          <a:p>
            <a:pPr>
              <a:defRPr/>
            </a:pPr>
            <a:r>
              <a:rPr lang="en-US" sz="1100" dirty="0">
                <a:solidFill>
                  <a:srgbClr val="0A2F46"/>
                </a:solidFill>
                <a:cs typeface="Arial" panose="020B0604020202020204" pitchFamily="34" charset="0"/>
              </a:rPr>
              <a:t>Adapt and expand the application to reflect your business’s unique needs.</a:t>
            </a:r>
            <a:r>
              <a:rPr lang="en-US" sz="1093" dirty="0">
                <a:solidFill>
                  <a:srgbClr val="0A2F46"/>
                </a:solidFill>
                <a:cs typeface="Arial" panose="020B0604020202020204" pitchFamily="34" charset="0"/>
              </a:rPr>
              <a:t> Leverage the power of Anaplan’s flexible modeling platform to make the</a:t>
            </a:r>
            <a:br>
              <a:rPr lang="en-US" sz="1093" dirty="0">
                <a:solidFill>
                  <a:srgbClr val="0A2F46"/>
                </a:solidFill>
                <a:cs typeface="Arial" panose="020B0604020202020204" pitchFamily="34" charset="0"/>
              </a:rPr>
            </a:br>
            <a:r>
              <a:rPr lang="en-US" sz="1093" dirty="0">
                <a:solidFill>
                  <a:srgbClr val="0A2F46"/>
                </a:solidFill>
                <a:cs typeface="Arial" panose="020B0604020202020204" pitchFamily="34" charset="0"/>
              </a:rPr>
              <a:t>app your own—without starting from scratch.</a:t>
            </a:r>
          </a:p>
        </p:txBody>
      </p:sp>
      <p:sp>
        <p:nvSpPr>
          <p:cNvPr id="9" name="TextBox 8">
            <a:extLst>
              <a:ext uri="{FF2B5EF4-FFF2-40B4-BE49-F238E27FC236}">
                <a16:creationId xmlns:a16="http://schemas.microsoft.com/office/drawing/2014/main" id="{013217C6-A987-6FE1-01FC-178A4A7182EB}"/>
              </a:ext>
            </a:extLst>
          </p:cNvPr>
          <p:cNvSpPr txBox="1"/>
          <p:nvPr/>
        </p:nvSpPr>
        <p:spPr>
          <a:xfrm>
            <a:off x="2173972" y="4763233"/>
            <a:ext cx="3320596" cy="1275093"/>
          </a:xfrm>
          <a:prstGeom prst="rect">
            <a:avLst/>
          </a:prstGeom>
          <a:noFill/>
        </p:spPr>
        <p:txBody>
          <a:bodyPr wrap="square">
            <a:spAutoFit/>
          </a:bodyPr>
          <a:lstStyle/>
          <a:p>
            <a:pPr>
              <a:defRPr/>
            </a:pPr>
            <a:r>
              <a:rPr lang="en-US" sz="1100" dirty="0">
                <a:solidFill>
                  <a:srgbClr val="0A2F46"/>
                </a:solidFill>
                <a:cs typeface="Arial" panose="020B0604020202020204" pitchFamily="34" charset="0"/>
              </a:rPr>
              <a:t>Move quickly into testing and rollout. This accelerated path to deployment helps you capture value sooner, with built-in best practices and a launchpad for future expansion across your business, </a:t>
            </a:r>
            <a:r>
              <a:rPr lang="en-US" sz="1093" dirty="0">
                <a:solidFill>
                  <a:srgbClr val="0A2F46"/>
                </a:solidFill>
                <a:cs typeface="Arial" panose="020B0604020202020204" pitchFamily="34" charset="0"/>
              </a:rPr>
              <a:t>ready to evolve alongside your business with additional Anaplan applications or purpose-built extensions.</a:t>
            </a:r>
          </a:p>
        </p:txBody>
      </p:sp>
      <p:cxnSp>
        <p:nvCxnSpPr>
          <p:cNvPr id="10" name="Straight Arrow Connector 9">
            <a:extLst>
              <a:ext uri="{FF2B5EF4-FFF2-40B4-BE49-F238E27FC236}">
                <a16:creationId xmlns:a16="http://schemas.microsoft.com/office/drawing/2014/main" id="{36C1D865-D56C-E824-FE45-098FF1702A49}"/>
              </a:ext>
            </a:extLst>
          </p:cNvPr>
          <p:cNvCxnSpPr>
            <a:cxnSpLocks/>
          </p:cNvCxnSpPr>
          <p:nvPr/>
        </p:nvCxnSpPr>
        <p:spPr>
          <a:xfrm>
            <a:off x="1249003" y="2640877"/>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pic>
        <p:nvPicPr>
          <p:cNvPr id="12" name="Picture 11" descr="Graphical user interface, application, Teams&#10;&#10;Description automatically generated">
            <a:extLst>
              <a:ext uri="{FF2B5EF4-FFF2-40B4-BE49-F238E27FC236}">
                <a16:creationId xmlns:a16="http://schemas.microsoft.com/office/drawing/2014/main" id="{572197D6-C8E0-29D2-D82E-884DE74A8BD3}"/>
              </a:ext>
            </a:extLst>
          </p:cNvPr>
          <p:cNvPicPr>
            <a:picLocks/>
          </p:cNvPicPr>
          <p:nvPr/>
        </p:nvPicPr>
        <p:blipFill>
          <a:blip r:embed="rId2"/>
          <a:stretch>
            <a:fillRect/>
          </a:stretch>
        </p:blipFill>
        <p:spPr>
          <a:xfrm>
            <a:off x="8955025" y="1115247"/>
            <a:ext cx="2474975" cy="1487709"/>
          </a:xfrm>
          <a:prstGeom prst="rect">
            <a:avLst/>
          </a:prstGeom>
          <a:ln w="3175">
            <a:solidFill>
              <a:schemeClr val="tx1"/>
            </a:solidFill>
          </a:ln>
        </p:spPr>
      </p:pic>
      <p:pic>
        <p:nvPicPr>
          <p:cNvPr id="13" name="Content Placeholder 5">
            <a:extLst>
              <a:ext uri="{FF2B5EF4-FFF2-40B4-BE49-F238E27FC236}">
                <a16:creationId xmlns:a16="http://schemas.microsoft.com/office/drawing/2014/main" id="{494916C7-EEE1-8B4F-3D72-C48E234D4385}"/>
              </a:ext>
            </a:extLst>
          </p:cNvPr>
          <p:cNvPicPr>
            <a:picLocks noChangeAspect="1"/>
          </p:cNvPicPr>
          <p:nvPr/>
        </p:nvPicPr>
        <p:blipFill>
          <a:blip r:embed="rId3"/>
          <a:stretch>
            <a:fillRect/>
          </a:stretch>
        </p:blipFill>
        <p:spPr>
          <a:xfrm>
            <a:off x="6404099" y="1116971"/>
            <a:ext cx="2479516" cy="1487709"/>
          </a:xfrm>
          <a:prstGeom prst="rect">
            <a:avLst/>
          </a:prstGeom>
          <a:ln w="3175">
            <a:solidFill>
              <a:schemeClr val="tx1"/>
            </a:solidFill>
          </a:ln>
        </p:spPr>
      </p:pic>
      <p:pic>
        <p:nvPicPr>
          <p:cNvPr id="14" name="Picture 13" descr="Graphical user interface, application, table, Excel&#10;&#10;Description automatically generated">
            <a:extLst>
              <a:ext uri="{FF2B5EF4-FFF2-40B4-BE49-F238E27FC236}">
                <a16:creationId xmlns:a16="http://schemas.microsoft.com/office/drawing/2014/main" id="{348B713E-AC21-A492-DAEB-A22E56B12A33}"/>
              </a:ext>
            </a:extLst>
          </p:cNvPr>
          <p:cNvPicPr>
            <a:picLocks/>
          </p:cNvPicPr>
          <p:nvPr/>
        </p:nvPicPr>
        <p:blipFill>
          <a:blip r:embed="rId4"/>
          <a:stretch>
            <a:fillRect/>
          </a:stretch>
        </p:blipFill>
        <p:spPr>
          <a:xfrm>
            <a:off x="6404101" y="4443752"/>
            <a:ext cx="2474975" cy="1487424"/>
          </a:xfrm>
          <a:prstGeom prst="rect">
            <a:avLst/>
          </a:prstGeom>
          <a:ln w="3175">
            <a:solidFill>
              <a:schemeClr val="tx1"/>
            </a:solidFill>
          </a:ln>
        </p:spPr>
      </p:pic>
      <p:grpSp>
        <p:nvGrpSpPr>
          <p:cNvPr id="15" name="Group 14">
            <a:extLst>
              <a:ext uri="{FF2B5EF4-FFF2-40B4-BE49-F238E27FC236}">
                <a16:creationId xmlns:a16="http://schemas.microsoft.com/office/drawing/2014/main" id="{365FE6BF-5A94-3C87-CDA1-FA6D05F03D94}"/>
              </a:ext>
            </a:extLst>
          </p:cNvPr>
          <p:cNvGrpSpPr/>
          <p:nvPr/>
        </p:nvGrpSpPr>
        <p:grpSpPr>
          <a:xfrm>
            <a:off x="8962469" y="4443756"/>
            <a:ext cx="2466667" cy="1487424"/>
            <a:chOff x="5197143" y="3525232"/>
            <a:chExt cx="1653740" cy="1002350"/>
          </a:xfrm>
        </p:grpSpPr>
        <p:pic>
          <p:nvPicPr>
            <p:cNvPr id="16" name="Picture 15" descr="Graphical user interface, application, Teams&#10;&#10;Description automatically generated">
              <a:extLst>
                <a:ext uri="{FF2B5EF4-FFF2-40B4-BE49-F238E27FC236}">
                  <a16:creationId xmlns:a16="http://schemas.microsoft.com/office/drawing/2014/main" id="{7165F623-2706-7E84-02BB-CED8E794186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197143" y="3525232"/>
              <a:ext cx="1653740" cy="1002350"/>
            </a:xfrm>
            <a:prstGeom prst="rect">
              <a:avLst/>
            </a:prstGeom>
            <a:ln w="3175">
              <a:solidFill>
                <a:schemeClr val="tx1"/>
              </a:solidFill>
            </a:ln>
            <a:effectLst>
              <a:outerShdw blurRad="63500" algn="ctr" rotWithShape="0">
                <a:prstClr val="black">
                  <a:alpha val="20000"/>
                </a:prstClr>
              </a:outerShdw>
            </a:effectLst>
          </p:spPr>
        </p:pic>
        <p:pic>
          <p:nvPicPr>
            <p:cNvPr id="17" name="Picture 16" descr="A map of the united states&#10;&#10;Description automatically generated">
              <a:extLst>
                <a:ext uri="{FF2B5EF4-FFF2-40B4-BE49-F238E27FC236}">
                  <a16:creationId xmlns:a16="http://schemas.microsoft.com/office/drawing/2014/main" id="{76115021-96E5-1AA3-8D8D-E24DE9C63D53}"/>
                </a:ext>
              </a:extLst>
            </p:cNvPr>
            <p:cNvPicPr>
              <a:picLocks noChangeAspect="1"/>
            </p:cNvPicPr>
            <p:nvPr/>
          </p:nvPicPr>
          <p:blipFill rotWithShape="1">
            <a:blip r:embed="rId6"/>
            <a:srcRect l="8702" r="7861"/>
            <a:stretch/>
          </p:blipFill>
          <p:spPr>
            <a:xfrm>
              <a:off x="5216987" y="3719355"/>
              <a:ext cx="653500" cy="459960"/>
            </a:xfrm>
            <a:prstGeom prst="rect">
              <a:avLst/>
            </a:prstGeom>
            <a:ln w="3175">
              <a:solidFill>
                <a:schemeClr val="tx1"/>
              </a:solidFill>
            </a:ln>
          </p:spPr>
        </p:pic>
      </p:grpSp>
      <p:pic>
        <p:nvPicPr>
          <p:cNvPr id="18" name="Picture 17" descr="Graphical user interface&#10;&#10;Description automatically generated">
            <a:extLst>
              <a:ext uri="{FF2B5EF4-FFF2-40B4-BE49-F238E27FC236}">
                <a16:creationId xmlns:a16="http://schemas.microsoft.com/office/drawing/2014/main" id="{69F22EE2-58F3-0DD3-A65C-825AE21612AC}"/>
              </a:ext>
            </a:extLst>
          </p:cNvPr>
          <p:cNvPicPr>
            <a:picLocks/>
          </p:cNvPicPr>
          <p:nvPr/>
        </p:nvPicPr>
        <p:blipFill>
          <a:blip r:embed="rId7"/>
          <a:stretch>
            <a:fillRect/>
          </a:stretch>
        </p:blipFill>
        <p:spPr>
          <a:xfrm>
            <a:off x="8954163" y="2771706"/>
            <a:ext cx="2474975" cy="1487424"/>
          </a:xfrm>
          <a:prstGeom prst="rect">
            <a:avLst/>
          </a:prstGeom>
          <a:ln w="3175">
            <a:solidFill>
              <a:schemeClr val="tx1"/>
            </a:solidFill>
          </a:ln>
        </p:spPr>
      </p:pic>
      <p:pic>
        <p:nvPicPr>
          <p:cNvPr id="19" name="Picture 18" descr="A screenshot of a computer&#10;&#10;Description automatically generated with medium confidence">
            <a:extLst>
              <a:ext uri="{FF2B5EF4-FFF2-40B4-BE49-F238E27FC236}">
                <a16:creationId xmlns:a16="http://schemas.microsoft.com/office/drawing/2014/main" id="{075E97F8-A412-59B6-0A8F-4E3A2D237F1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404101" y="2780621"/>
            <a:ext cx="2474975" cy="1487748"/>
          </a:xfrm>
          <a:prstGeom prst="rect">
            <a:avLst/>
          </a:prstGeom>
          <a:ln w="3175">
            <a:solidFill>
              <a:schemeClr val="tx1"/>
            </a:solidFill>
          </a:ln>
        </p:spPr>
      </p:pic>
      <p:cxnSp>
        <p:nvCxnSpPr>
          <p:cNvPr id="21" name="Straight Arrow Connector 20">
            <a:extLst>
              <a:ext uri="{FF2B5EF4-FFF2-40B4-BE49-F238E27FC236}">
                <a16:creationId xmlns:a16="http://schemas.microsoft.com/office/drawing/2014/main" id="{6F086640-7764-7169-5B2E-8ABD5B7D6F0B}"/>
              </a:ext>
            </a:extLst>
          </p:cNvPr>
          <p:cNvCxnSpPr>
            <a:cxnSpLocks/>
          </p:cNvCxnSpPr>
          <p:nvPr/>
        </p:nvCxnSpPr>
        <p:spPr>
          <a:xfrm>
            <a:off x="1249003" y="4060253"/>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spTree>
    <p:extLst>
      <p:ext uri="{BB962C8B-B14F-4D97-AF65-F5344CB8AC3E}">
        <p14:creationId xmlns:p14="http://schemas.microsoft.com/office/powerpoint/2010/main" val="3454293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536015"/>
            <a:ext cx="6339206" cy="2117424"/>
          </a:xfrm>
        </p:spPr>
        <p:txBody>
          <a:bodyPr lIns="0" tIns="45720" rIns="0" bIns="45720" anchor="t"/>
          <a:lstStyle/>
          <a:p>
            <a:r>
              <a:rPr lang="en-US" sz="4250" dirty="0">
                <a:latin typeface="Arial"/>
                <a:cs typeface="Arial"/>
              </a:rPr>
              <a:t>Process </a:t>
            </a:r>
            <a:br>
              <a:rPr lang="en-US" sz="4250" dirty="0">
                <a:latin typeface="Arial"/>
                <a:cs typeface="Arial"/>
              </a:rPr>
            </a:br>
            <a:r>
              <a:rPr lang="en-US" sz="4250" dirty="0">
                <a:latin typeface="Arial"/>
                <a:cs typeface="Arial"/>
              </a:rPr>
              <a:t>and configurable elements</a:t>
            </a:r>
          </a:p>
        </p:txBody>
      </p:sp>
      <p:sp>
        <p:nvSpPr>
          <p:cNvPr id="3" name="Text Placeholder 2">
            <a:extLst>
              <a:ext uri="{FF2B5EF4-FFF2-40B4-BE49-F238E27FC236}">
                <a16:creationId xmlns:a16="http://schemas.microsoft.com/office/drawing/2014/main" id="{C61AB046-3307-7487-01E9-CAEC127AEE52}"/>
              </a:ext>
            </a:extLst>
          </p:cNvPr>
          <p:cNvSpPr>
            <a:spLocks noGrp="1"/>
          </p:cNvSpPr>
          <p:nvPr>
            <p:ph type="body" sz="quarter" idx="10"/>
          </p:nvPr>
        </p:nvSpPr>
        <p:spPr/>
        <p:txBody>
          <a:bodyPr/>
          <a:lstStyle/>
          <a:p>
            <a:r>
              <a:rPr lang="en-US" dirty="0"/>
              <a:t>Section 2</a:t>
            </a:r>
          </a:p>
        </p:txBody>
      </p:sp>
    </p:spTree>
    <p:extLst>
      <p:ext uri="{BB962C8B-B14F-4D97-AF65-F5344CB8AC3E}">
        <p14:creationId xmlns:p14="http://schemas.microsoft.com/office/powerpoint/2010/main" val="291995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79" name="Rounded Rectangle 78">
            <a:extLst>
              <a:ext uri="{FF2B5EF4-FFF2-40B4-BE49-F238E27FC236}">
                <a16:creationId xmlns:a16="http://schemas.microsoft.com/office/drawing/2014/main" id="{67BDECE2-1AEF-3266-5C3D-5EBBC3B4FD70}"/>
              </a:ext>
            </a:extLst>
          </p:cNvPr>
          <p:cNvSpPr/>
          <p:nvPr/>
        </p:nvSpPr>
        <p:spPr>
          <a:xfrm>
            <a:off x="3251200" y="2070223"/>
            <a:ext cx="8178800" cy="4212043"/>
          </a:xfrm>
          <a:prstGeom prst="roundRect">
            <a:avLst>
              <a:gd name="adj" fmla="val 2272"/>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80"/>
            <a:r>
              <a:rPr lang="en-US" sz="1867">
                <a:solidFill>
                  <a:srgbClr val="FFFFFF"/>
                </a:solidFill>
                <a:latin typeface="Arial" panose="020B0604020202020204" pitchFamily="34" charset="0"/>
                <a:ea typeface="Verdana" charset="0"/>
                <a:cs typeface="Arial" panose="020B0604020202020204" pitchFamily="34" charset="0"/>
              </a:rPr>
              <a:t>v</a:t>
            </a:r>
          </a:p>
        </p:txBody>
      </p:sp>
      <p:grpSp>
        <p:nvGrpSpPr>
          <p:cNvPr id="123" name="Group 122">
            <a:extLst>
              <a:ext uri="{FF2B5EF4-FFF2-40B4-BE49-F238E27FC236}">
                <a16:creationId xmlns:a16="http://schemas.microsoft.com/office/drawing/2014/main" id="{50BD59A3-BE11-1B51-C56E-591DD8EECC2A}"/>
              </a:ext>
            </a:extLst>
          </p:cNvPr>
          <p:cNvGrpSpPr/>
          <p:nvPr/>
        </p:nvGrpSpPr>
        <p:grpSpPr>
          <a:xfrm>
            <a:off x="253768" y="3281638"/>
            <a:ext cx="1399900" cy="1987477"/>
            <a:chOff x="8100652" y="2006685"/>
            <a:chExt cx="1561297" cy="1490608"/>
          </a:xfrm>
          <a:solidFill>
            <a:schemeClr val="bg1"/>
          </a:solidFill>
        </p:grpSpPr>
        <p:sp>
          <p:nvSpPr>
            <p:cNvPr id="124" name="Rounded Rectangle 123">
              <a:extLst>
                <a:ext uri="{FF2B5EF4-FFF2-40B4-BE49-F238E27FC236}">
                  <a16:creationId xmlns:a16="http://schemas.microsoft.com/office/drawing/2014/main" id="{89046006-A77B-2343-3FC8-D853CB8F24E6}"/>
                </a:ext>
              </a:extLst>
            </p:cNvPr>
            <p:cNvSpPr/>
            <p:nvPr/>
          </p:nvSpPr>
          <p:spPr>
            <a:xfrm>
              <a:off x="8100653" y="2006685"/>
              <a:ext cx="1561296" cy="426909"/>
            </a:xfrm>
            <a:prstGeom prst="roundRect">
              <a:avLst>
                <a:gd name="adj" fmla="val 12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CRM</a:t>
              </a:r>
              <a:b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System</a:t>
              </a:r>
            </a:p>
          </p:txBody>
        </p:sp>
        <p:sp>
          <p:nvSpPr>
            <p:cNvPr id="128" name="Rounded Rectangle 127">
              <a:extLst>
                <a:ext uri="{FF2B5EF4-FFF2-40B4-BE49-F238E27FC236}">
                  <a16:creationId xmlns:a16="http://schemas.microsoft.com/office/drawing/2014/main" id="{3681E4CA-C671-670B-4782-C4DA6903E941}"/>
                </a:ext>
              </a:extLst>
            </p:cNvPr>
            <p:cNvSpPr/>
            <p:nvPr/>
          </p:nvSpPr>
          <p:spPr>
            <a:xfrm>
              <a:off x="8100652" y="3070384"/>
              <a:ext cx="1561296" cy="426909"/>
            </a:xfrm>
            <a:prstGeom prst="roundRect">
              <a:avLst>
                <a:gd name="adj" fmla="val 1446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Booking</a:t>
              </a:r>
              <a:b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System</a:t>
              </a:r>
            </a:p>
          </p:txBody>
        </p:sp>
      </p:grpSp>
      <p:cxnSp>
        <p:nvCxnSpPr>
          <p:cNvPr id="85" name="Straight Arrow Connector 84">
            <a:extLst>
              <a:ext uri="{FF2B5EF4-FFF2-40B4-BE49-F238E27FC236}">
                <a16:creationId xmlns:a16="http://schemas.microsoft.com/office/drawing/2014/main" id="{EA358DE6-B849-C7D4-98EB-BEE81B3135CC}"/>
              </a:ext>
            </a:extLst>
          </p:cNvPr>
          <p:cNvCxnSpPr>
            <a:cxnSpLocks/>
            <a:endCxn id="26" idx="2"/>
          </p:cNvCxnSpPr>
          <p:nvPr/>
        </p:nvCxnSpPr>
        <p:spPr>
          <a:xfrm flipH="1">
            <a:off x="1878678" y="4298415"/>
            <a:ext cx="1357030" cy="1"/>
          </a:xfrm>
          <a:prstGeom prst="straightConnector1">
            <a:avLst/>
          </a:prstGeom>
          <a:ln w="19050"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6" name="Right Bracket 25">
            <a:extLst>
              <a:ext uri="{FF2B5EF4-FFF2-40B4-BE49-F238E27FC236}">
                <a16:creationId xmlns:a16="http://schemas.microsoft.com/office/drawing/2014/main" id="{70B7B893-5E0D-564A-09DB-001508557DFF}"/>
              </a:ext>
            </a:extLst>
          </p:cNvPr>
          <p:cNvSpPr/>
          <p:nvPr/>
        </p:nvSpPr>
        <p:spPr>
          <a:xfrm>
            <a:off x="1708907" y="3545598"/>
            <a:ext cx="169771" cy="1505635"/>
          </a:xfrm>
          <a:prstGeom prst="rightBracket">
            <a:avLst>
              <a:gd name="adj" fmla="val 0"/>
            </a:avLst>
          </a:prstGeom>
          <a:ln w="19050" cap="rnd">
            <a:solidFill>
              <a:schemeClr val="tx2"/>
            </a:solidFill>
            <a:headEnd type="none"/>
            <a:tailEnd type="none"/>
          </a:ln>
          <a:effectLst/>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US" b="1" dirty="0">
                <a:solidFill>
                  <a:schemeClr val="tx2"/>
                </a:solidFill>
              </a:rPr>
              <a:t>Anaplan Segmentation and Scoring Framework</a:t>
            </a:r>
            <a:endParaRPr lang="en-US" sz="1867" dirty="0">
              <a:latin typeface="Inter Light" panose="02000503000000020004" pitchFamily="2" charset="0"/>
              <a:ea typeface="Inter Light" panose="02000503000000020004" pitchFamily="2" charset="0"/>
            </a:endParaRPr>
          </a:p>
        </p:txBody>
      </p:sp>
      <p:sp>
        <p:nvSpPr>
          <p:cNvPr id="27" name="Direct Access Storage 26">
            <a:extLst>
              <a:ext uri="{FF2B5EF4-FFF2-40B4-BE49-F238E27FC236}">
                <a16:creationId xmlns:a16="http://schemas.microsoft.com/office/drawing/2014/main" id="{11E5CDCA-42D9-1F6C-25D8-135F74F613C5}"/>
              </a:ext>
            </a:extLst>
          </p:cNvPr>
          <p:cNvSpPr/>
          <p:nvPr/>
        </p:nvSpPr>
        <p:spPr>
          <a:xfrm>
            <a:off x="2036974" y="4023045"/>
            <a:ext cx="993609" cy="550740"/>
          </a:xfrm>
          <a:prstGeom prst="flowChartMagneticDrum">
            <a:avLst/>
          </a:prstGeom>
          <a:solidFill>
            <a:srgbClr val="F3F1EE"/>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
        <p:nvSpPr>
          <p:cNvPr id="30" name="Title 1">
            <a:extLst>
              <a:ext uri="{FF2B5EF4-FFF2-40B4-BE49-F238E27FC236}">
                <a16:creationId xmlns:a16="http://schemas.microsoft.com/office/drawing/2014/main" id="{14D80E1E-EBFF-D28B-E437-E629D2C71C70}"/>
              </a:ext>
            </a:extLst>
          </p:cNvPr>
          <p:cNvSpPr txBox="1">
            <a:spLocks/>
          </p:cNvSpPr>
          <p:nvPr/>
        </p:nvSpPr>
        <p:spPr>
          <a:xfrm>
            <a:off x="2118501" y="4280921"/>
            <a:ext cx="537972" cy="223643"/>
          </a:xfrm>
          <a:prstGeom prst="rect">
            <a:avLst/>
          </a:prstGeom>
        </p:spPr>
        <p:txBody>
          <a:bodyPr lIns="0" rIns="0" anchor="b"/>
          <a:lstStyle>
            <a:defPPr>
              <a:defRPr lang="en-US"/>
            </a:defPPr>
            <a:lvl1pPr algn="ctr">
              <a:spcBef>
                <a:spcPct val="0"/>
              </a:spcBef>
              <a:buNone/>
              <a:defRPr sz="1050" b="0" i="0">
                <a:solidFill>
                  <a:srgbClr val="EAEFFB"/>
                </a:solidFill>
                <a:latin typeface="Arial" panose="020B0604020202020204" pitchFamily="34" charset="0"/>
                <a:ea typeface="Verdana" charset="0"/>
                <a:cs typeface="Arial" panose="020B0604020202020204" pitchFamily="34" charset="0"/>
              </a:defRPr>
            </a:lvl1pPr>
          </a:lstStyle>
          <a:p>
            <a:r>
              <a:rPr lang="en-US" sz="1000" b="1" dirty="0">
                <a:solidFill>
                  <a:schemeClr val="tx2"/>
                </a:solidFill>
                <a:ea typeface="Inter Medium" panose="02000503000000020004" pitchFamily="2" charset="0"/>
              </a:rPr>
              <a:t>Data</a:t>
            </a:r>
          </a:p>
          <a:p>
            <a:r>
              <a:rPr lang="en-US" sz="1000" b="1" dirty="0">
                <a:solidFill>
                  <a:schemeClr val="tx2"/>
                </a:solidFill>
                <a:ea typeface="Inter Medium" panose="02000503000000020004" pitchFamily="2" charset="0"/>
              </a:rPr>
              <a:t>Hub</a:t>
            </a:r>
          </a:p>
        </p:txBody>
      </p:sp>
      <p:grpSp>
        <p:nvGrpSpPr>
          <p:cNvPr id="142" name="Group 141">
            <a:extLst>
              <a:ext uri="{FF2B5EF4-FFF2-40B4-BE49-F238E27FC236}">
                <a16:creationId xmlns:a16="http://schemas.microsoft.com/office/drawing/2014/main" id="{F42C2524-FB5F-C64F-1B59-5D027800BF4A}"/>
              </a:ext>
            </a:extLst>
          </p:cNvPr>
          <p:cNvGrpSpPr/>
          <p:nvPr/>
        </p:nvGrpSpPr>
        <p:grpSpPr>
          <a:xfrm>
            <a:off x="3566270" y="2286426"/>
            <a:ext cx="7609004" cy="3783618"/>
            <a:chOff x="3566270" y="2123383"/>
            <a:chExt cx="7609004" cy="3783618"/>
          </a:xfrm>
        </p:grpSpPr>
        <p:grpSp>
          <p:nvGrpSpPr>
            <p:cNvPr id="31" name="Group 30">
              <a:extLst>
                <a:ext uri="{FF2B5EF4-FFF2-40B4-BE49-F238E27FC236}">
                  <a16:creationId xmlns:a16="http://schemas.microsoft.com/office/drawing/2014/main" id="{23136C52-1808-D2C4-E6AC-D078050896EC}"/>
                </a:ext>
              </a:extLst>
            </p:cNvPr>
            <p:cNvGrpSpPr/>
            <p:nvPr/>
          </p:nvGrpSpPr>
          <p:grpSpPr>
            <a:xfrm>
              <a:off x="3566270" y="2123383"/>
              <a:ext cx="7609004" cy="2539674"/>
              <a:chOff x="3572802" y="2121489"/>
              <a:chExt cx="7228113" cy="2539674"/>
            </a:xfrm>
          </p:grpSpPr>
          <p:sp>
            <p:nvSpPr>
              <p:cNvPr id="9" name="Rectangle 8">
                <a:extLst>
                  <a:ext uri="{FF2B5EF4-FFF2-40B4-BE49-F238E27FC236}">
                    <a16:creationId xmlns:a16="http://schemas.microsoft.com/office/drawing/2014/main" id="{4A23A5C1-A218-0A50-3BBF-6FD23436610B}"/>
                  </a:ext>
                </a:extLst>
              </p:cNvPr>
              <p:cNvSpPr/>
              <p:nvPr/>
            </p:nvSpPr>
            <p:spPr>
              <a:xfrm rot="16200000">
                <a:off x="2976507" y="2717785"/>
                <a:ext cx="2539673" cy="134708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C8773F03-2378-0172-CE44-417A346702D7}"/>
                  </a:ext>
                </a:extLst>
              </p:cNvPr>
              <p:cNvSpPr/>
              <p:nvPr/>
            </p:nvSpPr>
            <p:spPr>
              <a:xfrm rot="16200000">
                <a:off x="4440846" y="2717785"/>
                <a:ext cx="2539673" cy="134708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8A9EE8E3-459E-DF04-813E-B9FCC2DC778B}"/>
                  </a:ext>
                </a:extLst>
              </p:cNvPr>
              <p:cNvSpPr/>
              <p:nvPr/>
            </p:nvSpPr>
            <p:spPr>
              <a:xfrm rot="16200000">
                <a:off x="5912922" y="2717785"/>
                <a:ext cx="2539673" cy="134708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EB81F02B-C2A4-0DFC-B8B2-C8437981A395}"/>
                  </a:ext>
                </a:extLst>
              </p:cNvPr>
              <p:cNvSpPr/>
              <p:nvPr/>
            </p:nvSpPr>
            <p:spPr>
              <a:xfrm rot="16200000">
                <a:off x="7385461" y="2717786"/>
                <a:ext cx="2539673" cy="134708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6" name="Rectangle 15">
                <a:extLst>
                  <a:ext uri="{FF2B5EF4-FFF2-40B4-BE49-F238E27FC236}">
                    <a16:creationId xmlns:a16="http://schemas.microsoft.com/office/drawing/2014/main" id="{B823EC50-B531-64B8-DB01-D6ED7BA625D2}"/>
                  </a:ext>
                </a:extLst>
              </p:cNvPr>
              <p:cNvSpPr/>
              <p:nvPr/>
            </p:nvSpPr>
            <p:spPr>
              <a:xfrm rot="16200000">
                <a:off x="8857537" y="2717786"/>
                <a:ext cx="2539673" cy="134708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0" name="Rounded Rectangle 9">
                <a:extLst>
                  <a:ext uri="{FF2B5EF4-FFF2-40B4-BE49-F238E27FC236}">
                    <a16:creationId xmlns:a16="http://schemas.microsoft.com/office/drawing/2014/main" id="{E85BD651-C9EE-F420-E416-DDF57F886EC7}"/>
                  </a:ext>
                </a:extLst>
              </p:cNvPr>
              <p:cNvSpPr/>
              <p:nvPr/>
            </p:nvSpPr>
            <p:spPr>
              <a:xfrm>
                <a:off x="3572802" y="2121490"/>
                <a:ext cx="7228113" cy="2539673"/>
              </a:xfrm>
              <a:prstGeom prst="roundRect">
                <a:avLst>
                  <a:gd name="adj" fmla="val 0"/>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53440" rtlCol="0" anchor="ctr"/>
              <a:lstStyle/>
              <a:p>
                <a:pPr>
                  <a:spcAft>
                    <a:spcPts val="800"/>
                  </a:spcAft>
                </a:pPr>
                <a:endParaRPr lang="en-US" sz="1000" b="1">
                  <a:solidFill>
                    <a:schemeClr val="tx2"/>
                  </a:solidFill>
                  <a:latin typeface="Arial" panose="020B0604020202020204" pitchFamily="34" charset="0"/>
                  <a:cs typeface="Arial" panose="020B0604020202020204" pitchFamily="34" charset="0"/>
                </a:endParaRPr>
              </a:p>
            </p:txBody>
          </p:sp>
        </p:grpSp>
        <p:sp>
          <p:nvSpPr>
            <p:cNvPr id="21" name="Rectangle 20">
              <a:extLst>
                <a:ext uri="{FF2B5EF4-FFF2-40B4-BE49-F238E27FC236}">
                  <a16:creationId xmlns:a16="http://schemas.microsoft.com/office/drawing/2014/main" id="{B6408813-8F91-1831-52D0-4408D20BC097}"/>
                </a:ext>
              </a:extLst>
            </p:cNvPr>
            <p:cNvSpPr/>
            <p:nvPr/>
          </p:nvSpPr>
          <p:spPr>
            <a:xfrm>
              <a:off x="3645435" y="2232483"/>
              <a:ext cx="1256025"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1. Market</a:t>
              </a:r>
              <a:b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Analysis</a:t>
              </a:r>
            </a:p>
          </p:txBody>
        </p:sp>
        <p:sp>
          <p:nvSpPr>
            <p:cNvPr id="32" name="Rectangle 31">
              <a:extLst>
                <a:ext uri="{FF2B5EF4-FFF2-40B4-BE49-F238E27FC236}">
                  <a16:creationId xmlns:a16="http://schemas.microsoft.com/office/drawing/2014/main" id="{02BA4CE4-93A1-2FFE-B968-9320152D2D38}"/>
                </a:ext>
              </a:extLst>
            </p:cNvPr>
            <p:cNvSpPr/>
            <p:nvPr/>
          </p:nvSpPr>
          <p:spPr>
            <a:xfrm>
              <a:off x="5186852" y="2232483"/>
              <a:ext cx="1256025"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2. Account Refinement</a:t>
              </a:r>
            </a:p>
          </p:txBody>
        </p:sp>
        <p:sp>
          <p:nvSpPr>
            <p:cNvPr id="33" name="Rectangle 32">
              <a:extLst>
                <a:ext uri="{FF2B5EF4-FFF2-40B4-BE49-F238E27FC236}">
                  <a16:creationId xmlns:a16="http://schemas.microsoft.com/office/drawing/2014/main" id="{81F68EBF-1820-5BA5-9A71-09B570715F63}"/>
                </a:ext>
              </a:extLst>
            </p:cNvPr>
            <p:cNvSpPr/>
            <p:nvPr/>
          </p:nvSpPr>
          <p:spPr>
            <a:xfrm>
              <a:off x="6695612" y="2232483"/>
              <a:ext cx="1379878"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3. Wallet Size</a:t>
              </a:r>
              <a:b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(TAM / Account Value)</a:t>
              </a:r>
            </a:p>
          </p:txBody>
        </p:sp>
        <p:sp>
          <p:nvSpPr>
            <p:cNvPr id="34" name="Rectangle 33">
              <a:extLst>
                <a:ext uri="{FF2B5EF4-FFF2-40B4-BE49-F238E27FC236}">
                  <a16:creationId xmlns:a16="http://schemas.microsoft.com/office/drawing/2014/main" id="{3F9BD005-E42E-0094-CFE3-2F0DD6E89521}"/>
                </a:ext>
              </a:extLst>
            </p:cNvPr>
            <p:cNvSpPr/>
            <p:nvPr/>
          </p:nvSpPr>
          <p:spPr>
            <a:xfrm>
              <a:off x="8295812" y="2232483"/>
              <a:ext cx="1256025"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4. Account Segmentation</a:t>
              </a:r>
            </a:p>
          </p:txBody>
        </p:sp>
        <p:sp>
          <p:nvSpPr>
            <p:cNvPr id="35" name="Rectangle 34">
              <a:extLst>
                <a:ext uri="{FF2B5EF4-FFF2-40B4-BE49-F238E27FC236}">
                  <a16:creationId xmlns:a16="http://schemas.microsoft.com/office/drawing/2014/main" id="{0ECFC796-FCA4-95D6-DD6F-D6AD3ACDD0DC}"/>
                </a:ext>
              </a:extLst>
            </p:cNvPr>
            <p:cNvSpPr/>
            <p:nvPr/>
          </p:nvSpPr>
          <p:spPr>
            <a:xfrm>
              <a:off x="9843761" y="2232483"/>
              <a:ext cx="1256025"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5. GTM</a:t>
              </a:r>
              <a:b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Planning</a:t>
              </a:r>
            </a:p>
          </p:txBody>
        </p:sp>
        <p:sp>
          <p:nvSpPr>
            <p:cNvPr id="37" name="Rounded Rectangle 36">
              <a:extLst>
                <a:ext uri="{FF2B5EF4-FFF2-40B4-BE49-F238E27FC236}">
                  <a16:creationId xmlns:a16="http://schemas.microsoft.com/office/drawing/2014/main" id="{3928A406-A47D-D9E4-4ABB-8979C8174EB0}"/>
                </a:ext>
              </a:extLst>
            </p:cNvPr>
            <p:cNvSpPr/>
            <p:nvPr/>
          </p:nvSpPr>
          <p:spPr>
            <a:xfrm>
              <a:off x="3686020" y="2673274"/>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1.1, 1.2, 1.4</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GTM Performance</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Analysis</a:t>
              </a:r>
            </a:p>
          </p:txBody>
        </p:sp>
        <p:sp>
          <p:nvSpPr>
            <p:cNvPr id="38" name="Rounded Rectangle 37">
              <a:extLst>
                <a:ext uri="{FF2B5EF4-FFF2-40B4-BE49-F238E27FC236}">
                  <a16:creationId xmlns:a16="http://schemas.microsoft.com/office/drawing/2014/main" id="{49368AB1-3265-87EE-2FF8-A327D2E68B22}"/>
                </a:ext>
              </a:extLst>
            </p:cNvPr>
            <p:cNvSpPr/>
            <p:nvPr/>
          </p:nvSpPr>
          <p:spPr>
            <a:xfrm>
              <a:off x="3686020" y="3292125"/>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1.3</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Country Tier</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Analysis</a:t>
              </a:r>
            </a:p>
          </p:txBody>
        </p:sp>
        <p:sp>
          <p:nvSpPr>
            <p:cNvPr id="41" name="Rounded Rectangle 40">
              <a:extLst>
                <a:ext uri="{FF2B5EF4-FFF2-40B4-BE49-F238E27FC236}">
                  <a16:creationId xmlns:a16="http://schemas.microsoft.com/office/drawing/2014/main" id="{D03D4EEB-86FE-AE51-CC09-BFFAA5CFC163}"/>
                </a:ext>
              </a:extLst>
            </p:cNvPr>
            <p:cNvSpPr/>
            <p:nvPr/>
          </p:nvSpPr>
          <p:spPr>
            <a:xfrm>
              <a:off x="5227437" y="2673274"/>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2.1</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Define</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ICP</a:t>
              </a:r>
            </a:p>
          </p:txBody>
        </p:sp>
        <p:sp>
          <p:nvSpPr>
            <p:cNvPr id="42" name="Rounded Rectangle 41">
              <a:extLst>
                <a:ext uri="{FF2B5EF4-FFF2-40B4-BE49-F238E27FC236}">
                  <a16:creationId xmlns:a16="http://schemas.microsoft.com/office/drawing/2014/main" id="{4D042DC2-0509-2E93-ACD3-4F64A99AAF51}"/>
                </a:ext>
              </a:extLst>
            </p:cNvPr>
            <p:cNvSpPr/>
            <p:nvPr/>
          </p:nvSpPr>
          <p:spPr>
            <a:xfrm>
              <a:off x="5227437" y="3292125"/>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2.2</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Manage Account</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Hierarchy</a:t>
              </a:r>
            </a:p>
          </p:txBody>
        </p:sp>
        <p:sp>
          <p:nvSpPr>
            <p:cNvPr id="44" name="Rounded Rectangle 43">
              <a:extLst>
                <a:ext uri="{FF2B5EF4-FFF2-40B4-BE49-F238E27FC236}">
                  <a16:creationId xmlns:a16="http://schemas.microsoft.com/office/drawing/2014/main" id="{B24B9BCC-DEAF-1715-EB72-0D3C997005F3}"/>
                </a:ext>
              </a:extLst>
            </p:cNvPr>
            <p:cNvSpPr/>
            <p:nvPr/>
          </p:nvSpPr>
          <p:spPr>
            <a:xfrm>
              <a:off x="6781915" y="2673274"/>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3.1</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Wallet Size</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Calculation</a:t>
              </a:r>
            </a:p>
          </p:txBody>
        </p:sp>
        <p:sp>
          <p:nvSpPr>
            <p:cNvPr id="45" name="Rounded Rectangle 44">
              <a:extLst>
                <a:ext uri="{FF2B5EF4-FFF2-40B4-BE49-F238E27FC236}">
                  <a16:creationId xmlns:a16="http://schemas.microsoft.com/office/drawing/2014/main" id="{4A63579E-C4C0-DFD1-1278-25890CFE5EFF}"/>
                </a:ext>
              </a:extLst>
            </p:cNvPr>
            <p:cNvSpPr/>
            <p:nvPr/>
          </p:nvSpPr>
          <p:spPr>
            <a:xfrm>
              <a:off x="6781915" y="3292125"/>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3.2</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Product Analysis</a:t>
              </a:r>
            </a:p>
          </p:txBody>
        </p:sp>
        <p:sp>
          <p:nvSpPr>
            <p:cNvPr id="46" name="Rounded Rectangle 45">
              <a:extLst>
                <a:ext uri="{FF2B5EF4-FFF2-40B4-BE49-F238E27FC236}">
                  <a16:creationId xmlns:a16="http://schemas.microsoft.com/office/drawing/2014/main" id="{9D8BACF3-1F0A-04D8-015C-F7991E8D0694}"/>
                </a:ext>
              </a:extLst>
            </p:cNvPr>
            <p:cNvSpPr/>
            <p:nvPr/>
          </p:nvSpPr>
          <p:spPr>
            <a:xfrm>
              <a:off x="6781915" y="3912048"/>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3.3</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Scenario Analysis</a:t>
              </a:r>
            </a:p>
          </p:txBody>
        </p:sp>
        <p:sp>
          <p:nvSpPr>
            <p:cNvPr id="47" name="Rounded Rectangle 46">
              <a:extLst>
                <a:ext uri="{FF2B5EF4-FFF2-40B4-BE49-F238E27FC236}">
                  <a16:creationId xmlns:a16="http://schemas.microsoft.com/office/drawing/2014/main" id="{EFDAD84E-6F97-6EA1-12A4-34ACBA34E684}"/>
                </a:ext>
              </a:extLst>
            </p:cNvPr>
            <p:cNvSpPr/>
            <p:nvPr/>
          </p:nvSpPr>
          <p:spPr>
            <a:xfrm>
              <a:off x="8323332" y="2673274"/>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4.1</a:t>
              </a:r>
            </a:p>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Customer</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Profile</a:t>
              </a:r>
            </a:p>
          </p:txBody>
        </p:sp>
        <p:sp>
          <p:nvSpPr>
            <p:cNvPr id="48" name="Rounded Rectangle 47">
              <a:extLst>
                <a:ext uri="{FF2B5EF4-FFF2-40B4-BE49-F238E27FC236}">
                  <a16:creationId xmlns:a16="http://schemas.microsoft.com/office/drawing/2014/main" id="{CE5776D2-E5A3-57C3-CE87-3B695ABEA56E}"/>
                </a:ext>
              </a:extLst>
            </p:cNvPr>
            <p:cNvSpPr/>
            <p:nvPr/>
          </p:nvSpPr>
          <p:spPr>
            <a:xfrm>
              <a:off x="8323332" y="3292125"/>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4.2</a:t>
              </a:r>
            </a:p>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Rule-based </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49" name="Rounded Rectangle 48">
              <a:extLst>
                <a:ext uri="{FF2B5EF4-FFF2-40B4-BE49-F238E27FC236}">
                  <a16:creationId xmlns:a16="http://schemas.microsoft.com/office/drawing/2014/main" id="{3AD18DA2-C18F-E289-6B11-CF6BDE4C375F}"/>
                </a:ext>
              </a:extLst>
            </p:cNvPr>
            <p:cNvSpPr/>
            <p:nvPr/>
          </p:nvSpPr>
          <p:spPr>
            <a:xfrm>
              <a:off x="8323332" y="3912048"/>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4.3</a:t>
              </a:r>
            </a:p>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Score-based </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50" name="Rounded Rectangle 49">
              <a:extLst>
                <a:ext uri="{FF2B5EF4-FFF2-40B4-BE49-F238E27FC236}">
                  <a16:creationId xmlns:a16="http://schemas.microsoft.com/office/drawing/2014/main" id="{521A8B2F-AFAF-EE01-E075-05ECA43512B9}"/>
                </a:ext>
              </a:extLst>
            </p:cNvPr>
            <p:cNvSpPr/>
            <p:nvPr/>
          </p:nvSpPr>
          <p:spPr>
            <a:xfrm>
              <a:off x="9877812" y="2673274"/>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5.1</a:t>
              </a:r>
              <a:b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700" dirty="0">
                  <a:solidFill>
                    <a:srgbClr val="0C314B"/>
                  </a:solidFill>
                  <a:latin typeface="Arial" panose="020B0604020202020204" pitchFamily="34" charset="0"/>
                  <a:ea typeface="Inter Medium" panose="02000503000000020004" pitchFamily="2" charset="0"/>
                  <a:cs typeface="Arial" panose="020B0604020202020204" pitchFamily="34" charset="0"/>
                </a:rPr>
                <a:t>GTM Modeling</a:t>
              </a:r>
            </a:p>
          </p:txBody>
        </p:sp>
        <p:sp>
          <p:nvSpPr>
            <p:cNvPr id="54" name="Rounded Rectangle 53">
              <a:extLst>
                <a:ext uri="{FF2B5EF4-FFF2-40B4-BE49-F238E27FC236}">
                  <a16:creationId xmlns:a16="http://schemas.microsoft.com/office/drawing/2014/main" id="{0344F560-95CF-9450-7E08-65FBBA80C4E9}"/>
                </a:ext>
              </a:extLst>
            </p:cNvPr>
            <p:cNvSpPr/>
            <p:nvPr/>
          </p:nvSpPr>
          <p:spPr>
            <a:xfrm>
              <a:off x="5227437" y="5408307"/>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t>T&amp;Q</a:t>
              </a:r>
              <a:b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t>Model</a:t>
              </a:r>
            </a:p>
          </p:txBody>
        </p:sp>
        <p:sp>
          <p:nvSpPr>
            <p:cNvPr id="56" name="Rounded Rectangle 55">
              <a:extLst>
                <a:ext uri="{FF2B5EF4-FFF2-40B4-BE49-F238E27FC236}">
                  <a16:creationId xmlns:a16="http://schemas.microsoft.com/office/drawing/2014/main" id="{0D8D88B4-2758-75F9-F5E2-122D669DFF7E}"/>
                </a:ext>
              </a:extLst>
            </p:cNvPr>
            <p:cNvSpPr/>
            <p:nvPr/>
          </p:nvSpPr>
          <p:spPr>
            <a:xfrm>
              <a:off x="8323332" y="5408307"/>
              <a:ext cx="1174853" cy="498694"/>
            </a:xfrm>
            <a:prstGeom prst="roundRect">
              <a:avLst>
                <a:gd name="adj" fmla="val 16836"/>
              </a:avLst>
            </a:prstGeom>
            <a:solidFill>
              <a:schemeClr val="bg1"/>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t>Capacity</a:t>
              </a:r>
              <a:b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b="1" dirty="0">
                  <a:solidFill>
                    <a:srgbClr val="0C314B"/>
                  </a:solidFill>
                  <a:latin typeface="Arial" panose="020B0604020202020204" pitchFamily="34" charset="0"/>
                  <a:ea typeface="Inter Medium" panose="02000503000000020004" pitchFamily="2" charset="0"/>
                  <a:cs typeface="Arial" panose="020B0604020202020204" pitchFamily="34" charset="0"/>
                </a:rPr>
                <a:t>Planning</a:t>
              </a:r>
            </a:p>
          </p:txBody>
        </p:sp>
        <p:sp>
          <p:nvSpPr>
            <p:cNvPr id="57" name="Rectangle 56">
              <a:extLst>
                <a:ext uri="{FF2B5EF4-FFF2-40B4-BE49-F238E27FC236}">
                  <a16:creationId xmlns:a16="http://schemas.microsoft.com/office/drawing/2014/main" id="{C113830E-B747-AB4D-092F-381049016458}"/>
                </a:ext>
              </a:extLst>
            </p:cNvPr>
            <p:cNvSpPr/>
            <p:nvPr/>
          </p:nvSpPr>
          <p:spPr>
            <a:xfrm>
              <a:off x="3853543" y="5517151"/>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ct val="0"/>
                </a:spcBef>
                <a:spcAft>
                  <a:spcPts val="800"/>
                </a:spcAft>
              </a:pP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*Wallet Size</a:t>
              </a:r>
              <a:b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*Account Segmentation</a:t>
              </a:r>
            </a:p>
          </p:txBody>
        </p:sp>
        <p:sp>
          <p:nvSpPr>
            <p:cNvPr id="63" name="Rectangle 62">
              <a:extLst>
                <a:ext uri="{FF2B5EF4-FFF2-40B4-BE49-F238E27FC236}">
                  <a16:creationId xmlns:a16="http://schemas.microsoft.com/office/drawing/2014/main" id="{1157E352-4E48-2D84-36AC-E2CC82199A64}"/>
                </a:ext>
              </a:extLst>
            </p:cNvPr>
            <p:cNvSpPr/>
            <p:nvPr/>
          </p:nvSpPr>
          <p:spPr>
            <a:xfrm>
              <a:off x="9069895" y="4899254"/>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ct val="0"/>
                </a:spcBef>
                <a:spcAft>
                  <a:spcPts val="800"/>
                </a:spcAft>
              </a:pP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*Account Segmentation</a:t>
              </a:r>
              <a:b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*New Sales Hierarchy</a:t>
              </a:r>
            </a:p>
          </p:txBody>
        </p:sp>
      </p:grpSp>
      <p:grpSp>
        <p:nvGrpSpPr>
          <p:cNvPr id="153" name="Group 152">
            <a:extLst>
              <a:ext uri="{FF2B5EF4-FFF2-40B4-BE49-F238E27FC236}">
                <a16:creationId xmlns:a16="http://schemas.microsoft.com/office/drawing/2014/main" id="{FBA66D12-0235-6324-3F4B-239934AF78A5}"/>
              </a:ext>
            </a:extLst>
          </p:cNvPr>
          <p:cNvGrpSpPr/>
          <p:nvPr/>
        </p:nvGrpSpPr>
        <p:grpSpPr>
          <a:xfrm>
            <a:off x="4860873" y="1796233"/>
            <a:ext cx="4062951" cy="1900813"/>
            <a:chOff x="4860873" y="1940167"/>
            <a:chExt cx="4062951" cy="1900813"/>
          </a:xfrm>
        </p:grpSpPr>
        <p:cxnSp>
          <p:nvCxnSpPr>
            <p:cNvPr id="143" name="Straight Connector 142">
              <a:extLst>
                <a:ext uri="{FF2B5EF4-FFF2-40B4-BE49-F238E27FC236}">
                  <a16:creationId xmlns:a16="http://schemas.microsoft.com/office/drawing/2014/main" id="{08D3E702-0CDF-9F32-1659-9004E11178A5}"/>
                </a:ext>
              </a:extLst>
            </p:cNvPr>
            <p:cNvCxnSpPr>
              <a:cxnSpLocks/>
            </p:cNvCxnSpPr>
            <p:nvPr/>
          </p:nvCxnSpPr>
          <p:spPr>
            <a:xfrm flipH="1">
              <a:off x="5061857" y="1940167"/>
              <a:ext cx="3861967"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F9186C7C-334A-E202-0F11-6F2EDD48C960}"/>
                </a:ext>
              </a:extLst>
            </p:cNvPr>
            <p:cNvCxnSpPr>
              <a:cxnSpLocks/>
            </p:cNvCxnSpPr>
            <p:nvPr/>
          </p:nvCxnSpPr>
          <p:spPr>
            <a:xfrm flipV="1">
              <a:off x="8923824" y="1940167"/>
              <a:ext cx="0" cy="39373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82B6CF23-60B6-F167-2BCD-9BC3BDED1524}"/>
                </a:ext>
              </a:extLst>
            </p:cNvPr>
            <p:cNvCxnSpPr>
              <a:cxnSpLocks/>
            </p:cNvCxnSpPr>
            <p:nvPr/>
          </p:nvCxnSpPr>
          <p:spPr>
            <a:xfrm>
              <a:off x="7363097" y="1945986"/>
              <a:ext cx="0" cy="484374"/>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51942EB2-566E-3DBE-69BB-661C08130525}"/>
                </a:ext>
              </a:extLst>
            </p:cNvPr>
            <p:cNvCxnSpPr>
              <a:cxnSpLocks/>
            </p:cNvCxnSpPr>
            <p:nvPr/>
          </p:nvCxnSpPr>
          <p:spPr>
            <a:xfrm>
              <a:off x="5845796" y="1945986"/>
              <a:ext cx="0" cy="484374"/>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AEE2BE2D-B754-8DDF-6C72-26646526EBFF}"/>
                </a:ext>
              </a:extLst>
            </p:cNvPr>
            <p:cNvCxnSpPr>
              <a:cxnSpLocks/>
            </p:cNvCxnSpPr>
            <p:nvPr/>
          </p:nvCxnSpPr>
          <p:spPr>
            <a:xfrm>
              <a:off x="5057000" y="1945986"/>
              <a:ext cx="0" cy="188746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E3E07E02-D6B3-5416-9F9B-9A18B66460D2}"/>
                </a:ext>
              </a:extLst>
            </p:cNvPr>
            <p:cNvCxnSpPr>
              <a:cxnSpLocks/>
            </p:cNvCxnSpPr>
            <p:nvPr/>
          </p:nvCxnSpPr>
          <p:spPr>
            <a:xfrm flipH="1">
              <a:off x="4860873" y="3840980"/>
              <a:ext cx="196127"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163" name="Group 162">
            <a:extLst>
              <a:ext uri="{FF2B5EF4-FFF2-40B4-BE49-F238E27FC236}">
                <a16:creationId xmlns:a16="http://schemas.microsoft.com/office/drawing/2014/main" id="{A8F5D4E0-46E9-EB8D-D5A7-086FB171908D}"/>
              </a:ext>
            </a:extLst>
          </p:cNvPr>
          <p:cNvGrpSpPr/>
          <p:nvPr/>
        </p:nvGrpSpPr>
        <p:grpSpPr>
          <a:xfrm>
            <a:off x="959650" y="1682506"/>
            <a:ext cx="7964174" cy="1488452"/>
            <a:chOff x="959650" y="1826440"/>
            <a:chExt cx="7964174" cy="1488452"/>
          </a:xfrm>
        </p:grpSpPr>
        <p:cxnSp>
          <p:nvCxnSpPr>
            <p:cNvPr id="154" name="Straight Arrow Connector 153">
              <a:extLst>
                <a:ext uri="{FF2B5EF4-FFF2-40B4-BE49-F238E27FC236}">
                  <a16:creationId xmlns:a16="http://schemas.microsoft.com/office/drawing/2014/main" id="{33D85483-CA4B-5A2D-1E6E-9E88221544B2}"/>
                </a:ext>
              </a:extLst>
            </p:cNvPr>
            <p:cNvCxnSpPr>
              <a:cxnSpLocks/>
            </p:cNvCxnSpPr>
            <p:nvPr/>
          </p:nvCxnSpPr>
          <p:spPr>
            <a:xfrm flipV="1">
              <a:off x="959650" y="1826440"/>
              <a:ext cx="0" cy="1488452"/>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5AC2235D-C507-02D8-0B21-A76CD3ABA9FE}"/>
                </a:ext>
              </a:extLst>
            </p:cNvPr>
            <p:cNvCxnSpPr>
              <a:cxnSpLocks/>
            </p:cNvCxnSpPr>
            <p:nvPr/>
          </p:nvCxnSpPr>
          <p:spPr>
            <a:xfrm flipH="1">
              <a:off x="959650" y="1826440"/>
              <a:ext cx="7964174"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25A84FC4-6405-4AEB-4EFD-DAE10A8C53E4}"/>
                </a:ext>
              </a:extLst>
            </p:cNvPr>
            <p:cNvCxnSpPr>
              <a:cxnSpLocks/>
            </p:cNvCxnSpPr>
            <p:nvPr/>
          </p:nvCxnSpPr>
          <p:spPr>
            <a:xfrm>
              <a:off x="8923824" y="1826440"/>
              <a:ext cx="0" cy="113727"/>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164" name="Rectangle 163">
            <a:extLst>
              <a:ext uri="{FF2B5EF4-FFF2-40B4-BE49-F238E27FC236}">
                <a16:creationId xmlns:a16="http://schemas.microsoft.com/office/drawing/2014/main" id="{7A9E1666-A2B5-ABC8-54BA-5A3391EA139F}"/>
              </a:ext>
            </a:extLst>
          </p:cNvPr>
          <p:cNvSpPr/>
          <p:nvPr/>
        </p:nvSpPr>
        <p:spPr>
          <a:xfrm>
            <a:off x="4087152" y="1233516"/>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*Account Segmentation</a:t>
            </a:r>
          </a:p>
        </p:txBody>
      </p:sp>
      <p:grpSp>
        <p:nvGrpSpPr>
          <p:cNvPr id="173" name="Group 172">
            <a:extLst>
              <a:ext uri="{FF2B5EF4-FFF2-40B4-BE49-F238E27FC236}">
                <a16:creationId xmlns:a16="http://schemas.microsoft.com/office/drawing/2014/main" id="{031376AF-F19E-6424-384B-89B8B0C5758D}"/>
              </a:ext>
            </a:extLst>
          </p:cNvPr>
          <p:cNvGrpSpPr/>
          <p:nvPr/>
        </p:nvGrpSpPr>
        <p:grpSpPr>
          <a:xfrm>
            <a:off x="5740850" y="4826100"/>
            <a:ext cx="3111133" cy="666589"/>
            <a:chOff x="5814863" y="4826100"/>
            <a:chExt cx="3111133" cy="666589"/>
          </a:xfrm>
        </p:grpSpPr>
        <p:cxnSp>
          <p:nvCxnSpPr>
            <p:cNvPr id="169" name="Straight Connector 168">
              <a:extLst>
                <a:ext uri="{FF2B5EF4-FFF2-40B4-BE49-F238E27FC236}">
                  <a16:creationId xmlns:a16="http://schemas.microsoft.com/office/drawing/2014/main" id="{5A9371A2-D8F0-03E2-A3BE-FFFC881A2BAE}"/>
                </a:ext>
              </a:extLst>
            </p:cNvPr>
            <p:cNvCxnSpPr>
              <a:cxnSpLocks/>
            </p:cNvCxnSpPr>
            <p:nvPr/>
          </p:nvCxnSpPr>
          <p:spPr>
            <a:xfrm>
              <a:off x="7445828" y="4826100"/>
              <a:ext cx="0" cy="26164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5AD00D7B-AA86-0D8E-B1A7-5353D65292DD}"/>
                </a:ext>
              </a:extLst>
            </p:cNvPr>
            <p:cNvCxnSpPr>
              <a:cxnSpLocks/>
            </p:cNvCxnSpPr>
            <p:nvPr/>
          </p:nvCxnSpPr>
          <p:spPr>
            <a:xfrm flipH="1">
              <a:off x="5814863" y="5096450"/>
              <a:ext cx="3108961"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1" name="Straight Arrow Connector 170">
              <a:extLst>
                <a:ext uri="{FF2B5EF4-FFF2-40B4-BE49-F238E27FC236}">
                  <a16:creationId xmlns:a16="http://schemas.microsoft.com/office/drawing/2014/main" id="{A17F3D34-A0A1-7653-EE2F-8AB0DB3DAAF5}"/>
                </a:ext>
              </a:extLst>
            </p:cNvPr>
            <p:cNvCxnSpPr>
              <a:cxnSpLocks/>
            </p:cNvCxnSpPr>
            <p:nvPr/>
          </p:nvCxnSpPr>
          <p:spPr>
            <a:xfrm flipV="1">
              <a:off x="5817036" y="5098956"/>
              <a:ext cx="0" cy="39373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72" name="Straight Arrow Connector 171">
              <a:extLst>
                <a:ext uri="{FF2B5EF4-FFF2-40B4-BE49-F238E27FC236}">
                  <a16:creationId xmlns:a16="http://schemas.microsoft.com/office/drawing/2014/main" id="{888503F1-AF6B-0BDF-0A89-A24528C2BBBD}"/>
                </a:ext>
              </a:extLst>
            </p:cNvPr>
            <p:cNvCxnSpPr>
              <a:cxnSpLocks/>
            </p:cNvCxnSpPr>
            <p:nvPr/>
          </p:nvCxnSpPr>
          <p:spPr>
            <a:xfrm flipV="1">
              <a:off x="8925996" y="5098956"/>
              <a:ext cx="0" cy="39373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grpSp>
        <p:nvGrpSpPr>
          <p:cNvPr id="176" name="Group 175">
            <a:extLst>
              <a:ext uri="{FF2B5EF4-FFF2-40B4-BE49-F238E27FC236}">
                <a16:creationId xmlns:a16="http://schemas.microsoft.com/office/drawing/2014/main" id="{F00B58A8-A2E0-A398-2A41-646E9D0FA244}"/>
              </a:ext>
            </a:extLst>
          </p:cNvPr>
          <p:cNvGrpSpPr/>
          <p:nvPr/>
        </p:nvGrpSpPr>
        <p:grpSpPr>
          <a:xfrm>
            <a:off x="9551837" y="4826100"/>
            <a:ext cx="937636" cy="1001128"/>
            <a:chOff x="9551837" y="4826100"/>
            <a:chExt cx="937636" cy="1001128"/>
          </a:xfrm>
        </p:grpSpPr>
        <p:cxnSp>
          <p:nvCxnSpPr>
            <p:cNvPr id="174" name="Straight Connector 173">
              <a:extLst>
                <a:ext uri="{FF2B5EF4-FFF2-40B4-BE49-F238E27FC236}">
                  <a16:creationId xmlns:a16="http://schemas.microsoft.com/office/drawing/2014/main" id="{D8459A8C-566F-518F-B55A-C816E2996AA3}"/>
                </a:ext>
              </a:extLst>
            </p:cNvPr>
            <p:cNvCxnSpPr>
              <a:cxnSpLocks/>
            </p:cNvCxnSpPr>
            <p:nvPr/>
          </p:nvCxnSpPr>
          <p:spPr>
            <a:xfrm>
              <a:off x="10489473" y="4826100"/>
              <a:ext cx="0" cy="994597"/>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5" name="Straight Arrow Connector 174">
              <a:extLst>
                <a:ext uri="{FF2B5EF4-FFF2-40B4-BE49-F238E27FC236}">
                  <a16:creationId xmlns:a16="http://schemas.microsoft.com/office/drawing/2014/main" id="{1DBF7C5B-5BD5-34C0-1B6E-61804D38CBC3}"/>
                </a:ext>
              </a:extLst>
            </p:cNvPr>
            <p:cNvCxnSpPr>
              <a:cxnSpLocks/>
            </p:cNvCxnSpPr>
            <p:nvPr/>
          </p:nvCxnSpPr>
          <p:spPr>
            <a:xfrm>
              <a:off x="9551837" y="5827228"/>
              <a:ext cx="937636"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21409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6600-6B2D-999D-61E8-F23098993344}"/>
            </a:ext>
          </a:extLst>
        </p:cNvPr>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BBDB8485-1141-8E7C-3B1E-F065ACAB46FD}"/>
              </a:ext>
            </a:extLst>
          </p:cNvPr>
          <p:cNvGraphicFramePr>
            <a:graphicFrameLocks noGrp="1"/>
          </p:cNvGraphicFramePr>
          <p:nvPr>
            <p:extLst>
              <p:ext uri="{D42A27DB-BD31-4B8C-83A1-F6EECF244321}">
                <p14:modId xmlns:p14="http://schemas.microsoft.com/office/powerpoint/2010/main" val="1035099572"/>
              </p:ext>
            </p:extLst>
          </p:nvPr>
        </p:nvGraphicFramePr>
        <p:xfrm>
          <a:off x="631930" y="1480765"/>
          <a:ext cx="10838837" cy="4527396"/>
        </p:xfrm>
        <a:graphic>
          <a:graphicData uri="http://schemas.openxmlformats.org/drawingml/2006/table">
            <a:tbl>
              <a:tblPr firstRow="1" bandRow="1">
                <a:tableStyleId>{EB9631B5-78F2-41C9-869B-9F39066F8104}</a:tableStyleId>
              </a:tblPr>
              <a:tblGrid>
                <a:gridCol w="865585">
                  <a:extLst>
                    <a:ext uri="{9D8B030D-6E8A-4147-A177-3AD203B41FA5}">
                      <a16:colId xmlns:a16="http://schemas.microsoft.com/office/drawing/2014/main" val="841697569"/>
                    </a:ext>
                  </a:extLst>
                </a:gridCol>
                <a:gridCol w="1715585">
                  <a:extLst>
                    <a:ext uri="{9D8B030D-6E8A-4147-A177-3AD203B41FA5}">
                      <a16:colId xmlns:a16="http://schemas.microsoft.com/office/drawing/2014/main" val="83425204"/>
                    </a:ext>
                  </a:extLst>
                </a:gridCol>
                <a:gridCol w="4086171">
                  <a:extLst>
                    <a:ext uri="{9D8B030D-6E8A-4147-A177-3AD203B41FA5}">
                      <a16:colId xmlns:a16="http://schemas.microsoft.com/office/drawing/2014/main" val="243471327"/>
                    </a:ext>
                  </a:extLst>
                </a:gridCol>
                <a:gridCol w="4171496">
                  <a:extLst>
                    <a:ext uri="{9D8B030D-6E8A-4147-A177-3AD203B41FA5}">
                      <a16:colId xmlns:a16="http://schemas.microsoft.com/office/drawing/2014/main" val="2834086973"/>
                    </a:ext>
                  </a:extLst>
                </a:gridCol>
              </a:tblGrid>
              <a:tr h="415768">
                <a:tc>
                  <a:txBody>
                    <a:bodyPr/>
                    <a:lstStyle/>
                    <a:p>
                      <a:r>
                        <a:rPr lang="en-US" sz="1100" dirty="0"/>
                        <a:t>Step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dirty="0"/>
                        <a:t>Process name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dirty="0"/>
                        <a:t>Process description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dirty="0"/>
                        <a:t>Configurability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extLst>
                  <a:ext uri="{0D108BD9-81ED-4DB2-BD59-A6C34878D82A}">
                    <a16:rowId xmlns:a16="http://schemas.microsoft.com/office/drawing/2014/main" val="3514735591"/>
                  </a:ext>
                </a:extLst>
              </a:tr>
              <a:tr h="933260">
                <a:tc>
                  <a:txBody>
                    <a:bodyPr/>
                    <a:lstStyle/>
                    <a:p>
                      <a:pPr algn="ctr"/>
                      <a:r>
                        <a:rPr lang="en-US" sz="9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r>
                        <a:rPr lang="en-US" sz="900" b="1" dirty="0"/>
                        <a:t>Market maturity analysis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Define and manage country tiering.</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Classify markets by maturity and growth potential.</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Analyze buying behavior by region.</a:t>
                      </a:r>
                    </a:p>
                    <a:p>
                      <a:pPr marL="171450" lvl="0" indent="-171450" algn="l" defTabSz="1219170" rtl="0" eaLnBrk="1" latinLnBrk="0" hangingPunct="1">
                        <a:lnSpc>
                          <a:spcPct val="150000"/>
                        </a:lnSpc>
                        <a:buClrTx/>
                        <a:buFont typeface="Arial" panose="020B0604020202020204" pitchFamily="34" charset="0"/>
                        <a:buChar char="•"/>
                      </a:pPr>
                      <a:r>
                        <a:rPr lang="en-US" sz="900" dirty="0"/>
                        <a:t>Identify and flag restricted or embargoed markets to determine impact.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dimensionality and metrics to report on historical sales data.</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data source to calculate KPIs.</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extLst>
                  <a:ext uri="{0D108BD9-81ED-4DB2-BD59-A6C34878D82A}">
                    <a16:rowId xmlns:a16="http://schemas.microsoft.com/office/drawing/2014/main" val="1341170248"/>
                  </a:ext>
                </a:extLst>
              </a:tr>
              <a:tr h="957991">
                <a:tc>
                  <a:txBody>
                    <a:bodyPr/>
                    <a:lstStyle/>
                    <a:p>
                      <a:pPr algn="ctr"/>
                      <a:r>
                        <a:rPr lang="en-US" sz="9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sz="900" b="1" dirty="0"/>
                        <a:t>GTM performance review</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Perform in-depth GTM analytics with configurable dimensions.</a:t>
                      </a:r>
                    </a:p>
                    <a:p>
                      <a:pPr marL="171450" marR="0" lvl="0" indent="-171450" algn="l" defTabSz="121917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900" dirty="0"/>
                        <a:t>Track KPIs aligned to CRO-level GTM goals for sales, CS, and marketing.</a:t>
                      </a:r>
                      <a:endParaRPr lang="en-US" sz="900" kern="1200" dirty="0">
                        <a:solidFill>
                          <a:schemeClr val="dk1"/>
                        </a:solidFill>
                      </a:endParaRP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Identify upsell and cross-sell opportunities.</a:t>
                      </a: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Optimize resource allocation using trend-based insights.</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from the same dimensions/metrics as above.</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dimensionality and metrics to report on historical data.</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data source to calculate KPIs.</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33960491"/>
                  </a:ext>
                </a:extLst>
              </a:tr>
              <a:tr h="1150431">
                <a:tc>
                  <a:txBody>
                    <a:bodyPr/>
                    <a:lstStyle/>
                    <a:p>
                      <a:pPr algn="ctr"/>
                      <a:r>
                        <a:rPr lang="en-US" sz="9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r>
                        <a:rPr lang="en-US" sz="900" b="1" dirty="0"/>
                        <a:t>Hierarchy refinement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Visualize and validate account hierarchies for clarity.</a:t>
                      </a: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Aggregate firmographics to support account scoring.</a:t>
                      </a: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Refine and align account structures to  improve planning accuracy.</a:t>
                      </a: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Group accounts under parent entities for better GTM alignment.</a:t>
                      </a:r>
                    </a:p>
                    <a:p>
                      <a:pPr marL="171450" lvl="0" indent="-171450" algn="l" defTabSz="1219170" rtl="0" eaLnBrk="1" latinLnBrk="0" hangingPunct="1">
                        <a:lnSpc>
                          <a:spcPct val="150000"/>
                        </a:lnSpc>
                        <a:buFont typeface="Arial" panose="020B0604020202020204" pitchFamily="34" charset="0"/>
                        <a:buChar char="•"/>
                      </a:pPr>
                      <a:r>
                        <a:rPr lang="en-US" sz="900" kern="1200" dirty="0">
                          <a:solidFill>
                            <a:schemeClr val="dk1"/>
                          </a:solidFill>
                        </a:rPr>
                        <a:t>Sync hierarchies with GTM strategies.</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additional firmographics for account dashboard.</a:t>
                      </a:r>
                    </a:p>
                    <a:p>
                      <a:pPr marL="171450" marR="0" lvl="0" indent="-171450" algn="l" defTabSz="121917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900" kern="1200" dirty="0">
                          <a:solidFill>
                            <a:schemeClr val="dk1"/>
                          </a:solidFill>
                        </a:rPr>
                        <a:t>Select account hierarchy alignment level.</a:t>
                      </a:r>
                    </a:p>
                    <a:p>
                      <a:pPr marL="171450" marR="0" lvl="0" indent="-171450" algn="l" defTabSz="121917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900" kern="1200" dirty="0">
                          <a:solidFill>
                            <a:schemeClr val="dk1"/>
                          </a:solidFill>
                        </a:rPr>
                        <a:t>Select total level for account parents.</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extLst>
                  <a:ext uri="{0D108BD9-81ED-4DB2-BD59-A6C34878D82A}">
                    <a16:rowId xmlns:a16="http://schemas.microsoft.com/office/drawing/2014/main" val="2865483205"/>
                  </a:ext>
                </a:extLst>
              </a:tr>
              <a:tr h="933260">
                <a:tc>
                  <a:txBody>
                    <a:bodyPr/>
                    <a:lstStyle/>
                    <a:p>
                      <a:pPr lvl="0" algn="ctr">
                        <a:buNone/>
                      </a:pPr>
                      <a:r>
                        <a:rPr lang="en-US" sz="900" dirty="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lvl="0">
                        <a:buNone/>
                      </a:pPr>
                      <a:r>
                        <a:rPr lang="en-US" sz="900" b="1" dirty="0"/>
                        <a:t>Identify ICP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marR="0" lvl="0" indent="-171450" algn="l" rtl="0" eaLnBrk="1" fontAlgn="auto"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rPr>
                        <a:t>Exclude accounts </a:t>
                      </a:r>
                      <a:r>
                        <a:rPr lang="en-US" sz="900" dirty="0"/>
                        <a:t>that fall outside defined ICP attributes </a:t>
                      </a:r>
                      <a:r>
                        <a:rPr lang="en-US" sz="900" kern="1200" dirty="0">
                          <a:solidFill>
                            <a:schemeClr val="dk1"/>
                          </a:solidFill>
                        </a:rPr>
                        <a:t>(for example, country tier, region, revenue, employee count).</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Assess the impact of the exclusion on total wallet size.</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Prioritize high-potential accounts for focused GTM planning.</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exclusion criteria to refine ideal customer profiles.</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rPr>
                        <a:t>Select additional firmographics for account dashboard.</a:t>
                      </a:r>
                      <a:endParaRPr lang="en-US" sz="900" kern="1200" dirty="0">
                        <a:solidFill>
                          <a:schemeClr val="dk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330033"/>
                  </a:ext>
                </a:extLst>
              </a:tr>
            </a:tbl>
          </a:graphicData>
        </a:graphic>
      </p:graphicFrame>
      <p:sp>
        <p:nvSpPr>
          <p:cNvPr id="6" name="Title 1">
            <a:extLst>
              <a:ext uri="{FF2B5EF4-FFF2-40B4-BE49-F238E27FC236}">
                <a16:creationId xmlns:a16="http://schemas.microsoft.com/office/drawing/2014/main" id="{D294B2C7-01E0-8A1B-25D0-B8C7744603DC}"/>
              </a:ext>
            </a:extLst>
          </p:cNvPr>
          <p:cNvSpPr>
            <a:spLocks noGrp="1"/>
          </p:cNvSpPr>
          <p:nvPr>
            <p:ph type="title"/>
          </p:nvPr>
        </p:nvSpPr>
        <p:spPr>
          <a:xfrm>
            <a:off x="615105" y="392856"/>
            <a:ext cx="10582982" cy="451405"/>
          </a:xfrm>
        </p:spPr>
        <p:txBody>
          <a:bodyPr lIns="0" tIns="60960" rIns="0" bIns="60960" anchor="t"/>
          <a:lstStyle/>
          <a:p>
            <a:r>
              <a:rPr lang="en-GB" sz="2000" b="1" dirty="0">
                <a:ea typeface="Verdana"/>
              </a:rPr>
              <a:t>Segmentation and Scoring: </a:t>
            </a:r>
            <a:r>
              <a:rPr lang="en-US" sz="2000" b="1" dirty="0"/>
              <a:t>Key processes and configurable elements</a:t>
            </a:r>
            <a:endParaRPr lang="en-GB" sz="2000" b="1" dirty="0">
              <a:ea typeface="Verdana" panose="020B0604030504040204" pitchFamily="34" charset="0"/>
            </a:endParaRPr>
          </a:p>
        </p:txBody>
      </p:sp>
    </p:spTree>
    <p:extLst>
      <p:ext uri="{BB962C8B-B14F-4D97-AF65-F5344CB8AC3E}">
        <p14:creationId xmlns:p14="http://schemas.microsoft.com/office/powerpoint/2010/main" val="352627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3E3E-673B-FA81-704A-93E7C6FB52F8}"/>
            </a:ext>
          </a:extLst>
        </p:cNvPr>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D332B631-FE99-FEB9-E6E8-6AA2DF4E717F}"/>
              </a:ext>
            </a:extLst>
          </p:cNvPr>
          <p:cNvGraphicFramePr>
            <a:graphicFrameLocks noGrp="1"/>
          </p:cNvGraphicFramePr>
          <p:nvPr>
            <p:extLst>
              <p:ext uri="{D42A27DB-BD31-4B8C-83A1-F6EECF244321}">
                <p14:modId xmlns:p14="http://schemas.microsoft.com/office/powerpoint/2010/main" val="3337485016"/>
              </p:ext>
            </p:extLst>
          </p:nvPr>
        </p:nvGraphicFramePr>
        <p:xfrm>
          <a:off x="599652" y="1159933"/>
          <a:ext cx="10992696" cy="5012267"/>
        </p:xfrm>
        <a:graphic>
          <a:graphicData uri="http://schemas.openxmlformats.org/drawingml/2006/table">
            <a:tbl>
              <a:tblPr firstRow="1" bandRow="1">
                <a:tableStyleId>{00A15C55-8517-42AA-B614-E9B94910E393}</a:tableStyleId>
              </a:tblPr>
              <a:tblGrid>
                <a:gridCol w="877872">
                  <a:extLst>
                    <a:ext uri="{9D8B030D-6E8A-4147-A177-3AD203B41FA5}">
                      <a16:colId xmlns:a16="http://schemas.microsoft.com/office/drawing/2014/main" val="841697569"/>
                    </a:ext>
                  </a:extLst>
                </a:gridCol>
                <a:gridCol w="1735576">
                  <a:extLst>
                    <a:ext uri="{9D8B030D-6E8A-4147-A177-3AD203B41FA5}">
                      <a16:colId xmlns:a16="http://schemas.microsoft.com/office/drawing/2014/main" val="83425204"/>
                    </a:ext>
                  </a:extLst>
                </a:gridCol>
                <a:gridCol w="4148536">
                  <a:extLst>
                    <a:ext uri="{9D8B030D-6E8A-4147-A177-3AD203B41FA5}">
                      <a16:colId xmlns:a16="http://schemas.microsoft.com/office/drawing/2014/main" val="243471327"/>
                    </a:ext>
                  </a:extLst>
                </a:gridCol>
                <a:gridCol w="4230712">
                  <a:extLst>
                    <a:ext uri="{9D8B030D-6E8A-4147-A177-3AD203B41FA5}">
                      <a16:colId xmlns:a16="http://schemas.microsoft.com/office/drawing/2014/main" val="2834086973"/>
                    </a:ext>
                  </a:extLst>
                </a:gridCol>
              </a:tblGrid>
              <a:tr h="512177">
                <a:tc>
                  <a:txBody>
                    <a:bodyPr/>
                    <a:lstStyle/>
                    <a:p>
                      <a:r>
                        <a:rPr lang="en-US" sz="1100" dirty="0">
                          <a:latin typeface="Arial" panose="020B0604020202020204" pitchFamily="34" charset="0"/>
                          <a:cs typeface="Arial" panose="020B0604020202020204" pitchFamily="34" charset="0"/>
                        </a:rPr>
                        <a:t>Step</a:t>
                      </a:r>
                    </a:p>
                  </a:txBody>
                  <a:tcPr anchor="ctr">
                    <a:solidFill>
                      <a:srgbClr val="0C314B"/>
                    </a:solidFill>
                  </a:tcPr>
                </a:tc>
                <a:tc>
                  <a:txBody>
                    <a:bodyPr/>
                    <a:lstStyle/>
                    <a:p>
                      <a:r>
                        <a:rPr lang="en-US" sz="1100" dirty="0">
                          <a:latin typeface="Arial" panose="020B0604020202020204" pitchFamily="34" charset="0"/>
                          <a:cs typeface="Arial" panose="020B0604020202020204" pitchFamily="34" charset="0"/>
                        </a:rPr>
                        <a:t>Process name</a:t>
                      </a:r>
                    </a:p>
                  </a:txBody>
                  <a:tcPr anchor="ctr">
                    <a:solidFill>
                      <a:srgbClr val="0C314B"/>
                    </a:solidFill>
                  </a:tcPr>
                </a:tc>
                <a:tc>
                  <a:txBody>
                    <a:bodyPr/>
                    <a:lstStyle/>
                    <a:p>
                      <a:r>
                        <a:rPr lang="en-US" sz="1100" dirty="0">
                          <a:latin typeface="Arial" panose="020B0604020202020204" pitchFamily="34" charset="0"/>
                          <a:cs typeface="Arial" panose="020B0604020202020204" pitchFamily="34" charset="0"/>
                        </a:rPr>
                        <a:t>Process description</a:t>
                      </a:r>
                    </a:p>
                  </a:txBody>
                  <a:tcPr anchor="ctr">
                    <a:solidFill>
                      <a:srgbClr val="0C314B"/>
                    </a:solidFill>
                  </a:tcPr>
                </a:tc>
                <a:tc>
                  <a:txBody>
                    <a:bodyPr/>
                    <a:lstStyle/>
                    <a:p>
                      <a:r>
                        <a:rPr lang="en-US" sz="1100" dirty="0">
                          <a:latin typeface="Arial" panose="020B0604020202020204" pitchFamily="34" charset="0"/>
                          <a:cs typeface="Arial" panose="020B0604020202020204" pitchFamily="34" charset="0"/>
                        </a:rPr>
                        <a:t>Configurability</a:t>
                      </a:r>
                    </a:p>
                  </a:txBody>
                  <a:tcPr anchor="ctr">
                    <a:solidFill>
                      <a:srgbClr val="0C314B"/>
                    </a:solidFill>
                  </a:tcPr>
                </a:tc>
                <a:extLst>
                  <a:ext uri="{0D108BD9-81ED-4DB2-BD59-A6C34878D82A}">
                    <a16:rowId xmlns:a16="http://schemas.microsoft.com/office/drawing/2014/main" val="3514735591"/>
                  </a:ext>
                </a:extLst>
              </a:tr>
              <a:tr h="2019111">
                <a:tc>
                  <a:txBody>
                    <a:bodyPr/>
                    <a:lstStyle/>
                    <a:p>
                      <a:pPr lvl="0" algn="ctr">
                        <a:buNone/>
                      </a:pPr>
                      <a:r>
                        <a:rPr lang="en-US" sz="900" dirty="0">
                          <a:latin typeface="Arial" panose="020B0604020202020204" pitchFamily="34" charset="0"/>
                          <a:cs typeface="Arial" panose="020B0604020202020204" pitchFamily="34" charset="0"/>
                        </a:rPr>
                        <a:t>5</a:t>
                      </a:r>
                    </a:p>
                  </a:txBody>
                  <a:tcPr anchor="ctr">
                    <a:solidFill>
                      <a:srgbClr val="F3F1EE"/>
                    </a:solidFill>
                  </a:tcPr>
                </a:tc>
                <a:tc>
                  <a:txBody>
                    <a:bodyPr/>
                    <a:lstStyle/>
                    <a:p>
                      <a:pPr lvl="0">
                        <a:buNone/>
                      </a:pPr>
                      <a:r>
                        <a:rPr lang="en-US" sz="900" b="1" dirty="0">
                          <a:latin typeface="Arial" panose="020B0604020202020204" pitchFamily="34" charset="0"/>
                          <a:cs typeface="Arial" panose="020B0604020202020204" pitchFamily="34" charset="0"/>
                        </a:rPr>
                        <a:t>Wallet Size Analysis</a:t>
                      </a:r>
                    </a:p>
                  </a:txBody>
                  <a:tcPr anchor="ctr">
                    <a:solidFill>
                      <a:srgbClr val="F3F1EE"/>
                    </a:solidFill>
                  </a:tcPr>
                </a:tc>
                <a:tc>
                  <a:txBody>
                    <a:bodyPr/>
                    <a:lstStyle/>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Support multiple wallet size methodologies aligned to industry best practices, including Gartner’s.</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Identify the most relevant methodology by industry or other dimensions.</a:t>
                      </a:r>
                    </a:p>
                    <a:p>
                      <a:pPr marL="171450" marR="0" lvl="0" indent="-171450" algn="l" defTabSz="1219170" rtl="0" eaLnBrk="1" fontAlgn="b" latinLnBrk="0" hangingPunct="1">
                        <a:lnSpc>
                          <a:spcPct val="150000"/>
                        </a:lnSpc>
                        <a:spcBef>
                          <a:spcPts val="0"/>
                        </a:spcBef>
                        <a:spcAft>
                          <a:spcPts val="0"/>
                        </a:spcAft>
                        <a:buSzTx/>
                        <a:buFont typeface="Arial" panose="020B0604020202020204" pitchFamily="34" charset="0"/>
                        <a:buChar char="•"/>
                        <a:tabLst/>
                        <a:defRPr/>
                      </a:pPr>
                      <a:r>
                        <a:rPr lang="en-US" sz="900" kern="1200" dirty="0">
                          <a:solidFill>
                            <a:schemeClr val="dk1"/>
                          </a:solidFill>
                          <a:latin typeface="Arial" panose="020B0604020202020204" pitchFamily="34" charset="0"/>
                          <a:ea typeface="+mn-ea"/>
                          <a:cs typeface="Arial" panose="020B0604020202020204" pitchFamily="34" charset="0"/>
                        </a:rPr>
                        <a:t>Enable scenario modeling for wallet size projections.</a:t>
                      </a:r>
                    </a:p>
                    <a:p>
                      <a:pPr marL="171450" marR="0" lvl="0" indent="-171450" algn="l" defTabSz="1219170" rtl="0" eaLnBrk="1" fontAlgn="b" latinLnBrk="0" hangingPunct="1">
                        <a:lnSpc>
                          <a:spcPct val="150000"/>
                        </a:lnSpc>
                        <a:spcBef>
                          <a:spcPts val="0"/>
                        </a:spcBef>
                        <a:spcAft>
                          <a:spcPts val="0"/>
                        </a:spcAft>
                        <a:buSzTx/>
                        <a:buFont typeface="Arial" panose="020B0604020202020204" pitchFamily="34" charset="0"/>
                        <a:buChar char="•"/>
                        <a:tabLst/>
                        <a:defRPr/>
                      </a:pPr>
                      <a:r>
                        <a:rPr lang="en-US" sz="900" kern="1200" dirty="0">
                          <a:solidFill>
                            <a:schemeClr val="dk1"/>
                          </a:solidFill>
                          <a:latin typeface="Arial" panose="020B0604020202020204" pitchFamily="34" charset="0"/>
                          <a:ea typeface="+mn-ea"/>
                          <a:cs typeface="Arial" panose="020B0604020202020204" pitchFamily="34" charset="0"/>
                        </a:rPr>
                        <a:t>Highlight and manage outliers effectively.</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Incorporate approval workflows for wallet size calculations.</a:t>
                      </a:r>
                    </a:p>
                  </a:txBody>
                  <a:tcPr anchor="ctr">
                    <a:solidFill>
                      <a:srgbClr val="F3F1EE"/>
                    </a:solidFill>
                  </a:tcPr>
                </a:tc>
                <a:tc>
                  <a:txBody>
                    <a:bodyPr/>
                    <a:lstStyle/>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scenario modeling.</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spending calculation drivers’ dimension(s).</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wallet calculation drivers' dimension(s).</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spend index hierarchy level.</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wallet reporting dimension(s).</a:t>
                      </a:r>
                    </a:p>
                    <a:p>
                      <a:pPr marL="171450" marR="0" lvl="0" indent="-171450" algn="l"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product reporting dimension(s) and level.</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spending calculation method selection driver.</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accounts filters for bottom-up wallet size input.</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reporting dimension(s).</a:t>
                      </a:r>
                    </a:p>
                  </a:txBody>
                  <a:tcPr anchor="ctr">
                    <a:solidFill>
                      <a:srgbClr val="F3F1EE"/>
                    </a:solidFill>
                  </a:tcPr>
                </a:tc>
                <a:extLst>
                  <a:ext uri="{0D108BD9-81ED-4DB2-BD59-A6C34878D82A}">
                    <a16:rowId xmlns:a16="http://schemas.microsoft.com/office/drawing/2014/main" val="1879725759"/>
                  </a:ext>
                </a:extLst>
              </a:tr>
              <a:tr h="1584771">
                <a:tc>
                  <a:txBody>
                    <a:bodyPr/>
                    <a:lstStyle/>
                    <a:p>
                      <a:pPr lvl="0" algn="ctr">
                        <a:buNone/>
                      </a:pPr>
                      <a:r>
                        <a:rPr lang="en-US" sz="900" dirty="0">
                          <a:latin typeface="Arial" panose="020B0604020202020204" pitchFamily="34" charset="0"/>
                          <a:cs typeface="Arial" panose="020B0604020202020204" pitchFamily="34" charset="0"/>
                        </a:rPr>
                        <a:t>6</a:t>
                      </a:r>
                    </a:p>
                  </a:txBody>
                  <a:tcPr anchor="ctr">
                    <a:solidFill>
                      <a:schemeClr val="bg1"/>
                    </a:solidFill>
                  </a:tcPr>
                </a:tc>
                <a:tc>
                  <a:txBody>
                    <a:bodyPr/>
                    <a:lstStyle/>
                    <a:p>
                      <a:pPr lvl="0">
                        <a:buNone/>
                      </a:pPr>
                      <a:r>
                        <a:rPr lang="en-US" sz="900" b="1" dirty="0">
                          <a:latin typeface="Arial" panose="020B0604020202020204" pitchFamily="34" charset="0"/>
                          <a:cs typeface="Arial" panose="020B0604020202020204" pitchFamily="34" charset="0"/>
                        </a:rPr>
                        <a:t>Account Segmentation Analysis</a:t>
                      </a:r>
                    </a:p>
                  </a:txBody>
                  <a:tcPr anchor="ctr">
                    <a:solidFill>
                      <a:schemeClr val="bg1"/>
                    </a:solidFill>
                  </a:tcPr>
                </a:tc>
                <a:tc>
                  <a:txBody>
                    <a:bodyPr/>
                    <a:lstStyle/>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Profile customers using key attributes.</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Apply rule-based logic to assign segment categories.</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Use configurable metrics to create scoring-based segmentation rules.</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Track segment shifts year-over-year.</a:t>
                      </a:r>
                    </a:p>
                    <a:p>
                      <a:pPr marL="171450" lvl="0" indent="-171450" algn="l" defTabSz="1219170" rtl="0" eaLnBrk="1" fontAlgn="b"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Collect and incorporate field feedback on segmentation definitions through streamlined workflows.</a:t>
                      </a:r>
                    </a:p>
                    <a:p>
                      <a:pPr marL="171450" marR="0" lvl="0" indent="-171450" algn="l" defTabSz="121917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900" dirty="0">
                          <a:latin typeface="Arial" panose="020B0604020202020204" pitchFamily="34" charset="0"/>
                          <a:cs typeface="Arial" panose="020B0604020202020204" pitchFamily="34" charset="0"/>
                        </a:rPr>
                        <a:t>Detect gaps between segment coverage and headcount in real-time.</a:t>
                      </a:r>
                    </a:p>
                  </a:txBody>
                  <a:tcPr anchor="ctr">
                    <a:solidFill>
                      <a:schemeClr val="bg1"/>
                    </a:solidFill>
                  </a:tcPr>
                </a:tc>
                <a:tc>
                  <a:txBody>
                    <a:bodyPr/>
                    <a:lstStyle/>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customer profile dimension(s).</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accounts attribute for rule-based segmentation.</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 score to segment mapping driver.</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categorical metrics to score accounts.</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 score metric drivers.</a:t>
                      </a:r>
                    </a:p>
                    <a:p>
                      <a:pPr marL="171450" lvl="0" indent="-171450" algn="l" defTabSz="1219170" rtl="0" eaLnBrk="1" latinLnBrk="0" hangingPunct="1">
                        <a:lnSpc>
                          <a:spcPct val="150000"/>
                        </a:lnSpc>
                        <a:buClr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 segmentation reporting dimension(s).</a:t>
                      </a:r>
                    </a:p>
                  </a:txBody>
                  <a:tcPr anchor="ctr">
                    <a:solidFill>
                      <a:schemeClr val="bg1"/>
                    </a:solidFill>
                  </a:tcPr>
                </a:tc>
                <a:extLst>
                  <a:ext uri="{0D108BD9-81ED-4DB2-BD59-A6C34878D82A}">
                    <a16:rowId xmlns:a16="http://schemas.microsoft.com/office/drawing/2014/main" val="3408103969"/>
                  </a:ext>
                </a:extLst>
              </a:tr>
              <a:tr h="896208">
                <a:tc>
                  <a:txBody>
                    <a:bodyPr/>
                    <a:lstStyle/>
                    <a:p>
                      <a:pPr lvl="0" algn="ctr">
                        <a:buNone/>
                      </a:pPr>
                      <a:r>
                        <a:rPr lang="en-US" sz="900" dirty="0">
                          <a:latin typeface="Arial" panose="020B0604020202020204" pitchFamily="34" charset="0"/>
                          <a:cs typeface="Arial" panose="020B0604020202020204" pitchFamily="34" charset="0"/>
                        </a:rPr>
                        <a:t>7</a:t>
                      </a:r>
                    </a:p>
                  </a:txBody>
                  <a:tcPr anchor="ctr">
                    <a:solidFill>
                      <a:srgbClr val="F3F1EE"/>
                    </a:solidFill>
                  </a:tcPr>
                </a:tc>
                <a:tc>
                  <a:txBody>
                    <a:bodyPr/>
                    <a:lstStyle/>
                    <a:p>
                      <a:pPr lvl="0">
                        <a:buNone/>
                      </a:pPr>
                      <a:r>
                        <a:rPr lang="en-US" sz="900" b="1" dirty="0">
                          <a:latin typeface="Arial" panose="020B0604020202020204" pitchFamily="34" charset="0"/>
                          <a:cs typeface="Arial" panose="020B0604020202020204" pitchFamily="34" charset="0"/>
                        </a:rPr>
                        <a:t>GTM Strategy</a:t>
                      </a:r>
                      <a:br>
                        <a:rPr lang="en-US" sz="900" b="1" dirty="0">
                          <a:latin typeface="Arial" panose="020B0604020202020204" pitchFamily="34" charset="0"/>
                          <a:cs typeface="Arial" panose="020B0604020202020204" pitchFamily="34" charset="0"/>
                        </a:rPr>
                      </a:br>
                      <a:r>
                        <a:rPr lang="en-US" sz="900" b="1" dirty="0">
                          <a:latin typeface="Arial" panose="020B0604020202020204" pitchFamily="34" charset="0"/>
                          <a:cs typeface="Arial" panose="020B0604020202020204" pitchFamily="34" charset="0"/>
                        </a:rPr>
                        <a:t>(Scenario Planning)</a:t>
                      </a:r>
                    </a:p>
                  </a:txBody>
                  <a:tcPr anchor="ctr">
                    <a:solidFill>
                      <a:srgbClr val="F3F1EE"/>
                    </a:solidFill>
                  </a:tcPr>
                </a:tc>
                <a:tc>
                  <a:txBody>
                    <a:bodyPr/>
                    <a:lstStyle/>
                    <a:p>
                      <a:pPr marL="171450" lvl="0" indent="-171450" algn="l" defTabSz="1219170" rtl="0" eaLnBrk="1"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Define and configure new sales hierarchies for precise GTM planning.</a:t>
                      </a:r>
                    </a:p>
                    <a:p>
                      <a:pPr marL="171450" lvl="0" indent="-171450" algn="l" defTabSz="1219170" rtl="0" eaLnBrk="1"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Leverage account assignment rule.</a:t>
                      </a:r>
                    </a:p>
                    <a:p>
                      <a:pPr marL="171450" lvl="0" indent="-171450" algn="l" defTabSz="1219170" rtl="0" eaLnBrk="1" latinLnBrk="0" hangingPunct="1">
                        <a:lnSpc>
                          <a:spcPct val="150000"/>
                        </a:lnSpc>
                        <a:buFont typeface="Arial" panose="020B0604020202020204" pitchFamily="34" charset="0"/>
                        <a:buChar char="•"/>
                        <a:defRPr/>
                      </a:pPr>
                      <a:r>
                        <a:rPr lang="en-US" sz="900" kern="1200" dirty="0">
                          <a:solidFill>
                            <a:schemeClr val="dk1"/>
                          </a:solidFill>
                          <a:latin typeface="Arial" panose="020B0604020202020204" pitchFamily="34" charset="0"/>
                          <a:ea typeface="+mn-ea"/>
                          <a:cs typeface="Arial" panose="020B0604020202020204" pitchFamily="34" charset="0"/>
                        </a:rPr>
                        <a:t>Visualize KPIs aligned to the new GTM strategy and structure.</a:t>
                      </a:r>
                    </a:p>
                  </a:txBody>
                  <a:tcPr anchor="ctr">
                    <a:solidFill>
                      <a:srgbClr val="F3F1EE"/>
                    </a:solidFill>
                  </a:tcPr>
                </a:tc>
                <a:tc>
                  <a:txBody>
                    <a:bodyPr/>
                    <a:lstStyle/>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attributes for accounts mapping.</a:t>
                      </a:r>
                    </a:p>
                    <a:p>
                      <a:pPr marL="171450" marR="0" lvl="0" indent="-171450" algn="l" defTabSz="1219170" rtl="0" eaLnBrk="1" latinLnBrk="0" hangingPunct="1">
                        <a:lnSpc>
                          <a:spcPct val="150000"/>
                        </a:lnSpc>
                        <a:spcBef>
                          <a:spcPts val="0"/>
                        </a:spcBef>
                        <a:spcAft>
                          <a:spcPts val="0"/>
                        </a:spcAft>
                        <a:buClrTx/>
                        <a:buSzTx/>
                        <a:buFont typeface="Arial" panose="020B0604020202020204" pitchFamily="34" charset="0"/>
                        <a:buChar char="•"/>
                      </a:pPr>
                      <a:r>
                        <a:rPr lang="en-US" sz="900" kern="1200" dirty="0">
                          <a:solidFill>
                            <a:schemeClr val="dk1"/>
                          </a:solidFill>
                          <a:latin typeface="Arial" panose="020B0604020202020204" pitchFamily="34" charset="0"/>
                          <a:ea typeface="+mn-ea"/>
                          <a:cs typeface="Arial" panose="020B0604020202020204" pitchFamily="34" charset="0"/>
                        </a:rPr>
                        <a:t>Select account reporting hierarchy level.</a:t>
                      </a:r>
                    </a:p>
                  </a:txBody>
                  <a:tcPr anchor="ctr">
                    <a:solidFill>
                      <a:srgbClr val="F3F1EE"/>
                    </a:solidFill>
                  </a:tcPr>
                </a:tc>
                <a:extLst>
                  <a:ext uri="{0D108BD9-81ED-4DB2-BD59-A6C34878D82A}">
                    <a16:rowId xmlns:a16="http://schemas.microsoft.com/office/drawing/2014/main" val="3602923023"/>
                  </a:ext>
                </a:extLst>
              </a:tr>
            </a:tbl>
          </a:graphicData>
        </a:graphic>
      </p:graphicFrame>
      <p:sp>
        <p:nvSpPr>
          <p:cNvPr id="2" name="Title 1">
            <a:extLst>
              <a:ext uri="{FF2B5EF4-FFF2-40B4-BE49-F238E27FC236}">
                <a16:creationId xmlns:a16="http://schemas.microsoft.com/office/drawing/2014/main" id="{F8AAEA10-88C9-1A67-7E9D-C0AEE7308CFF}"/>
              </a:ext>
            </a:extLst>
          </p:cNvPr>
          <p:cNvSpPr txBox="1">
            <a:spLocks/>
          </p:cNvSpPr>
          <p:nvPr/>
        </p:nvSpPr>
        <p:spPr>
          <a:xfrm>
            <a:off x="615105" y="392856"/>
            <a:ext cx="10582982"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GB" sz="2000" b="1" dirty="0">
                <a:ea typeface="Verdana"/>
              </a:rPr>
              <a:t>Segmentation and Scoring: </a:t>
            </a:r>
            <a:r>
              <a:rPr lang="en-US" sz="2000" b="1" dirty="0"/>
              <a:t>Key processes and configurable elements – cont.</a:t>
            </a:r>
            <a:endParaRPr lang="en-GB" sz="2000" b="1" dirty="0">
              <a:ea typeface="Verdana" panose="020B0604030504040204" pitchFamily="34" charset="0"/>
            </a:endParaRPr>
          </a:p>
        </p:txBody>
      </p:sp>
    </p:spTree>
    <p:extLst>
      <p:ext uri="{BB962C8B-B14F-4D97-AF65-F5344CB8AC3E}">
        <p14:creationId xmlns:p14="http://schemas.microsoft.com/office/powerpoint/2010/main" val="157805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465A-CCE6-7642-EF88-A03C4BC5D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7E2A7-C5E4-A835-CC99-55E5E1B32FD7}"/>
              </a:ext>
            </a:extLst>
          </p:cNvPr>
          <p:cNvSpPr>
            <a:spLocks noGrp="1"/>
          </p:cNvSpPr>
          <p:nvPr>
            <p:ph type="title"/>
          </p:nvPr>
        </p:nvSpPr>
        <p:spPr/>
        <p:txBody>
          <a:bodyPr lIns="0" tIns="45720" rIns="0" bIns="45720" anchor="t"/>
          <a:lstStyle/>
          <a:p>
            <a:r>
              <a:rPr lang="en-US" sz="4250" dirty="0">
                <a:latin typeface="Arial"/>
                <a:cs typeface="Arial"/>
              </a:rPr>
              <a:t>Prework and assumptions</a:t>
            </a:r>
          </a:p>
        </p:txBody>
      </p:sp>
      <p:sp>
        <p:nvSpPr>
          <p:cNvPr id="3" name="Text Placeholder 2">
            <a:extLst>
              <a:ext uri="{FF2B5EF4-FFF2-40B4-BE49-F238E27FC236}">
                <a16:creationId xmlns:a16="http://schemas.microsoft.com/office/drawing/2014/main" id="{A3672A51-27A4-2CB6-E250-9CA55E2BE77E}"/>
              </a:ext>
            </a:extLst>
          </p:cNvPr>
          <p:cNvSpPr>
            <a:spLocks noGrp="1"/>
          </p:cNvSpPr>
          <p:nvPr>
            <p:ph type="body" sz="quarter" idx="10"/>
          </p:nvPr>
        </p:nvSpPr>
        <p:spPr/>
        <p:txBody>
          <a:bodyPr/>
          <a:lstStyle/>
          <a:p>
            <a:r>
              <a:rPr lang="en-US"/>
              <a:t>Section 3</a:t>
            </a:r>
          </a:p>
        </p:txBody>
      </p:sp>
    </p:spTree>
    <p:extLst>
      <p:ext uri="{BB962C8B-B14F-4D97-AF65-F5344CB8AC3E}">
        <p14:creationId xmlns:p14="http://schemas.microsoft.com/office/powerpoint/2010/main" val="109684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83154B-0AE2-9420-4E14-487642E1B704}"/>
              </a:ext>
            </a:extLst>
          </p:cNvPr>
          <p:cNvSpPr/>
          <p:nvPr/>
        </p:nvSpPr>
        <p:spPr>
          <a:xfrm>
            <a:off x="514214" y="2171921"/>
            <a:ext cx="10755264" cy="1651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Assumptions</a:t>
            </a:r>
            <a:r>
              <a:rPr lang="en-GB">
                <a:latin typeface="Arial"/>
                <a:ea typeface="Verdana"/>
                <a:cs typeface="Arial"/>
              </a:rPr>
              <a:t> </a:t>
            </a:r>
            <a:endParaRPr lang="en-GB"/>
          </a:p>
        </p:txBody>
      </p:sp>
      <p:sp>
        <p:nvSpPr>
          <p:cNvPr id="5" name="TextBox 4">
            <a:extLst>
              <a:ext uri="{FF2B5EF4-FFF2-40B4-BE49-F238E27FC236}">
                <a16:creationId xmlns:a16="http://schemas.microsoft.com/office/drawing/2014/main" id="{4661C2E2-B526-ADC9-BC75-FB727256AEA4}"/>
              </a:ext>
            </a:extLst>
          </p:cNvPr>
          <p:cNvSpPr txBox="1"/>
          <p:nvPr/>
        </p:nvSpPr>
        <p:spPr>
          <a:xfrm>
            <a:off x="952666" y="1111078"/>
            <a:ext cx="9833868" cy="4764318"/>
          </a:xfrm>
          <a:prstGeom prst="rect">
            <a:avLst/>
          </a:prstGeom>
          <a:noFill/>
        </p:spPr>
        <p:txBody>
          <a:bodyPr wrap="square" lIns="91440" tIns="45720" rIns="91440" bIns="45720" rtlCol="0" anchor="t">
            <a:spAutoFit/>
          </a:bodyPr>
          <a:lstStyle/>
          <a:p>
            <a:r>
              <a:rPr lang="en-US" sz="1600" b="1" dirty="0"/>
              <a:t>To successfully implement this application as designed,</a:t>
            </a:r>
            <a:br>
              <a:rPr lang="en-US" sz="1600" b="1" dirty="0"/>
            </a:br>
            <a:r>
              <a:rPr lang="en-US" sz="1600" b="1" dirty="0"/>
              <a:t>the planning process must meet the following assumptions.</a:t>
            </a:r>
          </a:p>
          <a:p>
            <a:br>
              <a:rPr lang="en-US" sz="1600" dirty="0"/>
            </a:br>
            <a:br>
              <a:rPr lang="en-US" sz="1600" dirty="0"/>
            </a:br>
            <a:endParaRPr lang="en-US" sz="1600" b="1" dirty="0"/>
          </a:p>
          <a:p>
            <a:pPr>
              <a:lnSpc>
                <a:spcPct val="150000"/>
              </a:lnSpc>
            </a:pPr>
            <a:r>
              <a:rPr lang="en-US" sz="1600" b="1" dirty="0"/>
              <a:t>Assumptions:</a:t>
            </a:r>
            <a:endParaRPr lang="en-US" sz="1600" b="1" dirty="0">
              <a:cs typeface="Arial"/>
            </a:endParaRPr>
          </a:p>
          <a:p>
            <a:pPr marL="285750" indent="-285750">
              <a:lnSpc>
                <a:spcPct val="150000"/>
              </a:lnSpc>
              <a:buFont typeface="Arial" pitchFamily="2" charset="2"/>
              <a:buChar char="•"/>
            </a:pPr>
            <a:r>
              <a:rPr lang="en-US" sz="1600" dirty="0"/>
              <a:t>Your GTM planning process includes </a:t>
            </a:r>
            <a:r>
              <a:rPr lang="en-US" sz="1600" b="1" dirty="0"/>
              <a:t>score-based and/or rule-based account segmentation.</a:t>
            </a:r>
            <a:endParaRPr lang="en-US" sz="1600" dirty="0">
              <a:cs typeface="Arial" panose="020B0604020202020204"/>
            </a:endParaRPr>
          </a:p>
          <a:p>
            <a:pPr marL="285750" indent="-285750">
              <a:lnSpc>
                <a:spcPct val="150000"/>
              </a:lnSpc>
              <a:buFont typeface="Arial" pitchFamily="2" charset="2"/>
              <a:buChar char="•"/>
            </a:pPr>
            <a:r>
              <a:rPr lang="en-US" sz="1600" dirty="0"/>
              <a:t>You have an </a:t>
            </a:r>
            <a:r>
              <a:rPr lang="en-US" sz="1600" b="1" dirty="0"/>
              <a:t>existing, structured territory hierarchy</a:t>
            </a:r>
            <a:r>
              <a:rPr lang="en-US" sz="1600" dirty="0"/>
              <a:t> available for alignment and reporting.</a:t>
            </a:r>
            <a:endParaRPr lang="en-US" sz="1600" dirty="0">
              <a:cs typeface="Arial"/>
            </a:endParaRPr>
          </a:p>
          <a:p>
            <a:br>
              <a:rPr lang="en-US" sz="1600" dirty="0"/>
            </a:br>
            <a:endParaRPr lang="en-US" sz="1600" dirty="0"/>
          </a:p>
          <a:p>
            <a:endParaRPr lang="en-US" sz="1600" dirty="0"/>
          </a:p>
          <a:p>
            <a:r>
              <a:rPr lang="en-US" sz="1600" dirty="0"/>
              <a:t> </a:t>
            </a:r>
            <a:r>
              <a:rPr lang="en-US" sz="1400" dirty="0"/>
              <a:t>If these are not true today, there are two options: </a:t>
            </a:r>
            <a:br>
              <a:rPr lang="en-US" sz="1400" dirty="0"/>
            </a:br>
            <a:endParaRPr lang="en-US" sz="1400" dirty="0"/>
          </a:p>
          <a:p>
            <a:pPr marL="285750" indent="-285750">
              <a:buFont typeface="Arial"/>
              <a:buChar char="•"/>
            </a:pPr>
            <a:r>
              <a:rPr lang="en-US" sz="1400" b="1" dirty="0">
                <a:solidFill>
                  <a:schemeClr val="accent1"/>
                </a:solidFill>
              </a:rPr>
              <a:t>Modify or extend the application</a:t>
            </a:r>
            <a:r>
              <a:rPr lang="en-US" sz="1400" dirty="0">
                <a:solidFill>
                  <a:schemeClr val="accent1"/>
                </a:solidFill>
              </a:rPr>
              <a:t> </a:t>
            </a:r>
            <a:r>
              <a:rPr lang="en-US" sz="1400" dirty="0"/>
              <a:t>to accommodate the existing planning model.</a:t>
            </a:r>
            <a:br>
              <a:rPr lang="en-US" sz="1400" dirty="0"/>
            </a:br>
            <a:endParaRPr lang="en-US" sz="1400" dirty="0">
              <a:cs typeface="Arial"/>
            </a:endParaRPr>
          </a:p>
          <a:p>
            <a:pPr marL="285750" indent="-285750">
              <a:buFont typeface="Arial"/>
              <a:buChar char="•"/>
            </a:pPr>
            <a:r>
              <a:rPr lang="en-US" sz="1400" b="1" dirty="0">
                <a:solidFill>
                  <a:schemeClr val="accent1"/>
                </a:solidFill>
              </a:rPr>
              <a:t>Adjust the planning process</a:t>
            </a:r>
            <a:r>
              <a:rPr lang="en-US" sz="1400" dirty="0">
                <a:solidFill>
                  <a:schemeClr val="accent1"/>
                </a:solidFill>
              </a:rPr>
              <a:t> </a:t>
            </a:r>
            <a:r>
              <a:rPr lang="en-US" sz="1400" dirty="0"/>
              <a:t>to align with supported methodologies and industry best practices.</a:t>
            </a:r>
            <a:endParaRPr lang="en-US" sz="1400" dirty="0">
              <a:cs typeface="Arial"/>
            </a:endParaRPr>
          </a:p>
          <a:p>
            <a:endParaRPr lang="en-US" sz="1333" dirty="0">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dirty="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7123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dirty="0">
                <a:solidFill>
                  <a:schemeClr val="tx2"/>
                </a:solidFill>
                <a:latin typeface="Arial"/>
                <a:ea typeface="Verdana"/>
                <a:cs typeface="Arial"/>
              </a:rPr>
              <a:t>Sales data requirements and description</a:t>
            </a:r>
            <a:endParaRPr lang="en-US" dirty="0">
              <a:solidFill>
                <a:schemeClr val="tx2"/>
              </a:solidFill>
            </a:endParaRPr>
          </a:p>
        </p:txBody>
      </p:sp>
      <p:graphicFrame>
        <p:nvGraphicFramePr>
          <p:cNvPr id="7" name="Table 6">
            <a:extLst>
              <a:ext uri="{FF2B5EF4-FFF2-40B4-BE49-F238E27FC236}">
                <a16:creationId xmlns:a16="http://schemas.microsoft.com/office/drawing/2014/main" id="{CED2003E-17BB-D070-4312-E23A7B54ED6C}"/>
              </a:ext>
            </a:extLst>
          </p:cNvPr>
          <p:cNvGraphicFramePr>
            <a:graphicFrameLocks noGrp="1"/>
          </p:cNvGraphicFramePr>
          <p:nvPr>
            <p:extLst>
              <p:ext uri="{D42A27DB-BD31-4B8C-83A1-F6EECF244321}">
                <p14:modId xmlns:p14="http://schemas.microsoft.com/office/powerpoint/2010/main" val="2183668132"/>
              </p:ext>
            </p:extLst>
          </p:nvPr>
        </p:nvGraphicFramePr>
        <p:xfrm>
          <a:off x="628952" y="1263952"/>
          <a:ext cx="10741781" cy="4374848"/>
        </p:xfrm>
        <a:graphic>
          <a:graphicData uri="http://schemas.openxmlformats.org/drawingml/2006/table">
            <a:tbl>
              <a:tblPr firstRow="1" bandRow="1">
                <a:tableStyleId>{793D81CF-94F2-401A-BA57-92F5A7B2D0C5}</a:tableStyleId>
              </a:tblPr>
              <a:tblGrid>
                <a:gridCol w="1684124">
                  <a:extLst>
                    <a:ext uri="{9D8B030D-6E8A-4147-A177-3AD203B41FA5}">
                      <a16:colId xmlns:a16="http://schemas.microsoft.com/office/drawing/2014/main" val="3697837074"/>
                    </a:ext>
                  </a:extLst>
                </a:gridCol>
                <a:gridCol w="4103022">
                  <a:extLst>
                    <a:ext uri="{9D8B030D-6E8A-4147-A177-3AD203B41FA5}">
                      <a16:colId xmlns:a16="http://schemas.microsoft.com/office/drawing/2014/main" val="2947779872"/>
                    </a:ext>
                  </a:extLst>
                </a:gridCol>
                <a:gridCol w="4954635">
                  <a:extLst>
                    <a:ext uri="{9D8B030D-6E8A-4147-A177-3AD203B41FA5}">
                      <a16:colId xmlns:a16="http://schemas.microsoft.com/office/drawing/2014/main" val="3748911495"/>
                    </a:ext>
                  </a:extLst>
                </a:gridCol>
              </a:tblGrid>
              <a:tr h="525259">
                <a:tc>
                  <a:txBody>
                    <a:bodyPr/>
                    <a:lstStyle/>
                    <a:p>
                      <a:pPr algn="l" rtl="0" fontAlgn="base"/>
                      <a:r>
                        <a:rPr lang="en-US" sz="1600" dirty="0">
                          <a:solidFill>
                            <a:schemeClr val="bg1"/>
                          </a:solidFill>
                          <a:effectLst/>
                        </a:rPr>
                        <a:t>Data</a:t>
                      </a:r>
                      <a:endParaRPr lang="en-US" dirty="0">
                        <a:solidFill>
                          <a:schemeClr val="bg1"/>
                        </a:solidFill>
                        <a:effectLst/>
                      </a:endParaRPr>
                    </a:p>
                  </a:txBody>
                  <a:tcPr anchor="ctr">
                    <a:solidFill>
                      <a:srgbClr val="0C314B"/>
                    </a:solidFill>
                  </a:tcPr>
                </a:tc>
                <a:tc>
                  <a:txBody>
                    <a:bodyPr/>
                    <a:lstStyle/>
                    <a:p>
                      <a:pPr lvl="0" algn="l">
                        <a:buNone/>
                      </a:pPr>
                      <a:r>
                        <a:rPr lang="en-US" sz="1600" dirty="0">
                          <a:solidFill>
                            <a:schemeClr val="bg1"/>
                          </a:solidFill>
                          <a:effectLst/>
                        </a:rPr>
                        <a:t>Description</a:t>
                      </a:r>
                    </a:p>
                  </a:txBody>
                  <a:tcPr anchor="ctr">
                    <a:solidFill>
                      <a:srgbClr val="0C314B"/>
                    </a:solidFill>
                  </a:tcPr>
                </a:tc>
                <a:tc>
                  <a:txBody>
                    <a:bodyPr/>
                    <a:lstStyle/>
                    <a:p>
                      <a:pPr algn="l" rtl="0" fontAlgn="base"/>
                      <a:r>
                        <a:rPr lang="en-US" sz="1600" dirty="0">
                          <a:solidFill>
                            <a:schemeClr val="bg1"/>
                          </a:solidFill>
                          <a:effectLst/>
                        </a:rPr>
                        <a:t>Mandatory attributes​</a:t>
                      </a:r>
                      <a:endParaRPr lang="en-US" dirty="0">
                        <a:solidFill>
                          <a:schemeClr val="bg1"/>
                        </a:solidFill>
                        <a:effectLst/>
                      </a:endParaRPr>
                    </a:p>
                  </a:txBody>
                  <a:tcPr anchor="ctr">
                    <a:solidFill>
                      <a:srgbClr val="0C314B"/>
                    </a:solidFill>
                  </a:tcPr>
                </a:tc>
                <a:extLst>
                  <a:ext uri="{0D108BD9-81ED-4DB2-BD59-A6C34878D82A}">
                    <a16:rowId xmlns:a16="http://schemas.microsoft.com/office/drawing/2014/main" val="737408206"/>
                  </a:ext>
                </a:extLst>
              </a:tr>
              <a:tr h="1870235">
                <a:tc>
                  <a:txBody>
                    <a:bodyPr/>
                    <a:lstStyle/>
                    <a:p>
                      <a:pPr marL="0" marR="0" lvl="0" indent="0" algn="l" defTabSz="1219170" rtl="0" eaLnBrk="1" latinLnBrk="0" hangingPunct="1">
                        <a:lnSpc>
                          <a:spcPct val="110000"/>
                        </a:lnSpc>
                        <a:spcBef>
                          <a:spcPts val="0"/>
                        </a:spcBef>
                        <a:spcAft>
                          <a:spcPts val="0"/>
                        </a:spcAft>
                        <a:buClr>
                          <a:srgbClr val="000000"/>
                        </a:buClr>
                        <a:buNone/>
                      </a:pPr>
                      <a:r>
                        <a:rPr lang="en-US" sz="1400" b="1" u="none" strike="noStrike" noProof="0" dirty="0">
                          <a:solidFill>
                            <a:srgbClr val="0C314B"/>
                          </a:solidFill>
                          <a:effectLst/>
                        </a:rPr>
                        <a:t>Actuals </a:t>
                      </a:r>
                      <a:endParaRPr lang="en-US" sz="1400" b="1" u="none" strike="noStrike" dirty="0">
                        <a:solidFill>
                          <a:srgbClr val="0C314B"/>
                        </a:solidFill>
                        <a:effectLst/>
                      </a:endParaRPr>
                    </a:p>
                    <a:p>
                      <a:pPr marL="0" marR="0" lvl="0" indent="0" algn="l" rtl="0" eaLnBrk="1" latinLnBrk="0" hangingPunct="1">
                        <a:lnSpc>
                          <a:spcPct val="110000"/>
                        </a:lnSpc>
                        <a:spcBef>
                          <a:spcPts val="0"/>
                        </a:spcBef>
                        <a:spcAft>
                          <a:spcPts val="0"/>
                        </a:spcAft>
                        <a:buFont typeface="Arial,Sans-Serif"/>
                        <a:buNone/>
                      </a:pPr>
                      <a:r>
                        <a:rPr lang="en-US" sz="1100" b="0" u="none" strike="noStrike" noProof="0" dirty="0">
                          <a:solidFill>
                            <a:srgbClr val="0C314B"/>
                          </a:solidFill>
                          <a:effectLst/>
                        </a:rPr>
                        <a:t>(such as orders, bookings, invoices, transactions, etc.)</a:t>
                      </a:r>
                    </a:p>
                    <a:p>
                      <a:pPr marL="0" lvl="0" algn="l" defTabSz="1219170" rtl="0" eaLnBrk="1" latinLnBrk="0" hangingPunct="1">
                        <a:buNone/>
                      </a:pPr>
                      <a:endParaRPr lang="en-US" sz="1600" b="1" dirty="0">
                        <a:solidFill>
                          <a:srgbClr val="0C314B"/>
                        </a:solidFill>
                        <a:effectLst/>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dirty="0">
                          <a:solidFill>
                            <a:srgbClr val="0C314B"/>
                          </a:solidFill>
                          <a:effectLst/>
                        </a:rPr>
                        <a:t>This can be either one data file, or it can be loaded with two data files where the second is a more detailed line-item level (such as orders and order lines where the order lines contain details by products).</a:t>
                      </a:r>
                    </a:p>
                  </a:txBody>
                  <a:tcPr anchor="ctr">
                    <a:solidFill>
                      <a:srgbClr val="F3F1EE"/>
                    </a:solidFill>
                  </a:tcP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rPr>
                        <a:t>ID, name, account, product, date, amount, last year wallet, ARR</a:t>
                      </a:r>
                    </a:p>
                    <a:p>
                      <a:pPr marL="0" lvl="0" algn="l" defTabSz="1219170" rtl="0" eaLnBrk="1" latinLnBrk="0" hangingPunct="1">
                        <a:lnSpc>
                          <a:spcPct val="100000"/>
                        </a:lnSpc>
                        <a:spcBef>
                          <a:spcPts val="0"/>
                        </a:spcBef>
                        <a:spcAft>
                          <a:spcPts val="0"/>
                        </a:spcAft>
                        <a:buNone/>
                      </a:pPr>
                      <a:endParaRPr lang="en-US" sz="1200" u="none" strike="noStrike" noProof="0" dirty="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dirty="0">
                          <a:solidFill>
                            <a:srgbClr val="0C314B"/>
                          </a:solidFill>
                          <a:effectLst/>
                        </a:rPr>
                        <a:t>If using the detailed data file, have an ID to link to the initial file.</a:t>
                      </a:r>
                    </a:p>
                    <a:p>
                      <a:pPr marL="0" lvl="0" algn="l" defTabSz="1219170" rtl="0" eaLnBrk="1" latinLnBrk="0" hangingPunct="1">
                        <a:lnSpc>
                          <a:spcPct val="100000"/>
                        </a:lnSpc>
                        <a:spcBef>
                          <a:spcPts val="0"/>
                        </a:spcBef>
                        <a:spcAft>
                          <a:spcPts val="0"/>
                        </a:spcAft>
                        <a:buNone/>
                      </a:pPr>
                      <a:endParaRPr lang="en-US" sz="1200" u="none" strike="noStrike" noProof="0" dirty="0">
                        <a:solidFill>
                          <a:srgbClr val="0C314B"/>
                        </a:solidFill>
                        <a:effectLst/>
                      </a:endParaRPr>
                    </a:p>
                    <a:p>
                      <a:pPr marL="0" lvl="0" algn="l" defTabSz="1219170" rtl="0" eaLnBrk="1" latinLnBrk="0" hangingPunct="1">
                        <a:buNone/>
                      </a:pPr>
                      <a:r>
                        <a:rPr lang="en-US" sz="1200" dirty="0">
                          <a:solidFill>
                            <a:srgbClr val="0C314B"/>
                          </a:solidFill>
                          <a:effectLst/>
                        </a:rPr>
                        <a:t>The mandatory attributes must be present between the two data files.</a:t>
                      </a:r>
                    </a:p>
                  </a:txBody>
                  <a:tcPr anchor="ctr">
                    <a:solidFill>
                      <a:srgbClr val="F3F1EE"/>
                    </a:solidFill>
                  </a:tcPr>
                </a:tc>
                <a:extLst>
                  <a:ext uri="{0D108BD9-81ED-4DB2-BD59-A6C34878D82A}">
                    <a16:rowId xmlns:a16="http://schemas.microsoft.com/office/drawing/2014/main" val="1534925166"/>
                  </a:ext>
                </a:extLst>
              </a:tr>
              <a:tr h="1979354">
                <a:tc>
                  <a:txBody>
                    <a:bodyPr/>
                    <a:lstStyle/>
                    <a:p>
                      <a:pPr marL="0" lvl="0" algn="l" defTabSz="1219170" rtl="0" eaLnBrk="1" latinLnBrk="0" hangingPunct="1">
                        <a:lnSpc>
                          <a:spcPct val="100000"/>
                        </a:lnSpc>
                        <a:spcBef>
                          <a:spcPts val="0"/>
                        </a:spcBef>
                        <a:spcAft>
                          <a:spcPts val="0"/>
                        </a:spcAft>
                        <a:buNone/>
                      </a:pPr>
                      <a:r>
                        <a:rPr lang="en-US" sz="1400" b="1" u="none" strike="noStrike" noProof="0" dirty="0">
                          <a:solidFill>
                            <a:srgbClr val="0C314B"/>
                          </a:solidFill>
                          <a:effectLst/>
                        </a:rPr>
                        <a:t>Forecast </a:t>
                      </a:r>
                      <a:endParaRPr lang="en-US" sz="1400" b="1" u="none" strike="noStrike" dirty="0">
                        <a:solidFill>
                          <a:srgbClr val="0C314B"/>
                        </a:solidFill>
                        <a:effectLst/>
                      </a:endParaRPr>
                    </a:p>
                    <a:p>
                      <a:pPr marL="0" lvl="0" algn="l" rtl="0" eaLnBrk="1" latinLnBrk="0" hangingPunct="1">
                        <a:lnSpc>
                          <a:spcPct val="100000"/>
                        </a:lnSpc>
                        <a:spcBef>
                          <a:spcPts val="0"/>
                        </a:spcBef>
                        <a:spcAft>
                          <a:spcPts val="0"/>
                        </a:spcAft>
                        <a:buNone/>
                      </a:pPr>
                      <a:r>
                        <a:rPr lang="en-US" sz="1100" b="0" u="none" strike="noStrike" noProof="0" dirty="0">
                          <a:solidFill>
                            <a:srgbClr val="0C314B"/>
                          </a:solidFill>
                          <a:effectLst/>
                        </a:rPr>
                        <a:t>(such as opportunities, opportunity lines)</a:t>
                      </a:r>
                    </a:p>
                    <a:p>
                      <a:pPr marL="0" lvl="0" algn="l" defTabSz="1219170" rtl="0" eaLnBrk="1" latinLnBrk="0" hangingPunct="1">
                        <a:buNone/>
                      </a:pPr>
                      <a:endParaRPr lang="en-US" sz="1600" b="1" dirty="0">
                        <a:solidFill>
                          <a:srgbClr val="0C314B"/>
                        </a:solidFill>
                        <a:effectLst/>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rPr>
                        <a:t>This can be either one data file, or it can be loaded with two data files where the second is a more detailed line-item level (such as opportunities and opportunity lines where the lines contain details by products).</a:t>
                      </a:r>
                      <a:endParaRPr lang="en-US" sz="1200" u="none" strike="noStrike" dirty="0">
                        <a:solidFill>
                          <a:srgbClr val="0C314B"/>
                        </a:solidFill>
                        <a:effectLst/>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rPr>
                        <a:t>ID, name, account, product, date, amount, opportunity owner ID, attribute to filter likely deals (such as forecast category or deal stage)</a:t>
                      </a:r>
                      <a:endParaRPr lang="en-US" sz="1200" u="none" strike="noStrike" dirty="0">
                        <a:solidFill>
                          <a:srgbClr val="0C314B"/>
                        </a:solidFill>
                        <a:effectLst/>
                      </a:endParaRPr>
                    </a:p>
                    <a:p>
                      <a:pPr marL="0" lvl="0" algn="l" defTabSz="1219170" rtl="0" eaLnBrk="1" latinLnBrk="0" hangingPunct="1">
                        <a:lnSpc>
                          <a:spcPct val="100000"/>
                        </a:lnSpc>
                        <a:spcBef>
                          <a:spcPts val="0"/>
                        </a:spcBef>
                        <a:spcAft>
                          <a:spcPts val="0"/>
                        </a:spcAft>
                        <a:buNone/>
                      </a:pPr>
                      <a:endParaRPr lang="en-US" sz="1200" u="none" strike="noStrike" noProof="0" dirty="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dirty="0">
                          <a:solidFill>
                            <a:srgbClr val="0C314B"/>
                          </a:solidFill>
                          <a:effectLst/>
                        </a:rPr>
                        <a:t>If using the detailed data file, have an ID to link to the initial file.</a:t>
                      </a:r>
                    </a:p>
                    <a:p>
                      <a:pPr marL="0" lvl="0" algn="l" defTabSz="1219170" rtl="0" eaLnBrk="1" latinLnBrk="0" hangingPunct="1">
                        <a:lnSpc>
                          <a:spcPct val="100000"/>
                        </a:lnSpc>
                        <a:spcBef>
                          <a:spcPts val="0"/>
                        </a:spcBef>
                        <a:spcAft>
                          <a:spcPts val="0"/>
                        </a:spcAft>
                        <a:buNone/>
                      </a:pPr>
                      <a:endParaRPr lang="en-US" sz="1200" u="none" strike="noStrike" noProof="0" dirty="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dirty="0">
                          <a:solidFill>
                            <a:srgbClr val="0C314B"/>
                          </a:solidFill>
                          <a:effectLst/>
                        </a:rPr>
                        <a:t>The mandatory attributes must be present between the two data files.</a:t>
                      </a:r>
                    </a:p>
                  </a:txBody>
                  <a:tcPr anchor="ctr"/>
                </a:tc>
                <a:extLst>
                  <a:ext uri="{0D108BD9-81ED-4DB2-BD59-A6C34878D82A}">
                    <a16:rowId xmlns:a16="http://schemas.microsoft.com/office/drawing/2014/main" val="3431287782"/>
                  </a:ext>
                </a:extLst>
              </a:tr>
            </a:tbl>
          </a:graphicData>
        </a:graphic>
      </p:graphicFrame>
      <p:sp>
        <p:nvSpPr>
          <p:cNvPr id="9" name="TextBox 8">
            <a:extLst>
              <a:ext uri="{FF2B5EF4-FFF2-40B4-BE49-F238E27FC236}">
                <a16:creationId xmlns:a16="http://schemas.microsoft.com/office/drawing/2014/main" id="{076DAF24-F629-FBD1-65C0-86D7CCCD5BEB}"/>
              </a:ext>
            </a:extLst>
          </p:cNvPr>
          <p:cNvSpPr txBox="1"/>
          <p:nvPr/>
        </p:nvSpPr>
        <p:spPr>
          <a:xfrm>
            <a:off x="633923" y="5989548"/>
            <a:ext cx="979714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CSV files should be a flat view with the attribute fields in columns and items in rows.</a:t>
            </a:r>
            <a:endParaRPr lang="en-US" sz="700" dirty="0">
              <a:solidFill>
                <a:schemeClr val="bg1">
                  <a:lumMod val="50000"/>
                </a:schemeClr>
              </a:solidFill>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The files can include additional attribute fields.</a:t>
            </a: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Additional data files can be brought in as needed.</a:t>
            </a: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All files should have a column for "Date Loaded to Anaplan" that should be populated with the current date.</a:t>
            </a:r>
            <a:endParaRPr lang="en-US" sz="700" dirty="0">
              <a:solidFill>
                <a:schemeClr val="bg1">
                  <a:lumMod val="50000"/>
                </a:schemeClr>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57609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dirty="0">
                <a:solidFill>
                  <a:schemeClr val="tx2"/>
                </a:solidFill>
                <a:latin typeface="Arial"/>
                <a:ea typeface="Verdana"/>
                <a:cs typeface="Arial"/>
              </a:rPr>
              <a:t>Metadata requirements and description </a:t>
            </a:r>
            <a:endParaRPr lang="en-US" dirty="0">
              <a:solidFill>
                <a:schemeClr val="tx2"/>
              </a:solidFill>
            </a:endParaRPr>
          </a:p>
        </p:txBody>
      </p:sp>
      <p:graphicFrame>
        <p:nvGraphicFramePr>
          <p:cNvPr id="3" name="Table 2">
            <a:extLst>
              <a:ext uri="{FF2B5EF4-FFF2-40B4-BE49-F238E27FC236}">
                <a16:creationId xmlns:a16="http://schemas.microsoft.com/office/drawing/2014/main" id="{1EEB7865-534A-EC35-EC6F-EE409591E758}"/>
              </a:ext>
            </a:extLst>
          </p:cNvPr>
          <p:cNvGraphicFramePr>
            <a:graphicFrameLocks noGrp="1"/>
          </p:cNvGraphicFramePr>
          <p:nvPr>
            <p:extLst>
              <p:ext uri="{D42A27DB-BD31-4B8C-83A1-F6EECF244321}">
                <p14:modId xmlns:p14="http://schemas.microsoft.com/office/powerpoint/2010/main" val="641517250"/>
              </p:ext>
            </p:extLst>
          </p:nvPr>
        </p:nvGraphicFramePr>
        <p:xfrm>
          <a:off x="614038" y="924757"/>
          <a:ext cx="10956062" cy="4908773"/>
        </p:xfrm>
        <a:graphic>
          <a:graphicData uri="http://schemas.openxmlformats.org/drawingml/2006/table">
            <a:tbl>
              <a:tblPr firstRow="1" bandRow="1">
                <a:tableStyleId>{793D81CF-94F2-401A-BA57-92F5A7B2D0C5}</a:tableStyleId>
              </a:tblPr>
              <a:tblGrid>
                <a:gridCol w="2827420">
                  <a:extLst>
                    <a:ext uri="{9D8B030D-6E8A-4147-A177-3AD203B41FA5}">
                      <a16:colId xmlns:a16="http://schemas.microsoft.com/office/drawing/2014/main" val="1536700407"/>
                    </a:ext>
                  </a:extLst>
                </a:gridCol>
                <a:gridCol w="4030942">
                  <a:extLst>
                    <a:ext uri="{9D8B030D-6E8A-4147-A177-3AD203B41FA5}">
                      <a16:colId xmlns:a16="http://schemas.microsoft.com/office/drawing/2014/main" val="1882405905"/>
                    </a:ext>
                  </a:extLst>
                </a:gridCol>
                <a:gridCol w="4097700">
                  <a:extLst>
                    <a:ext uri="{9D8B030D-6E8A-4147-A177-3AD203B41FA5}">
                      <a16:colId xmlns:a16="http://schemas.microsoft.com/office/drawing/2014/main" val="1929866753"/>
                    </a:ext>
                  </a:extLst>
                </a:gridCol>
              </a:tblGrid>
              <a:tr h="433430">
                <a:tc>
                  <a:txBody>
                    <a:bodyPr/>
                    <a:lstStyle/>
                    <a:p>
                      <a:pPr algn="ctr"/>
                      <a:r>
                        <a:rPr lang="en-US" sz="1600" dirty="0">
                          <a:solidFill>
                            <a:schemeClr val="bg1"/>
                          </a:solidFill>
                        </a:rPr>
                        <a:t>Dimensions</a:t>
                      </a:r>
                    </a:p>
                  </a:txBody>
                  <a:tcPr anchor="ctr">
                    <a:solidFill>
                      <a:srgbClr val="0C314B"/>
                    </a:solidFill>
                  </a:tcPr>
                </a:tc>
                <a:tc>
                  <a:txBody>
                    <a:bodyPr/>
                    <a:lstStyle/>
                    <a:p>
                      <a:pPr lvl="0" algn="ctr">
                        <a:buNone/>
                      </a:pPr>
                      <a:r>
                        <a:rPr lang="en-US" sz="1600" dirty="0">
                          <a:solidFill>
                            <a:schemeClr val="bg1"/>
                          </a:solidFill>
                        </a:rPr>
                        <a:t>Description</a:t>
                      </a:r>
                    </a:p>
                  </a:txBody>
                  <a:tcPr anchor="ctr">
                    <a:solidFill>
                      <a:srgbClr val="0C314B"/>
                    </a:solidFill>
                  </a:tcPr>
                </a:tc>
                <a:tc>
                  <a:txBody>
                    <a:bodyPr/>
                    <a:lstStyle/>
                    <a:p>
                      <a:pPr algn="ctr"/>
                      <a:r>
                        <a:rPr lang="en-US" sz="1600" dirty="0">
                          <a:solidFill>
                            <a:schemeClr val="bg1"/>
                          </a:solidFill>
                        </a:rPr>
                        <a:t>Mandatory attributes</a:t>
                      </a:r>
                    </a:p>
                  </a:txBody>
                  <a:tcPr anchor="ctr">
                    <a:solidFill>
                      <a:srgbClr val="0C314B"/>
                    </a:solidFill>
                  </a:tcPr>
                </a:tc>
                <a:extLst>
                  <a:ext uri="{0D108BD9-81ED-4DB2-BD59-A6C34878D82A}">
                    <a16:rowId xmlns:a16="http://schemas.microsoft.com/office/drawing/2014/main" val="2060222883"/>
                  </a:ext>
                </a:extLst>
              </a:tr>
              <a:tr h="661428">
                <a:tc>
                  <a:txBody>
                    <a:bodyPr/>
                    <a:lstStyle/>
                    <a:p>
                      <a:pPr marL="0" marR="0" lvl="0" indent="0" algn="l">
                        <a:lnSpc>
                          <a:spcPct val="110000"/>
                        </a:lnSpc>
                        <a:spcBef>
                          <a:spcPts val="0"/>
                        </a:spcBef>
                        <a:spcAft>
                          <a:spcPts val="0"/>
                        </a:spcAft>
                        <a:buClr>
                          <a:srgbClr val="000000"/>
                        </a:buClr>
                        <a:buNone/>
                      </a:pPr>
                      <a:r>
                        <a:rPr lang="en-US" sz="1400" b="1" u="none" strike="noStrike" noProof="0" dirty="0">
                          <a:solidFill>
                            <a:srgbClr val="0C314B"/>
                          </a:solidFill>
                        </a:rPr>
                        <a:t>Accounts </a:t>
                      </a:r>
                      <a:endParaRPr lang="en-US" sz="1400" b="1" dirty="0">
                        <a:solidFill>
                          <a:srgbClr val="0C314B"/>
                        </a:solidFill>
                      </a:endParaRPr>
                    </a:p>
                    <a:p>
                      <a:pPr marL="0" marR="0" lvl="0" indent="0" algn="l">
                        <a:lnSpc>
                          <a:spcPct val="110000"/>
                        </a:lnSpc>
                        <a:spcBef>
                          <a:spcPts val="0"/>
                        </a:spcBef>
                        <a:spcAft>
                          <a:spcPts val="0"/>
                        </a:spcAft>
                        <a:buNone/>
                      </a:pPr>
                      <a:r>
                        <a:rPr lang="en-US" sz="1100" b="0" u="none" strike="noStrike" noProof="0" dirty="0">
                          <a:solidFill>
                            <a:srgbClr val="0C314B"/>
                          </a:solidFill>
                        </a:rPr>
                        <a:t>(could also be clients, customers, etc.) </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r>
                        <a:rPr lang="en-US" sz="1000" u="none" strike="noStrike" noProof="0" dirty="0">
                          <a:solidFill>
                            <a:srgbClr val="0C314B"/>
                          </a:solidFill>
                        </a:rPr>
                        <a:t>Source data for any down-stream account summary reporting</a:t>
                      </a: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 Territory, Address</a:t>
                      </a:r>
                      <a:br>
                        <a:rPr lang="en-US" sz="1200" u="none" strike="noStrike" noProof="0" dirty="0">
                          <a:solidFill>
                            <a:srgbClr val="0C314B"/>
                          </a:solidFill>
                        </a:rPr>
                      </a:br>
                      <a:r>
                        <a:rPr lang="en-US" sz="1200" u="none" strike="noStrike" noProof="0" dirty="0">
                          <a:solidFill>
                            <a:srgbClr val="0C314B"/>
                          </a:solidFill>
                        </a:rPr>
                        <a:t>(city, state, country, postal code), account owner </a:t>
                      </a:r>
                    </a:p>
                  </a:txBody>
                  <a:tcPr anchor="ctr">
                    <a:solidFill>
                      <a:srgbClr val="F3F1EE"/>
                    </a:solidFill>
                  </a:tcPr>
                </a:tc>
                <a:extLst>
                  <a:ext uri="{0D108BD9-81ED-4DB2-BD59-A6C34878D82A}">
                    <a16:rowId xmlns:a16="http://schemas.microsoft.com/office/drawing/2014/main" val="1998209985"/>
                  </a:ext>
                </a:extLst>
              </a:tr>
              <a:tr h="608024">
                <a:tc>
                  <a:txBody>
                    <a:bodyPr/>
                    <a:lstStyle/>
                    <a:p>
                      <a:pPr marL="0" lvl="0" indent="0" algn="l">
                        <a:lnSpc>
                          <a:spcPct val="110000"/>
                        </a:lnSpc>
                        <a:spcBef>
                          <a:spcPts val="0"/>
                        </a:spcBef>
                        <a:spcAft>
                          <a:spcPts val="0"/>
                        </a:spcAft>
                        <a:buNone/>
                      </a:pPr>
                      <a:r>
                        <a:rPr lang="en-US" sz="1400" b="1" u="none" strike="noStrike" noProof="0" dirty="0">
                          <a:solidFill>
                            <a:srgbClr val="0C314B"/>
                          </a:solidFill>
                        </a:rPr>
                        <a:t>Opportunity</a:t>
                      </a:r>
                    </a:p>
                  </a:txBody>
                  <a:tcPr anchor="ctr"/>
                </a:tc>
                <a:tc>
                  <a:txBody>
                    <a:bodyPr/>
                    <a:lstStyle/>
                    <a:p>
                      <a:pPr marL="171450" lvl="0" indent="-171450" algn="l">
                        <a:lnSpc>
                          <a:spcPct val="100000"/>
                        </a:lnSpc>
                        <a:spcBef>
                          <a:spcPts val="0"/>
                        </a:spcBef>
                        <a:spcAft>
                          <a:spcPts val="0"/>
                        </a:spcAft>
                        <a:buFont typeface="Arial"/>
                        <a:buChar char="•"/>
                      </a:pPr>
                      <a:r>
                        <a:rPr lang="en-US" sz="1000" u="none" strike="noStrike" noProof="0" dirty="0">
                          <a:solidFill>
                            <a:srgbClr val="0C314B"/>
                          </a:solidFill>
                        </a:rPr>
                        <a:t>Source data before down-stream opportunity summary reporting</a:t>
                      </a:r>
                    </a:p>
                  </a:txBody>
                  <a:tcPr anchor="ctr"/>
                </a:tc>
                <a:tc>
                  <a:txBody>
                    <a:bodyPr/>
                    <a:lstStyle/>
                    <a:p>
                      <a:pPr lvl="0" algn="l">
                        <a:lnSpc>
                          <a:spcPct val="100000"/>
                        </a:lnSpc>
                        <a:spcBef>
                          <a:spcPts val="0"/>
                        </a:spcBef>
                        <a:spcAft>
                          <a:spcPts val="0"/>
                        </a:spcAft>
                        <a:buNone/>
                      </a:pPr>
                      <a:r>
                        <a:rPr lang="en-US" sz="1200" u="none" strike="noStrike" noProof="0" dirty="0">
                          <a:solidFill>
                            <a:srgbClr val="0C314B"/>
                          </a:solidFill>
                        </a:rPr>
                        <a:t>Name, ID, Account, Product ID, Estimated Close Date, Total Amount, Stage, Stage Entry Date</a:t>
                      </a:r>
                    </a:p>
                  </a:txBody>
                  <a:tcPr anchor="ctr"/>
                </a:tc>
                <a:extLst>
                  <a:ext uri="{0D108BD9-81ED-4DB2-BD59-A6C34878D82A}">
                    <a16:rowId xmlns:a16="http://schemas.microsoft.com/office/drawing/2014/main" val="3823709350"/>
                  </a:ext>
                </a:extLst>
              </a:tr>
              <a:tr h="738031">
                <a:tc>
                  <a:txBody>
                    <a:bodyPr/>
                    <a:lstStyle/>
                    <a:p>
                      <a:pPr marL="0" marR="0" lvl="1" indent="0" algn="l">
                        <a:lnSpc>
                          <a:spcPct val="110000"/>
                        </a:lnSpc>
                        <a:spcBef>
                          <a:spcPts val="0"/>
                        </a:spcBef>
                        <a:spcAft>
                          <a:spcPts val="0"/>
                        </a:spcAft>
                        <a:buClr>
                          <a:srgbClr val="000000"/>
                        </a:buClr>
                        <a:buNone/>
                      </a:pPr>
                      <a:r>
                        <a:rPr lang="en-US" sz="1400" b="1" u="none" strike="noStrike" noProof="0" dirty="0">
                          <a:solidFill>
                            <a:srgbClr val="0C314B"/>
                          </a:solidFill>
                        </a:rPr>
                        <a:t>Product </a:t>
                      </a:r>
                      <a:endParaRPr lang="en-US" sz="1400" b="1" dirty="0">
                        <a:solidFill>
                          <a:srgbClr val="0C314B"/>
                        </a:solidFill>
                      </a:endParaRPr>
                    </a:p>
                    <a:p>
                      <a:pPr marL="0" marR="0" lvl="1" indent="0" algn="l">
                        <a:lnSpc>
                          <a:spcPct val="110000"/>
                        </a:lnSpc>
                        <a:spcBef>
                          <a:spcPts val="0"/>
                        </a:spcBef>
                        <a:spcAft>
                          <a:spcPts val="0"/>
                        </a:spcAft>
                        <a:buNone/>
                      </a:pPr>
                      <a:r>
                        <a:rPr lang="en-US" sz="1100" b="0" u="none" strike="noStrike" noProof="0" dirty="0">
                          <a:solidFill>
                            <a:srgbClr val="0C314B"/>
                          </a:solidFill>
                        </a:rPr>
                        <a:t>(could also be offerings, services, etc.) </a:t>
                      </a:r>
                      <a:endParaRPr lang="en-US" sz="1100" b="0" dirty="0">
                        <a:solidFill>
                          <a:srgbClr val="0C314B"/>
                        </a:solidFill>
                      </a:endParaRP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Used in the opportunity detail, order details</a:t>
                      </a:r>
                      <a:endParaRPr lang="en-US" sz="1000" dirty="0">
                        <a:solidFill>
                          <a:srgbClr val="0C314B"/>
                        </a:solidFill>
                      </a:endParaRPr>
                    </a:p>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Historical data import on 3.0 dashboard is by product</a:t>
                      </a:r>
                      <a:endParaRPr lang="en-US" sz="1000" dirty="0">
                        <a:solidFill>
                          <a:srgbClr val="0C314B"/>
                        </a:solidFill>
                      </a:endParaRPr>
                    </a:p>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Product analysis</a:t>
                      </a:r>
                      <a:endParaRPr lang="en-US" sz="1000" dirty="0">
                        <a:solidFill>
                          <a:srgbClr val="0C314B"/>
                        </a:solidFill>
                      </a:endParaRP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a:t>
                      </a:r>
                    </a:p>
                  </a:txBody>
                  <a:tcPr anchor="ctr">
                    <a:solidFill>
                      <a:srgbClr val="F3F1EE"/>
                    </a:solidFill>
                  </a:tcPr>
                </a:tc>
                <a:extLst>
                  <a:ext uri="{0D108BD9-81ED-4DB2-BD59-A6C34878D82A}">
                    <a16:rowId xmlns:a16="http://schemas.microsoft.com/office/drawing/2014/main" val="2213606848"/>
                  </a:ext>
                </a:extLst>
              </a:tr>
              <a:tr h="608024">
                <a:tc>
                  <a:txBody>
                    <a:bodyPr/>
                    <a:lstStyle/>
                    <a:p>
                      <a:pPr lvl="0">
                        <a:buNone/>
                      </a:pPr>
                      <a:r>
                        <a:rPr lang="en-US" sz="1400" b="1" u="none" strike="noStrike" noProof="0" dirty="0">
                          <a:solidFill>
                            <a:srgbClr val="0C314B"/>
                          </a:solidFill>
                        </a:rPr>
                        <a:t>Employee </a:t>
                      </a:r>
                      <a:endParaRPr lang="en-US" sz="1400" b="1" dirty="0">
                        <a:solidFill>
                          <a:srgbClr val="0C314B"/>
                        </a:solidFill>
                      </a:endParaRPr>
                    </a:p>
                    <a:p>
                      <a:pPr lvl="0">
                        <a:buNone/>
                      </a:pPr>
                      <a:r>
                        <a:rPr lang="en-US" sz="1100" b="0" u="none" strike="noStrike" noProof="0" dirty="0">
                          <a:solidFill>
                            <a:srgbClr val="0C314B"/>
                          </a:solidFill>
                        </a:rPr>
                        <a:t>(could also be sales reps, sellers, etc.)</a:t>
                      </a:r>
                      <a:endParaRPr lang="en-US" sz="1100" b="0" dirty="0">
                        <a:solidFill>
                          <a:srgbClr val="0C314B"/>
                        </a:solidFill>
                      </a:endParaRPr>
                    </a:p>
                  </a:txBody>
                  <a:tcPr anchor="ctr"/>
                </a:tc>
                <a:tc>
                  <a:txBody>
                    <a:bodyPr/>
                    <a:lstStyle/>
                    <a:p>
                      <a:pPr marL="171450" lvl="0" indent="-171450" algn="l">
                        <a:lnSpc>
                          <a:spcPct val="100000"/>
                        </a:lnSpc>
                        <a:spcBef>
                          <a:spcPts val="0"/>
                        </a:spcBef>
                        <a:spcAft>
                          <a:spcPts val="0"/>
                        </a:spcAft>
                        <a:buFont typeface="Arial"/>
                        <a:buChar char="•"/>
                      </a:pPr>
                      <a:r>
                        <a:rPr lang="en-US" sz="1000" u="none" strike="noStrike" noProof="0" dirty="0">
                          <a:solidFill>
                            <a:srgbClr val="0C314B"/>
                          </a:solidFill>
                        </a:rPr>
                        <a:t>Used for reporting purpose to track accounts and opportunity</a:t>
                      </a:r>
                    </a:p>
                    <a:p>
                      <a:pPr marL="171450" lvl="0" indent="-171450" algn="l">
                        <a:lnSpc>
                          <a:spcPct val="100000"/>
                        </a:lnSpc>
                        <a:spcBef>
                          <a:spcPts val="0"/>
                        </a:spcBef>
                        <a:spcAft>
                          <a:spcPts val="0"/>
                        </a:spcAft>
                        <a:buFont typeface="Arial"/>
                        <a:buChar char="•"/>
                      </a:pPr>
                      <a:r>
                        <a:rPr lang="en-US" sz="1000" u="none" strike="noStrike" noProof="0" dirty="0">
                          <a:solidFill>
                            <a:srgbClr val="0C314B"/>
                          </a:solidFill>
                        </a:rPr>
                        <a:t>No calculations are dependent on this attribute</a:t>
                      </a:r>
                    </a:p>
                  </a:txBody>
                  <a:tcPr anchor="ctr"/>
                </a:tc>
                <a:tc>
                  <a:txBody>
                    <a:bodyPr/>
                    <a:lstStyle/>
                    <a:p>
                      <a:pPr lvl="0" algn="l">
                        <a:lnSpc>
                          <a:spcPct val="100000"/>
                        </a:lnSpc>
                        <a:spcBef>
                          <a:spcPts val="0"/>
                        </a:spcBef>
                        <a:spcAft>
                          <a:spcPts val="0"/>
                        </a:spcAft>
                        <a:buNone/>
                      </a:pPr>
                      <a:r>
                        <a:rPr lang="en-US" sz="1200" u="none" strike="noStrike" noProof="0" dirty="0">
                          <a:solidFill>
                            <a:srgbClr val="0C314B"/>
                          </a:solidFill>
                        </a:rPr>
                        <a:t>Name, ID, territory, manager, email, role, role start date</a:t>
                      </a:r>
                    </a:p>
                  </a:txBody>
                  <a:tcPr anchor="ctr"/>
                </a:tc>
                <a:extLst>
                  <a:ext uri="{0D108BD9-81ED-4DB2-BD59-A6C34878D82A}">
                    <a16:rowId xmlns:a16="http://schemas.microsoft.com/office/drawing/2014/main" val="733539446"/>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dirty="0">
                          <a:solidFill>
                            <a:srgbClr val="0C314B"/>
                          </a:solidFill>
                        </a:rPr>
                        <a:t>Territory</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r>
                        <a:rPr lang="en-US" sz="1000" u="none" strike="noStrike" noProof="0" dirty="0">
                          <a:solidFill>
                            <a:srgbClr val="0C314B"/>
                          </a:solidFill>
                        </a:rPr>
                        <a:t>Used for any relevant reporting, such as GTM performance reporting by Territory.</a:t>
                      </a: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a:t>
                      </a:r>
                    </a:p>
                  </a:txBody>
                  <a:tcPr anchor="ctr">
                    <a:solidFill>
                      <a:srgbClr val="F3F1EE"/>
                    </a:solidFill>
                  </a:tcPr>
                </a:tc>
                <a:extLst>
                  <a:ext uri="{0D108BD9-81ED-4DB2-BD59-A6C34878D82A}">
                    <a16:rowId xmlns:a16="http://schemas.microsoft.com/office/drawing/2014/main" val="819309534"/>
                  </a:ext>
                </a:extLst>
              </a:tr>
              <a:tr h="464959">
                <a:tc>
                  <a:txBody>
                    <a:bodyPr/>
                    <a:lstStyle/>
                    <a:p>
                      <a:pPr lvl="0">
                        <a:buNone/>
                      </a:pPr>
                      <a:r>
                        <a:rPr lang="en-US" sz="1400" b="1" u="none" strike="noStrike" noProof="0" dirty="0">
                          <a:solidFill>
                            <a:srgbClr val="0C314B"/>
                          </a:solidFill>
                        </a:rPr>
                        <a:t>NAICS Industry</a:t>
                      </a:r>
                    </a:p>
                  </a:txBody>
                  <a:tcPr anchor="ctr">
                    <a:solidFill>
                      <a:schemeClr val="bg1"/>
                    </a:solidFill>
                  </a:tcPr>
                </a:tc>
                <a:tc>
                  <a:txBody>
                    <a:bodyPr/>
                    <a:lstStyle/>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Used for any relevant reporting, such as GTM performance reporting by Industry.</a:t>
                      </a:r>
                      <a:endParaRPr lang="en-US" sz="1000" dirty="0">
                        <a:solidFill>
                          <a:srgbClr val="0C314B"/>
                        </a:solidFill>
                      </a:endParaRPr>
                    </a:p>
                  </a:txBody>
                  <a:tcPr anchor="ctr">
                    <a:solidFill>
                      <a:schemeClr val="bg1"/>
                    </a:solidFill>
                  </a:tcP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a:t>
                      </a:r>
                    </a:p>
                  </a:txBody>
                  <a:tcPr anchor="ctr">
                    <a:solidFill>
                      <a:schemeClr val="bg1"/>
                    </a:solidFill>
                  </a:tcPr>
                </a:tc>
                <a:extLst>
                  <a:ext uri="{0D108BD9-81ED-4DB2-BD59-A6C34878D82A}">
                    <a16:rowId xmlns:a16="http://schemas.microsoft.com/office/drawing/2014/main" val="3490445398"/>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dirty="0">
                          <a:solidFill>
                            <a:srgbClr val="0C314B"/>
                          </a:solidFill>
                        </a:rPr>
                        <a:t>Geography </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Used for any relevant reporting, such as GTM performance reporting by Geography.</a:t>
                      </a:r>
                      <a:endParaRPr lang="en-US" sz="1000" dirty="0">
                        <a:solidFill>
                          <a:srgbClr val="0C314B"/>
                        </a:solidFill>
                      </a:endParaRP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 </a:t>
                      </a:r>
                    </a:p>
                  </a:txBody>
                  <a:tcPr anchor="ctr">
                    <a:solidFill>
                      <a:srgbClr val="F3F1EE"/>
                    </a:solidFill>
                  </a:tcPr>
                </a:tc>
                <a:extLst>
                  <a:ext uri="{0D108BD9-81ED-4DB2-BD59-A6C34878D82A}">
                    <a16:rowId xmlns:a16="http://schemas.microsoft.com/office/drawing/2014/main" val="4043371168"/>
                  </a:ext>
                </a:extLst>
              </a:tr>
              <a:tr h="464959">
                <a:tc>
                  <a:txBody>
                    <a:bodyPr/>
                    <a:lstStyle/>
                    <a:p>
                      <a:pPr marL="0" lvl="0" indent="0" algn="l">
                        <a:lnSpc>
                          <a:spcPct val="110000"/>
                        </a:lnSpc>
                        <a:spcBef>
                          <a:spcPts val="0"/>
                        </a:spcBef>
                        <a:spcAft>
                          <a:spcPts val="0"/>
                        </a:spcAft>
                        <a:buNone/>
                      </a:pPr>
                      <a:r>
                        <a:rPr lang="en-US" sz="1400" b="1" u="none" strike="noStrike" noProof="0" dirty="0">
                          <a:solidFill>
                            <a:srgbClr val="0C314B"/>
                          </a:solidFill>
                        </a:rPr>
                        <a:t>Planning Territory</a:t>
                      </a:r>
                    </a:p>
                  </a:txBody>
                  <a:tcPr anchor="ctr"/>
                </a:tc>
                <a:tc>
                  <a:txBody>
                    <a:bodyPr/>
                    <a:lstStyle/>
                    <a:p>
                      <a:pPr marL="171450" lvl="0" indent="-171450" algn="l">
                        <a:lnSpc>
                          <a:spcPct val="100000"/>
                        </a:lnSpc>
                        <a:spcBef>
                          <a:spcPts val="0"/>
                        </a:spcBef>
                        <a:spcAft>
                          <a:spcPts val="0"/>
                        </a:spcAft>
                        <a:buFont typeface="Arial"/>
                        <a:buChar char="•"/>
                      </a:pPr>
                      <a:r>
                        <a:rPr lang="en-US" sz="1000" b="0" i="0" u="none" strike="noStrike" noProof="0" dirty="0">
                          <a:solidFill>
                            <a:srgbClr val="0C314B"/>
                          </a:solidFill>
                          <a:latin typeface="Arial"/>
                        </a:rPr>
                        <a:t>Used for any relevant reporting, such as GTM performance reporting by new planning territory.</a:t>
                      </a:r>
                      <a:endParaRPr lang="en-US" sz="1000" dirty="0">
                        <a:solidFill>
                          <a:srgbClr val="0C314B"/>
                        </a:solidFill>
                      </a:endParaRPr>
                    </a:p>
                  </a:txBody>
                  <a:tcPr anchor="ctr"/>
                </a:tc>
                <a:tc>
                  <a:txBody>
                    <a:bodyPr/>
                    <a:lstStyle/>
                    <a:p>
                      <a:pPr lvl="0" algn="l">
                        <a:lnSpc>
                          <a:spcPct val="100000"/>
                        </a:lnSpc>
                        <a:spcBef>
                          <a:spcPts val="0"/>
                        </a:spcBef>
                        <a:spcAft>
                          <a:spcPts val="0"/>
                        </a:spcAft>
                        <a:buNone/>
                      </a:pPr>
                      <a:r>
                        <a:rPr lang="en-US" sz="1200" u="none" strike="noStrike" noProof="0" dirty="0">
                          <a:solidFill>
                            <a:srgbClr val="0C314B"/>
                          </a:solidFill>
                        </a:rPr>
                        <a:t>Name, ID, Parent</a:t>
                      </a:r>
                      <a:endParaRPr lang="en-US" sz="1200" dirty="0">
                        <a:solidFill>
                          <a:srgbClr val="0C314B"/>
                        </a:solidFill>
                      </a:endParaRPr>
                    </a:p>
                  </a:txBody>
                  <a:tcPr anchor="ctr"/>
                </a:tc>
                <a:extLst>
                  <a:ext uri="{0D108BD9-81ED-4DB2-BD59-A6C34878D82A}">
                    <a16:rowId xmlns:a16="http://schemas.microsoft.com/office/drawing/2014/main" val="794455313"/>
                  </a:ext>
                </a:extLst>
              </a:tr>
            </a:tbl>
          </a:graphicData>
        </a:graphic>
      </p:graphicFrame>
      <p:sp>
        <p:nvSpPr>
          <p:cNvPr id="7" name="TextBox 6">
            <a:extLst>
              <a:ext uri="{FF2B5EF4-FFF2-40B4-BE49-F238E27FC236}">
                <a16:creationId xmlns:a16="http://schemas.microsoft.com/office/drawing/2014/main" id="{4178F6A4-EB68-7E93-CCED-0933EAE263E7}"/>
              </a:ext>
            </a:extLst>
          </p:cNvPr>
          <p:cNvSpPr txBox="1"/>
          <p:nvPr/>
        </p:nvSpPr>
        <p:spPr>
          <a:xfrm>
            <a:off x="614038" y="6060504"/>
            <a:ext cx="10680495"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CSV files should be a flat view with the attribute fields in columns and dimension items in rows.</a:t>
            </a:r>
            <a:endParaRPr lang="en-US" sz="700" dirty="0">
              <a:solidFill>
                <a:schemeClr val="bg1">
                  <a:lumMod val="50000"/>
                </a:schemeClr>
              </a:solidFill>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The files can include additional attribute fields.</a:t>
            </a: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Additional dimensions and hierarchies can be brought in as needed.</a:t>
            </a: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Where numbered lists are referenced (for example, DH Attributes by Account Flat. Account Parent), the value loaded to that field in the data hub should be the CODE, not the name (e.g., 1234 rather than Procter and Gamble).</a:t>
            </a:r>
          </a:p>
          <a:p>
            <a:pPr marL="285750" indent="-285750">
              <a:buFont typeface="Arial" panose="020B0604020202020204" pitchFamily="34" charset="0"/>
              <a:buChar char="•"/>
            </a:pPr>
            <a:r>
              <a:rPr lang="en-US" sz="700" dirty="0">
                <a:solidFill>
                  <a:schemeClr val="bg1">
                    <a:lumMod val="50000"/>
                  </a:schemeClr>
                </a:solidFill>
                <a:latin typeface="Arial"/>
                <a:ea typeface="Verdana"/>
                <a:cs typeface="Arial"/>
              </a:rPr>
              <a:t>For files that contain hierarchies, they must be in parent child format. There's no need to include a parent for the first level of the hierarchy.</a:t>
            </a:r>
            <a:endParaRPr lang="en-US" sz="700" dirty="0">
              <a:solidFill>
                <a:schemeClr val="bg1">
                  <a:lumMod val="50000"/>
                </a:schemeClr>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307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0444-2B64-2913-B8C1-C82C8FD59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C6420-8BE9-49FD-E965-F6CD7F2C9DA1}"/>
              </a:ext>
            </a:extLst>
          </p:cNvPr>
          <p:cNvSpPr>
            <a:spLocks noGrp="1"/>
          </p:cNvSpPr>
          <p:nvPr>
            <p:ph type="title"/>
          </p:nvPr>
        </p:nvSpPr>
        <p:spPr>
          <a:xfrm>
            <a:off x="1018036" y="3536015"/>
            <a:ext cx="7571525" cy="1250836"/>
          </a:xfrm>
        </p:spPr>
        <p:txBody>
          <a:bodyPr lIns="0" tIns="45720" rIns="0" bIns="45720" anchor="t"/>
          <a:lstStyle/>
          <a:p>
            <a:r>
              <a:rPr lang="en-US" sz="4250" dirty="0">
                <a:latin typeface="Arial"/>
                <a:cs typeface="Arial"/>
              </a:rPr>
              <a:t>Model design</a:t>
            </a:r>
          </a:p>
        </p:txBody>
      </p:sp>
      <p:sp>
        <p:nvSpPr>
          <p:cNvPr id="3" name="Text Placeholder 2">
            <a:extLst>
              <a:ext uri="{FF2B5EF4-FFF2-40B4-BE49-F238E27FC236}">
                <a16:creationId xmlns:a16="http://schemas.microsoft.com/office/drawing/2014/main" id="{DFAC7037-38A3-D8FF-1307-BFDD28723CD8}"/>
              </a:ext>
            </a:extLst>
          </p:cNvPr>
          <p:cNvSpPr>
            <a:spLocks noGrp="1"/>
          </p:cNvSpPr>
          <p:nvPr>
            <p:ph type="body" sz="quarter" idx="10"/>
          </p:nvPr>
        </p:nvSpPr>
        <p:spPr/>
        <p:txBody>
          <a:bodyPr/>
          <a:lstStyle/>
          <a:p>
            <a:r>
              <a:rPr lang="en-US"/>
              <a:t>Section 4</a:t>
            </a:r>
          </a:p>
        </p:txBody>
      </p:sp>
    </p:spTree>
    <p:extLst>
      <p:ext uri="{BB962C8B-B14F-4D97-AF65-F5344CB8AC3E}">
        <p14:creationId xmlns:p14="http://schemas.microsoft.com/office/powerpoint/2010/main" val="309509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US" b="1" dirty="0">
                <a:solidFill>
                  <a:schemeClr val="tx2"/>
                </a:solidFill>
              </a:rPr>
              <a:t>Model diagram overview</a:t>
            </a:r>
            <a:endParaRPr lang="en-US" sz="1867" dirty="0">
              <a:latin typeface="Inter Light" panose="02000503000000020004" pitchFamily="2" charset="0"/>
              <a:ea typeface="Inter Light" panose="02000503000000020004" pitchFamily="2" charset="0"/>
            </a:endParaRPr>
          </a:p>
        </p:txBody>
      </p:sp>
      <p:grpSp>
        <p:nvGrpSpPr>
          <p:cNvPr id="97" name="Group 96">
            <a:extLst>
              <a:ext uri="{FF2B5EF4-FFF2-40B4-BE49-F238E27FC236}">
                <a16:creationId xmlns:a16="http://schemas.microsoft.com/office/drawing/2014/main" id="{6F1F8D49-3C7F-3AD2-A266-3C0566E14AA1}"/>
              </a:ext>
            </a:extLst>
          </p:cNvPr>
          <p:cNvGrpSpPr/>
          <p:nvPr/>
        </p:nvGrpSpPr>
        <p:grpSpPr>
          <a:xfrm>
            <a:off x="314268" y="2199739"/>
            <a:ext cx="11377162" cy="3128025"/>
            <a:chOff x="360520" y="2390615"/>
            <a:chExt cx="10041989" cy="2760934"/>
          </a:xfrm>
        </p:grpSpPr>
        <p:grpSp>
          <p:nvGrpSpPr>
            <p:cNvPr id="2" name="Group 1">
              <a:extLst>
                <a:ext uri="{FF2B5EF4-FFF2-40B4-BE49-F238E27FC236}">
                  <a16:creationId xmlns:a16="http://schemas.microsoft.com/office/drawing/2014/main" id="{2BF2534B-D775-D9B8-8790-D8973D5D11D0}"/>
                </a:ext>
              </a:extLst>
            </p:cNvPr>
            <p:cNvGrpSpPr/>
            <p:nvPr/>
          </p:nvGrpSpPr>
          <p:grpSpPr>
            <a:xfrm>
              <a:off x="360520" y="2391239"/>
              <a:ext cx="3495691" cy="2630335"/>
              <a:chOff x="1334358" y="1122872"/>
              <a:chExt cx="7709939" cy="4602605"/>
            </a:xfrm>
          </p:grpSpPr>
          <p:sp>
            <p:nvSpPr>
              <p:cNvPr id="5" name="Rounded Rectangle 4">
                <a:extLst>
                  <a:ext uri="{FF2B5EF4-FFF2-40B4-BE49-F238E27FC236}">
                    <a16:creationId xmlns:a16="http://schemas.microsoft.com/office/drawing/2014/main" id="{AB570F63-94CB-C315-B528-9671E90CFE0B}"/>
                  </a:ext>
                </a:extLst>
              </p:cNvPr>
              <p:cNvSpPr/>
              <p:nvPr/>
            </p:nvSpPr>
            <p:spPr>
              <a:xfrm>
                <a:off x="3365526"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Data</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(Customer &amp; Prospect)</a:t>
                </a:r>
              </a:p>
            </p:txBody>
          </p:sp>
          <p:sp>
            <p:nvSpPr>
              <p:cNvPr id="8" name="Rounded Rectangle 7">
                <a:extLst>
                  <a:ext uri="{FF2B5EF4-FFF2-40B4-BE49-F238E27FC236}">
                    <a16:creationId xmlns:a16="http://schemas.microsoft.com/office/drawing/2014/main" id="{8A3FB52A-A0B9-6792-2314-98BB22D6366A}"/>
                  </a:ext>
                </a:extLst>
              </p:cNvPr>
              <p:cNvSpPr/>
              <p:nvPr/>
            </p:nvSpPr>
            <p:spPr>
              <a:xfrm>
                <a:off x="3365526" y="423704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Historical GTM</a:t>
                </a:r>
              </a:p>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Performance</a:t>
                </a:r>
              </a:p>
            </p:txBody>
          </p:sp>
          <p:sp>
            <p:nvSpPr>
              <p:cNvPr id="9" name="Rounded Rectangle 8">
                <a:extLst>
                  <a:ext uri="{FF2B5EF4-FFF2-40B4-BE49-F238E27FC236}">
                    <a16:creationId xmlns:a16="http://schemas.microsoft.com/office/drawing/2014/main" id="{5C4D7B1E-529D-7506-2249-9F59CAB7857B}"/>
                  </a:ext>
                </a:extLst>
              </p:cNvPr>
              <p:cNvSpPr/>
              <p:nvPr/>
            </p:nvSpPr>
            <p:spPr>
              <a:xfrm>
                <a:off x="5326782" y="1122872"/>
                <a:ext cx="3717515" cy="666175"/>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Existing Customer Analysis – </a:t>
                </a:r>
                <a:b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UCP / ICP</a:t>
                </a:r>
              </a:p>
            </p:txBody>
          </p:sp>
          <p:cxnSp>
            <p:nvCxnSpPr>
              <p:cNvPr id="11" name="Straight Arrow Connector 10">
                <a:extLst>
                  <a:ext uri="{FF2B5EF4-FFF2-40B4-BE49-F238E27FC236}">
                    <a16:creationId xmlns:a16="http://schemas.microsoft.com/office/drawing/2014/main" id="{2D2B1AA7-B6F9-3885-2CA4-F662DB6DABFE}"/>
                  </a:ext>
                </a:extLst>
              </p:cNvPr>
              <p:cNvCxnSpPr>
                <a:cxnSpLocks/>
              </p:cNvCxnSpPr>
              <p:nvPr/>
            </p:nvCxnSpPr>
            <p:spPr>
              <a:xfrm flipV="1">
                <a:off x="4058686" y="3743623"/>
                <a:ext cx="0" cy="460803"/>
              </a:xfrm>
              <a:prstGeom prst="straightConnector1">
                <a:avLst/>
              </a:prstGeom>
              <a:ln w="9525" cap="rnd">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78A78967-1D1D-848A-0492-B9EBFA0AA5EC}"/>
                  </a:ext>
                </a:extLst>
              </p:cNvPr>
              <p:cNvSpPr/>
              <p:nvPr/>
            </p:nvSpPr>
            <p:spPr>
              <a:xfrm>
                <a:off x="3371195" y="1790610"/>
                <a:ext cx="1374982" cy="583643"/>
              </a:xfrm>
              <a:prstGeom prst="roundRect">
                <a:avLst>
                  <a:gd name="adj" fmla="val 16836"/>
                </a:avLst>
              </a:prstGeom>
              <a:solidFill>
                <a:schemeClr val="accent1">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Marketing</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Signals</a:t>
                </a:r>
              </a:p>
            </p:txBody>
          </p:sp>
          <p:cxnSp>
            <p:nvCxnSpPr>
              <p:cNvPr id="19" name="Straight Arrow Connector 18">
                <a:extLst>
                  <a:ext uri="{FF2B5EF4-FFF2-40B4-BE49-F238E27FC236}">
                    <a16:creationId xmlns:a16="http://schemas.microsoft.com/office/drawing/2014/main" id="{0316D641-E7CD-AB63-1391-66A02A6B91BA}"/>
                  </a:ext>
                </a:extLst>
              </p:cNvPr>
              <p:cNvCxnSpPr>
                <a:cxnSpLocks/>
              </p:cNvCxnSpPr>
              <p:nvPr/>
            </p:nvCxnSpPr>
            <p:spPr>
              <a:xfrm flipV="1">
                <a:off x="4057648" y="2392359"/>
                <a:ext cx="0" cy="46080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0" name="Rounded Rectangle 19">
                <a:extLst>
                  <a:ext uri="{FF2B5EF4-FFF2-40B4-BE49-F238E27FC236}">
                    <a16:creationId xmlns:a16="http://schemas.microsoft.com/office/drawing/2014/main" id="{C12AE1BF-163B-277C-DB74-CB5F2FACC3C8}"/>
                  </a:ext>
                </a:extLst>
              </p:cNvPr>
              <p:cNvSpPr/>
              <p:nvPr/>
            </p:nvSpPr>
            <p:spPr>
              <a:xfrm>
                <a:off x="5230289"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Identify ICP</a:t>
                </a:r>
              </a:p>
            </p:txBody>
          </p:sp>
          <p:sp>
            <p:nvSpPr>
              <p:cNvPr id="23" name="Rounded Rectangle 22">
                <a:extLst>
                  <a:ext uri="{FF2B5EF4-FFF2-40B4-BE49-F238E27FC236}">
                    <a16:creationId xmlns:a16="http://schemas.microsoft.com/office/drawing/2014/main" id="{36EBE5AF-0168-0CCB-851F-A5D898B7EBFF}"/>
                  </a:ext>
                </a:extLst>
              </p:cNvPr>
              <p:cNvSpPr/>
              <p:nvPr/>
            </p:nvSpPr>
            <p:spPr>
              <a:xfrm>
                <a:off x="7034492"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Define Account</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Hierarchy</a:t>
                </a:r>
              </a:p>
            </p:txBody>
          </p:sp>
          <p:cxnSp>
            <p:nvCxnSpPr>
              <p:cNvPr id="24" name="Straight Arrow Connector 23">
                <a:extLst>
                  <a:ext uri="{FF2B5EF4-FFF2-40B4-BE49-F238E27FC236}">
                    <a16:creationId xmlns:a16="http://schemas.microsoft.com/office/drawing/2014/main" id="{07C16F00-04E0-3B1D-E402-4219B89136BA}"/>
                  </a:ext>
                </a:extLst>
              </p:cNvPr>
              <p:cNvCxnSpPr>
                <a:cxnSpLocks/>
              </p:cNvCxnSpPr>
              <p:nvPr/>
            </p:nvCxnSpPr>
            <p:spPr>
              <a:xfrm flipH="1">
                <a:off x="6607361" y="3428999"/>
                <a:ext cx="40121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FBA5D7D2-7768-EA95-F53F-9E6535308EC1}"/>
                  </a:ext>
                </a:extLst>
              </p:cNvPr>
              <p:cNvCxnSpPr>
                <a:cxnSpLocks/>
              </p:cNvCxnSpPr>
              <p:nvPr/>
            </p:nvCxnSpPr>
            <p:spPr>
              <a:xfrm flipH="1">
                <a:off x="4740508" y="3486572"/>
                <a:ext cx="411355"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5A0F7BC1-F49A-5767-92A8-7D5836153CF1}"/>
                  </a:ext>
                </a:extLst>
              </p:cNvPr>
              <p:cNvCxnSpPr>
                <a:cxnSpLocks/>
                <a:stCxn id="43" idx="0"/>
                <a:endCxn id="17" idx="1"/>
              </p:cNvCxnSpPr>
              <p:nvPr/>
            </p:nvCxnSpPr>
            <p:spPr>
              <a:xfrm rot="5400000" flipH="1" flipV="1">
                <a:off x="2507165" y="1623697"/>
                <a:ext cx="405295" cy="1322766"/>
              </a:xfrm>
              <a:prstGeom prst="bentConnector2">
                <a:avLst/>
              </a:prstGeom>
              <a:ln w="9525" cap="rnd">
                <a:solidFill>
                  <a:schemeClr val="tx2"/>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3" name="Rounded Rectangle 42">
                <a:extLst>
                  <a:ext uri="{FF2B5EF4-FFF2-40B4-BE49-F238E27FC236}">
                    <a16:creationId xmlns:a16="http://schemas.microsoft.com/office/drawing/2014/main" id="{9E6928DD-0AD6-B676-E4A0-11FB0962AA48}"/>
                  </a:ext>
                </a:extLst>
              </p:cNvPr>
              <p:cNvSpPr/>
              <p:nvPr/>
            </p:nvSpPr>
            <p:spPr>
              <a:xfrm>
                <a:off x="1360938" y="2487727"/>
                <a:ext cx="1374982" cy="583643"/>
              </a:xfrm>
              <a:prstGeom prst="roundRect">
                <a:avLst>
                  <a:gd name="adj" fmla="val 16836"/>
                </a:avLst>
              </a:prstGeom>
              <a:solidFill>
                <a:schemeClr val="accent1">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Pl / 3</a:t>
                </a:r>
                <a:r>
                  <a:rPr lang="en-US" sz="500" baseline="30000" dirty="0">
                    <a:solidFill>
                      <a:srgbClr val="0C314B"/>
                    </a:solidFill>
                    <a:latin typeface="Arial" panose="020B0604020202020204" pitchFamily="34" charset="0"/>
                    <a:ea typeface="Inter Medium" panose="02000503000000020004" pitchFamily="2" charset="0"/>
                    <a:cs typeface="Arial" panose="020B0604020202020204" pitchFamily="34" charset="0"/>
                  </a:rPr>
                  <a:t>rd</a:t>
                </a: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 Party</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Internal Data</a:t>
                </a:r>
              </a:p>
            </p:txBody>
          </p:sp>
          <p:grpSp>
            <p:nvGrpSpPr>
              <p:cNvPr id="46" name="Group 45">
                <a:extLst>
                  <a:ext uri="{FF2B5EF4-FFF2-40B4-BE49-F238E27FC236}">
                    <a16:creationId xmlns:a16="http://schemas.microsoft.com/office/drawing/2014/main" id="{44442CBB-2C5F-39A1-1347-140C242F6077}"/>
                  </a:ext>
                </a:extLst>
              </p:cNvPr>
              <p:cNvGrpSpPr/>
              <p:nvPr/>
            </p:nvGrpSpPr>
            <p:grpSpPr>
              <a:xfrm>
                <a:off x="2749626" y="2779548"/>
                <a:ext cx="610894" cy="1285449"/>
                <a:chOff x="4277008" y="3282703"/>
                <a:chExt cx="610894" cy="1285449"/>
              </a:xfrm>
            </p:grpSpPr>
            <p:sp>
              <p:nvSpPr>
                <p:cNvPr id="44" name="Right Brace 43">
                  <a:extLst>
                    <a:ext uri="{FF2B5EF4-FFF2-40B4-BE49-F238E27FC236}">
                      <a16:creationId xmlns:a16="http://schemas.microsoft.com/office/drawing/2014/main" id="{662B61CB-AB63-B057-6527-ED78E42E17DC}"/>
                    </a:ext>
                  </a:extLst>
                </p:cNvPr>
                <p:cNvSpPr/>
                <p:nvPr/>
              </p:nvSpPr>
              <p:spPr>
                <a:xfrm>
                  <a:off x="4277008" y="3282703"/>
                  <a:ext cx="267468" cy="1285449"/>
                </a:xfrm>
                <a:prstGeom prst="rightBrace">
                  <a:avLst>
                    <a:gd name="adj1" fmla="val 0"/>
                    <a:gd name="adj2" fmla="val 47207"/>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00"/>
                </a:p>
              </p:txBody>
            </p:sp>
            <p:cxnSp>
              <p:nvCxnSpPr>
                <p:cNvPr id="45" name="Straight Arrow Connector 44">
                  <a:extLst>
                    <a:ext uri="{FF2B5EF4-FFF2-40B4-BE49-F238E27FC236}">
                      <a16:creationId xmlns:a16="http://schemas.microsoft.com/office/drawing/2014/main" id="{DFF46988-4BBE-2730-ED5C-804254477C5A}"/>
                    </a:ext>
                  </a:extLst>
                </p:cNvPr>
                <p:cNvCxnSpPr>
                  <a:cxnSpLocks/>
                  <a:endCxn id="44" idx="1"/>
                </p:cNvCxnSpPr>
                <p:nvPr/>
              </p:nvCxnSpPr>
              <p:spPr>
                <a:xfrm flipH="1" flipV="1">
                  <a:off x="4544476" y="3889525"/>
                  <a:ext cx="343426" cy="288"/>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sp>
            <p:nvSpPr>
              <p:cNvPr id="50" name="Rounded Rectangle 49">
                <a:extLst>
                  <a:ext uri="{FF2B5EF4-FFF2-40B4-BE49-F238E27FC236}">
                    <a16:creationId xmlns:a16="http://schemas.microsoft.com/office/drawing/2014/main" id="{2FA5F203-52BA-724E-9937-43BA59C19005}"/>
                  </a:ext>
                </a:extLst>
              </p:cNvPr>
              <p:cNvSpPr/>
              <p:nvPr/>
            </p:nvSpPr>
            <p:spPr>
              <a:xfrm>
                <a:off x="1334358" y="3772354"/>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Internal Data</a:t>
                </a:r>
              </a:p>
            </p:txBody>
          </p:sp>
          <p:sp>
            <p:nvSpPr>
              <p:cNvPr id="51" name="Rounded Rectangle 50">
                <a:extLst>
                  <a:ext uri="{FF2B5EF4-FFF2-40B4-BE49-F238E27FC236}">
                    <a16:creationId xmlns:a16="http://schemas.microsoft.com/office/drawing/2014/main" id="{FDEB1F6B-CD35-AE64-BEE3-FA45735A43C8}"/>
                  </a:ext>
                </a:extLst>
              </p:cNvPr>
              <p:cNvSpPr/>
              <p:nvPr/>
            </p:nvSpPr>
            <p:spPr>
              <a:xfrm>
                <a:off x="3365526" y="5141834"/>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Forecast GTM</a:t>
                </a:r>
              </a:p>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Performance</a:t>
                </a:r>
              </a:p>
            </p:txBody>
          </p:sp>
          <p:cxnSp>
            <p:nvCxnSpPr>
              <p:cNvPr id="52" name="Straight Arrow Connector 51">
                <a:extLst>
                  <a:ext uri="{FF2B5EF4-FFF2-40B4-BE49-F238E27FC236}">
                    <a16:creationId xmlns:a16="http://schemas.microsoft.com/office/drawing/2014/main" id="{27A5EDEC-856D-779E-36C5-DAAB49B693B6}"/>
                  </a:ext>
                </a:extLst>
              </p:cNvPr>
              <p:cNvCxnSpPr>
                <a:cxnSpLocks/>
                <a:endCxn id="8" idx="2"/>
              </p:cNvCxnSpPr>
              <p:nvPr/>
            </p:nvCxnSpPr>
            <p:spPr>
              <a:xfrm flipV="1">
                <a:off x="4053017" y="4820692"/>
                <a:ext cx="0" cy="282936"/>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AAD7E386-FD74-5C7E-B15D-2029D6C88130}"/>
                  </a:ext>
                </a:extLst>
              </p:cNvPr>
              <p:cNvSpPr/>
              <p:nvPr/>
            </p:nvSpPr>
            <p:spPr>
              <a:xfrm>
                <a:off x="7113542" y="2397848"/>
                <a:ext cx="1333308" cy="381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Identify</a:t>
                </a:r>
              </a:p>
            </p:txBody>
          </p:sp>
          <p:cxnSp>
            <p:nvCxnSpPr>
              <p:cNvPr id="61" name="Elbow Connector 60">
                <a:extLst>
                  <a:ext uri="{FF2B5EF4-FFF2-40B4-BE49-F238E27FC236}">
                    <a16:creationId xmlns:a16="http://schemas.microsoft.com/office/drawing/2014/main" id="{226CD110-5B91-0D33-84A8-F47F5C6A22ED}"/>
                  </a:ext>
                </a:extLst>
              </p:cNvPr>
              <p:cNvCxnSpPr>
                <a:cxnSpLocks/>
                <a:stCxn id="8" idx="3"/>
              </p:cNvCxnSpPr>
              <p:nvPr/>
            </p:nvCxnSpPr>
            <p:spPr>
              <a:xfrm flipV="1">
                <a:off x="4740508" y="3839769"/>
                <a:ext cx="1172547" cy="689102"/>
              </a:xfrm>
              <a:prstGeom prst="bentConnector3">
                <a:avLst>
                  <a:gd name="adj1" fmla="val 100133"/>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235C63AE-E388-57E2-EA5C-6D2552F77224}"/>
                  </a:ext>
                </a:extLst>
              </p:cNvPr>
              <p:cNvSpPr/>
              <p:nvPr/>
            </p:nvSpPr>
            <p:spPr>
              <a:xfrm>
                <a:off x="4782936" y="4771310"/>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Analyze</a:t>
                </a:r>
              </a:p>
            </p:txBody>
          </p:sp>
          <p:cxnSp>
            <p:nvCxnSpPr>
              <p:cNvPr id="65" name="Straight Arrow Connector 64">
                <a:extLst>
                  <a:ext uri="{FF2B5EF4-FFF2-40B4-BE49-F238E27FC236}">
                    <a16:creationId xmlns:a16="http://schemas.microsoft.com/office/drawing/2014/main" id="{92846486-2C40-D9F9-3B70-493FE0A7C54E}"/>
                  </a:ext>
                </a:extLst>
              </p:cNvPr>
              <p:cNvCxnSpPr>
                <a:cxnSpLocks/>
              </p:cNvCxnSpPr>
              <p:nvPr/>
            </p:nvCxnSpPr>
            <p:spPr>
              <a:xfrm flipH="1">
                <a:off x="2021849" y="4584625"/>
                <a:ext cx="1338671"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66" name="Elbow Connector 65">
                <a:extLst>
                  <a:ext uri="{FF2B5EF4-FFF2-40B4-BE49-F238E27FC236}">
                    <a16:creationId xmlns:a16="http://schemas.microsoft.com/office/drawing/2014/main" id="{EF6E7C69-FBB2-4115-C058-1AFC1F5F5348}"/>
                  </a:ext>
                </a:extLst>
              </p:cNvPr>
              <p:cNvCxnSpPr>
                <a:cxnSpLocks/>
                <a:stCxn id="50" idx="2"/>
                <a:endCxn id="51" idx="1"/>
              </p:cNvCxnSpPr>
              <p:nvPr/>
            </p:nvCxnSpPr>
            <p:spPr>
              <a:xfrm rot="16200000" flipH="1">
                <a:off x="2154858" y="4222987"/>
                <a:ext cx="1077659" cy="1343677"/>
              </a:xfrm>
              <a:prstGeom prst="bentConnector2">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2C314D3F-71AB-4551-11C0-2A20B37E1134}"/>
                  </a:ext>
                </a:extLst>
              </p:cNvPr>
              <p:cNvSpPr/>
              <p:nvPr/>
            </p:nvSpPr>
            <p:spPr>
              <a:xfrm>
                <a:off x="2082972" y="4861108"/>
                <a:ext cx="1774911" cy="381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ts val="360"/>
                  </a:lnSpc>
                  <a:spcBef>
                    <a:spcPct val="0"/>
                  </a:spcBef>
                  <a:spcAft>
                    <a:spcPts val="800"/>
                  </a:spcAft>
                </a:pPr>
                <a:r>
                  <a:rPr lang="en-US" sz="400" dirty="0">
                    <a:solidFill>
                      <a:schemeClr val="tx2"/>
                    </a:solidFill>
                    <a:latin typeface="Arial" panose="020B0604020202020204" pitchFamily="34" charset="0"/>
                    <a:ea typeface="Inter Light" panose="02000503000000020004" pitchFamily="2" charset="0"/>
                    <a:cs typeface="Arial" panose="020B0604020202020204" pitchFamily="34" charset="0"/>
                  </a:rPr>
                  <a:t>- Order Data</a:t>
                </a:r>
                <a:br>
                  <a:rPr lang="en-US" sz="400" dirty="0">
                    <a:solidFill>
                      <a:schemeClr val="tx2"/>
                    </a:solidFill>
                    <a:latin typeface="Arial" panose="020B0604020202020204" pitchFamily="34" charset="0"/>
                    <a:ea typeface="Inter Light" panose="02000503000000020004" pitchFamily="2" charset="0"/>
                    <a:cs typeface="Arial" panose="020B0604020202020204" pitchFamily="34" charset="0"/>
                  </a:rPr>
                </a:br>
                <a:r>
                  <a:rPr lang="en-US" sz="400" dirty="0">
                    <a:solidFill>
                      <a:schemeClr val="tx2"/>
                    </a:solidFill>
                    <a:latin typeface="Arial" panose="020B0604020202020204" pitchFamily="34" charset="0"/>
                    <a:ea typeface="Inter Light" panose="02000503000000020004" pitchFamily="2" charset="0"/>
                    <a:cs typeface="Arial" panose="020B0604020202020204" pitchFamily="34" charset="0"/>
                  </a:rPr>
                  <a:t>- Opportunity Data</a:t>
                </a:r>
              </a:p>
            </p:txBody>
          </p:sp>
          <p:cxnSp>
            <p:nvCxnSpPr>
              <p:cNvPr id="76" name="Straight Arrow Connector 75">
                <a:extLst>
                  <a:ext uri="{FF2B5EF4-FFF2-40B4-BE49-F238E27FC236}">
                    <a16:creationId xmlns:a16="http://schemas.microsoft.com/office/drawing/2014/main" id="{9E6801EC-0A8E-C15A-5213-259CCBF9607E}"/>
                  </a:ext>
                </a:extLst>
              </p:cNvPr>
              <p:cNvCxnSpPr>
                <a:cxnSpLocks/>
              </p:cNvCxnSpPr>
              <p:nvPr/>
            </p:nvCxnSpPr>
            <p:spPr>
              <a:xfrm>
                <a:off x="4790954" y="5424206"/>
                <a:ext cx="1122102"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1996B1F8-16D0-F411-352E-619D6854F942}"/>
                </a:ext>
              </a:extLst>
            </p:cNvPr>
            <p:cNvGrpSpPr/>
            <p:nvPr/>
          </p:nvGrpSpPr>
          <p:grpSpPr>
            <a:xfrm>
              <a:off x="3706316" y="2390615"/>
              <a:ext cx="2284083" cy="2760934"/>
              <a:chOff x="4186892" y="1172460"/>
              <a:chExt cx="5037669" cy="4831130"/>
            </a:xfrm>
          </p:grpSpPr>
          <p:sp>
            <p:nvSpPr>
              <p:cNvPr id="7" name="Rounded Rectangle 6">
                <a:extLst>
                  <a:ext uri="{FF2B5EF4-FFF2-40B4-BE49-F238E27FC236}">
                    <a16:creationId xmlns:a16="http://schemas.microsoft.com/office/drawing/2014/main" id="{CEE116E6-74C8-7384-85C1-45EA18500DAF}"/>
                  </a:ext>
                </a:extLst>
              </p:cNvPr>
              <p:cNvSpPr/>
              <p:nvPr/>
            </p:nvSpPr>
            <p:spPr>
              <a:xfrm>
                <a:off x="5848686" y="1172460"/>
                <a:ext cx="2569819" cy="666176"/>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Market /</a:t>
                </a:r>
                <a:b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Account Value</a:t>
                </a:r>
              </a:p>
            </p:txBody>
          </p:sp>
          <p:cxnSp>
            <p:nvCxnSpPr>
              <p:cNvPr id="10" name="Straight Arrow Connector 9">
                <a:extLst>
                  <a:ext uri="{FF2B5EF4-FFF2-40B4-BE49-F238E27FC236}">
                    <a16:creationId xmlns:a16="http://schemas.microsoft.com/office/drawing/2014/main" id="{B67A6959-7E50-D3B0-2714-BD02EF0B738F}"/>
                  </a:ext>
                </a:extLst>
              </p:cNvPr>
              <p:cNvCxnSpPr>
                <a:cxnSpLocks/>
              </p:cNvCxnSpPr>
              <p:nvPr/>
            </p:nvCxnSpPr>
            <p:spPr>
              <a:xfrm flipH="1">
                <a:off x="4186892" y="3401274"/>
                <a:ext cx="119113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F118629-9A02-A0A5-3AC9-9FCF845B2407}"/>
                  </a:ext>
                </a:extLst>
              </p:cNvPr>
              <p:cNvCxnSpPr>
                <a:cxnSpLocks/>
              </p:cNvCxnSpPr>
              <p:nvPr/>
            </p:nvCxnSpPr>
            <p:spPr>
              <a:xfrm>
                <a:off x="9224561" y="2035164"/>
                <a:ext cx="0" cy="3968426"/>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C0543714-BAFA-73C8-224C-67EBA6405514}"/>
                  </a:ext>
                </a:extLst>
              </p:cNvPr>
              <p:cNvSpPr/>
              <p:nvPr/>
            </p:nvSpPr>
            <p:spPr>
              <a:xfrm>
                <a:off x="5493719" y="3137178"/>
                <a:ext cx="1374983" cy="583642"/>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Potential:</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Spending</a:t>
                </a:r>
              </a:p>
            </p:txBody>
          </p:sp>
          <p:sp>
            <p:nvSpPr>
              <p:cNvPr id="14" name="Rounded Rectangle 13">
                <a:extLst>
                  <a:ext uri="{FF2B5EF4-FFF2-40B4-BE49-F238E27FC236}">
                    <a16:creationId xmlns:a16="http://schemas.microsoft.com/office/drawing/2014/main" id="{DB7811DC-A042-AF67-184E-D2D868DFB718}"/>
                  </a:ext>
                </a:extLst>
              </p:cNvPr>
              <p:cNvSpPr/>
              <p:nvPr/>
            </p:nvSpPr>
            <p:spPr>
              <a:xfrm>
                <a:off x="7297922" y="3137178"/>
                <a:ext cx="1374983" cy="583642"/>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Value:</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Wallet</a:t>
                </a:r>
              </a:p>
            </p:txBody>
          </p:sp>
          <p:cxnSp>
            <p:nvCxnSpPr>
              <p:cNvPr id="15" name="Straight Arrow Connector 14">
                <a:extLst>
                  <a:ext uri="{FF2B5EF4-FFF2-40B4-BE49-F238E27FC236}">
                    <a16:creationId xmlns:a16="http://schemas.microsoft.com/office/drawing/2014/main" id="{705460CF-93E0-FF97-A00F-594A9240463E}"/>
                  </a:ext>
                </a:extLst>
              </p:cNvPr>
              <p:cNvCxnSpPr>
                <a:cxnSpLocks/>
              </p:cNvCxnSpPr>
              <p:nvPr/>
            </p:nvCxnSpPr>
            <p:spPr>
              <a:xfrm flipH="1">
                <a:off x="6870790" y="3428999"/>
                <a:ext cx="401216"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D9CF718-F47C-AB98-DF61-5436DAA8958E}"/>
                  </a:ext>
                </a:extLst>
              </p:cNvPr>
              <p:cNvCxnSpPr>
                <a:cxnSpLocks/>
                <a:stCxn id="26" idx="0"/>
              </p:cNvCxnSpPr>
              <p:nvPr/>
            </p:nvCxnSpPr>
            <p:spPr>
              <a:xfrm flipV="1">
                <a:off x="7982850" y="4037846"/>
                <a:ext cx="0" cy="309157"/>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9808A1C3-CADC-7388-4B38-FC8E32742D54}"/>
                  </a:ext>
                </a:extLst>
              </p:cNvPr>
              <p:cNvSpPr/>
              <p:nvPr/>
            </p:nvSpPr>
            <p:spPr>
              <a:xfrm>
                <a:off x="6466942" y="2487327"/>
                <a:ext cx="1333308"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800" b="1" dirty="0">
                    <a:solidFill>
                      <a:schemeClr val="tx2"/>
                    </a:solidFill>
                    <a:latin typeface="Arial" panose="020B0604020202020204" pitchFamily="34" charset="0"/>
                    <a:ea typeface="Inter Light" panose="02000503000000020004" pitchFamily="2" charset="0"/>
                    <a:cs typeface="Arial" panose="020B0604020202020204" pitchFamily="34" charset="0"/>
                  </a:rPr>
                  <a:t>Evaluate</a:t>
                </a:r>
              </a:p>
            </p:txBody>
          </p:sp>
          <p:cxnSp>
            <p:nvCxnSpPr>
              <p:cNvPr id="22" name="Elbow Connector 21">
                <a:extLst>
                  <a:ext uri="{FF2B5EF4-FFF2-40B4-BE49-F238E27FC236}">
                    <a16:creationId xmlns:a16="http://schemas.microsoft.com/office/drawing/2014/main" id="{3360E443-8C82-EB71-C8AD-4691A08485A7}"/>
                  </a:ext>
                </a:extLst>
              </p:cNvPr>
              <p:cNvCxnSpPr>
                <a:cxnSpLocks/>
                <a:stCxn id="14" idx="3"/>
                <a:endCxn id="25" idx="0"/>
              </p:cNvCxnSpPr>
              <p:nvPr/>
            </p:nvCxnSpPr>
            <p:spPr>
              <a:xfrm flipH="1">
                <a:off x="6181211" y="3428999"/>
                <a:ext cx="2491694" cy="918004"/>
              </a:xfrm>
              <a:prstGeom prst="bentConnector4">
                <a:avLst>
                  <a:gd name="adj1" fmla="val -18197"/>
                  <a:gd name="adj2" fmla="val 65894"/>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6FDE7971-F2C2-8051-2B5E-07CA8ED5D61A}"/>
                  </a:ext>
                </a:extLst>
              </p:cNvPr>
              <p:cNvSpPr/>
              <p:nvPr/>
            </p:nvSpPr>
            <p:spPr>
              <a:xfrm>
                <a:off x="5493719" y="4347003"/>
                <a:ext cx="1374983" cy="583642"/>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Spending Method</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Selection</a:t>
                </a:r>
              </a:p>
            </p:txBody>
          </p:sp>
          <p:sp>
            <p:nvSpPr>
              <p:cNvPr id="26" name="Rounded Rectangle 25">
                <a:extLst>
                  <a:ext uri="{FF2B5EF4-FFF2-40B4-BE49-F238E27FC236}">
                    <a16:creationId xmlns:a16="http://schemas.microsoft.com/office/drawing/2014/main" id="{0995A54B-15AD-0722-1E7D-6FCE1A06A85D}"/>
                  </a:ext>
                </a:extLst>
              </p:cNvPr>
              <p:cNvSpPr/>
              <p:nvPr/>
            </p:nvSpPr>
            <p:spPr>
              <a:xfrm>
                <a:off x="7295360" y="4347003"/>
                <a:ext cx="1374983" cy="583642"/>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Scenario</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Selection</a:t>
                </a:r>
              </a:p>
            </p:txBody>
          </p:sp>
          <p:cxnSp>
            <p:nvCxnSpPr>
              <p:cNvPr id="27" name="Straight Connector 26">
                <a:extLst>
                  <a:ext uri="{FF2B5EF4-FFF2-40B4-BE49-F238E27FC236}">
                    <a16:creationId xmlns:a16="http://schemas.microsoft.com/office/drawing/2014/main" id="{ECFE6F49-3B6C-7F1E-9015-60D32680CAC2}"/>
                  </a:ext>
                </a:extLst>
              </p:cNvPr>
              <p:cNvCxnSpPr>
                <a:cxnSpLocks/>
              </p:cNvCxnSpPr>
              <p:nvPr/>
            </p:nvCxnSpPr>
            <p:spPr>
              <a:xfrm>
                <a:off x="5039363" y="2035164"/>
                <a:ext cx="0" cy="3934623"/>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E6EAC51E-15FB-6A83-62AD-258A6EBE8DAD}"/>
                </a:ext>
              </a:extLst>
            </p:cNvPr>
            <p:cNvGrpSpPr/>
            <p:nvPr/>
          </p:nvGrpSpPr>
          <p:grpSpPr>
            <a:xfrm>
              <a:off x="2428133" y="2391238"/>
              <a:ext cx="6416167" cy="2760310"/>
              <a:chOff x="-6334873" y="1419731"/>
              <a:chExt cx="14151196" cy="4830035"/>
            </a:xfrm>
          </p:grpSpPr>
          <p:sp>
            <p:nvSpPr>
              <p:cNvPr id="33" name="Rounded Rectangle 32">
                <a:extLst>
                  <a:ext uri="{FF2B5EF4-FFF2-40B4-BE49-F238E27FC236}">
                    <a16:creationId xmlns:a16="http://schemas.microsoft.com/office/drawing/2014/main" id="{7F9EDFF0-F586-E589-8DB1-1FA55CBD3FC5}"/>
                  </a:ext>
                </a:extLst>
              </p:cNvPr>
              <p:cNvSpPr/>
              <p:nvPr/>
            </p:nvSpPr>
            <p:spPr>
              <a:xfrm>
                <a:off x="2431171"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Rule-Based</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34" name="Rounded Rectangle 33">
                <a:extLst>
                  <a:ext uri="{FF2B5EF4-FFF2-40B4-BE49-F238E27FC236}">
                    <a16:creationId xmlns:a16="http://schemas.microsoft.com/office/drawing/2014/main" id="{A828A014-A6D1-9237-84AE-918AABB8CF26}"/>
                  </a:ext>
                </a:extLst>
              </p:cNvPr>
              <p:cNvSpPr/>
              <p:nvPr/>
            </p:nvSpPr>
            <p:spPr>
              <a:xfrm>
                <a:off x="2431171" y="448788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Score-Based</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36" name="Rounded Rectangle 35">
                <a:extLst>
                  <a:ext uri="{FF2B5EF4-FFF2-40B4-BE49-F238E27FC236}">
                    <a16:creationId xmlns:a16="http://schemas.microsoft.com/office/drawing/2014/main" id="{F08102F2-1DED-AC1B-9CB6-39FCB31BE38F}"/>
                  </a:ext>
                </a:extLst>
              </p:cNvPr>
              <p:cNvSpPr/>
              <p:nvPr/>
            </p:nvSpPr>
            <p:spPr>
              <a:xfrm>
                <a:off x="4133638" y="1419731"/>
                <a:ext cx="2569815" cy="666174"/>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Segments</a:t>
                </a:r>
              </a:p>
            </p:txBody>
          </p:sp>
          <p:sp>
            <p:nvSpPr>
              <p:cNvPr id="37" name="Rounded Rectangle 36">
                <a:extLst>
                  <a:ext uri="{FF2B5EF4-FFF2-40B4-BE49-F238E27FC236}">
                    <a16:creationId xmlns:a16="http://schemas.microsoft.com/office/drawing/2014/main" id="{93A9C5CA-84EB-8335-755C-0DBBB5B6C37C}"/>
                  </a:ext>
                </a:extLst>
              </p:cNvPr>
              <p:cNvSpPr/>
              <p:nvPr/>
            </p:nvSpPr>
            <p:spPr>
              <a:xfrm>
                <a:off x="6253412" y="5296178"/>
                <a:ext cx="1374982" cy="583643"/>
              </a:xfrm>
              <a:prstGeom prst="roundRect">
                <a:avLst>
                  <a:gd name="adj" fmla="val 16836"/>
                </a:avLst>
              </a:prstGeom>
              <a:solidFill>
                <a:srgbClr val="F3F1EE"/>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Capacity</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Impact</a:t>
                </a:r>
              </a:p>
            </p:txBody>
          </p:sp>
          <p:cxnSp>
            <p:nvCxnSpPr>
              <p:cNvPr id="38" name="Straight Arrow Connector 37">
                <a:extLst>
                  <a:ext uri="{FF2B5EF4-FFF2-40B4-BE49-F238E27FC236}">
                    <a16:creationId xmlns:a16="http://schemas.microsoft.com/office/drawing/2014/main" id="{DA972B53-B56F-8DD9-9CBE-32EAB9DCC0EF}"/>
                  </a:ext>
                </a:extLst>
              </p:cNvPr>
              <p:cNvCxnSpPr>
                <a:cxnSpLocks/>
              </p:cNvCxnSpPr>
              <p:nvPr/>
            </p:nvCxnSpPr>
            <p:spPr>
              <a:xfrm flipV="1">
                <a:off x="3124329" y="3994465"/>
                <a:ext cx="0" cy="460803"/>
              </a:xfrm>
              <a:prstGeom prst="straightConnector1">
                <a:avLst/>
              </a:prstGeom>
              <a:ln w="9525" cap="rnd">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DE0746B1-E860-AF7E-5725-F1639FB0E97E}"/>
                  </a:ext>
                </a:extLst>
              </p:cNvPr>
              <p:cNvCxnSpPr>
                <a:cxnSpLocks/>
              </p:cNvCxnSpPr>
              <p:nvPr/>
            </p:nvCxnSpPr>
            <p:spPr>
              <a:xfrm flipH="1">
                <a:off x="1417688" y="3675177"/>
                <a:ext cx="920766"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0CB8639-890E-E4A2-47E7-9BD4926EF123}"/>
                  </a:ext>
                </a:extLst>
              </p:cNvPr>
              <p:cNvCxnSpPr>
                <a:cxnSpLocks/>
              </p:cNvCxnSpPr>
              <p:nvPr/>
            </p:nvCxnSpPr>
            <p:spPr>
              <a:xfrm>
                <a:off x="7816323" y="2281343"/>
                <a:ext cx="0" cy="3968423"/>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94EB7DD0-76E6-D155-AC83-47417D912827}"/>
                  </a:ext>
                </a:extLst>
              </p:cNvPr>
              <p:cNvSpPr/>
              <p:nvPr/>
            </p:nvSpPr>
            <p:spPr>
              <a:xfrm>
                <a:off x="2431171" y="2287353"/>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Customer</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Profile</a:t>
                </a:r>
              </a:p>
            </p:txBody>
          </p:sp>
          <p:cxnSp>
            <p:nvCxnSpPr>
              <p:cNvPr id="42" name="Straight Arrow Connector 41">
                <a:extLst>
                  <a:ext uri="{FF2B5EF4-FFF2-40B4-BE49-F238E27FC236}">
                    <a16:creationId xmlns:a16="http://schemas.microsoft.com/office/drawing/2014/main" id="{3522BBA9-DBBA-36D7-20CE-5AF84F38C37A}"/>
                  </a:ext>
                </a:extLst>
              </p:cNvPr>
              <p:cNvCxnSpPr>
                <a:cxnSpLocks/>
              </p:cNvCxnSpPr>
              <p:nvPr/>
            </p:nvCxnSpPr>
            <p:spPr>
              <a:xfrm flipV="1">
                <a:off x="3124329" y="2879463"/>
                <a:ext cx="0" cy="46080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7" name="Rounded Rectangle 46">
                <a:extLst>
                  <a:ext uri="{FF2B5EF4-FFF2-40B4-BE49-F238E27FC236}">
                    <a16:creationId xmlns:a16="http://schemas.microsoft.com/office/drawing/2014/main" id="{3CFECC42-9607-4C04-E48F-C0CE817A3DF8}"/>
                  </a:ext>
                </a:extLst>
              </p:cNvPr>
              <p:cNvSpPr/>
              <p:nvPr/>
            </p:nvSpPr>
            <p:spPr>
              <a:xfrm>
                <a:off x="4449207"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Segment</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Override</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Workflow</a:t>
                </a:r>
              </a:p>
            </p:txBody>
          </p:sp>
          <p:sp>
            <p:nvSpPr>
              <p:cNvPr id="48" name="Rounded Rectangle 47">
                <a:extLst>
                  <a:ext uri="{FF2B5EF4-FFF2-40B4-BE49-F238E27FC236}">
                    <a16:creationId xmlns:a16="http://schemas.microsoft.com/office/drawing/2014/main" id="{63431B2F-5E10-5B91-8AB6-22F5516160F9}"/>
                  </a:ext>
                </a:extLst>
              </p:cNvPr>
              <p:cNvSpPr/>
              <p:nvPr/>
            </p:nvSpPr>
            <p:spPr>
              <a:xfrm>
                <a:off x="6253412"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cxnSp>
            <p:nvCxnSpPr>
              <p:cNvPr id="49" name="Straight Arrow Connector 48">
                <a:extLst>
                  <a:ext uri="{FF2B5EF4-FFF2-40B4-BE49-F238E27FC236}">
                    <a16:creationId xmlns:a16="http://schemas.microsoft.com/office/drawing/2014/main" id="{B6DDECC1-25FF-AD2B-1A6E-DDD902EA4BEA}"/>
                  </a:ext>
                </a:extLst>
              </p:cNvPr>
              <p:cNvCxnSpPr>
                <a:cxnSpLocks/>
              </p:cNvCxnSpPr>
              <p:nvPr/>
            </p:nvCxnSpPr>
            <p:spPr>
              <a:xfrm flipH="1">
                <a:off x="5826280" y="3679840"/>
                <a:ext cx="401218"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53" name="Right Brace 52">
                <a:extLst>
                  <a:ext uri="{FF2B5EF4-FFF2-40B4-BE49-F238E27FC236}">
                    <a16:creationId xmlns:a16="http://schemas.microsoft.com/office/drawing/2014/main" id="{8812A88B-C18A-8A22-7FF3-91D1D16A8498}"/>
                  </a:ext>
                </a:extLst>
              </p:cNvPr>
              <p:cNvSpPr/>
              <p:nvPr/>
            </p:nvSpPr>
            <p:spPr>
              <a:xfrm>
                <a:off x="3806153" y="3679840"/>
                <a:ext cx="348434" cy="1099871"/>
              </a:xfrm>
              <a:prstGeom prst="rightBrace">
                <a:avLst>
                  <a:gd name="adj1" fmla="val 0"/>
                  <a:gd name="adj2" fmla="val 5406"/>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00"/>
              </a:p>
            </p:txBody>
          </p:sp>
          <p:cxnSp>
            <p:nvCxnSpPr>
              <p:cNvPr id="54" name="Straight Arrow Connector 53">
                <a:extLst>
                  <a:ext uri="{FF2B5EF4-FFF2-40B4-BE49-F238E27FC236}">
                    <a16:creationId xmlns:a16="http://schemas.microsoft.com/office/drawing/2014/main" id="{AA0A2F92-7B54-BAA2-E5DA-6B7091E6854B}"/>
                  </a:ext>
                </a:extLst>
              </p:cNvPr>
              <p:cNvCxnSpPr>
                <a:cxnSpLocks/>
              </p:cNvCxnSpPr>
              <p:nvPr/>
            </p:nvCxnSpPr>
            <p:spPr>
              <a:xfrm flipH="1">
                <a:off x="4133639" y="3737414"/>
                <a:ext cx="295331"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F32DDF7A-3696-2DB4-1DEA-6558F1CD6B96}"/>
                  </a:ext>
                </a:extLst>
              </p:cNvPr>
              <p:cNvCxnSpPr>
                <a:cxnSpLocks/>
              </p:cNvCxnSpPr>
              <p:nvPr/>
            </p:nvCxnSpPr>
            <p:spPr>
              <a:xfrm flipV="1">
                <a:off x="6940901" y="3969123"/>
                <a:ext cx="0" cy="1220098"/>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59" name="Elbow Connector 58">
                <a:extLst>
                  <a:ext uri="{FF2B5EF4-FFF2-40B4-BE49-F238E27FC236}">
                    <a16:creationId xmlns:a16="http://schemas.microsoft.com/office/drawing/2014/main" id="{A639002F-DD3B-200B-5874-F4CDCA62F33D}"/>
                  </a:ext>
                </a:extLst>
              </p:cNvPr>
              <p:cNvCxnSpPr>
                <a:cxnSpLocks/>
                <a:endCxn id="34" idx="2"/>
              </p:cNvCxnSpPr>
              <p:nvPr/>
            </p:nvCxnSpPr>
            <p:spPr>
              <a:xfrm flipV="1">
                <a:off x="-6334873" y="5071533"/>
                <a:ext cx="9453536" cy="649531"/>
              </a:xfrm>
              <a:prstGeom prst="bentConnector2">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2" name="Group 61">
              <a:extLst>
                <a:ext uri="{FF2B5EF4-FFF2-40B4-BE49-F238E27FC236}">
                  <a16:creationId xmlns:a16="http://schemas.microsoft.com/office/drawing/2014/main" id="{A7B5B27F-0ED7-F7D2-C7BB-A367A039AE4B}"/>
                </a:ext>
              </a:extLst>
            </p:cNvPr>
            <p:cNvGrpSpPr/>
            <p:nvPr/>
          </p:nvGrpSpPr>
          <p:grpSpPr>
            <a:xfrm>
              <a:off x="8744735" y="2391238"/>
              <a:ext cx="1657774" cy="2382118"/>
              <a:chOff x="1860617" y="1770917"/>
              <a:chExt cx="3124135" cy="3561579"/>
            </a:xfrm>
          </p:grpSpPr>
          <p:sp>
            <p:nvSpPr>
              <p:cNvPr id="69" name="Rounded Rectangle 68">
                <a:extLst>
                  <a:ext uri="{FF2B5EF4-FFF2-40B4-BE49-F238E27FC236}">
                    <a16:creationId xmlns:a16="http://schemas.microsoft.com/office/drawing/2014/main" id="{5401FDED-6A8C-5BF8-E3D6-0BF2C1113959}"/>
                  </a:ext>
                </a:extLst>
              </p:cNvPr>
              <p:cNvSpPr/>
              <p:nvPr/>
            </p:nvSpPr>
            <p:spPr>
              <a:xfrm>
                <a:off x="2258738" y="1770917"/>
                <a:ext cx="2726014" cy="569214"/>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Operating</a:t>
                </a:r>
                <a:b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800" b="1" dirty="0">
                    <a:solidFill>
                      <a:schemeClr val="tx1"/>
                    </a:solidFill>
                    <a:latin typeface="Arial" panose="020B0604020202020204" pitchFamily="34" charset="0"/>
                    <a:ea typeface="Inter Medium" panose="02000503000000020004" pitchFamily="2" charset="0"/>
                    <a:cs typeface="Arial" panose="020B0604020202020204" pitchFamily="34" charset="0"/>
                  </a:rPr>
                  <a:t>Conditions (GTM Strategy)</a:t>
                </a:r>
              </a:p>
            </p:txBody>
          </p:sp>
          <p:sp>
            <p:nvSpPr>
              <p:cNvPr id="70" name="Rounded Rectangle 69">
                <a:extLst>
                  <a:ext uri="{FF2B5EF4-FFF2-40B4-BE49-F238E27FC236}">
                    <a16:creationId xmlns:a16="http://schemas.microsoft.com/office/drawing/2014/main" id="{2756AE6B-A832-3E58-7331-BF086737D295}"/>
                  </a:ext>
                </a:extLst>
              </p:cNvPr>
              <p:cNvSpPr/>
              <p:nvPr/>
            </p:nvSpPr>
            <p:spPr>
              <a:xfrm>
                <a:off x="2419837" y="2507122"/>
                <a:ext cx="1174852" cy="498694"/>
              </a:xfrm>
              <a:prstGeom prst="roundRect">
                <a:avLst>
                  <a:gd name="adj" fmla="val 16836"/>
                </a:avLst>
              </a:prstGeom>
              <a:solidFill>
                <a:srgbClr val="0C314B">
                  <a:alpha val="9804"/>
                </a:srgb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GTM</a:t>
                </a:r>
                <a:b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500" dirty="0">
                    <a:solidFill>
                      <a:srgbClr val="0C314B"/>
                    </a:solidFill>
                    <a:latin typeface="Arial" panose="020B0604020202020204" pitchFamily="34" charset="0"/>
                    <a:ea typeface="Inter Medium" panose="02000503000000020004" pitchFamily="2" charset="0"/>
                    <a:cs typeface="Arial" panose="020B0604020202020204" pitchFamily="34" charset="0"/>
                  </a:rPr>
                  <a:t>Modeling</a:t>
                </a:r>
              </a:p>
            </p:txBody>
          </p:sp>
          <p:cxnSp>
            <p:nvCxnSpPr>
              <p:cNvPr id="71" name="Elbow Connector 70">
                <a:extLst>
                  <a:ext uri="{FF2B5EF4-FFF2-40B4-BE49-F238E27FC236}">
                    <a16:creationId xmlns:a16="http://schemas.microsoft.com/office/drawing/2014/main" id="{27F5D510-34CE-A543-D91E-AA334A5856C3}"/>
                  </a:ext>
                </a:extLst>
              </p:cNvPr>
              <p:cNvCxnSpPr>
                <a:cxnSpLocks/>
                <a:endCxn id="70" idx="2"/>
              </p:cNvCxnSpPr>
              <p:nvPr/>
            </p:nvCxnSpPr>
            <p:spPr>
              <a:xfrm flipV="1">
                <a:off x="1860617" y="3005817"/>
                <a:ext cx="1146647" cy="2326679"/>
              </a:xfrm>
              <a:prstGeom prst="bentConnector2">
                <a:avLst/>
              </a:prstGeom>
              <a:ln w="9525" cap="rnd">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60FC9DC5-2B04-310B-2756-CF4C51D0C482}"/>
                  </a:ext>
                </a:extLst>
              </p:cNvPr>
              <p:cNvCxnSpPr>
                <a:cxnSpLocks/>
                <a:endCxn id="48" idx="3"/>
              </p:cNvCxnSpPr>
              <p:nvPr/>
            </p:nvCxnSpPr>
            <p:spPr>
              <a:xfrm flipH="1">
                <a:off x="1887673" y="3702069"/>
                <a:ext cx="1146645"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cxnSp>
          <p:nvCxnSpPr>
            <p:cNvPr id="81" name="Elbow Connector 80">
              <a:extLst>
                <a:ext uri="{FF2B5EF4-FFF2-40B4-BE49-F238E27FC236}">
                  <a16:creationId xmlns:a16="http://schemas.microsoft.com/office/drawing/2014/main" id="{FD3C8CA8-F703-BAD1-67C9-76654D57F115}"/>
                </a:ext>
              </a:extLst>
            </p:cNvPr>
            <p:cNvCxnSpPr>
              <a:cxnSpLocks/>
              <a:endCxn id="34" idx="1"/>
            </p:cNvCxnSpPr>
            <p:nvPr/>
          </p:nvCxnSpPr>
          <p:spPr>
            <a:xfrm rot="16200000" flipH="1">
              <a:off x="5958672" y="3867436"/>
              <a:ext cx="625024" cy="262962"/>
            </a:xfrm>
            <a:prstGeom prst="bentConnector2">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4188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30E9-B667-1EF5-A755-F6A5715A239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C1AE275A-CEFD-10BC-2F9C-133A86955A8C}"/>
              </a:ext>
            </a:extLst>
          </p:cNvPr>
          <p:cNvGraphicFramePr>
            <a:graphicFrameLocks noGrp="1"/>
          </p:cNvGraphicFramePr>
          <p:nvPr>
            <p:extLst>
              <p:ext uri="{D42A27DB-BD31-4B8C-83A1-F6EECF244321}">
                <p14:modId xmlns:p14="http://schemas.microsoft.com/office/powerpoint/2010/main" val="2561070788"/>
              </p:ext>
            </p:extLst>
          </p:nvPr>
        </p:nvGraphicFramePr>
        <p:xfrm>
          <a:off x="604632" y="1345162"/>
          <a:ext cx="10720406" cy="4897282"/>
        </p:xfrm>
        <a:graphic>
          <a:graphicData uri="http://schemas.openxmlformats.org/drawingml/2006/table">
            <a:tbl>
              <a:tblPr firstRow="1" bandRow="1">
                <a:tableStyleId>{793D81CF-94F2-401A-BA57-92F5A7B2D0C5}</a:tableStyleId>
              </a:tblPr>
              <a:tblGrid>
                <a:gridCol w="2693609">
                  <a:extLst>
                    <a:ext uri="{9D8B030D-6E8A-4147-A177-3AD203B41FA5}">
                      <a16:colId xmlns:a16="http://schemas.microsoft.com/office/drawing/2014/main" val="3697837074"/>
                    </a:ext>
                  </a:extLst>
                </a:gridCol>
                <a:gridCol w="5170481">
                  <a:extLst>
                    <a:ext uri="{9D8B030D-6E8A-4147-A177-3AD203B41FA5}">
                      <a16:colId xmlns:a16="http://schemas.microsoft.com/office/drawing/2014/main" val="2947779872"/>
                    </a:ext>
                  </a:extLst>
                </a:gridCol>
                <a:gridCol w="2856316">
                  <a:extLst>
                    <a:ext uri="{9D8B030D-6E8A-4147-A177-3AD203B41FA5}">
                      <a16:colId xmlns:a16="http://schemas.microsoft.com/office/drawing/2014/main" val="3748911495"/>
                    </a:ext>
                  </a:extLst>
                </a:gridCol>
              </a:tblGrid>
              <a:tr h="585210">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algn="l" rtl="0" fontAlgn="base"/>
                      <a:r>
                        <a:rPr lang="en-US" sz="1600" dirty="0">
                          <a:solidFill>
                            <a:schemeClr val="bg1"/>
                          </a:solidFill>
                          <a:effectLst/>
                          <a:latin typeface="Arial" panose="020B0604020202020204" pitchFamily="34" charset="0"/>
                          <a:cs typeface="Arial" panose="020B0604020202020204" pitchFamily="34" charset="0"/>
                        </a:rPr>
                        <a:t>Guided setup</a:t>
                      </a:r>
                      <a:br>
                        <a:rPr lang="en-US" sz="1600" dirty="0">
                          <a:solidFill>
                            <a:schemeClr val="bg1"/>
                          </a:solidFill>
                          <a:effectLst/>
                          <a:latin typeface="Arial" panose="020B0604020202020204" pitchFamily="34" charset="0"/>
                          <a:cs typeface="Arial" panose="020B0604020202020204" pitchFamily="34" charset="0"/>
                        </a:rPr>
                      </a:br>
                      <a:r>
                        <a:rPr lang="en-US" sz="1600" dirty="0">
                          <a:solidFill>
                            <a:schemeClr val="bg1"/>
                          </a:solidFill>
                          <a:effectLst/>
                          <a:latin typeface="Arial" panose="020B0604020202020204" pitchFamily="34" charset="0"/>
                          <a:cs typeface="Arial" panose="020B0604020202020204" pitchFamily="34" charset="0"/>
                        </a:rPr>
                        <a:t>inputs / explanation</a:t>
                      </a:r>
                      <a:endParaRPr lang="en-US" dirty="0">
                        <a:solidFill>
                          <a:schemeClr val="bg1"/>
                        </a:solidFill>
                        <a:effectLst/>
                        <a:latin typeface="Arial" panose="020B0604020202020204" pitchFamily="34" charset="0"/>
                        <a:cs typeface="Arial" panose="020B0604020202020204" pitchFamily="34" charset="0"/>
                      </a:endParaRPr>
                    </a:p>
                  </a:txBody>
                  <a:tcPr anchor="ctr">
                    <a:solidFill>
                      <a:srgbClr val="0C314B"/>
                    </a:solidFill>
                  </a:tcPr>
                </a:tc>
                <a:extLst>
                  <a:ext uri="{0D108BD9-81ED-4DB2-BD59-A6C34878D82A}">
                    <a16:rowId xmlns:a16="http://schemas.microsoft.com/office/drawing/2014/main" val="737408206"/>
                  </a:ext>
                </a:extLst>
              </a:tr>
              <a:tr h="593288">
                <a:tc>
                  <a:txBody>
                    <a:bodyPr/>
                    <a:lstStyle/>
                    <a:p>
                      <a:pPr marL="0" marR="0" lvl="0" indent="0" algn="l">
                        <a:lnSpc>
                          <a:spcPct val="11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Analysis by Time</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dirty="0">
                          <a:solidFill>
                            <a:srgbClr val="0C314B"/>
                          </a:solidFill>
                          <a:effectLst/>
                          <a:latin typeface="Arial" panose="020B0604020202020204" pitchFamily="34" charset="0"/>
                          <a:cs typeface="Arial" panose="020B0604020202020204" pitchFamily="34" charset="0"/>
                        </a:rPr>
                        <a:t>Main reporting modules, which calculate sales metrics by time.</a:t>
                      </a:r>
                    </a:p>
                    <a:p>
                      <a:pPr marL="0" lvl="0" algn="l" defTabSz="1219170" rtl="0" eaLnBrk="1" latinLnBrk="0" hangingPunct="1">
                        <a:buNone/>
                      </a:pPr>
                      <a:endParaRPr lang="en-US" sz="1200">
                        <a:solidFill>
                          <a:srgbClr val="0C314B"/>
                        </a:solidFill>
                        <a:effectLst/>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baseline="0" noProof="0" dirty="0">
                          <a:solidFill>
                            <a:srgbClr val="0C314B"/>
                          </a:solidFill>
                          <a:effectLst/>
                          <a:latin typeface="Arial" panose="020B0604020202020204" pitchFamily="34" charset="0"/>
                          <a:cs typeface="Arial" panose="020B0604020202020204" pitchFamily="34" charset="0"/>
                        </a:rPr>
                        <a:t>Dimensionality selected in configurator </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1534925166"/>
                  </a:ext>
                </a:extLst>
              </a:tr>
              <a:tr h="605912">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Analysis</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is a calculation module to calculate account level performance. This a bridging module used to create LISS to create the map reporting.</a:t>
                      </a: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Not needed</a:t>
                      </a:r>
                    </a:p>
                  </a:txBody>
                  <a:tcPr anchor="ctr"/>
                </a:tc>
                <a:extLst>
                  <a:ext uri="{0D108BD9-81ED-4DB2-BD59-A6C34878D82A}">
                    <a16:rowId xmlns:a16="http://schemas.microsoft.com/office/drawing/2014/main" val="3431287782"/>
                  </a:ext>
                </a:extLst>
              </a:tr>
              <a:tr h="580665">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Dynamic Map for GTM Performance</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module is used to create geo mapping. It uses LISS from Module: </a:t>
                      </a: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Analysis.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Not needed</a:t>
                      </a:r>
                    </a:p>
                  </a:txBody>
                  <a:tcPr anchor="ctr">
                    <a:solidFill>
                      <a:srgbClr val="F3F1EE"/>
                    </a:solidFill>
                  </a:tcPr>
                </a:tc>
                <a:extLst>
                  <a:ext uri="{0D108BD9-81ED-4DB2-BD59-A6C34878D82A}">
                    <a16:rowId xmlns:a16="http://schemas.microsoft.com/office/drawing/2014/main" val="3669100209"/>
                  </a:ext>
                </a:extLst>
              </a:tr>
              <a:tr h="605912">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 Bubble Chart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is used to create bubble chart mapping.</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32130153"/>
                  </a:ext>
                </a:extLst>
              </a:tr>
              <a:tr h="462008">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Tiers Input by Country</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Groups countries into tiers for analysis.</a:t>
                      </a: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Country can also be replaced by other attributes</a:t>
                      </a:r>
                    </a:p>
                  </a:txBody>
                  <a:tcPr anchor="ctr">
                    <a:solidFill>
                      <a:srgbClr val="F3F1EE"/>
                    </a:solidFill>
                  </a:tcPr>
                </a:tc>
                <a:extLst>
                  <a:ext uri="{0D108BD9-81ED-4DB2-BD59-A6C34878D82A}">
                    <a16:rowId xmlns:a16="http://schemas.microsoft.com/office/drawing/2014/main" val="3152681411"/>
                  </a:ext>
                </a:extLst>
              </a:tr>
              <a:tr h="631158">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SYS: Tier DCA Setup by Country Tiers</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Default country tier "Country Tiers Unassigned" for any unassigned countries. Write access is disabled for this default tier.</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43774956"/>
                  </a:ext>
                </a:extLst>
              </a:tr>
              <a:tr h="833129">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Dynamic Map for Tier Analysis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is used to create geo mapping. It uses LISS from Module: CAL: GTM Performance Analysis.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2217596258"/>
                  </a:ext>
                </a:extLst>
              </a:tr>
            </a:tbl>
          </a:graphicData>
        </a:graphic>
      </p:graphicFrame>
      <p:sp>
        <p:nvSpPr>
          <p:cNvPr id="4" name="Title 1">
            <a:extLst>
              <a:ext uri="{FF2B5EF4-FFF2-40B4-BE49-F238E27FC236}">
                <a16:creationId xmlns:a16="http://schemas.microsoft.com/office/drawing/2014/main" id="{E1DABDF0-642D-B083-E53E-ADF927979DCC}"/>
              </a:ext>
            </a:extLst>
          </p:cNvPr>
          <p:cNvSpPr txBox="1">
            <a:spLocks/>
          </p:cNvSpPr>
          <p:nvPr/>
        </p:nvSpPr>
        <p:spPr>
          <a:xfrm>
            <a:off x="604632" y="364934"/>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GB" dirty="0">
                <a:solidFill>
                  <a:srgbClr val="1C2345"/>
                </a:solidFill>
                <a:latin typeface="Arial"/>
                <a:ea typeface="Verdana"/>
                <a:cs typeface="Arial"/>
              </a:rPr>
              <a:t>Historical data, existing customer analysis</a:t>
            </a:r>
          </a:p>
          <a:p>
            <a:r>
              <a:rPr lang="en-GB" sz="2000" b="0" dirty="0">
                <a:solidFill>
                  <a:schemeClr val="accent1"/>
                </a:solidFill>
                <a:latin typeface="Arial"/>
                <a:ea typeface="Verdana"/>
                <a:cs typeface="Arial"/>
              </a:rPr>
              <a:t>key modules</a:t>
            </a:r>
          </a:p>
          <a:p>
            <a:endParaRPr lang="en-GB" dirty="0">
              <a:solidFill>
                <a:srgbClr val="1C2345"/>
              </a:solidFill>
              <a:latin typeface="Arial"/>
              <a:ea typeface="Verdana"/>
              <a:cs typeface="Arial"/>
            </a:endParaRPr>
          </a:p>
        </p:txBody>
      </p:sp>
    </p:spTree>
    <p:extLst>
      <p:ext uri="{BB962C8B-B14F-4D97-AF65-F5344CB8AC3E}">
        <p14:creationId xmlns:p14="http://schemas.microsoft.com/office/powerpoint/2010/main" val="383093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GB" b="1" dirty="0">
                <a:solidFill>
                  <a:srgbClr val="1C2345"/>
                </a:solidFill>
                <a:latin typeface="Arial"/>
                <a:ea typeface="Verdana"/>
                <a:cs typeface="Arial"/>
              </a:rPr>
              <a:t>Historical data, existing customer analysis</a:t>
            </a:r>
            <a:br>
              <a:rPr lang="en-GB" dirty="0">
                <a:solidFill>
                  <a:srgbClr val="1C2345"/>
                </a:solidFill>
                <a:latin typeface="Arial"/>
                <a:ea typeface="Verdana"/>
                <a:cs typeface="Arial"/>
              </a:rPr>
            </a:br>
            <a:r>
              <a:rPr lang="en-GB" sz="2000" dirty="0">
                <a:solidFill>
                  <a:schemeClr val="accent1"/>
                </a:solidFill>
                <a:latin typeface="Arial"/>
                <a:ea typeface="Verdana"/>
                <a:cs typeface="Arial"/>
              </a:rPr>
              <a:t>model diagram</a:t>
            </a:r>
          </a:p>
        </p:txBody>
      </p:sp>
      <p:sp>
        <p:nvSpPr>
          <p:cNvPr id="5" name="Rounded Rectangle 4">
            <a:extLst>
              <a:ext uri="{FF2B5EF4-FFF2-40B4-BE49-F238E27FC236}">
                <a16:creationId xmlns:a16="http://schemas.microsoft.com/office/drawing/2014/main" id="{AB570F63-94CB-C315-B528-9671E90CFE0B}"/>
              </a:ext>
            </a:extLst>
          </p:cNvPr>
          <p:cNvSpPr/>
          <p:nvPr/>
        </p:nvSpPr>
        <p:spPr>
          <a:xfrm>
            <a:off x="3365526"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rgbClr val="0C314B"/>
                </a:solidFill>
                <a:latin typeface="Arial" panose="020B0604020202020204" pitchFamily="34" charset="0"/>
                <a:ea typeface="Inter Medium" panose="02000503000000020004" pitchFamily="2" charset="0"/>
                <a:cs typeface="Arial" panose="020B0604020202020204" pitchFamily="34" charset="0"/>
              </a:rPr>
              <a:t>Account Data</a:t>
            </a:r>
            <a:br>
              <a:rPr lang="en-US" sz="8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800" dirty="0">
                <a:solidFill>
                  <a:srgbClr val="0C314B"/>
                </a:solidFill>
                <a:latin typeface="Arial" panose="020B0604020202020204" pitchFamily="34" charset="0"/>
                <a:ea typeface="Inter Medium" panose="02000503000000020004" pitchFamily="2" charset="0"/>
                <a:cs typeface="Arial" panose="020B0604020202020204" pitchFamily="34" charset="0"/>
              </a:rPr>
              <a:t>(Customer &amp; Prospect)</a:t>
            </a:r>
          </a:p>
        </p:txBody>
      </p:sp>
      <p:sp>
        <p:nvSpPr>
          <p:cNvPr id="8" name="Rounded Rectangle 7">
            <a:extLst>
              <a:ext uri="{FF2B5EF4-FFF2-40B4-BE49-F238E27FC236}">
                <a16:creationId xmlns:a16="http://schemas.microsoft.com/office/drawing/2014/main" id="{8A3FB52A-A0B9-6792-2314-98BB22D6366A}"/>
              </a:ext>
            </a:extLst>
          </p:cNvPr>
          <p:cNvSpPr/>
          <p:nvPr/>
        </p:nvSpPr>
        <p:spPr>
          <a:xfrm>
            <a:off x="3365526" y="423704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Historical GTM</a:t>
            </a:r>
          </a:p>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Performance</a:t>
            </a:r>
          </a:p>
        </p:txBody>
      </p:sp>
      <p:sp>
        <p:nvSpPr>
          <p:cNvPr id="9" name="Rounded Rectangle 8">
            <a:extLst>
              <a:ext uri="{FF2B5EF4-FFF2-40B4-BE49-F238E27FC236}">
                <a16:creationId xmlns:a16="http://schemas.microsoft.com/office/drawing/2014/main" id="{5C4D7B1E-529D-7506-2249-9F59CAB7857B}"/>
              </a:ext>
            </a:extLst>
          </p:cNvPr>
          <p:cNvSpPr/>
          <p:nvPr/>
        </p:nvSpPr>
        <p:spPr>
          <a:xfrm>
            <a:off x="6129997" y="1553000"/>
            <a:ext cx="3091850" cy="666174"/>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Existing Customer Analysis – </a:t>
            </a:r>
            <a:b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UCP / ICP</a:t>
            </a:r>
          </a:p>
        </p:txBody>
      </p:sp>
      <p:cxnSp>
        <p:nvCxnSpPr>
          <p:cNvPr id="11" name="Straight Arrow Connector 10">
            <a:extLst>
              <a:ext uri="{FF2B5EF4-FFF2-40B4-BE49-F238E27FC236}">
                <a16:creationId xmlns:a16="http://schemas.microsoft.com/office/drawing/2014/main" id="{2D2B1AA7-B6F9-3885-2CA4-F662DB6DABFE}"/>
              </a:ext>
            </a:extLst>
          </p:cNvPr>
          <p:cNvCxnSpPr>
            <a:cxnSpLocks/>
          </p:cNvCxnSpPr>
          <p:nvPr/>
        </p:nvCxnSpPr>
        <p:spPr>
          <a:xfrm flipV="1">
            <a:off x="4058686" y="3743623"/>
            <a:ext cx="0" cy="460803"/>
          </a:xfrm>
          <a:prstGeom prst="straightConnector1">
            <a:avLst/>
          </a:prstGeom>
          <a:ln w="9525" cap="rnd">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78A78967-1D1D-848A-0492-B9EBFA0AA5EC}"/>
              </a:ext>
            </a:extLst>
          </p:cNvPr>
          <p:cNvSpPr/>
          <p:nvPr/>
        </p:nvSpPr>
        <p:spPr>
          <a:xfrm>
            <a:off x="3371195" y="1790610"/>
            <a:ext cx="1374982" cy="583643"/>
          </a:xfrm>
          <a:prstGeom prst="roundRect">
            <a:avLst>
              <a:gd name="adj" fmla="val 16836"/>
            </a:avLst>
          </a:prstGeom>
          <a:solidFill>
            <a:schemeClr val="accent1">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Marketing</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Signals</a:t>
            </a:r>
          </a:p>
        </p:txBody>
      </p:sp>
      <p:cxnSp>
        <p:nvCxnSpPr>
          <p:cNvPr id="19" name="Straight Arrow Connector 18">
            <a:extLst>
              <a:ext uri="{FF2B5EF4-FFF2-40B4-BE49-F238E27FC236}">
                <a16:creationId xmlns:a16="http://schemas.microsoft.com/office/drawing/2014/main" id="{0316D641-E7CD-AB63-1391-66A02A6B91BA}"/>
              </a:ext>
            </a:extLst>
          </p:cNvPr>
          <p:cNvCxnSpPr>
            <a:cxnSpLocks/>
          </p:cNvCxnSpPr>
          <p:nvPr/>
        </p:nvCxnSpPr>
        <p:spPr>
          <a:xfrm flipV="1">
            <a:off x="4052127" y="2408924"/>
            <a:ext cx="0" cy="687194"/>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0" name="Rounded Rectangle 19">
            <a:extLst>
              <a:ext uri="{FF2B5EF4-FFF2-40B4-BE49-F238E27FC236}">
                <a16:creationId xmlns:a16="http://schemas.microsoft.com/office/drawing/2014/main" id="{C12AE1BF-163B-277C-DB74-CB5F2FACC3C8}"/>
              </a:ext>
            </a:extLst>
          </p:cNvPr>
          <p:cNvSpPr/>
          <p:nvPr/>
        </p:nvSpPr>
        <p:spPr>
          <a:xfrm>
            <a:off x="5230289"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Identify ICP</a:t>
            </a:r>
          </a:p>
        </p:txBody>
      </p:sp>
      <p:sp>
        <p:nvSpPr>
          <p:cNvPr id="23" name="Rounded Rectangle 22">
            <a:extLst>
              <a:ext uri="{FF2B5EF4-FFF2-40B4-BE49-F238E27FC236}">
                <a16:creationId xmlns:a16="http://schemas.microsoft.com/office/drawing/2014/main" id="{36EBE5AF-0168-0CCB-851F-A5D898B7EBFF}"/>
              </a:ext>
            </a:extLst>
          </p:cNvPr>
          <p:cNvSpPr/>
          <p:nvPr/>
        </p:nvSpPr>
        <p:spPr>
          <a:xfrm>
            <a:off x="7034492"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Define Account</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Hierarchy</a:t>
            </a:r>
          </a:p>
        </p:txBody>
      </p:sp>
      <p:cxnSp>
        <p:nvCxnSpPr>
          <p:cNvPr id="24" name="Straight Arrow Connector 23">
            <a:extLst>
              <a:ext uri="{FF2B5EF4-FFF2-40B4-BE49-F238E27FC236}">
                <a16:creationId xmlns:a16="http://schemas.microsoft.com/office/drawing/2014/main" id="{07C16F00-04E0-3B1D-E402-4219B89136BA}"/>
              </a:ext>
            </a:extLst>
          </p:cNvPr>
          <p:cNvCxnSpPr>
            <a:cxnSpLocks/>
          </p:cNvCxnSpPr>
          <p:nvPr/>
        </p:nvCxnSpPr>
        <p:spPr>
          <a:xfrm flipH="1">
            <a:off x="6607361" y="3428999"/>
            <a:ext cx="40121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FBA5D7D2-7768-EA95-F53F-9E6535308EC1}"/>
              </a:ext>
            </a:extLst>
          </p:cNvPr>
          <p:cNvCxnSpPr>
            <a:cxnSpLocks/>
          </p:cNvCxnSpPr>
          <p:nvPr/>
        </p:nvCxnSpPr>
        <p:spPr>
          <a:xfrm flipH="1">
            <a:off x="4740508" y="3486572"/>
            <a:ext cx="411355"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5A0F7BC1-F49A-5767-92A8-7D5836153CF1}"/>
              </a:ext>
            </a:extLst>
          </p:cNvPr>
          <p:cNvCxnSpPr>
            <a:cxnSpLocks/>
            <a:stCxn id="43" idx="0"/>
            <a:endCxn id="17" idx="1"/>
          </p:cNvCxnSpPr>
          <p:nvPr/>
        </p:nvCxnSpPr>
        <p:spPr>
          <a:xfrm rot="5400000" flipH="1" flipV="1">
            <a:off x="2507165" y="1623697"/>
            <a:ext cx="405295" cy="1322766"/>
          </a:xfrm>
          <a:prstGeom prst="bentConnector2">
            <a:avLst/>
          </a:prstGeom>
          <a:ln w="9525" cap="rnd">
            <a:solidFill>
              <a:schemeClr val="tx2"/>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3" name="Rounded Rectangle 42">
            <a:extLst>
              <a:ext uri="{FF2B5EF4-FFF2-40B4-BE49-F238E27FC236}">
                <a16:creationId xmlns:a16="http://schemas.microsoft.com/office/drawing/2014/main" id="{9E6928DD-0AD6-B676-E4A0-11FB0962AA48}"/>
              </a:ext>
            </a:extLst>
          </p:cNvPr>
          <p:cNvSpPr/>
          <p:nvPr/>
        </p:nvSpPr>
        <p:spPr>
          <a:xfrm>
            <a:off x="1360938" y="2487727"/>
            <a:ext cx="1374982" cy="583643"/>
          </a:xfrm>
          <a:prstGeom prst="roundRect">
            <a:avLst>
              <a:gd name="adj" fmla="val 16836"/>
            </a:avLst>
          </a:prstGeom>
          <a:solidFill>
            <a:schemeClr val="accent1">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900" dirty="0">
                <a:solidFill>
                  <a:srgbClr val="0C314B"/>
                </a:solidFill>
                <a:latin typeface="Arial"/>
                <a:ea typeface="Inter Medium" panose="02000503000000020004" pitchFamily="2" charset="0"/>
                <a:cs typeface="Arial"/>
              </a:rPr>
              <a:t>Pl / 3</a:t>
            </a:r>
            <a:r>
              <a:rPr lang="en-US" sz="900" baseline="30000" dirty="0">
                <a:solidFill>
                  <a:srgbClr val="0C314B"/>
                </a:solidFill>
                <a:latin typeface="Arial"/>
                <a:ea typeface="Inter Medium" panose="02000503000000020004" pitchFamily="2" charset="0"/>
                <a:cs typeface="Arial"/>
              </a:rPr>
              <a:t>rd</a:t>
            </a:r>
            <a:r>
              <a:rPr lang="en-US" sz="900" dirty="0">
                <a:solidFill>
                  <a:srgbClr val="0C314B"/>
                </a:solidFill>
                <a:latin typeface="Arial"/>
                <a:ea typeface="Inter Medium" panose="02000503000000020004" pitchFamily="2" charset="0"/>
                <a:cs typeface="Arial"/>
              </a:rPr>
              <a:t> Party</a:t>
            </a:r>
            <a:br>
              <a:rPr lang="en-US" sz="900" dirty="0">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a:ea typeface="Inter Medium" panose="02000503000000020004" pitchFamily="2" charset="0"/>
                <a:cs typeface="Arial"/>
              </a:rPr>
              <a:t>Intent Data</a:t>
            </a:r>
            <a:endPar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endParaRPr>
          </a:p>
        </p:txBody>
      </p:sp>
      <p:grpSp>
        <p:nvGrpSpPr>
          <p:cNvPr id="46" name="Group 45">
            <a:extLst>
              <a:ext uri="{FF2B5EF4-FFF2-40B4-BE49-F238E27FC236}">
                <a16:creationId xmlns:a16="http://schemas.microsoft.com/office/drawing/2014/main" id="{44442CBB-2C5F-39A1-1347-140C242F6077}"/>
              </a:ext>
            </a:extLst>
          </p:cNvPr>
          <p:cNvGrpSpPr/>
          <p:nvPr/>
        </p:nvGrpSpPr>
        <p:grpSpPr>
          <a:xfrm>
            <a:off x="2749626" y="2779548"/>
            <a:ext cx="610894" cy="1285449"/>
            <a:chOff x="4277008" y="3282703"/>
            <a:chExt cx="610894" cy="1285449"/>
          </a:xfrm>
        </p:grpSpPr>
        <p:sp>
          <p:nvSpPr>
            <p:cNvPr id="44" name="Right Brace 43">
              <a:extLst>
                <a:ext uri="{FF2B5EF4-FFF2-40B4-BE49-F238E27FC236}">
                  <a16:creationId xmlns:a16="http://schemas.microsoft.com/office/drawing/2014/main" id="{662B61CB-AB63-B057-6527-ED78E42E17DC}"/>
                </a:ext>
              </a:extLst>
            </p:cNvPr>
            <p:cNvSpPr/>
            <p:nvPr/>
          </p:nvSpPr>
          <p:spPr>
            <a:xfrm>
              <a:off x="4277008" y="3282703"/>
              <a:ext cx="267468" cy="1285449"/>
            </a:xfrm>
            <a:prstGeom prst="rightBrace">
              <a:avLst>
                <a:gd name="adj1" fmla="val 0"/>
                <a:gd name="adj2" fmla="val 47207"/>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DFF46988-4BBE-2730-ED5C-804254477C5A}"/>
                </a:ext>
              </a:extLst>
            </p:cNvPr>
            <p:cNvCxnSpPr>
              <a:cxnSpLocks/>
              <a:endCxn id="44" idx="1"/>
            </p:cNvCxnSpPr>
            <p:nvPr/>
          </p:nvCxnSpPr>
          <p:spPr>
            <a:xfrm flipH="1" flipV="1">
              <a:off x="4544476" y="3889525"/>
              <a:ext cx="343426" cy="288"/>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sp>
        <p:nvSpPr>
          <p:cNvPr id="50" name="Rounded Rectangle 49">
            <a:extLst>
              <a:ext uri="{FF2B5EF4-FFF2-40B4-BE49-F238E27FC236}">
                <a16:creationId xmlns:a16="http://schemas.microsoft.com/office/drawing/2014/main" id="{2FA5F203-52BA-724E-9937-43BA59C19005}"/>
              </a:ext>
            </a:extLst>
          </p:cNvPr>
          <p:cNvSpPr/>
          <p:nvPr/>
        </p:nvSpPr>
        <p:spPr>
          <a:xfrm>
            <a:off x="1334358" y="3772354"/>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Internal Data</a:t>
            </a:r>
          </a:p>
        </p:txBody>
      </p:sp>
      <p:sp>
        <p:nvSpPr>
          <p:cNvPr id="51" name="Rounded Rectangle 50">
            <a:extLst>
              <a:ext uri="{FF2B5EF4-FFF2-40B4-BE49-F238E27FC236}">
                <a16:creationId xmlns:a16="http://schemas.microsoft.com/office/drawing/2014/main" id="{FDEB1F6B-CD35-AE64-BEE3-FA45735A43C8}"/>
              </a:ext>
            </a:extLst>
          </p:cNvPr>
          <p:cNvSpPr/>
          <p:nvPr/>
        </p:nvSpPr>
        <p:spPr>
          <a:xfrm>
            <a:off x="3365526" y="5141834"/>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Forecast GTM</a:t>
            </a:r>
          </a:p>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Performance</a:t>
            </a:r>
          </a:p>
        </p:txBody>
      </p:sp>
      <p:cxnSp>
        <p:nvCxnSpPr>
          <p:cNvPr id="52" name="Straight Arrow Connector 51">
            <a:extLst>
              <a:ext uri="{FF2B5EF4-FFF2-40B4-BE49-F238E27FC236}">
                <a16:creationId xmlns:a16="http://schemas.microsoft.com/office/drawing/2014/main" id="{27A5EDEC-856D-779E-36C5-DAAB49B693B6}"/>
              </a:ext>
            </a:extLst>
          </p:cNvPr>
          <p:cNvCxnSpPr>
            <a:cxnSpLocks/>
            <a:endCxn id="8" idx="2"/>
          </p:cNvCxnSpPr>
          <p:nvPr/>
        </p:nvCxnSpPr>
        <p:spPr>
          <a:xfrm flipV="1">
            <a:off x="4053017" y="4820692"/>
            <a:ext cx="0" cy="282936"/>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AAD7E386-FD74-5C7E-B15D-2029D6C88130}"/>
              </a:ext>
            </a:extLst>
          </p:cNvPr>
          <p:cNvSpPr/>
          <p:nvPr/>
        </p:nvSpPr>
        <p:spPr>
          <a:xfrm>
            <a:off x="7113541" y="2487326"/>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1100" b="1" dirty="0">
                <a:solidFill>
                  <a:schemeClr val="tx2"/>
                </a:solidFill>
                <a:latin typeface="Arial" panose="020B0604020202020204" pitchFamily="34" charset="0"/>
                <a:ea typeface="Inter Light" panose="02000503000000020004" pitchFamily="2" charset="0"/>
                <a:cs typeface="Arial" panose="020B0604020202020204" pitchFamily="34" charset="0"/>
              </a:rPr>
              <a:t>Identify</a:t>
            </a:r>
          </a:p>
        </p:txBody>
      </p:sp>
      <p:cxnSp>
        <p:nvCxnSpPr>
          <p:cNvPr id="61" name="Elbow Connector 60">
            <a:extLst>
              <a:ext uri="{FF2B5EF4-FFF2-40B4-BE49-F238E27FC236}">
                <a16:creationId xmlns:a16="http://schemas.microsoft.com/office/drawing/2014/main" id="{226CD110-5B91-0D33-84A8-F47F5C6A22ED}"/>
              </a:ext>
            </a:extLst>
          </p:cNvPr>
          <p:cNvCxnSpPr>
            <a:cxnSpLocks/>
            <a:stCxn id="8" idx="3"/>
          </p:cNvCxnSpPr>
          <p:nvPr/>
        </p:nvCxnSpPr>
        <p:spPr>
          <a:xfrm flipV="1">
            <a:off x="4740508" y="3839769"/>
            <a:ext cx="1172547" cy="689102"/>
          </a:xfrm>
          <a:prstGeom prst="bentConnector3">
            <a:avLst>
              <a:gd name="adj1" fmla="val 100133"/>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235C63AE-E388-57E2-EA5C-6D2552F77224}"/>
              </a:ext>
            </a:extLst>
          </p:cNvPr>
          <p:cNvSpPr/>
          <p:nvPr/>
        </p:nvSpPr>
        <p:spPr>
          <a:xfrm>
            <a:off x="4782936" y="4771310"/>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1100" b="1" dirty="0">
                <a:solidFill>
                  <a:schemeClr val="tx2"/>
                </a:solidFill>
                <a:latin typeface="Arial" panose="020B0604020202020204" pitchFamily="34" charset="0"/>
                <a:ea typeface="Inter Light" panose="02000503000000020004" pitchFamily="2" charset="0"/>
                <a:cs typeface="Arial" panose="020B0604020202020204" pitchFamily="34" charset="0"/>
              </a:rPr>
              <a:t>Analyze</a:t>
            </a:r>
          </a:p>
        </p:txBody>
      </p:sp>
      <p:cxnSp>
        <p:nvCxnSpPr>
          <p:cNvPr id="65" name="Straight Arrow Connector 64">
            <a:extLst>
              <a:ext uri="{FF2B5EF4-FFF2-40B4-BE49-F238E27FC236}">
                <a16:creationId xmlns:a16="http://schemas.microsoft.com/office/drawing/2014/main" id="{92846486-2C40-D9F9-3B70-493FE0A7C54E}"/>
              </a:ext>
            </a:extLst>
          </p:cNvPr>
          <p:cNvCxnSpPr>
            <a:cxnSpLocks/>
          </p:cNvCxnSpPr>
          <p:nvPr/>
        </p:nvCxnSpPr>
        <p:spPr>
          <a:xfrm flipH="1">
            <a:off x="2021849" y="4584625"/>
            <a:ext cx="1338671"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66" name="Elbow Connector 65">
            <a:extLst>
              <a:ext uri="{FF2B5EF4-FFF2-40B4-BE49-F238E27FC236}">
                <a16:creationId xmlns:a16="http://schemas.microsoft.com/office/drawing/2014/main" id="{EF6E7C69-FBB2-4115-C058-1AFC1F5F5348}"/>
              </a:ext>
            </a:extLst>
          </p:cNvPr>
          <p:cNvCxnSpPr>
            <a:cxnSpLocks/>
            <a:stCxn id="50" idx="2"/>
            <a:endCxn id="51" idx="1"/>
          </p:cNvCxnSpPr>
          <p:nvPr/>
        </p:nvCxnSpPr>
        <p:spPr>
          <a:xfrm rot="16200000" flipH="1">
            <a:off x="2154858" y="4222987"/>
            <a:ext cx="1077659" cy="1343677"/>
          </a:xfrm>
          <a:prstGeom prst="bentConnector2">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2C314D3F-71AB-4551-11C0-2A20B37E1134}"/>
              </a:ext>
            </a:extLst>
          </p:cNvPr>
          <p:cNvSpPr/>
          <p:nvPr/>
        </p:nvSpPr>
        <p:spPr>
          <a:xfrm>
            <a:off x="2082971" y="4861107"/>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nSpc>
                <a:spcPts val="360"/>
              </a:lnSpc>
              <a:spcBef>
                <a:spcPct val="0"/>
              </a:spcBef>
              <a:spcAft>
                <a:spcPts val="800"/>
              </a:spcAft>
              <a:buFont typeface="Arial" panose="020B0604020202020204" pitchFamily="34" charset="0"/>
              <a:buChar char="•"/>
            </a:pP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Order Data</a:t>
            </a:r>
          </a:p>
          <a:p>
            <a:pPr marL="171450" indent="-171450">
              <a:lnSpc>
                <a:spcPts val="360"/>
              </a:lnSpc>
              <a:spcBef>
                <a:spcPct val="0"/>
              </a:spcBef>
              <a:spcAft>
                <a:spcPts val="800"/>
              </a:spcAft>
              <a:buFont typeface="Arial" panose="020B0604020202020204" pitchFamily="34" charset="0"/>
              <a:buChar char="•"/>
            </a:pPr>
            <a:r>
              <a:rPr lang="en-US" sz="800" dirty="0">
                <a:solidFill>
                  <a:schemeClr val="tx2"/>
                </a:solidFill>
                <a:latin typeface="Arial" panose="020B0604020202020204" pitchFamily="34" charset="0"/>
                <a:ea typeface="Inter Light" panose="02000503000000020004" pitchFamily="2" charset="0"/>
                <a:cs typeface="Arial" panose="020B0604020202020204" pitchFamily="34" charset="0"/>
              </a:rPr>
              <a:t>Opportunity Data</a:t>
            </a:r>
          </a:p>
        </p:txBody>
      </p:sp>
      <p:cxnSp>
        <p:nvCxnSpPr>
          <p:cNvPr id="76" name="Straight Arrow Connector 75">
            <a:extLst>
              <a:ext uri="{FF2B5EF4-FFF2-40B4-BE49-F238E27FC236}">
                <a16:creationId xmlns:a16="http://schemas.microsoft.com/office/drawing/2014/main" id="{9E6801EC-0A8E-C15A-5213-259CCBF9607E}"/>
              </a:ext>
            </a:extLst>
          </p:cNvPr>
          <p:cNvCxnSpPr>
            <a:cxnSpLocks/>
          </p:cNvCxnSpPr>
          <p:nvPr/>
        </p:nvCxnSpPr>
        <p:spPr>
          <a:xfrm>
            <a:off x="4790953" y="5433655"/>
            <a:ext cx="1071655"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79" name="Elbow Connector 78">
            <a:extLst>
              <a:ext uri="{FF2B5EF4-FFF2-40B4-BE49-F238E27FC236}">
                <a16:creationId xmlns:a16="http://schemas.microsoft.com/office/drawing/2014/main" id="{83221153-2C48-5284-EC62-392EDA5AA5B5}"/>
              </a:ext>
            </a:extLst>
          </p:cNvPr>
          <p:cNvCxnSpPr>
            <a:cxnSpLocks/>
          </p:cNvCxnSpPr>
          <p:nvPr/>
        </p:nvCxnSpPr>
        <p:spPr>
          <a:xfrm flipV="1">
            <a:off x="4946185" y="2981211"/>
            <a:ext cx="3767509" cy="505361"/>
          </a:xfrm>
          <a:prstGeom prst="bentConnector3">
            <a:avLst>
              <a:gd name="adj1" fmla="val -1040"/>
            </a:avLst>
          </a:prstGeom>
          <a:ln w="9525" cap="rnd">
            <a:solidFill>
              <a:schemeClr val="tx2"/>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0955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8600-ABEC-5F3F-BC4A-3DCF324F5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E79E7-781A-6A69-910F-B07AF66463A6}"/>
              </a:ext>
            </a:extLst>
          </p:cNvPr>
          <p:cNvSpPr>
            <a:spLocks noGrp="1"/>
          </p:cNvSpPr>
          <p:nvPr>
            <p:ph type="title"/>
          </p:nvPr>
        </p:nvSpPr>
        <p:spPr/>
        <p:txBody>
          <a:bodyPr lIns="0" tIns="60960" rIns="0" bIns="60960" anchor="t"/>
          <a:lstStyle/>
          <a:p>
            <a:r>
              <a:rPr lang="en-GB" dirty="0">
                <a:solidFill>
                  <a:schemeClr val="tx2"/>
                </a:solidFill>
                <a:latin typeface="Arial"/>
                <a:ea typeface="Verdana"/>
                <a:cs typeface="Arial"/>
              </a:rPr>
              <a:t>Define account value</a:t>
            </a:r>
            <a:br>
              <a:rPr lang="en-GB" dirty="0">
                <a:solidFill>
                  <a:schemeClr val="tx2"/>
                </a:solidFill>
                <a:latin typeface="Arial"/>
                <a:ea typeface="Verdana"/>
                <a:cs typeface="Arial"/>
              </a:rPr>
            </a:br>
            <a:r>
              <a:rPr lang="en-GB" sz="2000" b="0" dirty="0">
                <a:solidFill>
                  <a:schemeClr val="accent1"/>
                </a:solidFill>
                <a:latin typeface="Arial"/>
                <a:ea typeface="Verdana"/>
                <a:cs typeface="Arial"/>
              </a:rPr>
              <a:t>key modules</a:t>
            </a:r>
            <a:endParaRPr lang="en-US" sz="2000" b="0" dirty="0">
              <a:solidFill>
                <a:schemeClr val="accent1"/>
              </a:solidFill>
            </a:endParaRPr>
          </a:p>
        </p:txBody>
      </p:sp>
      <p:graphicFrame>
        <p:nvGraphicFramePr>
          <p:cNvPr id="7" name="Table 6">
            <a:extLst>
              <a:ext uri="{FF2B5EF4-FFF2-40B4-BE49-F238E27FC236}">
                <a16:creationId xmlns:a16="http://schemas.microsoft.com/office/drawing/2014/main" id="{67D976BF-1FCA-0807-22DC-D02B90D1444F}"/>
              </a:ext>
            </a:extLst>
          </p:cNvPr>
          <p:cNvGraphicFramePr>
            <a:graphicFrameLocks noGrp="1"/>
          </p:cNvGraphicFramePr>
          <p:nvPr>
            <p:extLst>
              <p:ext uri="{D42A27DB-BD31-4B8C-83A1-F6EECF244321}">
                <p14:modId xmlns:p14="http://schemas.microsoft.com/office/powerpoint/2010/main" val="2794686523"/>
              </p:ext>
            </p:extLst>
          </p:nvPr>
        </p:nvGraphicFramePr>
        <p:xfrm>
          <a:off x="617318" y="1296216"/>
          <a:ext cx="10795749" cy="5088166"/>
        </p:xfrm>
        <a:graphic>
          <a:graphicData uri="http://schemas.openxmlformats.org/drawingml/2006/table">
            <a:tbl>
              <a:tblPr firstRow="1" bandRow="1">
                <a:tableStyleId>{793D81CF-94F2-401A-BA57-92F5A7B2D0C5}</a:tableStyleId>
              </a:tblPr>
              <a:tblGrid>
                <a:gridCol w="2326158">
                  <a:extLst>
                    <a:ext uri="{9D8B030D-6E8A-4147-A177-3AD203B41FA5}">
                      <a16:colId xmlns:a16="http://schemas.microsoft.com/office/drawing/2014/main" val="3697837074"/>
                    </a:ext>
                  </a:extLst>
                </a:gridCol>
                <a:gridCol w="5246896">
                  <a:extLst>
                    <a:ext uri="{9D8B030D-6E8A-4147-A177-3AD203B41FA5}">
                      <a16:colId xmlns:a16="http://schemas.microsoft.com/office/drawing/2014/main" val="2947779872"/>
                    </a:ext>
                  </a:extLst>
                </a:gridCol>
                <a:gridCol w="3222695">
                  <a:extLst>
                    <a:ext uri="{9D8B030D-6E8A-4147-A177-3AD203B41FA5}">
                      <a16:colId xmlns:a16="http://schemas.microsoft.com/office/drawing/2014/main" val="3748911495"/>
                    </a:ext>
                  </a:extLst>
                </a:gridCol>
              </a:tblGrid>
              <a:tr h="495904">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l">
                        <a:lnSpc>
                          <a:spcPct val="100000"/>
                        </a:lnSpc>
                        <a:spcBef>
                          <a:spcPts val="0"/>
                        </a:spcBef>
                        <a:spcAft>
                          <a:spcPts val="0"/>
                        </a:spcAft>
                        <a:buNone/>
                      </a:pPr>
                      <a:r>
                        <a:rPr lang="en-US" sz="1600" b="1" i="0" u="none" strike="noStrike" noProof="0" dirty="0">
                          <a:solidFill>
                            <a:schemeClr val="bg1"/>
                          </a:solidFill>
                          <a:effectLst/>
                          <a:latin typeface="Arial" panose="020B0604020202020204" pitchFamily="34" charset="0"/>
                          <a:cs typeface="Arial" panose="020B0604020202020204" pitchFamily="34" charset="0"/>
                        </a:rPr>
                        <a:t>Guided setup</a:t>
                      </a:r>
                      <a:br>
                        <a:rPr lang="en-US" sz="1600" b="1" i="0" u="none" strike="noStrike" noProof="0" dirty="0">
                          <a:solidFill>
                            <a:schemeClr val="bg1"/>
                          </a:solidFill>
                          <a:effectLst/>
                          <a:latin typeface="Arial" panose="020B0604020202020204" pitchFamily="34" charset="0"/>
                          <a:cs typeface="Arial" panose="020B0604020202020204" pitchFamily="34" charset="0"/>
                        </a:rPr>
                      </a:br>
                      <a:r>
                        <a:rPr lang="en-US" sz="1600" b="1" i="0" u="none" strike="noStrike" noProof="0" dirty="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71500">
                <a:tc>
                  <a:txBody>
                    <a:bodyPr/>
                    <a:lstStyle/>
                    <a:p>
                      <a:pPr marL="0" marR="0" lvl="0" indent="0" algn="l">
                        <a:lnSpc>
                          <a:spcPct val="11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Define Spending Method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dirty="0">
                          <a:solidFill>
                            <a:srgbClr val="0C314B"/>
                          </a:solidFill>
                          <a:effectLst/>
                          <a:latin typeface="Arial" panose="020B0604020202020204" pitchFamily="34" charset="0"/>
                          <a:cs typeface="Arial" panose="020B0604020202020204" pitchFamily="34" charset="0"/>
                        </a:rPr>
                        <a:t>This defines what spending method to use to calculate spending.</a:t>
                      </a: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baseline="0" noProof="0" dirty="0">
                          <a:solidFill>
                            <a:srgbClr val="0C314B"/>
                          </a:solidFill>
                          <a:effectLst/>
                          <a:latin typeface="Arial" panose="020B0604020202020204" pitchFamily="34" charset="0"/>
                          <a:cs typeface="Arial" panose="020B0604020202020204" pitchFamily="34" charset="0"/>
                        </a:rPr>
                        <a:t>Dimensionality can be configured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1534925166"/>
                  </a:ext>
                </a:extLst>
              </a:tr>
              <a:tr h="521368">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Wallet Size Calc</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module calculates spending, wallet, and remaining wallet at the account level.</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Dimensionality can be configured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31287782"/>
                  </a:ext>
                </a:extLst>
              </a:tr>
              <a:tr h="786983">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ICP Account Calc</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module calculates ICP and UCP spending, wallet and remaining wallet, which serve as intermediate data modules for downstream summary reporting.</a:t>
                      </a: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Dimensionality can be configured; Dimensionality matches with CAL:</a:t>
                      </a:r>
                      <a:br>
                        <a:rPr lang="en-US" sz="1200" b="0" i="0" u="none" strike="noStrike" noProof="0" dirty="0">
                          <a:solidFill>
                            <a:srgbClr val="0C314B"/>
                          </a:solidFill>
                          <a:effectLst/>
                          <a:latin typeface="Arial" panose="020B0604020202020204" pitchFamily="34" charset="0"/>
                          <a:cs typeface="Arial" panose="020B0604020202020204" pitchFamily="34" charset="0"/>
                        </a:rPr>
                      </a:br>
                      <a:r>
                        <a:rPr lang="en-US" sz="1200" b="0" i="0" u="none" strike="noStrike" noProof="0" dirty="0">
                          <a:solidFill>
                            <a:srgbClr val="0C314B"/>
                          </a:solidFill>
                          <a:effectLst/>
                          <a:latin typeface="Arial" panose="020B0604020202020204" pitchFamily="34" charset="0"/>
                          <a:cs typeface="Arial" panose="020B0604020202020204" pitchFamily="34" charset="0"/>
                        </a:rPr>
                        <a:t>Wallet Size Calc </a:t>
                      </a:r>
                      <a:endParaRPr lang="en-US" sz="1200" u="none" strike="noStrike" noProof="0" dirty="0">
                        <a:solidFill>
                          <a:srgbClr val="0C314B"/>
                        </a:solidFill>
                        <a:effectLst/>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669100209"/>
                  </a:ext>
                </a:extLst>
              </a:tr>
              <a:tr h="741947">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Included Firmographics Summary</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is the main reporting module that summarizes spending, wallet, and remaining wallet of different methods and of different scenarios.</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Dimensionality can be configured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32130153"/>
                  </a:ext>
                </a:extLst>
              </a:tr>
              <a:tr h="824459">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Included Firmographics by Time</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bridging module is used to calculate a specific time-related metric referenced in OUT: Included Firmographics Summary.</a:t>
                      </a: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Dimensionality can be configured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2444445455"/>
                  </a:ext>
                </a:extLst>
              </a:tr>
              <a:tr h="511342">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Top Accounts Calc</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is used to view and compare the top accounts' value distribution.</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Not needed</a:t>
                      </a:r>
                    </a:p>
                  </a:txBody>
                  <a:tcPr anchor="ctr"/>
                </a:tc>
                <a:extLst>
                  <a:ext uri="{0D108BD9-81ED-4DB2-BD59-A6C34878D82A}">
                    <a16:rowId xmlns:a16="http://schemas.microsoft.com/office/drawing/2014/main" val="3551677789"/>
                  </a:ext>
                </a:extLst>
              </a:tr>
              <a:tr h="551447">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Wallet Override</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allows account value override at the product level.</a:t>
                      </a: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Product level is configurable</a:t>
                      </a:r>
                    </a:p>
                  </a:txBody>
                  <a:tcPr anchor="ctr">
                    <a:solidFill>
                      <a:srgbClr val="F3F1EE"/>
                    </a:solidFill>
                  </a:tcPr>
                </a:tc>
                <a:extLst>
                  <a:ext uri="{0D108BD9-81ED-4DB2-BD59-A6C34878D82A}">
                    <a16:rowId xmlns:a16="http://schemas.microsoft.com/office/drawing/2014/main" val="3148742622"/>
                  </a:ext>
                </a:extLst>
              </a:tr>
            </a:tbl>
          </a:graphicData>
        </a:graphic>
      </p:graphicFrame>
    </p:spTree>
    <p:extLst>
      <p:ext uri="{BB962C8B-B14F-4D97-AF65-F5344CB8AC3E}">
        <p14:creationId xmlns:p14="http://schemas.microsoft.com/office/powerpoint/2010/main" val="273891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US" b="1" dirty="0">
                <a:solidFill>
                  <a:schemeClr val="tx2"/>
                </a:solidFill>
              </a:rPr>
              <a:t>Define account value</a:t>
            </a:r>
            <a:br>
              <a:rPr lang="en-US" b="1" dirty="0">
                <a:solidFill>
                  <a:schemeClr val="tx2"/>
                </a:solidFill>
              </a:rPr>
            </a:br>
            <a:r>
              <a:rPr lang="en-GB" sz="2000" dirty="0">
                <a:solidFill>
                  <a:schemeClr val="accent1"/>
                </a:solidFill>
                <a:latin typeface="Arial"/>
                <a:ea typeface="Verdana"/>
                <a:cs typeface="Arial"/>
              </a:rPr>
              <a:t>model diagram</a:t>
            </a:r>
            <a:endParaRPr lang="en-US" sz="1867" dirty="0">
              <a:latin typeface="Inter Light" panose="02000503000000020004" pitchFamily="2" charset="0"/>
              <a:ea typeface="Inter Light" panose="02000503000000020004" pitchFamily="2" charset="0"/>
            </a:endParaRPr>
          </a:p>
        </p:txBody>
      </p:sp>
      <p:grpSp>
        <p:nvGrpSpPr>
          <p:cNvPr id="45" name="Group 44">
            <a:extLst>
              <a:ext uri="{FF2B5EF4-FFF2-40B4-BE49-F238E27FC236}">
                <a16:creationId xmlns:a16="http://schemas.microsoft.com/office/drawing/2014/main" id="{A822BEF5-8052-01F7-B4C6-A6F34E26BB99}"/>
              </a:ext>
            </a:extLst>
          </p:cNvPr>
          <p:cNvGrpSpPr/>
          <p:nvPr/>
        </p:nvGrpSpPr>
        <p:grpSpPr>
          <a:xfrm>
            <a:off x="1815463" y="1553000"/>
            <a:ext cx="7863891" cy="3899082"/>
            <a:chOff x="1815463" y="1553000"/>
            <a:chExt cx="7863891" cy="3899082"/>
          </a:xfrm>
        </p:grpSpPr>
        <p:sp>
          <p:nvSpPr>
            <p:cNvPr id="3" name="Rounded Rectangle 2">
              <a:extLst>
                <a:ext uri="{FF2B5EF4-FFF2-40B4-BE49-F238E27FC236}">
                  <a16:creationId xmlns:a16="http://schemas.microsoft.com/office/drawing/2014/main" id="{FB171B09-5444-464C-F5DE-82BF00CA97E4}"/>
                </a:ext>
              </a:extLst>
            </p:cNvPr>
            <p:cNvSpPr/>
            <p:nvPr/>
          </p:nvSpPr>
          <p:spPr>
            <a:xfrm>
              <a:off x="3940975"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Define Account</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Hierarchy</a:t>
              </a:r>
            </a:p>
          </p:txBody>
        </p:sp>
        <p:sp>
          <p:nvSpPr>
            <p:cNvPr id="7" name="Rounded Rectangle 6">
              <a:extLst>
                <a:ext uri="{FF2B5EF4-FFF2-40B4-BE49-F238E27FC236}">
                  <a16:creationId xmlns:a16="http://schemas.microsoft.com/office/drawing/2014/main" id="{06042996-BE9E-9E66-AE19-5FF56CC0C9F8}"/>
                </a:ext>
              </a:extLst>
            </p:cNvPr>
            <p:cNvSpPr/>
            <p:nvPr/>
          </p:nvSpPr>
          <p:spPr>
            <a:xfrm>
              <a:off x="6129997" y="1553000"/>
              <a:ext cx="3091850" cy="666174"/>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Market / Account Value</a:t>
              </a:r>
            </a:p>
          </p:txBody>
        </p:sp>
        <p:cxnSp>
          <p:nvCxnSpPr>
            <p:cNvPr id="22" name="Straight Arrow Connector 21">
              <a:extLst>
                <a:ext uri="{FF2B5EF4-FFF2-40B4-BE49-F238E27FC236}">
                  <a16:creationId xmlns:a16="http://schemas.microsoft.com/office/drawing/2014/main" id="{8CBC934A-5534-444D-74F2-7C03CC5649D6}"/>
                </a:ext>
              </a:extLst>
            </p:cNvPr>
            <p:cNvCxnSpPr>
              <a:cxnSpLocks/>
            </p:cNvCxnSpPr>
            <p:nvPr/>
          </p:nvCxnSpPr>
          <p:spPr>
            <a:xfrm flipH="1">
              <a:off x="5315957" y="3401274"/>
              <a:ext cx="700462"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B6B5C9F-C76B-7572-7453-1B4D48EF13A6}"/>
                </a:ext>
              </a:extLst>
            </p:cNvPr>
            <p:cNvCxnSpPr>
              <a:cxnSpLocks/>
            </p:cNvCxnSpPr>
            <p:nvPr/>
          </p:nvCxnSpPr>
          <p:spPr>
            <a:xfrm>
              <a:off x="9679354" y="2035163"/>
              <a:ext cx="0" cy="3416919"/>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8F690953-9E34-B5D2-4998-C6B3981667DB}"/>
                </a:ext>
              </a:extLst>
            </p:cNvPr>
            <p:cNvSpPr/>
            <p:nvPr/>
          </p:nvSpPr>
          <p:spPr>
            <a:xfrm>
              <a:off x="6094014"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Potential:</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Spending</a:t>
              </a:r>
            </a:p>
          </p:txBody>
        </p:sp>
        <p:sp>
          <p:nvSpPr>
            <p:cNvPr id="15" name="Rounded Rectangle 14">
              <a:extLst>
                <a:ext uri="{FF2B5EF4-FFF2-40B4-BE49-F238E27FC236}">
                  <a16:creationId xmlns:a16="http://schemas.microsoft.com/office/drawing/2014/main" id="{88AF52D4-C4D5-5146-3410-7D2739C520CA}"/>
                </a:ext>
              </a:extLst>
            </p:cNvPr>
            <p:cNvSpPr/>
            <p:nvPr/>
          </p:nvSpPr>
          <p:spPr>
            <a:xfrm>
              <a:off x="7898217"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Value:</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Wallet</a:t>
              </a:r>
            </a:p>
          </p:txBody>
        </p:sp>
        <p:cxnSp>
          <p:nvCxnSpPr>
            <p:cNvPr id="21" name="Straight Arrow Connector 20">
              <a:extLst>
                <a:ext uri="{FF2B5EF4-FFF2-40B4-BE49-F238E27FC236}">
                  <a16:creationId xmlns:a16="http://schemas.microsoft.com/office/drawing/2014/main" id="{640768A5-C080-2EEF-DCA1-C897A8DEE7D4}"/>
                </a:ext>
              </a:extLst>
            </p:cNvPr>
            <p:cNvCxnSpPr>
              <a:cxnSpLocks/>
            </p:cNvCxnSpPr>
            <p:nvPr/>
          </p:nvCxnSpPr>
          <p:spPr>
            <a:xfrm flipH="1">
              <a:off x="7471086" y="3428999"/>
              <a:ext cx="40121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7D069E5-1941-39F3-1F76-B916668467C7}"/>
                </a:ext>
              </a:extLst>
            </p:cNvPr>
            <p:cNvCxnSpPr>
              <a:cxnSpLocks/>
              <a:stCxn id="26" idx="0"/>
            </p:cNvCxnSpPr>
            <p:nvPr/>
          </p:nvCxnSpPr>
          <p:spPr>
            <a:xfrm flipV="1">
              <a:off x="8583145" y="4037846"/>
              <a:ext cx="0" cy="309157"/>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6C46188C-169F-72C1-31B4-0579674A12B0}"/>
                </a:ext>
              </a:extLst>
            </p:cNvPr>
            <p:cNvCxnSpPr>
              <a:cxnSpLocks/>
            </p:cNvCxnSpPr>
            <p:nvPr/>
          </p:nvCxnSpPr>
          <p:spPr>
            <a:xfrm flipV="1">
              <a:off x="1815463" y="3779732"/>
              <a:ext cx="913062" cy="516228"/>
            </a:xfrm>
            <a:prstGeom prst="bentConnector3">
              <a:avLst>
                <a:gd name="adj1" fmla="val 100073"/>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5CF6F03D-792E-5AE7-11BD-608144FE6E09}"/>
                </a:ext>
              </a:extLst>
            </p:cNvPr>
            <p:cNvSpPr/>
            <p:nvPr/>
          </p:nvSpPr>
          <p:spPr>
            <a:xfrm>
              <a:off x="7067237" y="2487326"/>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1100" b="1" dirty="0">
                  <a:solidFill>
                    <a:schemeClr val="tx2"/>
                  </a:solidFill>
                  <a:latin typeface="Arial" panose="020B0604020202020204" pitchFamily="34" charset="0"/>
                  <a:ea typeface="Inter Light" panose="02000503000000020004" pitchFamily="2" charset="0"/>
                  <a:cs typeface="Arial" panose="020B0604020202020204" pitchFamily="34" charset="0"/>
                </a:rPr>
                <a:t>Evaluate</a:t>
              </a:r>
            </a:p>
          </p:txBody>
        </p:sp>
        <p:cxnSp>
          <p:nvCxnSpPr>
            <p:cNvPr id="14" name="Elbow Connector 13">
              <a:extLst>
                <a:ext uri="{FF2B5EF4-FFF2-40B4-BE49-F238E27FC236}">
                  <a16:creationId xmlns:a16="http://schemas.microsoft.com/office/drawing/2014/main" id="{2A0470A2-84A3-C83E-D587-3E1E033397E8}"/>
                </a:ext>
              </a:extLst>
            </p:cNvPr>
            <p:cNvCxnSpPr>
              <a:cxnSpLocks/>
              <a:stCxn id="15" idx="3"/>
              <a:endCxn id="18" idx="0"/>
            </p:cNvCxnSpPr>
            <p:nvPr/>
          </p:nvCxnSpPr>
          <p:spPr>
            <a:xfrm flipH="1">
              <a:off x="6781505" y="3429000"/>
              <a:ext cx="2491694" cy="918003"/>
            </a:xfrm>
            <a:prstGeom prst="bentConnector4">
              <a:avLst>
                <a:gd name="adj1" fmla="val -6994"/>
                <a:gd name="adj2" fmla="val 65894"/>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8" name="Rounded Rectangle 17">
              <a:extLst>
                <a:ext uri="{FF2B5EF4-FFF2-40B4-BE49-F238E27FC236}">
                  <a16:creationId xmlns:a16="http://schemas.microsoft.com/office/drawing/2014/main" id="{B9286CC9-CB4E-1425-20A2-9657CACF7FB2}"/>
                </a:ext>
              </a:extLst>
            </p:cNvPr>
            <p:cNvSpPr/>
            <p:nvPr/>
          </p:nvSpPr>
          <p:spPr>
            <a:xfrm>
              <a:off x="6094014" y="4347003"/>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Spending Method</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Selection</a:t>
              </a:r>
            </a:p>
          </p:txBody>
        </p:sp>
        <p:sp>
          <p:nvSpPr>
            <p:cNvPr id="26" name="Rounded Rectangle 25">
              <a:extLst>
                <a:ext uri="{FF2B5EF4-FFF2-40B4-BE49-F238E27FC236}">
                  <a16:creationId xmlns:a16="http://schemas.microsoft.com/office/drawing/2014/main" id="{D46D6551-320F-11A1-9714-5824B213FA50}"/>
                </a:ext>
              </a:extLst>
            </p:cNvPr>
            <p:cNvSpPr/>
            <p:nvPr/>
          </p:nvSpPr>
          <p:spPr>
            <a:xfrm>
              <a:off x="7895654" y="4347003"/>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Scenario</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Selection</a:t>
              </a:r>
            </a:p>
          </p:txBody>
        </p:sp>
        <p:cxnSp>
          <p:nvCxnSpPr>
            <p:cNvPr id="34" name="Straight Connector 33">
              <a:extLst>
                <a:ext uri="{FF2B5EF4-FFF2-40B4-BE49-F238E27FC236}">
                  <a16:creationId xmlns:a16="http://schemas.microsoft.com/office/drawing/2014/main" id="{138667BF-97E5-6376-91A5-33AE01F23A4C}"/>
                </a:ext>
              </a:extLst>
            </p:cNvPr>
            <p:cNvCxnSpPr>
              <a:cxnSpLocks/>
            </p:cNvCxnSpPr>
            <p:nvPr/>
          </p:nvCxnSpPr>
          <p:spPr>
            <a:xfrm>
              <a:off x="5876898" y="2035163"/>
              <a:ext cx="0" cy="3416919"/>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a:extLst>
                <a:ext uri="{FF2B5EF4-FFF2-40B4-BE49-F238E27FC236}">
                  <a16:creationId xmlns:a16="http://schemas.microsoft.com/office/drawing/2014/main" id="{D032EC4E-7DF3-8224-1BD1-EBDDEE06A838}"/>
                </a:ext>
              </a:extLst>
            </p:cNvPr>
            <p:cNvSpPr/>
            <p:nvPr/>
          </p:nvSpPr>
          <p:spPr>
            <a:xfrm>
              <a:off x="2039747" y="3137178"/>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Identify ICP</a:t>
              </a:r>
            </a:p>
          </p:txBody>
        </p:sp>
        <p:cxnSp>
          <p:nvCxnSpPr>
            <p:cNvPr id="38" name="Straight Arrow Connector 37">
              <a:extLst>
                <a:ext uri="{FF2B5EF4-FFF2-40B4-BE49-F238E27FC236}">
                  <a16:creationId xmlns:a16="http://schemas.microsoft.com/office/drawing/2014/main" id="{7A52A05E-17FB-F9AE-C11E-5B544787328C}"/>
                </a:ext>
              </a:extLst>
            </p:cNvPr>
            <p:cNvCxnSpPr>
              <a:cxnSpLocks/>
            </p:cNvCxnSpPr>
            <p:nvPr/>
          </p:nvCxnSpPr>
          <p:spPr>
            <a:xfrm flipH="1">
              <a:off x="3433240" y="3428999"/>
              <a:ext cx="40121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500B5F28-14D0-CF9B-EDFA-1F1D54D290B8}"/>
                </a:ext>
              </a:extLst>
            </p:cNvPr>
            <p:cNvSpPr/>
            <p:nvPr/>
          </p:nvSpPr>
          <p:spPr>
            <a:xfrm>
              <a:off x="2060671" y="2487326"/>
              <a:ext cx="1333309" cy="3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ts val="800"/>
                </a:spcAft>
              </a:pPr>
              <a:r>
                <a:rPr lang="en-US" sz="1100" b="1" dirty="0">
                  <a:solidFill>
                    <a:schemeClr val="tx2"/>
                  </a:solidFill>
                  <a:latin typeface="Arial" panose="020B0604020202020204" pitchFamily="34" charset="0"/>
                  <a:ea typeface="Inter Light" panose="02000503000000020004" pitchFamily="2" charset="0"/>
                  <a:cs typeface="Arial" panose="020B0604020202020204" pitchFamily="34" charset="0"/>
                </a:rPr>
                <a:t>Identify</a:t>
              </a:r>
            </a:p>
          </p:txBody>
        </p:sp>
      </p:grpSp>
    </p:spTree>
    <p:extLst>
      <p:ext uri="{BB962C8B-B14F-4D97-AF65-F5344CB8AC3E}">
        <p14:creationId xmlns:p14="http://schemas.microsoft.com/office/powerpoint/2010/main" val="2366638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390A-645F-992E-A3D2-0BAFBA43B95B}"/>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CB42485-806E-3677-A997-2952C1727BAD}"/>
              </a:ext>
            </a:extLst>
          </p:cNvPr>
          <p:cNvGraphicFramePr>
            <a:graphicFrameLocks noGrp="1"/>
          </p:cNvGraphicFramePr>
          <p:nvPr>
            <p:extLst>
              <p:ext uri="{D42A27DB-BD31-4B8C-83A1-F6EECF244321}">
                <p14:modId xmlns:p14="http://schemas.microsoft.com/office/powerpoint/2010/main" val="2292889048"/>
              </p:ext>
            </p:extLst>
          </p:nvPr>
        </p:nvGraphicFramePr>
        <p:xfrm>
          <a:off x="616461" y="1214530"/>
          <a:ext cx="10872806" cy="5443458"/>
        </p:xfrm>
        <a:graphic>
          <a:graphicData uri="http://schemas.openxmlformats.org/drawingml/2006/table">
            <a:tbl>
              <a:tblPr firstRow="1" bandRow="1">
                <a:tableStyleId>{793D81CF-94F2-401A-BA57-92F5A7B2D0C5}</a:tableStyleId>
              </a:tblPr>
              <a:tblGrid>
                <a:gridCol w="2731901">
                  <a:extLst>
                    <a:ext uri="{9D8B030D-6E8A-4147-A177-3AD203B41FA5}">
                      <a16:colId xmlns:a16="http://schemas.microsoft.com/office/drawing/2014/main" val="3697837074"/>
                    </a:ext>
                  </a:extLst>
                </a:gridCol>
                <a:gridCol w="5169105">
                  <a:extLst>
                    <a:ext uri="{9D8B030D-6E8A-4147-A177-3AD203B41FA5}">
                      <a16:colId xmlns:a16="http://schemas.microsoft.com/office/drawing/2014/main" val="2947779872"/>
                    </a:ext>
                  </a:extLst>
                </a:gridCol>
                <a:gridCol w="2971800">
                  <a:extLst>
                    <a:ext uri="{9D8B030D-6E8A-4147-A177-3AD203B41FA5}">
                      <a16:colId xmlns:a16="http://schemas.microsoft.com/office/drawing/2014/main" val="3748911495"/>
                    </a:ext>
                  </a:extLst>
                </a:gridCol>
              </a:tblGrid>
              <a:tr h="526242">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Generic module name</a:t>
                      </a:r>
                      <a:endParaRPr lang="en-US" dirty="0">
                        <a:solidFill>
                          <a:schemeClr val="bg1"/>
                        </a:solidFill>
                        <a:latin typeface="Arial" panose="020B0604020202020204" pitchFamily="34" charset="0"/>
                        <a:cs typeface="Arial" panose="020B0604020202020204" pitchFamily="34" charset="0"/>
                      </a:endParaRPr>
                    </a:p>
                  </a:txBody>
                  <a:tcPr anchor="ctr">
                    <a:solidFill>
                      <a:srgbClr val="0C314B"/>
                    </a:solidFill>
                  </a:tcPr>
                </a:tc>
                <a:tc>
                  <a:txBody>
                    <a:bodyPr/>
                    <a:lstStyle/>
                    <a:p>
                      <a:pPr lvl="0" algn="l">
                        <a:buNone/>
                      </a:pPr>
                      <a:r>
                        <a:rPr lang="en-US" sz="1600" dirty="0">
                          <a:solidFill>
                            <a:schemeClr val="bg1"/>
                          </a:solidFill>
                          <a:effectLst/>
                          <a:latin typeface="Arial" panose="020B0604020202020204" pitchFamily="34" charset="0"/>
                          <a:cs typeface="Arial" panose="020B0604020202020204" pitchFamily="34" charset="0"/>
                        </a:rPr>
                        <a:t>Description</a:t>
                      </a:r>
                      <a:endParaRPr lang="en-US" dirty="0">
                        <a:solidFill>
                          <a:schemeClr val="bg1"/>
                        </a:solidFill>
                        <a:latin typeface="Arial" panose="020B0604020202020204" pitchFamily="34" charset="0"/>
                        <a:cs typeface="Arial" panose="020B0604020202020204" pitchFamily="34" charset="0"/>
                      </a:endParaRPr>
                    </a:p>
                  </a:txBody>
                  <a:tcPr anchor="ctr">
                    <a:solidFill>
                      <a:srgbClr val="0C314B"/>
                    </a:solidFill>
                  </a:tcPr>
                </a:tc>
                <a:tc>
                  <a:txBody>
                    <a:bodyPr/>
                    <a:lstStyle/>
                    <a:p>
                      <a:pPr algn="l" rtl="0" fontAlgn="base"/>
                      <a:r>
                        <a:rPr lang="en-US" sz="1600" dirty="0">
                          <a:solidFill>
                            <a:schemeClr val="bg1"/>
                          </a:solidFill>
                          <a:effectLst/>
                          <a:latin typeface="Arial" panose="020B0604020202020204" pitchFamily="34" charset="0"/>
                          <a:cs typeface="Arial" panose="020B0604020202020204" pitchFamily="34" charset="0"/>
                        </a:rPr>
                        <a:t>Guided setup</a:t>
                      </a:r>
                      <a:br>
                        <a:rPr lang="en-US" sz="1600" dirty="0">
                          <a:solidFill>
                            <a:schemeClr val="bg1"/>
                          </a:solidFill>
                          <a:effectLst/>
                          <a:latin typeface="Arial" panose="020B0604020202020204" pitchFamily="34" charset="0"/>
                          <a:cs typeface="Arial" panose="020B0604020202020204" pitchFamily="34" charset="0"/>
                        </a:rPr>
                      </a:br>
                      <a:r>
                        <a:rPr lang="en-US" sz="1600" dirty="0">
                          <a:solidFill>
                            <a:schemeClr val="bg1"/>
                          </a:solidFill>
                          <a:effectLst/>
                          <a:latin typeface="Arial" panose="020B0604020202020204" pitchFamily="34" charset="0"/>
                          <a:cs typeface="Arial" panose="020B0604020202020204" pitchFamily="34" charset="0"/>
                        </a:rPr>
                        <a:t>inputs / explanation</a:t>
                      </a:r>
                      <a:endParaRPr lang="en-US" dirty="0">
                        <a:solidFill>
                          <a:schemeClr val="bg1"/>
                        </a:solidFill>
                        <a:effectLst/>
                        <a:latin typeface="Arial" panose="020B0604020202020204" pitchFamily="34" charset="0"/>
                        <a:cs typeface="Arial" panose="020B0604020202020204" pitchFamily="34" charset="0"/>
                      </a:endParaRPr>
                    </a:p>
                  </a:txBody>
                  <a:tcPr anchor="ctr">
                    <a:solidFill>
                      <a:srgbClr val="0C314B"/>
                    </a:solidFill>
                  </a:tcPr>
                </a:tc>
                <a:extLst>
                  <a:ext uri="{0D108BD9-81ED-4DB2-BD59-A6C34878D82A}">
                    <a16:rowId xmlns:a16="http://schemas.microsoft.com/office/drawing/2014/main" val="737408206"/>
                  </a:ext>
                </a:extLst>
              </a:tr>
              <a:tr h="466667">
                <a:tc>
                  <a:txBody>
                    <a:bodyPr/>
                    <a:lstStyle/>
                    <a:p>
                      <a:pPr marL="0" marR="0" lvl="0" indent="0" algn="l">
                        <a:lnSpc>
                          <a:spcPct val="11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Rule-based Assignment Summary</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dirty="0">
                          <a:solidFill>
                            <a:srgbClr val="0C314B"/>
                          </a:solidFill>
                          <a:effectLst/>
                          <a:latin typeface="Arial" panose="020B0604020202020204" pitchFamily="34" charset="0"/>
                          <a:cs typeface="Arial" panose="020B0604020202020204" pitchFamily="34" charset="0"/>
                        </a:rPr>
                        <a:t>This provides a summary of the rule-based assignment rules.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baseline="0" noProof="0" dirty="0">
                          <a:solidFill>
                            <a:srgbClr val="0C314B"/>
                          </a:solidFill>
                          <a:effectLst/>
                          <a:latin typeface="Arial" panose="020B0604020202020204" pitchFamily="34" charset="0"/>
                          <a:cs typeface="Arial" panose="020B0604020202020204" pitchFamily="34" charset="0"/>
                        </a:rPr>
                        <a:t>Attributes used can be configured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1534925166"/>
                  </a:ext>
                </a:extLst>
              </a:tr>
              <a:tr h="476597">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Rule-based Assignment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There should be 1 module created for each attribute applied to rule-based assignment.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Should match with # of rule-based assignment</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31287782"/>
                  </a:ext>
                </a:extLst>
              </a:tr>
              <a:tr h="456738">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OUT: Rule-based Segmentation Account Details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module will show account level details on how accounts match with rules.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669100209"/>
                  </a:ext>
                </a:extLst>
              </a:tr>
              <a:tr h="417021">
                <a:tc>
                  <a:txBody>
                    <a:bodyPr/>
                    <a:lstStyle/>
                    <a:p>
                      <a:pPr marL="0" lvl="0" algn="l">
                        <a:buNone/>
                      </a:pPr>
                      <a:r>
                        <a:rPr lang="en-US" sz="1200" b="0" i="0" u="none" strike="noStrike" noProof="0" dirty="0">
                          <a:solidFill>
                            <a:srgbClr val="0C314B"/>
                          </a:solidFill>
                          <a:effectLst/>
                          <a:latin typeface="Arial"/>
                          <a:cs typeface="Arial"/>
                        </a:rPr>
                        <a:t>OUT: Segmentation Rule Conflict</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rPr>
                        <a:t>There should be 1 module created for each attribute applied to show rule based conflicts</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rPr>
                        <a:t>Should match with # of rule-based assignment</a:t>
                      </a:r>
                      <a:endParaRPr lang="en-US" dirty="0"/>
                    </a:p>
                  </a:txBody>
                  <a:tcPr anchor="ctr"/>
                </a:tc>
                <a:extLst>
                  <a:ext uri="{0D108BD9-81ED-4DB2-BD59-A6C34878D82A}">
                    <a16:rowId xmlns:a16="http://schemas.microsoft.com/office/drawing/2014/main" val="3453779432"/>
                  </a:ext>
                </a:extLst>
              </a:tr>
              <a:tr h="417021">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cs typeface="Arial"/>
                        </a:rPr>
                        <a:t>CAL: Segmentation Rule Conflicts</a:t>
                      </a:r>
                    </a:p>
                  </a:txBody>
                  <a:tcPr anchor="ct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a:cs typeface="Arial"/>
                        </a:rPr>
                        <a:t>This module will compare each rule against each other to determine if there are conflicting account – rule assignments </a:t>
                      </a:r>
                      <a:endParaRPr lang="en-US"/>
                    </a:p>
                  </a:txBody>
                  <a:tcPr anchor="ct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a:cs typeface="Arial"/>
                        </a:rPr>
                        <a:t>Ensure # of Shadow Rules &gt;= # of Segment Assignment Rules</a:t>
                      </a:r>
                      <a:endParaRPr lang="en-US" dirty="0"/>
                    </a:p>
                  </a:txBody>
                  <a:tcPr anchor="ctr"/>
                </a:tc>
                <a:extLst>
                  <a:ext uri="{0D108BD9-81ED-4DB2-BD59-A6C34878D82A}">
                    <a16:rowId xmlns:a16="http://schemas.microsoft.com/office/drawing/2014/main" val="1675048290"/>
                  </a:ext>
                </a:extLst>
              </a:tr>
              <a:tr h="417021">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Attribute Score</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There should be 1 module created for each attribute applied to score-based assignment.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Should match with # of score-based assignment</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32130153"/>
                  </a:ext>
                </a:extLst>
              </a:tr>
              <a:tr h="417021">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Account Segment Metric Selection</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defines what attribute is included to calculate the account score.</a:t>
                      </a:r>
                      <a:endParaRPr lang="en-US" sz="1200" b="0" i="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Dimensionality can be configured</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152681411"/>
                  </a:ext>
                </a:extLst>
              </a:tr>
              <a:tr h="595745">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SYS: Account Segmentation Metric Define</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is a system module which is used to calculate the account score depending on if the attributes applied is a numeric or categorical attribute. It's using the LISS.</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17596258"/>
                  </a:ext>
                </a:extLst>
              </a:tr>
              <a:tr h="456738">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Account Scoring Firmographics (For Collect)</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consolidates all the metrics that will be used to calculate the account score. It's used to create LISS.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Metrics are dependent on attributes included to calculate account score</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849823383"/>
                  </a:ext>
                </a:extLst>
              </a:tr>
              <a:tr h="526242">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Account Scoring Firmographics (Collect)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This module collects the account data and matches account data into a score bucket.</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Metrics are dependent on attributes included to calculate account score</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11897978"/>
                  </a:ext>
                </a:extLst>
              </a:tr>
            </a:tbl>
          </a:graphicData>
        </a:graphic>
      </p:graphicFrame>
      <p:sp>
        <p:nvSpPr>
          <p:cNvPr id="6" name="Title 1">
            <a:extLst>
              <a:ext uri="{FF2B5EF4-FFF2-40B4-BE49-F238E27FC236}">
                <a16:creationId xmlns:a16="http://schemas.microsoft.com/office/drawing/2014/main" id="{EE5D48D3-B7E4-FF71-9CEB-53DA24871B8E}"/>
              </a:ext>
            </a:extLst>
          </p:cNvPr>
          <p:cNvSpPr txBox="1">
            <a:spLocks/>
          </p:cNvSpPr>
          <p:nvPr/>
        </p:nvSpPr>
        <p:spPr>
          <a:xfrm>
            <a:off x="616265" y="324217"/>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GB" dirty="0">
                <a:solidFill>
                  <a:schemeClr val="tx2"/>
                </a:solidFill>
                <a:latin typeface="Arial"/>
                <a:ea typeface="Verdana"/>
                <a:cs typeface="Arial"/>
              </a:rPr>
              <a:t>Define segments</a:t>
            </a:r>
          </a:p>
          <a:p>
            <a:r>
              <a:rPr lang="en-GB" sz="2000" b="0" dirty="0">
                <a:solidFill>
                  <a:schemeClr val="accent1"/>
                </a:solidFill>
                <a:latin typeface="Arial"/>
                <a:ea typeface="Verdana"/>
                <a:cs typeface="Arial"/>
              </a:rPr>
              <a:t>key modules</a:t>
            </a:r>
            <a:endParaRPr lang="en-US" sz="2000" b="0" dirty="0">
              <a:solidFill>
                <a:schemeClr val="accent1"/>
              </a:solidFill>
            </a:endParaRPr>
          </a:p>
        </p:txBody>
      </p:sp>
    </p:spTree>
    <p:extLst>
      <p:ext uri="{BB962C8B-B14F-4D97-AF65-F5344CB8AC3E}">
        <p14:creationId xmlns:p14="http://schemas.microsoft.com/office/powerpoint/2010/main" val="136119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US" b="1" dirty="0">
                <a:solidFill>
                  <a:schemeClr val="tx2"/>
                </a:solidFill>
              </a:rPr>
              <a:t>Define segments</a:t>
            </a:r>
            <a:br>
              <a:rPr lang="en-US" b="1" dirty="0">
                <a:solidFill>
                  <a:schemeClr val="tx2"/>
                </a:solidFill>
              </a:rPr>
            </a:br>
            <a:r>
              <a:rPr lang="en-GB" sz="2000" dirty="0">
                <a:solidFill>
                  <a:schemeClr val="accent1"/>
                </a:solidFill>
                <a:latin typeface="Arial"/>
                <a:ea typeface="Verdana"/>
                <a:cs typeface="Arial"/>
              </a:rPr>
              <a:t>model diagram</a:t>
            </a:r>
            <a:endParaRPr lang="en-US" sz="1867" dirty="0">
              <a:latin typeface="Inter Light" panose="02000503000000020004" pitchFamily="2" charset="0"/>
              <a:ea typeface="Inter Light" panose="02000503000000020004" pitchFamily="2" charset="0"/>
            </a:endParaRPr>
          </a:p>
        </p:txBody>
      </p:sp>
      <p:grpSp>
        <p:nvGrpSpPr>
          <p:cNvPr id="41" name="Group 40">
            <a:extLst>
              <a:ext uri="{FF2B5EF4-FFF2-40B4-BE49-F238E27FC236}">
                <a16:creationId xmlns:a16="http://schemas.microsoft.com/office/drawing/2014/main" id="{8D393055-153A-EE45-8FFB-C48127A109FB}"/>
              </a:ext>
            </a:extLst>
          </p:cNvPr>
          <p:cNvGrpSpPr/>
          <p:nvPr/>
        </p:nvGrpSpPr>
        <p:grpSpPr>
          <a:xfrm>
            <a:off x="2097796" y="1553000"/>
            <a:ext cx="7124051" cy="4326821"/>
            <a:chOff x="2097796" y="1553000"/>
            <a:chExt cx="7124051" cy="4326821"/>
          </a:xfrm>
        </p:grpSpPr>
        <p:sp>
          <p:nvSpPr>
            <p:cNvPr id="3" name="Rounded Rectangle 2">
              <a:extLst>
                <a:ext uri="{FF2B5EF4-FFF2-40B4-BE49-F238E27FC236}">
                  <a16:creationId xmlns:a16="http://schemas.microsoft.com/office/drawing/2014/main" id="{FB171B09-5444-464C-F5DE-82BF00CA97E4}"/>
                </a:ext>
              </a:extLst>
            </p:cNvPr>
            <p:cNvSpPr/>
            <p:nvPr/>
          </p:nvSpPr>
          <p:spPr>
            <a:xfrm>
              <a:off x="2890974"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Rule-Based</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5" name="Rounded Rectangle 4">
              <a:extLst>
                <a:ext uri="{FF2B5EF4-FFF2-40B4-BE49-F238E27FC236}">
                  <a16:creationId xmlns:a16="http://schemas.microsoft.com/office/drawing/2014/main" id="{A29BB8AE-627D-FA6E-6ADD-2C22A67F2900}"/>
                </a:ext>
              </a:extLst>
            </p:cNvPr>
            <p:cNvSpPr/>
            <p:nvPr/>
          </p:nvSpPr>
          <p:spPr>
            <a:xfrm>
              <a:off x="2890974" y="4487890"/>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Score-Based</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7" name="Rounded Rectangle 6">
              <a:extLst>
                <a:ext uri="{FF2B5EF4-FFF2-40B4-BE49-F238E27FC236}">
                  <a16:creationId xmlns:a16="http://schemas.microsoft.com/office/drawing/2014/main" id="{06042996-BE9E-9E66-AE19-5FF56CC0C9F8}"/>
                </a:ext>
              </a:extLst>
            </p:cNvPr>
            <p:cNvSpPr/>
            <p:nvPr/>
          </p:nvSpPr>
          <p:spPr>
            <a:xfrm>
              <a:off x="6129997" y="1553000"/>
              <a:ext cx="3091850" cy="666174"/>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Segments</a:t>
              </a:r>
            </a:p>
          </p:txBody>
        </p:sp>
        <p:sp>
          <p:nvSpPr>
            <p:cNvPr id="8" name="Rounded Rectangle 7">
              <a:extLst>
                <a:ext uri="{FF2B5EF4-FFF2-40B4-BE49-F238E27FC236}">
                  <a16:creationId xmlns:a16="http://schemas.microsoft.com/office/drawing/2014/main" id="{4A76275F-3D4A-D9BD-8347-8F0EA9CAA8C7}"/>
                </a:ext>
              </a:extLst>
            </p:cNvPr>
            <p:cNvSpPr/>
            <p:nvPr/>
          </p:nvSpPr>
          <p:spPr>
            <a:xfrm>
              <a:off x="6597316" y="5296178"/>
              <a:ext cx="1374982" cy="583643"/>
            </a:xfrm>
            <a:prstGeom prst="roundRect">
              <a:avLst>
                <a:gd name="adj" fmla="val 16836"/>
              </a:avLst>
            </a:prstGeom>
            <a:solidFill>
              <a:schemeClr val="accent1">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Capacity</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Impact</a:t>
              </a:r>
            </a:p>
          </p:txBody>
        </p:sp>
        <p:cxnSp>
          <p:nvCxnSpPr>
            <p:cNvPr id="20" name="Straight Arrow Connector 19">
              <a:extLst>
                <a:ext uri="{FF2B5EF4-FFF2-40B4-BE49-F238E27FC236}">
                  <a16:creationId xmlns:a16="http://schemas.microsoft.com/office/drawing/2014/main" id="{EAE085A0-1B79-D6FF-84A0-6B3E5CDE2D63}"/>
                </a:ext>
              </a:extLst>
            </p:cNvPr>
            <p:cNvCxnSpPr>
              <a:cxnSpLocks/>
            </p:cNvCxnSpPr>
            <p:nvPr/>
          </p:nvCxnSpPr>
          <p:spPr>
            <a:xfrm flipV="1">
              <a:off x="3584134" y="3994464"/>
              <a:ext cx="0" cy="460803"/>
            </a:xfrm>
            <a:prstGeom prst="straightConnector1">
              <a:avLst/>
            </a:prstGeom>
            <a:ln w="9525" cap="rnd">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8CBC934A-5534-444D-74F2-7C03CC5649D6}"/>
                </a:ext>
              </a:extLst>
            </p:cNvPr>
            <p:cNvCxnSpPr>
              <a:cxnSpLocks/>
            </p:cNvCxnSpPr>
            <p:nvPr/>
          </p:nvCxnSpPr>
          <p:spPr>
            <a:xfrm flipH="1">
              <a:off x="2097796" y="3652115"/>
              <a:ext cx="700462"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B6B5C9F-C76B-7572-7453-1B4D48EF13A6}"/>
                </a:ext>
              </a:extLst>
            </p:cNvPr>
            <p:cNvCxnSpPr>
              <a:cxnSpLocks/>
            </p:cNvCxnSpPr>
            <p:nvPr/>
          </p:nvCxnSpPr>
          <p:spPr>
            <a:xfrm>
              <a:off x="8167425" y="2453640"/>
              <a:ext cx="0" cy="3416919"/>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a:extLst>
                <a:ext uri="{FF2B5EF4-FFF2-40B4-BE49-F238E27FC236}">
                  <a16:creationId xmlns:a16="http://schemas.microsoft.com/office/drawing/2014/main" id="{563D6239-0049-B77F-A5F3-1253B7A18AE0}"/>
                </a:ext>
              </a:extLst>
            </p:cNvPr>
            <p:cNvSpPr/>
            <p:nvPr/>
          </p:nvSpPr>
          <p:spPr>
            <a:xfrm>
              <a:off x="2890974" y="2287353"/>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Customer</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Profile</a:t>
              </a:r>
            </a:p>
          </p:txBody>
        </p:sp>
        <p:cxnSp>
          <p:nvCxnSpPr>
            <p:cNvPr id="10" name="Straight Arrow Connector 9">
              <a:extLst>
                <a:ext uri="{FF2B5EF4-FFF2-40B4-BE49-F238E27FC236}">
                  <a16:creationId xmlns:a16="http://schemas.microsoft.com/office/drawing/2014/main" id="{DDE5C9C0-BE9C-55DB-6FDC-45C2F899E466}"/>
                </a:ext>
              </a:extLst>
            </p:cNvPr>
            <p:cNvCxnSpPr>
              <a:cxnSpLocks/>
            </p:cNvCxnSpPr>
            <p:nvPr/>
          </p:nvCxnSpPr>
          <p:spPr>
            <a:xfrm flipV="1">
              <a:off x="3584134" y="2879463"/>
              <a:ext cx="0" cy="46080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8F690953-9E34-B5D2-4998-C6B3981667DB}"/>
                </a:ext>
              </a:extLst>
            </p:cNvPr>
            <p:cNvSpPr/>
            <p:nvPr/>
          </p:nvSpPr>
          <p:spPr>
            <a:xfrm>
              <a:off x="4755737"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Segment</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Override</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Workflow</a:t>
              </a:r>
            </a:p>
          </p:txBody>
        </p:sp>
        <p:sp>
          <p:nvSpPr>
            <p:cNvPr id="15" name="Rounded Rectangle 14">
              <a:extLst>
                <a:ext uri="{FF2B5EF4-FFF2-40B4-BE49-F238E27FC236}">
                  <a16:creationId xmlns:a16="http://schemas.microsoft.com/office/drawing/2014/main" id="{88AF52D4-C4D5-5146-3410-7D2739C520CA}"/>
                </a:ext>
              </a:extLst>
            </p:cNvPr>
            <p:cNvSpPr/>
            <p:nvPr/>
          </p:nvSpPr>
          <p:spPr>
            <a:xfrm>
              <a:off x="6559940" y="3388019"/>
              <a:ext cx="1374982" cy="583643"/>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cxnSp>
          <p:nvCxnSpPr>
            <p:cNvPr id="21" name="Straight Arrow Connector 20">
              <a:extLst>
                <a:ext uri="{FF2B5EF4-FFF2-40B4-BE49-F238E27FC236}">
                  <a16:creationId xmlns:a16="http://schemas.microsoft.com/office/drawing/2014/main" id="{640768A5-C080-2EEF-DCA1-C897A8DEE7D4}"/>
                </a:ext>
              </a:extLst>
            </p:cNvPr>
            <p:cNvCxnSpPr>
              <a:cxnSpLocks/>
            </p:cNvCxnSpPr>
            <p:nvPr/>
          </p:nvCxnSpPr>
          <p:spPr>
            <a:xfrm flipH="1">
              <a:off x="6132809" y="3679840"/>
              <a:ext cx="401217"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3" name="Right Brace 22">
              <a:extLst>
                <a:ext uri="{FF2B5EF4-FFF2-40B4-BE49-F238E27FC236}">
                  <a16:creationId xmlns:a16="http://schemas.microsoft.com/office/drawing/2014/main" id="{82054AD0-2815-8EEE-649F-277BE627475C}"/>
                </a:ext>
              </a:extLst>
            </p:cNvPr>
            <p:cNvSpPr/>
            <p:nvPr/>
          </p:nvSpPr>
          <p:spPr>
            <a:xfrm>
              <a:off x="4265956" y="3679840"/>
              <a:ext cx="348433" cy="1099871"/>
            </a:xfrm>
            <a:prstGeom prst="rightBrace">
              <a:avLst>
                <a:gd name="adj1" fmla="val 0"/>
                <a:gd name="adj2" fmla="val 5406"/>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17D069E5-1941-39F3-1F76-B916668467C7}"/>
                </a:ext>
              </a:extLst>
            </p:cNvPr>
            <p:cNvCxnSpPr>
              <a:cxnSpLocks/>
            </p:cNvCxnSpPr>
            <p:nvPr/>
          </p:nvCxnSpPr>
          <p:spPr>
            <a:xfrm flipH="1">
              <a:off x="4440172" y="3737413"/>
              <a:ext cx="295330"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3412120-8F0B-0CC0-C601-FE8C348E302A}"/>
                </a:ext>
              </a:extLst>
            </p:cNvPr>
            <p:cNvCxnSpPr>
              <a:cxnSpLocks/>
            </p:cNvCxnSpPr>
            <p:nvPr/>
          </p:nvCxnSpPr>
          <p:spPr>
            <a:xfrm flipV="1">
              <a:off x="7325554" y="3969123"/>
              <a:ext cx="0" cy="1220097"/>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DAE817B-B6BF-AD01-E210-62E5BD75DFEC}"/>
                </a:ext>
              </a:extLst>
            </p:cNvPr>
            <p:cNvCxnSpPr>
              <a:cxnSpLocks/>
            </p:cNvCxnSpPr>
            <p:nvPr/>
          </p:nvCxnSpPr>
          <p:spPr>
            <a:xfrm>
              <a:off x="7972298" y="5549279"/>
              <a:ext cx="729742"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F81BCE1-F0DF-3C73-8CB6-CDDB33FA55DE}"/>
                </a:ext>
              </a:extLst>
            </p:cNvPr>
            <p:cNvCxnSpPr>
              <a:cxnSpLocks/>
            </p:cNvCxnSpPr>
            <p:nvPr/>
          </p:nvCxnSpPr>
          <p:spPr>
            <a:xfrm>
              <a:off x="2536245" y="2453640"/>
              <a:ext cx="0" cy="3416919"/>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6C46188C-169F-72C1-31B4-0579674A12B0}"/>
                </a:ext>
              </a:extLst>
            </p:cNvPr>
            <p:cNvCxnSpPr>
              <a:cxnSpLocks/>
            </p:cNvCxnSpPr>
            <p:nvPr/>
          </p:nvCxnSpPr>
          <p:spPr>
            <a:xfrm flipV="1">
              <a:off x="2678684" y="5071533"/>
              <a:ext cx="913062" cy="516228"/>
            </a:xfrm>
            <a:prstGeom prst="bentConnector3">
              <a:avLst>
                <a:gd name="adj1" fmla="val 100073"/>
              </a:avLst>
            </a:prstGeom>
            <a:ln w="952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6183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9A2EC-3F05-E722-545F-175CA59CD336}"/>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D42F499-3266-C07B-D088-9F93A66446A9}"/>
              </a:ext>
            </a:extLst>
          </p:cNvPr>
          <p:cNvGraphicFramePr>
            <a:graphicFrameLocks noGrp="1"/>
          </p:cNvGraphicFramePr>
          <p:nvPr>
            <p:extLst>
              <p:ext uri="{D42A27DB-BD31-4B8C-83A1-F6EECF244321}">
                <p14:modId xmlns:p14="http://schemas.microsoft.com/office/powerpoint/2010/main" val="48616424"/>
              </p:ext>
            </p:extLst>
          </p:nvPr>
        </p:nvGraphicFramePr>
        <p:xfrm>
          <a:off x="616460" y="1214529"/>
          <a:ext cx="10813540" cy="5280626"/>
        </p:xfrm>
        <a:graphic>
          <a:graphicData uri="http://schemas.openxmlformats.org/drawingml/2006/table">
            <a:tbl>
              <a:tblPr firstRow="1" bandRow="1">
                <a:tableStyleId>{793D81CF-94F2-401A-BA57-92F5A7B2D0C5}</a:tableStyleId>
              </a:tblPr>
              <a:tblGrid>
                <a:gridCol w="2717010">
                  <a:extLst>
                    <a:ext uri="{9D8B030D-6E8A-4147-A177-3AD203B41FA5}">
                      <a16:colId xmlns:a16="http://schemas.microsoft.com/office/drawing/2014/main" val="3697837074"/>
                    </a:ext>
                  </a:extLst>
                </a:gridCol>
                <a:gridCol w="5497263">
                  <a:extLst>
                    <a:ext uri="{9D8B030D-6E8A-4147-A177-3AD203B41FA5}">
                      <a16:colId xmlns:a16="http://schemas.microsoft.com/office/drawing/2014/main" val="2947779872"/>
                    </a:ext>
                  </a:extLst>
                </a:gridCol>
                <a:gridCol w="2599267">
                  <a:extLst>
                    <a:ext uri="{9D8B030D-6E8A-4147-A177-3AD203B41FA5}">
                      <a16:colId xmlns:a16="http://schemas.microsoft.com/office/drawing/2014/main" val="3748911495"/>
                    </a:ext>
                  </a:extLst>
                </a:gridCol>
              </a:tblGrid>
              <a:tr h="495337">
                <a:tc>
                  <a:txBody>
                    <a:bodyPr/>
                    <a:lstStyle/>
                    <a:p>
                      <a:pPr lvl="0" algn="ctr">
                        <a:buNone/>
                      </a:pPr>
                      <a:r>
                        <a:rPr lang="en-US" sz="1600" dirty="0">
                          <a:solidFill>
                            <a:schemeClr val="bg1">
                              <a:lumMod val="95000"/>
                            </a:schemeClr>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dirty="0">
                          <a:solidFill>
                            <a:schemeClr val="bg1">
                              <a:lumMod val="95000"/>
                            </a:schemeClr>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algn="ctr" rtl="0" fontAlgn="base"/>
                      <a:r>
                        <a:rPr lang="en-US" sz="1600" dirty="0">
                          <a:solidFill>
                            <a:schemeClr val="bg1">
                              <a:lumMod val="95000"/>
                            </a:schemeClr>
                          </a:solidFill>
                          <a:effectLst/>
                          <a:latin typeface="Arial" panose="020B0604020202020204" pitchFamily="34" charset="0"/>
                          <a:cs typeface="Arial" panose="020B0604020202020204" pitchFamily="34" charset="0"/>
                        </a:rPr>
                        <a:t>Guided setup</a:t>
                      </a:r>
                      <a:br>
                        <a:rPr lang="en-US" sz="1600" dirty="0">
                          <a:solidFill>
                            <a:schemeClr val="bg1">
                              <a:lumMod val="95000"/>
                            </a:schemeClr>
                          </a:solidFill>
                          <a:effectLst/>
                          <a:latin typeface="Arial" panose="020B0604020202020204" pitchFamily="34" charset="0"/>
                          <a:cs typeface="Arial" panose="020B0604020202020204" pitchFamily="34" charset="0"/>
                        </a:rPr>
                      </a:br>
                      <a:r>
                        <a:rPr lang="en-US" sz="1600" dirty="0">
                          <a:solidFill>
                            <a:schemeClr val="bg1">
                              <a:lumMod val="95000"/>
                            </a:schemeClr>
                          </a:solidFill>
                          <a:effectLst/>
                          <a:latin typeface="Arial" panose="020B0604020202020204" pitchFamily="34" charset="0"/>
                          <a:cs typeface="Arial" panose="020B0604020202020204" pitchFamily="34" charset="0"/>
                        </a:rPr>
                        <a:t>inputs / explanation</a:t>
                      </a:r>
                      <a:endParaRPr lang="en-US" dirty="0">
                        <a:solidFill>
                          <a:schemeClr val="bg1">
                            <a:lumMod val="95000"/>
                          </a:schemeClr>
                        </a:solidFill>
                        <a:effectLst/>
                        <a:latin typeface="Arial" panose="020B0604020202020204" pitchFamily="34" charset="0"/>
                        <a:cs typeface="Arial" panose="020B0604020202020204" pitchFamily="34" charset="0"/>
                      </a:endParaRPr>
                    </a:p>
                  </a:txBody>
                  <a:tcPr anchor="ctr">
                    <a:solidFill>
                      <a:srgbClr val="0C314B"/>
                    </a:solidFill>
                  </a:tcPr>
                </a:tc>
                <a:extLst>
                  <a:ext uri="{0D108BD9-81ED-4DB2-BD59-A6C34878D82A}">
                    <a16:rowId xmlns:a16="http://schemas.microsoft.com/office/drawing/2014/main" val="737408206"/>
                  </a:ext>
                </a:extLst>
              </a:tr>
              <a:tr h="671644">
                <a:tc>
                  <a:txBody>
                    <a:bodyPr/>
                    <a:lstStyle/>
                    <a:p>
                      <a:pPr marL="0" marR="0" lvl="0" indent="0" algn="l">
                        <a:lnSpc>
                          <a:spcPct val="110000"/>
                        </a:lnSpc>
                        <a:spcBef>
                          <a:spcPts val="0"/>
                        </a:spcBef>
                        <a:spcAft>
                          <a:spcPts val="0"/>
                        </a:spcAft>
                        <a:buNone/>
                      </a:pPr>
                      <a:r>
                        <a:rPr lang="en-US" sz="1200" b="0" i="0" u="none" strike="noStrike" noProof="0" dirty="0">
                          <a:solidFill>
                            <a:srgbClr val="0C314B"/>
                          </a:solidFill>
                          <a:effectLst/>
                          <a:latin typeface="Arial"/>
                          <a:cs typeface="Arial"/>
                        </a:rPr>
                        <a:t>INP: Planning Sales Hierarchy</a:t>
                      </a:r>
                      <a:br>
                        <a:rPr lang="en-US" sz="1200" b="0" i="0" u="none" strike="noStrike" noProof="0" dirty="0">
                          <a:solidFill>
                            <a:srgbClr val="0C314B"/>
                          </a:solidFill>
                          <a:effectLst/>
                          <a:latin typeface="Arial"/>
                          <a:cs typeface="Arial"/>
                        </a:rPr>
                      </a:br>
                      <a:r>
                        <a:rPr lang="en-US" sz="1200" b="0" i="0" u="none" strike="noStrike" noProof="0" dirty="0">
                          <a:solidFill>
                            <a:srgbClr val="0C314B"/>
                          </a:solidFill>
                          <a:effectLst/>
                          <a:latin typeface="Arial"/>
                          <a:cs typeface="Arial"/>
                        </a:rPr>
                        <a:t>Rule Summary</a:t>
                      </a:r>
                      <a:endParaRPr lang="en-US" sz="1200" dirty="0">
                        <a:solidFill>
                          <a:srgbClr val="0C314B"/>
                        </a:solidFill>
                        <a:latin typeface="Arial"/>
                        <a:cs typeface="Arial"/>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dirty="0">
                          <a:solidFill>
                            <a:srgbClr val="0C314B"/>
                          </a:solidFill>
                          <a:effectLst/>
                          <a:latin typeface="Arial" panose="020B0604020202020204" pitchFamily="34" charset="0"/>
                          <a:cs typeface="Arial" panose="020B0604020202020204" pitchFamily="34" charset="0"/>
                        </a:rPr>
                        <a:t>This provides a summary of the planning sales hierarchy rules.</a:t>
                      </a:r>
                    </a:p>
                    <a:p>
                      <a:pPr marL="0" lvl="0" algn="l" defTabSz="1219170" rtl="0" eaLnBrk="1" latinLnBrk="0" hangingPunct="1">
                        <a:buNone/>
                      </a:pPr>
                      <a:endParaRPr lang="en-US" sz="1200">
                        <a:solidFill>
                          <a:srgbClr val="0C314B"/>
                        </a:solidFill>
                        <a:effectLst/>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b="0" i="0" u="none" strike="noStrike" baseline="0" noProof="0" dirty="0">
                          <a:solidFill>
                            <a:srgbClr val="0C314B"/>
                          </a:solidFill>
                          <a:effectLst/>
                          <a:latin typeface="Arial" panose="020B0604020202020204" pitchFamily="34" charset="0"/>
                          <a:cs typeface="Arial" panose="020B0604020202020204" pitchFamily="34" charset="0"/>
                        </a:rPr>
                        <a:t>Attributes used can be configured</a:t>
                      </a:r>
                    </a:p>
                  </a:txBody>
                  <a:tcPr anchor="ctr">
                    <a:solidFill>
                      <a:srgbClr val="F3F1EE"/>
                    </a:solidFill>
                  </a:tcPr>
                </a:tc>
                <a:extLst>
                  <a:ext uri="{0D108BD9-81ED-4DB2-BD59-A6C34878D82A}">
                    <a16:rowId xmlns:a16="http://schemas.microsoft.com/office/drawing/2014/main" val="1534925166"/>
                  </a:ext>
                </a:extLst>
              </a:tr>
              <a:tr h="680039">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INP: Planning Sales Hierarchy Rule</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There should be 1 module created for each attribute applied to create rules for planning sales hierarchy creation.</a:t>
                      </a: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Should match with #</a:t>
                      </a:r>
                      <a:br>
                        <a:rPr lang="en-US" sz="1200" u="none" strike="noStrike" noProof="0" dirty="0">
                          <a:solidFill>
                            <a:srgbClr val="0C314B"/>
                          </a:solidFill>
                          <a:effectLst/>
                          <a:latin typeface="Arial" panose="020B0604020202020204" pitchFamily="34" charset="0"/>
                          <a:cs typeface="Arial" panose="020B0604020202020204" pitchFamily="34" charset="0"/>
                        </a:rPr>
                      </a:br>
                      <a:r>
                        <a:rPr lang="en-US" sz="1200" u="none" strike="noStrike" noProof="0" dirty="0">
                          <a:solidFill>
                            <a:srgbClr val="0C314B"/>
                          </a:solidFill>
                          <a:effectLst/>
                          <a:latin typeface="Arial" panose="020B0604020202020204" pitchFamily="34" charset="0"/>
                          <a:cs typeface="Arial" panose="020B0604020202020204" pitchFamily="34" charset="0"/>
                        </a:rPr>
                        <a:t>of attributes applied</a:t>
                      </a:r>
                    </a:p>
                  </a:txBody>
                  <a:tcPr anchor="ctr"/>
                </a:tc>
                <a:extLst>
                  <a:ext uri="{0D108BD9-81ED-4DB2-BD59-A6C34878D82A}">
                    <a16:rowId xmlns:a16="http://schemas.microsoft.com/office/drawing/2014/main" val="3431287782"/>
                  </a:ext>
                </a:extLst>
              </a:tr>
              <a:tr h="680039">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cs typeface="Arial"/>
                        </a:rPr>
                        <a:t>OUT: Planning Rule Conflict</a:t>
                      </a:r>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rPr>
                        <a:t>There should be 1 module created for each attribute applied to review rule conflicts </a:t>
                      </a:r>
                      <a:endParaRPr lang="en-US" dirty="0"/>
                    </a:p>
                  </a:txBody>
                  <a:tcPr anchor="ctr"/>
                </a:tc>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rPr>
                        <a:t>Should match with #</a:t>
                      </a:r>
                      <a:br>
                        <a:rPr lang="en-US" sz="1200" b="0" i="0" u="none" strike="noStrike" noProof="0" dirty="0">
                          <a:solidFill>
                            <a:srgbClr val="0C314B"/>
                          </a:solidFill>
                          <a:effectLst/>
                          <a:latin typeface="Arial"/>
                        </a:rPr>
                      </a:br>
                      <a:r>
                        <a:rPr lang="en-US" sz="1200" b="0" i="0" u="none" strike="noStrike" noProof="0" dirty="0">
                          <a:solidFill>
                            <a:srgbClr val="0C314B"/>
                          </a:solidFill>
                          <a:effectLst/>
                          <a:latin typeface="Arial"/>
                        </a:rPr>
                        <a:t>of attributes applied</a:t>
                      </a:r>
                      <a:endParaRPr lang="en-US" dirty="0"/>
                    </a:p>
                  </a:txBody>
                  <a:tcPr anchor="ctr"/>
                </a:tc>
                <a:extLst>
                  <a:ext uri="{0D108BD9-81ED-4DB2-BD59-A6C34878D82A}">
                    <a16:rowId xmlns:a16="http://schemas.microsoft.com/office/drawing/2014/main" val="3932344291"/>
                  </a:ext>
                </a:extLst>
              </a:tr>
              <a:tr h="680039">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a:cs typeface="Arial"/>
                        </a:rPr>
                        <a:t>CAL: GTM Shadow Planning Rule Conflicts</a:t>
                      </a:r>
                    </a:p>
                  </a:txBody>
                  <a:tcPr anchor="ct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a:cs typeface="Arial"/>
                        </a:rPr>
                        <a:t>This module will compare each rule against each other to determine if there are conflicting account – rule assignments </a:t>
                      </a:r>
                    </a:p>
                  </a:txBody>
                  <a:tcPr anchor="ct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a:cs typeface="Arial"/>
                        </a:rPr>
                        <a:t>Ensure # of Shadow Rules &gt;= # of Planning Hierarchy Rules</a:t>
                      </a:r>
                    </a:p>
                  </a:txBody>
                  <a:tcPr anchor="ctr"/>
                </a:tc>
                <a:extLst>
                  <a:ext uri="{0D108BD9-81ED-4DB2-BD59-A6C34878D82A}">
                    <a16:rowId xmlns:a16="http://schemas.microsoft.com/office/drawing/2014/main" val="793523115"/>
                  </a:ext>
                </a:extLst>
              </a:tr>
              <a:tr h="654853">
                <a:tc>
                  <a:txBody>
                    <a:bodyPr/>
                    <a:lstStyle/>
                    <a:p>
                      <a:pPr marL="0" lvl="0" algn="l">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Planning Sales Hierarchy Account Details</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module will show account level details on how accounts match with rules.</a:t>
                      </a:r>
                    </a:p>
                  </a:txBody>
                  <a:tcPr anchor="ctr">
                    <a:solidFill>
                      <a:srgbClr val="F3F1EE"/>
                    </a:solidFill>
                  </a:tcPr>
                </a:tc>
                <a:tc>
                  <a:txBody>
                    <a:bodyPr/>
                    <a:lstStyle/>
                    <a:p>
                      <a:pPr marL="0" lvl="0" algn="l">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Not needed</a:t>
                      </a:r>
                    </a:p>
                  </a:txBody>
                  <a:tcPr anchor="ctr">
                    <a:solidFill>
                      <a:srgbClr val="F3F1EE"/>
                    </a:solidFill>
                  </a:tcPr>
                </a:tc>
                <a:extLst>
                  <a:ext uri="{0D108BD9-81ED-4DB2-BD59-A6C34878D82A}">
                    <a16:rowId xmlns:a16="http://schemas.microsoft.com/office/drawing/2014/main" val="3669100209"/>
                  </a:ext>
                </a:extLst>
              </a:tr>
              <a:tr h="747204">
                <a:tc>
                  <a:txBody>
                    <a:bodyPr/>
                    <a:lstStyle/>
                    <a:p>
                      <a:pPr marL="0" marR="0" lvl="0" indent="0" algn="l">
                        <a:lnSpc>
                          <a:spcPct val="11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Analysis by Time – Planning Hierarchy</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marR="0" lvl="0" indent="-151765" algn="l" rtl="0">
                        <a:lnSpc>
                          <a:spcPct val="11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Main reporting modules are dimensioned by Planning Hierarchy, which calculates sales metrics by time.</a:t>
                      </a:r>
                      <a:endParaRPr lang="en-US" sz="1200" dirty="0">
                        <a:solidFill>
                          <a:srgbClr val="0C314B"/>
                        </a:solidFill>
                        <a:latin typeface="Arial" panose="020B0604020202020204" pitchFamily="34" charset="0"/>
                        <a:cs typeface="Arial" panose="020B0604020202020204" pitchFamily="34" charset="0"/>
                      </a:endParaRPr>
                    </a:p>
                  </a:txBody>
                  <a:tcPr anchor="ctr"/>
                </a:tc>
                <a:tc>
                  <a:txBody>
                    <a:bodyPr/>
                    <a:lstStyle/>
                    <a:p>
                      <a:pPr marL="0" lvl="0" algn="l">
                        <a:lnSpc>
                          <a:spcPct val="100000"/>
                        </a:lnSpc>
                        <a:spcBef>
                          <a:spcPts val="0"/>
                        </a:spcBef>
                        <a:spcAft>
                          <a:spcPts val="0"/>
                        </a:spcAft>
                        <a:buNone/>
                      </a:pPr>
                      <a:r>
                        <a:rPr lang="en-US" sz="1200" b="0" i="0" u="none" strike="noStrike" baseline="0" noProof="0" dirty="0">
                          <a:solidFill>
                            <a:srgbClr val="0C314B"/>
                          </a:solidFill>
                          <a:effectLst/>
                          <a:latin typeface="Arial" panose="020B0604020202020204" pitchFamily="34" charset="0"/>
                          <a:cs typeface="Arial" panose="020B0604020202020204" pitchFamily="34" charset="0"/>
                        </a:rPr>
                        <a:t>Not needed</a:t>
                      </a:r>
                      <a:endParaRPr lang="en-US" sz="1200" dirty="0">
                        <a:solidFill>
                          <a:srgbClr val="0C314B"/>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32130153"/>
                  </a:ext>
                </a:extLst>
              </a:tr>
              <a:tr h="587688">
                <a:tc>
                  <a:txBody>
                    <a:bodyPr/>
                    <a:lstStyle/>
                    <a:p>
                      <a:pPr marL="0" lvl="0" algn="l">
                        <a:lnSpc>
                          <a:spcPct val="100000"/>
                        </a:lnSpc>
                        <a:spcBef>
                          <a:spcPts val="0"/>
                        </a:spcBef>
                        <a:spcAft>
                          <a:spcPts val="0"/>
                        </a:spcAft>
                        <a:buNone/>
                      </a:pPr>
                      <a:r>
                        <a:rPr lang="en-US" sz="1200" b="0" i="0" u="none" strike="noStrike" noProof="0" dirty="0">
                          <a:solidFill>
                            <a:srgbClr val="0C314B"/>
                          </a:solidFill>
                          <a:effectLst/>
                          <a:latin typeface="Arial" panose="020B0604020202020204" pitchFamily="34" charset="0"/>
                          <a:cs typeface="Arial" panose="020B0604020202020204" pitchFamily="34" charset="0"/>
                        </a:rPr>
                        <a:t>CAL: GTM Performance Analysis – Planning Hierarchy</a:t>
                      </a:r>
                      <a:endParaRPr lang="en-US" sz="1200" dirty="0">
                        <a:solidFill>
                          <a:srgbClr val="0C314B"/>
                        </a:solidFill>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rtl="0">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This is a calculation module to calculate account level performance. This is a bridging module used to create LISS to create the map reporting.</a:t>
                      </a:r>
                      <a:endParaRPr lang="en-US" sz="1200" b="0" i="0" u="none" strike="noStrike" noProof="0" dirty="0">
                        <a:solidFill>
                          <a:srgbClr val="0C314B"/>
                        </a:solidFill>
                        <a:effectLst/>
                        <a:latin typeface="Arial" panose="020B0604020202020204" pitchFamily="34" charset="0"/>
                        <a:cs typeface="Arial" panose="020B0604020202020204" pitchFamily="34" charset="0"/>
                      </a:endParaRPr>
                    </a:p>
                  </a:txBody>
                  <a:tcPr anchor="ctr">
                    <a:solidFill>
                      <a:srgbClr val="F3F1EE"/>
                    </a:solidFill>
                  </a:tcPr>
                </a:tc>
                <a:tc>
                  <a:txBody>
                    <a:bodyPr/>
                    <a:lstStyle/>
                    <a:p>
                      <a:pPr marL="0" lvl="0" algn="l" rtl="0">
                        <a:lnSpc>
                          <a:spcPct val="100000"/>
                        </a:lnSpc>
                        <a:spcBef>
                          <a:spcPts val="0"/>
                        </a:spcBef>
                        <a:spcAft>
                          <a:spcPts val="0"/>
                        </a:spcAft>
                        <a:buNone/>
                      </a:pPr>
                      <a:r>
                        <a:rPr lang="en-US" sz="1200" u="none" strike="noStrike" noProof="0" dirty="0">
                          <a:solidFill>
                            <a:srgbClr val="0C314B"/>
                          </a:solidFill>
                          <a:effectLst/>
                          <a:latin typeface="Arial" panose="020B0604020202020204" pitchFamily="34" charset="0"/>
                          <a:cs typeface="Arial" panose="020B0604020202020204" pitchFamily="34" charset="0"/>
                        </a:rPr>
                        <a:t>Not needed</a:t>
                      </a:r>
                      <a:endParaRPr lang="en-US" sz="1200" b="0" i="0" u="none" strike="noStrike" noProof="0" dirty="0">
                        <a:solidFill>
                          <a:srgbClr val="0C314B"/>
                        </a:solidFill>
                        <a:effectLst/>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152681411"/>
                  </a:ext>
                </a:extLst>
              </a:tr>
            </a:tbl>
          </a:graphicData>
        </a:graphic>
      </p:graphicFrame>
      <p:sp>
        <p:nvSpPr>
          <p:cNvPr id="6" name="Title 1">
            <a:extLst>
              <a:ext uri="{FF2B5EF4-FFF2-40B4-BE49-F238E27FC236}">
                <a16:creationId xmlns:a16="http://schemas.microsoft.com/office/drawing/2014/main" id="{CACD1DEB-B9E1-558F-6F88-5A841CF1161E}"/>
              </a:ext>
            </a:extLst>
          </p:cNvPr>
          <p:cNvSpPr txBox="1">
            <a:spLocks/>
          </p:cNvSpPr>
          <p:nvPr/>
        </p:nvSpPr>
        <p:spPr>
          <a:xfrm>
            <a:off x="616265" y="324217"/>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GB" dirty="0">
                <a:solidFill>
                  <a:schemeClr val="tx2"/>
                </a:solidFill>
                <a:latin typeface="Arial"/>
                <a:ea typeface="Verdana"/>
                <a:cs typeface="Arial"/>
              </a:rPr>
              <a:t>Define operating conditions</a:t>
            </a:r>
          </a:p>
          <a:p>
            <a:r>
              <a:rPr lang="en-GB" sz="2000" b="0" dirty="0">
                <a:solidFill>
                  <a:schemeClr val="accent1"/>
                </a:solidFill>
                <a:latin typeface="Arial"/>
                <a:ea typeface="Verdana"/>
                <a:cs typeface="Arial"/>
              </a:rPr>
              <a:t>key modules</a:t>
            </a:r>
            <a:endParaRPr lang="en-US" sz="2000" b="0" dirty="0">
              <a:solidFill>
                <a:schemeClr val="accent1"/>
              </a:solidFill>
            </a:endParaRPr>
          </a:p>
        </p:txBody>
      </p:sp>
    </p:spTree>
    <p:extLst>
      <p:ext uri="{BB962C8B-B14F-4D97-AF65-F5344CB8AC3E}">
        <p14:creationId xmlns:p14="http://schemas.microsoft.com/office/powerpoint/2010/main" val="1276256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6215-C72D-E614-83EC-0710E90E973E}"/>
            </a:ext>
          </a:extLst>
        </p:cNvPr>
        <p:cNvGrpSpPr/>
        <p:nvPr/>
      </p:nvGrpSpPr>
      <p:grpSpPr>
        <a:xfrm>
          <a:off x="0" y="0"/>
          <a:ext cx="0" cy="0"/>
          <a:chOff x="0" y="0"/>
          <a:chExt cx="0" cy="0"/>
        </a:xfrm>
      </p:grpSpPr>
      <p:sp>
        <p:nvSpPr>
          <p:cNvPr id="6" name="Title 7">
            <a:extLst>
              <a:ext uri="{FF2B5EF4-FFF2-40B4-BE49-F238E27FC236}">
                <a16:creationId xmlns:a16="http://schemas.microsoft.com/office/drawing/2014/main" id="{001FEF3F-35D1-A9D4-9A12-35948A297378}"/>
              </a:ext>
            </a:extLst>
          </p:cNvPr>
          <p:cNvSpPr>
            <a:spLocks noGrp="1"/>
          </p:cNvSpPr>
          <p:nvPr>
            <p:ph type="title"/>
          </p:nvPr>
        </p:nvSpPr>
        <p:spPr>
          <a:xfrm>
            <a:off x="558801" y="392854"/>
            <a:ext cx="10871201" cy="451405"/>
          </a:xfrm>
        </p:spPr>
        <p:txBody>
          <a:bodyPr/>
          <a:lstStyle/>
          <a:p>
            <a:r>
              <a:rPr lang="en-US" b="1" dirty="0">
                <a:solidFill>
                  <a:schemeClr val="tx2"/>
                </a:solidFill>
              </a:rPr>
              <a:t>Define operating conditions</a:t>
            </a:r>
            <a:br>
              <a:rPr lang="en-US" b="1" dirty="0">
                <a:solidFill>
                  <a:schemeClr val="tx2"/>
                </a:solidFill>
              </a:rPr>
            </a:br>
            <a:r>
              <a:rPr lang="en-GB" dirty="0">
                <a:solidFill>
                  <a:schemeClr val="accent1"/>
                </a:solidFill>
                <a:latin typeface="Arial"/>
                <a:ea typeface="Verdana"/>
                <a:cs typeface="Arial"/>
              </a:rPr>
              <a:t>model diagram</a:t>
            </a:r>
            <a:endParaRPr lang="en-US" sz="1867" dirty="0">
              <a:latin typeface="Inter Light" panose="02000503000000020004" pitchFamily="2" charset="0"/>
              <a:ea typeface="Inter Light" panose="02000503000000020004" pitchFamily="2" charset="0"/>
            </a:endParaRPr>
          </a:p>
        </p:txBody>
      </p:sp>
      <p:grpSp>
        <p:nvGrpSpPr>
          <p:cNvPr id="43" name="Group 42">
            <a:extLst>
              <a:ext uri="{FF2B5EF4-FFF2-40B4-BE49-F238E27FC236}">
                <a16:creationId xmlns:a16="http://schemas.microsoft.com/office/drawing/2014/main" id="{D82BC6EF-781E-F6FF-8608-10A328AE0745}"/>
              </a:ext>
            </a:extLst>
          </p:cNvPr>
          <p:cNvGrpSpPr/>
          <p:nvPr/>
        </p:nvGrpSpPr>
        <p:grpSpPr>
          <a:xfrm>
            <a:off x="3295582" y="1553000"/>
            <a:ext cx="5926265" cy="4035000"/>
            <a:chOff x="3295582" y="1553000"/>
            <a:chExt cx="5926265" cy="4035000"/>
          </a:xfrm>
        </p:grpSpPr>
        <p:grpSp>
          <p:nvGrpSpPr>
            <p:cNvPr id="24" name="Group 23">
              <a:extLst>
                <a:ext uri="{FF2B5EF4-FFF2-40B4-BE49-F238E27FC236}">
                  <a16:creationId xmlns:a16="http://schemas.microsoft.com/office/drawing/2014/main" id="{832077BB-49B1-3D19-A9A6-B2A502E8A8B1}"/>
                </a:ext>
              </a:extLst>
            </p:cNvPr>
            <p:cNvGrpSpPr/>
            <p:nvPr/>
          </p:nvGrpSpPr>
          <p:grpSpPr>
            <a:xfrm>
              <a:off x="3295582" y="1553000"/>
              <a:ext cx="5926265" cy="3518533"/>
              <a:chOff x="3008289" y="1861068"/>
              <a:chExt cx="5063696" cy="3006410"/>
            </a:xfrm>
          </p:grpSpPr>
          <p:sp>
            <p:nvSpPr>
              <p:cNvPr id="3" name="Rounded Rectangle 2">
                <a:extLst>
                  <a:ext uri="{FF2B5EF4-FFF2-40B4-BE49-F238E27FC236}">
                    <a16:creationId xmlns:a16="http://schemas.microsoft.com/office/drawing/2014/main" id="{FB171B09-5444-464C-F5DE-82BF00CA97E4}"/>
                  </a:ext>
                </a:extLst>
              </p:cNvPr>
              <p:cNvSpPr/>
              <p:nvPr/>
            </p:nvSpPr>
            <p:spPr>
              <a:xfrm>
                <a:off x="3686020" y="3429000"/>
                <a:ext cx="1174853" cy="498694"/>
              </a:xfrm>
              <a:prstGeom prst="roundRect">
                <a:avLst>
                  <a:gd name="adj" fmla="val 16836"/>
                </a:avLst>
              </a:prstGeom>
              <a:solidFill>
                <a:schemeClr val="accent3">
                  <a:lumMod val="20000"/>
                  <a:lumOff val="80000"/>
                </a:scheme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Account </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Segmentation</a:t>
                </a:r>
              </a:p>
            </p:txBody>
          </p:sp>
          <p:sp>
            <p:nvSpPr>
              <p:cNvPr id="5" name="Rounded Rectangle 4">
                <a:extLst>
                  <a:ext uri="{FF2B5EF4-FFF2-40B4-BE49-F238E27FC236}">
                    <a16:creationId xmlns:a16="http://schemas.microsoft.com/office/drawing/2014/main" id="{A29BB8AE-627D-FA6E-6ADD-2C22A67F2900}"/>
                  </a:ext>
                </a:extLst>
              </p:cNvPr>
              <p:cNvSpPr/>
              <p:nvPr/>
            </p:nvSpPr>
            <p:spPr>
              <a:xfrm>
                <a:off x="3686020" y="4368784"/>
                <a:ext cx="1174853" cy="498694"/>
              </a:xfrm>
              <a:prstGeom prst="roundRect">
                <a:avLst>
                  <a:gd name="adj" fmla="val 16836"/>
                </a:avLst>
              </a:prstGeom>
              <a:solidFill>
                <a:srgbClr val="F3F1EE"/>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Capacity</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Impact</a:t>
                </a:r>
              </a:p>
            </p:txBody>
          </p:sp>
          <p:sp>
            <p:nvSpPr>
              <p:cNvPr id="7" name="Rounded Rectangle 6">
                <a:extLst>
                  <a:ext uri="{FF2B5EF4-FFF2-40B4-BE49-F238E27FC236}">
                    <a16:creationId xmlns:a16="http://schemas.microsoft.com/office/drawing/2014/main" id="{06042996-BE9E-9E66-AE19-5FF56CC0C9F8}"/>
                  </a:ext>
                </a:extLst>
              </p:cNvPr>
              <p:cNvSpPr/>
              <p:nvPr/>
            </p:nvSpPr>
            <p:spPr>
              <a:xfrm>
                <a:off x="5430154" y="1861068"/>
                <a:ext cx="2641831" cy="569212"/>
              </a:xfrm>
              <a:prstGeom prst="roundRect">
                <a:avLst>
                  <a:gd name="adj" fmla="val 129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Define Operating</a:t>
                </a:r>
                <a:b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br>
                <a:r>
                  <a:rPr lang="en-US" sz="1200" b="1" dirty="0">
                    <a:solidFill>
                      <a:schemeClr val="tx1"/>
                    </a:solidFill>
                    <a:latin typeface="Arial" panose="020B0604020202020204" pitchFamily="34" charset="0"/>
                    <a:ea typeface="Inter Medium" panose="02000503000000020004" pitchFamily="2" charset="0"/>
                    <a:cs typeface="Arial" panose="020B0604020202020204" pitchFamily="34" charset="0"/>
                  </a:rPr>
                  <a:t>Conditions (GTM Strategy)</a:t>
                </a:r>
              </a:p>
            </p:txBody>
          </p:sp>
          <p:sp>
            <p:nvSpPr>
              <p:cNvPr id="8" name="Rounded Rectangle 7">
                <a:extLst>
                  <a:ext uri="{FF2B5EF4-FFF2-40B4-BE49-F238E27FC236}">
                    <a16:creationId xmlns:a16="http://schemas.microsoft.com/office/drawing/2014/main" id="{4A76275F-3D4A-D9BD-8347-8F0EA9CAA8C7}"/>
                  </a:ext>
                </a:extLst>
              </p:cNvPr>
              <p:cNvSpPr/>
              <p:nvPr/>
            </p:nvSpPr>
            <p:spPr>
              <a:xfrm>
                <a:off x="5430154" y="2836317"/>
                <a:ext cx="1174853" cy="498694"/>
              </a:xfrm>
              <a:prstGeom prst="roundRect">
                <a:avLst>
                  <a:gd name="adj" fmla="val 16836"/>
                </a:avLst>
              </a:prstGeom>
              <a:solidFill>
                <a:srgbClr val="0C314B">
                  <a:alpha val="14902"/>
                </a:srgbClr>
              </a:solidFill>
              <a:ln w="6350">
                <a:solidFill>
                  <a:srgbClr val="0C31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GTM</a:t>
                </a:r>
                <a:b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br>
                <a:r>
                  <a:rPr lang="en-US" sz="900" dirty="0">
                    <a:solidFill>
                      <a:srgbClr val="0C314B"/>
                    </a:solidFill>
                    <a:latin typeface="Arial" panose="020B0604020202020204" pitchFamily="34" charset="0"/>
                    <a:ea typeface="Inter Medium" panose="02000503000000020004" pitchFamily="2" charset="0"/>
                    <a:cs typeface="Arial" panose="020B0604020202020204" pitchFamily="34" charset="0"/>
                  </a:rPr>
                  <a:t>Modeling</a:t>
                </a:r>
              </a:p>
            </p:txBody>
          </p:sp>
          <p:cxnSp>
            <p:nvCxnSpPr>
              <p:cNvPr id="14" name="Elbow Connector 13">
                <a:extLst>
                  <a:ext uri="{FF2B5EF4-FFF2-40B4-BE49-F238E27FC236}">
                    <a16:creationId xmlns:a16="http://schemas.microsoft.com/office/drawing/2014/main" id="{815CDF2B-177B-5BA6-EC72-689A2ED3E912}"/>
                  </a:ext>
                </a:extLst>
              </p:cNvPr>
              <p:cNvCxnSpPr>
                <a:cxnSpLocks/>
                <a:stCxn id="5" idx="3"/>
              </p:cNvCxnSpPr>
              <p:nvPr/>
            </p:nvCxnSpPr>
            <p:spPr>
              <a:xfrm flipV="1">
                <a:off x="4860873" y="3335011"/>
                <a:ext cx="1276505" cy="1283120"/>
              </a:xfrm>
              <a:prstGeom prst="bentConnector2">
                <a:avLst/>
              </a:prstGeom>
              <a:ln w="9525" cap="rnd">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4CA7183B-E390-E90D-F774-DBEE27B672FA}"/>
                  </a:ext>
                </a:extLst>
              </p:cNvPr>
              <p:cNvCxnSpPr>
                <a:cxnSpLocks/>
              </p:cNvCxnSpPr>
              <p:nvPr/>
            </p:nvCxnSpPr>
            <p:spPr>
              <a:xfrm flipH="1">
                <a:off x="4860873" y="3665583"/>
                <a:ext cx="1276505" cy="0"/>
              </a:xfrm>
              <a:prstGeom prst="line">
                <a:avLst/>
              </a:prstGeom>
              <a:ln w="9525"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AE085A0-1B79-D6FF-84A0-6B3E5CDE2D63}"/>
                  </a:ext>
                </a:extLst>
              </p:cNvPr>
              <p:cNvCxnSpPr>
                <a:cxnSpLocks/>
              </p:cNvCxnSpPr>
              <p:nvPr/>
            </p:nvCxnSpPr>
            <p:spPr>
              <a:xfrm flipV="1">
                <a:off x="4278290" y="3927694"/>
                <a:ext cx="0" cy="393733"/>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8CBC934A-5534-444D-74F2-7C03CC5649D6}"/>
                  </a:ext>
                </a:extLst>
              </p:cNvPr>
              <p:cNvCxnSpPr>
                <a:cxnSpLocks/>
              </p:cNvCxnSpPr>
              <p:nvPr/>
            </p:nvCxnSpPr>
            <p:spPr>
              <a:xfrm flipH="1">
                <a:off x="3008289" y="3733317"/>
                <a:ext cx="598510" cy="0"/>
              </a:xfrm>
              <a:prstGeom prst="straightConnector1">
                <a:avLst/>
              </a:prstGeom>
              <a:ln w="9525" cap="rnd">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cxnSp>
          <p:nvCxnSpPr>
            <p:cNvPr id="28" name="Straight Connector 27">
              <a:extLst>
                <a:ext uri="{FF2B5EF4-FFF2-40B4-BE49-F238E27FC236}">
                  <a16:creationId xmlns:a16="http://schemas.microsoft.com/office/drawing/2014/main" id="{8B6B5C9F-C76B-7572-7453-1B4D48EF13A6}"/>
                </a:ext>
              </a:extLst>
            </p:cNvPr>
            <p:cNvCxnSpPr>
              <a:cxnSpLocks/>
            </p:cNvCxnSpPr>
            <p:nvPr/>
          </p:nvCxnSpPr>
          <p:spPr>
            <a:xfrm>
              <a:off x="5706534" y="2861733"/>
              <a:ext cx="0" cy="2726267"/>
            </a:xfrm>
            <a:prstGeom prst="line">
              <a:avLst/>
            </a:prstGeom>
            <a:ln w="9525" cap="rnd">
              <a:solidFill>
                <a:schemeClr val="bg1">
                  <a:lumMod val="50000"/>
                </a:schemeClr>
              </a:solidFill>
              <a:prstDash val="lgDash"/>
              <a:headEnd type="none"/>
              <a:tailEnd type="none" w="med" len="me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665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C0FF-C20E-A456-D30B-6C365B76C949}"/>
              </a:ext>
            </a:extLst>
          </p:cNvPr>
          <p:cNvSpPr>
            <a:spLocks noGrp="1"/>
          </p:cNvSpPr>
          <p:nvPr>
            <p:ph type="title"/>
          </p:nvPr>
        </p:nvSpPr>
        <p:spPr/>
        <p:txBody>
          <a:bodyPr/>
          <a:lstStyle/>
          <a:p>
            <a:r>
              <a:rPr lang="en-US" dirty="0"/>
              <a:t>For more information, refer to </a:t>
            </a:r>
            <a:br>
              <a:rPr lang="en-US" sz="3600" dirty="0">
                <a:solidFill>
                  <a:schemeClr val="accent1"/>
                </a:solidFill>
              </a:rPr>
            </a:br>
            <a:r>
              <a:rPr lang="en-US" sz="3600" dirty="0">
                <a:solidFill>
                  <a:schemeClr val="accent1"/>
                </a:solidFill>
                <a:hlinkClick r:id="rId2">
                  <a:extLst>
                    <a:ext uri="{A12FA001-AC4F-418D-AE19-62706E023703}">
                      <ahyp:hlinkClr xmlns:ahyp="http://schemas.microsoft.com/office/drawing/2018/hyperlinkcolor" val="tx"/>
                    </a:ext>
                  </a:extLst>
                </a:hlinkClick>
              </a:rPr>
              <a:t>applications.anaplan.com</a:t>
            </a:r>
            <a:endParaRPr lang="en-US" dirty="0">
              <a:solidFill>
                <a:schemeClr val="accent1"/>
              </a:solidFill>
            </a:endParaRPr>
          </a:p>
        </p:txBody>
      </p:sp>
    </p:spTree>
    <p:extLst>
      <p:ext uri="{BB962C8B-B14F-4D97-AF65-F5344CB8AC3E}">
        <p14:creationId xmlns:p14="http://schemas.microsoft.com/office/powerpoint/2010/main" val="31690758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6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8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1312f2c0-dda1-4b36-bf7c-5f95f823505b">
      <UserInfo>
        <DisplayName>Chan Duh</DisplayName>
        <AccountId>39</AccountId>
        <AccountType/>
      </UserInfo>
    </SharedWithUsers>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845AC9-4D91-4731-95D2-27F4968F9FA5}">
  <ds:schemaRefs>
    <ds:schemaRef ds:uri="http://schemas.microsoft.com/sharepoint/v3/contenttype/forms"/>
  </ds:schemaRefs>
</ds:datastoreItem>
</file>

<file path=customXml/itemProps2.xml><?xml version="1.0" encoding="utf-8"?>
<ds:datastoreItem xmlns:ds="http://schemas.openxmlformats.org/officeDocument/2006/customXml" ds:itemID="{A824765E-366A-42A4-80F9-62FFD749A5A6}">
  <ds:schemaRefs>
    <ds:schemaRef ds:uri="http://purl.org/dc/terms/"/>
    <ds:schemaRef ds:uri="http://schemas.microsoft.com/office/2006/documentManagement/types"/>
    <ds:schemaRef ds:uri="http://purl.org/dc/dcmitype/"/>
    <ds:schemaRef ds:uri="c4a93292-96be-422c-9bb6-49a5d66e42ec"/>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1312f2c0-dda1-4b36-bf7c-5f95f823505b"/>
    <ds:schemaRef ds:uri="http://www.w3.org/XML/1998/namespace"/>
  </ds:schemaRefs>
</ds:datastoreItem>
</file>

<file path=customXml/itemProps3.xml><?xml version="1.0" encoding="utf-8"?>
<ds:datastoreItem xmlns:ds="http://schemas.openxmlformats.org/officeDocument/2006/customXml" ds:itemID="{FA1ECBEC-0510-4F75-8103-E1926B385B9F}"/>
</file>

<file path=docProps/app.xml><?xml version="1.0" encoding="utf-8"?>
<Properties xmlns="http://schemas.openxmlformats.org/officeDocument/2006/extended-properties" xmlns:vt="http://schemas.openxmlformats.org/officeDocument/2006/docPropsVTypes">
  <TotalTime>669</TotalTime>
  <Words>3997</Words>
  <Application>Microsoft Office PowerPoint</Application>
  <PresentationFormat>Widescreen</PresentationFormat>
  <Paragraphs>463</Paragraphs>
  <Slides>26</Slides>
  <Notes>16</Notes>
  <HiddenSlides>0</HiddenSlides>
  <MMClips>0</MMClips>
  <ScaleCrop>false</ScaleCrop>
  <HeadingPairs>
    <vt:vector size="4" baseType="variant">
      <vt:variant>
        <vt:lpstr>Theme</vt:lpstr>
      </vt:variant>
      <vt:variant>
        <vt:i4>3</vt:i4>
      </vt:variant>
      <vt:variant>
        <vt:lpstr>Slide Titles</vt:lpstr>
      </vt:variant>
      <vt:variant>
        <vt:i4>26</vt:i4>
      </vt:variant>
    </vt:vector>
  </HeadingPairs>
  <TitlesOfParts>
    <vt:vector size="29" baseType="lpstr">
      <vt:lpstr>1_Anaplan</vt:lpstr>
      <vt:lpstr>6_Anaplan</vt:lpstr>
      <vt:lpstr>8_Anaplan</vt:lpstr>
      <vt:lpstr>Anaplan  Go-to-market Planning Applications</vt:lpstr>
      <vt:lpstr>PowerPoint Presentation</vt:lpstr>
      <vt:lpstr>Table of Contents</vt:lpstr>
      <vt:lpstr>Overview</vt:lpstr>
      <vt:lpstr>PowerPoint Presentation</vt:lpstr>
      <vt:lpstr>Guided setup powered by the Anaplan Application Framework</vt:lpstr>
      <vt:lpstr>PowerPoint Presentation</vt:lpstr>
      <vt:lpstr>Process  and configurable elements</vt:lpstr>
      <vt:lpstr>Anaplan Segmentation and Scoring Framework</vt:lpstr>
      <vt:lpstr>Segmentation and Scoring: Key processes and configurable elements</vt:lpstr>
      <vt:lpstr>PowerPoint Presentation</vt:lpstr>
      <vt:lpstr>Prework and assumptions</vt:lpstr>
      <vt:lpstr>Assumptions </vt:lpstr>
      <vt:lpstr>Sales data requirements and description</vt:lpstr>
      <vt:lpstr>Metadata requirements and description </vt:lpstr>
      <vt:lpstr>Model design</vt:lpstr>
      <vt:lpstr>Model diagram overview</vt:lpstr>
      <vt:lpstr>PowerPoint Presentation</vt:lpstr>
      <vt:lpstr>Historical data, existing customer analysis model diagram</vt:lpstr>
      <vt:lpstr>Define account value key modules</vt:lpstr>
      <vt:lpstr>Define account value model diagram</vt:lpstr>
      <vt:lpstr>PowerPoint Presentation</vt:lpstr>
      <vt:lpstr>Define segments model diagram</vt:lpstr>
      <vt:lpstr>PowerPoint Presentation</vt:lpstr>
      <vt:lpstr>Define operating conditions model diagram</vt:lpstr>
      <vt:lpstr>For more information, refer to  applications.anaplan.com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Brennan</dc:creator>
  <cp:lastModifiedBy>Paul Taylor</cp:lastModifiedBy>
  <cp:revision>404</cp:revision>
  <dcterms:created xsi:type="dcterms:W3CDTF">2023-07-17T16:19:05Z</dcterms:created>
  <dcterms:modified xsi:type="dcterms:W3CDTF">2025-11-11T20:37:51Z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