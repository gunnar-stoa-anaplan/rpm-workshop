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theme/theme2.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812" r:id="rId5"/>
  </p:sldMasterIdLst>
  <p:notesMasterIdLst>
    <p:notesMasterId r:id="rId18"/>
  </p:notesMasterIdLst>
  <p:sldIdLst>
    <p:sldId id="257" r:id="rId6"/>
    <p:sldId id="2147483646" r:id="rId7"/>
    <p:sldId id="289" r:id="rId8"/>
    <p:sldId id="2147483645" r:id="rId9"/>
    <p:sldId id="273" r:id="rId10"/>
    <p:sldId id="271" r:id="rId11"/>
    <p:sldId id="274" r:id="rId12"/>
    <p:sldId id="272" r:id="rId13"/>
    <p:sldId id="275" r:id="rId14"/>
    <p:sldId id="276" r:id="rId15"/>
    <p:sldId id="262" r:id="rId16"/>
    <p:sldId id="29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4F4C7F-0751-CE22-7A6F-359CCD4F45F7}" v="3" dt="2026-03-12T17:26:56.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41"/>
    <p:restoredTop sz="94630"/>
  </p:normalViewPr>
  <p:slideViewPr>
    <p:cSldViewPr snapToGrid="0">
      <p:cViewPr varScale="1">
        <p:scale>
          <a:sx n="113" d="100"/>
          <a:sy n="113" d="100"/>
        </p:scale>
        <p:origin x="9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Newcomb" userId="S::jon.newcomb@anaplan.com::d672d284-d87e-4cae-bfeb-0aed989ae14e" providerId="AD" clId="Web-{41AD052A-0691-AAE7-6543-E1A164FCDDCE}"/>
    <pc:docChg chg="modSld">
      <pc:chgData name="Jon Newcomb" userId="S::jon.newcomb@anaplan.com::d672d284-d87e-4cae-bfeb-0aed989ae14e" providerId="AD" clId="Web-{41AD052A-0691-AAE7-6543-E1A164FCDDCE}" dt="2026-03-07T00:30:39.412" v="223" actId="20577"/>
      <pc:docMkLst>
        <pc:docMk/>
      </pc:docMkLst>
      <pc:sldChg chg="modSp">
        <pc:chgData name="Jon Newcomb" userId="S::jon.newcomb@anaplan.com::d672d284-d87e-4cae-bfeb-0aed989ae14e" providerId="AD" clId="Web-{41AD052A-0691-AAE7-6543-E1A164FCDDCE}" dt="2026-03-06T21:13:16.414" v="17" actId="20577"/>
        <pc:sldMkLst>
          <pc:docMk/>
          <pc:sldMk cId="1299184810" sldId="257"/>
        </pc:sldMkLst>
        <pc:spChg chg="mod">
          <ac:chgData name="Jon Newcomb" userId="S::jon.newcomb@anaplan.com::d672d284-d87e-4cae-bfeb-0aed989ae14e" providerId="AD" clId="Web-{41AD052A-0691-AAE7-6543-E1A164FCDDCE}" dt="2026-03-06T21:13:16.414" v="17" actId="20577"/>
          <ac:spMkLst>
            <pc:docMk/>
            <pc:sldMk cId="1299184810" sldId="257"/>
            <ac:spMk id="5" creationId="{CD5CE04E-E27D-4ABD-903A-C82FE87E2C62}"/>
          </ac:spMkLst>
        </pc:spChg>
      </pc:sldChg>
      <pc:sldChg chg="modSp">
        <pc:chgData name="Jon Newcomb" userId="S::jon.newcomb@anaplan.com::d672d284-d87e-4cae-bfeb-0aed989ae14e" providerId="AD" clId="Web-{41AD052A-0691-AAE7-6543-E1A164FCDDCE}" dt="2026-03-07T00:30:39.412" v="223" actId="20577"/>
        <pc:sldMkLst>
          <pc:docMk/>
          <pc:sldMk cId="622043563" sldId="262"/>
        </pc:sldMkLst>
        <pc:spChg chg="mod">
          <ac:chgData name="Jon Newcomb" userId="S::jon.newcomb@anaplan.com::d672d284-d87e-4cae-bfeb-0aed989ae14e" providerId="AD" clId="Web-{41AD052A-0691-AAE7-6543-E1A164FCDDCE}" dt="2026-03-07T00:30:39.412" v="223" actId="20577"/>
          <ac:spMkLst>
            <pc:docMk/>
            <pc:sldMk cId="622043563" sldId="262"/>
            <ac:spMk id="5" creationId="{0418DE74-98D2-3ECD-B5F6-748FE707FAC0}"/>
          </ac:spMkLst>
        </pc:spChg>
      </pc:sldChg>
      <pc:sldChg chg="addSp delSp modSp">
        <pc:chgData name="Jon Newcomb" userId="S::jon.newcomb@anaplan.com::d672d284-d87e-4cae-bfeb-0aed989ae14e" providerId="AD" clId="Web-{41AD052A-0691-AAE7-6543-E1A164FCDDCE}" dt="2026-03-06T21:19:26.510" v="187" actId="1076"/>
        <pc:sldMkLst>
          <pc:docMk/>
          <pc:sldMk cId="2908230740" sldId="274"/>
        </pc:sldMkLst>
        <pc:spChg chg="mod">
          <ac:chgData name="Jon Newcomb" userId="S::jon.newcomb@anaplan.com::d672d284-d87e-4cae-bfeb-0aed989ae14e" providerId="AD" clId="Web-{41AD052A-0691-AAE7-6543-E1A164FCDDCE}" dt="2026-03-06T21:19:15.432" v="184" actId="1076"/>
          <ac:spMkLst>
            <pc:docMk/>
            <pc:sldMk cId="2908230740" sldId="274"/>
            <ac:spMk id="4" creationId="{D320E6FB-A804-16B2-E7A5-01BB45B27C1D}"/>
          </ac:spMkLst>
        </pc:spChg>
        <pc:spChg chg="mod">
          <ac:chgData name="Jon Newcomb" userId="S::jon.newcomb@anaplan.com::d672d284-d87e-4cae-bfeb-0aed989ae14e" providerId="AD" clId="Web-{41AD052A-0691-AAE7-6543-E1A164FCDDCE}" dt="2026-03-06T21:19:26.510" v="187" actId="1076"/>
          <ac:spMkLst>
            <pc:docMk/>
            <pc:sldMk cId="2908230740" sldId="274"/>
            <ac:spMk id="5" creationId="{443A4101-DC85-D59D-88C3-7B15E08005AB}"/>
          </ac:spMkLst>
        </pc:spChg>
        <pc:spChg chg="mod">
          <ac:chgData name="Jon Newcomb" userId="S::jon.newcomb@anaplan.com::d672d284-d87e-4cae-bfeb-0aed989ae14e" providerId="AD" clId="Web-{41AD052A-0691-AAE7-6543-E1A164FCDDCE}" dt="2026-03-06T21:19:21.963" v="186" actId="1076"/>
          <ac:spMkLst>
            <pc:docMk/>
            <pc:sldMk cId="2908230740" sldId="274"/>
            <ac:spMk id="9" creationId="{90FB7C07-98C2-FF83-CE99-D1C0C9C1C541}"/>
          </ac:spMkLst>
        </pc:spChg>
        <pc:picChg chg="add mod">
          <ac:chgData name="Jon Newcomb" userId="S::jon.newcomb@anaplan.com::d672d284-d87e-4cae-bfeb-0aed989ae14e" providerId="AD" clId="Web-{41AD052A-0691-AAE7-6543-E1A164FCDDCE}" dt="2026-03-06T21:18:00.260" v="179"/>
          <ac:picMkLst>
            <pc:docMk/>
            <pc:sldMk cId="2908230740" sldId="274"/>
            <ac:picMk id="3" creationId="{6C2AF8EE-6137-71A7-5CCB-04D8F023C603}"/>
          </ac:picMkLst>
        </pc:picChg>
      </pc:sldChg>
      <pc:sldChg chg="modSp">
        <pc:chgData name="Jon Newcomb" userId="S::jon.newcomb@anaplan.com::d672d284-d87e-4cae-bfeb-0aed989ae14e" providerId="AD" clId="Web-{41AD052A-0691-AAE7-6543-E1A164FCDDCE}" dt="2026-03-06T21:15:46.212" v="155" actId="20577"/>
        <pc:sldMkLst>
          <pc:docMk/>
          <pc:sldMk cId="974648564" sldId="289"/>
        </pc:sldMkLst>
        <pc:spChg chg="mod">
          <ac:chgData name="Jon Newcomb" userId="S::jon.newcomb@anaplan.com::d672d284-d87e-4cae-bfeb-0aed989ae14e" providerId="AD" clId="Web-{41AD052A-0691-AAE7-6543-E1A164FCDDCE}" dt="2026-03-06T21:14:41.868" v="91" actId="20577"/>
          <ac:spMkLst>
            <pc:docMk/>
            <pc:sldMk cId="974648564" sldId="289"/>
            <ac:spMk id="38" creationId="{EAE7E4D6-8220-35AD-4275-428B1BAF29C3}"/>
          </ac:spMkLst>
        </pc:spChg>
        <pc:spChg chg="mod">
          <ac:chgData name="Jon Newcomb" userId="S::jon.newcomb@anaplan.com::d672d284-d87e-4cae-bfeb-0aed989ae14e" providerId="AD" clId="Web-{41AD052A-0691-AAE7-6543-E1A164FCDDCE}" dt="2026-03-06T21:15:46.212" v="155" actId="20577"/>
          <ac:spMkLst>
            <pc:docMk/>
            <pc:sldMk cId="974648564" sldId="289"/>
            <ac:spMk id="59" creationId="{455CA735-982C-C0FE-9DAB-3AE221C4173E}"/>
          </ac:spMkLst>
        </pc:spChg>
      </pc:sldChg>
      <pc:sldChg chg="modSp">
        <pc:chgData name="Jon Newcomb" userId="S::jon.newcomb@anaplan.com::d672d284-d87e-4cae-bfeb-0aed989ae14e" providerId="AD" clId="Web-{41AD052A-0691-AAE7-6543-E1A164FCDDCE}" dt="2026-03-06T21:16:06.587" v="159" actId="20577"/>
        <pc:sldMkLst>
          <pc:docMk/>
          <pc:sldMk cId="2203174025" sldId="2147483645"/>
        </pc:sldMkLst>
        <pc:spChg chg="mod">
          <ac:chgData name="Jon Newcomb" userId="S::jon.newcomb@anaplan.com::d672d284-d87e-4cae-bfeb-0aed989ae14e" providerId="AD" clId="Web-{41AD052A-0691-AAE7-6543-E1A164FCDDCE}" dt="2026-03-06T21:16:06.587" v="159" actId="20577"/>
          <ac:spMkLst>
            <pc:docMk/>
            <pc:sldMk cId="2203174025" sldId="2147483645"/>
            <ac:spMk id="47" creationId="{9AECC0A8-26C0-9746-2880-C2AC70749E5B}"/>
          </ac:spMkLst>
        </pc:spChg>
      </pc:sldChg>
      <pc:sldChg chg="modSp">
        <pc:chgData name="Jon Newcomb" userId="S::jon.newcomb@anaplan.com::d672d284-d87e-4cae-bfeb-0aed989ae14e" providerId="AD" clId="Web-{41AD052A-0691-AAE7-6543-E1A164FCDDCE}" dt="2026-03-06T21:15:34.775" v="145" actId="20577"/>
        <pc:sldMkLst>
          <pc:docMk/>
          <pc:sldMk cId="988047452" sldId="2147483646"/>
        </pc:sldMkLst>
        <pc:spChg chg="mod">
          <ac:chgData name="Jon Newcomb" userId="S::jon.newcomb@anaplan.com::d672d284-d87e-4cae-bfeb-0aed989ae14e" providerId="AD" clId="Web-{41AD052A-0691-AAE7-6543-E1A164FCDDCE}" dt="2026-03-06T21:15:34.775" v="145" actId="20577"/>
          <ac:spMkLst>
            <pc:docMk/>
            <pc:sldMk cId="988047452" sldId="2147483646"/>
            <ac:spMk id="16" creationId="{FE5BE1E9-0A81-AE18-E46D-58F49F282616}"/>
          </ac:spMkLst>
        </pc:spChg>
      </pc:sldChg>
    </pc:docChg>
  </pc:docChgLst>
  <pc:docChgLst>
    <pc:chgData name="Ankit Shah" userId="S::ankit.shah2@anaplan.com::2757cacc-899b-467a-9acb-8c8a9a3e31da" providerId="AD" clId="Web-{D84F4C7F-0751-CE22-7A6F-359CCD4F45F7}"/>
    <pc:docChg chg="modSld sldOrd">
      <pc:chgData name="Ankit Shah" userId="S::ankit.shah2@anaplan.com::2757cacc-899b-467a-9acb-8c8a9a3e31da" providerId="AD" clId="Web-{D84F4C7F-0751-CE22-7A6F-359CCD4F45F7}" dt="2026-03-12T17:26:56.559" v="1"/>
      <pc:docMkLst>
        <pc:docMk/>
      </pc:docMkLst>
      <pc:sldChg chg="modSp">
        <pc:chgData name="Ankit Shah" userId="S::ankit.shah2@anaplan.com::2757cacc-899b-467a-9acb-8c8a9a3e31da" providerId="AD" clId="Web-{D84F4C7F-0751-CE22-7A6F-359CCD4F45F7}" dt="2026-03-12T15:21:10.405" v="0" actId="20577"/>
        <pc:sldMkLst>
          <pc:docMk/>
          <pc:sldMk cId="2442875613" sldId="271"/>
        </pc:sldMkLst>
        <pc:spChg chg="mod">
          <ac:chgData name="Ankit Shah" userId="S::ankit.shah2@anaplan.com::2757cacc-899b-467a-9acb-8c8a9a3e31da" providerId="AD" clId="Web-{D84F4C7F-0751-CE22-7A6F-359CCD4F45F7}" dt="2026-03-12T15:21:10.405" v="0" actId="20577"/>
          <ac:spMkLst>
            <pc:docMk/>
            <pc:sldMk cId="2442875613" sldId="271"/>
            <ac:spMk id="5" creationId="{7DEAF0D6-8EE4-E884-8D5B-A0AC97D85DB6}"/>
          </ac:spMkLst>
        </pc:spChg>
      </pc:sldChg>
      <pc:sldChg chg="ord">
        <pc:chgData name="Ankit Shah" userId="S::ankit.shah2@anaplan.com::2757cacc-899b-467a-9acb-8c8a9a3e31da" providerId="AD" clId="Web-{D84F4C7F-0751-CE22-7A6F-359CCD4F45F7}" dt="2026-03-12T17:26:56.559" v="1"/>
        <pc:sldMkLst>
          <pc:docMk/>
          <pc:sldMk cId="1654593683" sldId="27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dirty="0">
              <a:latin typeface="Arial" panose="020B0604020202020204" pitchFamily="34" charset="0"/>
              <a:ea typeface="Inter Medium" panose="02000503000000020004" pitchFamily="2" charset="0"/>
            </a:rPr>
            <a:t>Adoption</a:t>
          </a:r>
          <a:endParaRPr lang="en-GB" sz="1100" b="1" i="0" dirty="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dirty="0">
              <a:latin typeface="Arial" panose="020B0604020202020204" pitchFamily="34" charset="0"/>
              <a:ea typeface="Inter Medium" panose="02000503000000020004" pitchFamily="2" charset="0"/>
            </a:rPr>
            <a:t>Adoption</a:t>
          </a:r>
          <a:endParaRPr lang="en-GB" sz="1100" b="1" i="0" dirty="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dirty="0">
              <a:latin typeface="Arial" panose="020B0604020202020204" pitchFamily="34" charset="0"/>
              <a:ea typeface="Inter Medium" panose="02000503000000020004" pitchFamily="2" charset="0"/>
            </a:rPr>
            <a:t>Adoption</a:t>
          </a:r>
          <a:endParaRPr lang="en-GB" sz="1100" b="1" i="0" kern="1200" dirty="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dirty="0">
              <a:latin typeface="Arial" panose="020B0604020202020204" pitchFamily="34" charset="0"/>
              <a:ea typeface="Inter Medium" panose="02000503000000020004" pitchFamily="2" charset="0"/>
            </a:rPr>
            <a:t>Adoption</a:t>
          </a:r>
          <a:endParaRPr lang="en-GB" sz="1100" b="1" i="0" kern="1200" dirty="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BCC27-A865-9C4C-9D49-EB2EB1082201}"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95F4A7-CCBA-7146-88D7-24C78A6982E3}" type="slidenum">
              <a:rPr lang="en-US" smtClean="0"/>
              <a:t>‹#›</a:t>
            </a:fld>
            <a:endParaRPr lang="en-US"/>
          </a:p>
        </p:txBody>
      </p:sp>
    </p:spTree>
    <p:extLst>
      <p:ext uri="{BB962C8B-B14F-4D97-AF65-F5344CB8AC3E}">
        <p14:creationId xmlns:p14="http://schemas.microsoft.com/office/powerpoint/2010/main" val="2469498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We realize some of you might not be Segmentation expert and we want to provide you some context before we dive into the UAT specific.</a:t>
            </a:r>
            <a:br>
              <a:rPr lang="en-US"/>
            </a:br>
            <a:br>
              <a:rPr lang="en-US"/>
            </a:br>
            <a:r>
              <a:rPr lang="en-US"/>
              <a:t>The Segmentation and </a:t>
            </a:r>
            <a:r>
              <a:rPr lang="en-US" err="1"/>
              <a:t>Socring</a:t>
            </a:r>
            <a:r>
              <a:rPr lang="en-US"/>
              <a:t> process is process of scoring and categorizing account into different tiers to ensure that these accounts receive the appropriate </a:t>
            </a:r>
            <a:r>
              <a:rPr lang="en-US" err="1"/>
              <a:t>lvl</a:t>
            </a:r>
            <a:r>
              <a:rPr lang="en-US"/>
              <a:t> of coverage. This foundation of GTM planning process that guides resource allocation, territory design, and quota setting.</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p>
          <a:p>
            <a:pPr marL="0" marR="0" lvl="0" indent="0" algn="l" defTabSz="457200" rtl="0" eaLnBrk="1" fontAlgn="auto" latinLnBrk="0" hangingPunct="1">
              <a:lnSpc>
                <a:spcPct val="100000"/>
              </a:lnSpc>
              <a:spcBef>
                <a:spcPts val="0"/>
              </a:spcBef>
              <a:spcAft>
                <a:spcPts val="0"/>
              </a:spcAft>
              <a:buClrTx/>
              <a:buSzTx/>
              <a:buFontTx/>
              <a:buNone/>
              <a:tabLst/>
              <a:defRPr/>
            </a:pPr>
            <a:endParaRPr lang="en-US"/>
          </a:p>
          <a:p>
            <a:pPr marL="0" marR="0" lvl="0" indent="0" algn="l" defTabSz="457200" rtl="0" eaLnBrk="1" fontAlgn="auto" latinLnBrk="0" hangingPunct="1">
              <a:lnSpc>
                <a:spcPct val="100000"/>
              </a:lnSpc>
              <a:spcBef>
                <a:spcPts val="0"/>
              </a:spcBef>
              <a:spcAft>
                <a:spcPts val="0"/>
              </a:spcAft>
              <a:buClrTx/>
              <a:buSzTx/>
              <a:buFontTx/>
              <a:buNone/>
              <a:tabLst/>
              <a:defRPr/>
            </a:pPr>
            <a:r>
              <a:rPr lang="en-US"/>
              <a:t>The App enables you to do Market Analysis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Define your Ideal Customer Profile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Do Top-down market sizing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Rule Based and Scoring Segmentation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It also incorporates workflow for feedback loop and approval process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p>
          <a:p>
            <a:pPr marL="0" marR="0" lvl="0" indent="0" algn="l" defTabSz="457200" rtl="0" eaLnBrk="1" fontAlgn="auto" latinLnBrk="0" hangingPunct="1">
              <a:lnSpc>
                <a:spcPct val="100000"/>
              </a:lnSpc>
              <a:spcBef>
                <a:spcPts val="0"/>
              </a:spcBef>
              <a:spcAft>
                <a:spcPts val="0"/>
              </a:spcAft>
              <a:buClrTx/>
              <a:buSzTx/>
              <a:buFontTx/>
              <a:buNone/>
              <a:tabLst/>
              <a:defRPr/>
            </a:pPr>
            <a:r>
              <a:rPr lang="en-US"/>
              <a:t>I will provide you recording of the pages to give you context for UAT</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29916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2515F-E990-59FF-E6FE-1467E0FF7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9E4DD-C07E-5693-3D92-8BCB5BCED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76CEFC-0D99-87BB-2B53-3DA0DF600986}"/>
              </a:ext>
            </a:extLst>
          </p:cNvPr>
          <p:cNvSpPr>
            <a:spLocks noGrp="1"/>
          </p:cNvSpPr>
          <p:nvPr>
            <p:ph type="body" idx="1"/>
          </p:nvPr>
        </p:nvSpPr>
        <p:spPr/>
        <p:txBody>
          <a:bodyPr/>
          <a:lstStyle/>
          <a:p>
            <a:pPr marL="171450" indent="-171450">
              <a:buFont typeface="Arial,Sans-Serif"/>
              <a:buChar char="•"/>
            </a:pPr>
            <a:endParaRPr lang="en-US">
              <a:cs typeface="Arial" panose="020B0604020202020204" pitchFamily="34" charset="0"/>
            </a:endParaRPr>
          </a:p>
        </p:txBody>
      </p:sp>
      <p:sp>
        <p:nvSpPr>
          <p:cNvPr id="4" name="Slide Number Placeholder 3">
            <a:extLst>
              <a:ext uri="{FF2B5EF4-FFF2-40B4-BE49-F238E27FC236}">
                <a16:creationId xmlns:a16="http://schemas.microsoft.com/office/drawing/2014/main" id="{50ED4306-18A8-21FD-EE81-A313064C95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16930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27B87-CBE8-D491-F0CC-259E05ED7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4A73A-2912-D3AF-3F29-82BEC4AB7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CF6AF-AC03-A97B-D0F2-9B72EADC618E}"/>
              </a:ext>
            </a:extLst>
          </p:cNvPr>
          <p:cNvSpPr>
            <a:spLocks noGrp="1"/>
          </p:cNvSpPr>
          <p:nvPr>
            <p:ph type="body" idx="1"/>
          </p:nvPr>
        </p:nvSpPr>
        <p:spPr/>
        <p:txBody>
          <a:bodyPr/>
          <a:lstStyle/>
          <a:p>
            <a:pPr marL="171450" indent="-171450">
              <a:buFont typeface="Arial,Sans-Serif"/>
              <a:buChar char="•"/>
            </a:pPr>
            <a:r>
              <a:rPr lang="en-US">
                <a:cs typeface="Arial" panose="020B0604020202020204" pitchFamily="34" charset="0"/>
              </a:rPr>
              <a:t>These are the big functional areas you will test in the generated application</a:t>
            </a:r>
          </a:p>
          <a:p>
            <a:pPr marL="171450" indent="-171450">
              <a:buFont typeface="Arial,Sans-Serif"/>
              <a:buChar char="•"/>
            </a:pPr>
            <a:r>
              <a:rPr lang="en-US">
                <a:cs typeface="Arial" panose="020B0604020202020204" pitchFamily="34" charset="0"/>
              </a:rPr>
              <a:t>Starting from the top </a:t>
            </a:r>
          </a:p>
        </p:txBody>
      </p:sp>
      <p:sp>
        <p:nvSpPr>
          <p:cNvPr id="4" name="Slide Number Placeholder 3">
            <a:extLst>
              <a:ext uri="{FF2B5EF4-FFF2-40B4-BE49-F238E27FC236}">
                <a16:creationId xmlns:a16="http://schemas.microsoft.com/office/drawing/2014/main" id="{7C56BA38-9221-1F75-5B93-BB9DC25080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64186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852DF-E4E0-55D1-A32B-FEE942901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B383E-DED3-AFDE-E10B-B7B7F659C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AEEF5-6B7E-CC24-2C64-6DE405FF5E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29948B-7311-0F8A-0D74-807BD4AD84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9427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39506-A7F9-11A9-F884-EEFACD13D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91B7B-7993-1430-8457-AB696F0802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FB11F-77A5-B2CD-4D57-6AB103B33A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27C83D-A4DE-A25D-BA57-05706B1ACD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429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27099-9E72-82B2-592A-1BADF167D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D9063-04C6-B780-5857-303ADD01B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2EDF7-B817-89C3-9CB6-541DAEF1C8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194D83-3FAF-42A9-E177-62C81C8793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5557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6C6A-E5FE-5B44-E4FE-2A0D671BC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C3EE6-A243-989B-9F5E-E32A737C31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1A9384-E15F-5B67-29CF-27D93CB438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7A10B5-08C6-1C27-626F-7B7F0A1E30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2386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6FF7D-042A-DE9F-4AB8-596A140EA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46D96-D619-B6B8-8AD5-AEE4CFA1D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62AAB-2A28-425E-F632-D9E4803F2D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946DC5-ED48-914B-0198-2BACBAAEC1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929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3E665-E1E4-C903-DE59-C91F8A272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39512-B33A-1921-6866-01D53175D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FEAA9-0CB6-F124-D7E1-A9370C70C7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F8E7A7-66DC-1662-E5F2-5A4344DAD8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2140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7953B-A44D-8DA0-1D9D-E07AC328B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D74B2-BBC6-FB0D-2FEA-97350D107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93499-6967-B9A7-214B-71797F8AEF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1C5DD7-6796-DED1-81F5-3F351B1236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4680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5.emf"/><Relationship Id="rId4" Type="http://schemas.openxmlformats.org/officeDocument/2006/relationships/tags" Target="../tags/tag4.xml"/><Relationship Id="rId9" Type="http://schemas.openxmlformats.org/officeDocument/2006/relationships/oleObject" Target="../embeddings/oleObject1.bin"/></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25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25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15.emf"/><Relationship Id="rId4" Type="http://schemas.openxmlformats.org/officeDocument/2006/relationships/tags" Target="../tags/tag11.xml"/><Relationship Id="rId9" Type="http://schemas.openxmlformats.org/officeDocument/2006/relationships/oleObject" Target="../embeddings/oleObject1.bin"/></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61575269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783474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3461266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69083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525337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27679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67066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5698674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577683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69325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202121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8045007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490651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447302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6606451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67327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70236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1451524979"/>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5612904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980445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1727682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583809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624894614"/>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0609122"/>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276706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77948706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2214811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03994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50043990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237882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807399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20039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847358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207782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8795680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1713544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507163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909422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2255051270"/>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516749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2911274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372927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517767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989822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210731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202444644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85643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54784826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355015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51641449"/>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24244981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8620641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755967045"/>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84422064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2354194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5543787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39086464"/>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8899801"/>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59815094"/>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6149811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8694543"/>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0754925"/>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408389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4363280"/>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37162841"/>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9445812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43895227"/>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411250684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5178518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796268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50076706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98949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63800070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531257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163974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4607080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436994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6256374"/>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8835654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8050922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2226746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388878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4821639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4806962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66636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84344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501281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65767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84452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859347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219474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480674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166944101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414612406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26850689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206219468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69285897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111687294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46585092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343435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81172118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418714246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0131564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284270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78474226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9280131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66646641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4915340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291872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0283053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9033350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87270647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dirty="0"/>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dirty="0"/>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dirty="0"/>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dirty="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dirty="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40828145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77293851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3905949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735008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72733633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379166852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3186042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85490400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35999385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1945852966"/>
      </p:ext>
    </p:extLst>
  </p:cSld>
  <p:clrMapOvr>
    <a:overrideClrMapping bg1="dk1" tx1="lt1" bg2="dk2" tx2="lt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35305871"/>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7702684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24499804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31653373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3799672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77837654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6422543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1424666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95244431"/>
      </p:ext>
    </p:extLst>
  </p:cSld>
  <p:clrMapOvr>
    <a:overrideClrMapping bg1="dk1" tx1="lt1" bg2="dk2" tx2="lt2" accent1="accent1" accent2="accent2" accent3="accent3" accent4="accent4" accent5="accent5" accent6="accent6" hlink="hlink" folHlink="folHlink"/>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312735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3721137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220937281"/>
      </p:ext>
    </p:extLst>
  </p:cSld>
  <p:clrMapOvr>
    <a:overrideClrMapping bg1="lt1" tx1="dk1" bg2="lt2" tx2="dk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885653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745530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068765360"/>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194018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93352578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98554313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343288598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22008856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073898700"/>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325526938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4210388970"/>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3428578833"/>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56811175"/>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207735772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3935332558"/>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259081864"/>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_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8026399" y="1222315"/>
            <a:ext cx="3606800" cy="4887401"/>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23604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94557722"/>
      </p:ext>
    </p:extLst>
  </p:cSld>
  <p:clrMapOvr>
    <a:masterClrMapping/>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2353673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97209152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7363227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354587178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73543129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108783961"/>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4190193049"/>
      </p:ext>
    </p:extLst>
  </p:cSld>
  <p:clrMapOvr>
    <a:overrideClrMapping bg1="lt1" tx1="dk1" bg2="lt2" tx2="dk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521959332"/>
      </p:ext>
    </p:extLst>
  </p:cSld>
  <p:clrMapOvr>
    <a:overrideClrMapping bg1="lt1" tx1="dk1" bg2="lt2" tx2="dk2" accent1="accent1" accent2="accent2" accent3="accent3" accent4="accent4" accent5="accent5" accent6="accent6" hlink="hlink" folHlink="folHlink"/>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62138452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873139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771004942"/>
      </p:ext>
    </p:extLst>
  </p:cSld>
  <p:clrMapOvr>
    <a:overrideClrMapping bg1="dk1" tx1="lt1" bg2="dk2" tx2="lt2" accent1="accent1" accent2="accent2" accent3="accent3" accent4="accent4" accent5="accent5" accent6="accent6" hlink="hlink" folHlink="folHlink"/>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2820608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5252171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110337991"/>
      </p:ext>
    </p:extLst>
  </p:cSld>
  <p:clrMapOvr>
    <a:overrideClrMapping bg1="dk1" tx1="lt1" bg2="dk2" tx2="lt2" accent1="accent1" accent2="accent2" accent3="accent3" accent4="accent4" accent5="accent5" accent6="accent6" hlink="hlink" folHlink="folHlink"/>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419811333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3008221"/>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125028744"/>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63933348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42664634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94061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99284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069874614"/>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5228815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5464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33883616"/>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01534508"/>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422960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77592748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4290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764769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4283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450036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403366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270178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862079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84182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5462449"/>
      </p:ext>
    </p:extLst>
  </p:cSld>
  <p:clrMapOvr>
    <a:masterClrMapping/>
  </p:clrMapOvr>
  <p:extLst>
    <p:ext uri="{DCECCB84-F9BA-43D5-87BE-67443E8EF086}">
      <p15:sldGuideLst xmlns:p15="http://schemas.microsoft.com/office/powerpoint/2012/main"/>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3154726338"/>
      </p:ext>
    </p:extLst>
  </p:cSld>
  <p:clrMapOvr>
    <a:masterClrMapping/>
  </p:clrMapOvr>
  <p:extLst>
    <p:ext uri="{DCECCB84-F9BA-43D5-87BE-67443E8EF086}">
      <p15:sldGuideLst xmlns:p15="http://schemas.microsoft.com/office/powerpoint/2012/main"/>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0808468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4915372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6624382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607239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898229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092899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750433860"/>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209809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34164363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903742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26391575"/>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57683786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3261863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007731557"/>
      </p:ext>
    </p:extLst>
  </p:cSld>
  <p:clrMapOvr>
    <a:overrideClrMapping bg1="lt1" tx1="dk1" bg2="lt2" tx2="dk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485441387"/>
      </p:ext>
    </p:extLst>
  </p:cSld>
  <p:clrMapOvr>
    <a:overrideClrMapping bg1="lt1" tx1="dk1" bg2="lt2" tx2="dk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4073420185"/>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1309421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99205503"/>
      </p:ext>
    </p:extLst>
  </p:cSld>
  <p:clrMapOvr>
    <a:overrideClrMapping bg1="lt1" tx1="dk1" bg2="lt2" tx2="dk2" accent1="accent1" accent2="accent2" accent3="accent3" accent4="accent4" accent5="accent5" accent6="accent6" hlink="hlink" folHlink="folHlink"/>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44205366"/>
      </p:ext>
    </p:extLst>
  </p:cSld>
  <p:clrMapOvr>
    <a:overrideClrMapping bg1="lt1" tx1="dk1" bg2="lt2" tx2="dk2" accent1="accent1" accent2="accent2" accent3="accent3" accent4="accent4" accent5="accent5" accent6="accent6" hlink="hlink" folHlink="folHlink"/>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23981309"/>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35245348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46888148"/>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32791104"/>
      </p:ext>
    </p:extLst>
  </p:cSld>
  <p:clrMapOvr>
    <a:overrideClrMapping bg1="lt1" tx1="dk1" bg2="lt2" tx2="dk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6046438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6138777"/>
      </p:ext>
    </p:extLst>
  </p:cSld>
  <p:clrMapOvr>
    <a:overrideClrMapping bg1="lt1" tx1="dk1" bg2="lt2" tx2="dk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59695395"/>
      </p:ext>
    </p:extLst>
  </p:cSld>
  <p:clrMapOvr>
    <a:overrideClrMapping bg1="lt1" tx1="dk1" bg2="lt2" tx2="dk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79174536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25148845"/>
      </p:ext>
    </p:extLst>
  </p:cSld>
  <p:clrMapOvr>
    <a:overrideClrMapping bg1="lt1" tx1="dk1" bg2="lt2" tx2="dk2" accent1="accent1" accent2="accent2" accent3="accent3" accent4="accent4" accent5="accent5" accent6="accent6" hlink="hlink" folHlink="folHlink"/>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426877885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93476803"/>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397661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34257437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212574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97957382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950118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78660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16657350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85669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0685400"/>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04680986"/>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17264728"/>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19348271"/>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4112307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496294"/>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85341002"/>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70172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33902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258362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425574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66843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963820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8315742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680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4277627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200159434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17921569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190967496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2750523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189696302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113AB58-B0DC-A362-F4AD-1E160529E39E}"/>
              </a:ext>
            </a:extLst>
          </p:cNvPr>
          <p:cNvGrpSpPr/>
          <p:nvPr userDrawn="1"/>
        </p:nvGrpSpPr>
        <p:grpSpPr>
          <a:xfrm>
            <a:off x="1093409" y="1457316"/>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Oval 25">
            <a:extLst>
              <a:ext uri="{FF2B5EF4-FFF2-40B4-BE49-F238E27FC236}">
                <a16:creationId xmlns:a16="http://schemas.microsoft.com/office/drawing/2014/main" id="{0B58E4D1-6B03-7949-8339-ED676564FECC}"/>
              </a:ext>
            </a:extLst>
          </p:cNvPr>
          <p:cNvSpPr/>
          <p:nvPr userDrawn="1"/>
        </p:nvSpPr>
        <p:spPr>
          <a:xfrm>
            <a:off x="4733146" y="1283315"/>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14383" y="1792085"/>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1" name="Rounded Rectangle 20">
            <a:extLst>
              <a:ext uri="{FF2B5EF4-FFF2-40B4-BE49-F238E27FC236}">
                <a16:creationId xmlns:a16="http://schemas.microsoft.com/office/drawing/2014/main" id="{634B81F0-7E50-84B3-A47D-7BA8F8158B15}"/>
              </a:ext>
            </a:extLst>
          </p:cNvPr>
          <p:cNvSpPr/>
          <p:nvPr userDrawn="1"/>
        </p:nvSpPr>
        <p:spPr>
          <a:xfrm>
            <a:off x="4625220" y="4809452"/>
            <a:ext cx="2941560" cy="1655695"/>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8" name="Oval 27">
            <a:extLst>
              <a:ext uri="{FF2B5EF4-FFF2-40B4-BE49-F238E27FC236}">
                <a16:creationId xmlns:a16="http://schemas.microsoft.com/office/drawing/2014/main" id="{6A3352EB-B9F8-D275-1B43-64FDF269764B}"/>
              </a:ext>
            </a:extLst>
          </p:cNvPr>
          <p:cNvSpPr/>
          <p:nvPr userDrawn="1"/>
        </p:nvSpPr>
        <p:spPr>
          <a:xfrm>
            <a:off x="4809346" y="446247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Picture Placeholder 112">
            <a:extLst>
              <a:ext uri="{FF2B5EF4-FFF2-40B4-BE49-F238E27FC236}">
                <a16:creationId xmlns:a16="http://schemas.microsoft.com/office/drawing/2014/main" id="{5D84631B-E931-F989-4BAB-5C16131E1946}"/>
              </a:ext>
            </a:extLst>
          </p:cNvPr>
          <p:cNvSpPr>
            <a:spLocks noGrp="1"/>
          </p:cNvSpPr>
          <p:nvPr>
            <p:ph type="pic" sz="quarter" idx="43" hasCustomPrompt="1"/>
          </p:nvPr>
        </p:nvSpPr>
        <p:spPr>
          <a:xfrm>
            <a:off x="4896823" y="4590559"/>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49">
            <a:extLst>
              <a:ext uri="{FF2B5EF4-FFF2-40B4-BE49-F238E27FC236}">
                <a16:creationId xmlns:a16="http://schemas.microsoft.com/office/drawing/2014/main" id="{9E25C82C-6C1D-BF7F-8E98-3E1FFEDAB9CB}"/>
              </a:ext>
            </a:extLst>
          </p:cNvPr>
          <p:cNvSpPr>
            <a:spLocks noGrp="1"/>
          </p:cNvSpPr>
          <p:nvPr>
            <p:ph type="body" sz="quarter" idx="44" hasCustomPrompt="1"/>
          </p:nvPr>
        </p:nvSpPr>
        <p:spPr>
          <a:xfrm>
            <a:off x="4794161" y="5250887"/>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70206377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62470141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274318996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5322739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36407152"/>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93858201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139052113"/>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81340945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4882929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44794820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8585222"/>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332307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85843278"/>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807720901"/>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818117936"/>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06333567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98513299"/>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9637944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336326419"/>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511071237"/>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051601826"/>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0068901"/>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462086949"/>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2082893"/>
      </p:ext>
    </p:extLst>
  </p:cSld>
  <p:clrMapOvr>
    <a:overrideClrMapping bg1="dk1" tx1="lt1" bg2="dk2" tx2="lt2" accent1="accent1" accent2="accent2" accent3="accent3" accent4="accent4" accent5="accent5" accent6="accent6" hlink="hlink" folHlink="folHlink"/>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6607120"/>
      </p:ext>
    </p:extLst>
  </p:cSld>
  <p:clrMapOvr>
    <a:overrideClrMapping bg1="dk1" tx1="lt1" bg2="dk2" tx2="lt2" accent1="accent1" accent2="accent2" accent3="accent3" accent4="accent4" accent5="accent5" accent6="accent6" hlink="hlink" folHlink="folHlink"/>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0395443"/>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55981"/>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3083757597"/>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18340312"/>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14353497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2226046686"/>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86409787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65448671"/>
      </p:ext>
    </p:extLst>
  </p:cSld>
  <p:clrMapOvr>
    <a:overrideClrMapping bg1="dk1" tx1="lt1" bg2="dk2" tx2="lt2" accent1="accent1" accent2="accent2" accent3="accent3" accent4="accent4" accent5="accent5" accent6="accent6" hlink="hlink" folHlink="folHlink"/>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538760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783167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1992250513"/>
      </p:ext>
    </p:extLst>
  </p:cSld>
  <p:clrMapOvr>
    <a:overrideClrMapping bg1="lt1" tx1="dk1" bg2="lt2" tx2="dk2" accent1="accent1" accent2="accent2" accent3="accent3" accent4="accent4" accent5="accent5" accent6="accent6" hlink="hlink" folHlink="folHlink"/>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4728453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8281971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83442581"/>
      </p:ext>
    </p:extLst>
  </p:cSld>
  <p:clrMapOvr>
    <a:masterClrMapping/>
  </p:clrMapOvr>
  <p:extLst>
    <p:ext uri="{DCECCB84-F9BA-43D5-87BE-67443E8EF086}">
      <p15:sldGuideLst xmlns:p15="http://schemas.microsoft.com/office/powerpoint/2012/main"/>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20254682"/>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273086490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1_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247848510"/>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228243458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1_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820587524"/>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153453448"/>
      </p:ext>
    </p:extLst>
  </p:cSld>
  <p:clrMapOvr>
    <a:masterClrMapping/>
  </p:clrMapOvr>
  <p:extLst>
    <p:ext uri="{DCECCB84-F9BA-43D5-87BE-67443E8EF086}">
      <p15:sldGuideLst xmlns:p15="http://schemas.microsoft.com/office/powerpoint/2012/main"/>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381757313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069620615"/>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3052501488"/>
      </p:ext>
    </p:extLst>
  </p:cSld>
  <p:clrMapOvr>
    <a:masterClrMapping/>
  </p:clrMapOvr>
  <p:extLst>
    <p:ext uri="{DCECCB84-F9BA-43D5-87BE-67443E8EF086}">
      <p15:sldGuideLst xmlns:p15="http://schemas.microsoft.com/office/powerpoint/2012/main"/>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4920988"/>
      </p:ext>
    </p:extLst>
  </p:cSld>
  <p:clrMapOvr>
    <a:masterClrMapping/>
  </p:clrMapOvr>
  <p:extLst>
    <p:ext uri="{DCECCB84-F9BA-43D5-87BE-67443E8EF086}">
      <p15:sldGuideLst xmlns:p15="http://schemas.microsoft.com/office/powerpoint/2012/main"/>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1109604737"/>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2659306563"/>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51531308"/>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149" Type="http://schemas.openxmlformats.org/officeDocument/2006/relationships/slideLayout" Target="../slideLayouts/slideLayout149.xml"/><Relationship Id="rId5" Type="http://schemas.openxmlformats.org/officeDocument/2006/relationships/slideLayout" Target="../slideLayouts/slideLayout5.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50" Type="http://schemas.openxmlformats.org/officeDocument/2006/relationships/slideLayout" Target="../slideLayouts/slideLayout150.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45" Type="http://schemas.openxmlformats.org/officeDocument/2006/relationships/slideLayout" Target="../slideLayouts/slideLayout145.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51" Type="http://schemas.openxmlformats.org/officeDocument/2006/relationships/slideLayout" Target="../slideLayouts/slideLayout151.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5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slideLayout" Target="../slideLayouts/slideLayout14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3" Type="http://schemas.openxmlformats.org/officeDocument/2006/relationships/image" Target="../media/image1.png"/><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48" Type="http://schemas.openxmlformats.org/officeDocument/2006/relationships/slideLayout" Target="../slideLayouts/slideLayout148.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 Id="rId90" Type="http://schemas.openxmlformats.org/officeDocument/2006/relationships/slideLayout" Target="../slideLayouts/slideLayout90.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268.xml"/><Relationship Id="rId21" Type="http://schemas.openxmlformats.org/officeDocument/2006/relationships/slideLayout" Target="../slideLayouts/slideLayout172.xml"/><Relationship Id="rId42" Type="http://schemas.openxmlformats.org/officeDocument/2006/relationships/slideLayout" Target="../slideLayouts/slideLayout193.xml"/><Relationship Id="rId63" Type="http://schemas.openxmlformats.org/officeDocument/2006/relationships/slideLayout" Target="../slideLayouts/slideLayout214.xml"/><Relationship Id="rId84" Type="http://schemas.openxmlformats.org/officeDocument/2006/relationships/slideLayout" Target="../slideLayouts/slideLayout235.xml"/><Relationship Id="rId138" Type="http://schemas.openxmlformats.org/officeDocument/2006/relationships/slideLayout" Target="../slideLayouts/slideLayout289.xml"/><Relationship Id="rId107" Type="http://schemas.openxmlformats.org/officeDocument/2006/relationships/slideLayout" Target="../slideLayouts/slideLayout258.xml"/><Relationship Id="rId11" Type="http://schemas.openxmlformats.org/officeDocument/2006/relationships/slideLayout" Target="../slideLayouts/slideLayout162.xml"/><Relationship Id="rId32" Type="http://schemas.openxmlformats.org/officeDocument/2006/relationships/slideLayout" Target="../slideLayouts/slideLayout183.xml"/><Relationship Id="rId53" Type="http://schemas.openxmlformats.org/officeDocument/2006/relationships/slideLayout" Target="../slideLayouts/slideLayout204.xml"/><Relationship Id="rId74" Type="http://schemas.openxmlformats.org/officeDocument/2006/relationships/slideLayout" Target="../slideLayouts/slideLayout225.xml"/><Relationship Id="rId128" Type="http://schemas.openxmlformats.org/officeDocument/2006/relationships/slideLayout" Target="../slideLayouts/slideLayout279.xml"/><Relationship Id="rId149" Type="http://schemas.openxmlformats.org/officeDocument/2006/relationships/slideLayout" Target="../slideLayouts/slideLayout300.xml"/><Relationship Id="rId5" Type="http://schemas.openxmlformats.org/officeDocument/2006/relationships/slideLayout" Target="../slideLayouts/slideLayout156.xml"/><Relationship Id="rId95" Type="http://schemas.openxmlformats.org/officeDocument/2006/relationships/slideLayout" Target="../slideLayouts/slideLayout246.xml"/><Relationship Id="rId22" Type="http://schemas.openxmlformats.org/officeDocument/2006/relationships/slideLayout" Target="../slideLayouts/slideLayout173.xml"/><Relationship Id="rId27" Type="http://schemas.openxmlformats.org/officeDocument/2006/relationships/slideLayout" Target="../slideLayouts/slideLayout178.xml"/><Relationship Id="rId43" Type="http://schemas.openxmlformats.org/officeDocument/2006/relationships/slideLayout" Target="../slideLayouts/slideLayout194.xml"/><Relationship Id="rId48" Type="http://schemas.openxmlformats.org/officeDocument/2006/relationships/slideLayout" Target="../slideLayouts/slideLayout199.xml"/><Relationship Id="rId64" Type="http://schemas.openxmlformats.org/officeDocument/2006/relationships/slideLayout" Target="../slideLayouts/slideLayout215.xml"/><Relationship Id="rId69" Type="http://schemas.openxmlformats.org/officeDocument/2006/relationships/slideLayout" Target="../slideLayouts/slideLayout220.xml"/><Relationship Id="rId113" Type="http://schemas.openxmlformats.org/officeDocument/2006/relationships/slideLayout" Target="../slideLayouts/slideLayout264.xml"/><Relationship Id="rId118" Type="http://schemas.openxmlformats.org/officeDocument/2006/relationships/slideLayout" Target="../slideLayouts/slideLayout269.xml"/><Relationship Id="rId134" Type="http://schemas.openxmlformats.org/officeDocument/2006/relationships/slideLayout" Target="../slideLayouts/slideLayout285.xml"/><Relationship Id="rId139" Type="http://schemas.openxmlformats.org/officeDocument/2006/relationships/slideLayout" Target="../slideLayouts/slideLayout290.xml"/><Relationship Id="rId80" Type="http://schemas.openxmlformats.org/officeDocument/2006/relationships/slideLayout" Target="../slideLayouts/slideLayout231.xml"/><Relationship Id="rId85" Type="http://schemas.openxmlformats.org/officeDocument/2006/relationships/slideLayout" Target="../slideLayouts/slideLayout236.xml"/><Relationship Id="rId150" Type="http://schemas.openxmlformats.org/officeDocument/2006/relationships/slideLayout" Target="../slideLayouts/slideLayout301.xml"/><Relationship Id="rId12" Type="http://schemas.openxmlformats.org/officeDocument/2006/relationships/slideLayout" Target="../slideLayouts/slideLayout163.xml"/><Relationship Id="rId17" Type="http://schemas.openxmlformats.org/officeDocument/2006/relationships/slideLayout" Target="../slideLayouts/slideLayout168.xml"/><Relationship Id="rId33" Type="http://schemas.openxmlformats.org/officeDocument/2006/relationships/slideLayout" Target="../slideLayouts/slideLayout184.xml"/><Relationship Id="rId38" Type="http://schemas.openxmlformats.org/officeDocument/2006/relationships/slideLayout" Target="../slideLayouts/slideLayout189.xml"/><Relationship Id="rId59" Type="http://schemas.openxmlformats.org/officeDocument/2006/relationships/slideLayout" Target="../slideLayouts/slideLayout210.xml"/><Relationship Id="rId103" Type="http://schemas.openxmlformats.org/officeDocument/2006/relationships/slideLayout" Target="../slideLayouts/slideLayout254.xml"/><Relationship Id="rId108" Type="http://schemas.openxmlformats.org/officeDocument/2006/relationships/slideLayout" Target="../slideLayouts/slideLayout259.xml"/><Relationship Id="rId124" Type="http://schemas.openxmlformats.org/officeDocument/2006/relationships/slideLayout" Target="../slideLayouts/slideLayout275.xml"/><Relationship Id="rId129" Type="http://schemas.openxmlformats.org/officeDocument/2006/relationships/slideLayout" Target="../slideLayouts/slideLayout280.xml"/><Relationship Id="rId54" Type="http://schemas.openxmlformats.org/officeDocument/2006/relationships/slideLayout" Target="../slideLayouts/slideLayout205.xml"/><Relationship Id="rId70" Type="http://schemas.openxmlformats.org/officeDocument/2006/relationships/slideLayout" Target="../slideLayouts/slideLayout221.xml"/><Relationship Id="rId75" Type="http://schemas.openxmlformats.org/officeDocument/2006/relationships/slideLayout" Target="../slideLayouts/slideLayout226.xml"/><Relationship Id="rId91" Type="http://schemas.openxmlformats.org/officeDocument/2006/relationships/slideLayout" Target="../slideLayouts/slideLayout242.xml"/><Relationship Id="rId96" Type="http://schemas.openxmlformats.org/officeDocument/2006/relationships/slideLayout" Target="../slideLayouts/slideLayout247.xml"/><Relationship Id="rId140" Type="http://schemas.openxmlformats.org/officeDocument/2006/relationships/slideLayout" Target="../slideLayouts/slideLayout291.xml"/><Relationship Id="rId145" Type="http://schemas.openxmlformats.org/officeDocument/2006/relationships/slideLayout" Target="../slideLayouts/slideLayout296.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23" Type="http://schemas.openxmlformats.org/officeDocument/2006/relationships/slideLayout" Target="../slideLayouts/slideLayout174.xml"/><Relationship Id="rId28" Type="http://schemas.openxmlformats.org/officeDocument/2006/relationships/slideLayout" Target="../slideLayouts/slideLayout179.xml"/><Relationship Id="rId49" Type="http://schemas.openxmlformats.org/officeDocument/2006/relationships/slideLayout" Target="../slideLayouts/slideLayout200.xml"/><Relationship Id="rId114" Type="http://schemas.openxmlformats.org/officeDocument/2006/relationships/slideLayout" Target="../slideLayouts/slideLayout265.xml"/><Relationship Id="rId119" Type="http://schemas.openxmlformats.org/officeDocument/2006/relationships/slideLayout" Target="../slideLayouts/slideLayout270.xml"/><Relationship Id="rId44" Type="http://schemas.openxmlformats.org/officeDocument/2006/relationships/slideLayout" Target="../slideLayouts/slideLayout195.xml"/><Relationship Id="rId60" Type="http://schemas.openxmlformats.org/officeDocument/2006/relationships/slideLayout" Target="../slideLayouts/slideLayout211.xml"/><Relationship Id="rId65" Type="http://schemas.openxmlformats.org/officeDocument/2006/relationships/slideLayout" Target="../slideLayouts/slideLayout216.xml"/><Relationship Id="rId81" Type="http://schemas.openxmlformats.org/officeDocument/2006/relationships/slideLayout" Target="../slideLayouts/slideLayout232.xml"/><Relationship Id="rId86" Type="http://schemas.openxmlformats.org/officeDocument/2006/relationships/slideLayout" Target="../slideLayouts/slideLayout237.xml"/><Relationship Id="rId130" Type="http://schemas.openxmlformats.org/officeDocument/2006/relationships/slideLayout" Target="../slideLayouts/slideLayout281.xml"/><Relationship Id="rId135" Type="http://schemas.openxmlformats.org/officeDocument/2006/relationships/slideLayout" Target="../slideLayouts/slideLayout286.xml"/><Relationship Id="rId151" Type="http://schemas.openxmlformats.org/officeDocument/2006/relationships/theme" Target="../theme/theme2.xml"/><Relationship Id="rId13" Type="http://schemas.openxmlformats.org/officeDocument/2006/relationships/slideLayout" Target="../slideLayouts/slideLayout164.xml"/><Relationship Id="rId18" Type="http://schemas.openxmlformats.org/officeDocument/2006/relationships/slideLayout" Target="../slideLayouts/slideLayout169.xml"/><Relationship Id="rId39" Type="http://schemas.openxmlformats.org/officeDocument/2006/relationships/slideLayout" Target="../slideLayouts/slideLayout190.xml"/><Relationship Id="rId109" Type="http://schemas.openxmlformats.org/officeDocument/2006/relationships/slideLayout" Target="../slideLayouts/slideLayout260.xml"/><Relationship Id="rId34" Type="http://schemas.openxmlformats.org/officeDocument/2006/relationships/slideLayout" Target="../slideLayouts/slideLayout185.xml"/><Relationship Id="rId50" Type="http://schemas.openxmlformats.org/officeDocument/2006/relationships/slideLayout" Target="../slideLayouts/slideLayout201.xml"/><Relationship Id="rId55" Type="http://schemas.openxmlformats.org/officeDocument/2006/relationships/slideLayout" Target="../slideLayouts/slideLayout206.xml"/><Relationship Id="rId76" Type="http://schemas.openxmlformats.org/officeDocument/2006/relationships/slideLayout" Target="../slideLayouts/slideLayout227.xml"/><Relationship Id="rId97" Type="http://schemas.openxmlformats.org/officeDocument/2006/relationships/slideLayout" Target="../slideLayouts/slideLayout248.xml"/><Relationship Id="rId104" Type="http://schemas.openxmlformats.org/officeDocument/2006/relationships/slideLayout" Target="../slideLayouts/slideLayout255.xml"/><Relationship Id="rId120" Type="http://schemas.openxmlformats.org/officeDocument/2006/relationships/slideLayout" Target="../slideLayouts/slideLayout271.xml"/><Relationship Id="rId125" Type="http://schemas.openxmlformats.org/officeDocument/2006/relationships/slideLayout" Target="../slideLayouts/slideLayout276.xml"/><Relationship Id="rId141" Type="http://schemas.openxmlformats.org/officeDocument/2006/relationships/slideLayout" Target="../slideLayouts/slideLayout292.xml"/><Relationship Id="rId146" Type="http://schemas.openxmlformats.org/officeDocument/2006/relationships/slideLayout" Target="../slideLayouts/slideLayout297.xml"/><Relationship Id="rId7" Type="http://schemas.openxmlformats.org/officeDocument/2006/relationships/slideLayout" Target="../slideLayouts/slideLayout158.xml"/><Relationship Id="rId71" Type="http://schemas.openxmlformats.org/officeDocument/2006/relationships/slideLayout" Target="../slideLayouts/slideLayout222.xml"/><Relationship Id="rId92" Type="http://schemas.openxmlformats.org/officeDocument/2006/relationships/slideLayout" Target="../slideLayouts/slideLayout243.xml"/><Relationship Id="rId2" Type="http://schemas.openxmlformats.org/officeDocument/2006/relationships/slideLayout" Target="../slideLayouts/slideLayout153.xml"/><Relationship Id="rId29" Type="http://schemas.openxmlformats.org/officeDocument/2006/relationships/slideLayout" Target="../slideLayouts/slideLayout180.xml"/><Relationship Id="rId24" Type="http://schemas.openxmlformats.org/officeDocument/2006/relationships/slideLayout" Target="../slideLayouts/slideLayout175.xml"/><Relationship Id="rId40" Type="http://schemas.openxmlformats.org/officeDocument/2006/relationships/slideLayout" Target="../slideLayouts/slideLayout191.xml"/><Relationship Id="rId45" Type="http://schemas.openxmlformats.org/officeDocument/2006/relationships/slideLayout" Target="../slideLayouts/slideLayout196.xml"/><Relationship Id="rId66" Type="http://schemas.openxmlformats.org/officeDocument/2006/relationships/slideLayout" Target="../slideLayouts/slideLayout217.xml"/><Relationship Id="rId87" Type="http://schemas.openxmlformats.org/officeDocument/2006/relationships/slideLayout" Target="../slideLayouts/slideLayout238.xml"/><Relationship Id="rId110" Type="http://schemas.openxmlformats.org/officeDocument/2006/relationships/slideLayout" Target="../slideLayouts/slideLayout261.xml"/><Relationship Id="rId115" Type="http://schemas.openxmlformats.org/officeDocument/2006/relationships/slideLayout" Target="../slideLayouts/slideLayout266.xml"/><Relationship Id="rId131" Type="http://schemas.openxmlformats.org/officeDocument/2006/relationships/slideLayout" Target="../slideLayouts/slideLayout282.xml"/><Relationship Id="rId136" Type="http://schemas.openxmlformats.org/officeDocument/2006/relationships/slideLayout" Target="../slideLayouts/slideLayout287.xml"/><Relationship Id="rId61" Type="http://schemas.openxmlformats.org/officeDocument/2006/relationships/slideLayout" Target="../slideLayouts/slideLayout212.xml"/><Relationship Id="rId82" Type="http://schemas.openxmlformats.org/officeDocument/2006/relationships/slideLayout" Target="../slideLayouts/slideLayout233.xml"/><Relationship Id="rId152" Type="http://schemas.openxmlformats.org/officeDocument/2006/relationships/image" Target="../media/image1.png"/><Relationship Id="rId19" Type="http://schemas.openxmlformats.org/officeDocument/2006/relationships/slideLayout" Target="../slideLayouts/slideLayout170.xml"/><Relationship Id="rId14" Type="http://schemas.openxmlformats.org/officeDocument/2006/relationships/slideLayout" Target="../slideLayouts/slideLayout165.xml"/><Relationship Id="rId30" Type="http://schemas.openxmlformats.org/officeDocument/2006/relationships/slideLayout" Target="../slideLayouts/slideLayout181.xml"/><Relationship Id="rId35" Type="http://schemas.openxmlformats.org/officeDocument/2006/relationships/slideLayout" Target="../slideLayouts/slideLayout186.xml"/><Relationship Id="rId56" Type="http://schemas.openxmlformats.org/officeDocument/2006/relationships/slideLayout" Target="../slideLayouts/slideLayout207.xml"/><Relationship Id="rId77" Type="http://schemas.openxmlformats.org/officeDocument/2006/relationships/slideLayout" Target="../slideLayouts/slideLayout228.xml"/><Relationship Id="rId100" Type="http://schemas.openxmlformats.org/officeDocument/2006/relationships/slideLayout" Target="../slideLayouts/slideLayout251.xml"/><Relationship Id="rId105" Type="http://schemas.openxmlformats.org/officeDocument/2006/relationships/slideLayout" Target="../slideLayouts/slideLayout256.xml"/><Relationship Id="rId126" Type="http://schemas.openxmlformats.org/officeDocument/2006/relationships/slideLayout" Target="../slideLayouts/slideLayout277.xml"/><Relationship Id="rId147" Type="http://schemas.openxmlformats.org/officeDocument/2006/relationships/slideLayout" Target="../slideLayouts/slideLayout298.xml"/><Relationship Id="rId8" Type="http://schemas.openxmlformats.org/officeDocument/2006/relationships/slideLayout" Target="../slideLayouts/slideLayout159.xml"/><Relationship Id="rId51" Type="http://schemas.openxmlformats.org/officeDocument/2006/relationships/slideLayout" Target="../slideLayouts/slideLayout202.xml"/><Relationship Id="rId72" Type="http://schemas.openxmlformats.org/officeDocument/2006/relationships/slideLayout" Target="../slideLayouts/slideLayout223.xml"/><Relationship Id="rId93" Type="http://schemas.openxmlformats.org/officeDocument/2006/relationships/slideLayout" Target="../slideLayouts/slideLayout244.xml"/><Relationship Id="rId98" Type="http://schemas.openxmlformats.org/officeDocument/2006/relationships/slideLayout" Target="../slideLayouts/slideLayout249.xml"/><Relationship Id="rId121" Type="http://schemas.openxmlformats.org/officeDocument/2006/relationships/slideLayout" Target="../slideLayouts/slideLayout272.xml"/><Relationship Id="rId142" Type="http://schemas.openxmlformats.org/officeDocument/2006/relationships/slideLayout" Target="../slideLayouts/slideLayout293.xml"/><Relationship Id="rId3" Type="http://schemas.openxmlformats.org/officeDocument/2006/relationships/slideLayout" Target="../slideLayouts/slideLayout154.xml"/><Relationship Id="rId25" Type="http://schemas.openxmlformats.org/officeDocument/2006/relationships/slideLayout" Target="../slideLayouts/slideLayout176.xml"/><Relationship Id="rId46" Type="http://schemas.openxmlformats.org/officeDocument/2006/relationships/slideLayout" Target="../slideLayouts/slideLayout197.xml"/><Relationship Id="rId67" Type="http://schemas.openxmlformats.org/officeDocument/2006/relationships/slideLayout" Target="../slideLayouts/slideLayout218.xml"/><Relationship Id="rId116" Type="http://schemas.openxmlformats.org/officeDocument/2006/relationships/slideLayout" Target="../slideLayouts/slideLayout267.xml"/><Relationship Id="rId137" Type="http://schemas.openxmlformats.org/officeDocument/2006/relationships/slideLayout" Target="../slideLayouts/slideLayout288.xml"/><Relationship Id="rId20" Type="http://schemas.openxmlformats.org/officeDocument/2006/relationships/slideLayout" Target="../slideLayouts/slideLayout171.xml"/><Relationship Id="rId41" Type="http://schemas.openxmlformats.org/officeDocument/2006/relationships/slideLayout" Target="../slideLayouts/slideLayout192.xml"/><Relationship Id="rId62" Type="http://schemas.openxmlformats.org/officeDocument/2006/relationships/slideLayout" Target="../slideLayouts/slideLayout213.xml"/><Relationship Id="rId83" Type="http://schemas.openxmlformats.org/officeDocument/2006/relationships/slideLayout" Target="../slideLayouts/slideLayout234.xml"/><Relationship Id="rId88" Type="http://schemas.openxmlformats.org/officeDocument/2006/relationships/slideLayout" Target="../slideLayouts/slideLayout239.xml"/><Relationship Id="rId111" Type="http://schemas.openxmlformats.org/officeDocument/2006/relationships/slideLayout" Target="../slideLayouts/slideLayout262.xml"/><Relationship Id="rId132" Type="http://schemas.openxmlformats.org/officeDocument/2006/relationships/slideLayout" Target="../slideLayouts/slideLayout283.xml"/><Relationship Id="rId15" Type="http://schemas.openxmlformats.org/officeDocument/2006/relationships/slideLayout" Target="../slideLayouts/slideLayout166.xml"/><Relationship Id="rId36" Type="http://schemas.openxmlformats.org/officeDocument/2006/relationships/slideLayout" Target="../slideLayouts/slideLayout187.xml"/><Relationship Id="rId57" Type="http://schemas.openxmlformats.org/officeDocument/2006/relationships/slideLayout" Target="../slideLayouts/slideLayout208.xml"/><Relationship Id="rId106" Type="http://schemas.openxmlformats.org/officeDocument/2006/relationships/slideLayout" Target="../slideLayouts/slideLayout257.xml"/><Relationship Id="rId127" Type="http://schemas.openxmlformats.org/officeDocument/2006/relationships/slideLayout" Target="../slideLayouts/slideLayout278.xml"/><Relationship Id="rId10" Type="http://schemas.openxmlformats.org/officeDocument/2006/relationships/slideLayout" Target="../slideLayouts/slideLayout161.xml"/><Relationship Id="rId31" Type="http://schemas.openxmlformats.org/officeDocument/2006/relationships/slideLayout" Target="../slideLayouts/slideLayout182.xml"/><Relationship Id="rId52" Type="http://schemas.openxmlformats.org/officeDocument/2006/relationships/slideLayout" Target="../slideLayouts/slideLayout203.xml"/><Relationship Id="rId73" Type="http://schemas.openxmlformats.org/officeDocument/2006/relationships/slideLayout" Target="../slideLayouts/slideLayout224.xml"/><Relationship Id="rId78" Type="http://schemas.openxmlformats.org/officeDocument/2006/relationships/slideLayout" Target="../slideLayouts/slideLayout229.xml"/><Relationship Id="rId94" Type="http://schemas.openxmlformats.org/officeDocument/2006/relationships/slideLayout" Target="../slideLayouts/slideLayout245.xml"/><Relationship Id="rId99" Type="http://schemas.openxmlformats.org/officeDocument/2006/relationships/slideLayout" Target="../slideLayouts/slideLayout250.xml"/><Relationship Id="rId101" Type="http://schemas.openxmlformats.org/officeDocument/2006/relationships/slideLayout" Target="../slideLayouts/slideLayout252.xml"/><Relationship Id="rId122" Type="http://schemas.openxmlformats.org/officeDocument/2006/relationships/slideLayout" Target="../slideLayouts/slideLayout273.xml"/><Relationship Id="rId143" Type="http://schemas.openxmlformats.org/officeDocument/2006/relationships/slideLayout" Target="../slideLayouts/slideLayout294.xml"/><Relationship Id="rId148" Type="http://schemas.openxmlformats.org/officeDocument/2006/relationships/slideLayout" Target="../slideLayouts/slideLayout299.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26" Type="http://schemas.openxmlformats.org/officeDocument/2006/relationships/slideLayout" Target="../slideLayouts/slideLayout177.xml"/><Relationship Id="rId47" Type="http://schemas.openxmlformats.org/officeDocument/2006/relationships/slideLayout" Target="../slideLayouts/slideLayout198.xml"/><Relationship Id="rId68" Type="http://schemas.openxmlformats.org/officeDocument/2006/relationships/slideLayout" Target="../slideLayouts/slideLayout219.xml"/><Relationship Id="rId89" Type="http://schemas.openxmlformats.org/officeDocument/2006/relationships/slideLayout" Target="../slideLayouts/slideLayout240.xml"/><Relationship Id="rId112" Type="http://schemas.openxmlformats.org/officeDocument/2006/relationships/slideLayout" Target="../slideLayouts/slideLayout263.xml"/><Relationship Id="rId133" Type="http://schemas.openxmlformats.org/officeDocument/2006/relationships/slideLayout" Target="../slideLayouts/slideLayout284.xml"/><Relationship Id="rId16" Type="http://schemas.openxmlformats.org/officeDocument/2006/relationships/slideLayout" Target="../slideLayouts/slideLayout167.xml"/><Relationship Id="rId37" Type="http://schemas.openxmlformats.org/officeDocument/2006/relationships/slideLayout" Target="../slideLayouts/slideLayout188.xml"/><Relationship Id="rId58" Type="http://schemas.openxmlformats.org/officeDocument/2006/relationships/slideLayout" Target="../slideLayouts/slideLayout209.xml"/><Relationship Id="rId79" Type="http://schemas.openxmlformats.org/officeDocument/2006/relationships/slideLayout" Target="../slideLayouts/slideLayout230.xml"/><Relationship Id="rId102" Type="http://schemas.openxmlformats.org/officeDocument/2006/relationships/slideLayout" Target="../slideLayouts/slideLayout253.xml"/><Relationship Id="rId123" Type="http://schemas.openxmlformats.org/officeDocument/2006/relationships/slideLayout" Target="../slideLayouts/slideLayout274.xml"/><Relationship Id="rId144" Type="http://schemas.openxmlformats.org/officeDocument/2006/relationships/slideLayout" Target="../slideLayouts/slideLayout295.xml"/><Relationship Id="rId90" Type="http://schemas.openxmlformats.org/officeDocument/2006/relationships/slideLayout" Target="../slideLayouts/slideLayout2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55671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5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199871" y="6442615"/>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a:off x="7733142" y="646451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flipH="1">
            <a:off x="723901" y="6577201"/>
            <a:ext cx="9287417" cy="0"/>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2030511"/>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 id="2147483840" r:id="rId28"/>
    <p:sldLayoutId id="2147483841" r:id="rId29"/>
    <p:sldLayoutId id="2147483842" r:id="rId30"/>
    <p:sldLayoutId id="2147483843" r:id="rId31"/>
    <p:sldLayoutId id="2147483844" r:id="rId32"/>
    <p:sldLayoutId id="2147483845" r:id="rId33"/>
    <p:sldLayoutId id="2147483846" r:id="rId34"/>
    <p:sldLayoutId id="2147483847" r:id="rId35"/>
    <p:sldLayoutId id="2147483848" r:id="rId36"/>
    <p:sldLayoutId id="2147483849" r:id="rId37"/>
    <p:sldLayoutId id="2147483850" r:id="rId38"/>
    <p:sldLayoutId id="2147483851" r:id="rId39"/>
    <p:sldLayoutId id="2147483852" r:id="rId40"/>
    <p:sldLayoutId id="2147483853" r:id="rId41"/>
    <p:sldLayoutId id="2147483854" r:id="rId42"/>
    <p:sldLayoutId id="2147483855" r:id="rId43"/>
    <p:sldLayoutId id="2147483856" r:id="rId44"/>
    <p:sldLayoutId id="2147483857" r:id="rId45"/>
    <p:sldLayoutId id="2147483858" r:id="rId46"/>
    <p:sldLayoutId id="2147483859" r:id="rId47"/>
    <p:sldLayoutId id="2147483860" r:id="rId48"/>
    <p:sldLayoutId id="2147483861" r:id="rId49"/>
    <p:sldLayoutId id="2147483862" r:id="rId50"/>
    <p:sldLayoutId id="2147483863" r:id="rId51"/>
    <p:sldLayoutId id="2147483864" r:id="rId52"/>
    <p:sldLayoutId id="2147483865" r:id="rId53"/>
    <p:sldLayoutId id="2147483866" r:id="rId54"/>
    <p:sldLayoutId id="2147483867" r:id="rId55"/>
    <p:sldLayoutId id="2147483868" r:id="rId56"/>
    <p:sldLayoutId id="2147483869" r:id="rId57"/>
    <p:sldLayoutId id="2147483870" r:id="rId58"/>
    <p:sldLayoutId id="2147483871" r:id="rId59"/>
    <p:sldLayoutId id="2147483872" r:id="rId60"/>
    <p:sldLayoutId id="2147483873" r:id="rId61"/>
    <p:sldLayoutId id="2147483874" r:id="rId62"/>
    <p:sldLayoutId id="2147483875" r:id="rId63"/>
    <p:sldLayoutId id="2147483876" r:id="rId64"/>
    <p:sldLayoutId id="2147483877" r:id="rId65"/>
    <p:sldLayoutId id="2147483878" r:id="rId66"/>
    <p:sldLayoutId id="2147483879" r:id="rId67"/>
    <p:sldLayoutId id="2147483880" r:id="rId68"/>
    <p:sldLayoutId id="2147483881" r:id="rId69"/>
    <p:sldLayoutId id="2147483882" r:id="rId70"/>
    <p:sldLayoutId id="2147483883" r:id="rId71"/>
    <p:sldLayoutId id="2147483884" r:id="rId72"/>
    <p:sldLayoutId id="2147483885" r:id="rId73"/>
    <p:sldLayoutId id="2147483886" r:id="rId74"/>
    <p:sldLayoutId id="2147483887" r:id="rId75"/>
    <p:sldLayoutId id="2147483888" r:id="rId76"/>
    <p:sldLayoutId id="2147483889" r:id="rId77"/>
    <p:sldLayoutId id="2147483890" r:id="rId78"/>
    <p:sldLayoutId id="2147483891" r:id="rId79"/>
    <p:sldLayoutId id="2147483892" r:id="rId80"/>
    <p:sldLayoutId id="2147483893" r:id="rId81"/>
    <p:sldLayoutId id="2147483894" r:id="rId82"/>
    <p:sldLayoutId id="2147483895" r:id="rId83"/>
    <p:sldLayoutId id="2147483896" r:id="rId84"/>
    <p:sldLayoutId id="2147483897" r:id="rId85"/>
    <p:sldLayoutId id="2147483898" r:id="rId86"/>
    <p:sldLayoutId id="2147483899" r:id="rId87"/>
    <p:sldLayoutId id="2147483900" r:id="rId88"/>
    <p:sldLayoutId id="2147483901" r:id="rId89"/>
    <p:sldLayoutId id="2147483902" r:id="rId90"/>
    <p:sldLayoutId id="2147483903" r:id="rId91"/>
    <p:sldLayoutId id="2147483904" r:id="rId92"/>
    <p:sldLayoutId id="2147483905" r:id="rId93"/>
    <p:sldLayoutId id="2147483906" r:id="rId94"/>
    <p:sldLayoutId id="2147483907" r:id="rId95"/>
    <p:sldLayoutId id="2147483908" r:id="rId96"/>
    <p:sldLayoutId id="2147483909" r:id="rId97"/>
    <p:sldLayoutId id="2147483910" r:id="rId98"/>
    <p:sldLayoutId id="2147483911" r:id="rId99"/>
    <p:sldLayoutId id="2147483912" r:id="rId100"/>
    <p:sldLayoutId id="2147483913" r:id="rId101"/>
    <p:sldLayoutId id="2147483914" r:id="rId102"/>
    <p:sldLayoutId id="2147483915" r:id="rId103"/>
    <p:sldLayoutId id="2147483916" r:id="rId104"/>
    <p:sldLayoutId id="2147483917" r:id="rId105"/>
    <p:sldLayoutId id="2147483918" r:id="rId106"/>
    <p:sldLayoutId id="2147483919" r:id="rId107"/>
    <p:sldLayoutId id="2147483920" r:id="rId108"/>
    <p:sldLayoutId id="2147483921" r:id="rId109"/>
    <p:sldLayoutId id="2147483922" r:id="rId110"/>
    <p:sldLayoutId id="2147483923" r:id="rId111"/>
    <p:sldLayoutId id="2147483924" r:id="rId112"/>
    <p:sldLayoutId id="2147483925" r:id="rId113"/>
    <p:sldLayoutId id="2147483926" r:id="rId114"/>
    <p:sldLayoutId id="2147483927" r:id="rId115"/>
    <p:sldLayoutId id="2147483928" r:id="rId116"/>
    <p:sldLayoutId id="2147483929" r:id="rId117"/>
    <p:sldLayoutId id="2147483930" r:id="rId118"/>
    <p:sldLayoutId id="2147483931" r:id="rId119"/>
    <p:sldLayoutId id="2147483932" r:id="rId120"/>
    <p:sldLayoutId id="2147483933" r:id="rId121"/>
    <p:sldLayoutId id="2147483934" r:id="rId122"/>
    <p:sldLayoutId id="2147483935" r:id="rId123"/>
    <p:sldLayoutId id="2147483936" r:id="rId124"/>
    <p:sldLayoutId id="2147483937" r:id="rId125"/>
    <p:sldLayoutId id="2147483938" r:id="rId126"/>
    <p:sldLayoutId id="2147483939" r:id="rId127"/>
    <p:sldLayoutId id="2147483940" r:id="rId128"/>
    <p:sldLayoutId id="2147483941" r:id="rId129"/>
    <p:sldLayoutId id="2147483942" r:id="rId130"/>
    <p:sldLayoutId id="2147483943" r:id="rId131"/>
    <p:sldLayoutId id="2147483944" r:id="rId132"/>
    <p:sldLayoutId id="2147483945" r:id="rId133"/>
    <p:sldLayoutId id="2147483946" r:id="rId134"/>
    <p:sldLayoutId id="2147483947" r:id="rId135"/>
    <p:sldLayoutId id="2147483948" r:id="rId136"/>
    <p:sldLayoutId id="2147483949" r:id="rId137"/>
    <p:sldLayoutId id="2147483950" r:id="rId138"/>
    <p:sldLayoutId id="2147483951" r:id="rId139"/>
    <p:sldLayoutId id="2147483952" r:id="rId140"/>
    <p:sldLayoutId id="2147483953" r:id="rId141"/>
    <p:sldLayoutId id="2147483954" r:id="rId142"/>
    <p:sldLayoutId id="2147483955" r:id="rId143"/>
    <p:sldLayoutId id="2147483956" r:id="rId144"/>
    <p:sldLayoutId id="2147483957" r:id="rId145"/>
    <p:sldLayoutId id="2147483958" r:id="rId146"/>
    <p:sldLayoutId id="2147483959" r:id="rId147"/>
    <p:sldLayoutId id="2147483960" r:id="rId148"/>
    <p:sldLayoutId id="2147483961" r:id="rId149"/>
    <p:sldLayoutId id="2147483962" r:id="rId150"/>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xml"/><Relationship Id="rId1" Type="http://schemas.openxmlformats.org/officeDocument/2006/relationships/slideLayout" Target="../slideLayouts/slideLayout151.xml"/><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0.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8DF5F-D3B7-601F-8348-1A3629F1DC69}"/>
              </a:ext>
            </a:extLst>
          </p:cNvPr>
          <p:cNvSpPr>
            <a:spLocks noGrp="1"/>
          </p:cNvSpPr>
          <p:nvPr>
            <p:ph type="title"/>
          </p:nvPr>
        </p:nvSpPr>
        <p:spPr>
          <a:xfrm>
            <a:off x="1005840" y="2194560"/>
            <a:ext cx="6967015" cy="1364723"/>
          </a:xfrm>
        </p:spPr>
        <p:txBody>
          <a:bodyPr lIns="0" tIns="60960" rIns="0" bIns="60960" anchor="b"/>
          <a:lstStyle/>
          <a:p>
            <a:r>
              <a:rPr lang="en-US" dirty="0"/>
              <a:t>Segmentation and Scoring Application</a:t>
            </a:r>
            <a:endParaRPr lang="en-US" dirty="0">
              <a:latin typeface="Arial"/>
              <a:cs typeface="Arial"/>
            </a:endParaRPr>
          </a:p>
        </p:txBody>
      </p:sp>
      <p:sp>
        <p:nvSpPr>
          <p:cNvPr id="5" name="Text Placeholder 4">
            <a:extLst>
              <a:ext uri="{FF2B5EF4-FFF2-40B4-BE49-F238E27FC236}">
                <a16:creationId xmlns:a16="http://schemas.microsoft.com/office/drawing/2014/main" id="{CD5CE04E-E27D-4ABD-903A-C82FE87E2C62}"/>
              </a:ext>
            </a:extLst>
          </p:cNvPr>
          <p:cNvSpPr>
            <a:spLocks noGrp="1"/>
          </p:cNvSpPr>
          <p:nvPr>
            <p:ph type="body" sz="quarter" idx="10"/>
          </p:nvPr>
        </p:nvSpPr>
        <p:spPr>
          <a:xfrm>
            <a:off x="7684652" y="5976543"/>
            <a:ext cx="3330680" cy="751961"/>
          </a:xfrm>
        </p:spPr>
        <p:txBody>
          <a:bodyPr lIns="0" tIns="45720" rIns="91440" bIns="45720" anchor="t"/>
          <a:lstStyle/>
          <a:p>
            <a:r>
              <a:rPr lang="en-US">
                <a:latin typeface="Arial"/>
                <a:cs typeface="Arial"/>
              </a:rPr>
              <a:t>Application Version 2.0</a:t>
            </a:r>
            <a:endParaRPr lang="en-US" dirty="0"/>
          </a:p>
          <a:p>
            <a:r>
              <a:rPr lang="en-US">
                <a:latin typeface="Arial"/>
                <a:cs typeface="Arial"/>
              </a:rPr>
              <a:t>Last Updated February 2026</a:t>
            </a:r>
            <a:endParaRPr lang="en-US"/>
          </a:p>
        </p:txBody>
      </p:sp>
      <p:sp>
        <p:nvSpPr>
          <p:cNvPr id="6" name="Title 1">
            <a:extLst>
              <a:ext uri="{FF2B5EF4-FFF2-40B4-BE49-F238E27FC236}">
                <a16:creationId xmlns:a16="http://schemas.microsoft.com/office/drawing/2014/main" id="{905522DA-573B-CBDA-3D71-0D1FBE0D55B9}"/>
              </a:ext>
            </a:extLst>
          </p:cNvPr>
          <p:cNvSpPr txBox="1">
            <a:spLocks/>
          </p:cNvSpPr>
          <p:nvPr/>
        </p:nvSpPr>
        <p:spPr>
          <a:xfrm>
            <a:off x="1005839" y="3429000"/>
            <a:ext cx="6967015" cy="751961"/>
          </a:xfrm>
          <a:prstGeom prst="rect">
            <a:avLst/>
          </a:prstGeom>
        </p:spPr>
        <p:txBody>
          <a:bodyPr lIns="0" tIns="60960" rIns="0" bIns="60960" anchor="b"/>
          <a:lstStyle>
            <a:lvl1pPr algn="l" defTabSz="1219170" rtl="0" eaLnBrk="1" latinLnBrk="0" hangingPunct="1">
              <a:spcBef>
                <a:spcPct val="0"/>
              </a:spcBef>
              <a:buNone/>
              <a:defRPr sz="4267" b="0" i="0" kern="120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US" sz="3200" dirty="0">
                <a:solidFill>
                  <a:schemeClr val="accent1"/>
                </a:solidFill>
              </a:rPr>
              <a:t>Functional Overview</a:t>
            </a:r>
            <a:endParaRPr lang="en-US" sz="3200" dirty="0">
              <a:solidFill>
                <a:schemeClr val="accent1"/>
              </a:solidFill>
              <a:latin typeface="Arial"/>
              <a:cs typeface="Arial"/>
            </a:endParaRPr>
          </a:p>
        </p:txBody>
      </p:sp>
    </p:spTree>
    <p:extLst>
      <p:ext uri="{BB962C8B-B14F-4D97-AF65-F5344CB8AC3E}">
        <p14:creationId xmlns:p14="http://schemas.microsoft.com/office/powerpoint/2010/main" val="1299184810"/>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5205-17F1-50C6-D18A-3756891D0265}"/>
              </a:ext>
            </a:extLst>
          </p:cNvPr>
          <p:cNvSpPr>
            <a:spLocks noGrp="1"/>
          </p:cNvSpPr>
          <p:nvPr>
            <p:ph type="title"/>
          </p:nvPr>
        </p:nvSpPr>
        <p:spPr/>
        <p:txBody>
          <a:bodyPr lIns="0" tIns="60960" rIns="0" bIns="60960" anchor="t"/>
          <a:lstStyle/>
          <a:p>
            <a:r>
              <a:rPr lang="en-US">
                <a:latin typeface="Arial"/>
                <a:cs typeface="Arial"/>
              </a:rPr>
              <a:t>Segmentation and Scoring Application</a:t>
            </a:r>
          </a:p>
        </p:txBody>
      </p:sp>
      <p:sp>
        <p:nvSpPr>
          <p:cNvPr id="16" name="Content Placeholder 15">
            <a:extLst>
              <a:ext uri="{FF2B5EF4-FFF2-40B4-BE49-F238E27FC236}">
                <a16:creationId xmlns:a16="http://schemas.microsoft.com/office/drawing/2014/main" id="{FE5BE1E9-0A81-AE18-E46D-58F49F282616}"/>
              </a:ext>
            </a:extLst>
          </p:cNvPr>
          <p:cNvSpPr>
            <a:spLocks noGrp="1"/>
          </p:cNvSpPr>
          <p:nvPr>
            <p:ph idx="11"/>
          </p:nvPr>
        </p:nvSpPr>
        <p:spPr/>
        <p:txBody>
          <a:bodyPr lIns="0" tIns="60960" rIns="0" bIns="60960" anchor="t"/>
          <a:lstStyle/>
          <a:p>
            <a:pPr marL="0" indent="0">
              <a:buNone/>
            </a:pPr>
            <a:r>
              <a:rPr lang="en-US" sz="1600" b="1">
                <a:solidFill>
                  <a:schemeClr val="accent1"/>
                </a:solidFill>
                <a:latin typeface="Arial"/>
                <a:cs typeface="Arial"/>
              </a:rPr>
              <a:t>OVERVIEW</a:t>
            </a:r>
            <a:endParaRPr lang="en-US" sz="1600">
              <a:solidFill>
                <a:schemeClr val="accent1"/>
              </a:solidFill>
              <a:latin typeface="Arial"/>
              <a:cs typeface="Arial"/>
            </a:endParaRPr>
          </a:p>
          <a:p>
            <a:pPr marL="0" indent="0">
              <a:buNone/>
            </a:pPr>
            <a:r>
              <a:rPr lang="en-US" sz="1450" dirty="0">
                <a:latin typeface="Arial"/>
                <a:cs typeface="Arial"/>
              </a:rPr>
              <a:t>Anaplan's Segmentation and Scoring Application helps organizations identify high-revenue opportunities, optimize go-to-market strategies, and allocate investments effectively to increase productivity, maximize revenue, and reduce operational costs and risk.</a:t>
            </a:r>
          </a:p>
          <a:p>
            <a:pPr marL="0" indent="0">
              <a:buNone/>
            </a:pPr>
            <a:endParaRPr lang="en-US" sz="1600"/>
          </a:p>
          <a:p>
            <a:pPr marL="0" indent="0">
              <a:buNone/>
            </a:pPr>
            <a:r>
              <a:rPr lang="en-US" sz="1600" b="1">
                <a:solidFill>
                  <a:schemeClr val="accent1"/>
                </a:solidFill>
                <a:latin typeface="Arial"/>
                <a:cs typeface="Arial"/>
              </a:rPr>
              <a:t>KEY CAPABILITIES</a:t>
            </a:r>
          </a:p>
          <a:p>
            <a:pPr marL="232410" indent="-232410"/>
            <a:r>
              <a:rPr lang="en-US" sz="1467">
                <a:latin typeface="Arial"/>
                <a:cs typeface="Arial"/>
              </a:rPr>
              <a:t>Holistic </a:t>
            </a:r>
            <a:r>
              <a:rPr lang="en-US" sz="1467" b="1">
                <a:latin typeface="Arial"/>
                <a:cs typeface="Arial"/>
              </a:rPr>
              <a:t>market analysis </a:t>
            </a:r>
            <a:r>
              <a:rPr lang="en-US" sz="1467">
                <a:latin typeface="Arial"/>
                <a:cs typeface="Arial"/>
              </a:rPr>
              <a:t>across segments, products, and services.</a:t>
            </a:r>
          </a:p>
          <a:p>
            <a:pPr marL="232410" indent="-232410"/>
            <a:r>
              <a:rPr lang="en-US" sz="1467" b="1">
                <a:latin typeface="Arial"/>
                <a:cs typeface="Arial"/>
              </a:rPr>
              <a:t>Ideal customer profile </a:t>
            </a:r>
            <a:r>
              <a:rPr lang="en-US" sz="1467">
                <a:latin typeface="Arial"/>
                <a:cs typeface="Arial"/>
              </a:rPr>
              <a:t>planning to normalize account planning data and sub-segmentations across teams.</a:t>
            </a:r>
            <a:endParaRPr lang="en-US" sz="1467">
              <a:solidFill>
                <a:srgbClr val="0A2F46"/>
              </a:solidFill>
              <a:latin typeface="Arial"/>
              <a:cs typeface="Arial"/>
            </a:endParaRPr>
          </a:p>
          <a:p>
            <a:pPr marL="232410" indent="-232410"/>
            <a:r>
              <a:rPr lang="en-US" sz="1450" b="1" dirty="0">
                <a:latin typeface="Arial"/>
                <a:cs typeface="Arial"/>
              </a:rPr>
              <a:t>Top-down market siz</a:t>
            </a:r>
            <a:r>
              <a:rPr lang="en-US" sz="1450" dirty="0">
                <a:latin typeface="Arial"/>
                <a:cs typeface="Arial"/>
              </a:rPr>
              <a:t>ing to identify remaining wallet share and optimal go-to-market strategies</a:t>
            </a:r>
          </a:p>
          <a:p>
            <a:pPr marL="232410" indent="-232410"/>
            <a:r>
              <a:rPr lang="en-US" sz="1467">
                <a:latin typeface="Arial"/>
                <a:cs typeface="Arial"/>
              </a:rPr>
              <a:t>Rule-based and account segmentation and scoring to prioritize the right customers.</a:t>
            </a:r>
            <a:endParaRPr lang="en-US" sz="1467"/>
          </a:p>
          <a:p>
            <a:pPr marL="232410" indent="-232410"/>
            <a:r>
              <a:rPr lang="en-US" sz="1450">
                <a:latin typeface="Arial"/>
                <a:cs typeface="Arial"/>
              </a:rPr>
              <a:t>Scenario-based </a:t>
            </a:r>
            <a:r>
              <a:rPr lang="en-US" sz="1450" b="1">
                <a:latin typeface="Arial"/>
                <a:cs typeface="Arial"/>
              </a:rPr>
              <a:t>GTM hierarchy planning </a:t>
            </a:r>
            <a:r>
              <a:rPr lang="en-US" sz="1450">
                <a:latin typeface="Arial"/>
                <a:cs typeface="Arial"/>
              </a:rPr>
              <a:t>to model next year's GTM coverage model</a:t>
            </a:r>
            <a:endParaRPr lang="en-US" sz="1450" dirty="0">
              <a:latin typeface="Arial"/>
              <a:cs typeface="Arial"/>
            </a:endParaRPr>
          </a:p>
          <a:p>
            <a:pPr marL="232410" indent="-232410"/>
            <a:r>
              <a:rPr lang="en-US" sz="1467" b="1">
                <a:latin typeface="Arial"/>
                <a:cs typeface="Arial"/>
              </a:rPr>
              <a:t>Embedded workflows </a:t>
            </a:r>
            <a:r>
              <a:rPr lang="en-US" sz="1467">
                <a:latin typeface="Arial"/>
                <a:cs typeface="Arial"/>
              </a:rPr>
              <a:t>to capture account knowledge, feedback, approvals, and overrides.</a:t>
            </a:r>
          </a:p>
        </p:txBody>
      </p:sp>
      <p:pic>
        <p:nvPicPr>
          <p:cNvPr id="24" name="Picture 23" descr="A screenshot of a computer screen&#10;&#10;AI-generated content may be incorrect.">
            <a:extLst>
              <a:ext uri="{FF2B5EF4-FFF2-40B4-BE49-F238E27FC236}">
                <a16:creationId xmlns:a16="http://schemas.microsoft.com/office/drawing/2014/main" id="{E26C4911-32BB-5AF4-3885-E04A3811C1EE}"/>
              </a:ext>
            </a:extLst>
          </p:cNvPr>
          <p:cNvPicPr>
            <a:picLocks noChangeAspect="1"/>
          </p:cNvPicPr>
          <p:nvPr/>
        </p:nvPicPr>
        <p:blipFill>
          <a:blip r:embed="rId3"/>
          <a:stretch>
            <a:fillRect/>
          </a:stretch>
        </p:blipFill>
        <p:spPr>
          <a:xfrm>
            <a:off x="5991973" y="1675790"/>
            <a:ext cx="5438027" cy="2453300"/>
          </a:xfrm>
          <a:prstGeom prst="rect">
            <a:avLst/>
          </a:prstGeom>
        </p:spPr>
      </p:pic>
    </p:spTree>
    <p:extLst>
      <p:ext uri="{BB962C8B-B14F-4D97-AF65-F5344CB8AC3E}">
        <p14:creationId xmlns:p14="http://schemas.microsoft.com/office/powerpoint/2010/main" val="988047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07220-72B3-FBB2-C31B-CF784FA4D323}"/>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0026CC86-ACC8-CAC2-956A-B7D30909DE73}"/>
              </a:ext>
            </a:extLst>
          </p:cNvPr>
          <p:cNvSpPr/>
          <p:nvPr/>
        </p:nvSpPr>
        <p:spPr>
          <a:xfrm>
            <a:off x="2198394" y="1954703"/>
            <a:ext cx="5335196" cy="70713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16" name="Rounded Rectangle 15">
            <a:extLst>
              <a:ext uri="{FF2B5EF4-FFF2-40B4-BE49-F238E27FC236}">
                <a16:creationId xmlns:a16="http://schemas.microsoft.com/office/drawing/2014/main" id="{6F945A39-24B0-2F75-F81F-884C74CEBBD8}"/>
              </a:ext>
            </a:extLst>
          </p:cNvPr>
          <p:cNvSpPr/>
          <p:nvPr/>
        </p:nvSpPr>
        <p:spPr>
          <a:xfrm>
            <a:off x="2198394" y="2750172"/>
            <a:ext cx="5335196" cy="70713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CF26E10B-A163-C47C-8BA6-24EE33F78342}"/>
              </a:ext>
            </a:extLst>
          </p:cNvPr>
          <p:cNvSpPr/>
          <p:nvPr/>
        </p:nvSpPr>
        <p:spPr>
          <a:xfrm>
            <a:off x="2198394" y="3545641"/>
            <a:ext cx="5335196" cy="70713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825CE5E9-AC37-9E40-2D4F-A38A7EF9BEB8}"/>
              </a:ext>
            </a:extLst>
          </p:cNvPr>
          <p:cNvSpPr/>
          <p:nvPr/>
        </p:nvSpPr>
        <p:spPr>
          <a:xfrm>
            <a:off x="2198394" y="4341111"/>
            <a:ext cx="5335196" cy="70713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F0002391-10C6-1CB3-A282-381F987DDBBC}"/>
              </a:ext>
            </a:extLst>
          </p:cNvPr>
          <p:cNvSpPr/>
          <p:nvPr/>
        </p:nvSpPr>
        <p:spPr>
          <a:xfrm>
            <a:off x="2198394" y="5136580"/>
            <a:ext cx="5335196" cy="70713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43" name="Rounded Rectangle 2">
            <a:extLst>
              <a:ext uri="{FF2B5EF4-FFF2-40B4-BE49-F238E27FC236}">
                <a16:creationId xmlns:a16="http://schemas.microsoft.com/office/drawing/2014/main" id="{A1C9BEC9-45E0-525B-0FC4-FDCA271D21D9}"/>
              </a:ext>
            </a:extLst>
          </p:cNvPr>
          <p:cNvSpPr/>
          <p:nvPr/>
        </p:nvSpPr>
        <p:spPr>
          <a:xfrm>
            <a:off x="2198394" y="5932050"/>
            <a:ext cx="5335196" cy="700628"/>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3" name="Rounded Rectangle 2">
            <a:extLst>
              <a:ext uri="{FF2B5EF4-FFF2-40B4-BE49-F238E27FC236}">
                <a16:creationId xmlns:a16="http://schemas.microsoft.com/office/drawing/2014/main" id="{BD067DF0-B32D-040A-81C2-7B7D01AAF1CF}"/>
              </a:ext>
            </a:extLst>
          </p:cNvPr>
          <p:cNvSpPr/>
          <p:nvPr/>
        </p:nvSpPr>
        <p:spPr>
          <a:xfrm>
            <a:off x="2198394" y="1159233"/>
            <a:ext cx="5335196" cy="70713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47" name="TextBox 46">
            <a:extLst>
              <a:ext uri="{FF2B5EF4-FFF2-40B4-BE49-F238E27FC236}">
                <a16:creationId xmlns:a16="http://schemas.microsoft.com/office/drawing/2014/main" id="{8A0AF08E-5430-1F80-70F7-BB822319E019}"/>
              </a:ext>
            </a:extLst>
          </p:cNvPr>
          <p:cNvSpPr txBox="1"/>
          <p:nvPr/>
        </p:nvSpPr>
        <p:spPr>
          <a:xfrm>
            <a:off x="2552080" y="1256320"/>
            <a:ext cx="4981509" cy="492443"/>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fontAlgn="base"/>
            <a:r>
              <a:rPr lang="en-US" sz="1333" b="1">
                <a:solidFill>
                  <a:srgbClr val="0A2F46">
                    <a:lumMod val="75000"/>
                    <a:lumOff val="25000"/>
                  </a:srgbClr>
                </a:solidFill>
              </a:rPr>
              <a:t>Market Analysis</a:t>
            </a:r>
            <a:endParaRPr lang="en-US" sz="1200">
              <a:solidFill>
                <a:srgbClr val="0A2F46">
                  <a:lumMod val="75000"/>
                  <a:lumOff val="25000"/>
                </a:srgbClr>
              </a:solidFill>
            </a:endParaRPr>
          </a:p>
          <a:p>
            <a:pPr defTabSz="1219110"/>
            <a:r>
              <a:rPr lang="en-US" sz="1067">
                <a:solidFill>
                  <a:srgbClr val="0A2F46"/>
                </a:solidFill>
              </a:rPr>
              <a:t>Analysis of GTM, country, product, and service performance and tiers</a:t>
            </a:r>
            <a:endParaRPr lang="en-US" sz="1067">
              <a:solidFill>
                <a:srgbClr val="0A2F46"/>
              </a:solidFill>
              <a:latin typeface="Arial" panose="020B0604020202020204" pitchFamily="34" charset="0"/>
              <a:cs typeface="Arial" panose="020B0604020202020204" pitchFamily="34" charset="0"/>
            </a:endParaRPr>
          </a:p>
        </p:txBody>
      </p:sp>
      <p:grpSp>
        <p:nvGrpSpPr>
          <p:cNvPr id="48" name="Group 47">
            <a:extLst>
              <a:ext uri="{FF2B5EF4-FFF2-40B4-BE49-F238E27FC236}">
                <a16:creationId xmlns:a16="http://schemas.microsoft.com/office/drawing/2014/main" id="{BADA7DAB-756A-ABC5-0673-40BA1CFCAFC0}"/>
              </a:ext>
            </a:extLst>
          </p:cNvPr>
          <p:cNvGrpSpPr>
            <a:grpSpLocks noChangeAspect="1"/>
          </p:cNvGrpSpPr>
          <p:nvPr/>
        </p:nvGrpSpPr>
        <p:grpSpPr>
          <a:xfrm>
            <a:off x="179110" y="2900761"/>
            <a:ext cx="1640567" cy="1219200"/>
            <a:chOff x="1505373" y="1481418"/>
            <a:chExt cx="2536935" cy="1885341"/>
          </a:xfrm>
        </p:grpSpPr>
        <p:sp>
          <p:nvSpPr>
            <p:cNvPr id="49" name="Freeform 48">
              <a:extLst>
                <a:ext uri="{FF2B5EF4-FFF2-40B4-BE49-F238E27FC236}">
                  <a16:creationId xmlns:a16="http://schemas.microsoft.com/office/drawing/2014/main" id="{C151BC9A-2C20-3323-11FE-8A4D9D0BFA37}"/>
                </a:ext>
              </a:extLst>
            </p:cNvPr>
            <p:cNvSpPr>
              <a:spLocks noChangeAspect="1"/>
            </p:cNvSpPr>
            <p:nvPr/>
          </p:nvSpPr>
          <p:spPr>
            <a:xfrm>
              <a:off x="1505373" y="1816043"/>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1">
                <a:lumMod val="50000"/>
                <a:lumOff val="5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0" name="Freeform 49">
              <a:extLst>
                <a:ext uri="{FF2B5EF4-FFF2-40B4-BE49-F238E27FC236}">
                  <a16:creationId xmlns:a16="http://schemas.microsoft.com/office/drawing/2014/main" id="{20B7887B-F1C5-CC16-DB98-BEC2B48E3AB5}"/>
                </a:ext>
              </a:extLst>
            </p:cNvPr>
            <p:cNvSpPr>
              <a:spLocks noChangeAspect="1"/>
            </p:cNvSpPr>
            <p:nvPr/>
          </p:nvSpPr>
          <p:spPr>
            <a:xfrm>
              <a:off x="2099019"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1" name="Freeform 50">
              <a:extLst>
                <a:ext uri="{FF2B5EF4-FFF2-40B4-BE49-F238E27FC236}">
                  <a16:creationId xmlns:a16="http://schemas.microsoft.com/office/drawing/2014/main" id="{BBD5E802-917C-FBAF-00C3-9410B711D2A1}"/>
                </a:ext>
              </a:extLst>
            </p:cNvPr>
            <p:cNvSpPr>
              <a:spLocks noChangeAspect="1"/>
            </p:cNvSpPr>
            <p:nvPr/>
          </p:nvSpPr>
          <p:spPr>
            <a:xfrm>
              <a:off x="2099019" y="1481418"/>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2" name="Freeform 51">
              <a:extLst>
                <a:ext uri="{FF2B5EF4-FFF2-40B4-BE49-F238E27FC236}">
                  <a16:creationId xmlns:a16="http://schemas.microsoft.com/office/drawing/2014/main" id="{BE695CCF-8213-A86C-CF6F-797B2ADEC1B5}"/>
                </a:ext>
              </a:extLst>
            </p:cNvPr>
            <p:cNvSpPr>
              <a:spLocks noChangeAspect="1"/>
            </p:cNvSpPr>
            <p:nvPr/>
          </p:nvSpPr>
          <p:spPr>
            <a:xfrm>
              <a:off x="1509561" y="249040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3" name="Freeform 52">
              <a:extLst>
                <a:ext uri="{FF2B5EF4-FFF2-40B4-BE49-F238E27FC236}">
                  <a16:creationId xmlns:a16="http://schemas.microsoft.com/office/drawing/2014/main" id="{E6B60935-23EC-3AAA-FE94-5242D16420D8}"/>
                </a:ext>
              </a:extLst>
            </p:cNvPr>
            <p:cNvSpPr>
              <a:spLocks noChangeAspect="1"/>
            </p:cNvSpPr>
            <p:nvPr/>
          </p:nvSpPr>
          <p:spPr>
            <a:xfrm>
              <a:off x="2692005" y="1821847"/>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54" name="Freeform 53">
              <a:extLst>
                <a:ext uri="{FF2B5EF4-FFF2-40B4-BE49-F238E27FC236}">
                  <a16:creationId xmlns:a16="http://schemas.microsoft.com/office/drawing/2014/main" id="{B567F7A8-3F3F-A2B5-C22B-D734B856B82C}"/>
                </a:ext>
              </a:extLst>
            </p:cNvPr>
            <p:cNvSpPr>
              <a:spLocks noChangeAspect="1"/>
            </p:cNvSpPr>
            <p:nvPr/>
          </p:nvSpPr>
          <p:spPr>
            <a:xfrm>
              <a:off x="3286311"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067"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nvGrpSpPr>
            <p:cNvPr id="55" name="Group 54">
              <a:extLst>
                <a:ext uri="{FF2B5EF4-FFF2-40B4-BE49-F238E27FC236}">
                  <a16:creationId xmlns:a16="http://schemas.microsoft.com/office/drawing/2014/main" id="{E9304182-E006-D9A0-3FFD-5B406F33C927}"/>
                </a:ext>
              </a:extLst>
            </p:cNvPr>
            <p:cNvGrpSpPr/>
            <p:nvPr/>
          </p:nvGrpSpPr>
          <p:grpSpPr>
            <a:xfrm>
              <a:off x="2328356" y="2360919"/>
              <a:ext cx="1119646" cy="1005840"/>
              <a:chOff x="2890777" y="3439515"/>
              <a:chExt cx="1119646" cy="1005840"/>
            </a:xfrm>
          </p:grpSpPr>
          <p:sp>
            <p:nvSpPr>
              <p:cNvPr id="56" name="Rounded Rectangle 55">
                <a:extLst>
                  <a:ext uri="{FF2B5EF4-FFF2-40B4-BE49-F238E27FC236}">
                    <a16:creationId xmlns:a16="http://schemas.microsoft.com/office/drawing/2014/main" id="{84CC7704-8EF2-F4A7-5C65-D41F9B40A857}"/>
                  </a:ext>
                </a:extLst>
              </p:cNvPr>
              <p:cNvSpPr>
                <a:spLocks noChangeAspect="1"/>
              </p:cNvSpPr>
              <p:nvPr/>
            </p:nvSpPr>
            <p:spPr>
              <a:xfrm>
                <a:off x="2890777" y="3439515"/>
                <a:ext cx="1119646" cy="1005840"/>
              </a:xfrm>
              <a:prstGeom prst="roundRect">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57" name="Graphic 56" descr="Packing Box Open outline">
                <a:extLst>
                  <a:ext uri="{FF2B5EF4-FFF2-40B4-BE49-F238E27FC236}">
                    <a16:creationId xmlns:a16="http://schemas.microsoft.com/office/drawing/2014/main" id="{F85FB4F5-DC34-D4AD-D9EF-A29EE861F0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9264" y="3519819"/>
                <a:ext cx="850392" cy="850392"/>
              </a:xfrm>
              <a:prstGeom prst="rect">
                <a:avLst/>
              </a:prstGeom>
            </p:spPr>
          </p:pic>
        </p:grpSp>
      </p:grpSp>
      <p:sp>
        <p:nvSpPr>
          <p:cNvPr id="62" name="Oval 61">
            <a:extLst>
              <a:ext uri="{FF2B5EF4-FFF2-40B4-BE49-F238E27FC236}">
                <a16:creationId xmlns:a16="http://schemas.microsoft.com/office/drawing/2014/main" id="{1DA86FA1-AFBD-9D6E-19D7-BA904C1C33B4}"/>
              </a:ext>
            </a:extLst>
          </p:cNvPr>
          <p:cNvSpPr/>
          <p:nvPr/>
        </p:nvSpPr>
        <p:spPr>
          <a:xfrm>
            <a:off x="1995404" y="2076552"/>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5461A28A-08F0-43CD-C70B-8DC61B428911}"/>
              </a:ext>
            </a:extLst>
          </p:cNvPr>
          <p:cNvSpPr/>
          <p:nvPr/>
        </p:nvSpPr>
        <p:spPr>
          <a:xfrm>
            <a:off x="1995404" y="2875992"/>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66" name="Oval 65">
            <a:extLst>
              <a:ext uri="{FF2B5EF4-FFF2-40B4-BE49-F238E27FC236}">
                <a16:creationId xmlns:a16="http://schemas.microsoft.com/office/drawing/2014/main" id="{05F6891E-B891-A2F0-2815-7C630618A039}"/>
              </a:ext>
            </a:extLst>
          </p:cNvPr>
          <p:cNvSpPr/>
          <p:nvPr/>
        </p:nvSpPr>
        <p:spPr>
          <a:xfrm>
            <a:off x="1995404" y="4474872"/>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4" name="Oval 3">
            <a:extLst>
              <a:ext uri="{FF2B5EF4-FFF2-40B4-BE49-F238E27FC236}">
                <a16:creationId xmlns:a16="http://schemas.microsoft.com/office/drawing/2014/main" id="{DBF511A6-4CC3-D8AC-1A5F-9143F432FBFA}"/>
              </a:ext>
            </a:extLst>
          </p:cNvPr>
          <p:cNvSpPr/>
          <p:nvPr/>
        </p:nvSpPr>
        <p:spPr>
          <a:xfrm>
            <a:off x="1984957" y="1333648"/>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cxnSp>
        <p:nvCxnSpPr>
          <p:cNvPr id="13" name="Elbow Connector 12">
            <a:extLst>
              <a:ext uri="{FF2B5EF4-FFF2-40B4-BE49-F238E27FC236}">
                <a16:creationId xmlns:a16="http://schemas.microsoft.com/office/drawing/2014/main" id="{EDBD8EF3-469C-9EE3-EE53-8C7D3672DB7E}"/>
              </a:ext>
            </a:extLst>
          </p:cNvPr>
          <p:cNvCxnSpPr>
            <a:cxnSpLocks/>
            <a:endCxn id="4" idx="2"/>
          </p:cNvCxnSpPr>
          <p:nvPr/>
        </p:nvCxnSpPr>
        <p:spPr>
          <a:xfrm rot="5400000" flipH="1" flipV="1">
            <a:off x="740039" y="1570890"/>
            <a:ext cx="1299279" cy="1190559"/>
          </a:xfrm>
          <a:prstGeom prst="bentConnector2">
            <a:avLst/>
          </a:prstGeom>
          <a:ln w="25400" cap="rnd">
            <a:solidFill>
              <a:schemeClr val="accent1"/>
            </a:solidFill>
            <a:prstDash val="sysDash"/>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Elbow Connector 16">
            <a:extLst>
              <a:ext uri="{FF2B5EF4-FFF2-40B4-BE49-F238E27FC236}">
                <a16:creationId xmlns:a16="http://schemas.microsoft.com/office/drawing/2014/main" id="{3758CB41-1AB3-6A75-9243-B9B75C272D19}"/>
              </a:ext>
            </a:extLst>
          </p:cNvPr>
          <p:cNvCxnSpPr>
            <a:cxnSpLocks/>
            <a:stCxn id="58" idx="2"/>
          </p:cNvCxnSpPr>
          <p:nvPr/>
        </p:nvCxnSpPr>
        <p:spPr>
          <a:xfrm rot="10800000">
            <a:off x="807446" y="4209718"/>
            <a:ext cx="1192029" cy="2043561"/>
          </a:xfrm>
          <a:prstGeom prst="bentConnector2">
            <a:avLst/>
          </a:prstGeom>
          <a:ln w="25400" cap="rnd">
            <a:solidFill>
              <a:schemeClr val="accent1"/>
            </a:solidFill>
            <a:prstDash val="sysDash"/>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5F44C7E-DE78-9B47-6581-380E1FC9E9D6}"/>
              </a:ext>
            </a:extLst>
          </p:cNvPr>
          <p:cNvSpPr txBox="1"/>
          <p:nvPr/>
        </p:nvSpPr>
        <p:spPr>
          <a:xfrm>
            <a:off x="2570199" y="4630891"/>
            <a:ext cx="4786165" cy="369332"/>
          </a:xfrm>
          <a:prstGeom prst="rect">
            <a:avLst/>
          </a:prstGeom>
          <a:noFill/>
        </p:spPr>
        <p:txBody>
          <a:bodyPr wrap="square" lIns="0" tIns="0" rIns="0" bIns="0" rtlCol="0"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70">
              <a:spcBef>
                <a:spcPct val="0"/>
              </a:spcBef>
              <a:spcAft>
                <a:spcPct val="0"/>
              </a:spcAft>
              <a:buClrTx/>
              <a:buSzTx/>
              <a:buFontTx/>
              <a:buNone/>
              <a:tabLst/>
              <a:defRPr/>
            </a:pPr>
            <a:endParaRPr lang="en-US" sz="3200">
              <a:ea typeface="+mn-ea"/>
              <a:cs typeface="+mn-cs"/>
            </a:endParaRPr>
          </a:p>
        </p:txBody>
      </p:sp>
      <p:sp>
        <p:nvSpPr>
          <p:cNvPr id="25" name="Title 20">
            <a:extLst>
              <a:ext uri="{FF2B5EF4-FFF2-40B4-BE49-F238E27FC236}">
                <a16:creationId xmlns:a16="http://schemas.microsoft.com/office/drawing/2014/main" id="{004B928D-8FD6-88F1-6B6B-ECBBFACFDDCC}"/>
              </a:ext>
            </a:extLst>
          </p:cNvPr>
          <p:cNvSpPr txBox="1">
            <a:spLocks/>
          </p:cNvSpPr>
          <p:nvPr/>
        </p:nvSpPr>
        <p:spPr>
          <a:xfrm>
            <a:off x="575369" y="249291"/>
            <a:ext cx="8002692" cy="451405"/>
          </a:xfrm>
          <a:prstGeom prst="rect">
            <a:avLst/>
          </a:prstGeom>
        </p:spPr>
        <p:txBody>
          <a:bodyPr lIns="0" tIns="60960" rIns="0" bIns="6096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dirty="0">
                <a:latin typeface="Arial"/>
                <a:cs typeface="Arial"/>
              </a:rPr>
              <a:t>Anaplan Segmentation and Scoring Application</a:t>
            </a:r>
            <a:br>
              <a:rPr lang="en-US" dirty="0">
                <a:latin typeface="Arial"/>
                <a:cs typeface="Arial"/>
              </a:rPr>
            </a:br>
            <a:r>
              <a:rPr lang="en-US" sz="1850" i="1" dirty="0">
                <a:solidFill>
                  <a:schemeClr val="bg1">
                    <a:lumMod val="75000"/>
                  </a:schemeClr>
                </a:solidFill>
                <a:latin typeface="Arial"/>
                <a:cs typeface="Arial"/>
              </a:rPr>
              <a:t>Out-of-the-box</a:t>
            </a:r>
          </a:p>
        </p:txBody>
      </p:sp>
      <p:sp>
        <p:nvSpPr>
          <p:cNvPr id="44" name="Oval 43">
            <a:extLst>
              <a:ext uri="{FF2B5EF4-FFF2-40B4-BE49-F238E27FC236}">
                <a16:creationId xmlns:a16="http://schemas.microsoft.com/office/drawing/2014/main" id="{AA50220B-A0AE-7A5A-491E-919476918CB7}"/>
              </a:ext>
            </a:extLst>
          </p:cNvPr>
          <p:cNvSpPr/>
          <p:nvPr/>
        </p:nvSpPr>
        <p:spPr>
          <a:xfrm>
            <a:off x="1995404" y="3675432"/>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9E63D68E-1085-256E-AB48-FA8520DF43C0}"/>
              </a:ext>
            </a:extLst>
          </p:cNvPr>
          <p:cNvSpPr/>
          <p:nvPr/>
        </p:nvSpPr>
        <p:spPr>
          <a:xfrm>
            <a:off x="1995404" y="5274312"/>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58" name="Oval 57">
            <a:extLst>
              <a:ext uri="{FF2B5EF4-FFF2-40B4-BE49-F238E27FC236}">
                <a16:creationId xmlns:a16="http://schemas.microsoft.com/office/drawing/2014/main" id="{08936D42-0885-EC61-A0E5-293082802E23}"/>
              </a:ext>
            </a:extLst>
          </p:cNvPr>
          <p:cNvSpPr/>
          <p:nvPr/>
        </p:nvSpPr>
        <p:spPr>
          <a:xfrm>
            <a:off x="1999475" y="6070397"/>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Inter" panose="02000503000000020004" pitchFamily="2" charset="0"/>
              <a:ea typeface="Verdana" charset="0"/>
              <a:cs typeface="Arial" panose="020B0604020202020204" pitchFamily="34" charset="0"/>
            </a:endParaRPr>
          </a:p>
        </p:txBody>
      </p:sp>
      <p:sp>
        <p:nvSpPr>
          <p:cNvPr id="30" name="TextBox 29">
            <a:extLst>
              <a:ext uri="{FF2B5EF4-FFF2-40B4-BE49-F238E27FC236}">
                <a16:creationId xmlns:a16="http://schemas.microsoft.com/office/drawing/2014/main" id="{CE001F0D-F0D5-61E7-4892-114E931E3BE0}"/>
              </a:ext>
            </a:extLst>
          </p:cNvPr>
          <p:cNvSpPr txBox="1"/>
          <p:nvPr/>
        </p:nvSpPr>
        <p:spPr>
          <a:xfrm>
            <a:off x="2552081" y="6039301"/>
            <a:ext cx="4790593" cy="492443"/>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r>
              <a:rPr lang="en-US" sz="1333" b="1">
                <a:solidFill>
                  <a:srgbClr val="0A2F46">
                    <a:lumMod val="75000"/>
                    <a:lumOff val="25000"/>
                  </a:srgbClr>
                </a:solidFill>
              </a:rPr>
              <a:t>Approvals, Overrides, and Distribution</a:t>
            </a:r>
            <a:endParaRPr lang="en-US" sz="1200">
              <a:solidFill>
                <a:srgbClr val="0A2F46">
                  <a:lumMod val="75000"/>
                  <a:lumOff val="25000"/>
                </a:srgbClr>
              </a:solidFill>
            </a:endParaRPr>
          </a:p>
          <a:p>
            <a:pPr defTabSz="1219110" fontAlgn="base"/>
            <a:r>
              <a:rPr lang="en-US" sz="1067">
                <a:solidFill>
                  <a:srgbClr val="0A2F46"/>
                </a:solidFill>
              </a:rPr>
              <a:t>Gather account knowledge, feedback, and plan approvals</a:t>
            </a:r>
            <a:endParaRPr lang="en-US" sz="1067">
              <a:solidFill>
                <a:srgbClr val="0A2F46"/>
              </a:solidFill>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1C3D0AEF-1905-9C95-766F-84202635F9C8}"/>
              </a:ext>
            </a:extLst>
          </p:cNvPr>
          <p:cNvGrpSpPr>
            <a:grpSpLocks noChangeAspect="1"/>
          </p:cNvGrpSpPr>
          <p:nvPr/>
        </p:nvGrpSpPr>
        <p:grpSpPr>
          <a:xfrm rot="10800000">
            <a:off x="138161" y="3590840"/>
            <a:ext cx="498404" cy="426720"/>
            <a:chOff x="3568701" y="3278113"/>
            <a:chExt cx="747606" cy="640080"/>
          </a:xfrm>
        </p:grpSpPr>
        <p:sp>
          <p:nvSpPr>
            <p:cNvPr id="6" name="Freeform 28">
              <a:extLst>
                <a:ext uri="{FF2B5EF4-FFF2-40B4-BE49-F238E27FC236}">
                  <a16:creationId xmlns:a16="http://schemas.microsoft.com/office/drawing/2014/main" id="{C1DC2F81-43EE-CA99-9D83-142A19E5BEA1}"/>
                </a:ext>
              </a:extLst>
            </p:cNvPr>
            <p:cNvSpPr>
              <a:spLocks noChangeAspect="1"/>
            </p:cNvSpPr>
            <p:nvPr/>
          </p:nvSpPr>
          <p:spPr bwMode="gray">
            <a:xfrm>
              <a:off x="3568701" y="3278113"/>
              <a:ext cx="747606" cy="640080"/>
            </a:xfrm>
            <a:prstGeom prst="hexagon">
              <a:avLst>
                <a:gd name="adj" fmla="val 28328"/>
                <a:gd name="vf" fmla="val 115470"/>
              </a:avLst>
            </a:prstGeom>
            <a:solidFill>
              <a:schemeClr val="bg2"/>
            </a:solidFill>
            <a:ln w="57150" cap="flat">
              <a:solidFill>
                <a:srgbClr val="FF6100"/>
              </a:solidFill>
              <a:prstDash val="solid"/>
              <a:miter/>
            </a:ln>
            <a:effectLst>
              <a:outerShdw blurRad="50800" dist="38100" dir="8100000" algn="tr" rotWithShape="0">
                <a:prstClr val="black">
                  <a:alpha val="40000"/>
                </a:prstClr>
              </a:outerShdw>
            </a:effectLst>
          </p:spPr>
          <p:txBody>
            <a:bodyPr wrap="none" lIns="0" tIns="0" rIns="0" bIns="0" rtlCol="0"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625358" rtl="0" eaLnBrk="0" fontAlgn="base" latinLnBrk="0" hangingPunct="0">
                <a:lnSpc>
                  <a:spcPct val="100000"/>
                </a:lnSpc>
                <a:spcBef>
                  <a:spcPct val="0"/>
                </a:spcBef>
                <a:spcAft>
                  <a:spcPct val="0"/>
                </a:spcAft>
                <a:buClrTx/>
                <a:buSzTx/>
                <a:buFontTx/>
                <a:buNone/>
                <a:tabLst/>
                <a:defRPr/>
              </a:pPr>
              <a:endParaRPr kumimoji="0" lang="en-US" sz="600" b="1" i="0" u="none" strike="noStrike" kern="0" cap="none" spc="0" normalizeH="0" baseline="0" noProof="0">
                <a:ln>
                  <a:noFill/>
                </a:ln>
                <a:solidFill>
                  <a:srgbClr val="FFFFFF"/>
                </a:solidFill>
                <a:effectLst/>
                <a:uLnTx/>
                <a:uFillTx/>
                <a:latin typeface="Arial"/>
                <a:ea typeface="Verdana" panose="020B060403050404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B0734087-C2EA-57A5-0A53-108624E1E369}"/>
                </a:ext>
              </a:extLst>
            </p:cNvPr>
            <p:cNvGrpSpPr/>
            <p:nvPr/>
          </p:nvGrpSpPr>
          <p:grpSpPr>
            <a:xfrm>
              <a:off x="3700503" y="3330733"/>
              <a:ext cx="484001" cy="484001"/>
              <a:chOff x="3117191" y="3498975"/>
              <a:chExt cx="484001" cy="484001"/>
            </a:xfrm>
          </p:grpSpPr>
          <p:pic>
            <p:nvPicPr>
              <p:cNvPr id="9" name="Graphic 8" descr="Pyramid with levels with solid fill">
                <a:extLst>
                  <a:ext uri="{FF2B5EF4-FFF2-40B4-BE49-F238E27FC236}">
                    <a16:creationId xmlns:a16="http://schemas.microsoft.com/office/drawing/2014/main" id="{B5A1D5BE-F8CE-0801-1763-330137A0F7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17191" y="3498975"/>
                <a:ext cx="484001" cy="484001"/>
              </a:xfrm>
              <a:prstGeom prst="rect">
                <a:avLst/>
              </a:prstGeom>
            </p:spPr>
          </p:pic>
          <p:sp>
            <p:nvSpPr>
              <p:cNvPr id="10" name="Triangle 9">
                <a:extLst>
                  <a:ext uri="{FF2B5EF4-FFF2-40B4-BE49-F238E27FC236}">
                    <a16:creationId xmlns:a16="http://schemas.microsoft.com/office/drawing/2014/main" id="{CF443827-F652-5F7A-CBE8-98EB967E5147}"/>
                  </a:ext>
                </a:extLst>
              </p:cNvPr>
              <p:cNvSpPr/>
              <p:nvPr/>
            </p:nvSpPr>
            <p:spPr>
              <a:xfrm>
                <a:off x="3295651" y="3565525"/>
                <a:ext cx="120649" cy="103356"/>
              </a:xfrm>
              <a:prstGeom prst="triangle">
                <a:avLst/>
              </a:prstGeom>
              <a:solidFill>
                <a:srgbClr val="FF6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Verdana" charset="0"/>
                  <a:ea typeface="Verdana" charset="0"/>
                  <a:cs typeface="Verdana" charset="0"/>
                </a:endParaRPr>
              </a:p>
            </p:txBody>
          </p:sp>
        </p:grpSp>
      </p:grpSp>
      <p:sp>
        <p:nvSpPr>
          <p:cNvPr id="35" name="TextBox 34">
            <a:extLst>
              <a:ext uri="{FF2B5EF4-FFF2-40B4-BE49-F238E27FC236}">
                <a16:creationId xmlns:a16="http://schemas.microsoft.com/office/drawing/2014/main" id="{10240D5E-6CF8-A854-A038-AE6A2A52FBD8}"/>
              </a:ext>
            </a:extLst>
          </p:cNvPr>
          <p:cNvSpPr txBox="1"/>
          <p:nvPr/>
        </p:nvSpPr>
        <p:spPr>
          <a:xfrm>
            <a:off x="2552080" y="2053484"/>
            <a:ext cx="4981509" cy="492443"/>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r>
              <a:rPr lang="en-US" sz="1333" b="1">
                <a:solidFill>
                  <a:srgbClr val="0A2F46">
                    <a:lumMod val="75000"/>
                    <a:lumOff val="25000"/>
                  </a:srgbClr>
                </a:solidFill>
              </a:rPr>
              <a:t>Ideal Customer Profile Definition</a:t>
            </a:r>
            <a:endParaRPr lang="en-US" sz="1200">
              <a:solidFill>
                <a:srgbClr val="0A2F46">
                  <a:lumMod val="75000"/>
                  <a:lumOff val="25000"/>
                </a:srgbClr>
              </a:solidFill>
            </a:endParaRPr>
          </a:p>
          <a:p>
            <a:pPr defTabSz="1219110" fontAlgn="base"/>
            <a:r>
              <a:rPr lang="en-US" sz="1067">
                <a:solidFill>
                  <a:srgbClr val="0A2F46"/>
                </a:solidFill>
              </a:rPr>
              <a:t>Set exclusionary criteria to eliminate data noise in downstream planning</a:t>
            </a:r>
            <a:endParaRPr lang="en-US" sz="1067">
              <a:solidFill>
                <a:srgbClr val="0A2F46"/>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F354D355-EE26-B948-074A-D25B68BD7048}"/>
              </a:ext>
            </a:extLst>
          </p:cNvPr>
          <p:cNvSpPr txBox="1"/>
          <p:nvPr/>
        </p:nvSpPr>
        <p:spPr>
          <a:xfrm>
            <a:off x="2552080" y="2850648"/>
            <a:ext cx="4981509" cy="492443"/>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r>
              <a:rPr lang="en-US" sz="1333" b="1">
                <a:solidFill>
                  <a:srgbClr val="0A2F46">
                    <a:lumMod val="75000"/>
                    <a:lumOff val="25000"/>
                  </a:srgbClr>
                </a:solidFill>
              </a:rPr>
              <a:t>Account hierarchy management </a:t>
            </a:r>
          </a:p>
          <a:p>
            <a:pPr defTabSz="1219110"/>
            <a:r>
              <a:rPr lang="en-US" sz="1067">
                <a:solidFill>
                  <a:srgbClr val="0A2F46"/>
                </a:solidFill>
                <a:cs typeface="Arial"/>
              </a:rPr>
              <a:t>Establish account roll-ups to a parent, flat hierarchies, or manage by exception</a:t>
            </a:r>
          </a:p>
        </p:txBody>
      </p:sp>
      <p:sp>
        <p:nvSpPr>
          <p:cNvPr id="37" name="TextBox 36">
            <a:extLst>
              <a:ext uri="{FF2B5EF4-FFF2-40B4-BE49-F238E27FC236}">
                <a16:creationId xmlns:a16="http://schemas.microsoft.com/office/drawing/2014/main" id="{A5297903-A34E-9BCF-7719-3C03325B4663}"/>
              </a:ext>
            </a:extLst>
          </p:cNvPr>
          <p:cNvSpPr txBox="1"/>
          <p:nvPr/>
        </p:nvSpPr>
        <p:spPr>
          <a:xfrm>
            <a:off x="2552081" y="3591366"/>
            <a:ext cx="4790593" cy="656591"/>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r>
              <a:rPr lang="en-US" sz="1333" b="1">
                <a:solidFill>
                  <a:srgbClr val="0A2F46">
                    <a:lumMod val="75000"/>
                    <a:lumOff val="25000"/>
                  </a:srgbClr>
                </a:solidFill>
                <a:cs typeface="Arial"/>
              </a:rPr>
              <a:t>Wallet Sizing</a:t>
            </a:r>
          </a:p>
          <a:p>
            <a:pPr defTabSz="1219110"/>
            <a:r>
              <a:rPr lang="en-US" sz="1067">
                <a:solidFill>
                  <a:srgbClr val="0A2F46"/>
                </a:solidFill>
              </a:rPr>
              <a:t>Identify Service Obtainable Market (SOM) and remaining wallet share to drive go-to-market strategies</a:t>
            </a:r>
          </a:p>
        </p:txBody>
      </p:sp>
      <p:sp>
        <p:nvSpPr>
          <p:cNvPr id="38" name="TextBox 37">
            <a:extLst>
              <a:ext uri="{FF2B5EF4-FFF2-40B4-BE49-F238E27FC236}">
                <a16:creationId xmlns:a16="http://schemas.microsoft.com/office/drawing/2014/main" id="{EAE7E4D6-8220-35AD-4275-428B1BAF29C3}"/>
              </a:ext>
            </a:extLst>
          </p:cNvPr>
          <p:cNvSpPr txBox="1"/>
          <p:nvPr/>
        </p:nvSpPr>
        <p:spPr>
          <a:xfrm>
            <a:off x="2552081" y="4467555"/>
            <a:ext cx="4790593" cy="492443"/>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r>
              <a:rPr lang="en-US" sz="1300" b="1">
                <a:solidFill>
                  <a:srgbClr val="0A2F46">
                    <a:lumMod val="75000"/>
                    <a:lumOff val="25000"/>
                  </a:srgbClr>
                </a:solidFill>
              </a:rPr>
              <a:t>Account</a:t>
            </a:r>
            <a:r>
              <a:rPr lang="en-US" sz="1300" b="1">
                <a:solidFill>
                  <a:srgbClr val="176EA4"/>
                </a:solidFill>
              </a:rPr>
              <a:t> Segmentation and Scoring</a:t>
            </a:r>
            <a:endParaRPr lang="en-US" sz="1300">
              <a:solidFill>
                <a:srgbClr val="0A2F46"/>
              </a:solidFill>
              <a:cs typeface="Arial"/>
            </a:endParaRPr>
          </a:p>
          <a:p>
            <a:pPr defTabSz="1219110"/>
            <a:r>
              <a:rPr lang="en-US" sz="1100">
                <a:solidFill>
                  <a:srgbClr val="0A2F46"/>
                </a:solidFill>
              </a:rPr>
              <a:t>Rule and scoring based segmentation</a:t>
            </a:r>
            <a:endParaRPr lang="en-US"/>
          </a:p>
        </p:txBody>
      </p:sp>
      <p:sp>
        <p:nvSpPr>
          <p:cNvPr id="59" name="TextBox 58">
            <a:extLst>
              <a:ext uri="{FF2B5EF4-FFF2-40B4-BE49-F238E27FC236}">
                <a16:creationId xmlns:a16="http://schemas.microsoft.com/office/drawing/2014/main" id="{455CA735-982C-C0FE-9DAB-3AE221C4173E}"/>
              </a:ext>
            </a:extLst>
          </p:cNvPr>
          <p:cNvSpPr txBox="1"/>
          <p:nvPr/>
        </p:nvSpPr>
        <p:spPr>
          <a:xfrm>
            <a:off x="2552081" y="5242140"/>
            <a:ext cx="4790593" cy="492443"/>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r>
              <a:rPr lang="en-US" sz="1300" b="1">
                <a:solidFill>
                  <a:srgbClr val="0A2F46">
                    <a:lumMod val="75000"/>
                    <a:lumOff val="25000"/>
                  </a:srgbClr>
                </a:solidFill>
              </a:rPr>
              <a:t>GTM Planning</a:t>
            </a:r>
            <a:endParaRPr lang="en-US"/>
          </a:p>
          <a:p>
            <a:pPr defTabSz="1219110"/>
            <a:r>
              <a:rPr lang="en-US" sz="1050">
                <a:solidFill>
                  <a:srgbClr val="0A2F46"/>
                </a:solidFill>
              </a:rPr>
              <a:t>Model next year's hierarchy and coverage model</a:t>
            </a:r>
            <a:endParaRPr lang="en-US" sz="1050">
              <a:cs typeface="Arial"/>
            </a:endParaRPr>
          </a:p>
        </p:txBody>
      </p:sp>
      <p:sp>
        <p:nvSpPr>
          <p:cNvPr id="63" name="TextBox 62">
            <a:extLst>
              <a:ext uri="{FF2B5EF4-FFF2-40B4-BE49-F238E27FC236}">
                <a16:creationId xmlns:a16="http://schemas.microsoft.com/office/drawing/2014/main" id="{A46A3476-441C-9D3F-5528-F6FECD07D29B}"/>
              </a:ext>
            </a:extLst>
          </p:cNvPr>
          <p:cNvSpPr txBox="1"/>
          <p:nvPr/>
        </p:nvSpPr>
        <p:spPr>
          <a:xfrm>
            <a:off x="8247137" y="1358925"/>
            <a:ext cx="3184191" cy="4514056"/>
          </a:xfrm>
          <a:prstGeom prst="rect">
            <a:avLst/>
          </a:prstGeom>
          <a:noFill/>
        </p:spPr>
        <p:txBody>
          <a:bodyPr wrap="square" lIns="0" tIns="60960" rIns="121920" bIns="6096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r>
              <a:rPr lang="en-US" sz="1600" b="1">
                <a:solidFill>
                  <a:srgbClr val="FFFFFF"/>
                </a:solidFill>
                <a:latin typeface="Arial" panose="020B0604020202020204"/>
              </a:rPr>
              <a:t>Key Benefits:</a:t>
            </a:r>
          </a:p>
          <a:p>
            <a:pPr defTabSz="1219110"/>
            <a:endParaRPr lang="en-US" sz="1600" b="1">
              <a:solidFill>
                <a:srgbClr val="FFFFFF"/>
              </a:solidFill>
              <a:latin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Historical, forecasted, and predictive market performance and account potential in one place.</a:t>
            </a:r>
            <a:endParaRPr lang="en-US" sz="1333">
              <a:solidFill>
                <a:srgbClr val="FFFFFF"/>
              </a:solidFill>
              <a:latin typeface="Arial" panose="020B0604020202020204"/>
            </a:endParaRPr>
          </a:p>
          <a:p>
            <a:pPr marL="228584" indent="-228584" defTabSz="1219110">
              <a:buFont typeface="Wingdings" pitchFamily="2" charset="2"/>
              <a:buChar char="ü"/>
            </a:pPr>
            <a:endParaRPr lang="en-US" sz="1333">
              <a:solidFill>
                <a:srgbClr val="FFFFFF"/>
              </a:solidFill>
              <a:latin typeface="Arial" panose="020B0604020202020204"/>
              <a:ea typeface="+mn-lt"/>
              <a:cs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Repeatable market and wallet sizing methodologies, and account segmentation and scoring processes.</a:t>
            </a:r>
          </a:p>
          <a:p>
            <a:pPr marL="228584" indent="-228584" defTabSz="1219110">
              <a:buFont typeface="Wingdings" pitchFamily="2" charset="2"/>
              <a:buChar char="ü"/>
            </a:pPr>
            <a:endParaRPr lang="en-US" sz="1333">
              <a:solidFill>
                <a:srgbClr val="FFFFFF"/>
              </a:solidFill>
              <a:latin typeface="Arial" panose="020B0604020202020204"/>
              <a:cs typeface="Arial"/>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Evaluate trade-offs and make trusted granular decisions faster.</a:t>
            </a:r>
            <a:endParaRPr lang="en-US" sz="1333">
              <a:solidFill>
                <a:srgbClr val="FFFFFF"/>
              </a:solidFill>
              <a:latin typeface="Arial" panose="020B0604020202020204"/>
            </a:endParaRPr>
          </a:p>
          <a:p>
            <a:pPr marL="228584" indent="-228584" defTabSz="1219110">
              <a:buFont typeface="Wingdings" pitchFamily="2" charset="2"/>
              <a:buChar char="ü"/>
            </a:pPr>
            <a:endParaRPr lang="en-US" sz="1333">
              <a:solidFill>
                <a:srgbClr val="FFFFFF"/>
              </a:solidFill>
              <a:latin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Gather data, account knowledge, feedback, approvals, and overrides to get effective plans out on-time.</a:t>
            </a:r>
            <a:br>
              <a:rPr lang="en-US" sz="3200">
                <a:solidFill>
                  <a:srgbClr val="0A2F46"/>
                </a:solidFill>
                <a:latin typeface="Arial" panose="020B0604020202020204"/>
              </a:rPr>
            </a:br>
            <a:endParaRPr lang="en-US" sz="1333">
              <a:solidFill>
                <a:srgbClr val="FFFFFF"/>
              </a:solidFill>
              <a:latin typeface="Arial" panose="020B0604020202020204"/>
              <a:ea typeface="+mn-lt"/>
              <a:cs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Align your go-to-market strategies, plans, and teams to markets and accounts with the highest revenue potential</a:t>
            </a:r>
            <a:endParaRPr lang="en-US" sz="1600">
              <a:solidFill>
                <a:srgbClr val="FFFFFF"/>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974648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8B445-429B-F944-CBCC-FE1287AFB16D}"/>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A2A563BF-0B72-3904-DC85-FD0C4F12E143}"/>
              </a:ext>
            </a:extLst>
          </p:cNvPr>
          <p:cNvSpPr>
            <a:spLocks noGrp="1"/>
          </p:cNvSpPr>
          <p:nvPr>
            <p:ph type="title"/>
          </p:nvPr>
        </p:nvSpPr>
        <p:spPr>
          <a:xfrm>
            <a:off x="558803" y="392856"/>
            <a:ext cx="8002692" cy="451405"/>
          </a:xfrm>
        </p:spPr>
        <p:txBody>
          <a:bodyPr lIns="0" tIns="60960" rIns="0" bIns="60960" anchor="t"/>
          <a:lstStyle/>
          <a:p>
            <a:r>
              <a:rPr lang="en-US">
                <a:latin typeface="Arial"/>
                <a:cs typeface="Arial"/>
              </a:rPr>
              <a:t>Anaplan Segmentation and Scoring Application</a:t>
            </a:r>
            <a:br>
              <a:rPr lang="en-US">
                <a:latin typeface="Arial"/>
                <a:cs typeface="Arial"/>
              </a:rPr>
            </a:br>
            <a:r>
              <a:rPr lang="en-US" sz="1867" i="1">
                <a:solidFill>
                  <a:schemeClr val="bg1">
                    <a:lumMod val="75000"/>
                  </a:schemeClr>
                </a:solidFill>
                <a:latin typeface="Arial"/>
                <a:cs typeface="Arial"/>
              </a:rPr>
              <a:t>Out-of-the-box</a:t>
            </a:r>
            <a:endParaRPr lang="en-US">
              <a:latin typeface="Arial"/>
              <a:cs typeface="Arial"/>
            </a:endParaRPr>
          </a:p>
        </p:txBody>
      </p:sp>
      <p:sp>
        <p:nvSpPr>
          <p:cNvPr id="2" name="TextBox 1">
            <a:extLst>
              <a:ext uri="{FF2B5EF4-FFF2-40B4-BE49-F238E27FC236}">
                <a16:creationId xmlns:a16="http://schemas.microsoft.com/office/drawing/2014/main" id="{390B8F0E-D518-5B59-8F43-B7E7D4A42EAE}"/>
              </a:ext>
            </a:extLst>
          </p:cNvPr>
          <p:cNvSpPr txBox="1"/>
          <p:nvPr/>
        </p:nvSpPr>
        <p:spPr>
          <a:xfrm>
            <a:off x="8074861" y="1266161"/>
            <a:ext cx="3184191" cy="4512838"/>
          </a:xfrm>
          <a:prstGeom prst="rect">
            <a:avLst/>
          </a:prstGeom>
          <a:noFill/>
        </p:spPr>
        <p:txBody>
          <a:bodyPr wrap="square" lIns="0" tIns="60960" rIns="121920" bIns="60960" rtlCol="0" anchor="t">
            <a:spAutoFit/>
          </a:bodyPr>
          <a:lstStyle/>
          <a:p>
            <a:pPr defTabSz="1219110"/>
            <a:r>
              <a:rPr lang="en-US" sz="1600" b="1">
                <a:solidFill>
                  <a:srgbClr val="FFFFFF"/>
                </a:solidFill>
                <a:latin typeface="Arial" panose="020B0604020202020204"/>
              </a:rPr>
              <a:t>Key Benefits:</a:t>
            </a:r>
          </a:p>
          <a:p>
            <a:pPr defTabSz="1219110"/>
            <a:endParaRPr lang="en-US" sz="1600" b="1">
              <a:solidFill>
                <a:srgbClr val="FFFFFF"/>
              </a:solidFill>
              <a:latin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Historical, forecasted, and predictive market performance and account potential in one place.</a:t>
            </a:r>
            <a:endParaRPr lang="en-US" sz="1333">
              <a:solidFill>
                <a:srgbClr val="FFFFFF"/>
              </a:solidFill>
              <a:latin typeface="Arial" panose="020B0604020202020204"/>
            </a:endParaRPr>
          </a:p>
          <a:p>
            <a:pPr marL="228584" indent="-228584" defTabSz="1219110">
              <a:buFont typeface="Wingdings" pitchFamily="2" charset="2"/>
              <a:buChar char="ü"/>
            </a:pPr>
            <a:endParaRPr lang="en-US" sz="1333">
              <a:solidFill>
                <a:srgbClr val="FFFFFF"/>
              </a:solidFill>
              <a:latin typeface="Arial" panose="020B0604020202020204"/>
              <a:ea typeface="+mn-lt"/>
              <a:cs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Repeatable market and wallet sizing methodologies, and account segmentation and scoring processes.</a:t>
            </a:r>
          </a:p>
          <a:p>
            <a:pPr marL="228584" indent="-228584" defTabSz="1219110">
              <a:buFont typeface="Wingdings" pitchFamily="2" charset="2"/>
              <a:buChar char="ü"/>
            </a:pPr>
            <a:endParaRPr lang="en-US" sz="1333">
              <a:solidFill>
                <a:srgbClr val="FFFFFF"/>
              </a:solidFill>
              <a:latin typeface="Arial" panose="020B0604020202020204"/>
              <a:cs typeface="Arial"/>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Evaluate trade-offs and make trusted granular decisions faster.</a:t>
            </a:r>
            <a:endParaRPr lang="en-US" sz="1333">
              <a:solidFill>
                <a:srgbClr val="FFFFFF"/>
              </a:solidFill>
              <a:latin typeface="Arial" panose="020B0604020202020204"/>
            </a:endParaRPr>
          </a:p>
          <a:p>
            <a:pPr marL="228584" indent="-228584" defTabSz="1219110">
              <a:buFont typeface="Wingdings" pitchFamily="2" charset="2"/>
              <a:buChar char="ü"/>
            </a:pPr>
            <a:endParaRPr lang="en-US" sz="1333">
              <a:solidFill>
                <a:srgbClr val="FFFFFF"/>
              </a:solidFill>
              <a:latin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Gather data, account knowledge, feedback, approvals, and overrides to get effective plans out on-time.</a:t>
            </a:r>
            <a:br>
              <a:rPr lang="en-US" sz="2400">
                <a:solidFill>
                  <a:srgbClr val="0A2F46"/>
                </a:solidFill>
                <a:latin typeface="Arial" panose="020B0604020202020204"/>
              </a:rPr>
            </a:br>
            <a:endParaRPr lang="en-US" sz="1333">
              <a:solidFill>
                <a:srgbClr val="FFFFFF"/>
              </a:solidFill>
              <a:latin typeface="Arial" panose="020B0604020202020204"/>
              <a:ea typeface="+mn-lt"/>
              <a:cs typeface="Arial" panose="020B0604020202020204"/>
            </a:endParaRPr>
          </a:p>
          <a:p>
            <a:pPr marL="228584" indent="-228584" defTabSz="1219110">
              <a:buFont typeface="Wingdings" pitchFamily="2" charset="2"/>
              <a:buChar char="ü"/>
            </a:pPr>
            <a:r>
              <a:rPr lang="en-US" sz="1333">
                <a:solidFill>
                  <a:srgbClr val="FFFFFF"/>
                </a:solidFill>
                <a:latin typeface="Arial" panose="020B0604020202020204"/>
                <a:ea typeface="+mn-lt"/>
                <a:cs typeface="Arial" panose="020B0604020202020204"/>
              </a:rPr>
              <a:t>Align your go-to-market strategies, plans, and teams to markets and accounts with the highest revenue potential</a:t>
            </a:r>
            <a:endParaRPr lang="en-US" sz="1600">
              <a:solidFill>
                <a:srgbClr val="FFFFFF"/>
              </a:solidFill>
              <a:latin typeface="Arial" panose="020B0604020202020204" pitchFamily="34" charset="0"/>
              <a:ea typeface="Inter Light" panose="02000503000000020004" pitchFamily="2" charset="0"/>
              <a:cs typeface="Arial" panose="020B0604020202020204" pitchFamily="34" charset="0"/>
            </a:endParaRPr>
          </a:p>
        </p:txBody>
      </p:sp>
      <p:sp>
        <p:nvSpPr>
          <p:cNvPr id="8" name="Oval 7">
            <a:extLst>
              <a:ext uri="{FF2B5EF4-FFF2-40B4-BE49-F238E27FC236}">
                <a16:creationId xmlns:a16="http://schemas.microsoft.com/office/drawing/2014/main" id="{83AEAF48-A981-5FD6-E4E9-879249BF7F16}"/>
              </a:ext>
            </a:extLst>
          </p:cNvPr>
          <p:cNvSpPr/>
          <p:nvPr/>
        </p:nvSpPr>
        <p:spPr>
          <a:xfrm>
            <a:off x="2430157" y="2297037"/>
            <a:ext cx="2743200" cy="2737327"/>
          </a:xfrm>
          <a:prstGeom prst="ellipse">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33" name="TextBox 32">
            <a:extLst>
              <a:ext uri="{FF2B5EF4-FFF2-40B4-BE49-F238E27FC236}">
                <a16:creationId xmlns:a16="http://schemas.microsoft.com/office/drawing/2014/main" id="{C141703F-2454-1A95-48EF-A9B8634AA7C2}"/>
              </a:ext>
            </a:extLst>
          </p:cNvPr>
          <p:cNvSpPr txBox="1"/>
          <p:nvPr/>
        </p:nvSpPr>
        <p:spPr>
          <a:xfrm>
            <a:off x="437762" y="2146334"/>
            <a:ext cx="1989785" cy="820866"/>
          </a:xfrm>
          <a:prstGeom prst="rect">
            <a:avLst/>
          </a:prstGeom>
          <a:noFill/>
        </p:spPr>
        <p:txBody>
          <a:bodyPr wrap="square" lIns="0" tIns="60960" rIns="121920" bIns="60960" rtlCol="0" anchor="t">
            <a:spAutoFit/>
          </a:bodyPr>
          <a:lstStyle/>
          <a:p>
            <a:pPr defTabSz="1219110"/>
            <a:r>
              <a:rPr lang="en-US" sz="1200" b="1">
                <a:solidFill>
                  <a:srgbClr val="0A2F46">
                    <a:lumMod val="75000"/>
                    <a:lumOff val="25000"/>
                  </a:srgbClr>
                </a:solidFill>
                <a:latin typeface="Arial" panose="020B0604020202020204"/>
              </a:rPr>
              <a:t>Approvals, Overrides, and Distribution</a:t>
            </a:r>
            <a:endParaRPr lang="en-US" sz="2400">
              <a:solidFill>
                <a:srgbClr val="0A2F46">
                  <a:lumMod val="75000"/>
                  <a:lumOff val="25000"/>
                </a:srgbClr>
              </a:solidFill>
              <a:latin typeface="Arial" panose="020B0604020202020204"/>
            </a:endParaRPr>
          </a:p>
          <a:p>
            <a:pPr defTabSz="1219110" fontAlgn="base"/>
            <a:r>
              <a:rPr lang="en-US" sz="1067">
                <a:solidFill>
                  <a:srgbClr val="0A2F46"/>
                </a:solidFill>
                <a:latin typeface="Arial" panose="020B0604020202020204"/>
              </a:rPr>
              <a:t>Gather account knowledge, feedback, and plan approvals</a:t>
            </a:r>
            <a:endParaRPr lang="en-US" sz="1067">
              <a:solidFill>
                <a:srgbClr val="0A2F46"/>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725C4536-E21B-E59B-9419-6F63598CB375}"/>
              </a:ext>
            </a:extLst>
          </p:cNvPr>
          <p:cNvSpPr txBox="1"/>
          <p:nvPr/>
        </p:nvSpPr>
        <p:spPr>
          <a:xfrm>
            <a:off x="238355" y="3849545"/>
            <a:ext cx="1995168" cy="820866"/>
          </a:xfrm>
          <a:prstGeom prst="rect">
            <a:avLst/>
          </a:prstGeom>
          <a:noFill/>
        </p:spPr>
        <p:txBody>
          <a:bodyPr wrap="square" lIns="0" tIns="60960" rIns="121920" bIns="60960" rtlCol="0" anchor="t">
            <a:spAutoFit/>
          </a:bodyPr>
          <a:lstStyle/>
          <a:p>
            <a:pPr defTabSz="1219110"/>
            <a:r>
              <a:rPr lang="en-US" sz="1200" b="1">
                <a:solidFill>
                  <a:srgbClr val="0A2F46">
                    <a:lumMod val="75000"/>
                    <a:lumOff val="25000"/>
                  </a:srgbClr>
                </a:solidFill>
                <a:latin typeface="Arial" panose="020B0604020202020204"/>
              </a:rPr>
              <a:t>Account Segmentation and Scoring</a:t>
            </a:r>
            <a:endParaRPr lang="en-US" sz="2400">
              <a:solidFill>
                <a:srgbClr val="0A2F46">
                  <a:lumMod val="75000"/>
                  <a:lumOff val="25000"/>
                </a:srgbClr>
              </a:solidFill>
              <a:latin typeface="Arial" panose="020B0604020202020204"/>
            </a:endParaRPr>
          </a:p>
          <a:p>
            <a:pPr defTabSz="1219110" fontAlgn="base"/>
            <a:r>
              <a:rPr lang="en-US" sz="1067">
                <a:solidFill>
                  <a:srgbClr val="0A2F46"/>
                </a:solidFill>
                <a:latin typeface="Arial" panose="020B0604020202020204"/>
              </a:rPr>
              <a:t>Rule and scoring based segmentation</a:t>
            </a:r>
            <a:endParaRPr lang="en-US" sz="1067">
              <a:solidFill>
                <a:srgbClr val="0A2F46"/>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A5041F83-6A92-98B4-A54E-AA7C685170EA}"/>
              </a:ext>
            </a:extLst>
          </p:cNvPr>
          <p:cNvSpPr txBox="1"/>
          <p:nvPr/>
        </p:nvSpPr>
        <p:spPr>
          <a:xfrm>
            <a:off x="5097606" y="2145597"/>
            <a:ext cx="2635575" cy="636200"/>
          </a:xfrm>
          <a:prstGeom prst="rect">
            <a:avLst/>
          </a:prstGeom>
          <a:noFill/>
        </p:spPr>
        <p:txBody>
          <a:bodyPr wrap="square" lIns="0" tIns="60960" rIns="121920" bIns="60960" rtlCol="0" anchor="t">
            <a:spAutoFit/>
          </a:bodyPr>
          <a:lstStyle/>
          <a:p>
            <a:pPr defTabSz="1219110"/>
            <a:r>
              <a:rPr lang="en-US" sz="1200" b="1">
                <a:solidFill>
                  <a:srgbClr val="0A2F46">
                    <a:lumMod val="75000"/>
                    <a:lumOff val="25000"/>
                  </a:srgbClr>
                </a:solidFill>
                <a:latin typeface="Arial" panose="020B0604020202020204"/>
              </a:rPr>
              <a:t>Ideal Customer Profile Definition</a:t>
            </a:r>
            <a:endParaRPr lang="en-US" sz="2400">
              <a:solidFill>
                <a:srgbClr val="0A2F46">
                  <a:lumMod val="75000"/>
                  <a:lumOff val="25000"/>
                </a:srgbClr>
              </a:solidFill>
              <a:latin typeface="Arial" panose="020B0604020202020204"/>
            </a:endParaRPr>
          </a:p>
          <a:p>
            <a:pPr defTabSz="1219110" fontAlgn="base"/>
            <a:r>
              <a:rPr lang="en-US" sz="1067">
                <a:solidFill>
                  <a:srgbClr val="0A2F46"/>
                </a:solidFill>
                <a:latin typeface="Arial" panose="020B0604020202020204"/>
              </a:rPr>
              <a:t>Set exclusionary criteria to eliminate data noise in downstream planning</a:t>
            </a:r>
            <a:endParaRPr lang="en-US" sz="1067">
              <a:solidFill>
                <a:srgbClr val="0A2F46"/>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9BAE68D9-B807-0564-6D15-DA21CD08EBCA}"/>
              </a:ext>
            </a:extLst>
          </p:cNvPr>
          <p:cNvSpPr txBox="1"/>
          <p:nvPr/>
        </p:nvSpPr>
        <p:spPr>
          <a:xfrm>
            <a:off x="5401007" y="3745893"/>
            <a:ext cx="2557764" cy="636200"/>
          </a:xfrm>
          <a:prstGeom prst="rect">
            <a:avLst/>
          </a:prstGeom>
          <a:noFill/>
        </p:spPr>
        <p:txBody>
          <a:bodyPr wrap="square" lIns="0" tIns="60960" rIns="121920" bIns="60960" rtlCol="0" anchor="t">
            <a:spAutoFit/>
          </a:bodyPr>
          <a:lstStyle/>
          <a:p>
            <a:pPr defTabSz="1219110"/>
            <a:r>
              <a:rPr lang="en-US" sz="1200" b="1">
                <a:solidFill>
                  <a:srgbClr val="0A2F46">
                    <a:lumMod val="75000"/>
                    <a:lumOff val="25000"/>
                  </a:srgbClr>
                </a:solidFill>
                <a:latin typeface="Arial" panose="020B0604020202020204"/>
              </a:rPr>
              <a:t>Account hierarchy management </a:t>
            </a:r>
          </a:p>
          <a:p>
            <a:pPr defTabSz="1219110"/>
            <a:r>
              <a:rPr lang="en-US" sz="1067">
                <a:solidFill>
                  <a:srgbClr val="0A2F46"/>
                </a:solidFill>
                <a:latin typeface="Arial"/>
                <a:cs typeface="Arial"/>
              </a:rPr>
              <a:t>Establish account roll-ups to a parent, flat hierarchies, or manage by exception</a:t>
            </a:r>
          </a:p>
        </p:txBody>
      </p:sp>
      <p:sp>
        <p:nvSpPr>
          <p:cNvPr id="46" name="TextBox 45">
            <a:extLst>
              <a:ext uri="{FF2B5EF4-FFF2-40B4-BE49-F238E27FC236}">
                <a16:creationId xmlns:a16="http://schemas.microsoft.com/office/drawing/2014/main" id="{78977045-5D07-9365-84BE-5888DF4ADB4B}"/>
              </a:ext>
            </a:extLst>
          </p:cNvPr>
          <p:cNvSpPr txBox="1"/>
          <p:nvPr/>
        </p:nvSpPr>
        <p:spPr>
          <a:xfrm>
            <a:off x="4769231" y="5103535"/>
            <a:ext cx="2245124" cy="800412"/>
          </a:xfrm>
          <a:prstGeom prst="rect">
            <a:avLst/>
          </a:prstGeom>
          <a:noFill/>
        </p:spPr>
        <p:txBody>
          <a:bodyPr wrap="square" lIns="0" tIns="60960" rIns="121920" bIns="60960" rtlCol="0" anchor="t">
            <a:spAutoFit/>
          </a:bodyPr>
          <a:lstStyle/>
          <a:p>
            <a:pPr defTabSz="1219110"/>
            <a:r>
              <a:rPr lang="en-US" sz="1200" b="1">
                <a:solidFill>
                  <a:srgbClr val="0A2F46">
                    <a:lumMod val="75000"/>
                    <a:lumOff val="25000"/>
                  </a:srgbClr>
                </a:solidFill>
                <a:latin typeface="Arial" panose="020B0604020202020204"/>
                <a:cs typeface="Arial"/>
              </a:rPr>
              <a:t>Wallet Sizing</a:t>
            </a:r>
          </a:p>
          <a:p>
            <a:pPr defTabSz="1219110"/>
            <a:r>
              <a:rPr lang="en-US" sz="1067">
                <a:solidFill>
                  <a:srgbClr val="0A2F46"/>
                </a:solidFill>
                <a:latin typeface="Arial" panose="020B0604020202020204"/>
              </a:rPr>
              <a:t>identify Service Obtainable Market (SOM) and remaining wallet share to drive go-to-market strategies</a:t>
            </a:r>
            <a:endParaRPr lang="en-US" sz="2400">
              <a:solidFill>
                <a:srgbClr val="0A2F46"/>
              </a:solidFill>
              <a:latin typeface="Arial" panose="020B0604020202020204"/>
            </a:endParaRPr>
          </a:p>
        </p:txBody>
      </p:sp>
      <p:sp>
        <p:nvSpPr>
          <p:cNvPr id="47" name="TextBox 46">
            <a:extLst>
              <a:ext uri="{FF2B5EF4-FFF2-40B4-BE49-F238E27FC236}">
                <a16:creationId xmlns:a16="http://schemas.microsoft.com/office/drawing/2014/main" id="{9AECC0A8-26C0-9746-2880-C2AC70749E5B}"/>
              </a:ext>
            </a:extLst>
          </p:cNvPr>
          <p:cNvSpPr txBox="1"/>
          <p:nvPr/>
        </p:nvSpPr>
        <p:spPr>
          <a:xfrm>
            <a:off x="1726677" y="5253665"/>
            <a:ext cx="2833335" cy="807913"/>
          </a:xfrm>
          <a:prstGeom prst="rect">
            <a:avLst/>
          </a:prstGeom>
          <a:noFill/>
        </p:spPr>
        <p:txBody>
          <a:bodyPr wrap="square" lIns="0" tIns="60960" rIns="121920" bIns="60960" rtlCol="0" anchor="t">
            <a:spAutoFit/>
          </a:bodyPr>
          <a:lstStyle/>
          <a:p>
            <a:pPr defTabSz="1219110"/>
            <a:r>
              <a:rPr lang="en-US" sz="1200" b="1">
                <a:solidFill>
                  <a:srgbClr val="0A2F46">
                    <a:lumMod val="75000"/>
                    <a:lumOff val="25000"/>
                  </a:srgbClr>
                </a:solidFill>
                <a:latin typeface="Arial" panose="020B0604020202020204"/>
              </a:rPr>
              <a:t>GTM Planning</a:t>
            </a:r>
            <a:endParaRPr lang="en-US" sz="1200" b="1">
              <a:solidFill>
                <a:srgbClr val="0A2F46">
                  <a:lumMod val="75000"/>
                  <a:lumOff val="25000"/>
                </a:srgbClr>
              </a:solidFill>
              <a:latin typeface="Arial" panose="020B0604020202020204"/>
              <a:cs typeface="Arial"/>
            </a:endParaRPr>
          </a:p>
          <a:p>
            <a:pPr defTabSz="1219110"/>
            <a:r>
              <a:rPr lang="en-US" sz="1100">
                <a:solidFill>
                  <a:srgbClr val="0A2F46"/>
                </a:solidFill>
                <a:latin typeface="Arial" panose="020B0604020202020204"/>
              </a:rPr>
              <a:t>Model next year's hierarchy and coverage model</a:t>
            </a:r>
            <a:endParaRPr lang="en-US" sz="1100">
              <a:solidFill>
                <a:srgbClr val="000000"/>
              </a:solidFill>
              <a:latin typeface="Arial" panose="020B0604020202020204"/>
            </a:endParaRPr>
          </a:p>
          <a:p>
            <a:pPr defTabSz="1219110"/>
            <a:endParaRPr lang="en-US" sz="1050" dirty="0">
              <a:solidFill>
                <a:srgbClr val="0A2F46"/>
              </a:solidFill>
              <a:latin typeface="Arial" panose="020B0604020202020204"/>
              <a:cs typeface="Arial"/>
            </a:endParaRPr>
          </a:p>
        </p:txBody>
      </p:sp>
      <p:grpSp>
        <p:nvGrpSpPr>
          <p:cNvPr id="48" name="Group 47">
            <a:extLst>
              <a:ext uri="{FF2B5EF4-FFF2-40B4-BE49-F238E27FC236}">
                <a16:creationId xmlns:a16="http://schemas.microsoft.com/office/drawing/2014/main" id="{C69EBA44-C811-69BB-EADE-6652F541C2AF}"/>
              </a:ext>
            </a:extLst>
          </p:cNvPr>
          <p:cNvGrpSpPr>
            <a:grpSpLocks noChangeAspect="1"/>
          </p:cNvGrpSpPr>
          <p:nvPr/>
        </p:nvGrpSpPr>
        <p:grpSpPr>
          <a:xfrm>
            <a:off x="3055246" y="3023471"/>
            <a:ext cx="1640567" cy="1219200"/>
            <a:chOff x="1505373" y="1481418"/>
            <a:chExt cx="2536935" cy="1885341"/>
          </a:xfrm>
        </p:grpSpPr>
        <p:sp>
          <p:nvSpPr>
            <p:cNvPr id="49" name="Freeform 48">
              <a:extLst>
                <a:ext uri="{FF2B5EF4-FFF2-40B4-BE49-F238E27FC236}">
                  <a16:creationId xmlns:a16="http://schemas.microsoft.com/office/drawing/2014/main" id="{0ECCE826-4419-E8DF-C5B0-3667B1033599}"/>
                </a:ext>
              </a:extLst>
            </p:cNvPr>
            <p:cNvSpPr>
              <a:spLocks noChangeAspect="1"/>
            </p:cNvSpPr>
            <p:nvPr/>
          </p:nvSpPr>
          <p:spPr>
            <a:xfrm>
              <a:off x="1505373" y="1816043"/>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1">
                <a:lumMod val="50000"/>
                <a:lumOff val="5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0" name="Freeform 49">
              <a:extLst>
                <a:ext uri="{FF2B5EF4-FFF2-40B4-BE49-F238E27FC236}">
                  <a16:creationId xmlns:a16="http://schemas.microsoft.com/office/drawing/2014/main" id="{3DE47EDE-C6A1-094A-BE7F-320695338F30}"/>
                </a:ext>
              </a:extLst>
            </p:cNvPr>
            <p:cNvSpPr>
              <a:spLocks noChangeAspect="1"/>
            </p:cNvSpPr>
            <p:nvPr/>
          </p:nvSpPr>
          <p:spPr>
            <a:xfrm>
              <a:off x="2099019"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1" name="Freeform 50">
              <a:extLst>
                <a:ext uri="{FF2B5EF4-FFF2-40B4-BE49-F238E27FC236}">
                  <a16:creationId xmlns:a16="http://schemas.microsoft.com/office/drawing/2014/main" id="{E975AD23-1BB1-C2BD-352F-F5E879BAF0D7}"/>
                </a:ext>
              </a:extLst>
            </p:cNvPr>
            <p:cNvSpPr>
              <a:spLocks noChangeAspect="1"/>
            </p:cNvSpPr>
            <p:nvPr/>
          </p:nvSpPr>
          <p:spPr>
            <a:xfrm>
              <a:off x="2099019" y="1481418"/>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2" name="Freeform 51">
              <a:extLst>
                <a:ext uri="{FF2B5EF4-FFF2-40B4-BE49-F238E27FC236}">
                  <a16:creationId xmlns:a16="http://schemas.microsoft.com/office/drawing/2014/main" id="{221ADE27-F377-1D7B-3732-81EF298CCB4D}"/>
                </a:ext>
              </a:extLst>
            </p:cNvPr>
            <p:cNvSpPr>
              <a:spLocks noChangeAspect="1"/>
            </p:cNvSpPr>
            <p:nvPr/>
          </p:nvSpPr>
          <p:spPr>
            <a:xfrm>
              <a:off x="1509561" y="249040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3" name="Freeform 52">
              <a:extLst>
                <a:ext uri="{FF2B5EF4-FFF2-40B4-BE49-F238E27FC236}">
                  <a16:creationId xmlns:a16="http://schemas.microsoft.com/office/drawing/2014/main" id="{928ED692-0699-D97B-E797-32AA7E4BF1AF}"/>
                </a:ext>
              </a:extLst>
            </p:cNvPr>
            <p:cNvSpPr>
              <a:spLocks noChangeAspect="1"/>
            </p:cNvSpPr>
            <p:nvPr/>
          </p:nvSpPr>
          <p:spPr>
            <a:xfrm>
              <a:off x="2692005" y="1821847"/>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4" name="Freeform 53">
              <a:extLst>
                <a:ext uri="{FF2B5EF4-FFF2-40B4-BE49-F238E27FC236}">
                  <a16:creationId xmlns:a16="http://schemas.microsoft.com/office/drawing/2014/main" id="{9D5CA914-BAEA-A629-AAC0-5197A8E3280A}"/>
                </a:ext>
              </a:extLst>
            </p:cNvPr>
            <p:cNvSpPr>
              <a:spLocks noChangeAspect="1"/>
            </p:cNvSpPr>
            <p:nvPr/>
          </p:nvSpPr>
          <p:spPr>
            <a:xfrm>
              <a:off x="3286311"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p>
              <a:pPr algn="ctr" defTabSz="1219020">
                <a:defRPr/>
              </a:pPr>
              <a:endParaRPr lang="en-US" sz="1067"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grpSp>
          <p:nvGrpSpPr>
            <p:cNvPr id="55" name="Group 54">
              <a:extLst>
                <a:ext uri="{FF2B5EF4-FFF2-40B4-BE49-F238E27FC236}">
                  <a16:creationId xmlns:a16="http://schemas.microsoft.com/office/drawing/2014/main" id="{A3F7F228-0A41-57D7-2619-5112A368D411}"/>
                </a:ext>
              </a:extLst>
            </p:cNvPr>
            <p:cNvGrpSpPr/>
            <p:nvPr/>
          </p:nvGrpSpPr>
          <p:grpSpPr>
            <a:xfrm>
              <a:off x="2328356" y="2360919"/>
              <a:ext cx="1119646" cy="1005840"/>
              <a:chOff x="2890777" y="3439515"/>
              <a:chExt cx="1119646" cy="1005840"/>
            </a:xfrm>
          </p:grpSpPr>
          <p:sp>
            <p:nvSpPr>
              <p:cNvPr id="56" name="Rounded Rectangle 55">
                <a:extLst>
                  <a:ext uri="{FF2B5EF4-FFF2-40B4-BE49-F238E27FC236}">
                    <a16:creationId xmlns:a16="http://schemas.microsoft.com/office/drawing/2014/main" id="{21E23C7F-57B1-8CBC-8666-F1E0AB3BF4E2}"/>
                  </a:ext>
                </a:extLst>
              </p:cNvPr>
              <p:cNvSpPr>
                <a:spLocks noChangeAspect="1"/>
              </p:cNvSpPr>
              <p:nvPr/>
            </p:nvSpPr>
            <p:spPr>
              <a:xfrm>
                <a:off x="2890777" y="3439515"/>
                <a:ext cx="1119646" cy="1005840"/>
              </a:xfrm>
              <a:prstGeom prst="roundRect">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050">
                  <a:defRPr/>
                </a:pPr>
                <a:endParaRPr lang="en-US" sz="2133" err="1">
                  <a:solidFill>
                    <a:srgbClr val="FFFFFF"/>
                  </a:solidFill>
                  <a:latin typeface="Arial" panose="020B0604020202020204" pitchFamily="34" charset="0"/>
                  <a:ea typeface="Verdana" charset="0"/>
                  <a:cs typeface="Arial" panose="020B0604020202020204" pitchFamily="34" charset="0"/>
                </a:endParaRPr>
              </a:p>
            </p:txBody>
          </p:sp>
          <p:pic>
            <p:nvPicPr>
              <p:cNvPr id="57" name="Graphic 56" descr="Packing Box Open outline">
                <a:extLst>
                  <a:ext uri="{FF2B5EF4-FFF2-40B4-BE49-F238E27FC236}">
                    <a16:creationId xmlns:a16="http://schemas.microsoft.com/office/drawing/2014/main" id="{80AA13D9-76F0-76B9-D83B-D2CAFE7231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9264" y="3519819"/>
                <a:ext cx="850392" cy="850392"/>
              </a:xfrm>
              <a:prstGeom prst="rect">
                <a:avLst/>
              </a:prstGeom>
            </p:spPr>
          </p:pic>
        </p:grpSp>
      </p:grpSp>
      <p:sp>
        <p:nvSpPr>
          <p:cNvPr id="60" name="Oval 59">
            <a:extLst>
              <a:ext uri="{FF2B5EF4-FFF2-40B4-BE49-F238E27FC236}">
                <a16:creationId xmlns:a16="http://schemas.microsoft.com/office/drawing/2014/main" id="{E3B8F696-676E-F736-A626-01159CD06FE8}"/>
              </a:ext>
            </a:extLst>
          </p:cNvPr>
          <p:cNvSpPr/>
          <p:nvPr/>
        </p:nvSpPr>
        <p:spPr>
          <a:xfrm>
            <a:off x="4696900" y="2656049"/>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2" name="Oval 61">
            <a:extLst>
              <a:ext uri="{FF2B5EF4-FFF2-40B4-BE49-F238E27FC236}">
                <a16:creationId xmlns:a16="http://schemas.microsoft.com/office/drawing/2014/main" id="{1BBB0C74-6822-6E49-EFBA-07F800513405}"/>
              </a:ext>
            </a:extLst>
          </p:cNvPr>
          <p:cNvSpPr/>
          <p:nvPr/>
        </p:nvSpPr>
        <p:spPr>
          <a:xfrm>
            <a:off x="4913339" y="3879792"/>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3" name="Oval 62">
            <a:extLst>
              <a:ext uri="{FF2B5EF4-FFF2-40B4-BE49-F238E27FC236}">
                <a16:creationId xmlns:a16="http://schemas.microsoft.com/office/drawing/2014/main" id="{80AF56A7-41AE-18CF-92D3-ADB4AEBF4C1B}"/>
              </a:ext>
            </a:extLst>
          </p:cNvPr>
          <p:cNvSpPr/>
          <p:nvPr/>
        </p:nvSpPr>
        <p:spPr>
          <a:xfrm>
            <a:off x="4194248" y="4707639"/>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90AC6CAE-B934-0E91-F006-B79C31AAA86C}"/>
              </a:ext>
            </a:extLst>
          </p:cNvPr>
          <p:cNvSpPr/>
          <p:nvPr/>
        </p:nvSpPr>
        <p:spPr>
          <a:xfrm>
            <a:off x="3041597" y="4708268"/>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6" name="Oval 65">
            <a:extLst>
              <a:ext uri="{FF2B5EF4-FFF2-40B4-BE49-F238E27FC236}">
                <a16:creationId xmlns:a16="http://schemas.microsoft.com/office/drawing/2014/main" id="{813FEA31-6FC0-7BD9-36A7-B9C13891FFC0}"/>
              </a:ext>
            </a:extLst>
          </p:cNvPr>
          <p:cNvSpPr/>
          <p:nvPr/>
        </p:nvSpPr>
        <p:spPr>
          <a:xfrm>
            <a:off x="2428892" y="2658809"/>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2210CE82-F727-9DA6-BB1A-0E2C034B05FC}"/>
              </a:ext>
            </a:extLst>
          </p:cNvPr>
          <p:cNvSpPr txBox="1"/>
          <p:nvPr/>
        </p:nvSpPr>
        <p:spPr>
          <a:xfrm>
            <a:off x="2927788" y="1267689"/>
            <a:ext cx="2717829" cy="636200"/>
          </a:xfrm>
          <a:prstGeom prst="rect">
            <a:avLst/>
          </a:prstGeom>
          <a:noFill/>
        </p:spPr>
        <p:txBody>
          <a:bodyPr wrap="square" lIns="0" tIns="60960" rIns="121920" bIns="60960" rtlCol="0" anchor="t">
            <a:spAutoFit/>
          </a:bodyPr>
          <a:lstStyle/>
          <a:p>
            <a:pPr defTabSz="1219110" fontAlgn="base"/>
            <a:r>
              <a:rPr lang="en-US" sz="1200" b="1">
                <a:solidFill>
                  <a:srgbClr val="0A2F46">
                    <a:lumMod val="75000"/>
                    <a:lumOff val="25000"/>
                  </a:srgbClr>
                </a:solidFill>
                <a:latin typeface="Arial" panose="020B0604020202020204"/>
              </a:rPr>
              <a:t>Market Analysis</a:t>
            </a:r>
            <a:endParaRPr lang="en-US" sz="2400">
              <a:solidFill>
                <a:srgbClr val="0A2F46">
                  <a:lumMod val="75000"/>
                  <a:lumOff val="25000"/>
                </a:srgbClr>
              </a:solidFill>
              <a:latin typeface="Arial" panose="020B0604020202020204"/>
            </a:endParaRPr>
          </a:p>
          <a:p>
            <a:pPr defTabSz="1219110"/>
            <a:r>
              <a:rPr lang="en-US" sz="1067">
                <a:solidFill>
                  <a:srgbClr val="0A2F46"/>
                </a:solidFill>
                <a:latin typeface="Arial" panose="020B0604020202020204"/>
              </a:rPr>
              <a:t>Analysis of GTM, country, product, and service performance and tiers</a:t>
            </a:r>
            <a:endParaRPr lang="en-US" sz="1067">
              <a:solidFill>
                <a:srgbClr val="0A2F46"/>
              </a:solidFill>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7CBC1A79-8010-0827-8470-8E37CB5DD76C}"/>
              </a:ext>
            </a:extLst>
          </p:cNvPr>
          <p:cNvSpPr/>
          <p:nvPr/>
        </p:nvSpPr>
        <p:spPr>
          <a:xfrm>
            <a:off x="3652708" y="2097383"/>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87C71411-7795-7B71-C71D-9592F00712D5}"/>
              </a:ext>
            </a:extLst>
          </p:cNvPr>
          <p:cNvSpPr/>
          <p:nvPr/>
        </p:nvSpPr>
        <p:spPr>
          <a:xfrm>
            <a:off x="2321943" y="3879791"/>
            <a:ext cx="365760" cy="36576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endParaRPr lang="en-US" sz="2133">
              <a:solidFill>
                <a:srgbClr val="FFFFFF"/>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2203174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91DF6-522A-94E7-392D-2314A468D231}"/>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87B493A1-EAB8-DFD0-ACB8-FC8267283714}"/>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52D9D31C-87F7-9EF3-2F7B-027B128F3E13}"/>
              </a:ext>
            </a:extLst>
          </p:cNvPr>
          <p:cNvPicPr>
            <a:picLocks noChangeAspect="1"/>
          </p:cNvPicPr>
          <p:nvPr/>
        </p:nvPicPr>
        <p:blipFill>
          <a:blip r:embed="rId3"/>
          <a:stretch>
            <a:fillRect/>
          </a:stretch>
        </p:blipFill>
        <p:spPr>
          <a:xfrm>
            <a:off x="6279703" y="3069656"/>
            <a:ext cx="5597336" cy="3104805"/>
          </a:xfrm>
          <a:prstGeom prst="rect">
            <a:avLst/>
          </a:prstGeom>
          <a:ln>
            <a:solidFill>
              <a:schemeClr val="tx2"/>
            </a:solidFill>
          </a:ln>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4AA3E75C-85EB-D4F3-BED1-73D2EDFEF255}"/>
              </a:ext>
            </a:extLst>
          </p:cNvPr>
          <p:cNvSpPr txBox="1"/>
          <p:nvPr/>
        </p:nvSpPr>
        <p:spPr>
          <a:xfrm>
            <a:off x="670560" y="2149107"/>
            <a:ext cx="4389120" cy="2206245"/>
          </a:xfrm>
          <a:prstGeom prst="rect">
            <a:avLst/>
          </a:prstGeom>
          <a:noFill/>
        </p:spPr>
        <p:txBody>
          <a:bodyPr wrap="square" rtlCol="0">
            <a:spAutoFit/>
          </a:bodyPr>
          <a:lstStyle/>
          <a:p>
            <a:pPr marL="380990" indent="-380990" defTabSz="1219170">
              <a:spcBef>
                <a:spcPts val="800"/>
              </a:spcBef>
              <a:buFont typeface="Wingdings" pitchFamily="2" charset="2"/>
              <a:buChar char="ü"/>
            </a:pPr>
            <a:r>
              <a:rPr lang="en-US" sz="1467" dirty="0">
                <a:solidFill>
                  <a:srgbClr val="F2F1EE"/>
                </a:solidFill>
                <a:latin typeface="Arial" panose="020B0604020202020204"/>
              </a:rPr>
              <a:t>Analyze </a:t>
            </a:r>
            <a:r>
              <a:rPr lang="en-US" sz="1467" b="1" dirty="0">
                <a:solidFill>
                  <a:srgbClr val="F2F1EE"/>
                </a:solidFill>
                <a:latin typeface="Arial" panose="020B0604020202020204"/>
              </a:rPr>
              <a:t>GTM performance </a:t>
            </a:r>
            <a:r>
              <a:rPr lang="en-US" sz="1467" dirty="0">
                <a:solidFill>
                  <a:srgbClr val="F2F1EE"/>
                </a:solidFill>
                <a:latin typeface="Arial" panose="020B0604020202020204"/>
              </a:rPr>
              <a:t>across configurable dimensions</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Support revenue, sales, CS, and marketing metrics for </a:t>
            </a:r>
            <a:r>
              <a:rPr lang="en-US" sz="1467" b="1" dirty="0">
                <a:solidFill>
                  <a:srgbClr val="F2F1EE"/>
                </a:solidFill>
                <a:latin typeface="Arial" panose="020B0604020202020204"/>
              </a:rPr>
              <a:t>CRO visibility</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Uncover </a:t>
            </a:r>
            <a:r>
              <a:rPr lang="en-US" sz="1467" b="1" dirty="0">
                <a:solidFill>
                  <a:srgbClr val="F2F1EE"/>
                </a:solidFill>
                <a:latin typeface="Arial" panose="020B0604020202020204"/>
              </a:rPr>
              <a:t>upsell</a:t>
            </a:r>
            <a:r>
              <a:rPr lang="en-US" sz="1467" dirty="0">
                <a:solidFill>
                  <a:srgbClr val="F2F1EE"/>
                </a:solidFill>
                <a:latin typeface="Arial" panose="020B0604020202020204"/>
              </a:rPr>
              <a:t> and </a:t>
            </a:r>
            <a:r>
              <a:rPr lang="en-US" sz="1467" b="1" dirty="0">
                <a:solidFill>
                  <a:srgbClr val="F2F1EE"/>
                </a:solidFill>
                <a:latin typeface="Arial" panose="020B0604020202020204"/>
              </a:rPr>
              <a:t>cross-sell</a:t>
            </a:r>
            <a:r>
              <a:rPr lang="en-US" sz="1467" dirty="0">
                <a:solidFill>
                  <a:srgbClr val="F2F1EE"/>
                </a:solidFill>
                <a:latin typeface="Arial" panose="020B0604020202020204"/>
              </a:rPr>
              <a:t> opportunities by segment or region</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Use trend insights to </a:t>
            </a:r>
            <a:r>
              <a:rPr lang="en-US" sz="1467" b="1" dirty="0">
                <a:solidFill>
                  <a:srgbClr val="F2F1EE"/>
                </a:solidFill>
                <a:latin typeface="Arial" panose="020B0604020202020204"/>
              </a:rPr>
              <a:t>optimize resource allocation</a:t>
            </a:r>
            <a:r>
              <a:rPr lang="en-US" sz="1467" dirty="0">
                <a:solidFill>
                  <a:srgbClr val="F2F1EE"/>
                </a:solidFill>
                <a:latin typeface="Arial" panose="020B0604020202020204"/>
              </a:rPr>
              <a:t> and strategy</a:t>
            </a:r>
          </a:p>
        </p:txBody>
      </p:sp>
      <p:pic>
        <p:nvPicPr>
          <p:cNvPr id="2" name="Picture 1">
            <a:extLst>
              <a:ext uri="{FF2B5EF4-FFF2-40B4-BE49-F238E27FC236}">
                <a16:creationId xmlns:a16="http://schemas.microsoft.com/office/drawing/2014/main" id="{C26EBDFF-9AED-0E0D-2010-2E467D6B16A2}"/>
              </a:ext>
            </a:extLst>
          </p:cNvPr>
          <p:cNvPicPr>
            <a:picLocks noChangeAspect="1"/>
          </p:cNvPicPr>
          <p:nvPr/>
        </p:nvPicPr>
        <p:blipFill>
          <a:blip r:embed="rId4"/>
          <a:stretch>
            <a:fillRect/>
          </a:stretch>
        </p:blipFill>
        <p:spPr>
          <a:xfrm>
            <a:off x="5494641" y="1222148"/>
            <a:ext cx="5935361" cy="2712645"/>
          </a:xfrm>
          <a:prstGeom prst="rect">
            <a:avLst/>
          </a:prstGeom>
          <a:ln>
            <a:solidFill>
              <a:schemeClr val="tx2"/>
            </a:solidFill>
          </a:ln>
          <a:effectLst>
            <a:outerShdw blurRad="63500" sx="102000" sy="102000" algn="ctr" rotWithShape="0">
              <a:prstClr val="black">
                <a:alpha val="40000"/>
              </a:prstClr>
            </a:outerShdw>
          </a:effectLst>
        </p:spPr>
      </p:pic>
      <p:sp>
        <p:nvSpPr>
          <p:cNvPr id="19" name="Title 1">
            <a:extLst>
              <a:ext uri="{FF2B5EF4-FFF2-40B4-BE49-F238E27FC236}">
                <a16:creationId xmlns:a16="http://schemas.microsoft.com/office/drawing/2014/main" id="{3B73DE12-8CDE-BD6C-5500-769B35538764}"/>
              </a:ext>
            </a:extLst>
          </p:cNvPr>
          <p:cNvSpPr>
            <a:spLocks noGrp="1"/>
          </p:cNvSpPr>
          <p:nvPr>
            <p:ph type="title"/>
          </p:nvPr>
        </p:nvSpPr>
        <p:spPr/>
        <p:txBody>
          <a:bodyPr lIns="0" tIns="60960" rIns="0" bIns="60960" anchor="t"/>
          <a:lstStyle/>
          <a:p>
            <a:r>
              <a:rPr lang="en-US">
                <a:latin typeface="Arial"/>
                <a:cs typeface="Arial"/>
              </a:rPr>
              <a:t>Segmentation and Scoring Application</a:t>
            </a:r>
          </a:p>
        </p:txBody>
      </p:sp>
      <p:cxnSp>
        <p:nvCxnSpPr>
          <p:cNvPr id="9" name="Straight Connector 8">
            <a:extLst>
              <a:ext uri="{FF2B5EF4-FFF2-40B4-BE49-F238E27FC236}">
                <a16:creationId xmlns:a16="http://schemas.microsoft.com/office/drawing/2014/main" id="{3A3C68A1-0E2A-7FB7-1331-56508DA8B3F2}"/>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CEF67F3-6D9D-AB21-3548-1A5CB2DB7A3A}"/>
              </a:ext>
            </a:extLst>
          </p:cNvPr>
          <p:cNvSpPr txBox="1"/>
          <p:nvPr/>
        </p:nvSpPr>
        <p:spPr>
          <a:xfrm>
            <a:off x="668775" y="1414272"/>
            <a:ext cx="4389120" cy="359009"/>
          </a:xfrm>
          <a:prstGeom prst="rect">
            <a:avLst/>
          </a:prstGeom>
          <a:noFill/>
        </p:spPr>
        <p:txBody>
          <a:bodyPr wrap="square" lIns="0" rtlCol="0">
            <a:spAutoFit/>
          </a:bodyPr>
          <a:lstStyle/>
          <a:p>
            <a:pPr algn="ctr" defTabSz="1219170">
              <a:spcAft>
                <a:spcPts val="1067"/>
              </a:spcAft>
            </a:pPr>
            <a:r>
              <a:rPr lang="en-US" sz="1733" dirty="0">
                <a:solidFill>
                  <a:srgbClr val="F2F1EE"/>
                </a:solidFill>
                <a:latin typeface="Arial" panose="020B0604020202020204"/>
              </a:rPr>
              <a:t>GTM Performance Review &amp; Optimization</a:t>
            </a:r>
          </a:p>
        </p:txBody>
      </p:sp>
    </p:spTree>
    <p:extLst>
      <p:ext uri="{BB962C8B-B14F-4D97-AF65-F5344CB8AC3E}">
        <p14:creationId xmlns:p14="http://schemas.microsoft.com/office/powerpoint/2010/main" val="165459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B4A22-11A4-FDD7-45EA-6F14EE25ED5A}"/>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4D9525EB-6E14-39C9-952C-97D483D67529}"/>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7DEAF0D6-8EE4-E884-8D5B-A0AC97D85DB6}"/>
              </a:ext>
            </a:extLst>
          </p:cNvPr>
          <p:cNvSpPr txBox="1"/>
          <p:nvPr/>
        </p:nvSpPr>
        <p:spPr>
          <a:xfrm>
            <a:off x="670560" y="2189046"/>
            <a:ext cx="4389120" cy="2821926"/>
          </a:xfrm>
          <a:prstGeom prst="rect">
            <a:avLst/>
          </a:prstGeom>
          <a:noFill/>
        </p:spPr>
        <p:txBody>
          <a:bodyPr wrap="square" lIns="91440" tIns="45720" rIns="91440" bIns="45720" rtlCol="0" anchor="t">
            <a:spAutoFit/>
          </a:bodyPr>
          <a:lstStyle/>
          <a:p>
            <a:pPr marL="380365" indent="-380365" defTabSz="1219170">
              <a:spcBef>
                <a:spcPts val="800"/>
              </a:spcBef>
              <a:buFont typeface="Wingdings" pitchFamily="2" charset="2"/>
              <a:buChar char="ü"/>
            </a:pPr>
            <a:r>
              <a:rPr lang="en-US" sz="1467" b="1" dirty="0">
                <a:solidFill>
                  <a:srgbClr val="F2F1EE"/>
                </a:solidFill>
                <a:latin typeface="Arial" panose="020B0604020202020204"/>
              </a:rPr>
              <a:t>Define and manage country tiers </a:t>
            </a:r>
            <a:r>
              <a:rPr lang="en-US" sz="1467" dirty="0">
                <a:solidFill>
                  <a:srgbClr val="F2F1EE"/>
                </a:solidFill>
                <a:latin typeface="Arial" panose="020B0604020202020204"/>
              </a:rPr>
              <a:t>by maturity or strategic value</a:t>
            </a:r>
            <a:endParaRPr lang="en-US"/>
          </a:p>
          <a:p>
            <a:pPr marL="380990" indent="-380990" defTabSz="1219170">
              <a:spcBef>
                <a:spcPts val="800"/>
              </a:spcBef>
              <a:buFont typeface="Wingdings" pitchFamily="2" charset="2"/>
              <a:buChar char="ü"/>
            </a:pPr>
            <a:r>
              <a:rPr lang="en-US" sz="1467" dirty="0">
                <a:solidFill>
                  <a:srgbClr val="F2F1EE"/>
                </a:solidFill>
                <a:latin typeface="Arial" panose="020B0604020202020204"/>
              </a:rPr>
              <a:t>Classify markets by </a:t>
            </a:r>
            <a:r>
              <a:rPr lang="en-US" sz="1467" b="1" dirty="0">
                <a:solidFill>
                  <a:srgbClr val="F2F1EE"/>
                </a:solidFill>
                <a:latin typeface="Arial" panose="020B0604020202020204"/>
              </a:rPr>
              <a:t>maturity</a:t>
            </a:r>
            <a:r>
              <a:rPr lang="en-US" sz="1467" dirty="0">
                <a:solidFill>
                  <a:srgbClr val="F2F1EE"/>
                </a:solidFill>
                <a:latin typeface="Arial" panose="020B0604020202020204"/>
              </a:rPr>
              <a:t> and </a:t>
            </a:r>
            <a:r>
              <a:rPr lang="en-US" sz="1467" b="1" dirty="0">
                <a:solidFill>
                  <a:srgbClr val="F2F1EE"/>
                </a:solidFill>
                <a:latin typeface="Arial" panose="020B0604020202020204"/>
              </a:rPr>
              <a:t>growth</a:t>
            </a:r>
            <a:r>
              <a:rPr lang="en-US" sz="1467" dirty="0">
                <a:solidFill>
                  <a:srgbClr val="F2F1EE"/>
                </a:solidFill>
                <a:latin typeface="Arial" panose="020B0604020202020204"/>
              </a:rPr>
              <a:t> potential</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Analyze </a:t>
            </a:r>
            <a:r>
              <a:rPr lang="en-US" sz="1467" b="1" dirty="0">
                <a:solidFill>
                  <a:srgbClr val="F2F1EE"/>
                </a:solidFill>
                <a:latin typeface="Arial" panose="020B0604020202020204"/>
              </a:rPr>
              <a:t>regional buying behavior </a:t>
            </a:r>
            <a:r>
              <a:rPr lang="en-US" sz="1467" dirty="0">
                <a:solidFill>
                  <a:srgbClr val="F2F1EE"/>
                </a:solidFill>
                <a:latin typeface="Arial" panose="020B0604020202020204"/>
              </a:rPr>
              <a:t>to inform segmentation</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Use rules-engines to </a:t>
            </a:r>
            <a:r>
              <a:rPr lang="en-US" sz="1467" b="1" dirty="0">
                <a:solidFill>
                  <a:srgbClr val="F2F1EE"/>
                </a:solidFill>
                <a:latin typeface="Arial" panose="020B0604020202020204"/>
              </a:rPr>
              <a:t>exclude accounts from targeting</a:t>
            </a:r>
            <a:r>
              <a:rPr lang="en-US" sz="1467" dirty="0">
                <a:solidFill>
                  <a:srgbClr val="F2F1EE"/>
                </a:solidFill>
                <a:latin typeface="Arial" panose="020B0604020202020204"/>
              </a:rPr>
              <a:t> (e.g., embargoed or restricted markets)</a:t>
            </a:r>
            <a:endParaRPr lang="en-US" sz="1467" b="1" dirty="0">
              <a:solidFill>
                <a:srgbClr val="F2F1EE"/>
              </a:solidFill>
              <a:latin typeface="Arial" panose="020B0604020202020204"/>
            </a:endParaRPr>
          </a:p>
          <a:p>
            <a:pPr marL="380990" indent="-380990" defTabSz="1219170">
              <a:spcBef>
                <a:spcPts val="800"/>
              </a:spcBef>
              <a:buFont typeface="Wingdings" pitchFamily="2" charset="2"/>
              <a:buChar char="ü"/>
            </a:pPr>
            <a:endParaRPr lang="en-US" sz="1867" b="1" dirty="0">
              <a:solidFill>
                <a:srgbClr val="0A2F46"/>
              </a:solidFill>
              <a:latin typeface="Arial" panose="020B0604020202020204"/>
            </a:endParaRPr>
          </a:p>
        </p:txBody>
      </p:sp>
      <p:pic>
        <p:nvPicPr>
          <p:cNvPr id="2" name="Picture 1">
            <a:extLst>
              <a:ext uri="{FF2B5EF4-FFF2-40B4-BE49-F238E27FC236}">
                <a16:creationId xmlns:a16="http://schemas.microsoft.com/office/drawing/2014/main" id="{4F2A8F9A-6DD8-6DA5-20ED-3720C8F4EEBF}"/>
              </a:ext>
            </a:extLst>
          </p:cNvPr>
          <p:cNvPicPr>
            <a:picLocks noChangeAspect="1"/>
          </p:cNvPicPr>
          <p:nvPr/>
        </p:nvPicPr>
        <p:blipFill>
          <a:blip r:embed="rId3"/>
          <a:stretch>
            <a:fillRect/>
          </a:stretch>
        </p:blipFill>
        <p:spPr>
          <a:xfrm>
            <a:off x="5653177" y="1771048"/>
            <a:ext cx="6189675" cy="3391536"/>
          </a:xfrm>
          <a:prstGeom prst="rect">
            <a:avLst/>
          </a:prstGeom>
          <a:ln>
            <a:solidFill>
              <a:schemeClr val="tx2"/>
            </a:solidFill>
          </a:ln>
          <a:effectLst>
            <a:outerShdw blurRad="63500" sx="102000" sy="102000" algn="ctr" rotWithShape="0">
              <a:prstClr val="black">
                <a:alpha val="40000"/>
              </a:prstClr>
            </a:outerShdw>
          </a:effectLst>
        </p:spPr>
      </p:pic>
      <p:sp>
        <p:nvSpPr>
          <p:cNvPr id="21" name="Title 1">
            <a:extLst>
              <a:ext uri="{FF2B5EF4-FFF2-40B4-BE49-F238E27FC236}">
                <a16:creationId xmlns:a16="http://schemas.microsoft.com/office/drawing/2014/main" id="{2A2F3613-A89C-A6D4-74D0-2DE8EDB647BC}"/>
              </a:ext>
            </a:extLst>
          </p:cNvPr>
          <p:cNvSpPr>
            <a:spLocks noGrp="1"/>
          </p:cNvSpPr>
          <p:nvPr>
            <p:ph type="title"/>
          </p:nvPr>
        </p:nvSpPr>
        <p:spPr/>
        <p:txBody>
          <a:bodyPr lIns="0" tIns="60960" rIns="0" bIns="60960" anchor="t"/>
          <a:lstStyle/>
          <a:p>
            <a:r>
              <a:rPr lang="en-US">
                <a:latin typeface="Arial"/>
                <a:cs typeface="Arial"/>
              </a:rPr>
              <a:t>Segmentation and Scoring Application</a:t>
            </a:r>
          </a:p>
        </p:txBody>
      </p:sp>
      <p:cxnSp>
        <p:nvCxnSpPr>
          <p:cNvPr id="4" name="Straight Connector 3">
            <a:extLst>
              <a:ext uri="{FF2B5EF4-FFF2-40B4-BE49-F238E27FC236}">
                <a16:creationId xmlns:a16="http://schemas.microsoft.com/office/drawing/2014/main" id="{5CAD5EFA-E3DE-F482-D129-438BBC44784A}"/>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697C753-4116-BAB5-7BCF-43A2A9976E0F}"/>
              </a:ext>
            </a:extLst>
          </p:cNvPr>
          <p:cNvSpPr txBox="1"/>
          <p:nvPr/>
        </p:nvSpPr>
        <p:spPr>
          <a:xfrm>
            <a:off x="668775" y="1414272"/>
            <a:ext cx="4389120" cy="359009"/>
          </a:xfrm>
          <a:prstGeom prst="rect">
            <a:avLst/>
          </a:prstGeom>
          <a:noFill/>
        </p:spPr>
        <p:txBody>
          <a:bodyPr wrap="square" lIns="0" rtlCol="0">
            <a:spAutoFit/>
          </a:bodyPr>
          <a:lstStyle/>
          <a:p>
            <a:pPr algn="ctr" defTabSz="1219170">
              <a:spcBef>
                <a:spcPts val="800"/>
              </a:spcBef>
              <a:spcAft>
                <a:spcPts val="1067"/>
              </a:spcAft>
              <a:defRPr/>
            </a:pPr>
            <a:r>
              <a:rPr lang="en-US" sz="1733" dirty="0">
                <a:solidFill>
                  <a:srgbClr val="F2F1EE"/>
                </a:solidFill>
                <a:latin typeface="Arial" panose="020B0604020202020204"/>
              </a:rPr>
              <a:t>Market Maturity &amp; Regional Analysis</a:t>
            </a:r>
          </a:p>
        </p:txBody>
      </p:sp>
    </p:spTree>
    <p:extLst>
      <p:ext uri="{BB962C8B-B14F-4D97-AF65-F5344CB8AC3E}">
        <p14:creationId xmlns:p14="http://schemas.microsoft.com/office/powerpoint/2010/main" val="2442875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BB11E-5834-E912-C18B-1EB1BFEF6AEC}"/>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D320E6FB-A804-16B2-E7A5-01BB45B27C1D}"/>
              </a:ext>
            </a:extLst>
          </p:cNvPr>
          <p:cNvSpPr/>
          <p:nvPr/>
        </p:nvSpPr>
        <p:spPr>
          <a:xfrm>
            <a:off x="414116" y="1202598"/>
            <a:ext cx="4732191"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443A4101-DC85-D59D-88C3-7B15E08005AB}"/>
              </a:ext>
            </a:extLst>
          </p:cNvPr>
          <p:cNvSpPr txBox="1"/>
          <p:nvPr/>
        </p:nvSpPr>
        <p:spPr>
          <a:xfrm>
            <a:off x="718788" y="2062621"/>
            <a:ext cx="4389120" cy="1939442"/>
          </a:xfrm>
          <a:prstGeom prst="rect">
            <a:avLst/>
          </a:prstGeom>
          <a:noFill/>
        </p:spPr>
        <p:txBody>
          <a:bodyPr wrap="square" rtlCol="0">
            <a:spAutoFit/>
          </a:bodyPr>
          <a:lstStyle/>
          <a:p>
            <a:pPr marL="380990" indent="-380990" defTabSz="1219170">
              <a:spcBef>
                <a:spcPts val="800"/>
              </a:spcBef>
              <a:buFont typeface="Wingdings" pitchFamily="2" charset="2"/>
              <a:buChar char="ü"/>
            </a:pPr>
            <a:r>
              <a:rPr lang="en-US" sz="1467" b="1" dirty="0">
                <a:solidFill>
                  <a:srgbClr val="FFFFFF"/>
                </a:solidFill>
                <a:latin typeface="Arial" panose="020B0604020202020204"/>
              </a:rPr>
              <a:t>Exclude accounts </a:t>
            </a:r>
            <a:r>
              <a:rPr lang="en-US" sz="1467" dirty="0">
                <a:solidFill>
                  <a:srgbClr val="FFFFFF"/>
                </a:solidFill>
                <a:latin typeface="Arial" panose="020B0604020202020204"/>
              </a:rPr>
              <a:t>based on criteria like country tier, industry, revenue, or size</a:t>
            </a:r>
          </a:p>
          <a:p>
            <a:pPr marL="380990" indent="-380990" defTabSz="1219170">
              <a:spcBef>
                <a:spcPts val="800"/>
              </a:spcBef>
              <a:buFont typeface="Wingdings" pitchFamily="2" charset="2"/>
              <a:buChar char="ü"/>
            </a:pPr>
            <a:r>
              <a:rPr lang="en-US" sz="1467" dirty="0">
                <a:solidFill>
                  <a:srgbClr val="FFFFFF"/>
                </a:solidFill>
                <a:latin typeface="Arial" panose="020B0604020202020204"/>
              </a:rPr>
              <a:t>Assess how exclusions impact total </a:t>
            </a:r>
            <a:r>
              <a:rPr lang="en-US" sz="1467" b="1" dirty="0">
                <a:solidFill>
                  <a:srgbClr val="FFFFFF"/>
                </a:solidFill>
                <a:latin typeface="Arial" panose="020B0604020202020204"/>
              </a:rPr>
              <a:t>wallet size</a:t>
            </a:r>
          </a:p>
          <a:p>
            <a:pPr marL="380990" indent="-380990" defTabSz="1219170">
              <a:spcBef>
                <a:spcPts val="800"/>
              </a:spcBef>
              <a:buFont typeface="Wingdings" pitchFamily="2" charset="2"/>
              <a:buChar char="ü"/>
            </a:pPr>
            <a:r>
              <a:rPr lang="en-US" sz="1467" dirty="0">
                <a:solidFill>
                  <a:srgbClr val="FFFFFF"/>
                </a:solidFill>
                <a:latin typeface="Arial" panose="020B0604020202020204"/>
              </a:rPr>
              <a:t>Prioritize </a:t>
            </a:r>
            <a:r>
              <a:rPr lang="en-US" sz="1467" b="1" dirty="0">
                <a:solidFill>
                  <a:srgbClr val="FFFFFF"/>
                </a:solidFill>
                <a:latin typeface="Arial" panose="020B0604020202020204"/>
              </a:rPr>
              <a:t>high-potential</a:t>
            </a:r>
            <a:r>
              <a:rPr lang="en-US" sz="1467" dirty="0">
                <a:solidFill>
                  <a:srgbClr val="FFFFFF"/>
                </a:solidFill>
                <a:latin typeface="Arial" panose="020B0604020202020204"/>
              </a:rPr>
              <a:t> accounts for segmentation and planning</a:t>
            </a:r>
          </a:p>
          <a:p>
            <a:pPr marL="380990" indent="-380990" defTabSz="1219170">
              <a:buFont typeface="Wingdings" pitchFamily="2" charset="2"/>
              <a:buChar char="ü"/>
            </a:pPr>
            <a:endParaRPr lang="en-US" sz="1867" dirty="0">
              <a:solidFill>
                <a:srgbClr val="0A2F46"/>
              </a:solidFill>
              <a:latin typeface="Arial" panose="020B0604020202020204"/>
            </a:endParaRPr>
          </a:p>
        </p:txBody>
      </p:sp>
      <p:sp>
        <p:nvSpPr>
          <p:cNvPr id="18" name="Title 1">
            <a:extLst>
              <a:ext uri="{FF2B5EF4-FFF2-40B4-BE49-F238E27FC236}">
                <a16:creationId xmlns:a16="http://schemas.microsoft.com/office/drawing/2014/main" id="{6B71F69E-B85C-95F3-FACE-CF9DD0BA80C0}"/>
              </a:ext>
            </a:extLst>
          </p:cNvPr>
          <p:cNvSpPr>
            <a:spLocks noGrp="1"/>
          </p:cNvSpPr>
          <p:nvPr>
            <p:ph type="title"/>
          </p:nvPr>
        </p:nvSpPr>
        <p:spPr/>
        <p:txBody>
          <a:bodyPr lIns="0" tIns="60960" rIns="0" bIns="60960" anchor="t"/>
          <a:lstStyle/>
          <a:p>
            <a:r>
              <a:rPr lang="en-US">
                <a:latin typeface="Arial"/>
                <a:cs typeface="Arial"/>
              </a:rPr>
              <a:t>Segmentation and Scoring Application</a:t>
            </a:r>
          </a:p>
        </p:txBody>
      </p:sp>
      <p:cxnSp>
        <p:nvCxnSpPr>
          <p:cNvPr id="8" name="Straight Connector 7">
            <a:extLst>
              <a:ext uri="{FF2B5EF4-FFF2-40B4-BE49-F238E27FC236}">
                <a16:creationId xmlns:a16="http://schemas.microsoft.com/office/drawing/2014/main" id="{29F17EFC-BB7B-5E3F-9AC3-C77800715210}"/>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0FB7C07-98C2-FF83-CE99-D1C0C9C1C541}"/>
              </a:ext>
            </a:extLst>
          </p:cNvPr>
          <p:cNvSpPr txBox="1"/>
          <p:nvPr/>
        </p:nvSpPr>
        <p:spPr>
          <a:xfrm>
            <a:off x="414115" y="1279234"/>
            <a:ext cx="4732191" cy="615553"/>
          </a:xfrm>
          <a:prstGeom prst="rect">
            <a:avLst/>
          </a:prstGeom>
          <a:noFill/>
        </p:spPr>
        <p:txBody>
          <a:bodyPr wrap="square" lIns="0" tIns="45720" rIns="91440" bIns="45720" rtlCol="0" anchor="t">
            <a:spAutoFit/>
          </a:bodyPr>
          <a:lstStyle/>
          <a:p>
            <a:pPr algn="ctr" defTabSz="1219170">
              <a:spcAft>
                <a:spcPts val="1067"/>
              </a:spcAft>
            </a:pPr>
            <a:r>
              <a:rPr lang="en-US" sz="1700" dirty="0">
                <a:solidFill>
                  <a:srgbClr val="F2F1EE"/>
                </a:solidFill>
                <a:latin typeface="Arial" panose="020B0604020202020204"/>
              </a:rPr>
              <a:t>Unacceptable Customer</a:t>
            </a:r>
            <a:r>
              <a:rPr lang="en-US" sz="1700">
                <a:solidFill>
                  <a:srgbClr val="F2F1EE"/>
                </a:solidFill>
                <a:latin typeface="Arial" panose="020B0604020202020204"/>
              </a:rPr>
              <a:t> Profile (UCP) </a:t>
            </a:r>
            <a:r>
              <a:rPr lang="en-US" sz="1700" dirty="0">
                <a:solidFill>
                  <a:srgbClr val="F2F1EE"/>
                </a:solidFill>
                <a:latin typeface="Arial" panose="020B0604020202020204"/>
              </a:rPr>
              <a:t>Identification</a:t>
            </a:r>
          </a:p>
        </p:txBody>
      </p:sp>
      <p:pic>
        <p:nvPicPr>
          <p:cNvPr id="3" name="Picture 2" descr="A screenshot of a application&#10;&#10;AI-generated content may be incorrect.">
            <a:extLst>
              <a:ext uri="{FF2B5EF4-FFF2-40B4-BE49-F238E27FC236}">
                <a16:creationId xmlns:a16="http://schemas.microsoft.com/office/drawing/2014/main" id="{6C2AF8EE-6137-71A7-5CCB-04D8F023C603}"/>
              </a:ext>
            </a:extLst>
          </p:cNvPr>
          <p:cNvPicPr>
            <a:picLocks noChangeAspect="1"/>
          </p:cNvPicPr>
          <p:nvPr/>
        </p:nvPicPr>
        <p:blipFill>
          <a:blip r:embed="rId3"/>
          <a:stretch>
            <a:fillRect/>
          </a:stretch>
        </p:blipFill>
        <p:spPr>
          <a:xfrm>
            <a:off x="5276126" y="2430878"/>
            <a:ext cx="6501115" cy="2333841"/>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2908230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CBE27-56BF-2ECF-E5D5-388B93EB8C1B}"/>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FEB9A366-2997-200C-7BE8-3BFB50FD1E56}"/>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0D910B48-03EE-F3A9-BBFD-6C6C2625FD03}"/>
              </a:ext>
            </a:extLst>
          </p:cNvPr>
          <p:cNvSpPr txBox="1"/>
          <p:nvPr/>
        </p:nvSpPr>
        <p:spPr>
          <a:xfrm>
            <a:off x="670560" y="2320570"/>
            <a:ext cx="4389120" cy="2534605"/>
          </a:xfrm>
          <a:prstGeom prst="rect">
            <a:avLst/>
          </a:prstGeom>
          <a:noFill/>
        </p:spPr>
        <p:txBody>
          <a:bodyPr wrap="square" rtlCol="0">
            <a:spAutoFit/>
          </a:bodyPr>
          <a:lstStyle/>
          <a:p>
            <a:pPr marL="380990" indent="-380990" defTabSz="1219170">
              <a:spcBef>
                <a:spcPts val="800"/>
              </a:spcBef>
              <a:buFont typeface="Wingdings" pitchFamily="2" charset="2"/>
              <a:buChar char="ü"/>
            </a:pPr>
            <a:r>
              <a:rPr lang="en-US" sz="1467" b="1" dirty="0">
                <a:solidFill>
                  <a:srgbClr val="F2F1EE"/>
                </a:solidFill>
                <a:latin typeface="Arial" panose="020B0604020202020204"/>
              </a:rPr>
              <a:t>Visualize and manage account hierarchies </a:t>
            </a:r>
            <a:r>
              <a:rPr lang="en-US" sz="1467" dirty="0">
                <a:solidFill>
                  <a:srgbClr val="F2F1EE"/>
                </a:solidFill>
                <a:latin typeface="Arial" panose="020B0604020202020204"/>
              </a:rPr>
              <a:t>for greater clarity</a:t>
            </a:r>
          </a:p>
          <a:p>
            <a:pPr marL="380990" indent="-380990" defTabSz="1219170">
              <a:spcBef>
                <a:spcPts val="800"/>
              </a:spcBef>
              <a:buFont typeface="Wingdings" pitchFamily="2" charset="2"/>
              <a:buChar char="ü"/>
            </a:pPr>
            <a:r>
              <a:rPr lang="en-US" sz="1467" b="1" dirty="0">
                <a:solidFill>
                  <a:srgbClr val="F2F1EE"/>
                </a:solidFill>
                <a:latin typeface="Arial" panose="020B0604020202020204"/>
              </a:rPr>
              <a:t>Aggregate firmographic data </a:t>
            </a:r>
            <a:r>
              <a:rPr lang="en-US" sz="1467" dirty="0">
                <a:solidFill>
                  <a:srgbClr val="F2F1EE"/>
                </a:solidFill>
                <a:latin typeface="Arial" panose="020B0604020202020204"/>
              </a:rPr>
              <a:t>to improve scoring accuracy</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Refine structures and group accounts under </a:t>
            </a:r>
            <a:r>
              <a:rPr lang="en-US" sz="1467" b="1" dirty="0">
                <a:solidFill>
                  <a:srgbClr val="F2F1EE"/>
                </a:solidFill>
                <a:latin typeface="Arial" panose="020B0604020202020204"/>
              </a:rPr>
              <a:t>parent organizations</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Ensure </a:t>
            </a:r>
            <a:r>
              <a:rPr lang="en-US" sz="1467" b="1" dirty="0">
                <a:solidFill>
                  <a:srgbClr val="F2F1EE"/>
                </a:solidFill>
                <a:latin typeface="Arial" panose="020B0604020202020204"/>
              </a:rPr>
              <a:t>hierarchy accuracy </a:t>
            </a:r>
            <a:r>
              <a:rPr lang="en-US" sz="1467" dirty="0">
                <a:solidFill>
                  <a:srgbClr val="F2F1EE"/>
                </a:solidFill>
                <a:latin typeface="Arial" panose="020B0604020202020204"/>
              </a:rPr>
              <a:t>and alignment with GTM strategies</a:t>
            </a:r>
          </a:p>
          <a:p>
            <a:pPr marL="380990" indent="-380990" defTabSz="1219170">
              <a:spcBef>
                <a:spcPts val="800"/>
              </a:spcBef>
              <a:buFont typeface="Wingdings" pitchFamily="2" charset="2"/>
              <a:buChar char="ü"/>
            </a:pPr>
            <a:endParaRPr lang="en-US" sz="1467" b="1" dirty="0">
              <a:solidFill>
                <a:srgbClr val="0A2F46"/>
              </a:solidFill>
              <a:latin typeface="Arial" panose="020B0604020202020204"/>
            </a:endParaRPr>
          </a:p>
        </p:txBody>
      </p:sp>
      <p:pic>
        <p:nvPicPr>
          <p:cNvPr id="2" name="Picture 1">
            <a:extLst>
              <a:ext uri="{FF2B5EF4-FFF2-40B4-BE49-F238E27FC236}">
                <a16:creationId xmlns:a16="http://schemas.microsoft.com/office/drawing/2014/main" id="{43E1C6E5-286B-1B83-2B86-DFDB2959BD52}"/>
              </a:ext>
            </a:extLst>
          </p:cNvPr>
          <p:cNvPicPr>
            <a:picLocks noChangeAspect="1"/>
          </p:cNvPicPr>
          <p:nvPr/>
        </p:nvPicPr>
        <p:blipFill>
          <a:blip r:embed="rId3"/>
          <a:stretch>
            <a:fillRect/>
          </a:stretch>
        </p:blipFill>
        <p:spPr>
          <a:xfrm>
            <a:off x="5574538" y="2067312"/>
            <a:ext cx="6106981" cy="3175248"/>
          </a:xfrm>
          <a:prstGeom prst="rect">
            <a:avLst/>
          </a:prstGeom>
          <a:ln>
            <a:solidFill>
              <a:schemeClr val="tx2"/>
            </a:solidFill>
          </a:ln>
          <a:effectLst>
            <a:outerShdw blurRad="63500" sx="102000" sy="102000" algn="ctr" rotWithShape="0">
              <a:prstClr val="black">
                <a:alpha val="40000"/>
              </a:prstClr>
            </a:outerShdw>
          </a:effectLst>
        </p:spPr>
      </p:pic>
      <p:sp>
        <p:nvSpPr>
          <p:cNvPr id="18" name="Title 1">
            <a:extLst>
              <a:ext uri="{FF2B5EF4-FFF2-40B4-BE49-F238E27FC236}">
                <a16:creationId xmlns:a16="http://schemas.microsoft.com/office/drawing/2014/main" id="{8D1F0957-7352-1706-11A4-D4947248F14D}"/>
              </a:ext>
            </a:extLst>
          </p:cNvPr>
          <p:cNvSpPr>
            <a:spLocks noGrp="1"/>
          </p:cNvSpPr>
          <p:nvPr>
            <p:ph type="title"/>
          </p:nvPr>
        </p:nvSpPr>
        <p:spPr/>
        <p:txBody>
          <a:bodyPr lIns="0" tIns="60960" rIns="0" bIns="60960" anchor="t"/>
          <a:lstStyle/>
          <a:p>
            <a:r>
              <a:rPr lang="en-US">
                <a:latin typeface="Arial"/>
                <a:cs typeface="Arial"/>
              </a:rPr>
              <a:t>Segmentation and Scoring Application</a:t>
            </a:r>
          </a:p>
        </p:txBody>
      </p:sp>
      <p:cxnSp>
        <p:nvCxnSpPr>
          <p:cNvPr id="8" name="Straight Connector 7">
            <a:extLst>
              <a:ext uri="{FF2B5EF4-FFF2-40B4-BE49-F238E27FC236}">
                <a16:creationId xmlns:a16="http://schemas.microsoft.com/office/drawing/2014/main" id="{8BF21360-19C6-22B5-DC89-272CB92FD109}"/>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464A1F-DB97-430A-B191-A72C89E8D1EE}"/>
              </a:ext>
            </a:extLst>
          </p:cNvPr>
          <p:cNvSpPr txBox="1"/>
          <p:nvPr/>
        </p:nvSpPr>
        <p:spPr>
          <a:xfrm>
            <a:off x="668775" y="1414273"/>
            <a:ext cx="4389120" cy="359009"/>
          </a:xfrm>
          <a:prstGeom prst="rect">
            <a:avLst/>
          </a:prstGeom>
          <a:noFill/>
        </p:spPr>
        <p:txBody>
          <a:bodyPr wrap="square" lIns="0" rtlCol="0">
            <a:spAutoFit/>
          </a:bodyPr>
          <a:lstStyle/>
          <a:p>
            <a:pPr algn="ctr" defTabSz="1219170">
              <a:spcAft>
                <a:spcPts val="1067"/>
              </a:spcAft>
            </a:pPr>
            <a:r>
              <a:rPr lang="en-US" sz="1733" dirty="0">
                <a:solidFill>
                  <a:srgbClr val="F2F1EE"/>
                </a:solidFill>
                <a:latin typeface="Arial" panose="020B0604020202020204"/>
              </a:rPr>
              <a:t>Account Hierarchy Refinement</a:t>
            </a:r>
          </a:p>
        </p:txBody>
      </p:sp>
    </p:spTree>
    <p:extLst>
      <p:ext uri="{BB962C8B-B14F-4D97-AF65-F5344CB8AC3E}">
        <p14:creationId xmlns:p14="http://schemas.microsoft.com/office/powerpoint/2010/main" val="974804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0D5CF-288C-496C-BE5C-21285C9BDEF4}"/>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5C88945C-1A10-0340-B0C9-8158C410A607}"/>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pic>
        <p:nvPicPr>
          <p:cNvPr id="18" name="Picture 17">
            <a:extLst>
              <a:ext uri="{FF2B5EF4-FFF2-40B4-BE49-F238E27FC236}">
                <a16:creationId xmlns:a16="http://schemas.microsoft.com/office/drawing/2014/main" id="{A3894C8B-2F1F-6FAC-9DDC-A2CCAD9D2342}"/>
              </a:ext>
            </a:extLst>
          </p:cNvPr>
          <p:cNvPicPr>
            <a:picLocks noChangeAspect="1"/>
          </p:cNvPicPr>
          <p:nvPr/>
        </p:nvPicPr>
        <p:blipFill>
          <a:blip r:embed="rId3"/>
          <a:stretch>
            <a:fillRect/>
          </a:stretch>
        </p:blipFill>
        <p:spPr>
          <a:xfrm>
            <a:off x="6728909" y="3429000"/>
            <a:ext cx="5293585" cy="2691112"/>
          </a:xfrm>
          <a:prstGeom prst="rect">
            <a:avLst/>
          </a:prstGeom>
          <a:ln>
            <a:solidFill>
              <a:schemeClr val="tx2"/>
            </a:solidFill>
          </a:ln>
          <a:effectLst>
            <a:outerShdw blurRad="63500" sx="102000" sy="102000" algn="ctr" rotWithShape="0">
              <a:prstClr val="black">
                <a:alpha val="40000"/>
              </a:prstClr>
            </a:outerShdw>
          </a:effectLst>
        </p:spPr>
      </p:pic>
      <p:pic>
        <p:nvPicPr>
          <p:cNvPr id="2" name="Picture 1">
            <a:extLst>
              <a:ext uri="{FF2B5EF4-FFF2-40B4-BE49-F238E27FC236}">
                <a16:creationId xmlns:a16="http://schemas.microsoft.com/office/drawing/2014/main" id="{53583595-8E6C-2FAB-A1F1-09A2EDEBB58C}"/>
              </a:ext>
            </a:extLst>
          </p:cNvPr>
          <p:cNvPicPr>
            <a:picLocks noChangeAspect="1"/>
          </p:cNvPicPr>
          <p:nvPr/>
        </p:nvPicPr>
        <p:blipFill>
          <a:blip r:embed="rId4"/>
          <a:stretch>
            <a:fillRect/>
          </a:stretch>
        </p:blipFill>
        <p:spPr>
          <a:xfrm>
            <a:off x="5617097" y="1221890"/>
            <a:ext cx="5638896" cy="2921084"/>
          </a:xfrm>
          <a:prstGeom prst="rect">
            <a:avLst/>
          </a:prstGeom>
          <a:ln>
            <a:solidFill>
              <a:schemeClr val="tx2"/>
            </a:solidFill>
          </a:ln>
          <a:effectLst>
            <a:outerShdw blurRad="63500" sx="102000" sy="102000" algn="ctr" rotWithShape="0">
              <a:prstClr val="black">
                <a:alpha val="40000"/>
              </a:prstClr>
            </a:outerShdw>
          </a:effectLst>
        </p:spPr>
      </p:pic>
      <p:sp>
        <p:nvSpPr>
          <p:cNvPr id="19" name="Title 1">
            <a:extLst>
              <a:ext uri="{FF2B5EF4-FFF2-40B4-BE49-F238E27FC236}">
                <a16:creationId xmlns:a16="http://schemas.microsoft.com/office/drawing/2014/main" id="{732612AE-1460-2227-3FC2-574E8ACA7E15}"/>
              </a:ext>
            </a:extLst>
          </p:cNvPr>
          <p:cNvSpPr>
            <a:spLocks noGrp="1"/>
          </p:cNvSpPr>
          <p:nvPr>
            <p:ph type="title"/>
          </p:nvPr>
        </p:nvSpPr>
        <p:spPr/>
        <p:txBody>
          <a:bodyPr lIns="0" tIns="60960" rIns="0" bIns="60960" anchor="t"/>
          <a:lstStyle/>
          <a:p>
            <a:r>
              <a:rPr lang="en-US">
                <a:latin typeface="Arial"/>
                <a:cs typeface="Arial"/>
              </a:rPr>
              <a:t>Segmentation and Scoring Application</a:t>
            </a:r>
          </a:p>
        </p:txBody>
      </p:sp>
      <p:sp>
        <p:nvSpPr>
          <p:cNvPr id="5" name="TextBox 4">
            <a:extLst>
              <a:ext uri="{FF2B5EF4-FFF2-40B4-BE49-F238E27FC236}">
                <a16:creationId xmlns:a16="http://schemas.microsoft.com/office/drawing/2014/main" id="{D0467587-70F7-5FFC-F014-C693A4A6F766}"/>
              </a:ext>
            </a:extLst>
          </p:cNvPr>
          <p:cNvSpPr txBox="1"/>
          <p:nvPr/>
        </p:nvSpPr>
        <p:spPr>
          <a:xfrm>
            <a:off x="668775" y="2187323"/>
            <a:ext cx="4389120" cy="3047694"/>
          </a:xfrm>
          <a:prstGeom prst="rect">
            <a:avLst/>
          </a:prstGeom>
          <a:noFill/>
        </p:spPr>
        <p:txBody>
          <a:bodyPr wrap="square" rtlCol="0">
            <a:spAutoFit/>
          </a:bodyPr>
          <a:lstStyle/>
          <a:p>
            <a:pPr marL="380990" indent="-380990" defTabSz="1219170">
              <a:spcBef>
                <a:spcPts val="800"/>
              </a:spcBef>
              <a:buFont typeface="Wingdings" pitchFamily="2" charset="2"/>
              <a:buChar char="ü"/>
            </a:pPr>
            <a:r>
              <a:rPr lang="en-US" sz="1467" b="1" dirty="0">
                <a:solidFill>
                  <a:srgbClr val="F2F1EE"/>
                </a:solidFill>
                <a:latin typeface="Arial" panose="020B0604020202020204"/>
              </a:rPr>
              <a:t>Support multiple methodologies</a:t>
            </a:r>
            <a:r>
              <a:rPr lang="en-US" sz="1467" dirty="0">
                <a:solidFill>
                  <a:srgbClr val="F2F1EE"/>
                </a:solidFill>
                <a:latin typeface="Arial" panose="020B0604020202020204"/>
              </a:rPr>
              <a:t>, including Analyst-aligned models</a:t>
            </a:r>
          </a:p>
          <a:p>
            <a:pPr marL="380990" indent="-380990" defTabSz="1219170">
              <a:spcBef>
                <a:spcPts val="800"/>
              </a:spcBef>
              <a:buFont typeface="Wingdings" pitchFamily="2" charset="2"/>
              <a:buChar char="ü"/>
            </a:pPr>
            <a:r>
              <a:rPr lang="en-US" sz="1467" b="1" dirty="0">
                <a:solidFill>
                  <a:srgbClr val="F2F1EE"/>
                </a:solidFill>
                <a:latin typeface="Arial" panose="020B0604020202020204"/>
              </a:rPr>
              <a:t>Select best-fit approaches</a:t>
            </a:r>
            <a:r>
              <a:rPr lang="en-US" sz="1467" dirty="0">
                <a:solidFill>
                  <a:srgbClr val="F2F1EE"/>
                </a:solidFill>
                <a:latin typeface="Arial" panose="020B0604020202020204"/>
              </a:rPr>
              <a:t> by industry, segment, or region</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Model scenarios to project </a:t>
            </a:r>
            <a:r>
              <a:rPr lang="en-US" sz="1467" b="1" dirty="0">
                <a:solidFill>
                  <a:srgbClr val="F2F1EE"/>
                </a:solidFill>
                <a:latin typeface="Arial" panose="020B0604020202020204"/>
              </a:rPr>
              <a:t>wallet size </a:t>
            </a:r>
            <a:r>
              <a:rPr lang="en-US" sz="1467" dirty="0">
                <a:solidFill>
                  <a:srgbClr val="F2F1EE"/>
                </a:solidFill>
                <a:latin typeface="Arial" panose="020B0604020202020204"/>
              </a:rPr>
              <a:t>by account or group</a:t>
            </a:r>
          </a:p>
          <a:p>
            <a:pPr marL="380990" indent="-380990" defTabSz="1219170">
              <a:spcBef>
                <a:spcPts val="800"/>
              </a:spcBef>
              <a:buFont typeface="Wingdings" pitchFamily="2" charset="2"/>
              <a:buChar char="ü"/>
            </a:pPr>
            <a:r>
              <a:rPr lang="en-US" sz="1467" b="1" dirty="0">
                <a:solidFill>
                  <a:srgbClr val="F2F1EE"/>
                </a:solidFill>
                <a:latin typeface="Arial" panose="020B0604020202020204"/>
              </a:rPr>
              <a:t>Identify and manage outliers </a:t>
            </a:r>
            <a:r>
              <a:rPr lang="en-US" sz="1467" dirty="0">
                <a:solidFill>
                  <a:srgbClr val="F2F1EE"/>
                </a:solidFill>
                <a:latin typeface="Arial" panose="020B0604020202020204"/>
              </a:rPr>
              <a:t>for cleaner analysis</a:t>
            </a:r>
          </a:p>
          <a:p>
            <a:pPr marL="380990" indent="-380990" defTabSz="1219170">
              <a:spcBef>
                <a:spcPts val="800"/>
              </a:spcBef>
              <a:buFont typeface="Wingdings" pitchFamily="2" charset="2"/>
              <a:buChar char="ü"/>
            </a:pPr>
            <a:r>
              <a:rPr lang="en-US" sz="1467" dirty="0">
                <a:solidFill>
                  <a:srgbClr val="F2F1EE"/>
                </a:solidFill>
                <a:latin typeface="Arial" panose="020B0604020202020204"/>
              </a:rPr>
              <a:t>Incorporate approval </a:t>
            </a:r>
            <a:r>
              <a:rPr lang="en-US" sz="1467" b="1" dirty="0">
                <a:solidFill>
                  <a:srgbClr val="F2F1EE"/>
                </a:solidFill>
                <a:latin typeface="Arial" panose="020B0604020202020204"/>
              </a:rPr>
              <a:t>workflows </a:t>
            </a:r>
            <a:r>
              <a:rPr lang="en-US" sz="1467" dirty="0">
                <a:solidFill>
                  <a:srgbClr val="F2F1EE"/>
                </a:solidFill>
                <a:latin typeface="Arial" panose="020B0604020202020204"/>
              </a:rPr>
              <a:t>for final wallet size validation</a:t>
            </a:r>
          </a:p>
          <a:p>
            <a:pPr marL="380990" indent="-380990" defTabSz="1219170">
              <a:buFont typeface="Wingdings" pitchFamily="2" charset="2"/>
              <a:buChar char="ü"/>
            </a:pPr>
            <a:endParaRPr lang="en-US" sz="1867" dirty="0">
              <a:solidFill>
                <a:srgbClr val="0A2F46"/>
              </a:solidFill>
              <a:latin typeface="Arial" panose="020B0604020202020204"/>
            </a:endParaRPr>
          </a:p>
        </p:txBody>
      </p:sp>
      <p:cxnSp>
        <p:nvCxnSpPr>
          <p:cNvPr id="7" name="Straight Connector 6">
            <a:extLst>
              <a:ext uri="{FF2B5EF4-FFF2-40B4-BE49-F238E27FC236}">
                <a16:creationId xmlns:a16="http://schemas.microsoft.com/office/drawing/2014/main" id="{8702022C-1FB9-2ADD-872E-C8B05963AAF5}"/>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5CD6511-131A-100D-5709-145C84ECED5C}"/>
              </a:ext>
            </a:extLst>
          </p:cNvPr>
          <p:cNvSpPr txBox="1"/>
          <p:nvPr/>
        </p:nvSpPr>
        <p:spPr>
          <a:xfrm>
            <a:off x="668775" y="1414272"/>
            <a:ext cx="4389120" cy="359009"/>
          </a:xfrm>
          <a:prstGeom prst="rect">
            <a:avLst/>
          </a:prstGeom>
          <a:noFill/>
        </p:spPr>
        <p:txBody>
          <a:bodyPr wrap="square" lIns="0" rtlCol="0">
            <a:spAutoFit/>
          </a:bodyPr>
          <a:lstStyle/>
          <a:p>
            <a:pPr algn="ctr" defTabSz="1219170">
              <a:spcAft>
                <a:spcPts val="1067"/>
              </a:spcAft>
            </a:pPr>
            <a:r>
              <a:rPr lang="en-US" sz="1733" dirty="0">
                <a:solidFill>
                  <a:srgbClr val="F2F1EE"/>
                </a:solidFill>
                <a:latin typeface="Arial" panose="020B0604020202020204"/>
              </a:rPr>
              <a:t>Wallet Size Modeling &amp; Management</a:t>
            </a:r>
          </a:p>
        </p:txBody>
      </p:sp>
    </p:spTree>
    <p:extLst>
      <p:ext uri="{BB962C8B-B14F-4D97-AF65-F5344CB8AC3E}">
        <p14:creationId xmlns:p14="http://schemas.microsoft.com/office/powerpoint/2010/main" val="384603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E8025-FDE8-30DB-32EB-EB146C64407F}"/>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007B56CA-5151-93C3-0EDC-58AF717BD889}"/>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0377626D-025E-C524-2965-AA3F27904463}"/>
              </a:ext>
            </a:extLst>
          </p:cNvPr>
          <p:cNvSpPr txBox="1"/>
          <p:nvPr/>
        </p:nvSpPr>
        <p:spPr>
          <a:xfrm>
            <a:off x="670560" y="2202731"/>
            <a:ext cx="4389120" cy="3314497"/>
          </a:xfrm>
          <a:prstGeom prst="rect">
            <a:avLst/>
          </a:prstGeom>
          <a:noFill/>
        </p:spPr>
        <p:txBody>
          <a:bodyPr wrap="square" rtlCol="0">
            <a:spAutoFit/>
          </a:bodyPr>
          <a:lstStyle/>
          <a:p>
            <a:pPr marL="380990" indent="-380990" defTabSz="1219170">
              <a:spcBef>
                <a:spcPts val="800"/>
              </a:spcBef>
              <a:buFont typeface="Wingdings" pitchFamily="2" charset="2"/>
              <a:buChar char="ü"/>
            </a:pPr>
            <a:r>
              <a:rPr lang="en-US" sz="1467" dirty="0">
                <a:solidFill>
                  <a:srgbClr val="FFFFFF"/>
                </a:solidFill>
                <a:latin typeface="Arial" panose="020B0604020202020204"/>
              </a:rPr>
              <a:t>Profile accounts using </a:t>
            </a:r>
            <a:r>
              <a:rPr lang="en-US" sz="1467" b="1" dirty="0">
                <a:solidFill>
                  <a:srgbClr val="FFFFFF"/>
                </a:solidFill>
                <a:latin typeface="Arial" panose="020B0604020202020204"/>
              </a:rPr>
              <a:t>firmographics</a:t>
            </a:r>
            <a:r>
              <a:rPr lang="en-US" sz="1467" dirty="0">
                <a:solidFill>
                  <a:srgbClr val="FFFFFF"/>
                </a:solidFill>
                <a:latin typeface="Arial" panose="020B0604020202020204"/>
              </a:rPr>
              <a:t> and other key </a:t>
            </a:r>
            <a:r>
              <a:rPr lang="en-US" sz="1467" b="1" dirty="0">
                <a:solidFill>
                  <a:srgbClr val="FFFFFF"/>
                </a:solidFill>
                <a:latin typeface="Arial" panose="020B0604020202020204"/>
              </a:rPr>
              <a:t>attributes</a:t>
            </a:r>
          </a:p>
          <a:p>
            <a:pPr marL="380990" indent="-380990" defTabSz="1219170">
              <a:spcBef>
                <a:spcPts val="800"/>
              </a:spcBef>
              <a:buFont typeface="Wingdings" pitchFamily="2" charset="2"/>
              <a:buChar char="ü"/>
            </a:pPr>
            <a:r>
              <a:rPr lang="en-US" sz="1467" dirty="0">
                <a:solidFill>
                  <a:srgbClr val="FFFFFF"/>
                </a:solidFill>
                <a:latin typeface="Arial" panose="020B0604020202020204"/>
              </a:rPr>
              <a:t>Segment accounts using </a:t>
            </a:r>
            <a:r>
              <a:rPr lang="en-US" sz="1467" b="1" dirty="0">
                <a:solidFill>
                  <a:srgbClr val="FFFFFF"/>
                </a:solidFill>
                <a:latin typeface="Arial" panose="020B0604020202020204"/>
              </a:rPr>
              <a:t>rule-based</a:t>
            </a:r>
            <a:r>
              <a:rPr lang="en-US" sz="1467" dirty="0">
                <a:solidFill>
                  <a:srgbClr val="FFFFFF"/>
                </a:solidFill>
                <a:latin typeface="Arial" panose="020B0604020202020204"/>
              </a:rPr>
              <a:t> and </a:t>
            </a:r>
            <a:r>
              <a:rPr lang="en-US" sz="1467" b="1" dirty="0">
                <a:solidFill>
                  <a:srgbClr val="FFFFFF"/>
                </a:solidFill>
                <a:latin typeface="Arial" panose="020B0604020202020204"/>
              </a:rPr>
              <a:t>scoring</a:t>
            </a:r>
            <a:r>
              <a:rPr lang="en-US" sz="1467" dirty="0">
                <a:solidFill>
                  <a:srgbClr val="FFFFFF"/>
                </a:solidFill>
                <a:latin typeface="Arial" panose="020B0604020202020204"/>
              </a:rPr>
              <a:t> logic</a:t>
            </a:r>
          </a:p>
          <a:p>
            <a:pPr marL="380990" indent="-380990" defTabSz="1219170">
              <a:spcBef>
                <a:spcPts val="800"/>
              </a:spcBef>
              <a:buFont typeface="Wingdings" pitchFamily="2" charset="2"/>
              <a:buChar char="ü"/>
            </a:pPr>
            <a:r>
              <a:rPr lang="en-US" sz="1467" dirty="0">
                <a:solidFill>
                  <a:srgbClr val="FFFFFF"/>
                </a:solidFill>
                <a:latin typeface="Arial" panose="020B0604020202020204"/>
              </a:rPr>
              <a:t>Configure scoring models to fit your </a:t>
            </a:r>
            <a:r>
              <a:rPr lang="en-US" sz="1467" b="1" dirty="0">
                <a:solidFill>
                  <a:srgbClr val="FFFFFF"/>
                </a:solidFill>
                <a:latin typeface="Arial" panose="020B0604020202020204"/>
              </a:rPr>
              <a:t>GTM strategy</a:t>
            </a:r>
          </a:p>
          <a:p>
            <a:pPr marL="380990" indent="-380990" defTabSz="1219170">
              <a:spcBef>
                <a:spcPts val="800"/>
              </a:spcBef>
              <a:buFont typeface="Wingdings" pitchFamily="2" charset="2"/>
              <a:buChar char="ü"/>
            </a:pPr>
            <a:r>
              <a:rPr lang="en-US" sz="1467" dirty="0">
                <a:solidFill>
                  <a:srgbClr val="FFFFFF"/>
                </a:solidFill>
                <a:latin typeface="Arial" panose="020B0604020202020204"/>
              </a:rPr>
              <a:t>Track </a:t>
            </a:r>
            <a:r>
              <a:rPr lang="en-US" sz="1467" b="1" dirty="0">
                <a:solidFill>
                  <a:srgbClr val="FFFFFF"/>
                </a:solidFill>
                <a:latin typeface="Arial" panose="020B0604020202020204"/>
              </a:rPr>
              <a:t>Year-over-Year</a:t>
            </a:r>
            <a:r>
              <a:rPr lang="en-US" sz="1467" dirty="0">
                <a:solidFill>
                  <a:srgbClr val="FFFFFF"/>
                </a:solidFill>
                <a:latin typeface="Arial" panose="020B0604020202020204"/>
              </a:rPr>
              <a:t> changes to segment composition and performance</a:t>
            </a:r>
          </a:p>
          <a:p>
            <a:pPr marL="380990" indent="-380990" defTabSz="1219170">
              <a:spcBef>
                <a:spcPts val="800"/>
              </a:spcBef>
              <a:buFont typeface="Wingdings" pitchFamily="2" charset="2"/>
              <a:buChar char="ü"/>
            </a:pPr>
            <a:r>
              <a:rPr lang="en-US" sz="1467" dirty="0">
                <a:solidFill>
                  <a:srgbClr val="FFFFFF"/>
                </a:solidFill>
                <a:latin typeface="Arial" panose="020B0604020202020204"/>
              </a:rPr>
              <a:t>Incorporate field feedback with </a:t>
            </a:r>
            <a:r>
              <a:rPr lang="en-US" sz="1467" b="1" dirty="0">
                <a:solidFill>
                  <a:srgbClr val="FFFFFF"/>
                </a:solidFill>
                <a:latin typeface="Arial" panose="020B0604020202020204"/>
              </a:rPr>
              <a:t>built-in workflows</a:t>
            </a:r>
          </a:p>
          <a:p>
            <a:pPr marL="380990" indent="-380990" defTabSz="1219170">
              <a:spcBef>
                <a:spcPts val="800"/>
              </a:spcBef>
              <a:buFont typeface="Wingdings" pitchFamily="2" charset="2"/>
              <a:buChar char="ü"/>
            </a:pPr>
            <a:r>
              <a:rPr lang="en-US" sz="1467" dirty="0">
                <a:solidFill>
                  <a:srgbClr val="FFFFFF"/>
                </a:solidFill>
                <a:latin typeface="Arial" panose="020B0604020202020204"/>
              </a:rPr>
              <a:t>Gain real-time visibility into </a:t>
            </a:r>
            <a:r>
              <a:rPr lang="en-US" sz="1467" b="1" dirty="0">
                <a:solidFill>
                  <a:srgbClr val="FFFFFF"/>
                </a:solidFill>
                <a:latin typeface="Arial" panose="020B0604020202020204"/>
              </a:rPr>
              <a:t>capacity gaps</a:t>
            </a:r>
            <a:r>
              <a:rPr lang="en-US" sz="1467" dirty="0">
                <a:solidFill>
                  <a:srgbClr val="FFFFFF"/>
                </a:solidFill>
                <a:latin typeface="Arial" panose="020B0604020202020204"/>
              </a:rPr>
              <a:t> by segment</a:t>
            </a:r>
          </a:p>
        </p:txBody>
      </p:sp>
      <p:pic>
        <p:nvPicPr>
          <p:cNvPr id="2" name="Picture 1">
            <a:extLst>
              <a:ext uri="{FF2B5EF4-FFF2-40B4-BE49-F238E27FC236}">
                <a16:creationId xmlns:a16="http://schemas.microsoft.com/office/drawing/2014/main" id="{E17B687A-8591-C82E-1F4F-4AAB7B8BD626}"/>
              </a:ext>
            </a:extLst>
          </p:cNvPr>
          <p:cNvPicPr>
            <a:picLocks noChangeAspect="1"/>
          </p:cNvPicPr>
          <p:nvPr/>
        </p:nvPicPr>
        <p:blipFill>
          <a:blip r:embed="rId3"/>
          <a:stretch>
            <a:fillRect/>
          </a:stretch>
        </p:blipFill>
        <p:spPr>
          <a:xfrm>
            <a:off x="5479983" y="2184135"/>
            <a:ext cx="6287123" cy="3179333"/>
          </a:xfrm>
          <a:prstGeom prst="rect">
            <a:avLst/>
          </a:prstGeom>
          <a:ln>
            <a:solidFill>
              <a:schemeClr val="tx2"/>
            </a:solidFill>
          </a:ln>
          <a:effectLst>
            <a:outerShdw blurRad="63500" sx="102000" sy="102000" algn="ctr" rotWithShape="0">
              <a:prstClr val="black">
                <a:alpha val="40000"/>
              </a:prstClr>
            </a:outerShdw>
          </a:effectLst>
        </p:spPr>
      </p:pic>
      <p:sp>
        <p:nvSpPr>
          <p:cNvPr id="18" name="Title 1">
            <a:extLst>
              <a:ext uri="{FF2B5EF4-FFF2-40B4-BE49-F238E27FC236}">
                <a16:creationId xmlns:a16="http://schemas.microsoft.com/office/drawing/2014/main" id="{FE574C0E-3CED-190C-90F6-69596306E4C5}"/>
              </a:ext>
            </a:extLst>
          </p:cNvPr>
          <p:cNvSpPr>
            <a:spLocks noGrp="1"/>
          </p:cNvSpPr>
          <p:nvPr>
            <p:ph type="title"/>
          </p:nvPr>
        </p:nvSpPr>
        <p:spPr/>
        <p:txBody>
          <a:bodyPr lIns="0" tIns="60960" rIns="0" bIns="60960" anchor="t"/>
          <a:lstStyle/>
          <a:p>
            <a:r>
              <a:rPr lang="en-US">
                <a:latin typeface="Arial"/>
                <a:cs typeface="Arial"/>
              </a:rPr>
              <a:t>Segmentation and Scoring Application</a:t>
            </a:r>
          </a:p>
        </p:txBody>
      </p:sp>
      <p:cxnSp>
        <p:nvCxnSpPr>
          <p:cNvPr id="8" name="Straight Connector 7">
            <a:extLst>
              <a:ext uri="{FF2B5EF4-FFF2-40B4-BE49-F238E27FC236}">
                <a16:creationId xmlns:a16="http://schemas.microsoft.com/office/drawing/2014/main" id="{DCD68F8B-5454-2BE1-644C-9F52A6AC18D7}"/>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D861BEE-6E8A-1F0E-ECB8-D3418BA8888C}"/>
              </a:ext>
            </a:extLst>
          </p:cNvPr>
          <p:cNvSpPr txBox="1"/>
          <p:nvPr/>
        </p:nvSpPr>
        <p:spPr>
          <a:xfrm>
            <a:off x="668775" y="1414272"/>
            <a:ext cx="4389120" cy="359009"/>
          </a:xfrm>
          <a:prstGeom prst="rect">
            <a:avLst/>
          </a:prstGeom>
          <a:noFill/>
        </p:spPr>
        <p:txBody>
          <a:bodyPr wrap="square" lIns="0" rtlCol="0">
            <a:spAutoFit/>
          </a:bodyPr>
          <a:lstStyle/>
          <a:p>
            <a:pPr algn="ctr" defTabSz="1219170">
              <a:spcAft>
                <a:spcPts val="1067"/>
              </a:spcAft>
            </a:pPr>
            <a:r>
              <a:rPr lang="en-US" sz="1733" dirty="0">
                <a:solidFill>
                  <a:srgbClr val="F2F1EE"/>
                </a:solidFill>
                <a:latin typeface="Arial" panose="020B0604020202020204"/>
              </a:rPr>
              <a:t>Account Segmentation &amp; Prioritization</a:t>
            </a:r>
          </a:p>
        </p:txBody>
      </p:sp>
    </p:spTree>
    <p:extLst>
      <p:ext uri="{BB962C8B-B14F-4D97-AF65-F5344CB8AC3E}">
        <p14:creationId xmlns:p14="http://schemas.microsoft.com/office/powerpoint/2010/main" val="3269070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AFE74-D1FA-C5FC-F0D5-F3B8426A4D12}"/>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E6051B00-C836-954E-9AC9-B7657E5D039F}"/>
              </a:ext>
            </a:extLst>
          </p:cNvPr>
          <p:cNvSpPr/>
          <p:nvPr/>
        </p:nvSpPr>
        <p:spPr>
          <a:xfrm>
            <a:off x="558799" y="1221889"/>
            <a:ext cx="4587508" cy="4797108"/>
          </a:xfrm>
          <a:prstGeom prst="roundRect">
            <a:avLst>
              <a:gd name="adj" fmla="val 435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Inter" panose="02000503000000020004" pitchFamily="2" charset="0"/>
              <a:ea typeface="Verdana" charset="0"/>
              <a:cs typeface="Arial" panose="020B0604020202020204" pitchFamily="34" charset="0"/>
            </a:endParaRPr>
          </a:p>
        </p:txBody>
      </p:sp>
      <p:sp>
        <p:nvSpPr>
          <p:cNvPr id="5" name="TextBox 4">
            <a:extLst>
              <a:ext uri="{FF2B5EF4-FFF2-40B4-BE49-F238E27FC236}">
                <a16:creationId xmlns:a16="http://schemas.microsoft.com/office/drawing/2014/main" id="{0418DE74-98D2-3ECD-B5F6-748FE707FAC0}"/>
              </a:ext>
            </a:extLst>
          </p:cNvPr>
          <p:cNvSpPr txBox="1"/>
          <p:nvPr/>
        </p:nvSpPr>
        <p:spPr>
          <a:xfrm>
            <a:off x="670560" y="2396276"/>
            <a:ext cx="4389120" cy="2195729"/>
          </a:xfrm>
          <a:prstGeom prst="rect">
            <a:avLst/>
          </a:prstGeom>
          <a:noFill/>
        </p:spPr>
        <p:txBody>
          <a:bodyPr wrap="square" lIns="91440" tIns="45720" rIns="91440" bIns="45720" rtlCol="0" anchor="t">
            <a:spAutoFit/>
          </a:bodyPr>
          <a:lstStyle/>
          <a:p>
            <a:pPr marL="377943" indent="-228594" defTabSz="1219170">
              <a:spcBef>
                <a:spcPts val="800"/>
              </a:spcBef>
              <a:buFont typeface="Wingdings" pitchFamily="2" charset="2"/>
              <a:buChar char="ü"/>
            </a:pPr>
            <a:r>
              <a:rPr lang="en-US" sz="1467" b="1" dirty="0">
                <a:solidFill>
                  <a:srgbClr val="F2F1EE"/>
                </a:solidFill>
                <a:latin typeface="Arial" panose="020B0604020202020204"/>
              </a:rPr>
              <a:t>Define and manage sales hierarchies</a:t>
            </a:r>
            <a:r>
              <a:rPr lang="en-US" sz="1467" dirty="0">
                <a:solidFill>
                  <a:srgbClr val="F2F1EE"/>
                </a:solidFill>
                <a:latin typeface="Arial" panose="020B0604020202020204"/>
              </a:rPr>
              <a:t> to support evolving GTM models</a:t>
            </a:r>
          </a:p>
          <a:p>
            <a:pPr marL="377825" indent="-227965" defTabSz="1219170">
              <a:spcBef>
                <a:spcPts val="800"/>
              </a:spcBef>
              <a:buFont typeface="Wingdings" pitchFamily="2" charset="2"/>
              <a:buChar char="ü"/>
            </a:pPr>
            <a:r>
              <a:rPr lang="en-US" sz="1450" b="1" dirty="0">
                <a:solidFill>
                  <a:srgbClr val="F2F1EE"/>
                </a:solidFill>
                <a:latin typeface="Arial" panose="020B0604020202020204"/>
              </a:rPr>
              <a:t>Apply account assignment rules</a:t>
            </a:r>
            <a:r>
              <a:rPr lang="en-US" sz="1450" dirty="0">
                <a:solidFill>
                  <a:srgbClr val="F2F1EE"/>
                </a:solidFill>
                <a:latin typeface="Arial" panose="020B0604020202020204"/>
              </a:rPr>
              <a:t> to simulate </a:t>
            </a:r>
            <a:r>
              <a:rPr lang="en-US" sz="1450">
                <a:solidFill>
                  <a:srgbClr val="F2F1EE"/>
                </a:solidFill>
                <a:latin typeface="Arial" panose="020B0604020202020204"/>
              </a:rPr>
              <a:t>structural changes</a:t>
            </a:r>
            <a:endParaRPr lang="en-US" sz="1450">
              <a:solidFill>
                <a:srgbClr val="F2F1EE"/>
              </a:solidFill>
              <a:latin typeface="Arial" panose="020B0604020202020204"/>
              <a:cs typeface="Arial"/>
            </a:endParaRPr>
          </a:p>
          <a:p>
            <a:pPr marL="377943" indent="-228594" defTabSz="1219170">
              <a:spcBef>
                <a:spcPts val="800"/>
              </a:spcBef>
              <a:buFont typeface="Wingdings" pitchFamily="2" charset="2"/>
              <a:buChar char="ü"/>
            </a:pPr>
            <a:r>
              <a:rPr lang="en-US" sz="1467" b="1" dirty="0">
                <a:solidFill>
                  <a:srgbClr val="F2F1EE"/>
                </a:solidFill>
                <a:latin typeface="Arial" panose="020B0604020202020204"/>
              </a:rPr>
              <a:t>Visualize KPIs by new hierarchy</a:t>
            </a:r>
            <a:r>
              <a:rPr lang="en-US" sz="1467" dirty="0">
                <a:solidFill>
                  <a:srgbClr val="F2F1EE"/>
                </a:solidFill>
                <a:latin typeface="Arial" panose="020B0604020202020204"/>
              </a:rPr>
              <a:t> to assess strategic impact before rollout</a:t>
            </a:r>
          </a:p>
          <a:p>
            <a:pPr marL="377825" indent="-227965" defTabSz="1219170">
              <a:spcBef>
                <a:spcPts val="800"/>
              </a:spcBef>
              <a:buFont typeface="Wingdings" pitchFamily="2" charset="2"/>
              <a:buChar char="ü"/>
            </a:pPr>
            <a:r>
              <a:rPr lang="en-US" sz="1450">
                <a:solidFill>
                  <a:srgbClr val="F2F1EE"/>
                </a:solidFill>
                <a:latin typeface="Arial" panose="020B0604020202020204"/>
                <a:cs typeface="Arial"/>
              </a:rPr>
              <a:t>Finalize GTM Planning scenario to pass to downstream systems</a:t>
            </a:r>
            <a:endParaRPr lang="en-US" sz="1450" dirty="0">
              <a:solidFill>
                <a:srgbClr val="F2F1EE"/>
              </a:solidFill>
              <a:latin typeface="Arial" panose="020B0604020202020204"/>
              <a:cs typeface="Arial"/>
            </a:endParaRPr>
          </a:p>
        </p:txBody>
      </p:sp>
      <p:sp>
        <p:nvSpPr>
          <p:cNvPr id="18" name="Title 1">
            <a:extLst>
              <a:ext uri="{FF2B5EF4-FFF2-40B4-BE49-F238E27FC236}">
                <a16:creationId xmlns:a16="http://schemas.microsoft.com/office/drawing/2014/main" id="{1B747F67-9D35-12CB-318C-127EF0C232C4}"/>
              </a:ext>
            </a:extLst>
          </p:cNvPr>
          <p:cNvSpPr>
            <a:spLocks noGrp="1"/>
          </p:cNvSpPr>
          <p:nvPr>
            <p:ph type="title"/>
          </p:nvPr>
        </p:nvSpPr>
        <p:spPr/>
        <p:txBody>
          <a:bodyPr lIns="0" tIns="60960" rIns="0" bIns="60960" anchor="t"/>
          <a:lstStyle/>
          <a:p>
            <a:r>
              <a:rPr lang="en-US">
                <a:latin typeface="Arial"/>
                <a:cs typeface="Arial"/>
              </a:rPr>
              <a:t>Segmentation and Scoring Application</a:t>
            </a:r>
          </a:p>
        </p:txBody>
      </p:sp>
      <p:pic>
        <p:nvPicPr>
          <p:cNvPr id="6" name="Picture 5">
            <a:extLst>
              <a:ext uri="{FF2B5EF4-FFF2-40B4-BE49-F238E27FC236}">
                <a16:creationId xmlns:a16="http://schemas.microsoft.com/office/drawing/2014/main" id="{632B2144-C7CD-1BCF-2ECD-C85728722C9A}"/>
              </a:ext>
            </a:extLst>
          </p:cNvPr>
          <p:cNvPicPr>
            <a:picLocks noChangeAspect="1"/>
          </p:cNvPicPr>
          <p:nvPr/>
        </p:nvPicPr>
        <p:blipFill>
          <a:blip r:embed="rId3"/>
          <a:stretch>
            <a:fillRect/>
          </a:stretch>
        </p:blipFill>
        <p:spPr>
          <a:xfrm>
            <a:off x="5450977" y="1715431"/>
            <a:ext cx="6338543" cy="3810021"/>
          </a:xfrm>
          <a:prstGeom prst="rect">
            <a:avLst/>
          </a:prstGeom>
          <a:ln>
            <a:solidFill>
              <a:schemeClr val="tx2"/>
            </a:solidFill>
          </a:ln>
          <a:effectLst>
            <a:outerShdw blurRad="63500" sx="102000" sy="102000" algn="ctr" rotWithShape="0">
              <a:prstClr val="black">
                <a:alpha val="40000"/>
              </a:prstClr>
            </a:outerShdw>
          </a:effectLst>
        </p:spPr>
      </p:pic>
      <p:cxnSp>
        <p:nvCxnSpPr>
          <p:cNvPr id="8" name="Straight Connector 7">
            <a:extLst>
              <a:ext uri="{FF2B5EF4-FFF2-40B4-BE49-F238E27FC236}">
                <a16:creationId xmlns:a16="http://schemas.microsoft.com/office/drawing/2014/main" id="{FFC7F175-5310-55CC-132F-F1D07E23450D}"/>
              </a:ext>
            </a:extLst>
          </p:cNvPr>
          <p:cNvCxnSpPr/>
          <p:nvPr/>
        </p:nvCxnSpPr>
        <p:spPr>
          <a:xfrm>
            <a:off x="718126" y="1889760"/>
            <a:ext cx="4243452" cy="0"/>
          </a:xfrm>
          <a:prstGeom prst="line">
            <a:avLst/>
          </a:prstGeom>
          <a:ln w="19050">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FBADD51-3B6C-8D5D-273C-EE1F3F0046EA}"/>
              </a:ext>
            </a:extLst>
          </p:cNvPr>
          <p:cNvSpPr txBox="1"/>
          <p:nvPr/>
        </p:nvSpPr>
        <p:spPr>
          <a:xfrm>
            <a:off x="668775" y="1414272"/>
            <a:ext cx="4389120" cy="359009"/>
          </a:xfrm>
          <a:prstGeom prst="rect">
            <a:avLst/>
          </a:prstGeom>
          <a:noFill/>
        </p:spPr>
        <p:txBody>
          <a:bodyPr wrap="square" lIns="0" rtlCol="0">
            <a:spAutoFit/>
          </a:bodyPr>
          <a:lstStyle/>
          <a:p>
            <a:pPr algn="ctr" defTabSz="1219170">
              <a:spcAft>
                <a:spcPts val="1067"/>
              </a:spcAft>
            </a:pPr>
            <a:r>
              <a:rPr lang="en-US" sz="1733" dirty="0">
                <a:solidFill>
                  <a:srgbClr val="F2F1EE"/>
                </a:solidFill>
                <a:latin typeface="Arial" panose="020B0604020202020204"/>
              </a:rPr>
              <a:t>GTM Strategy &amp; Scenario Planning</a:t>
            </a:r>
          </a:p>
        </p:txBody>
      </p:sp>
    </p:spTree>
    <p:extLst>
      <p:ext uri="{BB962C8B-B14F-4D97-AF65-F5344CB8AC3E}">
        <p14:creationId xmlns:p14="http://schemas.microsoft.com/office/powerpoint/2010/main" val="622043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Hexagon 38">
            <a:extLst>
              <a:ext uri="{FF2B5EF4-FFF2-40B4-BE49-F238E27FC236}">
                <a16:creationId xmlns:a16="http://schemas.microsoft.com/office/drawing/2014/main" id="{F9C4AE09-4114-8E5D-8E4C-FDC7AC7F24AB}"/>
              </a:ext>
            </a:extLst>
          </p:cNvPr>
          <p:cNvSpPr/>
          <p:nvPr/>
        </p:nvSpPr>
        <p:spPr>
          <a:xfrm>
            <a:off x="4109826" y="1088554"/>
            <a:ext cx="3590239" cy="2959335"/>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E99D5142-6FE2-8914-83CD-2A02EF67B19F}"/>
              </a:ext>
            </a:extLst>
          </p:cNvPr>
          <p:cNvSpPr/>
          <p:nvPr/>
        </p:nvSpPr>
        <p:spPr>
          <a:xfrm>
            <a:off x="173693" y="1144242"/>
            <a:ext cx="3657600" cy="163723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A668CC6C-0771-02EC-3B1E-B3EB417EECB9}"/>
              </a:ext>
            </a:extLst>
          </p:cNvPr>
          <p:cNvSpPr/>
          <p:nvPr/>
        </p:nvSpPr>
        <p:spPr>
          <a:xfrm>
            <a:off x="163379" y="2938881"/>
            <a:ext cx="3657600" cy="177884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8" name="Rounded Rectangle 7">
            <a:extLst>
              <a:ext uri="{FF2B5EF4-FFF2-40B4-BE49-F238E27FC236}">
                <a16:creationId xmlns:a16="http://schemas.microsoft.com/office/drawing/2014/main" id="{DD875CC9-B220-9FDF-6740-3A064D91AF6C}"/>
              </a:ext>
            </a:extLst>
          </p:cNvPr>
          <p:cNvSpPr/>
          <p:nvPr/>
        </p:nvSpPr>
        <p:spPr>
          <a:xfrm>
            <a:off x="4079689" y="4368943"/>
            <a:ext cx="3657600" cy="228600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3B50616C-90D0-F21B-F500-77C60A375BDB}"/>
              </a:ext>
            </a:extLst>
          </p:cNvPr>
          <p:cNvSpPr/>
          <p:nvPr/>
        </p:nvSpPr>
        <p:spPr>
          <a:xfrm>
            <a:off x="8006356" y="3201611"/>
            <a:ext cx="3657600" cy="177993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55" name="TextBox 54">
            <a:extLst>
              <a:ext uri="{FF2B5EF4-FFF2-40B4-BE49-F238E27FC236}">
                <a16:creationId xmlns:a16="http://schemas.microsoft.com/office/drawing/2014/main" id="{E8EA6163-527A-ED05-B09C-850B22E80C95}"/>
              </a:ext>
            </a:extLst>
          </p:cNvPr>
          <p:cNvSpPr txBox="1"/>
          <p:nvPr/>
        </p:nvSpPr>
        <p:spPr>
          <a:xfrm>
            <a:off x="365763" y="3015086"/>
            <a:ext cx="3255264" cy="3385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r>
              <a:rPr lang="en-US" sz="1600" b="1" dirty="0">
                <a:solidFill>
                  <a:srgbClr val="0A2F46"/>
                </a:solidFill>
                <a:latin typeface="Arial" panose="020B0604020202020204"/>
              </a:rPr>
              <a:t>GTM Performance Review</a:t>
            </a:r>
            <a:endParaRPr lang="en-US" sz="1600" dirty="0">
              <a:solidFill>
                <a:srgbClr val="0A2F46"/>
              </a:solidFill>
              <a:latin typeface="Arial" panose="020B0604020202020204" pitchFamily="34" charset="0"/>
              <a:ea typeface="Inter Light" panose="02000503000000020004" pitchFamily="2" charset="0"/>
              <a:cs typeface="Arial" panose="020B0604020202020204" pitchFamily="34" charset="0"/>
            </a:endParaRPr>
          </a:p>
        </p:txBody>
      </p:sp>
      <p:sp>
        <p:nvSpPr>
          <p:cNvPr id="56" name="TextBox 55">
            <a:extLst>
              <a:ext uri="{FF2B5EF4-FFF2-40B4-BE49-F238E27FC236}">
                <a16:creationId xmlns:a16="http://schemas.microsoft.com/office/drawing/2014/main" id="{D1682236-EE74-3B31-9B34-F243DF178587}"/>
              </a:ext>
            </a:extLst>
          </p:cNvPr>
          <p:cNvSpPr txBox="1"/>
          <p:nvPr/>
        </p:nvSpPr>
        <p:spPr>
          <a:xfrm>
            <a:off x="365760" y="1204207"/>
            <a:ext cx="3251200" cy="3385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37151" indent="-137151" algn="ctr" defTabSz="914354" fontAlgn="base">
              <a:defRPr/>
            </a:pPr>
            <a:r>
              <a:rPr lang="en-US" sz="1600" b="1" dirty="0">
                <a:solidFill>
                  <a:srgbClr val="0A2F46"/>
                </a:solidFill>
                <a:latin typeface="Arial" panose="020B0604020202020204"/>
              </a:rPr>
              <a:t>Market Maturity Analysis</a:t>
            </a:r>
          </a:p>
        </p:txBody>
      </p:sp>
      <p:sp>
        <p:nvSpPr>
          <p:cNvPr id="57" name="TextBox 56">
            <a:extLst>
              <a:ext uri="{FF2B5EF4-FFF2-40B4-BE49-F238E27FC236}">
                <a16:creationId xmlns:a16="http://schemas.microsoft.com/office/drawing/2014/main" id="{2570588B-3DC3-EB94-8DB7-7157AF7FFF79}"/>
              </a:ext>
            </a:extLst>
          </p:cNvPr>
          <p:cNvSpPr txBox="1"/>
          <p:nvPr/>
        </p:nvSpPr>
        <p:spPr>
          <a:xfrm>
            <a:off x="4331576" y="4415742"/>
            <a:ext cx="3273552" cy="3385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r>
              <a:rPr lang="en-US" sz="1600" b="1" dirty="0">
                <a:solidFill>
                  <a:srgbClr val="0A2F46"/>
                </a:solidFill>
                <a:latin typeface="Arial" panose="020B0604020202020204"/>
              </a:rPr>
              <a:t>Account Segmentation</a:t>
            </a:r>
            <a:endParaRPr lang="en-US" sz="1600" dirty="0">
              <a:solidFill>
                <a:srgbClr val="0A2F46"/>
              </a:solidFill>
              <a:latin typeface="Arial" panose="020B0604020202020204" pitchFamily="34" charset="0"/>
              <a:ea typeface="Inter Light" panose="02000503000000020004" pitchFamily="2" charset="0"/>
              <a:cs typeface="Arial" panose="020B0604020202020204" pitchFamily="34" charset="0"/>
            </a:endParaRPr>
          </a:p>
        </p:txBody>
      </p:sp>
      <p:sp>
        <p:nvSpPr>
          <p:cNvPr id="58" name="TextBox 57">
            <a:extLst>
              <a:ext uri="{FF2B5EF4-FFF2-40B4-BE49-F238E27FC236}">
                <a16:creationId xmlns:a16="http://schemas.microsoft.com/office/drawing/2014/main" id="{F2E7ACB7-9927-73C6-CEE9-C601D8411B2E}"/>
              </a:ext>
            </a:extLst>
          </p:cNvPr>
          <p:cNvSpPr txBox="1"/>
          <p:nvPr/>
        </p:nvSpPr>
        <p:spPr>
          <a:xfrm>
            <a:off x="8188154" y="3277814"/>
            <a:ext cx="3276415" cy="3385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r>
              <a:rPr lang="en-US" sz="1600" b="1" dirty="0">
                <a:solidFill>
                  <a:srgbClr val="0A2F46"/>
                </a:solidFill>
                <a:latin typeface="Arial" panose="020B0604020202020204"/>
              </a:rPr>
              <a:t>Hierarchy Refinement</a:t>
            </a:r>
            <a:endParaRPr lang="en-US" sz="1600" dirty="0">
              <a:solidFill>
                <a:srgbClr val="0A2F46"/>
              </a:solidFill>
              <a:latin typeface="Arial" panose="020B0604020202020204" pitchFamily="34" charset="0"/>
              <a:ea typeface="Inter Light" panose="02000503000000020004" pitchFamily="2" charset="0"/>
              <a:cs typeface="Arial" panose="020B0604020202020204" pitchFamily="34" charset="0"/>
            </a:endParaRPr>
          </a:p>
        </p:txBody>
      </p:sp>
      <p:sp>
        <p:nvSpPr>
          <p:cNvPr id="59" name="Text Placeholder 12">
            <a:extLst>
              <a:ext uri="{FF2B5EF4-FFF2-40B4-BE49-F238E27FC236}">
                <a16:creationId xmlns:a16="http://schemas.microsoft.com/office/drawing/2014/main" id="{21D34279-E371-1099-3921-9F8344869FE2}"/>
              </a:ext>
            </a:extLst>
          </p:cNvPr>
          <p:cNvSpPr txBox="1">
            <a:spLocks/>
          </p:cNvSpPr>
          <p:nvPr/>
        </p:nvSpPr>
        <p:spPr>
          <a:xfrm>
            <a:off x="127662" y="1635007"/>
            <a:ext cx="3693317" cy="1146471"/>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5238" lvl="1" indent="-194302" defTabSz="1625438" fontAlgn="base">
              <a:buClr>
                <a:srgbClr val="FF6100"/>
              </a:buClr>
              <a:buFont typeface="Wingdings" pitchFamily="2" charset="2"/>
              <a:buChar char="ü"/>
              <a:defRPr/>
            </a:pPr>
            <a:r>
              <a:rPr lang="en-US" sz="1051" dirty="0">
                <a:solidFill>
                  <a:srgbClr val="000000"/>
                </a:solidFill>
              </a:rPr>
              <a:t>Define and manage country tiering based on maturity and growth potential</a:t>
            </a:r>
          </a:p>
          <a:p>
            <a:pPr marL="255238" lvl="1" indent="-194302" defTabSz="1625438" fontAlgn="base">
              <a:buClr>
                <a:srgbClr val="FF6100"/>
              </a:buClr>
              <a:buFont typeface="Wingdings" pitchFamily="2" charset="2"/>
              <a:buChar char="ü"/>
              <a:defRPr/>
            </a:pPr>
            <a:r>
              <a:rPr lang="en-US" sz="1051" dirty="0">
                <a:solidFill>
                  <a:srgbClr val="000000"/>
                </a:solidFill>
              </a:rPr>
              <a:t>Classify markets by expansion potential and buying behavior</a:t>
            </a:r>
          </a:p>
          <a:p>
            <a:pPr marL="255238" lvl="1" indent="-194302" defTabSz="1625438" fontAlgn="base">
              <a:buClr>
                <a:srgbClr val="FF6100"/>
              </a:buClr>
              <a:buFont typeface="Wingdings" pitchFamily="2" charset="2"/>
              <a:buChar char="ü"/>
              <a:defRPr/>
            </a:pPr>
            <a:r>
              <a:rPr lang="en-US" sz="1051" dirty="0">
                <a:solidFill>
                  <a:srgbClr val="000000"/>
                </a:solidFill>
              </a:rPr>
              <a:t>Identify restricted or embargoed markets and assess impact</a:t>
            </a:r>
          </a:p>
          <a:p>
            <a:pPr marL="0" indent="0" defTabSz="1625438" fontAlgn="base">
              <a:lnSpc>
                <a:spcPts val="1651"/>
              </a:lnSpc>
              <a:buClr>
                <a:srgbClr val="FF6100"/>
              </a:buClr>
              <a:buNone/>
              <a:defRPr/>
            </a:pPr>
            <a:endParaRPr lang="en-US" sz="1000" dirty="0">
              <a:solidFill>
                <a:srgbClr val="000000"/>
              </a:solidFill>
            </a:endParaRPr>
          </a:p>
        </p:txBody>
      </p:sp>
      <p:sp>
        <p:nvSpPr>
          <p:cNvPr id="71" name="Text Placeholder 12">
            <a:extLst>
              <a:ext uri="{FF2B5EF4-FFF2-40B4-BE49-F238E27FC236}">
                <a16:creationId xmlns:a16="http://schemas.microsoft.com/office/drawing/2014/main" id="{CE9D244E-9AFC-98F1-C31E-69B4C1E1CC9C}"/>
              </a:ext>
            </a:extLst>
          </p:cNvPr>
          <p:cNvSpPr txBox="1">
            <a:spLocks/>
          </p:cNvSpPr>
          <p:nvPr/>
        </p:nvSpPr>
        <p:spPr>
          <a:xfrm>
            <a:off x="137978" y="3409447"/>
            <a:ext cx="3683001" cy="1146471"/>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5238" lvl="1" indent="-194302" defTabSz="1625438" fontAlgn="base">
              <a:buClr>
                <a:srgbClr val="FF6100"/>
              </a:buClr>
              <a:buFont typeface="Wingdings" pitchFamily="2" charset="2"/>
              <a:buChar char="ü"/>
              <a:defRPr/>
            </a:pPr>
            <a:r>
              <a:rPr lang="en-US" sz="1051" dirty="0">
                <a:solidFill>
                  <a:srgbClr val="000000"/>
                </a:solidFill>
              </a:rPr>
              <a:t>Perform in-depth GTM analytics with configurable dimensions</a:t>
            </a:r>
          </a:p>
          <a:p>
            <a:pPr marL="255238" lvl="1" indent="-194302" defTabSz="1625438" fontAlgn="base">
              <a:buClr>
                <a:srgbClr val="FF6100"/>
              </a:buClr>
              <a:buFont typeface="Wingdings" pitchFamily="2" charset="2"/>
              <a:buChar char="ü"/>
              <a:defRPr/>
            </a:pPr>
            <a:r>
              <a:rPr lang="en-US" sz="1051" dirty="0">
                <a:solidFill>
                  <a:srgbClr val="000000"/>
                </a:solidFill>
              </a:rPr>
              <a:t>Track sales, CS, and marketing metrics for CRO insights</a:t>
            </a:r>
          </a:p>
          <a:p>
            <a:pPr marL="255238" lvl="1" indent="-194302" defTabSz="1625438" fontAlgn="base">
              <a:buClr>
                <a:srgbClr val="FF6100"/>
              </a:buClr>
              <a:buFont typeface="Wingdings" pitchFamily="2" charset="2"/>
              <a:buChar char="ü"/>
              <a:defRPr/>
            </a:pPr>
            <a:r>
              <a:rPr lang="en-US" sz="1051" dirty="0">
                <a:solidFill>
                  <a:srgbClr val="000000"/>
                </a:solidFill>
              </a:rPr>
              <a:t>Identify upsell and cross-sell opportunities</a:t>
            </a:r>
          </a:p>
          <a:p>
            <a:pPr marL="255238" lvl="1" indent="-194302" defTabSz="1625438" fontAlgn="base">
              <a:buClr>
                <a:srgbClr val="FF6100"/>
              </a:buClr>
              <a:buFont typeface="Wingdings" pitchFamily="2" charset="2"/>
              <a:buChar char="ü"/>
              <a:defRPr/>
            </a:pPr>
            <a:r>
              <a:rPr lang="en-US" sz="1051" dirty="0">
                <a:solidFill>
                  <a:srgbClr val="000000"/>
                </a:solidFill>
              </a:rPr>
              <a:t>Optimize resource allocation using trend analysis</a:t>
            </a:r>
          </a:p>
        </p:txBody>
      </p:sp>
      <p:sp>
        <p:nvSpPr>
          <p:cNvPr id="76" name="Text Placeholder 12">
            <a:extLst>
              <a:ext uri="{FF2B5EF4-FFF2-40B4-BE49-F238E27FC236}">
                <a16:creationId xmlns:a16="http://schemas.microsoft.com/office/drawing/2014/main" id="{97682257-477E-C7E4-68E4-53E38AD7FE24}"/>
              </a:ext>
            </a:extLst>
          </p:cNvPr>
          <p:cNvSpPr txBox="1">
            <a:spLocks/>
          </p:cNvSpPr>
          <p:nvPr/>
        </p:nvSpPr>
        <p:spPr>
          <a:xfrm>
            <a:off x="4048333" y="4746411"/>
            <a:ext cx="3670859" cy="1495771"/>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5238" lvl="1" indent="-194302" defTabSz="1625438" fontAlgn="base">
              <a:buClr>
                <a:srgbClr val="FF6100"/>
              </a:buClr>
              <a:buFont typeface="Wingdings" pitchFamily="2" charset="2"/>
              <a:buChar char="ü"/>
              <a:defRPr/>
            </a:pPr>
            <a:r>
              <a:rPr lang="en-US" sz="1051" dirty="0">
                <a:solidFill>
                  <a:srgbClr val="000000"/>
                </a:solidFill>
              </a:rPr>
              <a:t>Profile customers using key attributes and firmographics</a:t>
            </a:r>
          </a:p>
          <a:p>
            <a:pPr marL="255238" lvl="1" indent="-194302" defTabSz="1625438" fontAlgn="base">
              <a:buClr>
                <a:srgbClr val="FF6100"/>
              </a:buClr>
              <a:buFont typeface="Wingdings" pitchFamily="2" charset="2"/>
              <a:buChar char="ü"/>
              <a:defRPr/>
            </a:pPr>
            <a:r>
              <a:rPr lang="en-US" sz="1051" dirty="0">
                <a:solidFill>
                  <a:srgbClr val="000000"/>
                </a:solidFill>
              </a:rPr>
              <a:t>Segment accounts using a rule-based engine</a:t>
            </a:r>
          </a:p>
          <a:p>
            <a:pPr marL="255238" lvl="1" indent="-194302" defTabSz="1625438" fontAlgn="base">
              <a:buClr>
                <a:srgbClr val="FF6100"/>
              </a:buClr>
              <a:buFont typeface="Wingdings" pitchFamily="2" charset="2"/>
              <a:buChar char="ü"/>
              <a:defRPr/>
            </a:pPr>
            <a:r>
              <a:rPr lang="en-US" sz="1051" dirty="0">
                <a:solidFill>
                  <a:srgbClr val="000000"/>
                </a:solidFill>
              </a:rPr>
              <a:t>Implement scoring-based segmentation models with configurable metrics</a:t>
            </a:r>
          </a:p>
          <a:p>
            <a:pPr marL="255238" lvl="1" indent="-194302" defTabSz="1625438" fontAlgn="base">
              <a:buClr>
                <a:srgbClr val="FF6100"/>
              </a:buClr>
              <a:buFont typeface="Wingdings" pitchFamily="2" charset="2"/>
              <a:buChar char="ü"/>
              <a:defRPr/>
            </a:pPr>
            <a:r>
              <a:rPr lang="en-US" sz="1051" dirty="0">
                <a:solidFill>
                  <a:srgbClr val="000000"/>
                </a:solidFill>
              </a:rPr>
              <a:t>Track year-over-year segmentation changes</a:t>
            </a:r>
          </a:p>
          <a:p>
            <a:pPr marL="255238" lvl="1" indent="-194302" defTabSz="1625438" fontAlgn="base">
              <a:buClr>
                <a:srgbClr val="FF6100"/>
              </a:buClr>
              <a:buFont typeface="Wingdings" pitchFamily="2" charset="2"/>
              <a:buChar char="ü"/>
              <a:defRPr/>
            </a:pPr>
            <a:r>
              <a:rPr lang="en-US" sz="1051" dirty="0">
                <a:solidFill>
                  <a:srgbClr val="000000"/>
                </a:solidFill>
              </a:rPr>
              <a:t>Gather and manage field feedback through streamlined workflows</a:t>
            </a:r>
          </a:p>
          <a:p>
            <a:pPr marL="255238" lvl="1" indent="-194302" defTabSz="1625438" fontAlgn="base">
              <a:buClr>
                <a:srgbClr val="FF6100"/>
              </a:buClr>
              <a:buFont typeface="Wingdings" pitchFamily="2" charset="2"/>
              <a:buChar char="ü"/>
              <a:defRPr/>
            </a:pPr>
            <a:r>
              <a:rPr lang="en-US" sz="1051" dirty="0">
                <a:solidFill>
                  <a:srgbClr val="000000"/>
                </a:solidFill>
              </a:rPr>
              <a:t>Identify capacity gaps in real-time when changing segments</a:t>
            </a:r>
          </a:p>
        </p:txBody>
      </p:sp>
      <p:sp>
        <p:nvSpPr>
          <p:cNvPr id="77" name="Text Placeholder 12">
            <a:extLst>
              <a:ext uri="{FF2B5EF4-FFF2-40B4-BE49-F238E27FC236}">
                <a16:creationId xmlns:a16="http://schemas.microsoft.com/office/drawing/2014/main" id="{8972E9E4-2BD3-FDD1-02CB-515DC9F68A16}"/>
              </a:ext>
            </a:extLst>
          </p:cNvPr>
          <p:cNvSpPr txBox="1">
            <a:spLocks/>
          </p:cNvSpPr>
          <p:nvPr/>
        </p:nvSpPr>
        <p:spPr>
          <a:xfrm>
            <a:off x="7933387" y="3634835"/>
            <a:ext cx="3670859" cy="1146472"/>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5238" lvl="1" indent="-194302" defTabSz="1625438" fontAlgn="base">
              <a:buClr>
                <a:srgbClr val="FF6100"/>
              </a:buClr>
              <a:buFont typeface="Wingdings" pitchFamily="2" charset="2"/>
              <a:buChar char="ü"/>
              <a:defRPr/>
            </a:pPr>
            <a:r>
              <a:rPr lang="en-US" sz="1051" dirty="0">
                <a:solidFill>
                  <a:srgbClr val="000000"/>
                </a:solidFill>
              </a:rPr>
              <a:t>Visualize and refine account hierarchies for accuracy</a:t>
            </a:r>
          </a:p>
          <a:p>
            <a:pPr marL="255238" lvl="1" indent="-194302" defTabSz="1625438" fontAlgn="base">
              <a:buClr>
                <a:srgbClr val="FF6100"/>
              </a:buClr>
              <a:buFont typeface="Wingdings" pitchFamily="2" charset="2"/>
              <a:buChar char="ü"/>
              <a:defRPr/>
            </a:pPr>
            <a:r>
              <a:rPr lang="en-US" sz="1051" dirty="0">
                <a:solidFill>
                  <a:srgbClr val="000000"/>
                </a:solidFill>
              </a:rPr>
              <a:t>Aggregate firmographics to improve account scoring</a:t>
            </a:r>
          </a:p>
          <a:p>
            <a:pPr marL="255238" lvl="1" indent="-194302" defTabSz="1625438" fontAlgn="base">
              <a:buClr>
                <a:srgbClr val="FF6100"/>
              </a:buClr>
              <a:buFont typeface="Wingdings" pitchFamily="2" charset="2"/>
              <a:buChar char="ü"/>
              <a:defRPr/>
            </a:pPr>
            <a:r>
              <a:rPr lang="en-US" sz="1051" dirty="0">
                <a:solidFill>
                  <a:srgbClr val="000000"/>
                </a:solidFill>
              </a:rPr>
              <a:t>Group accounts by parent organization for easy GTM execution</a:t>
            </a:r>
          </a:p>
          <a:p>
            <a:pPr marL="255238" lvl="1" indent="-194302" defTabSz="1625438" fontAlgn="base">
              <a:buClr>
                <a:srgbClr val="FF6100"/>
              </a:buClr>
              <a:buFont typeface="Wingdings" pitchFamily="2" charset="2"/>
              <a:buChar char="ü"/>
              <a:defRPr/>
            </a:pPr>
            <a:r>
              <a:rPr lang="en-US" sz="1051" dirty="0">
                <a:solidFill>
                  <a:srgbClr val="000000"/>
                </a:solidFill>
              </a:rPr>
              <a:t>Align hierarchies with GTM strategies to ensure consistency</a:t>
            </a:r>
          </a:p>
        </p:txBody>
      </p:sp>
      <p:sp>
        <p:nvSpPr>
          <p:cNvPr id="88" name="Title 1">
            <a:extLst>
              <a:ext uri="{FF2B5EF4-FFF2-40B4-BE49-F238E27FC236}">
                <a16:creationId xmlns:a16="http://schemas.microsoft.com/office/drawing/2014/main" id="{7EB6A83E-6E60-F4A3-B918-3C598A7E963C}"/>
              </a:ext>
            </a:extLst>
          </p:cNvPr>
          <p:cNvSpPr>
            <a:spLocks noGrp="1"/>
          </p:cNvSpPr>
          <p:nvPr>
            <p:ph type="title"/>
          </p:nvPr>
        </p:nvSpPr>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dirty="0"/>
              <a:t>Anaplan Segmentation and </a:t>
            </a:r>
            <a:r>
              <a:rPr lang="en-US"/>
              <a:t>Scoring Application </a:t>
            </a:r>
            <a:r>
              <a:rPr lang="en-US" dirty="0"/>
              <a:t>– Summary</a:t>
            </a:r>
          </a:p>
        </p:txBody>
      </p:sp>
      <p:sp>
        <p:nvSpPr>
          <p:cNvPr id="18" name="Rounded Rectangle 17">
            <a:extLst>
              <a:ext uri="{FF2B5EF4-FFF2-40B4-BE49-F238E27FC236}">
                <a16:creationId xmlns:a16="http://schemas.microsoft.com/office/drawing/2014/main" id="{7C8D85DB-4F88-AED2-AC77-7F623BDB7FE4}"/>
              </a:ext>
            </a:extLst>
          </p:cNvPr>
          <p:cNvSpPr/>
          <p:nvPr/>
        </p:nvSpPr>
        <p:spPr>
          <a:xfrm>
            <a:off x="8015821" y="1132740"/>
            <a:ext cx="3657600" cy="192316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19" name="TextBox 18">
            <a:extLst>
              <a:ext uri="{FF2B5EF4-FFF2-40B4-BE49-F238E27FC236}">
                <a16:creationId xmlns:a16="http://schemas.microsoft.com/office/drawing/2014/main" id="{2FBC931A-CB22-10A5-D708-F58C54C309E9}"/>
              </a:ext>
            </a:extLst>
          </p:cNvPr>
          <p:cNvSpPr txBox="1"/>
          <p:nvPr/>
        </p:nvSpPr>
        <p:spPr>
          <a:xfrm>
            <a:off x="8153111" y="1257749"/>
            <a:ext cx="3405792" cy="584775"/>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r>
              <a:rPr lang="en-US" sz="1600" b="1" dirty="0">
                <a:solidFill>
                  <a:srgbClr val="0A2F46"/>
                </a:solidFill>
                <a:latin typeface="Arial" panose="020B0604020202020204"/>
              </a:rPr>
              <a:t>Ideal Customer Profile (ICP) </a:t>
            </a:r>
            <a:br>
              <a:rPr lang="en-US" sz="1600" b="1" dirty="0">
                <a:solidFill>
                  <a:srgbClr val="0A2F46"/>
                </a:solidFill>
                <a:latin typeface="Arial" panose="020B0604020202020204"/>
              </a:rPr>
            </a:br>
            <a:r>
              <a:rPr lang="en-US" sz="1600" b="1" dirty="0">
                <a:solidFill>
                  <a:srgbClr val="0A2F46"/>
                </a:solidFill>
                <a:latin typeface="Arial" panose="020B0604020202020204"/>
              </a:rPr>
              <a:t>&amp; Wallet Sizing</a:t>
            </a:r>
            <a:endParaRPr lang="en-US" sz="1600" dirty="0">
              <a:solidFill>
                <a:srgbClr val="0A2F46"/>
              </a:solidFill>
              <a:latin typeface="Arial" panose="020B0604020202020204" pitchFamily="34" charset="0"/>
              <a:ea typeface="Inter Light" panose="02000503000000020004" pitchFamily="2" charset="0"/>
              <a:cs typeface="Arial" panose="020B0604020202020204" pitchFamily="34" charset="0"/>
            </a:endParaRPr>
          </a:p>
        </p:txBody>
      </p:sp>
      <p:sp>
        <p:nvSpPr>
          <p:cNvPr id="20" name="Text Placeholder 12">
            <a:extLst>
              <a:ext uri="{FF2B5EF4-FFF2-40B4-BE49-F238E27FC236}">
                <a16:creationId xmlns:a16="http://schemas.microsoft.com/office/drawing/2014/main" id="{BAA5F487-351A-E22D-ED5F-9231986B5361}"/>
              </a:ext>
            </a:extLst>
          </p:cNvPr>
          <p:cNvSpPr txBox="1">
            <a:spLocks/>
          </p:cNvSpPr>
          <p:nvPr/>
        </p:nvSpPr>
        <p:spPr>
          <a:xfrm>
            <a:off x="7980957" y="1838676"/>
            <a:ext cx="3683001" cy="1164907"/>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5238" lvl="1" indent="-194302" defTabSz="1625438" fontAlgn="base">
              <a:buClr>
                <a:srgbClr val="FF6100"/>
              </a:buClr>
              <a:buFont typeface="Wingdings" pitchFamily="2" charset="2"/>
              <a:buChar char="ü"/>
              <a:defRPr/>
            </a:pPr>
            <a:r>
              <a:rPr lang="en-US" sz="1051" dirty="0">
                <a:solidFill>
                  <a:srgbClr val="000000"/>
                </a:solidFill>
              </a:rPr>
              <a:t>Support multiple Wallet Size methodologies </a:t>
            </a:r>
          </a:p>
          <a:p>
            <a:pPr marL="255238" lvl="1" indent="-194302" defTabSz="1625438" fontAlgn="base">
              <a:buClr>
                <a:srgbClr val="FF6100"/>
              </a:buClr>
              <a:buFont typeface="Wingdings" pitchFamily="2" charset="2"/>
              <a:buChar char="ü"/>
              <a:defRPr/>
            </a:pPr>
            <a:r>
              <a:rPr lang="en-US" sz="1051" dirty="0">
                <a:solidFill>
                  <a:srgbClr val="000000"/>
                </a:solidFill>
              </a:rPr>
              <a:t>Identify the best methodology by industry </a:t>
            </a:r>
          </a:p>
          <a:p>
            <a:pPr marL="255238" lvl="1" indent="-194302" defTabSz="1625438" fontAlgn="base">
              <a:buClr>
                <a:srgbClr val="FF6100"/>
              </a:buClr>
              <a:buFont typeface="Wingdings" pitchFamily="2" charset="2"/>
              <a:buChar char="ü"/>
              <a:defRPr/>
            </a:pPr>
            <a:r>
              <a:rPr lang="en-US" sz="1051" dirty="0">
                <a:solidFill>
                  <a:srgbClr val="000000"/>
                </a:solidFill>
              </a:rPr>
              <a:t>Model Wallet Size scenarios and highlight outliers</a:t>
            </a:r>
          </a:p>
          <a:p>
            <a:pPr marL="255238" lvl="1" indent="-194302" defTabSz="1625438" fontAlgn="base">
              <a:lnSpc>
                <a:spcPct val="150000"/>
              </a:lnSpc>
              <a:buClr>
                <a:srgbClr val="FF6100"/>
              </a:buClr>
              <a:buFont typeface="Wingdings" pitchFamily="2" charset="2"/>
              <a:buChar char="ü"/>
              <a:defRPr/>
            </a:pPr>
            <a:r>
              <a:rPr lang="en-US" sz="1051" dirty="0">
                <a:solidFill>
                  <a:srgbClr val="000000"/>
                </a:solidFill>
              </a:rPr>
              <a:t>Incorporate approval workflows for Wallet Size calculations</a:t>
            </a:r>
          </a:p>
          <a:p>
            <a:pPr marL="60937" lvl="1" indent="0" defTabSz="1625438" fontAlgn="base">
              <a:buClr>
                <a:srgbClr val="FF6100"/>
              </a:buClr>
              <a:buNone/>
              <a:defRPr/>
            </a:pPr>
            <a:endParaRPr lang="en-US" sz="1051" dirty="0">
              <a:solidFill>
                <a:srgbClr val="000000"/>
              </a:solidFill>
            </a:endParaRPr>
          </a:p>
          <a:p>
            <a:pPr marL="0" indent="0" defTabSz="1625438" fontAlgn="base">
              <a:lnSpc>
                <a:spcPts val="1651"/>
              </a:lnSpc>
              <a:buClr>
                <a:srgbClr val="FF6100"/>
              </a:buClr>
              <a:buNone/>
              <a:defRPr/>
            </a:pPr>
            <a:endParaRPr lang="en-US" sz="1000" dirty="0">
              <a:solidFill>
                <a:srgbClr val="000000"/>
              </a:solidFill>
            </a:endParaRPr>
          </a:p>
        </p:txBody>
      </p:sp>
      <p:grpSp>
        <p:nvGrpSpPr>
          <p:cNvPr id="40" name="Group 39">
            <a:extLst>
              <a:ext uri="{FF2B5EF4-FFF2-40B4-BE49-F238E27FC236}">
                <a16:creationId xmlns:a16="http://schemas.microsoft.com/office/drawing/2014/main" id="{B507A1B7-759D-53E0-8409-FD634B329EF7}"/>
              </a:ext>
            </a:extLst>
          </p:cNvPr>
          <p:cNvGrpSpPr/>
          <p:nvPr/>
        </p:nvGrpSpPr>
        <p:grpSpPr>
          <a:xfrm>
            <a:off x="4986123" y="1144888"/>
            <a:ext cx="1828800" cy="2782165"/>
            <a:chOff x="837248" y="412158"/>
            <a:chExt cx="1371600" cy="2086624"/>
          </a:xfrm>
        </p:grpSpPr>
        <p:sp>
          <p:nvSpPr>
            <p:cNvPr id="41" name="TextBox 40">
              <a:extLst>
                <a:ext uri="{FF2B5EF4-FFF2-40B4-BE49-F238E27FC236}">
                  <a16:creationId xmlns:a16="http://schemas.microsoft.com/office/drawing/2014/main" id="{6A33BE1F-B878-D9DC-1C5D-9468BED8E419}"/>
                </a:ext>
              </a:extLst>
            </p:cNvPr>
            <p:cNvSpPr txBox="1"/>
            <p:nvPr/>
          </p:nvSpPr>
          <p:spPr>
            <a:xfrm>
              <a:off x="837248" y="1975562"/>
              <a:ext cx="1371600" cy="523220"/>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110">
                <a:defRPr/>
              </a:pPr>
              <a:r>
                <a:rPr lang="en-US" sz="1867" b="1">
                  <a:solidFill>
                    <a:srgbClr val="0A2F46"/>
                  </a:solidFill>
                  <a:latin typeface="Aptos" panose="020B0004020202020204" pitchFamily="34" charset="0"/>
                  <a:ea typeface="Inter Light" panose="02000503000000020004" pitchFamily="2" charset="0"/>
                  <a:cs typeface="Arial" panose="020B0604020202020204" pitchFamily="34" charset="0"/>
                </a:rPr>
                <a:t>Segmentation and Scoring</a:t>
              </a:r>
            </a:p>
          </p:txBody>
        </p:sp>
        <p:grpSp>
          <p:nvGrpSpPr>
            <p:cNvPr id="42" name="Group 41">
              <a:extLst>
                <a:ext uri="{FF2B5EF4-FFF2-40B4-BE49-F238E27FC236}">
                  <a16:creationId xmlns:a16="http://schemas.microsoft.com/office/drawing/2014/main" id="{AC2E16CC-7BCB-0375-6B10-5E951A46A8C0}"/>
                </a:ext>
              </a:extLst>
            </p:cNvPr>
            <p:cNvGrpSpPr/>
            <p:nvPr/>
          </p:nvGrpSpPr>
          <p:grpSpPr>
            <a:xfrm rot="5400000">
              <a:off x="779889" y="469517"/>
              <a:ext cx="1486318" cy="1371600"/>
              <a:chOff x="3945657" y="2174129"/>
              <a:chExt cx="1486318" cy="1371600"/>
            </a:xfrm>
          </p:grpSpPr>
          <p:cxnSp>
            <p:nvCxnSpPr>
              <p:cNvPr id="43" name="Straight Connector 42">
                <a:extLst>
                  <a:ext uri="{FF2B5EF4-FFF2-40B4-BE49-F238E27FC236}">
                    <a16:creationId xmlns:a16="http://schemas.microsoft.com/office/drawing/2014/main" id="{1C7E1BF6-7FF3-8665-964C-AA47C111FB63}"/>
                  </a:ext>
                </a:extLst>
              </p:cNvPr>
              <p:cNvCxnSpPr>
                <a:cxnSpLocks/>
              </p:cNvCxnSpPr>
              <p:nvPr/>
            </p:nvCxnSpPr>
            <p:spPr>
              <a:xfrm>
                <a:off x="5431975" y="2226947"/>
                <a:ext cx="0" cy="1264479"/>
              </a:xfrm>
              <a:prstGeom prst="line">
                <a:avLst/>
              </a:prstGeom>
              <a:ln w="2540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3963D793-667B-23DB-A741-68DF11683554}"/>
                  </a:ext>
                </a:extLst>
              </p:cNvPr>
              <p:cNvSpPr>
                <a:spLocks noChangeAspect="1"/>
              </p:cNvSpPr>
              <p:nvPr/>
            </p:nvSpPr>
            <p:spPr>
              <a:xfrm>
                <a:off x="4863402" y="2298705"/>
                <a:ext cx="182880" cy="1828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110">
                  <a:defRPr/>
                </a:pPr>
                <a:endParaRPr lang="en-US" sz="2133">
                  <a:solidFill>
                    <a:srgbClr val="FFFFFF"/>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C546171A-E24C-7058-4B23-6D120105FB9E}"/>
                  </a:ext>
                </a:extLst>
              </p:cNvPr>
              <p:cNvSpPr>
                <a:spLocks noChangeAspect="1"/>
              </p:cNvSpPr>
              <p:nvPr/>
            </p:nvSpPr>
            <p:spPr>
              <a:xfrm>
                <a:off x="4784155" y="3210398"/>
                <a:ext cx="182880" cy="1828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110">
                  <a:defRPr/>
                </a:pPr>
                <a:endParaRPr lang="en-US" sz="2133">
                  <a:solidFill>
                    <a:srgbClr val="FFFFFF"/>
                  </a:solidFill>
                  <a:latin typeface="Arial" panose="020B0604020202020204" pitchFamily="34" charset="0"/>
                  <a:ea typeface="Verdana" charset="0"/>
                  <a:cs typeface="Arial" panose="020B0604020202020204" pitchFamily="34" charset="0"/>
                </a:endParaRPr>
              </a:p>
            </p:txBody>
          </p:sp>
          <p:pic>
            <p:nvPicPr>
              <p:cNvPr id="47" name="Graphic 4">
                <a:extLst>
                  <a:ext uri="{FF2B5EF4-FFF2-40B4-BE49-F238E27FC236}">
                    <a16:creationId xmlns:a16="http://schemas.microsoft.com/office/drawing/2014/main" id="{A6B86DA9-4E06-BD72-7CFD-E44EDDBBCEA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945657" y="2174129"/>
                <a:ext cx="1371600" cy="1371600"/>
              </a:xfrm>
              <a:prstGeom prst="rect">
                <a:avLst/>
              </a:prstGeom>
            </p:spPr>
          </p:pic>
        </p:grpSp>
      </p:grpSp>
      <p:sp>
        <p:nvSpPr>
          <p:cNvPr id="3" name="Rounded Rectangle 2">
            <a:extLst>
              <a:ext uri="{FF2B5EF4-FFF2-40B4-BE49-F238E27FC236}">
                <a16:creationId xmlns:a16="http://schemas.microsoft.com/office/drawing/2014/main" id="{F7F305E9-5E07-18D0-04DD-8E731AB75E80}"/>
              </a:ext>
            </a:extLst>
          </p:cNvPr>
          <p:cNvSpPr/>
          <p:nvPr/>
        </p:nvSpPr>
        <p:spPr>
          <a:xfrm>
            <a:off x="188779" y="4876101"/>
            <a:ext cx="3657600" cy="177884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4" name="TextBox 3">
            <a:extLst>
              <a:ext uri="{FF2B5EF4-FFF2-40B4-BE49-F238E27FC236}">
                <a16:creationId xmlns:a16="http://schemas.microsoft.com/office/drawing/2014/main" id="{FB355457-7249-7CBF-36DE-351619672DC3}"/>
              </a:ext>
            </a:extLst>
          </p:cNvPr>
          <p:cNvSpPr txBox="1"/>
          <p:nvPr/>
        </p:nvSpPr>
        <p:spPr>
          <a:xfrm>
            <a:off x="391163" y="4952305"/>
            <a:ext cx="3255264" cy="3385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r>
              <a:rPr lang="en-US" sz="1600" b="1" dirty="0">
                <a:solidFill>
                  <a:srgbClr val="0A2F46"/>
                </a:solidFill>
                <a:latin typeface="Arial" panose="020B0604020202020204"/>
              </a:rPr>
              <a:t>Ideal Customer Profile (ICP)</a:t>
            </a:r>
            <a:endParaRPr lang="en-US" sz="1600" dirty="0">
              <a:solidFill>
                <a:srgbClr val="0A2F46"/>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12">
            <a:extLst>
              <a:ext uri="{FF2B5EF4-FFF2-40B4-BE49-F238E27FC236}">
                <a16:creationId xmlns:a16="http://schemas.microsoft.com/office/drawing/2014/main" id="{061F25C2-6D00-BCED-EA07-5FAD40DBDDE3}"/>
              </a:ext>
            </a:extLst>
          </p:cNvPr>
          <p:cNvSpPr txBox="1">
            <a:spLocks/>
          </p:cNvSpPr>
          <p:nvPr/>
        </p:nvSpPr>
        <p:spPr>
          <a:xfrm>
            <a:off x="163380" y="5346666"/>
            <a:ext cx="3683001" cy="1146471"/>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5238" lvl="1" indent="-194302" defTabSz="1625438" fontAlgn="base">
              <a:buClr>
                <a:srgbClr val="FF6100"/>
              </a:buClr>
              <a:buFont typeface="Wingdings" pitchFamily="2" charset="2"/>
              <a:buChar char="ü"/>
              <a:defRPr/>
            </a:pPr>
            <a:r>
              <a:rPr lang="en-US" sz="1051" dirty="0">
                <a:solidFill>
                  <a:srgbClr val="000000"/>
                </a:solidFill>
              </a:rPr>
              <a:t>Exclude accounts based on predefined attributes (e.g., region, size) based on ICP</a:t>
            </a:r>
          </a:p>
          <a:p>
            <a:pPr marL="255238" lvl="1" indent="-194302" defTabSz="1625438" fontAlgn="base">
              <a:buClr>
                <a:srgbClr val="FF6100"/>
              </a:buClr>
              <a:buFont typeface="Wingdings" pitchFamily="2" charset="2"/>
              <a:buChar char="ü"/>
              <a:defRPr/>
            </a:pPr>
            <a:r>
              <a:rPr lang="en-US" sz="1051" dirty="0">
                <a:solidFill>
                  <a:srgbClr val="000000"/>
                </a:solidFill>
              </a:rPr>
              <a:t>Assess the impact of excluded accounts on Wallet Size</a:t>
            </a:r>
            <a:endParaRPr lang="en-US" sz="1300" dirty="0">
              <a:solidFill>
                <a:srgbClr val="0A2F46">
                  <a:lumMod val="75000"/>
                  <a:lumOff val="25000"/>
                </a:srgbClr>
              </a:solidFill>
            </a:endParaRPr>
          </a:p>
          <a:p>
            <a:pPr marL="255238" lvl="1" indent="-194302" defTabSz="1625438" fontAlgn="base">
              <a:lnSpc>
                <a:spcPct val="150000"/>
              </a:lnSpc>
              <a:buClr>
                <a:srgbClr val="FF6100"/>
              </a:buClr>
              <a:buFont typeface="Wingdings" pitchFamily="2" charset="2"/>
              <a:buChar char="ü"/>
              <a:defRPr/>
            </a:pPr>
            <a:r>
              <a:rPr lang="en-US" sz="1051" dirty="0">
                <a:solidFill>
                  <a:srgbClr val="000000"/>
                </a:solidFill>
              </a:rPr>
              <a:t>Prioritize high-potential accounts for planning focus</a:t>
            </a:r>
          </a:p>
          <a:p>
            <a:pPr marL="255238" lvl="1" indent="-194302" defTabSz="1625438" fontAlgn="base">
              <a:buClr>
                <a:srgbClr val="FF6100"/>
              </a:buClr>
              <a:buFont typeface="Wingdings" pitchFamily="2" charset="2"/>
              <a:buChar char="ü"/>
              <a:defRPr/>
            </a:pPr>
            <a:endParaRPr lang="en-US" sz="1051" dirty="0">
              <a:solidFill>
                <a:srgbClr val="000000"/>
              </a:solidFill>
            </a:endParaRPr>
          </a:p>
        </p:txBody>
      </p:sp>
      <p:sp>
        <p:nvSpPr>
          <p:cNvPr id="10" name="Rounded Rectangle 9">
            <a:extLst>
              <a:ext uri="{FF2B5EF4-FFF2-40B4-BE49-F238E27FC236}">
                <a16:creationId xmlns:a16="http://schemas.microsoft.com/office/drawing/2014/main" id="{CA897334-F69A-7466-0F9D-6ADE79B05A07}"/>
              </a:ext>
            </a:extLst>
          </p:cNvPr>
          <p:cNvSpPr/>
          <p:nvPr/>
        </p:nvSpPr>
        <p:spPr>
          <a:xfrm>
            <a:off x="8037615" y="5127258"/>
            <a:ext cx="3657600" cy="1527687"/>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54">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11" name="TextBox 10">
            <a:extLst>
              <a:ext uri="{FF2B5EF4-FFF2-40B4-BE49-F238E27FC236}">
                <a16:creationId xmlns:a16="http://schemas.microsoft.com/office/drawing/2014/main" id="{97A985B7-B01B-DAA5-ED86-1B1B27D85452}"/>
              </a:ext>
            </a:extLst>
          </p:cNvPr>
          <p:cNvSpPr txBox="1"/>
          <p:nvPr/>
        </p:nvSpPr>
        <p:spPr>
          <a:xfrm>
            <a:off x="8150009" y="5203735"/>
            <a:ext cx="3458211" cy="3385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77"/>
            <a:r>
              <a:rPr lang="en-US" sz="1600" b="1" dirty="0">
                <a:solidFill>
                  <a:srgbClr val="0B2265"/>
                </a:solidFill>
                <a:latin typeface="Arial" panose="020B0604020202020204" pitchFamily="34" charset="0"/>
              </a:rPr>
              <a:t>GTM Strategy (Scenario Planning)</a:t>
            </a:r>
            <a:r>
              <a:rPr lang="en-US" sz="1600" dirty="0">
                <a:solidFill>
                  <a:srgbClr val="000000"/>
                </a:solidFill>
                <a:latin typeface="Arial" panose="020B0604020202020204" pitchFamily="34" charset="0"/>
              </a:rPr>
              <a:t>​</a:t>
            </a:r>
            <a:endParaRPr lang="en-US" sz="1600" b="1" dirty="0">
              <a:solidFill>
                <a:srgbClr val="0A2F46"/>
              </a:solidFill>
              <a:latin typeface="Arial" panose="020B0604020202020204" pitchFamily="34" charset="0"/>
              <a:ea typeface="Verdana" charset="0"/>
              <a:cs typeface="Arial" panose="020B0604020202020204" pitchFamily="34" charset="0"/>
            </a:endParaRPr>
          </a:p>
        </p:txBody>
      </p:sp>
      <p:sp>
        <p:nvSpPr>
          <p:cNvPr id="12" name="Text Placeholder 12">
            <a:extLst>
              <a:ext uri="{FF2B5EF4-FFF2-40B4-BE49-F238E27FC236}">
                <a16:creationId xmlns:a16="http://schemas.microsoft.com/office/drawing/2014/main" id="{273C5DA5-668C-02DA-3304-D5C1A81F59B7}"/>
              </a:ext>
            </a:extLst>
          </p:cNvPr>
          <p:cNvSpPr txBox="1">
            <a:spLocks/>
          </p:cNvSpPr>
          <p:nvPr/>
        </p:nvSpPr>
        <p:spPr>
          <a:xfrm>
            <a:off x="7996001" y="5654181"/>
            <a:ext cx="3670859" cy="1146472"/>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5238" lvl="1" indent="-194302" defTabSz="1625438" fontAlgn="base">
              <a:buClr>
                <a:srgbClr val="FF6100"/>
              </a:buClr>
              <a:buFont typeface="Wingdings" pitchFamily="2" charset="2"/>
              <a:buChar char="ü"/>
              <a:defRPr/>
            </a:pPr>
            <a:r>
              <a:rPr lang="en-US" sz="1051" dirty="0">
                <a:solidFill>
                  <a:srgbClr val="000000"/>
                </a:solidFill>
              </a:rPr>
              <a:t>Leverage account assignment rule to validate go-to-market strategies</a:t>
            </a:r>
          </a:p>
          <a:p>
            <a:pPr marL="255238" lvl="1" indent="-194302" defTabSz="1625438" fontAlgn="base">
              <a:buClr>
                <a:srgbClr val="FF6100"/>
              </a:buClr>
              <a:buFont typeface="Wingdings" pitchFamily="2" charset="2"/>
              <a:buChar char="ü"/>
              <a:defRPr/>
            </a:pPr>
            <a:r>
              <a:rPr lang="en-US" sz="1051" dirty="0">
                <a:solidFill>
                  <a:srgbClr val="000000"/>
                </a:solidFill>
              </a:rPr>
              <a:t>Visualize KPIs by new sales hierarchy to compare performance impact</a:t>
            </a:r>
          </a:p>
        </p:txBody>
      </p:sp>
    </p:spTree>
    <p:extLst>
      <p:ext uri="{BB962C8B-B14F-4D97-AF65-F5344CB8AC3E}">
        <p14:creationId xmlns:p14="http://schemas.microsoft.com/office/powerpoint/2010/main" val="23421077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xml><?xml version="1.0" encoding="utf-8"?>
<p:tagLst xmlns:a="http://schemas.openxmlformats.org/drawingml/2006/main" xmlns:r="http://schemas.openxmlformats.org/officeDocument/2006/relationships" xmlns:p="http://schemas.openxmlformats.org/presentationml/2006/main">
  <p:tag name="SHAPENAME" val="5. Source"/>
</p:tagLst>
</file>

<file path=ppt/tags/tag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4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Props1.xml><?xml version="1.0" encoding="utf-8"?>
<ds:datastoreItem xmlns:ds="http://schemas.openxmlformats.org/officeDocument/2006/customXml" ds:itemID="{89856E5B-BD02-4189-8BCC-4CFDB700A158}">
  <ds:schemaRefs>
    <ds:schemaRef ds:uri="http://schemas.microsoft.com/sharepoint/v3/contenttype/forms"/>
  </ds:schemaRefs>
</ds:datastoreItem>
</file>

<file path=customXml/itemProps2.xml><?xml version="1.0" encoding="utf-8"?>
<ds:datastoreItem xmlns:ds="http://schemas.openxmlformats.org/officeDocument/2006/customXml" ds:itemID="{9A690ED5-05A2-4609-9F6C-BCB8DC591F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7DBD51-5FF7-49E1-8180-DAEE9CE59875}">
  <ds:schemaRefs>
    <ds:schemaRef ds:uri="c4a93292-96be-422c-9bb6-49a5d66e42ec"/>
    <ds:schemaRef ds:uri="http://www.w3.org/XML/1998/namespace"/>
    <ds:schemaRef ds:uri="http://purl.org/dc/terms/"/>
    <ds:schemaRef ds:uri="http://schemas.microsoft.com/office/2006/metadata/properties"/>
    <ds:schemaRef ds:uri="http://purl.org/dc/elements/1.1/"/>
    <ds:schemaRef ds:uri="1312f2c0-dda1-4b36-bf7c-5f95f823505b"/>
    <ds:schemaRef ds:uri="http://purl.org/dc/dcmitype/"/>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2761</TotalTime>
  <Words>981</Words>
  <Application>Microsoft Office PowerPoint</Application>
  <PresentationFormat>Widescreen</PresentationFormat>
  <Paragraphs>133</Paragraphs>
  <Slides>12</Slides>
  <Notes>10</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1_Anaplan</vt:lpstr>
      <vt:lpstr>4_Anaplan</vt:lpstr>
      <vt:lpstr>Segmentation and Scoring Application</vt:lpstr>
      <vt:lpstr>Segmentation and Scoring Application</vt:lpstr>
      <vt:lpstr>PowerPoint Presentation</vt:lpstr>
      <vt:lpstr>Anaplan Segmentation and Scoring Application Out-of-the-box</vt:lpstr>
      <vt:lpstr>Segmentation and Scoring Application</vt:lpstr>
      <vt:lpstr>Segmentation and Scoring Application</vt:lpstr>
      <vt:lpstr>Segmentation and Scoring Application</vt:lpstr>
      <vt:lpstr>Segmentation and Scoring Application</vt:lpstr>
      <vt:lpstr>Segmentation and Scoring Application</vt:lpstr>
      <vt:lpstr>Segmentation and Scoring Application</vt:lpstr>
      <vt:lpstr>Segmentation and Scoring Application</vt:lpstr>
      <vt:lpstr>Anaplan Segmentation and Scoring Application –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Schera</dc:creator>
  <cp:lastModifiedBy>Elizabeth Schera</cp:lastModifiedBy>
  <cp:revision>55</cp:revision>
  <dcterms:created xsi:type="dcterms:W3CDTF">2025-05-07T23:14:54Z</dcterms:created>
  <dcterms:modified xsi:type="dcterms:W3CDTF">2026-03-12T17:26:57Z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