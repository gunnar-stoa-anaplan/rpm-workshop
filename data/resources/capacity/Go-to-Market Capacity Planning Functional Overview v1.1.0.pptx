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theme/theme2.xml" ContentType="application/vnd.openxmlformats-officedocument.them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812" r:id="rId5"/>
  </p:sldMasterIdLst>
  <p:notesMasterIdLst>
    <p:notesMasterId r:id="rId18"/>
  </p:notesMasterIdLst>
  <p:sldIdLst>
    <p:sldId id="257" r:id="rId6"/>
    <p:sldId id="264" r:id="rId7"/>
    <p:sldId id="285" r:id="rId8"/>
    <p:sldId id="2147480579" r:id="rId9"/>
    <p:sldId id="278" r:id="rId10"/>
    <p:sldId id="279" r:id="rId11"/>
    <p:sldId id="280" r:id="rId12"/>
    <p:sldId id="281" r:id="rId13"/>
    <p:sldId id="282" r:id="rId14"/>
    <p:sldId id="283" r:id="rId15"/>
    <p:sldId id="284" r:id="rId16"/>
    <p:sldId id="2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A75349-EABD-6F62-BF2F-B6C1D1DDAF02}" v="5" dt="2025-07-03T18:34:49.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857915" y="3478320"/>
        <a:ext cx="3186545" cy="8695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BCC27-A865-9C4C-9D49-EB2EB1082201}" type="datetimeFigureOut">
              <a:rPr lang="en-US" smtClean="0"/>
              <a:t>7/3/2025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95F4A7-CCBA-7146-88D7-24C78A6982E3}" type="slidenum">
              <a:rPr lang="en-US" smtClean="0"/>
              <a:t>‹#›</a:t>
            </a:fld>
            <a:endParaRPr lang="en-US"/>
          </a:p>
        </p:txBody>
      </p:sp>
    </p:spTree>
    <p:extLst>
      <p:ext uri="{BB962C8B-B14F-4D97-AF65-F5344CB8AC3E}">
        <p14:creationId xmlns:p14="http://schemas.microsoft.com/office/powerpoint/2010/main" val="2469498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D9F2F-0809-948D-4E89-EBD663912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BA706-ADF1-C10D-6416-6562C11902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7E6A9-6DA4-2093-AC3F-CD515FE035EA}"/>
              </a:ext>
            </a:extLst>
          </p:cNvPr>
          <p:cNvSpPr>
            <a:spLocks noGrp="1"/>
          </p:cNvSpPr>
          <p:nvPr>
            <p:ph type="body" idx="1"/>
          </p:nvPr>
        </p:nvSpPr>
        <p:spPr/>
        <p:txBody>
          <a:bodyPr/>
          <a:lstStyle/>
          <a:p>
            <a:pPr marL="171450" indent="-171450">
              <a:buFont typeface="Arial,Sans-Serif"/>
              <a:buChar char="•"/>
            </a:pPr>
            <a:endParaRPr lang="en-US">
              <a:cs typeface="Arial" panose="020B0604020202020204" pitchFamily="34" charset="0"/>
            </a:endParaRPr>
          </a:p>
        </p:txBody>
      </p:sp>
      <p:sp>
        <p:nvSpPr>
          <p:cNvPr id="4" name="Slide Number Placeholder 3">
            <a:extLst>
              <a:ext uri="{FF2B5EF4-FFF2-40B4-BE49-F238E27FC236}">
                <a16:creationId xmlns:a16="http://schemas.microsoft.com/office/drawing/2014/main" id="{E8F2BC70-D9FC-F9A8-8FC9-A4345BCF28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2393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97E13-2A50-55A6-5948-BD06F54D2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FD2B9-C113-DD2D-1278-1A5B397EC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7B396-5770-1274-7517-02232ABFC0D6}"/>
              </a:ext>
            </a:extLst>
          </p:cNvPr>
          <p:cNvSpPr>
            <a:spLocks noGrp="1"/>
          </p:cNvSpPr>
          <p:nvPr>
            <p:ph type="body" idx="1"/>
          </p:nvPr>
        </p:nvSpPr>
        <p:spPr/>
        <p:txBody>
          <a:bodyPr/>
          <a:lstStyle/>
          <a:p>
            <a:r>
              <a:rPr lang="en-US" b="1"/>
              <a:t>The Anaplan GTM Capacity Planning Application includes the following components:</a:t>
            </a:r>
          </a:p>
          <a:p>
            <a:endParaRPr lang="en-US"/>
          </a:p>
          <a:p>
            <a:pPr marL="171450" indent="-171450">
              <a:buFont typeface="Arial" panose="020B0604020202020204" pitchFamily="34" charset="0"/>
              <a:buChar char="•"/>
            </a:pPr>
            <a:r>
              <a:rPr lang="en-US" b="1"/>
              <a:t>HC Gap Analysis: </a:t>
            </a:r>
            <a:r>
              <a:rPr lang="en-US"/>
              <a:t>Evaluate HC needs based on account volume, revenue targets, and historical data while aligning with financial goals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Top-Down Planning: </a:t>
            </a:r>
            <a:r>
              <a:rPr lang="en-US"/>
              <a:t>Distribute HC targets, simulate scenarios, and optimize allocation and approvals.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Bottom-Up Planning: </a:t>
            </a:r>
            <a:r>
              <a:rPr lang="en-US"/>
              <a:t>Track trends in hiring, attrition, and productivity and run scenarios to adapt plans.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Sales Margins Planning: </a:t>
            </a:r>
            <a:r>
              <a:rPr lang="en-US"/>
              <a:t>Capture role-specific cost data and model dynamic sales margins to improve profitability.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In-Year vs Actual Plan: </a:t>
            </a:r>
            <a:r>
              <a:rPr lang="en-US"/>
              <a:t>Lock plans for data integrity, adjust, and compare snapshots to optimize coverage.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Baseline Productivity: </a:t>
            </a:r>
            <a:r>
              <a:rPr lang="en-US"/>
              <a:t>Evaluate productivity vs. quota attainment to optimize targets and resource allocation.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Coverage Analysis: </a:t>
            </a:r>
            <a:r>
              <a:rPr lang="en-US"/>
              <a:t>Balance HC allocation while adjusting sales coverage in real time to address gaps.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Role-Based Reviews:</a:t>
            </a:r>
            <a:r>
              <a:rPr lang="en-US" b="0"/>
              <a:t> Analyze</a:t>
            </a:r>
            <a:r>
              <a:rPr lang="en-US" b="1"/>
              <a:t> </a:t>
            </a:r>
            <a:r>
              <a:rPr lang="en-US"/>
              <a:t>performance to gain actionable insights for improving role effectiveness.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Current FTE Reporting: </a:t>
            </a:r>
            <a:r>
              <a:rPr lang="en-US"/>
              <a:t>Access HC and FTE data and simulate "what-if" scenarios with employee-level insights. </a:t>
            </a:r>
          </a:p>
          <a:p>
            <a:endParaRPr lang="en-US"/>
          </a:p>
          <a:p>
            <a:endParaRPr lang="en-US"/>
          </a:p>
          <a:p>
            <a:pPr marL="0" indent="0">
              <a:buNone/>
            </a:pPr>
            <a:r>
              <a:rPr lang="en-US" sz="1800" b="1">
                <a:solidFill>
                  <a:schemeClr val="bg1"/>
                </a:solidFill>
              </a:rPr>
              <a:t>As a customer, this applications empowers you with sped and agility to quickly:</a:t>
            </a:r>
          </a:p>
          <a:p>
            <a:pPr marL="0" indent="0">
              <a:buNone/>
            </a:pPr>
            <a:endParaRPr lang="en-US" sz="1800" b="1">
              <a:solidFill>
                <a:schemeClr val="bg1"/>
              </a:solidFill>
            </a:endParaRPr>
          </a:p>
          <a:p>
            <a:pPr marL="171450" indent="-171450">
              <a:buFont typeface="Wingdings" pitchFamily="2" charset="2"/>
              <a:buChar char="ü"/>
            </a:pPr>
            <a:r>
              <a:rPr lang="en-US" sz="1200">
                <a:solidFill>
                  <a:schemeClr val="bg1"/>
                </a:solidFill>
              </a:rPr>
              <a:t>Optimize FTE and HC allocation for maximum efficiency.</a:t>
            </a:r>
          </a:p>
          <a:p>
            <a:pPr marL="171450" indent="-171450">
              <a:buFont typeface="Wingdings" pitchFamily="2" charset="2"/>
              <a:buChar char="ü"/>
            </a:pPr>
            <a:r>
              <a:rPr lang="en-US" sz="1200">
                <a:solidFill>
                  <a:schemeClr val="bg1"/>
                </a:solidFill>
              </a:rPr>
              <a:t>Enhance planning with insights into sales and ramp trends.</a:t>
            </a:r>
            <a:endParaRPr lang="en-US" sz="1200">
              <a:solidFill>
                <a:schemeClr val="bg1"/>
              </a:solidFill>
              <a:cs typeface="Arial"/>
            </a:endParaRPr>
          </a:p>
          <a:p>
            <a:pPr marL="171450" indent="-171450">
              <a:buFont typeface="Wingdings" pitchFamily="2" charset="2"/>
              <a:buChar char="ü"/>
            </a:pPr>
            <a:r>
              <a:rPr lang="en-US" sz="1200">
                <a:solidFill>
                  <a:schemeClr val="bg1"/>
                </a:solidFill>
              </a:rPr>
              <a:t>Predict and mitigate turnover by  forecasting attrition.</a:t>
            </a:r>
            <a:endParaRPr lang="en-US" sz="1200">
              <a:solidFill>
                <a:schemeClr val="bg1"/>
              </a:solidFill>
              <a:cs typeface="Arial"/>
            </a:endParaRPr>
          </a:p>
          <a:p>
            <a:pPr marL="171450" indent="-171450">
              <a:buFont typeface="Wingdings" pitchFamily="2" charset="2"/>
              <a:buChar char="ü"/>
            </a:pPr>
            <a:r>
              <a:rPr lang="en-US" sz="1200">
                <a:solidFill>
                  <a:schemeClr val="bg1"/>
                </a:solidFill>
              </a:rPr>
              <a:t>Enable real-time scenario modeling and performance tracking.</a:t>
            </a:r>
            <a:endParaRPr lang="en-US" sz="1200">
              <a:solidFill>
                <a:schemeClr val="bg1"/>
              </a:solidFill>
              <a:cs typeface="Arial"/>
            </a:endParaRPr>
          </a:p>
          <a:p>
            <a:pPr marL="171450" indent="-171450">
              <a:buFont typeface="Wingdings" pitchFamily="2" charset="2"/>
              <a:buChar char="ü"/>
            </a:pPr>
            <a:r>
              <a:rPr lang="en-US" sz="1200">
                <a:solidFill>
                  <a:schemeClr val="bg1"/>
                </a:solidFill>
              </a:rPr>
              <a:t>Align headcount with budgets to maintain cost control.</a:t>
            </a:r>
            <a:endParaRPr lang="en-US" sz="1200">
              <a:solidFill>
                <a:schemeClr val="bg1"/>
              </a:solidFill>
              <a:cs typeface="Arial"/>
            </a:endParaRPr>
          </a:p>
          <a:p>
            <a:pPr marL="171450" indent="-171450">
              <a:buFont typeface="Wingdings" pitchFamily="2" charset="2"/>
              <a:buChar char="ü"/>
            </a:pPr>
            <a:r>
              <a:rPr lang="en-US" sz="1200">
                <a:solidFill>
                  <a:schemeClr val="bg1"/>
                </a:solidFill>
              </a:rPr>
              <a:t>Monitoring new hire success through impact analysis.</a:t>
            </a:r>
            <a:endParaRPr lang="en-US" sz="2400">
              <a:solidFill>
                <a:schemeClr val="tx2"/>
              </a:solidFill>
              <a:latin typeface="Arial" panose="020B0604020202020204" pitchFamily="34" charset="0"/>
              <a:ea typeface="Inter Light" panose="02000503000000020004" pitchFamily="2" charset="0"/>
              <a:cs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217A58AC-4AFC-91F0-877E-5E9E5B3851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57997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3A942-336F-7359-C1DF-DD406A08C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8425E-1CF0-BC5A-A751-E99CEB262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339CA-AD8D-4CFA-EEC0-8734F0F0AF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BE7A20-C42E-714C-EC86-EED8677515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529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FC613-D497-43C1-F22C-587F70689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D30B6-0B53-FF72-D396-2C14E56FA2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C7E86-3034-BADB-2C91-981B73273E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C4434B-E704-5588-08AD-DC41D33EC3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2153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AC394-10DE-C958-BC90-0E53E5A60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140848-F116-9457-1EAB-E2ECC874C3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25346F-B995-DAF0-9ECB-2E08B7DEFC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926300-A2E9-A43B-21A3-4272E62326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3180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A9A34-CC5D-9367-AE90-36FD86481D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34FED-A283-3A06-3DB6-C65124697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A565A2-5351-89D9-6EF3-8E64EA5D93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16038F-102F-7B51-FA92-C4313B319B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3155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EBA87-22E5-E0B8-90D3-5BA01733B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529F5-42C8-31FB-AC81-C6E23EE00E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78596-6AB8-20E4-93ED-D123BF2E65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DF826C-B0A4-C5AF-C09F-BAC4AA3E3F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6726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FA50B-56F1-2990-B029-C4CF4F8B7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1083C-BBDB-79C4-A34F-608027201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FD32F-2EEE-5A71-8666-529FCF11FF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B3A175-3C2A-E30D-28BE-2E517541C9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1743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70AFD-DA6F-26F0-3EF6-A1C5CB496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06778-0106-C744-07CA-AC4A05D0C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9CBB9-88E4-D1CC-CA3F-FE4BDD8C37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7C1BFE-99F1-59AB-C056-61F0E8D2CB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75097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5.sv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5.sv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6.sv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6.sv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7.emf"/><Relationship Id="rId4" Type="http://schemas.openxmlformats.org/officeDocument/2006/relationships/tags" Target="../tags/tag4.xml"/><Relationship Id="rId9" Type="http://schemas.openxmlformats.org/officeDocument/2006/relationships/oleObject" Target="../embeddings/oleObject1.bin"/></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Master" Target="../slideMasters/slideMaster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Master" Target="../slideMasters/slideMaster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Layouts/_rels/slideLayout25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Master" Target="../slideMasters/slideMaster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Layouts/_rels/slideLayout25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Master" Target="../slideMasters/slideMaster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29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17.emf"/><Relationship Id="rId4" Type="http://schemas.openxmlformats.org/officeDocument/2006/relationships/tags" Target="../tags/tag11.xml"/><Relationship Id="rId9" Type="http://schemas.openxmlformats.org/officeDocument/2006/relationships/oleObject" Target="../embeddings/oleObject1.bin"/></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61575269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783474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3461266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69083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525337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276798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67066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56986747"/>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8577683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69325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202121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8045007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490651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447302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66064517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67327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70236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1451524979"/>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5612904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980445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1727682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583809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624894614"/>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0609122"/>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276706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77948706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22148118"/>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03994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50043990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378820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807399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320039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847358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207782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8795680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1713544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507163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909422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2255051270"/>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516749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2911274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372927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517767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989822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210731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202444644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85643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54784826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355015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51641449"/>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24244981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8620641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755967045"/>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84422064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12354194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5543787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39086464"/>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8899801"/>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59815094"/>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6149811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8694543"/>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0754925"/>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1408389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4363280"/>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37162841"/>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9445812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43895227"/>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411250684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5178518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796268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50076706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98949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63800070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531257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163974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84607080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436994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6256374"/>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8835654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8050922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2226746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388878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4821639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4806962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66636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84344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501281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65767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84452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859347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219474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480674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166944101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414612406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26850689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206219468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69285897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111687294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46585092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343435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81172118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418714246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01315645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284270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78474226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9280131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66646641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4915340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291872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0283053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9033350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87270647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40828145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77293851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3905949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735008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72733633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379166852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3186042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85490400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35999385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1945852966"/>
      </p:ext>
    </p:extLst>
  </p:cSld>
  <p:clrMapOvr>
    <a:overrideClrMapping bg1="dk1" tx1="lt1" bg2="dk2" tx2="lt2" accent1="accent1" accent2="accent2" accent3="accent3" accent4="accent4" accent5="accent5" accent6="accent6" hlink="hlink" folHlink="folHlink"/>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35305871"/>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7702684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24499804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31653373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3799672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77837654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6422543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1424666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95244431"/>
      </p:ext>
    </p:extLst>
  </p:cSld>
  <p:clrMapOvr>
    <a:overrideClrMapping bg1="dk1" tx1="lt1" bg2="dk2" tx2="lt2" accent1="accent1" accent2="accent2" accent3="accent3" accent4="accent4" accent5="accent5" accent6="accent6" hlink="hlink" folHlink="folHlink"/>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3127353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3721137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3220937281"/>
      </p:ext>
    </p:extLst>
  </p:cSld>
  <p:clrMapOvr>
    <a:overrideClrMapping bg1="lt1" tx1="dk1" bg2="lt2" tx2="dk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885653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745530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068765360"/>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194018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93352578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98554313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343288598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22008856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073898700"/>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325526938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4210388970"/>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3428578833"/>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56811175"/>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207735772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3935332558"/>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1259081864"/>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1_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8026399" y="1222315"/>
            <a:ext cx="3606800" cy="4887401"/>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8559034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594557722"/>
      </p:ext>
    </p:extLst>
  </p:cSld>
  <p:clrMapOvr>
    <a:masterClrMapping/>
  </p:clrMapOvr>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2353673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97209152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7363227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354587178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73543129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108783961"/>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4190193049"/>
      </p:ext>
    </p:extLst>
  </p:cSld>
  <p:clrMapOvr>
    <a:overrideClrMapping bg1="lt1" tx1="dk1" bg2="lt2" tx2="dk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521959332"/>
      </p:ext>
    </p:extLst>
  </p:cSld>
  <p:clrMapOvr>
    <a:overrideClrMapping bg1="lt1" tx1="dk1" bg2="lt2" tx2="dk2" accent1="accent1" accent2="accent2" accent3="accent3" accent4="accent4" accent5="accent5" accent6="accent6" hlink="hlink" folHlink="folHlink"/>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62138452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873139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771004942"/>
      </p:ext>
    </p:extLst>
  </p:cSld>
  <p:clrMapOvr>
    <a:overrideClrMapping bg1="dk1" tx1="lt1" bg2="dk2" tx2="lt2" accent1="accent1" accent2="accent2" accent3="accent3" accent4="accent4" accent5="accent5" accent6="accent6" hlink="hlink" folHlink="folHlink"/>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82820608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5252171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110337991"/>
      </p:ext>
    </p:extLst>
  </p:cSld>
  <p:clrMapOvr>
    <a:overrideClrMapping bg1="dk1" tx1="lt1" bg2="dk2" tx2="lt2" accent1="accent1" accent2="accent2" accent3="accent3" accent4="accent4" accent5="accent5" accent6="accent6" hlink="hlink" folHlink="folHlink"/>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419811333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3008221"/>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125028744"/>
      </p:ext>
    </p:extLst>
  </p:cSld>
  <p:clrMapOvr>
    <a:masterClrMapping/>
  </p:clrMapOvr>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63933348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42664634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94061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99284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069874614"/>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52288158"/>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5464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33883616"/>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01534508"/>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422960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77592748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4290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764769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94283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450036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403366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0270178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862079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84182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5462449"/>
      </p:ext>
    </p:extLst>
  </p:cSld>
  <p:clrMapOvr>
    <a:masterClrMapping/>
  </p:clrMapOvr>
  <p:extLst>
    <p:ext uri="{DCECCB84-F9BA-43D5-87BE-67443E8EF086}">
      <p15:sldGuideLst xmlns:p15="http://schemas.microsoft.com/office/powerpoint/2012/main"/>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3154726338"/>
      </p:ext>
    </p:extLst>
  </p:cSld>
  <p:clrMapOvr>
    <a:masterClrMapping/>
  </p:clrMapOvr>
  <p:extLst>
    <p:ext uri="{DCECCB84-F9BA-43D5-87BE-67443E8EF086}">
      <p15:sldGuideLst xmlns:p15="http://schemas.microsoft.com/office/powerpoint/2012/main"/>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0808468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4915372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6624382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607239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898229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092899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750433860"/>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209809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34164363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903742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26391575"/>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57683786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3261863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007731557"/>
      </p:ext>
    </p:extLst>
  </p:cSld>
  <p:clrMapOvr>
    <a:overrideClrMapping bg1="lt1" tx1="dk1" bg2="lt2" tx2="dk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485441387"/>
      </p:ext>
    </p:extLst>
  </p:cSld>
  <p:clrMapOvr>
    <a:overrideClrMapping bg1="lt1" tx1="dk1" bg2="lt2" tx2="dk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4073420185"/>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1309421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99205503"/>
      </p:ext>
    </p:extLst>
  </p:cSld>
  <p:clrMapOvr>
    <a:overrideClrMapping bg1="lt1" tx1="dk1" bg2="lt2" tx2="dk2" accent1="accent1" accent2="accent2" accent3="accent3" accent4="accent4" accent5="accent5" accent6="accent6" hlink="hlink" folHlink="folHlink"/>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44205366"/>
      </p:ext>
    </p:extLst>
  </p:cSld>
  <p:clrMapOvr>
    <a:overrideClrMapping bg1="lt1" tx1="dk1" bg2="lt2" tx2="dk2" accent1="accent1" accent2="accent2" accent3="accent3" accent4="accent4" accent5="accent5" accent6="accent6" hlink="hlink" folHlink="folHlink"/>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23981309"/>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35245348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46888148"/>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32791104"/>
      </p:ext>
    </p:extLst>
  </p:cSld>
  <p:clrMapOvr>
    <a:overrideClrMapping bg1="lt1" tx1="dk1" bg2="lt2" tx2="dk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6046438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6138777"/>
      </p:ext>
    </p:extLst>
  </p:cSld>
  <p:clrMapOvr>
    <a:overrideClrMapping bg1="lt1" tx1="dk1" bg2="lt2" tx2="dk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59695395"/>
      </p:ext>
    </p:extLst>
  </p:cSld>
  <p:clrMapOvr>
    <a:overrideClrMapping bg1="lt1" tx1="dk1" bg2="lt2" tx2="dk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79174536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25148845"/>
      </p:ext>
    </p:extLst>
  </p:cSld>
  <p:clrMapOvr>
    <a:overrideClrMapping bg1="lt1" tx1="dk1" bg2="lt2" tx2="dk2" accent1="accent1" accent2="accent2" accent3="accent3" accent4="accent4" accent5="accent5" accent6="accent6" hlink="hlink" folHlink="folHlink"/>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426877885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9347680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397661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34257437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212574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97957382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950118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78660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16657350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85669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0685400"/>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04680986"/>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17264728"/>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19348271"/>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4112307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496294"/>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85341002"/>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70172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33902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258362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425574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66843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963820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8315742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680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4277627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200159434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17921569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190967496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2750523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189696302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113AB58-B0DC-A362-F4AD-1E160529E39E}"/>
              </a:ext>
            </a:extLst>
          </p:cNvPr>
          <p:cNvGrpSpPr/>
          <p:nvPr userDrawn="1"/>
        </p:nvGrpSpPr>
        <p:grpSpPr>
          <a:xfrm>
            <a:off x="1093409" y="1457316"/>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Oval 25">
            <a:extLst>
              <a:ext uri="{FF2B5EF4-FFF2-40B4-BE49-F238E27FC236}">
                <a16:creationId xmlns:a16="http://schemas.microsoft.com/office/drawing/2014/main" id="{0B58E4D1-6B03-7949-8339-ED676564FECC}"/>
              </a:ext>
            </a:extLst>
          </p:cNvPr>
          <p:cNvSpPr/>
          <p:nvPr userDrawn="1"/>
        </p:nvSpPr>
        <p:spPr>
          <a:xfrm>
            <a:off x="4733146" y="1283315"/>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14383" y="1792085"/>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1" name="Rounded Rectangle 20">
            <a:extLst>
              <a:ext uri="{FF2B5EF4-FFF2-40B4-BE49-F238E27FC236}">
                <a16:creationId xmlns:a16="http://schemas.microsoft.com/office/drawing/2014/main" id="{634B81F0-7E50-84B3-A47D-7BA8F8158B15}"/>
              </a:ext>
            </a:extLst>
          </p:cNvPr>
          <p:cNvSpPr/>
          <p:nvPr userDrawn="1"/>
        </p:nvSpPr>
        <p:spPr>
          <a:xfrm>
            <a:off x="4625220" y="4809452"/>
            <a:ext cx="2941560" cy="1655695"/>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8" name="Oval 27">
            <a:extLst>
              <a:ext uri="{FF2B5EF4-FFF2-40B4-BE49-F238E27FC236}">
                <a16:creationId xmlns:a16="http://schemas.microsoft.com/office/drawing/2014/main" id="{6A3352EB-B9F8-D275-1B43-64FDF269764B}"/>
              </a:ext>
            </a:extLst>
          </p:cNvPr>
          <p:cNvSpPr/>
          <p:nvPr userDrawn="1"/>
        </p:nvSpPr>
        <p:spPr>
          <a:xfrm>
            <a:off x="4809346" y="446247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Picture Placeholder 112">
            <a:extLst>
              <a:ext uri="{FF2B5EF4-FFF2-40B4-BE49-F238E27FC236}">
                <a16:creationId xmlns:a16="http://schemas.microsoft.com/office/drawing/2014/main" id="{5D84631B-E931-F989-4BAB-5C16131E1946}"/>
              </a:ext>
            </a:extLst>
          </p:cNvPr>
          <p:cNvSpPr>
            <a:spLocks noGrp="1"/>
          </p:cNvSpPr>
          <p:nvPr>
            <p:ph type="pic" sz="quarter" idx="43" hasCustomPrompt="1"/>
          </p:nvPr>
        </p:nvSpPr>
        <p:spPr>
          <a:xfrm>
            <a:off x="4896823" y="4590559"/>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49">
            <a:extLst>
              <a:ext uri="{FF2B5EF4-FFF2-40B4-BE49-F238E27FC236}">
                <a16:creationId xmlns:a16="http://schemas.microsoft.com/office/drawing/2014/main" id="{9E25C82C-6C1D-BF7F-8E98-3E1FFEDAB9CB}"/>
              </a:ext>
            </a:extLst>
          </p:cNvPr>
          <p:cNvSpPr>
            <a:spLocks noGrp="1"/>
          </p:cNvSpPr>
          <p:nvPr>
            <p:ph type="body" sz="quarter" idx="44" hasCustomPrompt="1"/>
          </p:nvPr>
        </p:nvSpPr>
        <p:spPr>
          <a:xfrm>
            <a:off x="4794161" y="5250887"/>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70206377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62470141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274318996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5322739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36407152"/>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93858201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139052113"/>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81340945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4882929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447948206"/>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8585222"/>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3323071"/>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85843278"/>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807720901"/>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818117936"/>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06333567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98513299"/>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9637944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336326419"/>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511071237"/>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051601826"/>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0068901"/>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462086949"/>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2082893"/>
      </p:ext>
    </p:extLst>
  </p:cSld>
  <p:clrMapOvr>
    <a:overrideClrMapping bg1="dk1" tx1="lt1" bg2="dk2" tx2="lt2" accent1="accent1" accent2="accent2" accent3="accent3" accent4="accent4" accent5="accent5" accent6="accent6" hlink="hlink" folHlink="folHlink"/>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6607120"/>
      </p:ext>
    </p:extLst>
  </p:cSld>
  <p:clrMapOvr>
    <a:overrideClrMapping bg1="dk1" tx1="lt1" bg2="dk2" tx2="lt2" accent1="accent1" accent2="accent2" accent3="accent3" accent4="accent4" accent5="accent5" accent6="accent6" hlink="hlink" folHlink="folHlink"/>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0395443"/>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55981"/>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3083757597"/>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18340312"/>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14353497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2226046686"/>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86409787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65448671"/>
      </p:ext>
    </p:extLst>
  </p:cSld>
  <p:clrMapOvr>
    <a:overrideClrMapping bg1="dk1" tx1="lt1" bg2="dk2" tx2="lt2" accent1="accent1" accent2="accent2" accent3="accent3" accent4="accent4" accent5="accent5" accent6="accent6" hlink="hlink" folHlink="folHlink"/>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538760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783167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1992250513"/>
      </p:ext>
    </p:extLst>
  </p:cSld>
  <p:clrMapOvr>
    <a:overrideClrMapping bg1="lt1" tx1="dk1" bg2="lt2" tx2="dk2" accent1="accent1" accent2="accent2" accent3="accent3" accent4="accent4" accent5="accent5" accent6="accent6" hlink="hlink" folHlink="folHlink"/>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4728453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8281971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83442581"/>
      </p:ext>
    </p:extLst>
  </p:cSld>
  <p:clrMapOvr>
    <a:masterClrMapping/>
  </p:clrMapOvr>
  <p:extLst>
    <p:ext uri="{DCECCB84-F9BA-43D5-87BE-67443E8EF086}">
      <p15:sldGuideLst xmlns:p15="http://schemas.microsoft.com/office/powerpoint/2012/main"/>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20254682"/>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273086490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1_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247848510"/>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228243458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820587524"/>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153453448"/>
      </p:ext>
    </p:extLst>
  </p:cSld>
  <p:clrMapOvr>
    <a:masterClrMapping/>
  </p:clrMapOvr>
  <p:extLst>
    <p:ext uri="{DCECCB84-F9BA-43D5-87BE-67443E8EF086}">
      <p15:sldGuideLst xmlns:p15="http://schemas.microsoft.com/office/powerpoint/2012/main"/>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381757313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069620615"/>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3052501488"/>
      </p:ext>
    </p:extLst>
  </p:cSld>
  <p:clrMapOvr>
    <a:masterClrMapping/>
  </p:clrMapOvr>
  <p:extLst>
    <p:ext uri="{DCECCB84-F9BA-43D5-87BE-67443E8EF086}">
      <p15:sldGuideLst xmlns:p15="http://schemas.microsoft.com/office/powerpoint/2012/main"/>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4920988"/>
      </p:ext>
    </p:extLst>
  </p:cSld>
  <p:clrMapOvr>
    <a:masterClrMapping/>
  </p:clrMapOvr>
  <p:extLst>
    <p:ext uri="{DCECCB84-F9BA-43D5-87BE-67443E8EF086}">
      <p15:sldGuideLst xmlns:p15="http://schemas.microsoft.com/office/powerpoint/2012/main"/>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1109604737"/>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2659306563"/>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151531308"/>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slideLayout" Target="../slideLayouts/slideLayout53.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149" Type="http://schemas.openxmlformats.org/officeDocument/2006/relationships/slideLayout" Target="../slideLayouts/slideLayout149.xml"/><Relationship Id="rId5" Type="http://schemas.openxmlformats.org/officeDocument/2006/relationships/slideLayout" Target="../slideLayouts/slideLayout5.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50" Type="http://schemas.openxmlformats.org/officeDocument/2006/relationships/slideLayout" Target="../slideLayouts/slideLayout150.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45" Type="http://schemas.openxmlformats.org/officeDocument/2006/relationships/slideLayout" Target="../slideLayouts/slideLayout145.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51" Type="http://schemas.openxmlformats.org/officeDocument/2006/relationships/slideLayout" Target="../slideLayouts/slideLayout151.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5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147" Type="http://schemas.openxmlformats.org/officeDocument/2006/relationships/slideLayout" Target="../slideLayouts/slideLayout14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3" Type="http://schemas.openxmlformats.org/officeDocument/2006/relationships/image" Target="../media/image1.png"/><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slideLayout" Target="../slideLayouts/slideLayout143.xml"/><Relationship Id="rId148" Type="http://schemas.openxmlformats.org/officeDocument/2006/relationships/slideLayout" Target="../slideLayouts/slideLayout148.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slideLayout" Target="../slideLayouts/slideLayout144.xml"/><Relationship Id="rId90" Type="http://schemas.openxmlformats.org/officeDocument/2006/relationships/slideLayout" Target="../slideLayouts/slideLayout90.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268.xml"/><Relationship Id="rId21" Type="http://schemas.openxmlformats.org/officeDocument/2006/relationships/slideLayout" Target="../slideLayouts/slideLayout172.xml"/><Relationship Id="rId42" Type="http://schemas.openxmlformats.org/officeDocument/2006/relationships/slideLayout" Target="../slideLayouts/slideLayout193.xml"/><Relationship Id="rId63" Type="http://schemas.openxmlformats.org/officeDocument/2006/relationships/slideLayout" Target="../slideLayouts/slideLayout214.xml"/><Relationship Id="rId84" Type="http://schemas.openxmlformats.org/officeDocument/2006/relationships/slideLayout" Target="../slideLayouts/slideLayout235.xml"/><Relationship Id="rId138" Type="http://schemas.openxmlformats.org/officeDocument/2006/relationships/slideLayout" Target="../slideLayouts/slideLayout289.xml"/><Relationship Id="rId107" Type="http://schemas.openxmlformats.org/officeDocument/2006/relationships/slideLayout" Target="../slideLayouts/slideLayout258.xml"/><Relationship Id="rId11" Type="http://schemas.openxmlformats.org/officeDocument/2006/relationships/slideLayout" Target="../slideLayouts/slideLayout162.xml"/><Relationship Id="rId32" Type="http://schemas.openxmlformats.org/officeDocument/2006/relationships/slideLayout" Target="../slideLayouts/slideLayout183.xml"/><Relationship Id="rId53" Type="http://schemas.openxmlformats.org/officeDocument/2006/relationships/slideLayout" Target="../slideLayouts/slideLayout204.xml"/><Relationship Id="rId74" Type="http://schemas.openxmlformats.org/officeDocument/2006/relationships/slideLayout" Target="../slideLayouts/slideLayout225.xml"/><Relationship Id="rId128" Type="http://schemas.openxmlformats.org/officeDocument/2006/relationships/slideLayout" Target="../slideLayouts/slideLayout279.xml"/><Relationship Id="rId149" Type="http://schemas.openxmlformats.org/officeDocument/2006/relationships/slideLayout" Target="../slideLayouts/slideLayout300.xml"/><Relationship Id="rId5" Type="http://schemas.openxmlformats.org/officeDocument/2006/relationships/slideLayout" Target="../slideLayouts/slideLayout156.xml"/><Relationship Id="rId95" Type="http://schemas.openxmlformats.org/officeDocument/2006/relationships/slideLayout" Target="../slideLayouts/slideLayout246.xml"/><Relationship Id="rId22" Type="http://schemas.openxmlformats.org/officeDocument/2006/relationships/slideLayout" Target="../slideLayouts/slideLayout173.xml"/><Relationship Id="rId27" Type="http://schemas.openxmlformats.org/officeDocument/2006/relationships/slideLayout" Target="../slideLayouts/slideLayout178.xml"/><Relationship Id="rId43" Type="http://schemas.openxmlformats.org/officeDocument/2006/relationships/slideLayout" Target="../slideLayouts/slideLayout194.xml"/><Relationship Id="rId48" Type="http://schemas.openxmlformats.org/officeDocument/2006/relationships/slideLayout" Target="../slideLayouts/slideLayout199.xml"/><Relationship Id="rId64" Type="http://schemas.openxmlformats.org/officeDocument/2006/relationships/slideLayout" Target="../slideLayouts/slideLayout215.xml"/><Relationship Id="rId69" Type="http://schemas.openxmlformats.org/officeDocument/2006/relationships/slideLayout" Target="../slideLayouts/slideLayout220.xml"/><Relationship Id="rId113" Type="http://schemas.openxmlformats.org/officeDocument/2006/relationships/slideLayout" Target="../slideLayouts/slideLayout264.xml"/><Relationship Id="rId118" Type="http://schemas.openxmlformats.org/officeDocument/2006/relationships/slideLayout" Target="../slideLayouts/slideLayout269.xml"/><Relationship Id="rId134" Type="http://schemas.openxmlformats.org/officeDocument/2006/relationships/slideLayout" Target="../slideLayouts/slideLayout285.xml"/><Relationship Id="rId139" Type="http://schemas.openxmlformats.org/officeDocument/2006/relationships/slideLayout" Target="../slideLayouts/slideLayout290.xml"/><Relationship Id="rId80" Type="http://schemas.openxmlformats.org/officeDocument/2006/relationships/slideLayout" Target="../slideLayouts/slideLayout231.xml"/><Relationship Id="rId85" Type="http://schemas.openxmlformats.org/officeDocument/2006/relationships/slideLayout" Target="../slideLayouts/slideLayout236.xml"/><Relationship Id="rId150" Type="http://schemas.openxmlformats.org/officeDocument/2006/relationships/slideLayout" Target="../slideLayouts/slideLayout301.xml"/><Relationship Id="rId12" Type="http://schemas.openxmlformats.org/officeDocument/2006/relationships/slideLayout" Target="../slideLayouts/slideLayout163.xml"/><Relationship Id="rId17" Type="http://schemas.openxmlformats.org/officeDocument/2006/relationships/slideLayout" Target="../slideLayouts/slideLayout168.xml"/><Relationship Id="rId33" Type="http://schemas.openxmlformats.org/officeDocument/2006/relationships/slideLayout" Target="../slideLayouts/slideLayout184.xml"/><Relationship Id="rId38" Type="http://schemas.openxmlformats.org/officeDocument/2006/relationships/slideLayout" Target="../slideLayouts/slideLayout189.xml"/><Relationship Id="rId59" Type="http://schemas.openxmlformats.org/officeDocument/2006/relationships/slideLayout" Target="../slideLayouts/slideLayout210.xml"/><Relationship Id="rId103" Type="http://schemas.openxmlformats.org/officeDocument/2006/relationships/slideLayout" Target="../slideLayouts/slideLayout254.xml"/><Relationship Id="rId108" Type="http://schemas.openxmlformats.org/officeDocument/2006/relationships/slideLayout" Target="../slideLayouts/slideLayout259.xml"/><Relationship Id="rId124" Type="http://schemas.openxmlformats.org/officeDocument/2006/relationships/slideLayout" Target="../slideLayouts/slideLayout275.xml"/><Relationship Id="rId129" Type="http://schemas.openxmlformats.org/officeDocument/2006/relationships/slideLayout" Target="../slideLayouts/slideLayout280.xml"/><Relationship Id="rId54" Type="http://schemas.openxmlformats.org/officeDocument/2006/relationships/slideLayout" Target="../slideLayouts/slideLayout205.xml"/><Relationship Id="rId70" Type="http://schemas.openxmlformats.org/officeDocument/2006/relationships/slideLayout" Target="../slideLayouts/slideLayout221.xml"/><Relationship Id="rId75" Type="http://schemas.openxmlformats.org/officeDocument/2006/relationships/slideLayout" Target="../slideLayouts/slideLayout226.xml"/><Relationship Id="rId91" Type="http://schemas.openxmlformats.org/officeDocument/2006/relationships/slideLayout" Target="../slideLayouts/slideLayout242.xml"/><Relationship Id="rId96" Type="http://schemas.openxmlformats.org/officeDocument/2006/relationships/slideLayout" Target="../slideLayouts/slideLayout247.xml"/><Relationship Id="rId140" Type="http://schemas.openxmlformats.org/officeDocument/2006/relationships/slideLayout" Target="../slideLayouts/slideLayout291.xml"/><Relationship Id="rId145" Type="http://schemas.openxmlformats.org/officeDocument/2006/relationships/slideLayout" Target="../slideLayouts/slideLayout296.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23" Type="http://schemas.openxmlformats.org/officeDocument/2006/relationships/slideLayout" Target="../slideLayouts/slideLayout174.xml"/><Relationship Id="rId28" Type="http://schemas.openxmlformats.org/officeDocument/2006/relationships/slideLayout" Target="../slideLayouts/slideLayout179.xml"/><Relationship Id="rId49" Type="http://schemas.openxmlformats.org/officeDocument/2006/relationships/slideLayout" Target="../slideLayouts/slideLayout200.xml"/><Relationship Id="rId114" Type="http://schemas.openxmlformats.org/officeDocument/2006/relationships/slideLayout" Target="../slideLayouts/slideLayout265.xml"/><Relationship Id="rId119" Type="http://schemas.openxmlformats.org/officeDocument/2006/relationships/slideLayout" Target="../slideLayouts/slideLayout270.xml"/><Relationship Id="rId44" Type="http://schemas.openxmlformats.org/officeDocument/2006/relationships/slideLayout" Target="../slideLayouts/slideLayout195.xml"/><Relationship Id="rId60" Type="http://schemas.openxmlformats.org/officeDocument/2006/relationships/slideLayout" Target="../slideLayouts/slideLayout211.xml"/><Relationship Id="rId65" Type="http://schemas.openxmlformats.org/officeDocument/2006/relationships/slideLayout" Target="../slideLayouts/slideLayout216.xml"/><Relationship Id="rId81" Type="http://schemas.openxmlformats.org/officeDocument/2006/relationships/slideLayout" Target="../slideLayouts/slideLayout232.xml"/><Relationship Id="rId86" Type="http://schemas.openxmlformats.org/officeDocument/2006/relationships/slideLayout" Target="../slideLayouts/slideLayout237.xml"/><Relationship Id="rId130" Type="http://schemas.openxmlformats.org/officeDocument/2006/relationships/slideLayout" Target="../slideLayouts/slideLayout281.xml"/><Relationship Id="rId135" Type="http://schemas.openxmlformats.org/officeDocument/2006/relationships/slideLayout" Target="../slideLayouts/slideLayout286.xml"/><Relationship Id="rId151" Type="http://schemas.openxmlformats.org/officeDocument/2006/relationships/theme" Target="../theme/theme2.xml"/><Relationship Id="rId13" Type="http://schemas.openxmlformats.org/officeDocument/2006/relationships/slideLayout" Target="../slideLayouts/slideLayout164.xml"/><Relationship Id="rId18" Type="http://schemas.openxmlformats.org/officeDocument/2006/relationships/slideLayout" Target="../slideLayouts/slideLayout169.xml"/><Relationship Id="rId39" Type="http://schemas.openxmlformats.org/officeDocument/2006/relationships/slideLayout" Target="../slideLayouts/slideLayout190.xml"/><Relationship Id="rId109" Type="http://schemas.openxmlformats.org/officeDocument/2006/relationships/slideLayout" Target="../slideLayouts/slideLayout260.xml"/><Relationship Id="rId34" Type="http://schemas.openxmlformats.org/officeDocument/2006/relationships/slideLayout" Target="../slideLayouts/slideLayout185.xml"/><Relationship Id="rId50" Type="http://schemas.openxmlformats.org/officeDocument/2006/relationships/slideLayout" Target="../slideLayouts/slideLayout201.xml"/><Relationship Id="rId55" Type="http://schemas.openxmlformats.org/officeDocument/2006/relationships/slideLayout" Target="../slideLayouts/slideLayout206.xml"/><Relationship Id="rId76" Type="http://schemas.openxmlformats.org/officeDocument/2006/relationships/slideLayout" Target="../slideLayouts/slideLayout227.xml"/><Relationship Id="rId97" Type="http://schemas.openxmlformats.org/officeDocument/2006/relationships/slideLayout" Target="../slideLayouts/slideLayout248.xml"/><Relationship Id="rId104" Type="http://schemas.openxmlformats.org/officeDocument/2006/relationships/slideLayout" Target="../slideLayouts/slideLayout255.xml"/><Relationship Id="rId120" Type="http://schemas.openxmlformats.org/officeDocument/2006/relationships/slideLayout" Target="../slideLayouts/slideLayout271.xml"/><Relationship Id="rId125" Type="http://schemas.openxmlformats.org/officeDocument/2006/relationships/slideLayout" Target="../slideLayouts/slideLayout276.xml"/><Relationship Id="rId141" Type="http://schemas.openxmlformats.org/officeDocument/2006/relationships/slideLayout" Target="../slideLayouts/slideLayout292.xml"/><Relationship Id="rId146" Type="http://schemas.openxmlformats.org/officeDocument/2006/relationships/slideLayout" Target="../slideLayouts/slideLayout297.xml"/><Relationship Id="rId7" Type="http://schemas.openxmlformats.org/officeDocument/2006/relationships/slideLayout" Target="../slideLayouts/slideLayout158.xml"/><Relationship Id="rId71" Type="http://schemas.openxmlformats.org/officeDocument/2006/relationships/slideLayout" Target="../slideLayouts/slideLayout222.xml"/><Relationship Id="rId92" Type="http://schemas.openxmlformats.org/officeDocument/2006/relationships/slideLayout" Target="../slideLayouts/slideLayout243.xml"/><Relationship Id="rId2" Type="http://schemas.openxmlformats.org/officeDocument/2006/relationships/slideLayout" Target="../slideLayouts/slideLayout153.xml"/><Relationship Id="rId29" Type="http://schemas.openxmlformats.org/officeDocument/2006/relationships/slideLayout" Target="../slideLayouts/slideLayout180.xml"/><Relationship Id="rId24" Type="http://schemas.openxmlformats.org/officeDocument/2006/relationships/slideLayout" Target="../slideLayouts/slideLayout175.xml"/><Relationship Id="rId40" Type="http://schemas.openxmlformats.org/officeDocument/2006/relationships/slideLayout" Target="../slideLayouts/slideLayout191.xml"/><Relationship Id="rId45" Type="http://schemas.openxmlformats.org/officeDocument/2006/relationships/slideLayout" Target="../slideLayouts/slideLayout196.xml"/><Relationship Id="rId66" Type="http://schemas.openxmlformats.org/officeDocument/2006/relationships/slideLayout" Target="../slideLayouts/slideLayout217.xml"/><Relationship Id="rId87" Type="http://schemas.openxmlformats.org/officeDocument/2006/relationships/slideLayout" Target="../slideLayouts/slideLayout238.xml"/><Relationship Id="rId110" Type="http://schemas.openxmlformats.org/officeDocument/2006/relationships/slideLayout" Target="../slideLayouts/slideLayout261.xml"/><Relationship Id="rId115" Type="http://schemas.openxmlformats.org/officeDocument/2006/relationships/slideLayout" Target="../slideLayouts/slideLayout266.xml"/><Relationship Id="rId131" Type="http://schemas.openxmlformats.org/officeDocument/2006/relationships/slideLayout" Target="../slideLayouts/slideLayout282.xml"/><Relationship Id="rId136" Type="http://schemas.openxmlformats.org/officeDocument/2006/relationships/slideLayout" Target="../slideLayouts/slideLayout287.xml"/><Relationship Id="rId61" Type="http://schemas.openxmlformats.org/officeDocument/2006/relationships/slideLayout" Target="../slideLayouts/slideLayout212.xml"/><Relationship Id="rId82" Type="http://schemas.openxmlformats.org/officeDocument/2006/relationships/slideLayout" Target="../slideLayouts/slideLayout233.xml"/><Relationship Id="rId152" Type="http://schemas.openxmlformats.org/officeDocument/2006/relationships/image" Target="../media/image1.png"/><Relationship Id="rId19" Type="http://schemas.openxmlformats.org/officeDocument/2006/relationships/slideLayout" Target="../slideLayouts/slideLayout170.xml"/><Relationship Id="rId14" Type="http://schemas.openxmlformats.org/officeDocument/2006/relationships/slideLayout" Target="../slideLayouts/slideLayout165.xml"/><Relationship Id="rId30" Type="http://schemas.openxmlformats.org/officeDocument/2006/relationships/slideLayout" Target="../slideLayouts/slideLayout181.xml"/><Relationship Id="rId35" Type="http://schemas.openxmlformats.org/officeDocument/2006/relationships/slideLayout" Target="../slideLayouts/slideLayout186.xml"/><Relationship Id="rId56" Type="http://schemas.openxmlformats.org/officeDocument/2006/relationships/slideLayout" Target="../slideLayouts/slideLayout207.xml"/><Relationship Id="rId77" Type="http://schemas.openxmlformats.org/officeDocument/2006/relationships/slideLayout" Target="../slideLayouts/slideLayout228.xml"/><Relationship Id="rId100" Type="http://schemas.openxmlformats.org/officeDocument/2006/relationships/slideLayout" Target="../slideLayouts/slideLayout251.xml"/><Relationship Id="rId105" Type="http://schemas.openxmlformats.org/officeDocument/2006/relationships/slideLayout" Target="../slideLayouts/slideLayout256.xml"/><Relationship Id="rId126" Type="http://schemas.openxmlformats.org/officeDocument/2006/relationships/slideLayout" Target="../slideLayouts/slideLayout277.xml"/><Relationship Id="rId147" Type="http://schemas.openxmlformats.org/officeDocument/2006/relationships/slideLayout" Target="../slideLayouts/slideLayout298.xml"/><Relationship Id="rId8" Type="http://schemas.openxmlformats.org/officeDocument/2006/relationships/slideLayout" Target="../slideLayouts/slideLayout159.xml"/><Relationship Id="rId51" Type="http://schemas.openxmlformats.org/officeDocument/2006/relationships/slideLayout" Target="../slideLayouts/slideLayout202.xml"/><Relationship Id="rId72" Type="http://schemas.openxmlformats.org/officeDocument/2006/relationships/slideLayout" Target="../slideLayouts/slideLayout223.xml"/><Relationship Id="rId93" Type="http://schemas.openxmlformats.org/officeDocument/2006/relationships/slideLayout" Target="../slideLayouts/slideLayout244.xml"/><Relationship Id="rId98" Type="http://schemas.openxmlformats.org/officeDocument/2006/relationships/slideLayout" Target="../slideLayouts/slideLayout249.xml"/><Relationship Id="rId121" Type="http://schemas.openxmlformats.org/officeDocument/2006/relationships/slideLayout" Target="../slideLayouts/slideLayout272.xml"/><Relationship Id="rId142" Type="http://schemas.openxmlformats.org/officeDocument/2006/relationships/slideLayout" Target="../slideLayouts/slideLayout293.xml"/><Relationship Id="rId3" Type="http://schemas.openxmlformats.org/officeDocument/2006/relationships/slideLayout" Target="../slideLayouts/slideLayout154.xml"/><Relationship Id="rId25" Type="http://schemas.openxmlformats.org/officeDocument/2006/relationships/slideLayout" Target="../slideLayouts/slideLayout176.xml"/><Relationship Id="rId46" Type="http://schemas.openxmlformats.org/officeDocument/2006/relationships/slideLayout" Target="../slideLayouts/slideLayout197.xml"/><Relationship Id="rId67" Type="http://schemas.openxmlformats.org/officeDocument/2006/relationships/slideLayout" Target="../slideLayouts/slideLayout218.xml"/><Relationship Id="rId116" Type="http://schemas.openxmlformats.org/officeDocument/2006/relationships/slideLayout" Target="../slideLayouts/slideLayout267.xml"/><Relationship Id="rId137" Type="http://schemas.openxmlformats.org/officeDocument/2006/relationships/slideLayout" Target="../slideLayouts/slideLayout288.xml"/><Relationship Id="rId20" Type="http://schemas.openxmlformats.org/officeDocument/2006/relationships/slideLayout" Target="../slideLayouts/slideLayout171.xml"/><Relationship Id="rId41" Type="http://schemas.openxmlformats.org/officeDocument/2006/relationships/slideLayout" Target="../slideLayouts/slideLayout192.xml"/><Relationship Id="rId62" Type="http://schemas.openxmlformats.org/officeDocument/2006/relationships/slideLayout" Target="../slideLayouts/slideLayout213.xml"/><Relationship Id="rId83" Type="http://schemas.openxmlformats.org/officeDocument/2006/relationships/slideLayout" Target="../slideLayouts/slideLayout234.xml"/><Relationship Id="rId88" Type="http://schemas.openxmlformats.org/officeDocument/2006/relationships/slideLayout" Target="../slideLayouts/slideLayout239.xml"/><Relationship Id="rId111" Type="http://schemas.openxmlformats.org/officeDocument/2006/relationships/slideLayout" Target="../slideLayouts/slideLayout262.xml"/><Relationship Id="rId132" Type="http://schemas.openxmlformats.org/officeDocument/2006/relationships/slideLayout" Target="../slideLayouts/slideLayout283.xml"/><Relationship Id="rId15" Type="http://schemas.openxmlformats.org/officeDocument/2006/relationships/slideLayout" Target="../slideLayouts/slideLayout166.xml"/><Relationship Id="rId36" Type="http://schemas.openxmlformats.org/officeDocument/2006/relationships/slideLayout" Target="../slideLayouts/slideLayout187.xml"/><Relationship Id="rId57" Type="http://schemas.openxmlformats.org/officeDocument/2006/relationships/slideLayout" Target="../slideLayouts/slideLayout208.xml"/><Relationship Id="rId106" Type="http://schemas.openxmlformats.org/officeDocument/2006/relationships/slideLayout" Target="../slideLayouts/slideLayout257.xml"/><Relationship Id="rId127" Type="http://schemas.openxmlformats.org/officeDocument/2006/relationships/slideLayout" Target="../slideLayouts/slideLayout278.xml"/><Relationship Id="rId10" Type="http://schemas.openxmlformats.org/officeDocument/2006/relationships/slideLayout" Target="../slideLayouts/slideLayout161.xml"/><Relationship Id="rId31" Type="http://schemas.openxmlformats.org/officeDocument/2006/relationships/slideLayout" Target="../slideLayouts/slideLayout182.xml"/><Relationship Id="rId52" Type="http://schemas.openxmlformats.org/officeDocument/2006/relationships/slideLayout" Target="../slideLayouts/slideLayout203.xml"/><Relationship Id="rId73" Type="http://schemas.openxmlformats.org/officeDocument/2006/relationships/slideLayout" Target="../slideLayouts/slideLayout224.xml"/><Relationship Id="rId78" Type="http://schemas.openxmlformats.org/officeDocument/2006/relationships/slideLayout" Target="../slideLayouts/slideLayout229.xml"/><Relationship Id="rId94" Type="http://schemas.openxmlformats.org/officeDocument/2006/relationships/slideLayout" Target="../slideLayouts/slideLayout245.xml"/><Relationship Id="rId99" Type="http://schemas.openxmlformats.org/officeDocument/2006/relationships/slideLayout" Target="../slideLayouts/slideLayout250.xml"/><Relationship Id="rId101" Type="http://schemas.openxmlformats.org/officeDocument/2006/relationships/slideLayout" Target="../slideLayouts/slideLayout252.xml"/><Relationship Id="rId122" Type="http://schemas.openxmlformats.org/officeDocument/2006/relationships/slideLayout" Target="../slideLayouts/slideLayout273.xml"/><Relationship Id="rId143" Type="http://schemas.openxmlformats.org/officeDocument/2006/relationships/slideLayout" Target="../slideLayouts/slideLayout294.xml"/><Relationship Id="rId148" Type="http://schemas.openxmlformats.org/officeDocument/2006/relationships/slideLayout" Target="../slideLayouts/slideLayout299.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26" Type="http://schemas.openxmlformats.org/officeDocument/2006/relationships/slideLayout" Target="../slideLayouts/slideLayout177.xml"/><Relationship Id="rId47" Type="http://schemas.openxmlformats.org/officeDocument/2006/relationships/slideLayout" Target="../slideLayouts/slideLayout198.xml"/><Relationship Id="rId68" Type="http://schemas.openxmlformats.org/officeDocument/2006/relationships/slideLayout" Target="../slideLayouts/slideLayout219.xml"/><Relationship Id="rId89" Type="http://schemas.openxmlformats.org/officeDocument/2006/relationships/slideLayout" Target="../slideLayouts/slideLayout240.xml"/><Relationship Id="rId112" Type="http://schemas.openxmlformats.org/officeDocument/2006/relationships/slideLayout" Target="../slideLayouts/slideLayout263.xml"/><Relationship Id="rId133" Type="http://schemas.openxmlformats.org/officeDocument/2006/relationships/slideLayout" Target="../slideLayouts/slideLayout284.xml"/><Relationship Id="rId16" Type="http://schemas.openxmlformats.org/officeDocument/2006/relationships/slideLayout" Target="../slideLayouts/slideLayout167.xml"/><Relationship Id="rId37" Type="http://schemas.openxmlformats.org/officeDocument/2006/relationships/slideLayout" Target="../slideLayouts/slideLayout188.xml"/><Relationship Id="rId58" Type="http://schemas.openxmlformats.org/officeDocument/2006/relationships/slideLayout" Target="../slideLayouts/slideLayout209.xml"/><Relationship Id="rId79" Type="http://schemas.openxmlformats.org/officeDocument/2006/relationships/slideLayout" Target="../slideLayouts/slideLayout230.xml"/><Relationship Id="rId102" Type="http://schemas.openxmlformats.org/officeDocument/2006/relationships/slideLayout" Target="../slideLayouts/slideLayout253.xml"/><Relationship Id="rId123" Type="http://schemas.openxmlformats.org/officeDocument/2006/relationships/slideLayout" Target="../slideLayouts/slideLayout274.xml"/><Relationship Id="rId144" Type="http://schemas.openxmlformats.org/officeDocument/2006/relationships/slideLayout" Target="../slideLayouts/slideLayout295.xml"/><Relationship Id="rId90" Type="http://schemas.openxmlformats.org/officeDocument/2006/relationships/slideLayout" Target="../slideLayouts/slideLayout2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5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55671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963" r:id="rId151"/>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5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199871" y="6442615"/>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a:off x="7733142" y="646451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flipH="1">
            <a:off x="723901" y="6577201"/>
            <a:ext cx="9287417" cy="0"/>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2030511"/>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 id="2147483835" r:id="rId23"/>
    <p:sldLayoutId id="2147483836" r:id="rId24"/>
    <p:sldLayoutId id="2147483837" r:id="rId25"/>
    <p:sldLayoutId id="2147483838" r:id="rId26"/>
    <p:sldLayoutId id="2147483839" r:id="rId27"/>
    <p:sldLayoutId id="2147483840" r:id="rId28"/>
    <p:sldLayoutId id="2147483841" r:id="rId29"/>
    <p:sldLayoutId id="2147483842" r:id="rId30"/>
    <p:sldLayoutId id="2147483843" r:id="rId31"/>
    <p:sldLayoutId id="2147483844" r:id="rId32"/>
    <p:sldLayoutId id="2147483845" r:id="rId33"/>
    <p:sldLayoutId id="2147483846" r:id="rId34"/>
    <p:sldLayoutId id="2147483847" r:id="rId35"/>
    <p:sldLayoutId id="2147483848" r:id="rId36"/>
    <p:sldLayoutId id="2147483849" r:id="rId37"/>
    <p:sldLayoutId id="2147483850" r:id="rId38"/>
    <p:sldLayoutId id="2147483851" r:id="rId39"/>
    <p:sldLayoutId id="2147483852" r:id="rId40"/>
    <p:sldLayoutId id="2147483853" r:id="rId41"/>
    <p:sldLayoutId id="2147483854" r:id="rId42"/>
    <p:sldLayoutId id="2147483855" r:id="rId43"/>
    <p:sldLayoutId id="2147483856" r:id="rId44"/>
    <p:sldLayoutId id="2147483857" r:id="rId45"/>
    <p:sldLayoutId id="2147483858" r:id="rId46"/>
    <p:sldLayoutId id="2147483859" r:id="rId47"/>
    <p:sldLayoutId id="2147483860" r:id="rId48"/>
    <p:sldLayoutId id="2147483861" r:id="rId49"/>
    <p:sldLayoutId id="2147483862" r:id="rId50"/>
    <p:sldLayoutId id="2147483863" r:id="rId51"/>
    <p:sldLayoutId id="2147483864" r:id="rId52"/>
    <p:sldLayoutId id="2147483865" r:id="rId53"/>
    <p:sldLayoutId id="2147483866" r:id="rId54"/>
    <p:sldLayoutId id="2147483867" r:id="rId55"/>
    <p:sldLayoutId id="2147483868" r:id="rId56"/>
    <p:sldLayoutId id="2147483869" r:id="rId57"/>
    <p:sldLayoutId id="2147483870" r:id="rId58"/>
    <p:sldLayoutId id="2147483871" r:id="rId59"/>
    <p:sldLayoutId id="2147483872" r:id="rId60"/>
    <p:sldLayoutId id="2147483873" r:id="rId61"/>
    <p:sldLayoutId id="2147483874" r:id="rId62"/>
    <p:sldLayoutId id="2147483875" r:id="rId63"/>
    <p:sldLayoutId id="2147483876" r:id="rId64"/>
    <p:sldLayoutId id="2147483877" r:id="rId65"/>
    <p:sldLayoutId id="2147483878" r:id="rId66"/>
    <p:sldLayoutId id="2147483879" r:id="rId67"/>
    <p:sldLayoutId id="2147483880" r:id="rId68"/>
    <p:sldLayoutId id="2147483881" r:id="rId69"/>
    <p:sldLayoutId id="2147483882" r:id="rId70"/>
    <p:sldLayoutId id="2147483883" r:id="rId71"/>
    <p:sldLayoutId id="2147483884" r:id="rId72"/>
    <p:sldLayoutId id="2147483885" r:id="rId73"/>
    <p:sldLayoutId id="2147483886" r:id="rId74"/>
    <p:sldLayoutId id="2147483887" r:id="rId75"/>
    <p:sldLayoutId id="2147483888" r:id="rId76"/>
    <p:sldLayoutId id="2147483889" r:id="rId77"/>
    <p:sldLayoutId id="2147483890" r:id="rId78"/>
    <p:sldLayoutId id="2147483891" r:id="rId79"/>
    <p:sldLayoutId id="2147483892" r:id="rId80"/>
    <p:sldLayoutId id="2147483893" r:id="rId81"/>
    <p:sldLayoutId id="2147483894" r:id="rId82"/>
    <p:sldLayoutId id="2147483895" r:id="rId83"/>
    <p:sldLayoutId id="2147483896" r:id="rId84"/>
    <p:sldLayoutId id="2147483897" r:id="rId85"/>
    <p:sldLayoutId id="2147483898" r:id="rId86"/>
    <p:sldLayoutId id="2147483899" r:id="rId87"/>
    <p:sldLayoutId id="2147483900" r:id="rId88"/>
    <p:sldLayoutId id="2147483901" r:id="rId89"/>
    <p:sldLayoutId id="2147483902" r:id="rId90"/>
    <p:sldLayoutId id="2147483903" r:id="rId91"/>
    <p:sldLayoutId id="2147483904" r:id="rId92"/>
    <p:sldLayoutId id="2147483905" r:id="rId93"/>
    <p:sldLayoutId id="2147483906" r:id="rId94"/>
    <p:sldLayoutId id="2147483907" r:id="rId95"/>
    <p:sldLayoutId id="2147483908" r:id="rId96"/>
    <p:sldLayoutId id="2147483909" r:id="rId97"/>
    <p:sldLayoutId id="2147483910" r:id="rId98"/>
    <p:sldLayoutId id="2147483911" r:id="rId99"/>
    <p:sldLayoutId id="2147483912" r:id="rId100"/>
    <p:sldLayoutId id="2147483913" r:id="rId101"/>
    <p:sldLayoutId id="2147483914" r:id="rId102"/>
    <p:sldLayoutId id="2147483915" r:id="rId103"/>
    <p:sldLayoutId id="2147483916" r:id="rId104"/>
    <p:sldLayoutId id="2147483917" r:id="rId105"/>
    <p:sldLayoutId id="2147483918" r:id="rId106"/>
    <p:sldLayoutId id="2147483919" r:id="rId107"/>
    <p:sldLayoutId id="2147483920" r:id="rId108"/>
    <p:sldLayoutId id="2147483921" r:id="rId109"/>
    <p:sldLayoutId id="2147483922" r:id="rId110"/>
    <p:sldLayoutId id="2147483923" r:id="rId111"/>
    <p:sldLayoutId id="2147483924" r:id="rId112"/>
    <p:sldLayoutId id="2147483925" r:id="rId113"/>
    <p:sldLayoutId id="2147483926" r:id="rId114"/>
    <p:sldLayoutId id="2147483927" r:id="rId115"/>
    <p:sldLayoutId id="2147483928" r:id="rId116"/>
    <p:sldLayoutId id="2147483929" r:id="rId117"/>
    <p:sldLayoutId id="2147483930" r:id="rId118"/>
    <p:sldLayoutId id="2147483931" r:id="rId119"/>
    <p:sldLayoutId id="2147483932" r:id="rId120"/>
    <p:sldLayoutId id="2147483933" r:id="rId121"/>
    <p:sldLayoutId id="2147483934" r:id="rId122"/>
    <p:sldLayoutId id="2147483935" r:id="rId123"/>
    <p:sldLayoutId id="2147483936" r:id="rId124"/>
    <p:sldLayoutId id="2147483937" r:id="rId125"/>
    <p:sldLayoutId id="2147483938" r:id="rId126"/>
    <p:sldLayoutId id="2147483939" r:id="rId127"/>
    <p:sldLayoutId id="2147483940" r:id="rId128"/>
    <p:sldLayoutId id="2147483941" r:id="rId129"/>
    <p:sldLayoutId id="2147483942" r:id="rId130"/>
    <p:sldLayoutId id="2147483943" r:id="rId131"/>
    <p:sldLayoutId id="2147483944" r:id="rId132"/>
    <p:sldLayoutId id="2147483945" r:id="rId133"/>
    <p:sldLayoutId id="2147483946" r:id="rId134"/>
    <p:sldLayoutId id="2147483947" r:id="rId135"/>
    <p:sldLayoutId id="2147483948" r:id="rId136"/>
    <p:sldLayoutId id="2147483949" r:id="rId137"/>
    <p:sldLayoutId id="2147483950" r:id="rId138"/>
    <p:sldLayoutId id="2147483951" r:id="rId139"/>
    <p:sldLayoutId id="2147483952" r:id="rId140"/>
    <p:sldLayoutId id="2147483953" r:id="rId141"/>
    <p:sldLayoutId id="2147483954" r:id="rId142"/>
    <p:sldLayoutId id="2147483955" r:id="rId143"/>
    <p:sldLayoutId id="2147483956" r:id="rId144"/>
    <p:sldLayoutId id="2147483957" r:id="rId145"/>
    <p:sldLayoutId id="2147483958" r:id="rId146"/>
    <p:sldLayoutId id="2147483959" r:id="rId147"/>
    <p:sldLayoutId id="2147483960" r:id="rId148"/>
    <p:sldLayoutId id="2147483961" r:id="rId149"/>
    <p:sldLayoutId id="2147483962" r:id="rId150"/>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5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1.png"/><Relationship Id="rId3" Type="http://schemas.openxmlformats.org/officeDocument/2006/relationships/image" Target="../media/image19.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75.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0.svg"/><Relationship Id="rId9" Type="http://schemas.openxmlformats.org/officeDocument/2006/relationships/image" Target="../media/image27.png"/><Relationship Id="rId14" Type="http://schemas.openxmlformats.org/officeDocument/2006/relationships/image" Target="../media/image22.sv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30.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30.xml"/><Relationship Id="rId5" Type="http://schemas.openxmlformats.org/officeDocument/2006/relationships/image" Target="../media/image22.sv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30.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30.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30.xml"/><Relationship Id="rId5" Type="http://schemas.openxmlformats.org/officeDocument/2006/relationships/image" Target="../media/image22.sv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30.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30.xml"/><Relationship Id="rId5" Type="http://schemas.openxmlformats.org/officeDocument/2006/relationships/image" Target="../media/image22.sv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8DF5F-D3B7-601F-8348-1A3629F1DC69}"/>
              </a:ext>
            </a:extLst>
          </p:cNvPr>
          <p:cNvSpPr>
            <a:spLocks noGrp="1"/>
          </p:cNvSpPr>
          <p:nvPr>
            <p:ph type="title"/>
          </p:nvPr>
        </p:nvSpPr>
        <p:spPr>
          <a:xfrm>
            <a:off x="1005840" y="2194560"/>
            <a:ext cx="7844649" cy="1364723"/>
          </a:xfrm>
        </p:spPr>
        <p:txBody>
          <a:bodyPr lIns="0" tIns="60960" rIns="0" bIns="60960" anchor="b"/>
          <a:lstStyle/>
          <a:p>
            <a:r>
              <a:rPr lang="en-US"/>
              <a:t>Go-to-Market Capacity Planning Application</a:t>
            </a:r>
            <a:endParaRPr lang="en-US">
              <a:latin typeface="Arial"/>
              <a:cs typeface="Arial"/>
            </a:endParaRPr>
          </a:p>
        </p:txBody>
      </p:sp>
      <p:sp>
        <p:nvSpPr>
          <p:cNvPr id="5" name="Text Placeholder 4">
            <a:extLst>
              <a:ext uri="{FF2B5EF4-FFF2-40B4-BE49-F238E27FC236}">
                <a16:creationId xmlns:a16="http://schemas.microsoft.com/office/drawing/2014/main" id="{CD5CE04E-E27D-4ABD-903A-C82FE87E2C62}"/>
              </a:ext>
            </a:extLst>
          </p:cNvPr>
          <p:cNvSpPr>
            <a:spLocks noGrp="1"/>
          </p:cNvSpPr>
          <p:nvPr>
            <p:ph type="body" sz="quarter" idx="10"/>
          </p:nvPr>
        </p:nvSpPr>
        <p:spPr>
          <a:xfrm>
            <a:off x="7729808" y="5976543"/>
            <a:ext cx="3330680" cy="751961"/>
          </a:xfrm>
        </p:spPr>
        <p:txBody>
          <a:bodyPr lIns="0" tIns="45720" rIns="91440" bIns="45720" anchor="t"/>
          <a:lstStyle/>
          <a:p>
            <a:r>
              <a:rPr lang="en-US" dirty="0">
                <a:latin typeface="Arial"/>
                <a:cs typeface="Arial"/>
              </a:rPr>
              <a:t>Application Version 1.1.0</a:t>
            </a:r>
            <a:endParaRPr lang="en-US" dirty="0"/>
          </a:p>
          <a:p>
            <a:r>
              <a:rPr lang="en-US" dirty="0">
                <a:latin typeface="Arial"/>
                <a:cs typeface="Arial"/>
              </a:rPr>
              <a:t>Last Updated May 2025</a:t>
            </a:r>
          </a:p>
        </p:txBody>
      </p:sp>
      <p:sp>
        <p:nvSpPr>
          <p:cNvPr id="6" name="Title 1">
            <a:extLst>
              <a:ext uri="{FF2B5EF4-FFF2-40B4-BE49-F238E27FC236}">
                <a16:creationId xmlns:a16="http://schemas.microsoft.com/office/drawing/2014/main" id="{905522DA-573B-CBDA-3D71-0D1FBE0D55B9}"/>
              </a:ext>
            </a:extLst>
          </p:cNvPr>
          <p:cNvSpPr txBox="1">
            <a:spLocks/>
          </p:cNvSpPr>
          <p:nvPr/>
        </p:nvSpPr>
        <p:spPr>
          <a:xfrm>
            <a:off x="1005839" y="3429000"/>
            <a:ext cx="6967015" cy="751961"/>
          </a:xfrm>
          <a:prstGeom prst="rect">
            <a:avLst/>
          </a:prstGeom>
        </p:spPr>
        <p:txBody>
          <a:bodyPr lIns="0" tIns="60960" rIns="0" bIns="60960" anchor="b"/>
          <a:lstStyle>
            <a:lvl1pPr algn="l" defTabSz="1219170" rtl="0" eaLnBrk="1" latinLnBrk="0" hangingPunct="1">
              <a:spcBef>
                <a:spcPct val="0"/>
              </a:spcBef>
              <a:buNone/>
              <a:defRPr sz="4267" b="0" i="0" kern="120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US" sz="3200">
                <a:solidFill>
                  <a:schemeClr val="accent1"/>
                </a:solidFill>
              </a:rPr>
              <a:t>Functional Overview</a:t>
            </a:r>
            <a:endParaRPr lang="en-US" sz="3200">
              <a:solidFill>
                <a:schemeClr val="accent1"/>
              </a:solidFill>
              <a:latin typeface="Arial"/>
              <a:cs typeface="Arial"/>
            </a:endParaRPr>
          </a:p>
        </p:txBody>
      </p:sp>
    </p:spTree>
    <p:extLst>
      <p:ext uri="{BB962C8B-B14F-4D97-AF65-F5344CB8AC3E}">
        <p14:creationId xmlns:p14="http://schemas.microsoft.com/office/powerpoint/2010/main" val="1299184810"/>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25205-17F1-50C6-D18A-3756891D0265}"/>
              </a:ext>
            </a:extLst>
          </p:cNvPr>
          <p:cNvSpPr>
            <a:spLocks noGrp="1"/>
          </p:cNvSpPr>
          <p:nvPr>
            <p:ph type="title"/>
          </p:nvPr>
        </p:nvSpPr>
        <p:spPr/>
        <p:txBody>
          <a:bodyPr/>
          <a:lstStyle/>
          <a:p>
            <a:r>
              <a:rPr lang="en-US"/>
              <a:t>GTM Capacity Planning Application</a:t>
            </a:r>
          </a:p>
        </p:txBody>
      </p:sp>
      <p:sp>
        <p:nvSpPr>
          <p:cNvPr id="16" name="Content Placeholder 15">
            <a:extLst>
              <a:ext uri="{FF2B5EF4-FFF2-40B4-BE49-F238E27FC236}">
                <a16:creationId xmlns:a16="http://schemas.microsoft.com/office/drawing/2014/main" id="{FE5BE1E9-0A81-AE18-E46D-58F49F282616}"/>
              </a:ext>
            </a:extLst>
          </p:cNvPr>
          <p:cNvSpPr>
            <a:spLocks noGrp="1"/>
          </p:cNvSpPr>
          <p:nvPr>
            <p:ph idx="11"/>
          </p:nvPr>
        </p:nvSpPr>
        <p:spPr/>
        <p:txBody>
          <a:bodyPr lIns="0" tIns="45720" rIns="0" bIns="45720" anchor="t"/>
          <a:lstStyle/>
          <a:p>
            <a:pPr marL="0" indent="0">
              <a:buNone/>
            </a:pPr>
            <a:r>
              <a:rPr lang="en-US" sz="1600" b="1">
                <a:solidFill>
                  <a:schemeClr val="accent1"/>
                </a:solidFill>
                <a:latin typeface="Arial"/>
                <a:cs typeface="Arial"/>
              </a:rPr>
              <a:t>OVERVIEW</a:t>
            </a:r>
            <a:endParaRPr lang="en-US" sz="1600">
              <a:solidFill>
                <a:schemeClr val="accent1"/>
              </a:solidFill>
            </a:endParaRPr>
          </a:p>
          <a:p>
            <a:pPr marL="0" indent="0">
              <a:buNone/>
            </a:pPr>
            <a:r>
              <a:rPr lang="en-US" sz="1467">
                <a:latin typeface="Arial"/>
                <a:cs typeface="Arial"/>
              </a:rPr>
              <a:t>Anaplan's GTM Capacity Planning Application </a:t>
            </a:r>
            <a:r>
              <a:rPr lang="en-US" sz="1467" b="1">
                <a:latin typeface="Arial"/>
                <a:cs typeface="Arial"/>
              </a:rPr>
              <a:t>helps organizations assess and optimize their go-to-market teams’ capacity</a:t>
            </a:r>
            <a:r>
              <a:rPr lang="en-US" sz="1467">
                <a:latin typeface="Arial"/>
                <a:cs typeface="Arial"/>
              </a:rPr>
              <a:t> to meet demand, </a:t>
            </a:r>
            <a:r>
              <a:rPr lang="en-US" sz="1467" b="1">
                <a:latin typeface="Arial"/>
                <a:cs typeface="Arial"/>
              </a:rPr>
              <a:t>improve sales margins</a:t>
            </a:r>
            <a:r>
              <a:rPr lang="en-US" sz="1467">
                <a:latin typeface="Arial"/>
                <a:cs typeface="Arial"/>
              </a:rPr>
              <a:t>, and align with sales goals and market opportunities.</a:t>
            </a:r>
          </a:p>
          <a:p>
            <a:pPr marL="0" indent="0">
              <a:buNone/>
            </a:pPr>
            <a:endParaRPr lang="en-US" sz="1600"/>
          </a:p>
          <a:p>
            <a:pPr marL="0" indent="0">
              <a:buNone/>
            </a:pPr>
            <a:r>
              <a:rPr lang="en-US" sz="1600" b="1">
                <a:solidFill>
                  <a:schemeClr val="accent1"/>
                </a:solidFill>
                <a:latin typeface="Arial"/>
                <a:cs typeface="Arial"/>
              </a:rPr>
              <a:t>KEY CAPABILITIES</a:t>
            </a:r>
          </a:p>
          <a:p>
            <a:pPr marL="232405" indent="-232405"/>
            <a:r>
              <a:rPr lang="en-US" sz="1467">
                <a:latin typeface="Arial"/>
                <a:cs typeface="Arial"/>
              </a:rPr>
              <a:t>Conduct a </a:t>
            </a:r>
            <a:r>
              <a:rPr lang="en-US" sz="1467" b="1">
                <a:latin typeface="Arial"/>
                <a:cs typeface="Arial"/>
              </a:rPr>
              <a:t>coverage analysis </a:t>
            </a:r>
            <a:r>
              <a:rPr lang="en-US" sz="1467">
                <a:latin typeface="Arial"/>
                <a:cs typeface="Arial"/>
              </a:rPr>
              <a:t>to identify gaps and optimize </a:t>
            </a:r>
            <a:r>
              <a:rPr lang="en-US" sz="1467" b="1">
                <a:latin typeface="Arial"/>
                <a:cs typeface="Arial"/>
              </a:rPr>
              <a:t>FTE reporting</a:t>
            </a:r>
            <a:r>
              <a:rPr lang="en-US" sz="1467">
                <a:latin typeface="Arial"/>
                <a:cs typeface="Arial"/>
              </a:rPr>
              <a:t> and </a:t>
            </a:r>
            <a:r>
              <a:rPr lang="en-US" sz="1467" b="1">
                <a:latin typeface="Arial"/>
                <a:cs typeface="Arial"/>
              </a:rPr>
              <a:t>headcount allocation</a:t>
            </a:r>
            <a:r>
              <a:rPr lang="en-US" sz="1467">
                <a:latin typeface="Arial"/>
                <a:cs typeface="Arial"/>
              </a:rPr>
              <a:t>.</a:t>
            </a:r>
          </a:p>
          <a:p>
            <a:pPr marL="232405" indent="-232405"/>
            <a:r>
              <a:rPr lang="en-US" sz="1467">
                <a:latin typeface="Arial"/>
                <a:cs typeface="Arial"/>
              </a:rPr>
              <a:t>Leverage </a:t>
            </a:r>
            <a:r>
              <a:rPr lang="en-US" sz="1467" b="1">
                <a:latin typeface="Arial"/>
                <a:cs typeface="Arial"/>
              </a:rPr>
              <a:t>sales effectiveness</a:t>
            </a:r>
            <a:r>
              <a:rPr lang="en-US" sz="1467">
                <a:latin typeface="Arial"/>
                <a:cs typeface="Arial"/>
              </a:rPr>
              <a:t> and </a:t>
            </a:r>
            <a:r>
              <a:rPr lang="en-US" sz="1467" b="1">
                <a:latin typeface="Arial"/>
                <a:cs typeface="Arial"/>
              </a:rPr>
              <a:t>ramp analysis</a:t>
            </a:r>
            <a:r>
              <a:rPr lang="en-US" sz="1467">
                <a:latin typeface="Arial"/>
                <a:cs typeface="Arial"/>
              </a:rPr>
              <a:t> to refine planning.</a:t>
            </a:r>
          </a:p>
          <a:p>
            <a:pPr marL="232405" indent="-232405"/>
            <a:r>
              <a:rPr lang="en-US" sz="1467">
                <a:latin typeface="Arial"/>
                <a:cs typeface="Arial"/>
              </a:rPr>
              <a:t>Incorporate </a:t>
            </a:r>
            <a:r>
              <a:rPr lang="en-US" sz="1467" b="1">
                <a:latin typeface="Arial"/>
                <a:cs typeface="Arial"/>
              </a:rPr>
              <a:t>attrition assumption</a:t>
            </a:r>
            <a:r>
              <a:rPr lang="en-US" sz="1467">
                <a:latin typeface="Arial"/>
                <a:cs typeface="Arial"/>
              </a:rPr>
              <a:t> data to anticipate turnover.</a:t>
            </a:r>
          </a:p>
          <a:p>
            <a:pPr marL="232405" indent="-232405"/>
            <a:r>
              <a:rPr lang="en-US" sz="1467">
                <a:latin typeface="Arial"/>
                <a:cs typeface="Arial"/>
              </a:rPr>
              <a:t>Apply </a:t>
            </a:r>
            <a:r>
              <a:rPr lang="en-US" sz="1467" b="1">
                <a:latin typeface="Arial"/>
                <a:cs typeface="Arial"/>
              </a:rPr>
              <a:t>scenario modeling</a:t>
            </a:r>
            <a:r>
              <a:rPr lang="en-US" sz="1467">
                <a:latin typeface="Arial"/>
                <a:cs typeface="Arial"/>
              </a:rPr>
              <a:t> and track actuals to adjust plans with cross-department input.</a:t>
            </a:r>
          </a:p>
          <a:p>
            <a:pPr marL="232405" indent="-232405"/>
            <a:r>
              <a:rPr lang="en-US" sz="1467">
                <a:latin typeface="Arial"/>
                <a:cs typeface="Arial"/>
              </a:rPr>
              <a:t>Perform a </a:t>
            </a:r>
            <a:r>
              <a:rPr lang="en-US" sz="1467" b="1">
                <a:latin typeface="Arial"/>
                <a:cs typeface="Arial"/>
              </a:rPr>
              <a:t>cost analysis</a:t>
            </a:r>
            <a:r>
              <a:rPr lang="en-US" sz="1467">
                <a:latin typeface="Arial"/>
                <a:cs typeface="Arial"/>
              </a:rPr>
              <a:t> to align headcount with the </a:t>
            </a:r>
            <a:r>
              <a:rPr lang="en-US" sz="1467" b="1">
                <a:latin typeface="Arial"/>
                <a:cs typeface="Arial"/>
              </a:rPr>
              <a:t>budget</a:t>
            </a:r>
            <a:r>
              <a:rPr lang="en-US" sz="1467">
                <a:latin typeface="Arial"/>
                <a:cs typeface="Arial"/>
              </a:rPr>
              <a:t>.</a:t>
            </a:r>
          </a:p>
          <a:p>
            <a:pPr marL="232405" indent="-232405"/>
            <a:r>
              <a:rPr lang="en-US" sz="1467">
                <a:latin typeface="Arial"/>
                <a:cs typeface="Arial"/>
              </a:rPr>
              <a:t>Use </a:t>
            </a:r>
            <a:r>
              <a:rPr lang="en-US" sz="1467" b="1">
                <a:latin typeface="Arial"/>
                <a:cs typeface="Arial"/>
              </a:rPr>
              <a:t>new hire impact analysis</a:t>
            </a:r>
            <a:r>
              <a:rPr lang="en-US" sz="1467">
                <a:latin typeface="Arial"/>
                <a:cs typeface="Arial"/>
              </a:rPr>
              <a:t> to enhance team effectiveness.</a:t>
            </a:r>
          </a:p>
        </p:txBody>
      </p:sp>
      <p:pic>
        <p:nvPicPr>
          <p:cNvPr id="8" name="Picture 7" descr="A screenshot of a computer&#10;&#10;AI-generated content may be incorrect.">
            <a:extLst>
              <a:ext uri="{FF2B5EF4-FFF2-40B4-BE49-F238E27FC236}">
                <a16:creationId xmlns:a16="http://schemas.microsoft.com/office/drawing/2014/main" id="{137904D1-70E5-9BCD-7237-5DFB5272C0EA}"/>
              </a:ext>
            </a:extLst>
          </p:cNvPr>
          <p:cNvPicPr>
            <a:picLocks noChangeAspect="1"/>
          </p:cNvPicPr>
          <p:nvPr/>
        </p:nvPicPr>
        <p:blipFill>
          <a:blip r:embed="rId2"/>
          <a:stretch>
            <a:fillRect/>
          </a:stretch>
        </p:blipFill>
        <p:spPr>
          <a:xfrm>
            <a:off x="5994400" y="1661318"/>
            <a:ext cx="5435600" cy="2778465"/>
          </a:xfrm>
          <a:prstGeom prst="rect">
            <a:avLst/>
          </a:prstGeom>
        </p:spPr>
      </p:pic>
    </p:spTree>
    <p:extLst>
      <p:ext uri="{BB962C8B-B14F-4D97-AF65-F5344CB8AC3E}">
        <p14:creationId xmlns:p14="http://schemas.microsoft.com/office/powerpoint/2010/main" val="203544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CC2F5-EA6A-46F4-594D-BD19802AF69D}"/>
            </a:ext>
          </a:extLst>
        </p:cNvPr>
        <p:cNvGrpSpPr/>
        <p:nvPr/>
      </p:nvGrpSpPr>
      <p:grpSpPr>
        <a:xfrm>
          <a:off x="0" y="0"/>
          <a:ext cx="0" cy="0"/>
          <a:chOff x="0" y="0"/>
          <a:chExt cx="0" cy="0"/>
        </a:xfrm>
      </p:grpSpPr>
      <p:sp>
        <p:nvSpPr>
          <p:cNvPr id="26" name="Rounded Rectangle 2">
            <a:extLst>
              <a:ext uri="{FF2B5EF4-FFF2-40B4-BE49-F238E27FC236}">
                <a16:creationId xmlns:a16="http://schemas.microsoft.com/office/drawing/2014/main" id="{16055968-1100-96C2-FD36-A6C48AC827B0}"/>
              </a:ext>
            </a:extLst>
          </p:cNvPr>
          <p:cNvSpPr/>
          <p:nvPr/>
        </p:nvSpPr>
        <p:spPr>
          <a:xfrm>
            <a:off x="2181066" y="1673983"/>
            <a:ext cx="5335196" cy="59369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27" name="Rounded Rectangle 2">
            <a:extLst>
              <a:ext uri="{FF2B5EF4-FFF2-40B4-BE49-F238E27FC236}">
                <a16:creationId xmlns:a16="http://schemas.microsoft.com/office/drawing/2014/main" id="{63D4253C-9CFC-809D-DEA0-F6324DCD821F}"/>
              </a:ext>
            </a:extLst>
          </p:cNvPr>
          <p:cNvSpPr/>
          <p:nvPr/>
        </p:nvSpPr>
        <p:spPr>
          <a:xfrm>
            <a:off x="2181066" y="2303460"/>
            <a:ext cx="5335196" cy="59369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28" name="Rounded Rectangle 2">
            <a:extLst>
              <a:ext uri="{FF2B5EF4-FFF2-40B4-BE49-F238E27FC236}">
                <a16:creationId xmlns:a16="http://schemas.microsoft.com/office/drawing/2014/main" id="{CCDDE43A-EEA4-4F88-3E76-29810FBE23D8}"/>
              </a:ext>
            </a:extLst>
          </p:cNvPr>
          <p:cNvSpPr/>
          <p:nvPr/>
        </p:nvSpPr>
        <p:spPr>
          <a:xfrm>
            <a:off x="2181066" y="2932939"/>
            <a:ext cx="5335196" cy="59369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39" name="Rounded Rectangle 2">
            <a:extLst>
              <a:ext uri="{FF2B5EF4-FFF2-40B4-BE49-F238E27FC236}">
                <a16:creationId xmlns:a16="http://schemas.microsoft.com/office/drawing/2014/main" id="{578932E9-3DF3-638E-D9AE-C946E77810A3}"/>
              </a:ext>
            </a:extLst>
          </p:cNvPr>
          <p:cNvSpPr/>
          <p:nvPr/>
        </p:nvSpPr>
        <p:spPr>
          <a:xfrm>
            <a:off x="2181066" y="3562417"/>
            <a:ext cx="5335196" cy="59369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40" name="Rounded Rectangle 2">
            <a:extLst>
              <a:ext uri="{FF2B5EF4-FFF2-40B4-BE49-F238E27FC236}">
                <a16:creationId xmlns:a16="http://schemas.microsoft.com/office/drawing/2014/main" id="{B3FBE272-8D51-CAC2-235B-BEA70B223B39}"/>
              </a:ext>
            </a:extLst>
          </p:cNvPr>
          <p:cNvSpPr/>
          <p:nvPr/>
        </p:nvSpPr>
        <p:spPr>
          <a:xfrm>
            <a:off x="2181066" y="4191895"/>
            <a:ext cx="5335196" cy="59369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41" name="Rounded Rectangle 2">
            <a:extLst>
              <a:ext uri="{FF2B5EF4-FFF2-40B4-BE49-F238E27FC236}">
                <a16:creationId xmlns:a16="http://schemas.microsoft.com/office/drawing/2014/main" id="{080E2893-9296-CDDF-E3BA-CB0ED86C6A1F}"/>
              </a:ext>
            </a:extLst>
          </p:cNvPr>
          <p:cNvSpPr/>
          <p:nvPr/>
        </p:nvSpPr>
        <p:spPr>
          <a:xfrm>
            <a:off x="2181066" y="4821373"/>
            <a:ext cx="5335196" cy="59369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42" name="Rounded Rectangle 2">
            <a:extLst>
              <a:ext uri="{FF2B5EF4-FFF2-40B4-BE49-F238E27FC236}">
                <a16:creationId xmlns:a16="http://schemas.microsoft.com/office/drawing/2014/main" id="{00386FE6-2745-560A-8EEB-90CE65AC1434}"/>
              </a:ext>
            </a:extLst>
          </p:cNvPr>
          <p:cNvSpPr/>
          <p:nvPr/>
        </p:nvSpPr>
        <p:spPr>
          <a:xfrm>
            <a:off x="2181066" y="6080329"/>
            <a:ext cx="5335196" cy="59369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43" name="Rounded Rectangle 2">
            <a:extLst>
              <a:ext uri="{FF2B5EF4-FFF2-40B4-BE49-F238E27FC236}">
                <a16:creationId xmlns:a16="http://schemas.microsoft.com/office/drawing/2014/main" id="{11221E21-9A68-7E56-F962-45917C435DCA}"/>
              </a:ext>
            </a:extLst>
          </p:cNvPr>
          <p:cNvSpPr/>
          <p:nvPr/>
        </p:nvSpPr>
        <p:spPr>
          <a:xfrm>
            <a:off x="2181066" y="5450851"/>
            <a:ext cx="5335196" cy="59369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3" name="Rounded Rectangle 2">
            <a:extLst>
              <a:ext uri="{FF2B5EF4-FFF2-40B4-BE49-F238E27FC236}">
                <a16:creationId xmlns:a16="http://schemas.microsoft.com/office/drawing/2014/main" id="{7E33AA15-066A-B8A7-9E48-6FB74352BC4B}"/>
              </a:ext>
            </a:extLst>
          </p:cNvPr>
          <p:cNvSpPr/>
          <p:nvPr/>
        </p:nvSpPr>
        <p:spPr>
          <a:xfrm>
            <a:off x="2181066" y="1044504"/>
            <a:ext cx="5335196" cy="59369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47" name="TextBox 46">
            <a:extLst>
              <a:ext uri="{FF2B5EF4-FFF2-40B4-BE49-F238E27FC236}">
                <a16:creationId xmlns:a16="http://schemas.microsoft.com/office/drawing/2014/main" id="{179C5204-388A-B0A9-F823-C620554B99AE}"/>
              </a:ext>
            </a:extLst>
          </p:cNvPr>
          <p:cNvSpPr txBox="1"/>
          <p:nvPr/>
        </p:nvSpPr>
        <p:spPr>
          <a:xfrm>
            <a:off x="2546826" y="1106144"/>
            <a:ext cx="4790593" cy="512897"/>
          </a:xfrm>
          <a:prstGeom prst="rect">
            <a:avLst/>
          </a:prstGeom>
          <a:noFill/>
        </p:spPr>
        <p:txBody>
          <a:bodyPr wrap="square" lIns="0" tIns="60960" rIns="121920" bIns="60960" rtlCol="0" anchor="t">
            <a:spAutoFit/>
          </a:bodyPr>
          <a:lstStyle/>
          <a:p>
            <a:pPr defTabSz="1219110">
              <a:defRPr/>
            </a:pPr>
            <a:r>
              <a:rPr lang="en-US" sz="1333" b="1">
                <a:solidFill>
                  <a:srgbClr val="0A2F46">
                    <a:lumMod val="75000"/>
                    <a:lumOff val="25000"/>
                  </a:srgbClr>
                </a:solidFill>
                <a:latin typeface="Arial" panose="020B0604020202020204"/>
              </a:rPr>
              <a:t>Current</a:t>
            </a:r>
            <a:r>
              <a:rPr lang="en-US" sz="1333" b="1">
                <a:solidFill>
                  <a:srgbClr val="176EA4"/>
                </a:solidFill>
                <a:latin typeface="Arial" panose="020B0604020202020204"/>
              </a:rPr>
              <a:t> FTE Reporting</a:t>
            </a:r>
            <a:endParaRPr lang="en-US" sz="1333">
              <a:solidFill>
                <a:srgbClr val="0A2F46"/>
              </a:solidFill>
              <a:latin typeface="Arial" panose="020B0604020202020204"/>
              <a:cs typeface="Arial"/>
            </a:endParaRPr>
          </a:p>
          <a:p>
            <a:pPr>
              <a:defRPr/>
            </a:pPr>
            <a:r>
              <a:rPr lang="en-US" sz="1200">
                <a:solidFill>
                  <a:srgbClr val="0A2F46"/>
                </a:solidFill>
                <a:latin typeface="Arial" panose="020B0604020202020204"/>
              </a:rPr>
              <a:t>Access HC data and run “what if” scenarios for workforce planning</a:t>
            </a:r>
            <a:endParaRPr lang="en-US" sz="1200"/>
          </a:p>
        </p:txBody>
      </p:sp>
      <p:grpSp>
        <p:nvGrpSpPr>
          <p:cNvPr id="48" name="Group 47">
            <a:extLst>
              <a:ext uri="{FF2B5EF4-FFF2-40B4-BE49-F238E27FC236}">
                <a16:creationId xmlns:a16="http://schemas.microsoft.com/office/drawing/2014/main" id="{0B177DFC-D5A3-5DD5-234E-EA474C684DCE}"/>
              </a:ext>
            </a:extLst>
          </p:cNvPr>
          <p:cNvGrpSpPr>
            <a:grpSpLocks noChangeAspect="1"/>
          </p:cNvGrpSpPr>
          <p:nvPr/>
        </p:nvGrpSpPr>
        <p:grpSpPr>
          <a:xfrm>
            <a:off x="179110" y="2900761"/>
            <a:ext cx="1640567" cy="1219200"/>
            <a:chOff x="1505373" y="1481418"/>
            <a:chExt cx="2536935" cy="1885341"/>
          </a:xfrm>
        </p:grpSpPr>
        <p:sp>
          <p:nvSpPr>
            <p:cNvPr id="49" name="Freeform 48">
              <a:extLst>
                <a:ext uri="{FF2B5EF4-FFF2-40B4-BE49-F238E27FC236}">
                  <a16:creationId xmlns:a16="http://schemas.microsoft.com/office/drawing/2014/main" id="{B94B860D-0B2D-4764-AADD-9FB38FDC8C84}"/>
                </a:ext>
              </a:extLst>
            </p:cNvPr>
            <p:cNvSpPr>
              <a:spLocks noChangeAspect="1"/>
            </p:cNvSpPr>
            <p:nvPr/>
          </p:nvSpPr>
          <p:spPr>
            <a:xfrm>
              <a:off x="1505373" y="1816043"/>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1">
                <a:lumMod val="50000"/>
                <a:lumOff val="5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0" name="Freeform 49">
              <a:extLst>
                <a:ext uri="{FF2B5EF4-FFF2-40B4-BE49-F238E27FC236}">
                  <a16:creationId xmlns:a16="http://schemas.microsoft.com/office/drawing/2014/main" id="{65C7304A-1E1A-09AF-E1ED-49CC2CB9E3C3}"/>
                </a:ext>
              </a:extLst>
            </p:cNvPr>
            <p:cNvSpPr>
              <a:spLocks noChangeAspect="1"/>
            </p:cNvSpPr>
            <p:nvPr/>
          </p:nvSpPr>
          <p:spPr>
            <a:xfrm>
              <a:off x="2099019"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1" name="Freeform 50">
              <a:extLst>
                <a:ext uri="{FF2B5EF4-FFF2-40B4-BE49-F238E27FC236}">
                  <a16:creationId xmlns:a16="http://schemas.microsoft.com/office/drawing/2014/main" id="{19242E89-F04D-931C-0CBB-B13E613739A3}"/>
                </a:ext>
              </a:extLst>
            </p:cNvPr>
            <p:cNvSpPr>
              <a:spLocks noChangeAspect="1"/>
            </p:cNvSpPr>
            <p:nvPr/>
          </p:nvSpPr>
          <p:spPr>
            <a:xfrm>
              <a:off x="2099019" y="1481418"/>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2" name="Freeform 51">
              <a:extLst>
                <a:ext uri="{FF2B5EF4-FFF2-40B4-BE49-F238E27FC236}">
                  <a16:creationId xmlns:a16="http://schemas.microsoft.com/office/drawing/2014/main" id="{261EFC40-4E78-1B4B-DC82-EF3FBC5F16CC}"/>
                </a:ext>
              </a:extLst>
            </p:cNvPr>
            <p:cNvSpPr>
              <a:spLocks noChangeAspect="1"/>
            </p:cNvSpPr>
            <p:nvPr/>
          </p:nvSpPr>
          <p:spPr>
            <a:xfrm>
              <a:off x="1509561" y="249040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3" name="Freeform 52">
              <a:extLst>
                <a:ext uri="{FF2B5EF4-FFF2-40B4-BE49-F238E27FC236}">
                  <a16:creationId xmlns:a16="http://schemas.microsoft.com/office/drawing/2014/main" id="{0DB65214-3497-5699-688C-BA7103F9FB85}"/>
                </a:ext>
              </a:extLst>
            </p:cNvPr>
            <p:cNvSpPr>
              <a:spLocks noChangeAspect="1"/>
            </p:cNvSpPr>
            <p:nvPr/>
          </p:nvSpPr>
          <p:spPr>
            <a:xfrm>
              <a:off x="2692005" y="1821847"/>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4" name="Freeform 53">
              <a:extLst>
                <a:ext uri="{FF2B5EF4-FFF2-40B4-BE49-F238E27FC236}">
                  <a16:creationId xmlns:a16="http://schemas.microsoft.com/office/drawing/2014/main" id="{3E3E6E2D-7955-5752-CE60-A3B8C39BBE79}"/>
                </a:ext>
              </a:extLst>
            </p:cNvPr>
            <p:cNvSpPr>
              <a:spLocks noChangeAspect="1"/>
            </p:cNvSpPr>
            <p:nvPr/>
          </p:nvSpPr>
          <p:spPr>
            <a:xfrm>
              <a:off x="3286311"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grpSp>
          <p:nvGrpSpPr>
            <p:cNvPr id="55" name="Group 54">
              <a:extLst>
                <a:ext uri="{FF2B5EF4-FFF2-40B4-BE49-F238E27FC236}">
                  <a16:creationId xmlns:a16="http://schemas.microsoft.com/office/drawing/2014/main" id="{BEED369A-E864-472A-D961-8CAF3A99C5EC}"/>
                </a:ext>
              </a:extLst>
            </p:cNvPr>
            <p:cNvGrpSpPr/>
            <p:nvPr/>
          </p:nvGrpSpPr>
          <p:grpSpPr>
            <a:xfrm>
              <a:off x="2328356" y="2360919"/>
              <a:ext cx="1119646" cy="1005840"/>
              <a:chOff x="2890777" y="3439515"/>
              <a:chExt cx="1119646" cy="1005840"/>
            </a:xfrm>
          </p:grpSpPr>
          <p:sp>
            <p:nvSpPr>
              <p:cNvPr id="56" name="Rounded Rectangle 55">
                <a:extLst>
                  <a:ext uri="{FF2B5EF4-FFF2-40B4-BE49-F238E27FC236}">
                    <a16:creationId xmlns:a16="http://schemas.microsoft.com/office/drawing/2014/main" id="{1A1DD4AA-1DFE-BDD1-CC62-99A7CC649CDB}"/>
                  </a:ext>
                </a:extLst>
              </p:cNvPr>
              <p:cNvSpPr>
                <a:spLocks noChangeAspect="1"/>
              </p:cNvSpPr>
              <p:nvPr/>
            </p:nvSpPr>
            <p:spPr>
              <a:xfrm>
                <a:off x="2890777" y="3439515"/>
                <a:ext cx="1119646" cy="1005840"/>
              </a:xfrm>
              <a:prstGeom prst="roundRect">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50">
                  <a:defRPr/>
                </a:pPr>
                <a:endParaRPr lang="en-US" sz="2133" err="1">
                  <a:solidFill>
                    <a:srgbClr val="FFFFFF"/>
                  </a:solidFill>
                  <a:latin typeface="Arial" panose="020B0604020202020204" pitchFamily="34" charset="0"/>
                  <a:ea typeface="Verdana" charset="0"/>
                  <a:cs typeface="Arial" panose="020B0604020202020204" pitchFamily="34" charset="0"/>
                </a:endParaRPr>
              </a:p>
            </p:txBody>
          </p:sp>
          <p:pic>
            <p:nvPicPr>
              <p:cNvPr id="57" name="Graphic 56" descr="Packing Box Open outline">
                <a:extLst>
                  <a:ext uri="{FF2B5EF4-FFF2-40B4-BE49-F238E27FC236}">
                    <a16:creationId xmlns:a16="http://schemas.microsoft.com/office/drawing/2014/main" id="{84E49B36-8BE1-235A-37A5-4BA68E691E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19264" y="3519819"/>
                <a:ext cx="850392" cy="850392"/>
              </a:xfrm>
              <a:prstGeom prst="rect">
                <a:avLst/>
              </a:prstGeom>
            </p:spPr>
          </p:pic>
        </p:grpSp>
      </p:grpSp>
      <p:sp>
        <p:nvSpPr>
          <p:cNvPr id="62" name="Oval 61">
            <a:extLst>
              <a:ext uri="{FF2B5EF4-FFF2-40B4-BE49-F238E27FC236}">
                <a16:creationId xmlns:a16="http://schemas.microsoft.com/office/drawing/2014/main" id="{094139CA-E363-9621-EDA5-584CCE2AA0AB}"/>
              </a:ext>
            </a:extLst>
          </p:cNvPr>
          <p:cNvSpPr/>
          <p:nvPr/>
        </p:nvSpPr>
        <p:spPr>
          <a:xfrm>
            <a:off x="2015513" y="2416296"/>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4" name="Oval 63">
            <a:extLst>
              <a:ext uri="{FF2B5EF4-FFF2-40B4-BE49-F238E27FC236}">
                <a16:creationId xmlns:a16="http://schemas.microsoft.com/office/drawing/2014/main" id="{3F256833-FEF9-C872-6C37-6BBF604D505D}"/>
              </a:ext>
            </a:extLst>
          </p:cNvPr>
          <p:cNvSpPr/>
          <p:nvPr/>
        </p:nvSpPr>
        <p:spPr>
          <a:xfrm>
            <a:off x="2015513" y="1786297"/>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6" name="Oval 65">
            <a:extLst>
              <a:ext uri="{FF2B5EF4-FFF2-40B4-BE49-F238E27FC236}">
                <a16:creationId xmlns:a16="http://schemas.microsoft.com/office/drawing/2014/main" id="{A649DB72-9F06-DD15-F528-343BD0946641}"/>
              </a:ext>
            </a:extLst>
          </p:cNvPr>
          <p:cNvSpPr/>
          <p:nvPr/>
        </p:nvSpPr>
        <p:spPr>
          <a:xfrm>
            <a:off x="2015513" y="4306292"/>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4" name="Oval 3">
            <a:extLst>
              <a:ext uri="{FF2B5EF4-FFF2-40B4-BE49-F238E27FC236}">
                <a16:creationId xmlns:a16="http://schemas.microsoft.com/office/drawing/2014/main" id="{B438B83D-2F15-3C67-BB60-E8039493A07F}"/>
              </a:ext>
            </a:extLst>
          </p:cNvPr>
          <p:cNvSpPr/>
          <p:nvPr/>
        </p:nvSpPr>
        <p:spPr>
          <a:xfrm>
            <a:off x="2015513" y="1156299"/>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defRPr/>
            </a:pPr>
            <a:endParaRPr lang="en-US" sz="2133">
              <a:solidFill>
                <a:srgbClr val="FFFFFF"/>
              </a:solidFill>
              <a:latin typeface="Inter" panose="02000503000000020004" pitchFamily="2" charset="0"/>
              <a:ea typeface="Verdana" charset="0"/>
              <a:cs typeface="Arial" panose="020B0604020202020204" pitchFamily="34" charset="0"/>
            </a:endParaRPr>
          </a:p>
        </p:txBody>
      </p:sp>
      <p:cxnSp>
        <p:nvCxnSpPr>
          <p:cNvPr id="13" name="Elbow Connector 12">
            <a:extLst>
              <a:ext uri="{FF2B5EF4-FFF2-40B4-BE49-F238E27FC236}">
                <a16:creationId xmlns:a16="http://schemas.microsoft.com/office/drawing/2014/main" id="{7C0456F9-4B62-300A-D306-7755702E032B}"/>
              </a:ext>
            </a:extLst>
          </p:cNvPr>
          <p:cNvCxnSpPr>
            <a:cxnSpLocks/>
            <a:endCxn id="4" idx="2"/>
          </p:cNvCxnSpPr>
          <p:nvPr/>
        </p:nvCxnSpPr>
        <p:spPr>
          <a:xfrm rot="5400000" flipH="1" flipV="1">
            <a:off x="668156" y="1478466"/>
            <a:ext cx="1486643" cy="1208071"/>
          </a:xfrm>
          <a:prstGeom prst="bentConnector2">
            <a:avLst/>
          </a:prstGeom>
          <a:ln w="25400" cap="rnd">
            <a:solidFill>
              <a:schemeClr val="accent1"/>
            </a:solidFill>
            <a:prstDash val="sys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97B054B7-B944-819F-D6CC-99A50A33557E}"/>
              </a:ext>
            </a:extLst>
          </p:cNvPr>
          <p:cNvSpPr/>
          <p:nvPr/>
        </p:nvSpPr>
        <p:spPr>
          <a:xfrm>
            <a:off x="2015513" y="5566289"/>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defRPr/>
            </a:pPr>
            <a:endParaRPr lang="en-US" sz="2133">
              <a:solidFill>
                <a:srgbClr val="FFFFFF"/>
              </a:solidFill>
              <a:latin typeface="Inter" panose="02000503000000020004" pitchFamily="2" charset="0"/>
              <a:ea typeface="Verdana" charset="0"/>
              <a:cs typeface="Arial" panose="020B0604020202020204" pitchFamily="34" charset="0"/>
            </a:endParaRPr>
          </a:p>
        </p:txBody>
      </p:sp>
      <p:cxnSp>
        <p:nvCxnSpPr>
          <p:cNvPr id="17" name="Elbow Connector 16">
            <a:extLst>
              <a:ext uri="{FF2B5EF4-FFF2-40B4-BE49-F238E27FC236}">
                <a16:creationId xmlns:a16="http://schemas.microsoft.com/office/drawing/2014/main" id="{EF629FC6-E161-944C-AA5C-8EB61E694904}"/>
              </a:ext>
            </a:extLst>
          </p:cNvPr>
          <p:cNvCxnSpPr>
            <a:cxnSpLocks/>
            <a:stCxn id="58" idx="2"/>
          </p:cNvCxnSpPr>
          <p:nvPr/>
        </p:nvCxnSpPr>
        <p:spPr>
          <a:xfrm rot="10800000">
            <a:off x="841364" y="4203008"/>
            <a:ext cx="1174149" cy="2176157"/>
          </a:xfrm>
          <a:prstGeom prst="bentConnector2">
            <a:avLst/>
          </a:prstGeom>
          <a:ln w="25400" cap="rnd">
            <a:solidFill>
              <a:schemeClr val="accent1"/>
            </a:solidFill>
            <a:prstDash val="sys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75A1372-F1F1-3570-975A-EE68EE27ED21}"/>
              </a:ext>
            </a:extLst>
          </p:cNvPr>
          <p:cNvSpPr txBox="1"/>
          <p:nvPr/>
        </p:nvSpPr>
        <p:spPr>
          <a:xfrm>
            <a:off x="2570199" y="4630891"/>
            <a:ext cx="4786165" cy="369332"/>
          </a:xfrm>
          <a:prstGeom prst="rect">
            <a:avLst/>
          </a:prstGeom>
          <a:noFill/>
        </p:spPr>
        <p:txBody>
          <a:bodyPr wrap="square" lIns="0" tIns="0" rIns="0" bIns="0" rtlCol="0" anchor="ctr">
            <a:spAutoFit/>
          </a:bodyPr>
          <a:lstStyle/>
          <a:p>
            <a:pPr defTabSz="1219170">
              <a:spcBef>
                <a:spcPct val="0"/>
              </a:spcBef>
              <a:spcAft>
                <a:spcPct val="0"/>
              </a:spcAft>
              <a:defRPr/>
            </a:pPr>
            <a:endParaRPr lang="en-US" sz="2400"/>
          </a:p>
        </p:txBody>
      </p:sp>
      <p:grpSp>
        <p:nvGrpSpPr>
          <p:cNvPr id="20" name="Group 19">
            <a:extLst>
              <a:ext uri="{FF2B5EF4-FFF2-40B4-BE49-F238E27FC236}">
                <a16:creationId xmlns:a16="http://schemas.microsoft.com/office/drawing/2014/main" id="{CC9734D8-309E-9007-337C-4D6AE6F29224}"/>
              </a:ext>
            </a:extLst>
          </p:cNvPr>
          <p:cNvGrpSpPr>
            <a:grpSpLocks noChangeAspect="1"/>
          </p:cNvGrpSpPr>
          <p:nvPr/>
        </p:nvGrpSpPr>
        <p:grpSpPr>
          <a:xfrm>
            <a:off x="136647" y="3594245"/>
            <a:ext cx="498404" cy="426720"/>
            <a:chOff x="5520216" y="3429000"/>
            <a:chExt cx="747606" cy="640080"/>
          </a:xfrm>
        </p:grpSpPr>
        <p:sp>
          <p:nvSpPr>
            <p:cNvPr id="7" name="Freeform 28">
              <a:extLst>
                <a:ext uri="{FF2B5EF4-FFF2-40B4-BE49-F238E27FC236}">
                  <a16:creationId xmlns:a16="http://schemas.microsoft.com/office/drawing/2014/main" id="{CE321970-C934-DF0A-EF09-EB8C569E8D52}"/>
                </a:ext>
              </a:extLst>
            </p:cNvPr>
            <p:cNvSpPr>
              <a:spLocks noChangeAspect="1"/>
            </p:cNvSpPr>
            <p:nvPr/>
          </p:nvSpPr>
          <p:spPr bwMode="gray">
            <a:xfrm>
              <a:off x="5520216" y="3429000"/>
              <a:ext cx="747606" cy="640080"/>
            </a:xfrm>
            <a:prstGeom prst="hexagon">
              <a:avLst>
                <a:gd name="adj" fmla="val 28328"/>
                <a:gd name="vf" fmla="val 115470"/>
              </a:avLst>
            </a:prstGeom>
            <a:solidFill>
              <a:schemeClr val="bg2"/>
            </a:solidFill>
            <a:ln w="57150" cap="flat">
              <a:solidFill>
                <a:srgbClr val="FF6100"/>
              </a:solidFill>
              <a:prstDash val="solid"/>
              <a:miter/>
            </a:ln>
            <a:effectLst>
              <a:outerShdw blurRad="50800" dist="38100" dir="8100000" algn="tr" rotWithShape="0">
                <a:prstClr val="black">
                  <a:alpha val="40000"/>
                </a:prstClr>
              </a:outerShdw>
            </a:effectLst>
          </p:spPr>
          <p:txBody>
            <a:bodyPr wrap="none" lIns="0" tIns="0" rIns="0" bIns="0" rtlCol="0" anchor="ctr">
              <a:noAutofit/>
            </a:bodyPr>
            <a:lstStyle/>
            <a:p>
              <a:pPr algn="ctr" defTabSz="1625358" eaLnBrk="0" fontAlgn="base" hangingPunct="0">
                <a:spcBef>
                  <a:spcPct val="0"/>
                </a:spcBef>
                <a:spcAft>
                  <a:spcPct val="0"/>
                </a:spcAft>
                <a:defRPr/>
              </a:pPr>
              <a:endParaRPr lang="en-US" sz="600" b="1" kern="0">
                <a:solidFill>
                  <a:srgbClr val="FFFFFF"/>
                </a:solidFill>
                <a:latin typeface="Arial"/>
                <a:ea typeface="Verdana" panose="020B0604030504040204" pitchFamily="34" charset="0"/>
                <a:cs typeface="Arial" panose="020B0604020202020204" pitchFamily="34" charset="0"/>
              </a:endParaRPr>
            </a:p>
          </p:txBody>
        </p:sp>
        <p:pic>
          <p:nvPicPr>
            <p:cNvPr id="18" name="Graphic 17" descr="Users with solid fill">
              <a:extLst>
                <a:ext uri="{FF2B5EF4-FFF2-40B4-BE49-F238E27FC236}">
                  <a16:creationId xmlns:a16="http://schemas.microsoft.com/office/drawing/2014/main" id="{24B485E4-B76B-91F5-787A-9D196ED66A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2019" y="3505739"/>
              <a:ext cx="484000" cy="484000"/>
            </a:xfrm>
            <a:prstGeom prst="rect">
              <a:avLst/>
            </a:prstGeom>
          </p:spPr>
        </p:pic>
        <p:sp>
          <p:nvSpPr>
            <p:cNvPr id="19" name="Oval 18">
              <a:extLst>
                <a:ext uri="{FF2B5EF4-FFF2-40B4-BE49-F238E27FC236}">
                  <a16:creationId xmlns:a16="http://schemas.microsoft.com/office/drawing/2014/main" id="{2CA3FA22-30E3-6089-AD77-948F83C4BBBF}"/>
                </a:ext>
              </a:extLst>
            </p:cNvPr>
            <p:cNvSpPr/>
            <p:nvPr/>
          </p:nvSpPr>
          <p:spPr>
            <a:xfrm>
              <a:off x="5844270" y="3680167"/>
              <a:ext cx="98425" cy="98425"/>
            </a:xfrm>
            <a:prstGeom prst="ellips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600" err="1">
                <a:solidFill>
                  <a:srgbClr val="FFFFFF"/>
                </a:solidFill>
                <a:latin typeface="Verdana" charset="0"/>
                <a:ea typeface="Verdana" charset="0"/>
                <a:cs typeface="Verdana" charset="0"/>
              </a:endParaRPr>
            </a:p>
          </p:txBody>
        </p:sp>
      </p:grpSp>
      <p:sp>
        <p:nvSpPr>
          <p:cNvPr id="25" name="Title 20">
            <a:extLst>
              <a:ext uri="{FF2B5EF4-FFF2-40B4-BE49-F238E27FC236}">
                <a16:creationId xmlns:a16="http://schemas.microsoft.com/office/drawing/2014/main" id="{29EC9551-F748-AFF9-10BF-F3C0A8E9B73B}"/>
              </a:ext>
            </a:extLst>
          </p:cNvPr>
          <p:cNvSpPr txBox="1">
            <a:spLocks/>
          </p:cNvSpPr>
          <p:nvPr/>
        </p:nvSpPr>
        <p:spPr>
          <a:xfrm>
            <a:off x="575369" y="249291"/>
            <a:ext cx="8002692" cy="451405"/>
          </a:xfrm>
          <a:prstGeom prst="rect">
            <a:avLst/>
          </a:prstGeom>
        </p:spPr>
        <p:txBody>
          <a:bodyPr lIns="0" tIns="60960" rIns="0" bIns="60960" anchor="t"/>
          <a:lstStyle>
            <a:lvl1pPr algn="l" defTabSz="914400" rtl="0" eaLnBrk="1" latinLnBrk="0" hangingPunct="1">
              <a:spcBef>
                <a:spcPct val="0"/>
              </a:spcBef>
              <a:buNone/>
              <a:defRPr sz="1800" b="1"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sz="2400">
                <a:latin typeface="Arial"/>
                <a:cs typeface="Arial"/>
              </a:rPr>
              <a:t>Anaplan Go-to-Market Capacity Planning Application</a:t>
            </a:r>
            <a:br>
              <a:rPr lang="en-US" sz="2400">
                <a:latin typeface="Arial"/>
                <a:cs typeface="Arial"/>
              </a:rPr>
            </a:br>
            <a:r>
              <a:rPr lang="en-US" sz="1867" i="1">
                <a:solidFill>
                  <a:schemeClr val="bg1">
                    <a:lumMod val="75000"/>
                  </a:schemeClr>
                </a:solidFill>
                <a:latin typeface="Arial"/>
                <a:cs typeface="Arial"/>
              </a:rPr>
              <a:t>Out-of-the-box</a:t>
            </a:r>
            <a:endParaRPr lang="en-US" sz="2400" i="1">
              <a:solidFill>
                <a:schemeClr val="bg1">
                  <a:lumMod val="75000"/>
                </a:schemeClr>
              </a:solidFill>
              <a:latin typeface="Arial"/>
              <a:cs typeface="Arial"/>
            </a:endParaRPr>
          </a:p>
        </p:txBody>
      </p:sp>
      <p:sp>
        <p:nvSpPr>
          <p:cNvPr id="44" name="Oval 43">
            <a:extLst>
              <a:ext uri="{FF2B5EF4-FFF2-40B4-BE49-F238E27FC236}">
                <a16:creationId xmlns:a16="http://schemas.microsoft.com/office/drawing/2014/main" id="{C1784ADE-CBCB-FD01-65A3-FD72A145C86B}"/>
              </a:ext>
            </a:extLst>
          </p:cNvPr>
          <p:cNvSpPr/>
          <p:nvPr/>
        </p:nvSpPr>
        <p:spPr>
          <a:xfrm>
            <a:off x="2015513" y="3676293"/>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92C71C7F-3D64-33D2-5DEF-6B323AA793E6}"/>
              </a:ext>
            </a:extLst>
          </p:cNvPr>
          <p:cNvSpPr/>
          <p:nvPr/>
        </p:nvSpPr>
        <p:spPr>
          <a:xfrm>
            <a:off x="2015513" y="3046295"/>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B12CC4CA-5921-2A22-B123-4539734D333F}"/>
              </a:ext>
            </a:extLst>
          </p:cNvPr>
          <p:cNvSpPr/>
          <p:nvPr/>
        </p:nvSpPr>
        <p:spPr>
          <a:xfrm>
            <a:off x="2015513" y="4936291"/>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8" name="Oval 57">
            <a:extLst>
              <a:ext uri="{FF2B5EF4-FFF2-40B4-BE49-F238E27FC236}">
                <a16:creationId xmlns:a16="http://schemas.microsoft.com/office/drawing/2014/main" id="{9D1955C4-02F8-C90D-D0DB-5DAC7D26EB26}"/>
              </a:ext>
            </a:extLst>
          </p:cNvPr>
          <p:cNvSpPr/>
          <p:nvPr/>
        </p:nvSpPr>
        <p:spPr>
          <a:xfrm>
            <a:off x="2015513" y="6196285"/>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defRPr/>
            </a:pPr>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14" name="TextBox 13">
            <a:extLst>
              <a:ext uri="{FF2B5EF4-FFF2-40B4-BE49-F238E27FC236}">
                <a16:creationId xmlns:a16="http://schemas.microsoft.com/office/drawing/2014/main" id="{AECE6296-4C6D-0354-E897-4965D6B0C8D3}"/>
              </a:ext>
            </a:extLst>
          </p:cNvPr>
          <p:cNvSpPr txBox="1"/>
          <p:nvPr/>
        </p:nvSpPr>
        <p:spPr>
          <a:xfrm>
            <a:off x="2546826" y="1732963"/>
            <a:ext cx="4790593" cy="512897"/>
          </a:xfrm>
          <a:prstGeom prst="rect">
            <a:avLst/>
          </a:prstGeom>
          <a:noFill/>
        </p:spPr>
        <p:txBody>
          <a:bodyPr wrap="square" lIns="0" tIns="60960" rIns="121920" bIns="60960" rtlCol="0" anchor="t">
            <a:spAutoFit/>
          </a:bodyPr>
          <a:lstStyle/>
          <a:p>
            <a:pPr defTabSz="1219110" fontAlgn="base">
              <a:defRPr/>
            </a:pPr>
            <a:r>
              <a:rPr lang="en-US" sz="1333" b="1">
                <a:solidFill>
                  <a:srgbClr val="0A2F46">
                    <a:lumMod val="75000"/>
                    <a:lumOff val="25000"/>
                  </a:srgbClr>
                </a:solidFill>
              </a:rPr>
              <a:t>Role-Based Reviews</a:t>
            </a:r>
          </a:p>
          <a:p>
            <a:pPr defTabSz="1219110" fontAlgn="base">
              <a:defRPr/>
            </a:pPr>
            <a:r>
              <a:rPr lang="en-US" sz="1200">
                <a:solidFill>
                  <a:srgbClr val="0A2F46"/>
                </a:solidFill>
              </a:rPr>
              <a:t>Gain insights to enhance role effectiveness and performance</a:t>
            </a:r>
            <a:endParaRPr lang="en-US" sz="2400"/>
          </a:p>
        </p:txBody>
      </p:sp>
      <p:sp>
        <p:nvSpPr>
          <p:cNvPr id="21" name="TextBox 20">
            <a:extLst>
              <a:ext uri="{FF2B5EF4-FFF2-40B4-BE49-F238E27FC236}">
                <a16:creationId xmlns:a16="http://schemas.microsoft.com/office/drawing/2014/main" id="{8B984F6C-FE01-B761-E3D4-B0B9E9C43D68}"/>
              </a:ext>
            </a:extLst>
          </p:cNvPr>
          <p:cNvSpPr txBox="1"/>
          <p:nvPr/>
        </p:nvSpPr>
        <p:spPr>
          <a:xfrm>
            <a:off x="2546826" y="2359781"/>
            <a:ext cx="4790593" cy="512897"/>
          </a:xfrm>
          <a:prstGeom prst="rect">
            <a:avLst/>
          </a:prstGeom>
          <a:noFill/>
        </p:spPr>
        <p:txBody>
          <a:bodyPr wrap="square" lIns="0" tIns="60960" rIns="121920" bIns="60960" rtlCol="0" anchor="t">
            <a:spAutoFit/>
          </a:bodyPr>
          <a:lstStyle/>
          <a:p>
            <a:pPr defTabSz="1219110" fontAlgn="base">
              <a:defRPr/>
            </a:pPr>
            <a:r>
              <a:rPr lang="en-US" sz="1333" b="1">
                <a:solidFill>
                  <a:srgbClr val="0A2F46">
                    <a:lumMod val="75000"/>
                    <a:lumOff val="25000"/>
                  </a:srgbClr>
                </a:solidFill>
              </a:rPr>
              <a:t>Baseline Productivity</a:t>
            </a:r>
          </a:p>
          <a:p>
            <a:pPr defTabSz="1219110" fontAlgn="base">
              <a:defRPr/>
            </a:pPr>
            <a:r>
              <a:rPr lang="en-US" sz="1200">
                <a:solidFill>
                  <a:srgbClr val="0A2F46"/>
                </a:solidFill>
              </a:rPr>
              <a:t>Access productivity to refine targets to allocations</a:t>
            </a:r>
            <a:endParaRPr lang="en-US" sz="1333">
              <a:solidFill>
                <a:srgbClr val="0A2F46"/>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0E9A6850-A0D3-4C6B-4D65-AF4C3BF8AF87}"/>
              </a:ext>
            </a:extLst>
          </p:cNvPr>
          <p:cNvSpPr txBox="1"/>
          <p:nvPr/>
        </p:nvSpPr>
        <p:spPr>
          <a:xfrm>
            <a:off x="2546826" y="2986600"/>
            <a:ext cx="4790593" cy="512897"/>
          </a:xfrm>
          <a:prstGeom prst="rect">
            <a:avLst/>
          </a:prstGeom>
          <a:noFill/>
        </p:spPr>
        <p:txBody>
          <a:bodyPr wrap="square" lIns="0" tIns="60960" rIns="121920" bIns="60960" rtlCol="0" anchor="t">
            <a:spAutoFit/>
          </a:bodyPr>
          <a:lstStyle/>
          <a:p>
            <a:pPr defTabSz="1219110" fontAlgn="base">
              <a:defRPr/>
            </a:pPr>
            <a:r>
              <a:rPr lang="en-US" sz="1333" b="1">
                <a:solidFill>
                  <a:srgbClr val="0A2F46">
                    <a:lumMod val="75000"/>
                    <a:lumOff val="25000"/>
                  </a:srgbClr>
                </a:solidFill>
              </a:rPr>
              <a:t>Coverage Analysis</a:t>
            </a:r>
          </a:p>
          <a:p>
            <a:pPr defTabSz="1219110" fontAlgn="base">
              <a:defRPr/>
            </a:pPr>
            <a:r>
              <a:rPr lang="en-US" sz="1200">
                <a:solidFill>
                  <a:srgbClr val="0A2F46"/>
                </a:solidFill>
              </a:rPr>
              <a:t>Adjust HC and sales coverage</a:t>
            </a:r>
            <a:endParaRPr lang="en-US" sz="2133"/>
          </a:p>
        </p:txBody>
      </p:sp>
      <p:sp>
        <p:nvSpPr>
          <p:cNvPr id="23" name="TextBox 22">
            <a:extLst>
              <a:ext uri="{FF2B5EF4-FFF2-40B4-BE49-F238E27FC236}">
                <a16:creationId xmlns:a16="http://schemas.microsoft.com/office/drawing/2014/main" id="{2E0927B0-CA14-CBC0-4067-019CD88128C7}"/>
              </a:ext>
            </a:extLst>
          </p:cNvPr>
          <p:cNvSpPr txBox="1"/>
          <p:nvPr/>
        </p:nvSpPr>
        <p:spPr>
          <a:xfrm>
            <a:off x="2546826" y="3613419"/>
            <a:ext cx="4790593" cy="512897"/>
          </a:xfrm>
          <a:prstGeom prst="rect">
            <a:avLst/>
          </a:prstGeom>
          <a:noFill/>
        </p:spPr>
        <p:txBody>
          <a:bodyPr wrap="square" lIns="0" tIns="60960" rIns="121920" bIns="60960" rtlCol="0" anchor="t">
            <a:spAutoFit/>
          </a:bodyPr>
          <a:lstStyle/>
          <a:p>
            <a:pPr defTabSz="1219110" fontAlgn="base">
              <a:defRPr/>
            </a:pPr>
            <a:r>
              <a:rPr lang="en-US" sz="1333" b="1">
                <a:solidFill>
                  <a:srgbClr val="0A2F46">
                    <a:lumMod val="75000"/>
                    <a:lumOff val="25000"/>
                  </a:srgbClr>
                </a:solidFill>
              </a:rPr>
              <a:t>HC Gap Analysis</a:t>
            </a:r>
            <a:endParaRPr lang="en-US" sz="2667">
              <a:solidFill>
                <a:srgbClr val="0A2F46">
                  <a:lumMod val="75000"/>
                  <a:lumOff val="25000"/>
                </a:srgbClr>
              </a:solidFill>
            </a:endParaRPr>
          </a:p>
          <a:p>
            <a:pPr defTabSz="1219110" fontAlgn="base">
              <a:defRPr/>
            </a:pPr>
            <a:r>
              <a:rPr lang="en-US" sz="1200">
                <a:solidFill>
                  <a:srgbClr val="0A2F46"/>
                </a:solidFill>
              </a:rPr>
              <a:t>Align headcount needs with revenue and financial goals</a:t>
            </a:r>
            <a:endParaRPr lang="en-US" sz="2133"/>
          </a:p>
        </p:txBody>
      </p:sp>
      <p:sp>
        <p:nvSpPr>
          <p:cNvPr id="24" name="TextBox 23">
            <a:extLst>
              <a:ext uri="{FF2B5EF4-FFF2-40B4-BE49-F238E27FC236}">
                <a16:creationId xmlns:a16="http://schemas.microsoft.com/office/drawing/2014/main" id="{01539798-D4AF-E0AE-3DEE-2755B1A9DE32}"/>
              </a:ext>
            </a:extLst>
          </p:cNvPr>
          <p:cNvSpPr txBox="1"/>
          <p:nvPr/>
        </p:nvSpPr>
        <p:spPr>
          <a:xfrm>
            <a:off x="2546826" y="4240237"/>
            <a:ext cx="4790593" cy="512897"/>
          </a:xfrm>
          <a:prstGeom prst="rect">
            <a:avLst/>
          </a:prstGeom>
          <a:noFill/>
        </p:spPr>
        <p:txBody>
          <a:bodyPr wrap="square" lIns="0" tIns="60960" rIns="121920" bIns="60960" rtlCol="0" anchor="t">
            <a:spAutoFit/>
          </a:bodyPr>
          <a:lstStyle/>
          <a:p>
            <a:pPr defTabSz="1219110" fontAlgn="base">
              <a:defRPr/>
            </a:pPr>
            <a:r>
              <a:rPr lang="en-US" sz="1333" b="1">
                <a:solidFill>
                  <a:srgbClr val="0A2F46">
                    <a:lumMod val="75000"/>
                    <a:lumOff val="25000"/>
                  </a:srgbClr>
                </a:solidFill>
              </a:rPr>
              <a:t>Top-Down Planning</a:t>
            </a:r>
          </a:p>
          <a:p>
            <a:pPr defTabSz="1219110" fontAlgn="base">
              <a:defRPr/>
            </a:pPr>
            <a:r>
              <a:rPr lang="en-US" sz="1200">
                <a:solidFill>
                  <a:srgbClr val="0A2F46"/>
                </a:solidFill>
              </a:rPr>
              <a:t>Set HC targets, simulate scenarios, and optimize allocation</a:t>
            </a:r>
            <a:endParaRPr lang="en-US" sz="2133"/>
          </a:p>
        </p:txBody>
      </p:sp>
      <p:sp>
        <p:nvSpPr>
          <p:cNvPr id="29" name="TextBox 28">
            <a:extLst>
              <a:ext uri="{FF2B5EF4-FFF2-40B4-BE49-F238E27FC236}">
                <a16:creationId xmlns:a16="http://schemas.microsoft.com/office/drawing/2014/main" id="{37A5466E-096C-7CA0-0F54-98E30D2AC2C6}"/>
              </a:ext>
            </a:extLst>
          </p:cNvPr>
          <p:cNvSpPr txBox="1"/>
          <p:nvPr/>
        </p:nvSpPr>
        <p:spPr>
          <a:xfrm>
            <a:off x="2546826" y="4867056"/>
            <a:ext cx="4790593" cy="512897"/>
          </a:xfrm>
          <a:prstGeom prst="rect">
            <a:avLst/>
          </a:prstGeom>
          <a:noFill/>
        </p:spPr>
        <p:txBody>
          <a:bodyPr wrap="square" lIns="0" tIns="60960" rIns="121920" bIns="60960" rtlCol="0" anchor="t">
            <a:spAutoFit/>
          </a:bodyPr>
          <a:lstStyle/>
          <a:p>
            <a:pPr defTabSz="1219110" fontAlgn="base">
              <a:defRPr/>
            </a:pPr>
            <a:r>
              <a:rPr lang="en-US" sz="1333" b="1">
                <a:solidFill>
                  <a:srgbClr val="0A2F46">
                    <a:lumMod val="75000"/>
                    <a:lumOff val="25000"/>
                  </a:srgbClr>
                </a:solidFill>
              </a:rPr>
              <a:t>Bottom-Up Planning</a:t>
            </a:r>
          </a:p>
          <a:p>
            <a:pPr defTabSz="1219110" fontAlgn="base">
              <a:defRPr/>
            </a:pPr>
            <a:r>
              <a:rPr lang="en-US" sz="1200">
                <a:solidFill>
                  <a:srgbClr val="0A2F46"/>
                </a:solidFill>
              </a:rPr>
              <a:t>Track hiring, attrition, and productivity trends to adapt plans</a:t>
            </a:r>
            <a:endParaRPr lang="en-US" sz="2133"/>
          </a:p>
        </p:txBody>
      </p:sp>
      <p:sp>
        <p:nvSpPr>
          <p:cNvPr id="30" name="TextBox 29">
            <a:extLst>
              <a:ext uri="{FF2B5EF4-FFF2-40B4-BE49-F238E27FC236}">
                <a16:creationId xmlns:a16="http://schemas.microsoft.com/office/drawing/2014/main" id="{AF5FB614-4B51-53C5-D7AD-35326C654D77}"/>
              </a:ext>
            </a:extLst>
          </p:cNvPr>
          <p:cNvSpPr txBox="1"/>
          <p:nvPr/>
        </p:nvSpPr>
        <p:spPr>
          <a:xfrm>
            <a:off x="2546826" y="5493875"/>
            <a:ext cx="4790593" cy="512897"/>
          </a:xfrm>
          <a:prstGeom prst="rect">
            <a:avLst/>
          </a:prstGeom>
          <a:noFill/>
        </p:spPr>
        <p:txBody>
          <a:bodyPr wrap="square" lIns="0" tIns="60960" rIns="121920" bIns="60960" rtlCol="0" anchor="t">
            <a:spAutoFit/>
          </a:bodyPr>
          <a:lstStyle/>
          <a:p>
            <a:pPr defTabSz="1219110" fontAlgn="base">
              <a:defRPr/>
            </a:pPr>
            <a:r>
              <a:rPr lang="en-US" sz="1333" b="1">
                <a:solidFill>
                  <a:srgbClr val="0A2F46">
                    <a:lumMod val="75000"/>
                    <a:lumOff val="25000"/>
                  </a:srgbClr>
                </a:solidFill>
              </a:rPr>
              <a:t>Sales Margins Planning</a:t>
            </a:r>
          </a:p>
          <a:p>
            <a:pPr defTabSz="1219110" fontAlgn="base">
              <a:defRPr/>
            </a:pPr>
            <a:r>
              <a:rPr lang="en-US" sz="1200">
                <a:solidFill>
                  <a:srgbClr val="0A2F46"/>
                </a:solidFill>
              </a:rPr>
              <a:t>Model role-specific costs and   sales margins to boost profitability</a:t>
            </a:r>
            <a:endParaRPr lang="en-US" sz="2133"/>
          </a:p>
        </p:txBody>
      </p:sp>
      <p:sp>
        <p:nvSpPr>
          <p:cNvPr id="31" name="TextBox 30">
            <a:extLst>
              <a:ext uri="{FF2B5EF4-FFF2-40B4-BE49-F238E27FC236}">
                <a16:creationId xmlns:a16="http://schemas.microsoft.com/office/drawing/2014/main" id="{DBFF8F97-90D8-D9A7-0766-6001EE6F0512}"/>
              </a:ext>
            </a:extLst>
          </p:cNvPr>
          <p:cNvSpPr txBox="1"/>
          <p:nvPr/>
        </p:nvSpPr>
        <p:spPr>
          <a:xfrm>
            <a:off x="2546826" y="6120697"/>
            <a:ext cx="4790593" cy="512897"/>
          </a:xfrm>
          <a:prstGeom prst="rect">
            <a:avLst/>
          </a:prstGeom>
          <a:noFill/>
        </p:spPr>
        <p:txBody>
          <a:bodyPr wrap="square" lIns="0" tIns="60960" rIns="121920" bIns="60960" rtlCol="0" anchor="t">
            <a:spAutoFit/>
          </a:bodyPr>
          <a:lstStyle/>
          <a:p>
            <a:pPr defTabSz="1219110" fontAlgn="base">
              <a:defRPr/>
            </a:pPr>
            <a:r>
              <a:rPr lang="en-US" sz="1333" b="1">
                <a:solidFill>
                  <a:srgbClr val="0A2F46">
                    <a:lumMod val="75000"/>
                    <a:lumOff val="25000"/>
                  </a:srgbClr>
                </a:solidFill>
              </a:rPr>
              <a:t>In-Year vs Actual Plan</a:t>
            </a:r>
          </a:p>
          <a:p>
            <a:pPr defTabSz="1219110" fontAlgn="base">
              <a:defRPr/>
            </a:pPr>
            <a:r>
              <a:rPr lang="en-US" sz="1200">
                <a:solidFill>
                  <a:srgbClr val="0A2F46"/>
                </a:solidFill>
              </a:rPr>
              <a:t>Lock plans, compare snapshots, and optimize coverage</a:t>
            </a:r>
            <a:endParaRPr lang="en-US" sz="2133"/>
          </a:p>
        </p:txBody>
      </p:sp>
      <p:sp>
        <p:nvSpPr>
          <p:cNvPr id="32" name="TextBox 31">
            <a:extLst>
              <a:ext uri="{FF2B5EF4-FFF2-40B4-BE49-F238E27FC236}">
                <a16:creationId xmlns:a16="http://schemas.microsoft.com/office/drawing/2014/main" id="{4AABC21F-32DC-5A96-22E4-75E9E20AFE2B}"/>
              </a:ext>
            </a:extLst>
          </p:cNvPr>
          <p:cNvSpPr txBox="1"/>
          <p:nvPr/>
        </p:nvSpPr>
        <p:spPr>
          <a:xfrm>
            <a:off x="8296501" y="1680331"/>
            <a:ext cx="3184191" cy="4071820"/>
          </a:xfrm>
          <a:prstGeom prst="rect">
            <a:avLst/>
          </a:prstGeom>
          <a:noFill/>
        </p:spPr>
        <p:txBody>
          <a:bodyPr wrap="square" lIns="0" rtlCol="0">
            <a:spAutoFit/>
          </a:bodyPr>
          <a:lstStyle/>
          <a:p>
            <a:pPr defTabSz="1219110">
              <a:defRPr/>
            </a:pPr>
            <a:r>
              <a:rPr lang="en-US" sz="1600" b="1">
                <a:solidFill>
                  <a:srgbClr val="FFFFFF"/>
                </a:solidFill>
                <a:latin typeface="Arial" panose="020B0604020202020204"/>
              </a:rPr>
              <a:t>Key Benefits:</a:t>
            </a:r>
          </a:p>
          <a:p>
            <a:pPr defTabSz="1219110">
              <a:defRPr/>
            </a:pPr>
            <a:endParaRPr lang="en-US" sz="1600" b="1">
              <a:solidFill>
                <a:srgbClr val="FFFFFF"/>
              </a:solidFill>
              <a:latin typeface="Arial" panose="020B0604020202020204"/>
            </a:endParaRPr>
          </a:p>
          <a:p>
            <a:pPr marL="228584" indent="-228584" defTabSz="1219110">
              <a:buFont typeface="Wingdings" pitchFamily="2" charset="2"/>
              <a:buChar char="ü"/>
              <a:defRPr/>
            </a:pPr>
            <a:r>
              <a:rPr lang="en-US" sz="1333">
                <a:solidFill>
                  <a:srgbClr val="FFFFFF"/>
                </a:solidFill>
                <a:latin typeface="Arial" panose="020B0604020202020204"/>
              </a:rPr>
              <a:t>Optimize FTE and HC allocation for maximum efficiency.</a:t>
            </a:r>
          </a:p>
          <a:p>
            <a:pPr marL="228584" indent="-228584" defTabSz="1219110">
              <a:buFont typeface="Wingdings" pitchFamily="2" charset="2"/>
              <a:buChar char="ü"/>
              <a:defRPr/>
            </a:pPr>
            <a:endParaRPr lang="en-US" sz="1333">
              <a:solidFill>
                <a:srgbClr val="FFFFFF"/>
              </a:solidFill>
              <a:latin typeface="Arial" panose="020B0604020202020204"/>
            </a:endParaRPr>
          </a:p>
          <a:p>
            <a:pPr marL="228584" indent="-228584" defTabSz="1219110">
              <a:buFont typeface="Wingdings" pitchFamily="2" charset="2"/>
              <a:buChar char="ü"/>
              <a:defRPr/>
            </a:pPr>
            <a:r>
              <a:rPr lang="en-US" sz="1333">
                <a:solidFill>
                  <a:srgbClr val="FFFFFF"/>
                </a:solidFill>
                <a:latin typeface="Arial" panose="020B0604020202020204"/>
              </a:rPr>
              <a:t>Enhance planning with insights into sales and ramp trends.</a:t>
            </a:r>
            <a:endParaRPr lang="en-US" sz="1333">
              <a:solidFill>
                <a:srgbClr val="FFFFFF"/>
              </a:solidFill>
              <a:latin typeface="Arial" panose="020B0604020202020204"/>
              <a:cs typeface="Arial"/>
            </a:endParaRPr>
          </a:p>
          <a:p>
            <a:pPr marL="228584" indent="-228584" defTabSz="1219110">
              <a:buFont typeface="Wingdings" pitchFamily="2" charset="2"/>
              <a:buChar char="ü"/>
              <a:defRPr/>
            </a:pPr>
            <a:endParaRPr lang="en-US" sz="1333">
              <a:solidFill>
                <a:srgbClr val="FFFFFF"/>
              </a:solidFill>
              <a:latin typeface="Arial" panose="020B0604020202020204"/>
              <a:cs typeface="Arial"/>
            </a:endParaRPr>
          </a:p>
          <a:p>
            <a:pPr marL="228584" indent="-228584" defTabSz="1219110">
              <a:buFont typeface="Wingdings" pitchFamily="2" charset="2"/>
              <a:buChar char="ü"/>
              <a:defRPr/>
            </a:pPr>
            <a:r>
              <a:rPr lang="en-US" sz="1333">
                <a:solidFill>
                  <a:srgbClr val="FFFFFF"/>
                </a:solidFill>
                <a:latin typeface="Arial" panose="020B0604020202020204"/>
              </a:rPr>
              <a:t>Predict and mitigate turnover by  forecasting attrition.</a:t>
            </a:r>
            <a:endParaRPr lang="en-US" sz="1333">
              <a:solidFill>
                <a:srgbClr val="FFFFFF"/>
              </a:solidFill>
              <a:latin typeface="Arial" panose="020B0604020202020204"/>
              <a:cs typeface="Arial"/>
            </a:endParaRPr>
          </a:p>
          <a:p>
            <a:pPr marL="228584" indent="-228584" defTabSz="1219110">
              <a:buFont typeface="Wingdings" pitchFamily="2" charset="2"/>
              <a:buChar char="ü"/>
              <a:defRPr/>
            </a:pPr>
            <a:endParaRPr lang="en-US" sz="1333">
              <a:solidFill>
                <a:srgbClr val="FFFFFF"/>
              </a:solidFill>
              <a:latin typeface="Arial" panose="020B0604020202020204"/>
              <a:cs typeface="Arial"/>
            </a:endParaRPr>
          </a:p>
          <a:p>
            <a:pPr marL="228584" indent="-228584" defTabSz="1219110">
              <a:buFont typeface="Wingdings" pitchFamily="2" charset="2"/>
              <a:buChar char="ü"/>
              <a:defRPr/>
            </a:pPr>
            <a:r>
              <a:rPr lang="en-US" sz="1333">
                <a:solidFill>
                  <a:srgbClr val="FFFFFF"/>
                </a:solidFill>
                <a:latin typeface="Arial" panose="020B0604020202020204"/>
              </a:rPr>
              <a:t>Enable real-time scenario modeling and performance tracking.</a:t>
            </a:r>
            <a:endParaRPr lang="en-US" sz="1333">
              <a:solidFill>
                <a:srgbClr val="FFFFFF"/>
              </a:solidFill>
              <a:latin typeface="Arial" panose="020B0604020202020204"/>
              <a:cs typeface="Arial"/>
            </a:endParaRPr>
          </a:p>
          <a:p>
            <a:pPr marL="228584" indent="-228584" defTabSz="1219110">
              <a:buFont typeface="Wingdings" pitchFamily="2" charset="2"/>
              <a:buChar char="ü"/>
              <a:defRPr/>
            </a:pPr>
            <a:endParaRPr lang="en-US" sz="1333">
              <a:solidFill>
                <a:srgbClr val="FFFFFF"/>
              </a:solidFill>
              <a:latin typeface="Arial" panose="020B0604020202020204"/>
              <a:cs typeface="Arial"/>
            </a:endParaRPr>
          </a:p>
          <a:p>
            <a:pPr marL="228584" indent="-228584" defTabSz="1219110">
              <a:buFont typeface="Wingdings" pitchFamily="2" charset="2"/>
              <a:buChar char="ü"/>
              <a:defRPr/>
            </a:pPr>
            <a:r>
              <a:rPr lang="en-US" sz="1333">
                <a:solidFill>
                  <a:srgbClr val="FFFFFF"/>
                </a:solidFill>
                <a:latin typeface="Arial" panose="020B0604020202020204"/>
              </a:rPr>
              <a:t>Align headcount with budgets to maintain cost control.</a:t>
            </a:r>
            <a:endParaRPr lang="en-US" sz="1333">
              <a:solidFill>
                <a:srgbClr val="FFFFFF"/>
              </a:solidFill>
              <a:latin typeface="Arial" panose="020B0604020202020204"/>
              <a:cs typeface="Arial"/>
            </a:endParaRPr>
          </a:p>
          <a:p>
            <a:pPr marL="228584" indent="-228584" defTabSz="1219110">
              <a:buFont typeface="Wingdings" pitchFamily="2" charset="2"/>
              <a:buChar char="ü"/>
              <a:defRPr/>
            </a:pPr>
            <a:endParaRPr lang="en-US" sz="1333">
              <a:solidFill>
                <a:srgbClr val="FFFFFF"/>
              </a:solidFill>
              <a:latin typeface="Arial" panose="020B0604020202020204"/>
              <a:cs typeface="Arial"/>
            </a:endParaRPr>
          </a:p>
          <a:p>
            <a:pPr marL="228584" indent="-228584" defTabSz="1219110">
              <a:buFont typeface="Wingdings" pitchFamily="2" charset="2"/>
              <a:buChar char="ü"/>
              <a:defRPr/>
            </a:pPr>
            <a:r>
              <a:rPr lang="en-US" sz="1333">
                <a:solidFill>
                  <a:srgbClr val="FFFFFF"/>
                </a:solidFill>
                <a:latin typeface="Arial" panose="020B0604020202020204"/>
              </a:rPr>
              <a:t>Monitoring new hire success through impact analysis.</a:t>
            </a:r>
            <a:endParaRPr lang="en-US" sz="2133">
              <a:solidFill>
                <a:srgbClr val="0A2F46"/>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84054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8C93E-53AA-05E6-2923-4B9ADAED76EC}"/>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8DDF5281-1E91-1C4A-A7E0-443704D19060}"/>
              </a:ext>
            </a:extLst>
          </p:cNvPr>
          <p:cNvSpPr>
            <a:spLocks noGrp="1"/>
          </p:cNvSpPr>
          <p:nvPr>
            <p:ph type="title"/>
          </p:nvPr>
        </p:nvSpPr>
        <p:spPr>
          <a:xfrm>
            <a:off x="558803" y="392856"/>
            <a:ext cx="8002692" cy="451405"/>
          </a:xfrm>
        </p:spPr>
        <p:txBody>
          <a:bodyPr lIns="0" tIns="60960" rIns="0" bIns="60960" anchor="t"/>
          <a:lstStyle/>
          <a:p>
            <a:r>
              <a:rPr lang="en-US">
                <a:latin typeface="Arial"/>
                <a:cs typeface="Arial"/>
              </a:rPr>
              <a:t>Anaplan GTM Capacity Planning Application</a:t>
            </a:r>
            <a:br>
              <a:rPr lang="en-US">
                <a:latin typeface="Arial"/>
                <a:cs typeface="Arial"/>
              </a:rPr>
            </a:br>
            <a:r>
              <a:rPr lang="en-US" sz="1867" i="1">
                <a:solidFill>
                  <a:schemeClr val="bg1">
                    <a:lumMod val="75000"/>
                  </a:schemeClr>
                </a:solidFill>
                <a:latin typeface="Arial"/>
                <a:cs typeface="Arial"/>
              </a:rPr>
              <a:t>Out-of-the-box</a:t>
            </a:r>
            <a:endParaRPr lang="en-US" i="1">
              <a:solidFill>
                <a:schemeClr val="bg1">
                  <a:lumMod val="75000"/>
                </a:schemeClr>
              </a:solidFill>
              <a:latin typeface="Arial"/>
              <a:cs typeface="Arial"/>
            </a:endParaRPr>
          </a:p>
        </p:txBody>
      </p:sp>
      <p:sp>
        <p:nvSpPr>
          <p:cNvPr id="2" name="TextBox 1">
            <a:extLst>
              <a:ext uri="{FF2B5EF4-FFF2-40B4-BE49-F238E27FC236}">
                <a16:creationId xmlns:a16="http://schemas.microsoft.com/office/drawing/2014/main" id="{250BA522-5374-B4DB-2D4D-49FB5476C3C1}"/>
              </a:ext>
            </a:extLst>
          </p:cNvPr>
          <p:cNvSpPr txBox="1"/>
          <p:nvPr/>
        </p:nvSpPr>
        <p:spPr>
          <a:xfrm>
            <a:off x="8074861" y="1346371"/>
            <a:ext cx="3184191" cy="4071820"/>
          </a:xfrm>
          <a:prstGeom prst="rect">
            <a:avLst/>
          </a:prstGeom>
          <a:noFill/>
        </p:spPr>
        <p:txBody>
          <a:bodyPr wrap="square" lIns="0" rtlCol="0">
            <a:spAutoFit/>
          </a:bodyPr>
          <a:lstStyle/>
          <a:p>
            <a:pPr defTabSz="1219110"/>
            <a:r>
              <a:rPr lang="en-US" sz="1600" b="1">
                <a:solidFill>
                  <a:srgbClr val="FFFFFF"/>
                </a:solidFill>
                <a:latin typeface="Arial" panose="020B0604020202020204"/>
              </a:rPr>
              <a:t>Key Benefits:</a:t>
            </a:r>
          </a:p>
          <a:p>
            <a:pPr defTabSz="1219110"/>
            <a:endParaRPr lang="en-US" sz="1600" b="1">
              <a:solidFill>
                <a:srgbClr val="FFFFFF"/>
              </a:solidFill>
              <a:latin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rPr>
              <a:t>Optimize FTE and HC allocation for maximum efficiency.</a:t>
            </a:r>
          </a:p>
          <a:p>
            <a:pPr marL="228584" indent="-228584" defTabSz="1219110">
              <a:buFont typeface="Wingdings" pitchFamily="2" charset="2"/>
              <a:buChar char="ü"/>
            </a:pPr>
            <a:endParaRPr lang="en-US" sz="1333">
              <a:solidFill>
                <a:srgbClr val="FFFFFF"/>
              </a:solidFill>
              <a:latin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rPr>
              <a:t>Enhance planning with insights into sales and ramp trends.</a:t>
            </a:r>
            <a:endParaRPr lang="en-US" sz="1333">
              <a:solidFill>
                <a:srgbClr val="FFFFFF"/>
              </a:solidFill>
              <a:latin typeface="Arial" panose="020B0604020202020204"/>
              <a:cs typeface="Arial"/>
            </a:endParaRPr>
          </a:p>
          <a:p>
            <a:pPr marL="228584" indent="-228584" defTabSz="1219110">
              <a:buFont typeface="Wingdings" pitchFamily="2" charset="2"/>
              <a:buChar char="ü"/>
            </a:pPr>
            <a:endParaRPr lang="en-US" sz="1333">
              <a:solidFill>
                <a:srgbClr val="FFFFFF"/>
              </a:solidFill>
              <a:latin typeface="Arial" panose="020B0604020202020204"/>
              <a:cs typeface="Arial"/>
            </a:endParaRPr>
          </a:p>
          <a:p>
            <a:pPr marL="228584" indent="-228584" defTabSz="1219110">
              <a:buFont typeface="Wingdings" pitchFamily="2" charset="2"/>
              <a:buChar char="ü"/>
            </a:pPr>
            <a:r>
              <a:rPr lang="en-US" sz="1333">
                <a:solidFill>
                  <a:srgbClr val="FFFFFF"/>
                </a:solidFill>
                <a:latin typeface="Arial" panose="020B0604020202020204"/>
              </a:rPr>
              <a:t>Predict and mitigate turnover by  forecasting attrition.</a:t>
            </a:r>
            <a:endParaRPr lang="en-US" sz="1333">
              <a:solidFill>
                <a:srgbClr val="FFFFFF"/>
              </a:solidFill>
              <a:latin typeface="Arial" panose="020B0604020202020204"/>
              <a:cs typeface="Arial"/>
            </a:endParaRPr>
          </a:p>
          <a:p>
            <a:pPr marL="228584" indent="-228584" defTabSz="1219110">
              <a:buFont typeface="Wingdings" pitchFamily="2" charset="2"/>
              <a:buChar char="ü"/>
            </a:pPr>
            <a:endParaRPr lang="en-US" sz="1333">
              <a:solidFill>
                <a:srgbClr val="FFFFFF"/>
              </a:solidFill>
              <a:latin typeface="Arial" panose="020B0604020202020204"/>
              <a:cs typeface="Arial"/>
            </a:endParaRPr>
          </a:p>
          <a:p>
            <a:pPr marL="228584" indent="-228584" defTabSz="1219110">
              <a:buFont typeface="Wingdings" pitchFamily="2" charset="2"/>
              <a:buChar char="ü"/>
            </a:pPr>
            <a:r>
              <a:rPr lang="en-US" sz="1333">
                <a:solidFill>
                  <a:srgbClr val="FFFFFF"/>
                </a:solidFill>
                <a:latin typeface="Arial" panose="020B0604020202020204"/>
              </a:rPr>
              <a:t>Enable real-time scenario modeling and performance tracking.</a:t>
            </a:r>
            <a:endParaRPr lang="en-US" sz="1333">
              <a:solidFill>
                <a:srgbClr val="FFFFFF"/>
              </a:solidFill>
              <a:latin typeface="Arial" panose="020B0604020202020204"/>
              <a:cs typeface="Arial"/>
            </a:endParaRPr>
          </a:p>
          <a:p>
            <a:pPr marL="228584" indent="-228584" defTabSz="1219110">
              <a:buFont typeface="Wingdings" pitchFamily="2" charset="2"/>
              <a:buChar char="ü"/>
            </a:pPr>
            <a:endParaRPr lang="en-US" sz="1333">
              <a:solidFill>
                <a:srgbClr val="FFFFFF"/>
              </a:solidFill>
              <a:latin typeface="Arial" panose="020B0604020202020204"/>
              <a:cs typeface="Arial"/>
            </a:endParaRPr>
          </a:p>
          <a:p>
            <a:pPr marL="228584" indent="-228584" defTabSz="1219110">
              <a:buFont typeface="Wingdings" pitchFamily="2" charset="2"/>
              <a:buChar char="ü"/>
            </a:pPr>
            <a:r>
              <a:rPr lang="en-US" sz="1333">
                <a:solidFill>
                  <a:srgbClr val="FFFFFF"/>
                </a:solidFill>
                <a:latin typeface="Arial" panose="020B0604020202020204"/>
              </a:rPr>
              <a:t>Align headcount with budgets to maintain cost control.</a:t>
            </a:r>
            <a:endParaRPr lang="en-US" sz="1333">
              <a:solidFill>
                <a:srgbClr val="FFFFFF"/>
              </a:solidFill>
              <a:latin typeface="Arial" panose="020B0604020202020204"/>
              <a:cs typeface="Arial"/>
            </a:endParaRPr>
          </a:p>
          <a:p>
            <a:pPr marL="228584" indent="-228584" defTabSz="1219110">
              <a:buFont typeface="Wingdings" pitchFamily="2" charset="2"/>
              <a:buChar char="ü"/>
            </a:pPr>
            <a:endParaRPr lang="en-US" sz="1333">
              <a:solidFill>
                <a:srgbClr val="FFFFFF"/>
              </a:solidFill>
              <a:latin typeface="Arial" panose="020B0604020202020204"/>
              <a:cs typeface="Arial"/>
            </a:endParaRPr>
          </a:p>
          <a:p>
            <a:pPr marL="228584" indent="-228584" defTabSz="1219110">
              <a:buFont typeface="Wingdings" pitchFamily="2" charset="2"/>
              <a:buChar char="ü"/>
            </a:pPr>
            <a:r>
              <a:rPr lang="en-US" sz="1333">
                <a:solidFill>
                  <a:srgbClr val="FFFFFF"/>
                </a:solidFill>
                <a:latin typeface="Arial" panose="020B0604020202020204"/>
              </a:rPr>
              <a:t>Monitoring new hire success through impact analysis.</a:t>
            </a:r>
            <a:endParaRPr lang="en-US" sz="2133">
              <a:solidFill>
                <a:srgbClr val="0A2F46"/>
              </a:solidFill>
              <a:latin typeface="Arial" panose="020B0604020202020204" pitchFamily="34" charset="0"/>
              <a:ea typeface="Inter Light" panose="02000503000000020004" pitchFamily="2" charset="0"/>
              <a:cs typeface="Arial" panose="020B0604020202020204" pitchFamily="34" charset="0"/>
            </a:endParaRPr>
          </a:p>
        </p:txBody>
      </p:sp>
      <p:sp>
        <p:nvSpPr>
          <p:cNvPr id="8" name="Oval 7">
            <a:extLst>
              <a:ext uri="{FF2B5EF4-FFF2-40B4-BE49-F238E27FC236}">
                <a16:creationId xmlns:a16="http://schemas.microsoft.com/office/drawing/2014/main" id="{46286A3A-44C6-C9C7-EB5C-691A59278AFD}"/>
              </a:ext>
            </a:extLst>
          </p:cNvPr>
          <p:cNvSpPr/>
          <p:nvPr/>
        </p:nvSpPr>
        <p:spPr>
          <a:xfrm>
            <a:off x="2430157" y="2297037"/>
            <a:ext cx="2743200" cy="2737327"/>
          </a:xfrm>
          <a:prstGeom prst="ellipse">
            <a:avLst/>
          </a:prstGeom>
          <a:noFill/>
          <a:ln>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23" name="TextBox 22">
            <a:extLst>
              <a:ext uri="{FF2B5EF4-FFF2-40B4-BE49-F238E27FC236}">
                <a16:creationId xmlns:a16="http://schemas.microsoft.com/office/drawing/2014/main" id="{67B3DC37-43A7-615D-8007-50CDCD2792C5}"/>
              </a:ext>
            </a:extLst>
          </p:cNvPr>
          <p:cNvSpPr txBox="1"/>
          <p:nvPr/>
        </p:nvSpPr>
        <p:spPr>
          <a:xfrm>
            <a:off x="2877162" y="1364185"/>
            <a:ext cx="2151903" cy="636200"/>
          </a:xfrm>
          <a:prstGeom prst="rect">
            <a:avLst/>
          </a:prstGeom>
          <a:noFill/>
        </p:spPr>
        <p:txBody>
          <a:bodyPr wrap="square" lIns="0" tIns="60960" rIns="121920" bIns="60960" rtlCol="0" anchor="t">
            <a:spAutoFit/>
          </a:bodyPr>
          <a:lstStyle/>
          <a:p>
            <a:pPr defTabSz="1219110" fontAlgn="base"/>
            <a:r>
              <a:rPr lang="en-US" sz="1200" b="1">
                <a:solidFill>
                  <a:srgbClr val="0A2F46">
                    <a:lumMod val="75000"/>
                    <a:lumOff val="25000"/>
                  </a:srgbClr>
                </a:solidFill>
                <a:latin typeface="Arial" panose="020B0604020202020204"/>
              </a:rPr>
              <a:t>Current FTE Reporting</a:t>
            </a:r>
          </a:p>
          <a:p>
            <a:pPr defTabSz="1219110" fontAlgn="base"/>
            <a:r>
              <a:rPr lang="en-US" sz="1067">
                <a:solidFill>
                  <a:srgbClr val="0A2F46"/>
                </a:solidFill>
                <a:latin typeface="Arial" panose="020B0604020202020204"/>
              </a:rPr>
              <a:t>Access HC data and run “what if” scenarios for workforce planning.</a:t>
            </a:r>
            <a:endParaRPr lang="en-US" sz="1067">
              <a:solidFill>
                <a:srgbClr val="0A2F46"/>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0390A18A-DA2A-7FEE-E42E-F422D42E11C2}"/>
              </a:ext>
            </a:extLst>
          </p:cNvPr>
          <p:cNvSpPr txBox="1"/>
          <p:nvPr/>
        </p:nvSpPr>
        <p:spPr>
          <a:xfrm>
            <a:off x="4913042" y="1880351"/>
            <a:ext cx="2026361" cy="605422"/>
          </a:xfrm>
          <a:prstGeom prst="rect">
            <a:avLst/>
          </a:prstGeom>
          <a:noFill/>
        </p:spPr>
        <p:txBody>
          <a:bodyPr wrap="square" lIns="0" rtlCol="0">
            <a:spAutoFit/>
          </a:bodyPr>
          <a:lstStyle/>
          <a:p>
            <a:pPr defTabSz="1219110" fontAlgn="base"/>
            <a:r>
              <a:rPr lang="en-US" sz="1200" b="1">
                <a:solidFill>
                  <a:srgbClr val="0A2F46">
                    <a:lumMod val="75000"/>
                    <a:lumOff val="25000"/>
                  </a:srgbClr>
                </a:solidFill>
                <a:latin typeface="Arial" panose="020B0604020202020204"/>
              </a:rPr>
              <a:t>Role-Based Reviews</a:t>
            </a:r>
          </a:p>
          <a:p>
            <a:pPr defTabSz="1219110" fontAlgn="base"/>
            <a:r>
              <a:rPr lang="en-US" sz="1067">
                <a:solidFill>
                  <a:srgbClr val="0A2F46"/>
                </a:solidFill>
                <a:latin typeface="Arial" panose="020B0604020202020204"/>
              </a:rPr>
              <a:t>Gain insights to enhance role effectiveness and performance.</a:t>
            </a:r>
            <a:endParaRPr lang="en-US" sz="1067">
              <a:solidFill>
                <a:srgbClr val="0A2F46"/>
              </a:solidFill>
              <a:latin typeface="Arial" panose="020B0604020202020204" pitchFamily="34" charset="0"/>
              <a:cs typeface="Arial" panose="020B0604020202020204" pitchFamily="34" charset="0"/>
            </a:endParaRPr>
          </a:p>
        </p:txBody>
      </p:sp>
      <p:sp>
        <p:nvSpPr>
          <p:cNvPr id="26" name="Oval 25">
            <a:extLst>
              <a:ext uri="{FF2B5EF4-FFF2-40B4-BE49-F238E27FC236}">
                <a16:creationId xmlns:a16="http://schemas.microsoft.com/office/drawing/2014/main" id="{228E48B7-C638-605A-FDDC-7E831EFFEAF9}"/>
              </a:ext>
            </a:extLst>
          </p:cNvPr>
          <p:cNvSpPr/>
          <p:nvPr/>
        </p:nvSpPr>
        <p:spPr>
          <a:xfrm>
            <a:off x="2934835" y="4731795"/>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33" name="TextBox 32">
            <a:extLst>
              <a:ext uri="{FF2B5EF4-FFF2-40B4-BE49-F238E27FC236}">
                <a16:creationId xmlns:a16="http://schemas.microsoft.com/office/drawing/2014/main" id="{55F767EF-C08C-5E46-B913-88C7E9F03D88}"/>
              </a:ext>
            </a:extLst>
          </p:cNvPr>
          <p:cNvSpPr txBox="1"/>
          <p:nvPr/>
        </p:nvSpPr>
        <p:spPr>
          <a:xfrm>
            <a:off x="5318657" y="4065221"/>
            <a:ext cx="1989785" cy="605422"/>
          </a:xfrm>
          <a:prstGeom prst="rect">
            <a:avLst/>
          </a:prstGeom>
          <a:noFill/>
        </p:spPr>
        <p:txBody>
          <a:bodyPr wrap="square" lIns="0" rtlCol="0">
            <a:spAutoFit/>
          </a:bodyPr>
          <a:lstStyle/>
          <a:p>
            <a:pPr defTabSz="1219110" fontAlgn="base"/>
            <a:r>
              <a:rPr lang="en-US" sz="1200" b="1">
                <a:solidFill>
                  <a:srgbClr val="0A2F46">
                    <a:lumMod val="75000"/>
                    <a:lumOff val="25000"/>
                  </a:srgbClr>
                </a:solidFill>
                <a:latin typeface="Arial" panose="020B0604020202020204"/>
              </a:rPr>
              <a:t>Coverage Analysis</a:t>
            </a:r>
          </a:p>
          <a:p>
            <a:pPr defTabSz="1219110" fontAlgn="base"/>
            <a:r>
              <a:rPr lang="en-US" sz="1067">
                <a:solidFill>
                  <a:srgbClr val="0A2F46"/>
                </a:solidFill>
                <a:latin typeface="Arial" panose="020B0604020202020204"/>
              </a:rPr>
              <a:t>Adjust HC and sales coverage in real time to close gaps.</a:t>
            </a:r>
            <a:endParaRPr lang="en-US" sz="1067">
              <a:solidFill>
                <a:srgbClr val="0A2F46"/>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0A023E67-295D-5403-6AF2-27B09BC41C17}"/>
              </a:ext>
            </a:extLst>
          </p:cNvPr>
          <p:cNvSpPr txBox="1"/>
          <p:nvPr/>
        </p:nvSpPr>
        <p:spPr>
          <a:xfrm>
            <a:off x="5415936" y="3043637"/>
            <a:ext cx="2026361" cy="605422"/>
          </a:xfrm>
          <a:prstGeom prst="rect">
            <a:avLst/>
          </a:prstGeom>
          <a:noFill/>
        </p:spPr>
        <p:txBody>
          <a:bodyPr wrap="square" lIns="0" rtlCol="0">
            <a:spAutoFit/>
          </a:bodyPr>
          <a:lstStyle/>
          <a:p>
            <a:pPr defTabSz="1219110" fontAlgn="base"/>
            <a:r>
              <a:rPr lang="en-US" sz="1200" b="1">
                <a:solidFill>
                  <a:srgbClr val="0A2F46">
                    <a:lumMod val="75000"/>
                    <a:lumOff val="25000"/>
                  </a:srgbClr>
                </a:solidFill>
                <a:latin typeface="Arial" panose="020B0604020202020204"/>
              </a:rPr>
              <a:t>Baseline Productivity</a:t>
            </a:r>
          </a:p>
          <a:p>
            <a:pPr defTabSz="1219110" fontAlgn="base"/>
            <a:r>
              <a:rPr lang="en-US" sz="1067">
                <a:solidFill>
                  <a:srgbClr val="0A2F46"/>
                </a:solidFill>
                <a:latin typeface="Arial" panose="020B0604020202020204"/>
              </a:rPr>
              <a:t>Access productivity to refine targets to allocations.</a:t>
            </a:r>
            <a:endParaRPr lang="en-US" sz="1067">
              <a:solidFill>
                <a:srgbClr val="0A2F46"/>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5976FF14-67D5-A814-3B6A-A0E7C06A3C8C}"/>
              </a:ext>
            </a:extLst>
          </p:cNvPr>
          <p:cNvSpPr txBox="1"/>
          <p:nvPr/>
        </p:nvSpPr>
        <p:spPr>
          <a:xfrm>
            <a:off x="2084676" y="5191105"/>
            <a:ext cx="2310277" cy="605422"/>
          </a:xfrm>
          <a:prstGeom prst="rect">
            <a:avLst/>
          </a:prstGeom>
          <a:noFill/>
        </p:spPr>
        <p:txBody>
          <a:bodyPr wrap="square" lIns="0" rtlCol="0">
            <a:spAutoFit/>
          </a:bodyPr>
          <a:lstStyle/>
          <a:p>
            <a:pPr defTabSz="1219110" fontAlgn="base"/>
            <a:r>
              <a:rPr lang="en-US" sz="1200" b="1">
                <a:solidFill>
                  <a:srgbClr val="0A2F46">
                    <a:lumMod val="75000"/>
                    <a:lumOff val="25000"/>
                  </a:srgbClr>
                </a:solidFill>
                <a:latin typeface="Arial" panose="020B0604020202020204"/>
              </a:rPr>
              <a:t>Top-Down Planning</a:t>
            </a:r>
          </a:p>
          <a:p>
            <a:pPr defTabSz="1219110" fontAlgn="base"/>
            <a:r>
              <a:rPr lang="en-US" sz="1067">
                <a:solidFill>
                  <a:srgbClr val="0A2F46"/>
                </a:solidFill>
                <a:latin typeface="Arial" panose="020B0604020202020204"/>
              </a:rPr>
              <a:t>Set HC targets, simulate scenarios, and optimize allocation.</a:t>
            </a:r>
            <a:endParaRPr lang="en-US" sz="1067">
              <a:solidFill>
                <a:srgbClr val="0A2F46"/>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6DDC2B54-4312-F505-D403-8B240DAB717F}"/>
              </a:ext>
            </a:extLst>
          </p:cNvPr>
          <p:cNvSpPr txBox="1"/>
          <p:nvPr/>
        </p:nvSpPr>
        <p:spPr>
          <a:xfrm>
            <a:off x="691522" y="4249295"/>
            <a:ext cx="2178993" cy="605422"/>
          </a:xfrm>
          <a:prstGeom prst="rect">
            <a:avLst/>
          </a:prstGeom>
          <a:noFill/>
        </p:spPr>
        <p:txBody>
          <a:bodyPr wrap="square" lIns="0" rtlCol="0">
            <a:spAutoFit/>
          </a:bodyPr>
          <a:lstStyle/>
          <a:p>
            <a:pPr defTabSz="1219110" fontAlgn="base"/>
            <a:r>
              <a:rPr lang="en-US" sz="1200" b="1">
                <a:solidFill>
                  <a:srgbClr val="0A2F46">
                    <a:lumMod val="75000"/>
                    <a:lumOff val="25000"/>
                  </a:srgbClr>
                </a:solidFill>
                <a:latin typeface="Arial" panose="020B0604020202020204"/>
              </a:rPr>
              <a:t>Bottom-Up Planning</a:t>
            </a:r>
          </a:p>
          <a:p>
            <a:pPr defTabSz="1219110" fontAlgn="base"/>
            <a:r>
              <a:rPr lang="en-US" sz="1067">
                <a:solidFill>
                  <a:srgbClr val="0A2F46"/>
                </a:solidFill>
                <a:latin typeface="Arial" panose="020B0604020202020204"/>
              </a:rPr>
              <a:t>Track hiring, attrition, and productivity trends to adapt plans.</a:t>
            </a:r>
            <a:endParaRPr lang="en-US" sz="1067">
              <a:solidFill>
                <a:srgbClr val="0A2F46"/>
              </a:solidFill>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ACD512A7-28F4-3FE8-2833-B3D6BBC0476F}"/>
              </a:ext>
            </a:extLst>
          </p:cNvPr>
          <p:cNvSpPr txBox="1"/>
          <p:nvPr/>
        </p:nvSpPr>
        <p:spPr>
          <a:xfrm>
            <a:off x="6081830" y="8659115"/>
            <a:ext cx="2245124" cy="605422"/>
          </a:xfrm>
          <a:prstGeom prst="rect">
            <a:avLst/>
          </a:prstGeom>
          <a:noFill/>
        </p:spPr>
        <p:txBody>
          <a:bodyPr wrap="square" lIns="0" rtlCol="0">
            <a:spAutoFit/>
          </a:bodyPr>
          <a:lstStyle/>
          <a:p>
            <a:pPr defTabSz="1219110" fontAlgn="base"/>
            <a:r>
              <a:rPr lang="en-US" sz="1200" b="1">
                <a:solidFill>
                  <a:srgbClr val="0A2F46">
                    <a:lumMod val="75000"/>
                    <a:lumOff val="25000"/>
                  </a:srgbClr>
                </a:solidFill>
                <a:latin typeface="Arial" panose="020B0604020202020204"/>
              </a:rPr>
              <a:t>Sales Margins Planning</a:t>
            </a:r>
          </a:p>
          <a:p>
            <a:pPr defTabSz="1219110" fontAlgn="base"/>
            <a:r>
              <a:rPr lang="en-US" sz="1067">
                <a:solidFill>
                  <a:srgbClr val="0A2F46"/>
                </a:solidFill>
                <a:latin typeface="Arial" panose="020B0604020202020204"/>
              </a:rPr>
              <a:t>Model role-specific costs and sales margins to boost profitability. </a:t>
            </a:r>
            <a:endParaRPr lang="en-US" sz="1067">
              <a:solidFill>
                <a:srgbClr val="0A2F46"/>
              </a:solidFill>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9D0C3024-B9A5-8B23-10F4-89B24D95F27E}"/>
              </a:ext>
            </a:extLst>
          </p:cNvPr>
          <p:cNvSpPr txBox="1"/>
          <p:nvPr/>
        </p:nvSpPr>
        <p:spPr>
          <a:xfrm>
            <a:off x="5043661" y="9631523"/>
            <a:ext cx="2245124" cy="605422"/>
          </a:xfrm>
          <a:prstGeom prst="rect">
            <a:avLst/>
          </a:prstGeom>
          <a:noFill/>
        </p:spPr>
        <p:txBody>
          <a:bodyPr wrap="square" lIns="0" rtlCol="0">
            <a:spAutoFit/>
          </a:bodyPr>
          <a:lstStyle/>
          <a:p>
            <a:pPr defTabSz="1219110" fontAlgn="base"/>
            <a:r>
              <a:rPr lang="en-US" sz="1200" b="1">
                <a:solidFill>
                  <a:srgbClr val="0A2F46">
                    <a:lumMod val="75000"/>
                    <a:lumOff val="25000"/>
                  </a:srgbClr>
                </a:solidFill>
                <a:latin typeface="Arial" panose="020B0604020202020204"/>
              </a:rPr>
              <a:t>In-Year vs Actual Plan</a:t>
            </a:r>
          </a:p>
          <a:p>
            <a:pPr defTabSz="1219110" fontAlgn="base"/>
            <a:r>
              <a:rPr lang="en-US" sz="1067">
                <a:solidFill>
                  <a:srgbClr val="0A2F46"/>
                </a:solidFill>
                <a:latin typeface="Arial" panose="020B0604020202020204"/>
              </a:rPr>
              <a:t>Lock plans, compare snapshots, and optimize coverage.</a:t>
            </a:r>
            <a:endParaRPr lang="en-US" sz="1067">
              <a:solidFill>
                <a:srgbClr val="0A2F46"/>
              </a:solidFill>
              <a:latin typeface="Arial" panose="020B0604020202020204" pitchFamily="34" charset="0"/>
              <a:cs typeface="Arial" panose="020B0604020202020204" pitchFamily="34" charset="0"/>
            </a:endParaRPr>
          </a:p>
        </p:txBody>
      </p:sp>
      <p:grpSp>
        <p:nvGrpSpPr>
          <p:cNvPr id="48" name="Group 47">
            <a:extLst>
              <a:ext uri="{FF2B5EF4-FFF2-40B4-BE49-F238E27FC236}">
                <a16:creationId xmlns:a16="http://schemas.microsoft.com/office/drawing/2014/main" id="{455A1F08-1BE5-0E72-603E-BC78CA9B6243}"/>
              </a:ext>
            </a:extLst>
          </p:cNvPr>
          <p:cNvGrpSpPr>
            <a:grpSpLocks noChangeAspect="1"/>
          </p:cNvGrpSpPr>
          <p:nvPr/>
        </p:nvGrpSpPr>
        <p:grpSpPr>
          <a:xfrm>
            <a:off x="3055246" y="3023471"/>
            <a:ext cx="1640567" cy="1219200"/>
            <a:chOff x="1505373" y="1481418"/>
            <a:chExt cx="2536935" cy="1885341"/>
          </a:xfrm>
        </p:grpSpPr>
        <p:sp>
          <p:nvSpPr>
            <p:cNvPr id="49" name="Freeform 48">
              <a:extLst>
                <a:ext uri="{FF2B5EF4-FFF2-40B4-BE49-F238E27FC236}">
                  <a16:creationId xmlns:a16="http://schemas.microsoft.com/office/drawing/2014/main" id="{4F3B51CF-9DF3-579E-5AC2-10FCD79BEFE5}"/>
                </a:ext>
              </a:extLst>
            </p:cNvPr>
            <p:cNvSpPr>
              <a:spLocks noChangeAspect="1"/>
            </p:cNvSpPr>
            <p:nvPr/>
          </p:nvSpPr>
          <p:spPr>
            <a:xfrm>
              <a:off x="1505373" y="1816043"/>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1">
                <a:lumMod val="50000"/>
                <a:lumOff val="5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0" name="Freeform 49">
              <a:extLst>
                <a:ext uri="{FF2B5EF4-FFF2-40B4-BE49-F238E27FC236}">
                  <a16:creationId xmlns:a16="http://schemas.microsoft.com/office/drawing/2014/main" id="{31AF3AA2-0EB2-80E4-15AD-C693FDB2EA22}"/>
                </a:ext>
              </a:extLst>
            </p:cNvPr>
            <p:cNvSpPr>
              <a:spLocks noChangeAspect="1"/>
            </p:cNvSpPr>
            <p:nvPr/>
          </p:nvSpPr>
          <p:spPr>
            <a:xfrm>
              <a:off x="2099019"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1" name="Freeform 50">
              <a:extLst>
                <a:ext uri="{FF2B5EF4-FFF2-40B4-BE49-F238E27FC236}">
                  <a16:creationId xmlns:a16="http://schemas.microsoft.com/office/drawing/2014/main" id="{92228EEC-CF8C-39A6-DDB6-96066DB845D9}"/>
                </a:ext>
              </a:extLst>
            </p:cNvPr>
            <p:cNvSpPr>
              <a:spLocks noChangeAspect="1"/>
            </p:cNvSpPr>
            <p:nvPr/>
          </p:nvSpPr>
          <p:spPr>
            <a:xfrm>
              <a:off x="2099019" y="1481418"/>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2" name="Freeform 51">
              <a:extLst>
                <a:ext uri="{FF2B5EF4-FFF2-40B4-BE49-F238E27FC236}">
                  <a16:creationId xmlns:a16="http://schemas.microsoft.com/office/drawing/2014/main" id="{7F2C5AFB-60C2-8DC7-4440-7FA89C41EA46}"/>
                </a:ext>
              </a:extLst>
            </p:cNvPr>
            <p:cNvSpPr>
              <a:spLocks noChangeAspect="1"/>
            </p:cNvSpPr>
            <p:nvPr/>
          </p:nvSpPr>
          <p:spPr>
            <a:xfrm>
              <a:off x="1509561" y="249040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3" name="Freeform 52">
              <a:extLst>
                <a:ext uri="{FF2B5EF4-FFF2-40B4-BE49-F238E27FC236}">
                  <a16:creationId xmlns:a16="http://schemas.microsoft.com/office/drawing/2014/main" id="{23FA1E3F-F331-0CE8-0222-B932CDC688EA}"/>
                </a:ext>
              </a:extLst>
            </p:cNvPr>
            <p:cNvSpPr>
              <a:spLocks noChangeAspect="1"/>
            </p:cNvSpPr>
            <p:nvPr/>
          </p:nvSpPr>
          <p:spPr>
            <a:xfrm>
              <a:off x="2692005" y="1821847"/>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4" name="Freeform 53">
              <a:extLst>
                <a:ext uri="{FF2B5EF4-FFF2-40B4-BE49-F238E27FC236}">
                  <a16:creationId xmlns:a16="http://schemas.microsoft.com/office/drawing/2014/main" id="{FAC8EA75-56FD-5177-BC67-830C2DCB4FD7}"/>
                </a:ext>
              </a:extLst>
            </p:cNvPr>
            <p:cNvSpPr>
              <a:spLocks noChangeAspect="1"/>
            </p:cNvSpPr>
            <p:nvPr/>
          </p:nvSpPr>
          <p:spPr>
            <a:xfrm>
              <a:off x="3286311"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grpSp>
          <p:nvGrpSpPr>
            <p:cNvPr id="55" name="Group 54">
              <a:extLst>
                <a:ext uri="{FF2B5EF4-FFF2-40B4-BE49-F238E27FC236}">
                  <a16:creationId xmlns:a16="http://schemas.microsoft.com/office/drawing/2014/main" id="{DF67866D-5CDF-2A6F-0D4A-1BA4DA71A351}"/>
                </a:ext>
              </a:extLst>
            </p:cNvPr>
            <p:cNvGrpSpPr/>
            <p:nvPr/>
          </p:nvGrpSpPr>
          <p:grpSpPr>
            <a:xfrm>
              <a:off x="2328356" y="2360919"/>
              <a:ext cx="1119646" cy="1005840"/>
              <a:chOff x="2890777" y="3439515"/>
              <a:chExt cx="1119646" cy="1005840"/>
            </a:xfrm>
          </p:grpSpPr>
          <p:sp>
            <p:nvSpPr>
              <p:cNvPr id="56" name="Rounded Rectangle 55">
                <a:extLst>
                  <a:ext uri="{FF2B5EF4-FFF2-40B4-BE49-F238E27FC236}">
                    <a16:creationId xmlns:a16="http://schemas.microsoft.com/office/drawing/2014/main" id="{51A437F6-6BE8-E616-956F-B59AB48836A1}"/>
                  </a:ext>
                </a:extLst>
              </p:cNvPr>
              <p:cNvSpPr>
                <a:spLocks noChangeAspect="1"/>
              </p:cNvSpPr>
              <p:nvPr/>
            </p:nvSpPr>
            <p:spPr>
              <a:xfrm>
                <a:off x="2890777" y="3439515"/>
                <a:ext cx="1119646" cy="1005840"/>
              </a:xfrm>
              <a:prstGeom prst="roundRect">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50">
                  <a:defRPr/>
                </a:pPr>
                <a:endParaRPr lang="en-US" sz="2133" err="1">
                  <a:solidFill>
                    <a:srgbClr val="FFFFFF"/>
                  </a:solidFill>
                  <a:latin typeface="Arial" panose="020B0604020202020204" pitchFamily="34" charset="0"/>
                  <a:ea typeface="Verdana" charset="0"/>
                  <a:cs typeface="Arial" panose="020B0604020202020204" pitchFamily="34" charset="0"/>
                </a:endParaRPr>
              </a:p>
            </p:txBody>
          </p:sp>
          <p:pic>
            <p:nvPicPr>
              <p:cNvPr id="57" name="Graphic 56" descr="Packing Box Open outline">
                <a:extLst>
                  <a:ext uri="{FF2B5EF4-FFF2-40B4-BE49-F238E27FC236}">
                    <a16:creationId xmlns:a16="http://schemas.microsoft.com/office/drawing/2014/main" id="{71DEA772-3159-D79A-3117-87AA8BC7A5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19264" y="3519819"/>
                <a:ext cx="850392" cy="850392"/>
              </a:xfrm>
              <a:prstGeom prst="rect">
                <a:avLst/>
              </a:prstGeom>
            </p:spPr>
          </p:pic>
        </p:grpSp>
      </p:grpSp>
      <p:sp>
        <p:nvSpPr>
          <p:cNvPr id="60" name="Oval 59">
            <a:extLst>
              <a:ext uri="{FF2B5EF4-FFF2-40B4-BE49-F238E27FC236}">
                <a16:creationId xmlns:a16="http://schemas.microsoft.com/office/drawing/2014/main" id="{7AE3AE18-51EA-5A5B-C656-2E7376451BEA}"/>
              </a:ext>
            </a:extLst>
          </p:cNvPr>
          <p:cNvSpPr/>
          <p:nvPr/>
        </p:nvSpPr>
        <p:spPr>
          <a:xfrm>
            <a:off x="4483005" y="2388681"/>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1" name="Oval 60">
            <a:extLst>
              <a:ext uri="{FF2B5EF4-FFF2-40B4-BE49-F238E27FC236}">
                <a16:creationId xmlns:a16="http://schemas.microsoft.com/office/drawing/2014/main" id="{7A922780-C1D3-238A-07D8-6BA2408B6BE9}"/>
              </a:ext>
            </a:extLst>
          </p:cNvPr>
          <p:cNvSpPr/>
          <p:nvPr/>
        </p:nvSpPr>
        <p:spPr>
          <a:xfrm>
            <a:off x="4975160" y="3171171"/>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2" name="Oval 61">
            <a:extLst>
              <a:ext uri="{FF2B5EF4-FFF2-40B4-BE49-F238E27FC236}">
                <a16:creationId xmlns:a16="http://schemas.microsoft.com/office/drawing/2014/main" id="{5E29DCAA-7542-B259-7FA3-E0E07522A30C}"/>
              </a:ext>
            </a:extLst>
          </p:cNvPr>
          <p:cNvSpPr/>
          <p:nvPr/>
        </p:nvSpPr>
        <p:spPr>
          <a:xfrm>
            <a:off x="4873233" y="4075863"/>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3" name="Oval 62">
            <a:extLst>
              <a:ext uri="{FF2B5EF4-FFF2-40B4-BE49-F238E27FC236}">
                <a16:creationId xmlns:a16="http://schemas.microsoft.com/office/drawing/2014/main" id="{7339DB0B-B608-3D49-F112-E4738B8C0862}"/>
              </a:ext>
            </a:extLst>
          </p:cNvPr>
          <p:cNvSpPr/>
          <p:nvPr/>
        </p:nvSpPr>
        <p:spPr>
          <a:xfrm>
            <a:off x="4212072" y="4767400"/>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4" name="Oval 63">
            <a:extLst>
              <a:ext uri="{FF2B5EF4-FFF2-40B4-BE49-F238E27FC236}">
                <a16:creationId xmlns:a16="http://schemas.microsoft.com/office/drawing/2014/main" id="{1B149415-C173-9156-14BE-5DBA27A86A92}"/>
              </a:ext>
            </a:extLst>
          </p:cNvPr>
          <p:cNvSpPr/>
          <p:nvPr/>
        </p:nvSpPr>
        <p:spPr>
          <a:xfrm>
            <a:off x="2214308" y="3184953"/>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5" name="Oval 64">
            <a:extLst>
              <a:ext uri="{FF2B5EF4-FFF2-40B4-BE49-F238E27FC236}">
                <a16:creationId xmlns:a16="http://schemas.microsoft.com/office/drawing/2014/main" id="{D59A55AB-4036-7A84-0F5C-330CA4F5537B}"/>
              </a:ext>
            </a:extLst>
          </p:cNvPr>
          <p:cNvSpPr/>
          <p:nvPr/>
        </p:nvSpPr>
        <p:spPr>
          <a:xfrm>
            <a:off x="2390773" y="4068912"/>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6" name="Oval 65">
            <a:extLst>
              <a:ext uri="{FF2B5EF4-FFF2-40B4-BE49-F238E27FC236}">
                <a16:creationId xmlns:a16="http://schemas.microsoft.com/office/drawing/2014/main" id="{C517BBC7-CA15-4DC1-34A7-CCD97183A3F6}"/>
              </a:ext>
            </a:extLst>
          </p:cNvPr>
          <p:cNvSpPr/>
          <p:nvPr/>
        </p:nvSpPr>
        <p:spPr>
          <a:xfrm>
            <a:off x="2677389" y="2419979"/>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A35256B2-0A09-F4E4-88B1-D94783B11747}"/>
              </a:ext>
            </a:extLst>
          </p:cNvPr>
          <p:cNvSpPr txBox="1"/>
          <p:nvPr/>
        </p:nvSpPr>
        <p:spPr>
          <a:xfrm>
            <a:off x="4666959" y="4891476"/>
            <a:ext cx="1893448" cy="636200"/>
          </a:xfrm>
          <a:prstGeom prst="rect">
            <a:avLst/>
          </a:prstGeom>
          <a:noFill/>
        </p:spPr>
        <p:txBody>
          <a:bodyPr wrap="square" lIns="0" tIns="60960" rIns="121920" bIns="60960" rtlCol="0" anchor="t">
            <a:spAutoFit/>
          </a:bodyPr>
          <a:lstStyle/>
          <a:p>
            <a:pPr defTabSz="1219110" fontAlgn="base"/>
            <a:r>
              <a:rPr lang="en-US" sz="1200" b="1">
                <a:solidFill>
                  <a:srgbClr val="0A2F46">
                    <a:lumMod val="75000"/>
                    <a:lumOff val="25000"/>
                  </a:srgbClr>
                </a:solidFill>
                <a:latin typeface="Arial" panose="020B0604020202020204"/>
              </a:rPr>
              <a:t>HC Gap Analysis</a:t>
            </a:r>
            <a:endParaRPr lang="en-US" sz="2400">
              <a:solidFill>
                <a:srgbClr val="0A2F46">
                  <a:lumMod val="75000"/>
                  <a:lumOff val="25000"/>
                </a:srgbClr>
              </a:solidFill>
              <a:latin typeface="Arial" panose="020B0604020202020204"/>
            </a:endParaRPr>
          </a:p>
          <a:p>
            <a:pPr defTabSz="1219110" fontAlgn="base"/>
            <a:r>
              <a:rPr lang="en-US" sz="1067">
                <a:solidFill>
                  <a:srgbClr val="0A2F46"/>
                </a:solidFill>
                <a:latin typeface="Arial" panose="020B0604020202020204"/>
              </a:rPr>
              <a:t>Align headcount needs with revenue and financial goals.</a:t>
            </a:r>
            <a:endParaRPr lang="en-US" sz="1067">
              <a:solidFill>
                <a:srgbClr val="0A2F46"/>
              </a:solidFill>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56EFBCE2-1F32-1E89-A9E7-2DC28AD2BE29}"/>
              </a:ext>
            </a:extLst>
          </p:cNvPr>
          <p:cNvSpPr/>
          <p:nvPr/>
        </p:nvSpPr>
        <p:spPr>
          <a:xfrm>
            <a:off x="3652708" y="2097383"/>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pic>
        <p:nvPicPr>
          <p:cNvPr id="5" name="Graphic 6">
            <a:extLst>
              <a:ext uri="{FF2B5EF4-FFF2-40B4-BE49-F238E27FC236}">
                <a16:creationId xmlns:a16="http://schemas.microsoft.com/office/drawing/2014/main" id="{DEE95036-8229-4B30-335C-02C06308E9AF}"/>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3713668" y="2133939"/>
            <a:ext cx="243840" cy="243840"/>
          </a:xfrm>
          <a:prstGeom prst="rect">
            <a:avLst/>
          </a:prstGeom>
        </p:spPr>
      </p:pic>
      <p:pic>
        <p:nvPicPr>
          <p:cNvPr id="6" name="Graphic 4">
            <a:extLst>
              <a:ext uri="{FF2B5EF4-FFF2-40B4-BE49-F238E27FC236}">
                <a16:creationId xmlns:a16="http://schemas.microsoft.com/office/drawing/2014/main" id="{CC579060-E866-9ED1-3071-2F0ABF5B9897}"/>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4928183" y="4136823"/>
            <a:ext cx="243840" cy="243840"/>
          </a:xfrm>
          <a:prstGeom prst="rect">
            <a:avLst/>
          </a:prstGeom>
        </p:spPr>
      </p:pic>
      <p:pic>
        <p:nvPicPr>
          <p:cNvPr id="9" name="Graphic 4">
            <a:extLst>
              <a:ext uri="{FF2B5EF4-FFF2-40B4-BE49-F238E27FC236}">
                <a16:creationId xmlns:a16="http://schemas.microsoft.com/office/drawing/2014/main" id="{837A3D38-1BC6-B6D4-203C-ECBBFCCA1C54}"/>
              </a:ext>
            </a:extLst>
          </p:cNvPr>
          <p:cNvPicPr>
            <a:picLocks noChangeAspect="1"/>
          </p:cNvPicPr>
          <p:nvPr/>
        </p:nvPicPr>
        <p:blipFill>
          <a:blip r:embed="rId7" cstate="print">
            <a:extLst>
              <a:ext uri="{28A0092B-C50C-407E-A947-70E740481C1C}">
                <a14:useLocalDpi xmlns:a14="http://schemas.microsoft.com/office/drawing/2010/main"/>
              </a:ext>
            </a:extLst>
          </a:blip>
          <a:srcRect/>
          <a:stretch/>
        </p:blipFill>
        <p:spPr>
          <a:xfrm>
            <a:off x="5030713" y="3216891"/>
            <a:ext cx="243840" cy="243840"/>
          </a:xfrm>
          <a:prstGeom prst="rect">
            <a:avLst/>
          </a:prstGeom>
        </p:spPr>
      </p:pic>
      <p:pic>
        <p:nvPicPr>
          <p:cNvPr id="10" name="Graphic 4">
            <a:extLst>
              <a:ext uri="{FF2B5EF4-FFF2-40B4-BE49-F238E27FC236}">
                <a16:creationId xmlns:a16="http://schemas.microsoft.com/office/drawing/2014/main" id="{FA0777AB-5542-B7C1-58D2-130386FAAAAF}"/>
              </a:ext>
            </a:extLst>
          </p:cNvPr>
          <p:cNvPicPr>
            <a:picLocks noChangeAspect="1"/>
          </p:cNvPicPr>
          <p:nvPr/>
        </p:nvPicPr>
        <p:blipFill>
          <a:blip r:embed="rId8" cstate="print">
            <a:extLst>
              <a:ext uri="{28A0092B-C50C-407E-A947-70E740481C1C}">
                <a14:useLocalDpi xmlns:a14="http://schemas.microsoft.com/office/drawing/2010/main"/>
              </a:ext>
            </a:extLst>
          </a:blip>
          <a:srcRect/>
          <a:stretch/>
        </p:blipFill>
        <p:spPr>
          <a:xfrm>
            <a:off x="4543965" y="2438615"/>
            <a:ext cx="243840" cy="243840"/>
          </a:xfrm>
          <a:prstGeom prst="rect">
            <a:avLst/>
          </a:prstGeom>
        </p:spPr>
      </p:pic>
      <p:pic>
        <p:nvPicPr>
          <p:cNvPr id="15" name="Graphic 4">
            <a:extLst>
              <a:ext uri="{FF2B5EF4-FFF2-40B4-BE49-F238E27FC236}">
                <a16:creationId xmlns:a16="http://schemas.microsoft.com/office/drawing/2014/main" id="{AED70837-8A6B-7274-56EE-62924EB1F7CA}"/>
              </a:ext>
            </a:extLst>
          </p:cNvPr>
          <p:cNvPicPr>
            <a:picLocks noChangeAspect="1"/>
          </p:cNvPicPr>
          <p:nvPr/>
        </p:nvPicPr>
        <p:blipFill>
          <a:blip r:embed="rId9" cstate="print">
            <a:extLst>
              <a:ext uri="{28A0092B-C50C-407E-A947-70E740481C1C}">
                <a14:useLocalDpi xmlns:a14="http://schemas.microsoft.com/office/drawing/2010/main"/>
              </a:ext>
            </a:extLst>
          </a:blip>
          <a:srcRect/>
          <a:stretch/>
        </p:blipFill>
        <p:spPr>
          <a:xfrm>
            <a:off x="2275268" y="3266744"/>
            <a:ext cx="243840" cy="243840"/>
          </a:xfrm>
          <a:prstGeom prst="rect">
            <a:avLst/>
          </a:prstGeom>
        </p:spPr>
      </p:pic>
      <p:pic>
        <p:nvPicPr>
          <p:cNvPr id="16" name="Graphic 4">
            <a:extLst>
              <a:ext uri="{FF2B5EF4-FFF2-40B4-BE49-F238E27FC236}">
                <a16:creationId xmlns:a16="http://schemas.microsoft.com/office/drawing/2014/main" id="{8CA17953-6336-2E94-5E9F-1EE5FCC4C6B9}"/>
              </a:ext>
            </a:extLst>
          </p:cNvPr>
          <p:cNvPicPr>
            <a:picLocks noChangeAspect="1"/>
          </p:cNvPicPr>
          <p:nvPr/>
        </p:nvPicPr>
        <p:blipFill>
          <a:blip r:embed="rId10" cstate="print">
            <a:extLst>
              <a:ext uri="{28A0092B-C50C-407E-A947-70E740481C1C}">
                <a14:useLocalDpi xmlns:a14="http://schemas.microsoft.com/office/drawing/2010/main"/>
              </a:ext>
            </a:extLst>
          </a:blip>
          <a:srcRect/>
          <a:stretch/>
        </p:blipFill>
        <p:spPr>
          <a:xfrm>
            <a:off x="2726108" y="2485773"/>
            <a:ext cx="243840" cy="243840"/>
          </a:xfrm>
          <a:prstGeom prst="rect">
            <a:avLst/>
          </a:prstGeom>
        </p:spPr>
      </p:pic>
      <p:pic>
        <p:nvPicPr>
          <p:cNvPr id="17" name="Graphic 4">
            <a:extLst>
              <a:ext uri="{FF2B5EF4-FFF2-40B4-BE49-F238E27FC236}">
                <a16:creationId xmlns:a16="http://schemas.microsoft.com/office/drawing/2014/main" id="{ECB4FE06-D62A-085A-2725-FBBF229B9225}"/>
              </a:ext>
            </a:extLst>
          </p:cNvPr>
          <p:cNvPicPr>
            <a:picLocks noChangeAspect="1"/>
          </p:cNvPicPr>
          <p:nvPr/>
        </p:nvPicPr>
        <p:blipFill>
          <a:blip r:embed="rId11" cstate="print">
            <a:extLst>
              <a:ext uri="{28A0092B-C50C-407E-A947-70E740481C1C}">
                <a14:useLocalDpi xmlns:a14="http://schemas.microsoft.com/office/drawing/2010/main"/>
              </a:ext>
            </a:extLst>
          </a:blip>
          <a:srcRect/>
          <a:stretch/>
        </p:blipFill>
        <p:spPr>
          <a:xfrm>
            <a:off x="2989247" y="4801388"/>
            <a:ext cx="243840" cy="243840"/>
          </a:xfrm>
          <a:prstGeom prst="rect">
            <a:avLst/>
          </a:prstGeom>
        </p:spPr>
      </p:pic>
      <p:pic>
        <p:nvPicPr>
          <p:cNvPr id="18" name="Graphic 4">
            <a:extLst>
              <a:ext uri="{FF2B5EF4-FFF2-40B4-BE49-F238E27FC236}">
                <a16:creationId xmlns:a16="http://schemas.microsoft.com/office/drawing/2014/main" id="{D4AFF614-67AA-EDE9-ECA2-6A00A3DC9C7E}"/>
              </a:ext>
            </a:extLst>
          </p:cNvPr>
          <p:cNvPicPr>
            <a:picLocks noChangeAspect="1"/>
          </p:cNvPicPr>
          <p:nvPr/>
        </p:nvPicPr>
        <p:blipFill>
          <a:blip r:embed="rId11" cstate="print">
            <a:extLst>
              <a:ext uri="{28A0092B-C50C-407E-A947-70E740481C1C}">
                <a14:useLocalDpi xmlns:a14="http://schemas.microsoft.com/office/drawing/2010/main"/>
              </a:ext>
            </a:extLst>
          </a:blip>
          <a:srcRect/>
          <a:stretch/>
        </p:blipFill>
        <p:spPr>
          <a:xfrm>
            <a:off x="2442835" y="4129872"/>
            <a:ext cx="243840" cy="243840"/>
          </a:xfrm>
          <a:prstGeom prst="rect">
            <a:avLst/>
          </a:prstGeom>
        </p:spPr>
      </p:pic>
      <p:pic>
        <p:nvPicPr>
          <p:cNvPr id="20" name="Graphic 4">
            <a:extLst>
              <a:ext uri="{FF2B5EF4-FFF2-40B4-BE49-F238E27FC236}">
                <a16:creationId xmlns:a16="http://schemas.microsoft.com/office/drawing/2014/main" id="{37087D94-807C-2BAF-2589-86AAAC347066}"/>
              </a:ext>
            </a:extLst>
          </p:cNvPr>
          <p:cNvPicPr>
            <a:picLocks noChangeAspect="1"/>
          </p:cNvPicPr>
          <p:nvPr/>
        </p:nvPicPr>
        <p:blipFill>
          <a:blip r:embed="rId12" cstate="print">
            <a:extLst>
              <a:ext uri="{28A0092B-C50C-407E-A947-70E740481C1C}">
                <a14:useLocalDpi xmlns:a14="http://schemas.microsoft.com/office/drawing/2010/main"/>
              </a:ext>
            </a:extLst>
          </a:blip>
          <a:srcRect/>
          <a:stretch/>
        </p:blipFill>
        <p:spPr>
          <a:xfrm>
            <a:off x="4273032" y="4828159"/>
            <a:ext cx="243840" cy="243840"/>
          </a:xfrm>
          <a:prstGeom prst="rect">
            <a:avLst/>
          </a:prstGeom>
        </p:spPr>
      </p:pic>
      <p:sp>
        <p:nvSpPr>
          <p:cNvPr id="22" name="TextBox 21">
            <a:extLst>
              <a:ext uri="{FF2B5EF4-FFF2-40B4-BE49-F238E27FC236}">
                <a16:creationId xmlns:a16="http://schemas.microsoft.com/office/drawing/2014/main" id="{C39034C8-14A1-1FA9-E662-EF83E8E09A94}"/>
              </a:ext>
            </a:extLst>
          </p:cNvPr>
          <p:cNvSpPr txBox="1"/>
          <p:nvPr/>
        </p:nvSpPr>
        <p:spPr>
          <a:xfrm>
            <a:off x="125117" y="3060721"/>
            <a:ext cx="2245124" cy="605422"/>
          </a:xfrm>
          <a:prstGeom prst="rect">
            <a:avLst/>
          </a:prstGeom>
          <a:noFill/>
        </p:spPr>
        <p:txBody>
          <a:bodyPr wrap="square" lIns="0" rtlCol="0">
            <a:spAutoFit/>
          </a:bodyPr>
          <a:lstStyle/>
          <a:p>
            <a:pPr defTabSz="1219110" fontAlgn="base"/>
            <a:r>
              <a:rPr lang="en-US" sz="1200" b="1">
                <a:solidFill>
                  <a:srgbClr val="0A2F46">
                    <a:lumMod val="75000"/>
                    <a:lumOff val="25000"/>
                  </a:srgbClr>
                </a:solidFill>
                <a:latin typeface="Arial" panose="020B0604020202020204"/>
              </a:rPr>
              <a:t>Sales Margins Planning</a:t>
            </a:r>
          </a:p>
          <a:p>
            <a:pPr defTabSz="1219110" fontAlgn="base"/>
            <a:r>
              <a:rPr lang="en-US" sz="1067">
                <a:solidFill>
                  <a:srgbClr val="0A2F46"/>
                </a:solidFill>
                <a:latin typeface="Arial" panose="020B0604020202020204"/>
              </a:rPr>
              <a:t>Model role-specific costs and   sales margins to boost profitability. </a:t>
            </a:r>
            <a:endParaRPr lang="en-US" sz="1067">
              <a:solidFill>
                <a:srgbClr val="0A2F46"/>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1C83A7EE-ECAC-B29B-6AA4-50A4DA350745}"/>
              </a:ext>
            </a:extLst>
          </p:cNvPr>
          <p:cNvSpPr txBox="1"/>
          <p:nvPr/>
        </p:nvSpPr>
        <p:spPr>
          <a:xfrm>
            <a:off x="809361" y="1956759"/>
            <a:ext cx="2245124" cy="605422"/>
          </a:xfrm>
          <a:prstGeom prst="rect">
            <a:avLst/>
          </a:prstGeom>
          <a:noFill/>
        </p:spPr>
        <p:txBody>
          <a:bodyPr wrap="square" lIns="0" rtlCol="0">
            <a:spAutoFit/>
          </a:bodyPr>
          <a:lstStyle/>
          <a:p>
            <a:pPr defTabSz="1219110" fontAlgn="base"/>
            <a:r>
              <a:rPr lang="en-US" sz="1200" b="1">
                <a:solidFill>
                  <a:srgbClr val="0A2F46">
                    <a:lumMod val="75000"/>
                    <a:lumOff val="25000"/>
                  </a:srgbClr>
                </a:solidFill>
                <a:latin typeface="Arial" panose="020B0604020202020204"/>
              </a:rPr>
              <a:t>In-Year vs Actual Plan</a:t>
            </a:r>
          </a:p>
          <a:p>
            <a:pPr defTabSz="1219110" fontAlgn="base"/>
            <a:r>
              <a:rPr lang="en-US" sz="1067">
                <a:solidFill>
                  <a:srgbClr val="0A2F46"/>
                </a:solidFill>
                <a:latin typeface="Arial" panose="020B0604020202020204"/>
              </a:rPr>
              <a:t>Lock plans, compare snapshots, and optimize coverage.</a:t>
            </a:r>
            <a:endParaRPr lang="en-US" sz="1067">
              <a:solidFill>
                <a:srgbClr val="0A2F46"/>
              </a:solidFill>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4CD6F529-3C49-E47F-DF9B-C737FB0C3ADD}"/>
              </a:ext>
            </a:extLst>
          </p:cNvPr>
          <p:cNvGrpSpPr>
            <a:grpSpLocks noChangeAspect="1"/>
          </p:cNvGrpSpPr>
          <p:nvPr/>
        </p:nvGrpSpPr>
        <p:grpSpPr>
          <a:xfrm>
            <a:off x="3019978" y="3700747"/>
            <a:ext cx="498404" cy="426720"/>
            <a:chOff x="5520216" y="3429000"/>
            <a:chExt cx="747606" cy="640080"/>
          </a:xfrm>
        </p:grpSpPr>
        <p:sp>
          <p:nvSpPr>
            <p:cNvPr id="11" name="Freeform 28">
              <a:extLst>
                <a:ext uri="{FF2B5EF4-FFF2-40B4-BE49-F238E27FC236}">
                  <a16:creationId xmlns:a16="http://schemas.microsoft.com/office/drawing/2014/main" id="{B88FC588-C5CC-7E54-E6B9-92D70FF016D9}"/>
                </a:ext>
              </a:extLst>
            </p:cNvPr>
            <p:cNvSpPr>
              <a:spLocks noChangeAspect="1"/>
            </p:cNvSpPr>
            <p:nvPr/>
          </p:nvSpPr>
          <p:spPr bwMode="gray">
            <a:xfrm>
              <a:off x="5520216" y="3429000"/>
              <a:ext cx="747606" cy="640080"/>
            </a:xfrm>
            <a:prstGeom prst="hexagon">
              <a:avLst>
                <a:gd name="adj" fmla="val 28328"/>
                <a:gd name="vf" fmla="val 115470"/>
              </a:avLst>
            </a:prstGeom>
            <a:solidFill>
              <a:schemeClr val="bg2"/>
            </a:solidFill>
            <a:ln w="57150" cap="flat">
              <a:solidFill>
                <a:srgbClr val="FF6100"/>
              </a:solidFill>
              <a:prstDash val="solid"/>
              <a:miter/>
            </a:ln>
            <a:effectLst>
              <a:outerShdw blurRad="50800" dist="38100" dir="8100000" algn="tr" rotWithShape="0">
                <a:prstClr val="black">
                  <a:alpha val="40000"/>
                </a:prstClr>
              </a:outerShdw>
            </a:effectLst>
          </p:spPr>
          <p:txBody>
            <a:bodyPr wrap="none" lIns="0" tIns="0" rIns="0" bIns="0" rtlCol="0" anchor="ctr">
              <a:noAutofit/>
            </a:bodyPr>
            <a:lstStyle/>
            <a:p>
              <a:pPr algn="ctr" defTabSz="1625358" eaLnBrk="0" fontAlgn="base" hangingPunct="0">
                <a:spcBef>
                  <a:spcPct val="0"/>
                </a:spcBef>
                <a:spcAft>
                  <a:spcPct val="0"/>
                </a:spcAft>
                <a:defRPr/>
              </a:pPr>
              <a:endParaRPr lang="en-US" sz="600" b="1" kern="0">
                <a:solidFill>
                  <a:srgbClr val="FFFFFF"/>
                </a:solidFill>
                <a:latin typeface="Arial"/>
                <a:ea typeface="Verdana" panose="020B0604030504040204" pitchFamily="34" charset="0"/>
                <a:cs typeface="Arial" panose="020B0604020202020204" pitchFamily="34" charset="0"/>
              </a:endParaRPr>
            </a:p>
          </p:txBody>
        </p:sp>
        <p:pic>
          <p:nvPicPr>
            <p:cNvPr id="12" name="Graphic 11" descr="Users with solid fill">
              <a:extLst>
                <a:ext uri="{FF2B5EF4-FFF2-40B4-BE49-F238E27FC236}">
                  <a16:creationId xmlns:a16="http://schemas.microsoft.com/office/drawing/2014/main" id="{FD2FC645-5700-0DF6-6787-DC99818C424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652019" y="3505739"/>
              <a:ext cx="484000" cy="484000"/>
            </a:xfrm>
            <a:prstGeom prst="rect">
              <a:avLst/>
            </a:prstGeom>
          </p:spPr>
        </p:pic>
        <p:sp>
          <p:nvSpPr>
            <p:cNvPr id="13" name="Oval 12">
              <a:extLst>
                <a:ext uri="{FF2B5EF4-FFF2-40B4-BE49-F238E27FC236}">
                  <a16:creationId xmlns:a16="http://schemas.microsoft.com/office/drawing/2014/main" id="{8F7289D4-86D7-CDD8-DF36-69253B8CE895}"/>
                </a:ext>
              </a:extLst>
            </p:cNvPr>
            <p:cNvSpPr/>
            <p:nvPr/>
          </p:nvSpPr>
          <p:spPr>
            <a:xfrm>
              <a:off x="5844270" y="3680167"/>
              <a:ext cx="98425" cy="98425"/>
            </a:xfrm>
            <a:prstGeom prst="ellips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600" err="1">
                <a:solidFill>
                  <a:srgbClr val="FFFFFF"/>
                </a:solidFill>
                <a:latin typeface="Verdana" charset="0"/>
                <a:ea typeface="Verdana" charset="0"/>
                <a:cs typeface="Verdana" charset="0"/>
              </a:endParaRPr>
            </a:p>
          </p:txBody>
        </p:sp>
      </p:grpSp>
    </p:spTree>
    <p:extLst>
      <p:ext uri="{BB962C8B-B14F-4D97-AF65-F5344CB8AC3E}">
        <p14:creationId xmlns:p14="http://schemas.microsoft.com/office/powerpoint/2010/main" val="695846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9F815-7CC1-EA62-F067-9A19CFB2F4EC}"/>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847993BB-4252-2102-91EB-5BC45A81C97E}"/>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4A443EE0-6A9A-B8B5-0737-37D3E1971E0C}"/>
              </a:ext>
            </a:extLst>
          </p:cNvPr>
          <p:cNvSpPr txBox="1"/>
          <p:nvPr/>
        </p:nvSpPr>
        <p:spPr>
          <a:xfrm>
            <a:off x="668775" y="2403435"/>
            <a:ext cx="4389120" cy="2534605"/>
          </a:xfrm>
          <a:prstGeom prst="rect">
            <a:avLst/>
          </a:prstGeom>
          <a:noFill/>
        </p:spPr>
        <p:txBody>
          <a:bodyPr wrap="square" rtlCol="0">
            <a:spAutoFit/>
          </a:bodyPr>
          <a:lstStyle/>
          <a:p>
            <a:pPr marL="228594" indent="-228594" defTabSz="1219170">
              <a:spcBef>
                <a:spcPts val="800"/>
              </a:spcBef>
              <a:buFont typeface="Wingdings" pitchFamily="2" charset="2"/>
              <a:buChar char="ü"/>
            </a:pPr>
            <a:r>
              <a:rPr lang="en-US" sz="1467" b="1">
                <a:solidFill>
                  <a:srgbClr val="F2F1EE"/>
                </a:solidFill>
                <a:latin typeface="Arial" panose="020B0604020202020204"/>
              </a:rPr>
              <a:t>Real-time visibility into HC by sales hierarchy level</a:t>
            </a:r>
            <a:endParaRPr lang="en-US" sz="1467">
              <a:solidFill>
                <a:srgbClr val="F2F1EE"/>
              </a:solidFill>
              <a:latin typeface="Arial" panose="020B0604020202020204"/>
            </a:endParaRPr>
          </a:p>
          <a:p>
            <a:pPr marL="228594" indent="-228594" defTabSz="1219170">
              <a:spcBef>
                <a:spcPts val="800"/>
              </a:spcBef>
              <a:buFont typeface="Wingdings" pitchFamily="2" charset="2"/>
              <a:buChar char="ü"/>
            </a:pPr>
            <a:r>
              <a:rPr lang="en-US" sz="1467" b="1">
                <a:solidFill>
                  <a:srgbClr val="F2F1EE"/>
                </a:solidFill>
                <a:latin typeface="Arial" panose="020B0604020202020204"/>
              </a:rPr>
              <a:t>Report FTEs </a:t>
            </a:r>
            <a:r>
              <a:rPr lang="en-US" sz="1467">
                <a:solidFill>
                  <a:srgbClr val="F2F1EE"/>
                </a:solidFill>
                <a:latin typeface="Arial" panose="020B0604020202020204"/>
              </a:rPr>
              <a:t>by role, region, and month</a:t>
            </a:r>
          </a:p>
          <a:p>
            <a:pPr marL="228594" indent="-228594" defTabSz="1219170">
              <a:spcBef>
                <a:spcPts val="800"/>
              </a:spcBef>
              <a:buFont typeface="Wingdings" pitchFamily="2" charset="2"/>
              <a:buChar char="ü"/>
            </a:pPr>
            <a:r>
              <a:rPr lang="en-US" sz="1467" b="1">
                <a:solidFill>
                  <a:srgbClr val="F2F1EE"/>
                </a:solidFill>
                <a:latin typeface="Arial" panose="020B0604020202020204"/>
              </a:rPr>
              <a:t>Model ramp assumptions </a:t>
            </a:r>
            <a:r>
              <a:rPr lang="en-US" sz="1467">
                <a:solidFill>
                  <a:srgbClr val="F2F1EE"/>
                </a:solidFill>
                <a:latin typeface="Arial" panose="020B0604020202020204"/>
              </a:rPr>
              <a:t>to project future coverage</a:t>
            </a:r>
          </a:p>
          <a:p>
            <a:pPr marL="228594" indent="-228594" defTabSz="1219170">
              <a:spcBef>
                <a:spcPts val="800"/>
              </a:spcBef>
              <a:buFont typeface="Wingdings" pitchFamily="2" charset="2"/>
              <a:buChar char="ü"/>
            </a:pPr>
            <a:r>
              <a:rPr lang="en-US" sz="1467">
                <a:solidFill>
                  <a:srgbClr val="F2F1EE"/>
                </a:solidFill>
                <a:latin typeface="Arial" panose="020B0604020202020204"/>
              </a:rPr>
              <a:t>Drill into </a:t>
            </a:r>
            <a:r>
              <a:rPr lang="en-US" sz="1467" b="1">
                <a:solidFill>
                  <a:srgbClr val="F2F1EE"/>
                </a:solidFill>
                <a:latin typeface="Arial" panose="020B0604020202020204"/>
              </a:rPr>
              <a:t>employee-level details </a:t>
            </a:r>
            <a:r>
              <a:rPr lang="en-US" sz="1467">
                <a:solidFill>
                  <a:srgbClr val="F2F1EE"/>
                </a:solidFill>
                <a:latin typeface="Arial" panose="020B0604020202020204"/>
              </a:rPr>
              <a:t>by role and org</a:t>
            </a:r>
          </a:p>
          <a:p>
            <a:pPr marL="228594" indent="-228594" defTabSz="1219170">
              <a:spcBef>
                <a:spcPts val="800"/>
              </a:spcBef>
              <a:buFont typeface="Wingdings" pitchFamily="2" charset="2"/>
              <a:buChar char="ü"/>
            </a:pPr>
            <a:r>
              <a:rPr lang="en-US" sz="1467">
                <a:solidFill>
                  <a:srgbClr val="F2F1EE"/>
                </a:solidFill>
                <a:latin typeface="Arial" panose="020B0604020202020204"/>
              </a:rPr>
              <a:t>Track historical </a:t>
            </a:r>
            <a:r>
              <a:rPr lang="en-US" sz="1467" b="1">
                <a:solidFill>
                  <a:srgbClr val="F2F1EE"/>
                </a:solidFill>
                <a:latin typeface="Arial" panose="020B0604020202020204"/>
              </a:rPr>
              <a:t>role assignments </a:t>
            </a:r>
            <a:r>
              <a:rPr lang="en-US" sz="1467">
                <a:solidFill>
                  <a:srgbClr val="0A2F46"/>
                </a:solidFill>
                <a:latin typeface="Arial" panose="020B0604020202020204"/>
              </a:rPr>
              <a:t>month by month</a:t>
            </a:r>
          </a:p>
        </p:txBody>
      </p:sp>
      <p:pic>
        <p:nvPicPr>
          <p:cNvPr id="2" name="Picture 1">
            <a:extLst>
              <a:ext uri="{FF2B5EF4-FFF2-40B4-BE49-F238E27FC236}">
                <a16:creationId xmlns:a16="http://schemas.microsoft.com/office/drawing/2014/main" id="{E6C0FD26-457A-2DAB-EB80-BA7E3B37AAA8}"/>
              </a:ext>
            </a:extLst>
          </p:cNvPr>
          <p:cNvPicPr>
            <a:picLocks noChangeAspect="1"/>
          </p:cNvPicPr>
          <p:nvPr/>
        </p:nvPicPr>
        <p:blipFill>
          <a:blip r:embed="rId3"/>
          <a:stretch>
            <a:fillRect/>
          </a:stretch>
        </p:blipFill>
        <p:spPr>
          <a:xfrm>
            <a:off x="5624382" y="1392978"/>
            <a:ext cx="6002868" cy="2734460"/>
          </a:xfrm>
          <a:prstGeom prst="rect">
            <a:avLst/>
          </a:prstGeom>
          <a:ln>
            <a:solidFill>
              <a:schemeClr val="tx2"/>
            </a:solidFill>
          </a:ln>
          <a:effectLst>
            <a:outerShdw blurRad="63500" sx="102000" sy="102000" algn="ctr" rotWithShape="0">
              <a:prstClr val="black">
                <a:alpha val="40000"/>
              </a:prstClr>
            </a:outerShdw>
          </a:effectLst>
        </p:spPr>
      </p:pic>
      <p:pic>
        <p:nvPicPr>
          <p:cNvPr id="17" name="Picture 16">
            <a:extLst>
              <a:ext uri="{FF2B5EF4-FFF2-40B4-BE49-F238E27FC236}">
                <a16:creationId xmlns:a16="http://schemas.microsoft.com/office/drawing/2014/main" id="{8EFCCAF5-1D5E-BB80-9518-C2164C6B2511}"/>
              </a:ext>
            </a:extLst>
          </p:cNvPr>
          <p:cNvPicPr>
            <a:picLocks noChangeAspect="1"/>
          </p:cNvPicPr>
          <p:nvPr/>
        </p:nvPicPr>
        <p:blipFill>
          <a:blip r:embed="rId4"/>
          <a:stretch>
            <a:fillRect/>
          </a:stretch>
        </p:blipFill>
        <p:spPr>
          <a:xfrm>
            <a:off x="6759369" y="3428999"/>
            <a:ext cx="5193807" cy="2734460"/>
          </a:xfrm>
          <a:prstGeom prst="rect">
            <a:avLst/>
          </a:prstGeom>
          <a:ln>
            <a:solidFill>
              <a:schemeClr val="tx2"/>
            </a:solidFill>
          </a:ln>
          <a:effectLst>
            <a:outerShdw blurRad="63500" sx="102000" sy="102000" algn="ctr" rotWithShape="0">
              <a:prstClr val="black">
                <a:alpha val="40000"/>
              </a:prstClr>
            </a:outerShdw>
          </a:effectLst>
        </p:spPr>
      </p:pic>
      <p:sp>
        <p:nvSpPr>
          <p:cNvPr id="20" name="Title 1">
            <a:extLst>
              <a:ext uri="{FF2B5EF4-FFF2-40B4-BE49-F238E27FC236}">
                <a16:creationId xmlns:a16="http://schemas.microsoft.com/office/drawing/2014/main" id="{F0DD86C9-C719-F93F-CC78-70B3527252BF}"/>
              </a:ext>
            </a:extLst>
          </p:cNvPr>
          <p:cNvSpPr>
            <a:spLocks noGrp="1"/>
          </p:cNvSpPr>
          <p:nvPr>
            <p:ph type="title"/>
          </p:nvPr>
        </p:nvSpPr>
        <p:spPr/>
        <p:txBody>
          <a:bodyPr/>
          <a:lstStyle/>
          <a:p>
            <a:r>
              <a:rPr lang="en-US"/>
              <a:t>GTM Capacity Planning Application</a:t>
            </a:r>
          </a:p>
        </p:txBody>
      </p:sp>
      <p:grpSp>
        <p:nvGrpSpPr>
          <p:cNvPr id="13" name="Group 12">
            <a:extLst>
              <a:ext uri="{FF2B5EF4-FFF2-40B4-BE49-F238E27FC236}">
                <a16:creationId xmlns:a16="http://schemas.microsoft.com/office/drawing/2014/main" id="{7591B47B-3248-EC09-5A9F-74400BDBCA1E}"/>
              </a:ext>
            </a:extLst>
          </p:cNvPr>
          <p:cNvGrpSpPr/>
          <p:nvPr/>
        </p:nvGrpSpPr>
        <p:grpSpPr>
          <a:xfrm>
            <a:off x="201799" y="6299912"/>
            <a:ext cx="484000" cy="484000"/>
            <a:chOff x="7649095" y="416458"/>
            <a:chExt cx="363000" cy="363000"/>
          </a:xfrm>
        </p:grpSpPr>
        <p:pic>
          <p:nvPicPr>
            <p:cNvPr id="11" name="Graphic 10" descr="Users with solid fill">
              <a:extLst>
                <a:ext uri="{FF2B5EF4-FFF2-40B4-BE49-F238E27FC236}">
                  <a16:creationId xmlns:a16="http://schemas.microsoft.com/office/drawing/2014/main" id="{507E730B-6C56-D4A9-B448-063143C67E8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49095" y="416458"/>
              <a:ext cx="363000" cy="363000"/>
            </a:xfrm>
            <a:prstGeom prst="rect">
              <a:avLst/>
            </a:prstGeom>
          </p:spPr>
        </p:pic>
        <p:sp>
          <p:nvSpPr>
            <p:cNvPr id="12" name="Oval 11">
              <a:extLst>
                <a:ext uri="{FF2B5EF4-FFF2-40B4-BE49-F238E27FC236}">
                  <a16:creationId xmlns:a16="http://schemas.microsoft.com/office/drawing/2014/main" id="{F6A7E647-ACDF-CFB5-80DB-7D12AE65CCC0}"/>
                </a:ext>
              </a:extLst>
            </p:cNvPr>
            <p:cNvSpPr/>
            <p:nvPr/>
          </p:nvSpPr>
          <p:spPr>
            <a:xfrm>
              <a:off x="7793284" y="547279"/>
              <a:ext cx="73819" cy="73819"/>
            </a:xfrm>
            <a:prstGeom prst="ellips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600" err="1">
                <a:solidFill>
                  <a:srgbClr val="FFFFFF"/>
                </a:solidFill>
                <a:latin typeface="Verdana" charset="0"/>
                <a:ea typeface="Verdana" charset="0"/>
                <a:cs typeface="Verdana" charset="0"/>
              </a:endParaRPr>
            </a:p>
          </p:txBody>
        </p:sp>
      </p:grpSp>
      <p:cxnSp>
        <p:nvCxnSpPr>
          <p:cNvPr id="4" name="Straight Connector 3">
            <a:extLst>
              <a:ext uri="{FF2B5EF4-FFF2-40B4-BE49-F238E27FC236}">
                <a16:creationId xmlns:a16="http://schemas.microsoft.com/office/drawing/2014/main" id="{0C57C31B-C9FE-56AC-41C4-9BD61660606C}"/>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03A2D4D-8296-72A8-EBA3-3FB04C8FF6C3}"/>
              </a:ext>
            </a:extLst>
          </p:cNvPr>
          <p:cNvSpPr txBox="1"/>
          <p:nvPr/>
        </p:nvSpPr>
        <p:spPr>
          <a:xfrm>
            <a:off x="668775" y="1414272"/>
            <a:ext cx="4389120" cy="379656"/>
          </a:xfrm>
          <a:prstGeom prst="rect">
            <a:avLst/>
          </a:prstGeom>
          <a:noFill/>
        </p:spPr>
        <p:txBody>
          <a:bodyPr wrap="square" lIns="0" rtlCol="0">
            <a:spAutoFit/>
          </a:bodyPr>
          <a:lstStyle/>
          <a:p>
            <a:pPr algn="ctr" defTabSz="1219170">
              <a:spcAft>
                <a:spcPts val="1067"/>
              </a:spcAft>
            </a:pPr>
            <a:r>
              <a:rPr lang="en-US" sz="1867">
                <a:solidFill>
                  <a:srgbClr val="F2F1EE"/>
                </a:solidFill>
                <a:latin typeface="Arial" panose="020B0604020202020204"/>
              </a:rPr>
              <a:t>Headcount &amp; FTE Reporting</a:t>
            </a:r>
          </a:p>
        </p:txBody>
      </p:sp>
    </p:spTree>
    <p:extLst>
      <p:ext uri="{BB962C8B-B14F-4D97-AF65-F5344CB8AC3E}">
        <p14:creationId xmlns:p14="http://schemas.microsoft.com/office/powerpoint/2010/main" val="1545454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602D6-572B-5165-F189-A793230F4972}"/>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124FE718-CE88-845A-458C-AADEC748C96B}"/>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F0667B19-AF4C-B3A2-2402-39995D185705}"/>
              </a:ext>
            </a:extLst>
          </p:cNvPr>
          <p:cNvSpPr txBox="1"/>
          <p:nvPr/>
        </p:nvSpPr>
        <p:spPr>
          <a:xfrm>
            <a:off x="668775" y="2700596"/>
            <a:ext cx="4389120" cy="1426353"/>
          </a:xfrm>
          <a:prstGeom prst="rect">
            <a:avLst/>
          </a:prstGeom>
          <a:noFill/>
        </p:spPr>
        <p:txBody>
          <a:bodyPr wrap="square" rtlCol="0">
            <a:spAutoFit/>
          </a:bodyPr>
          <a:lstStyle/>
          <a:p>
            <a:pPr marL="228594" indent="-228594" defTabSz="1219170">
              <a:spcBef>
                <a:spcPts val="800"/>
              </a:spcBef>
              <a:buFont typeface="Wingdings" pitchFamily="2" charset="2"/>
              <a:buChar char="ü"/>
            </a:pPr>
            <a:r>
              <a:rPr lang="en-US" sz="1467">
                <a:solidFill>
                  <a:srgbClr val="F2F1EE"/>
                </a:solidFill>
                <a:latin typeface="Arial" panose="020B0604020202020204"/>
              </a:rPr>
              <a:t>Analyze</a:t>
            </a:r>
            <a:r>
              <a:rPr lang="en-US" sz="1467" b="1">
                <a:solidFill>
                  <a:srgbClr val="F2F1EE"/>
                </a:solidFill>
                <a:latin typeface="Arial" panose="020B0604020202020204"/>
              </a:rPr>
              <a:t> average performance metrics </a:t>
            </a:r>
            <a:r>
              <a:rPr lang="en-US" sz="1467">
                <a:solidFill>
                  <a:srgbClr val="F2F1EE"/>
                </a:solidFill>
                <a:latin typeface="Arial" panose="020B0604020202020204"/>
              </a:rPr>
              <a:t>by role across your org</a:t>
            </a:r>
          </a:p>
          <a:p>
            <a:pPr marL="228594" indent="-228594" defTabSz="1219170">
              <a:spcBef>
                <a:spcPts val="800"/>
              </a:spcBef>
              <a:buFont typeface="Wingdings" pitchFamily="2" charset="2"/>
              <a:buChar char="ü"/>
            </a:pPr>
            <a:r>
              <a:rPr lang="en-US" sz="1467">
                <a:solidFill>
                  <a:srgbClr val="F2F1EE"/>
                </a:solidFill>
                <a:latin typeface="Arial" panose="020B0604020202020204"/>
              </a:rPr>
              <a:t>Evaluate</a:t>
            </a:r>
            <a:r>
              <a:rPr lang="en-US" sz="1467" b="1">
                <a:solidFill>
                  <a:srgbClr val="F2F1EE"/>
                </a:solidFill>
                <a:latin typeface="Arial" panose="020B0604020202020204"/>
              </a:rPr>
              <a:t> productivity uplift </a:t>
            </a:r>
          </a:p>
          <a:p>
            <a:pPr marL="228594" indent="-228594" defTabSz="1219170">
              <a:spcBef>
                <a:spcPts val="800"/>
              </a:spcBef>
              <a:buFont typeface="Wingdings" pitchFamily="2" charset="2"/>
              <a:buChar char="ü"/>
            </a:pPr>
            <a:r>
              <a:rPr lang="en-US" sz="1467">
                <a:solidFill>
                  <a:srgbClr val="F2F1EE"/>
                </a:solidFill>
                <a:latin typeface="Arial" panose="020B0604020202020204"/>
              </a:rPr>
              <a:t>Break down </a:t>
            </a:r>
            <a:r>
              <a:rPr lang="en-US" sz="1467" b="1">
                <a:solidFill>
                  <a:srgbClr val="F2F1EE"/>
                </a:solidFill>
                <a:latin typeface="Arial" panose="020B0604020202020204"/>
              </a:rPr>
              <a:t>role performance</a:t>
            </a:r>
            <a:r>
              <a:rPr lang="en-US" sz="1467">
                <a:solidFill>
                  <a:srgbClr val="F2F1EE"/>
                </a:solidFill>
                <a:latin typeface="Arial" panose="020B0604020202020204"/>
              </a:rPr>
              <a:t> by segment, industry, tenure, and more</a:t>
            </a:r>
          </a:p>
        </p:txBody>
      </p:sp>
      <p:pic>
        <p:nvPicPr>
          <p:cNvPr id="17" name="Picture 16">
            <a:extLst>
              <a:ext uri="{FF2B5EF4-FFF2-40B4-BE49-F238E27FC236}">
                <a16:creationId xmlns:a16="http://schemas.microsoft.com/office/drawing/2014/main" id="{EF07EB42-8C4F-4D29-BBF1-BBEB7811A793}"/>
              </a:ext>
            </a:extLst>
          </p:cNvPr>
          <p:cNvPicPr>
            <a:picLocks noChangeAspect="1"/>
          </p:cNvPicPr>
          <p:nvPr/>
        </p:nvPicPr>
        <p:blipFill>
          <a:blip r:embed="rId3"/>
          <a:stretch>
            <a:fillRect/>
          </a:stretch>
        </p:blipFill>
        <p:spPr>
          <a:xfrm>
            <a:off x="5829048" y="1823145"/>
            <a:ext cx="6022353" cy="3454143"/>
          </a:xfrm>
          <a:prstGeom prst="rect">
            <a:avLst/>
          </a:prstGeom>
          <a:ln>
            <a:solidFill>
              <a:schemeClr val="tx2"/>
            </a:solidFill>
          </a:ln>
          <a:effectLst>
            <a:outerShdw blurRad="63500" sx="102000" sy="102000" algn="ctr" rotWithShape="0">
              <a:prstClr val="black">
                <a:alpha val="40000"/>
              </a:prstClr>
            </a:outerShdw>
          </a:effectLst>
        </p:spPr>
      </p:pic>
      <p:sp>
        <p:nvSpPr>
          <p:cNvPr id="6" name="Title 1">
            <a:extLst>
              <a:ext uri="{FF2B5EF4-FFF2-40B4-BE49-F238E27FC236}">
                <a16:creationId xmlns:a16="http://schemas.microsoft.com/office/drawing/2014/main" id="{1E07CDCB-7204-D5F2-BC91-FE5130FE442B}"/>
              </a:ext>
            </a:extLst>
          </p:cNvPr>
          <p:cNvSpPr>
            <a:spLocks noGrp="1"/>
          </p:cNvSpPr>
          <p:nvPr>
            <p:ph type="title"/>
          </p:nvPr>
        </p:nvSpPr>
        <p:spPr>
          <a:xfrm>
            <a:off x="558801" y="392854"/>
            <a:ext cx="10871201" cy="451405"/>
          </a:xfrm>
        </p:spPr>
        <p:txBody>
          <a:bodyPr/>
          <a:lstStyle/>
          <a:p>
            <a:r>
              <a:rPr lang="en-US"/>
              <a:t>GTM Capacity Planning Application</a:t>
            </a:r>
          </a:p>
        </p:txBody>
      </p:sp>
      <p:grpSp>
        <p:nvGrpSpPr>
          <p:cNvPr id="2" name="Group 1">
            <a:extLst>
              <a:ext uri="{FF2B5EF4-FFF2-40B4-BE49-F238E27FC236}">
                <a16:creationId xmlns:a16="http://schemas.microsoft.com/office/drawing/2014/main" id="{CA4A85B9-3DAC-5BBF-B2B8-8EF457AFFA7E}"/>
              </a:ext>
            </a:extLst>
          </p:cNvPr>
          <p:cNvGrpSpPr/>
          <p:nvPr/>
        </p:nvGrpSpPr>
        <p:grpSpPr>
          <a:xfrm>
            <a:off x="201799" y="6299912"/>
            <a:ext cx="484000" cy="484000"/>
            <a:chOff x="7649095" y="416458"/>
            <a:chExt cx="363000" cy="363000"/>
          </a:xfrm>
        </p:grpSpPr>
        <p:pic>
          <p:nvPicPr>
            <p:cNvPr id="3" name="Graphic 2" descr="Users with solid fill">
              <a:extLst>
                <a:ext uri="{FF2B5EF4-FFF2-40B4-BE49-F238E27FC236}">
                  <a16:creationId xmlns:a16="http://schemas.microsoft.com/office/drawing/2014/main" id="{B82F2244-1011-C303-6570-72AC0F4056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49095" y="416458"/>
              <a:ext cx="363000" cy="363000"/>
            </a:xfrm>
            <a:prstGeom prst="rect">
              <a:avLst/>
            </a:prstGeom>
          </p:spPr>
        </p:pic>
        <p:sp>
          <p:nvSpPr>
            <p:cNvPr id="4" name="Oval 3">
              <a:extLst>
                <a:ext uri="{FF2B5EF4-FFF2-40B4-BE49-F238E27FC236}">
                  <a16:creationId xmlns:a16="http://schemas.microsoft.com/office/drawing/2014/main" id="{13126553-FB76-DD90-AC38-08821C3C2573}"/>
                </a:ext>
              </a:extLst>
            </p:cNvPr>
            <p:cNvSpPr/>
            <p:nvPr/>
          </p:nvSpPr>
          <p:spPr>
            <a:xfrm>
              <a:off x="7793284" y="547279"/>
              <a:ext cx="73819" cy="73819"/>
            </a:xfrm>
            <a:prstGeom prst="ellips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600" err="1">
                <a:solidFill>
                  <a:srgbClr val="FFFFFF"/>
                </a:solidFill>
                <a:latin typeface="Verdana" charset="0"/>
                <a:ea typeface="Verdana" charset="0"/>
                <a:cs typeface="Verdana" charset="0"/>
              </a:endParaRPr>
            </a:p>
          </p:txBody>
        </p:sp>
      </p:grpSp>
      <p:cxnSp>
        <p:nvCxnSpPr>
          <p:cNvPr id="8" name="Straight Connector 7">
            <a:extLst>
              <a:ext uri="{FF2B5EF4-FFF2-40B4-BE49-F238E27FC236}">
                <a16:creationId xmlns:a16="http://schemas.microsoft.com/office/drawing/2014/main" id="{A947C8AD-61B6-2D91-B893-94A16FA4FD19}"/>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0AB406A-0D1F-8DAB-54E9-359C330D13F6}"/>
              </a:ext>
            </a:extLst>
          </p:cNvPr>
          <p:cNvSpPr txBox="1"/>
          <p:nvPr/>
        </p:nvSpPr>
        <p:spPr>
          <a:xfrm>
            <a:off x="668775" y="1414272"/>
            <a:ext cx="4389120" cy="359009"/>
          </a:xfrm>
          <a:prstGeom prst="rect">
            <a:avLst/>
          </a:prstGeom>
          <a:noFill/>
        </p:spPr>
        <p:txBody>
          <a:bodyPr wrap="square" lIns="0" rtlCol="0">
            <a:spAutoFit/>
          </a:bodyPr>
          <a:lstStyle/>
          <a:p>
            <a:pPr algn="ctr" defTabSz="1219170">
              <a:spcAft>
                <a:spcPts val="1067"/>
              </a:spcAft>
            </a:pPr>
            <a:r>
              <a:rPr lang="en-US" sz="1733">
                <a:solidFill>
                  <a:srgbClr val="F2F1EE"/>
                </a:solidFill>
                <a:latin typeface="Arial" panose="020B0604020202020204"/>
              </a:rPr>
              <a:t>Role-Based Performance &amp; Productivity</a:t>
            </a:r>
          </a:p>
        </p:txBody>
      </p:sp>
    </p:spTree>
    <p:extLst>
      <p:ext uri="{BB962C8B-B14F-4D97-AF65-F5344CB8AC3E}">
        <p14:creationId xmlns:p14="http://schemas.microsoft.com/office/powerpoint/2010/main" val="202797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EA7F-0A6B-6EF3-E1D9-67E3C38843A3}"/>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E833E0F1-981B-B5E0-170A-9025AE0D4F81}"/>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FCF1540D-670B-42BC-9749-7CB46BA5D1EB}"/>
              </a:ext>
            </a:extLst>
          </p:cNvPr>
          <p:cNvSpPr txBox="1"/>
          <p:nvPr/>
        </p:nvSpPr>
        <p:spPr>
          <a:xfrm>
            <a:off x="670560" y="2336523"/>
            <a:ext cx="4389120" cy="2760371"/>
          </a:xfrm>
          <a:prstGeom prst="rect">
            <a:avLst/>
          </a:prstGeom>
          <a:noFill/>
        </p:spPr>
        <p:txBody>
          <a:bodyPr wrap="square" rtlCol="0">
            <a:spAutoFit/>
          </a:bodyPr>
          <a:lstStyle/>
          <a:p>
            <a:pPr marL="228594" indent="-228594" defTabSz="1219170">
              <a:spcBef>
                <a:spcPts val="800"/>
              </a:spcBef>
              <a:buFont typeface="Wingdings" pitchFamily="2" charset="2"/>
              <a:buChar char="ü"/>
            </a:pPr>
            <a:r>
              <a:rPr lang="en-US" sz="1467" b="1">
                <a:solidFill>
                  <a:srgbClr val="F2F1EE"/>
                </a:solidFill>
                <a:latin typeface="Arial" panose="020B0604020202020204"/>
              </a:rPr>
              <a:t>Identify headcount gaps</a:t>
            </a:r>
            <a:r>
              <a:rPr lang="en-US" sz="1467">
                <a:solidFill>
                  <a:srgbClr val="F2F1EE"/>
                </a:solidFill>
                <a:latin typeface="Arial" panose="020B0604020202020204"/>
              </a:rPr>
              <a:t> across roles, regions, and segments</a:t>
            </a:r>
          </a:p>
          <a:p>
            <a:pPr marL="228594" indent="-228594" defTabSz="1219170">
              <a:spcBef>
                <a:spcPts val="800"/>
              </a:spcBef>
              <a:buFont typeface="Wingdings" pitchFamily="2" charset="2"/>
              <a:buChar char="ü"/>
            </a:pPr>
            <a:r>
              <a:rPr lang="en-US" sz="1467" b="1">
                <a:solidFill>
                  <a:srgbClr val="F2F1EE"/>
                </a:solidFill>
                <a:latin typeface="Arial" panose="020B0604020202020204"/>
              </a:rPr>
              <a:t>Use ratio driven recommendations </a:t>
            </a:r>
            <a:r>
              <a:rPr lang="en-US" sz="1467">
                <a:solidFill>
                  <a:srgbClr val="F2F1EE"/>
                </a:solidFill>
                <a:latin typeface="Arial" panose="020B0604020202020204"/>
              </a:rPr>
              <a:t>for direct, overlay, and support role coverage</a:t>
            </a:r>
          </a:p>
          <a:p>
            <a:pPr marL="228594" indent="-228594" defTabSz="1219170">
              <a:spcBef>
                <a:spcPts val="800"/>
              </a:spcBef>
              <a:buFont typeface="Wingdings" pitchFamily="2" charset="2"/>
              <a:buChar char="ü"/>
            </a:pPr>
            <a:r>
              <a:rPr lang="en-US" sz="1467" b="1">
                <a:solidFill>
                  <a:srgbClr val="F2F1EE"/>
                </a:solidFill>
                <a:latin typeface="Arial" panose="020B0604020202020204"/>
              </a:rPr>
              <a:t>Allocate resources </a:t>
            </a:r>
            <a:r>
              <a:rPr lang="en-US" sz="1467">
                <a:solidFill>
                  <a:srgbClr val="F2F1EE"/>
                </a:solidFill>
                <a:latin typeface="Arial" panose="020B0604020202020204"/>
              </a:rPr>
              <a:t>with role-to-role and role-to-account assumptions</a:t>
            </a:r>
          </a:p>
          <a:p>
            <a:pPr marL="228594" indent="-228594" defTabSz="1219170">
              <a:spcBef>
                <a:spcPts val="800"/>
              </a:spcBef>
              <a:buFont typeface="Wingdings" pitchFamily="2" charset="2"/>
              <a:buChar char="ü"/>
            </a:pPr>
            <a:r>
              <a:rPr lang="en-US" sz="1467" b="1">
                <a:solidFill>
                  <a:srgbClr val="F2F1EE"/>
                </a:solidFill>
                <a:latin typeface="Arial" panose="020B0604020202020204"/>
              </a:rPr>
              <a:t>Incorporate time-based coverage models </a:t>
            </a:r>
            <a:r>
              <a:rPr lang="en-US" sz="1467">
                <a:solidFill>
                  <a:srgbClr val="F2F1EE"/>
                </a:solidFill>
                <a:latin typeface="Arial" panose="020B0604020202020204"/>
              </a:rPr>
              <a:t>(e.g., CSM best practices)</a:t>
            </a:r>
          </a:p>
          <a:p>
            <a:pPr marL="228594" indent="-228594" defTabSz="1219170">
              <a:spcBef>
                <a:spcPts val="800"/>
              </a:spcBef>
              <a:buFont typeface="Wingdings" pitchFamily="2" charset="2"/>
              <a:buChar char="ü"/>
            </a:pPr>
            <a:r>
              <a:rPr lang="en-US" sz="1467">
                <a:solidFill>
                  <a:srgbClr val="F2F1EE"/>
                </a:solidFill>
                <a:latin typeface="Arial" panose="020B0604020202020204"/>
              </a:rPr>
              <a:t>See real-time segmentation impact on </a:t>
            </a:r>
            <a:r>
              <a:rPr lang="en-US" sz="1467" b="1">
                <a:solidFill>
                  <a:srgbClr val="F2F1EE"/>
                </a:solidFill>
                <a:latin typeface="Arial" panose="020B0604020202020204"/>
              </a:rPr>
              <a:t>capacity and coverage gaps</a:t>
            </a:r>
            <a:endParaRPr lang="en-US" sz="1467">
              <a:solidFill>
                <a:srgbClr val="F2F1EE"/>
              </a:solidFill>
              <a:latin typeface="Arial" panose="020B0604020202020204"/>
            </a:endParaRPr>
          </a:p>
        </p:txBody>
      </p:sp>
      <p:pic>
        <p:nvPicPr>
          <p:cNvPr id="7" name="Picture 6">
            <a:extLst>
              <a:ext uri="{FF2B5EF4-FFF2-40B4-BE49-F238E27FC236}">
                <a16:creationId xmlns:a16="http://schemas.microsoft.com/office/drawing/2014/main" id="{21CC86CC-C7A4-4890-14F8-06561C627F19}"/>
              </a:ext>
            </a:extLst>
          </p:cNvPr>
          <p:cNvPicPr>
            <a:picLocks noChangeAspect="1"/>
          </p:cNvPicPr>
          <p:nvPr/>
        </p:nvPicPr>
        <p:blipFill>
          <a:blip r:embed="rId3"/>
          <a:stretch>
            <a:fillRect/>
          </a:stretch>
        </p:blipFill>
        <p:spPr>
          <a:xfrm>
            <a:off x="5800826" y="1221888"/>
            <a:ext cx="5478197" cy="2801400"/>
          </a:xfrm>
          <a:prstGeom prst="rect">
            <a:avLst/>
          </a:prstGeom>
          <a:ln>
            <a:solidFill>
              <a:schemeClr val="tx2"/>
            </a:solidFill>
          </a:ln>
          <a:effectLst>
            <a:outerShdw blurRad="63500" sx="102000" sy="102000" algn="ctr" rotWithShape="0">
              <a:prstClr val="black">
                <a:alpha val="40000"/>
              </a:prstClr>
            </a:outerShdw>
          </a:effectLst>
        </p:spPr>
      </p:pic>
      <p:pic>
        <p:nvPicPr>
          <p:cNvPr id="17" name="Picture 16">
            <a:extLst>
              <a:ext uri="{FF2B5EF4-FFF2-40B4-BE49-F238E27FC236}">
                <a16:creationId xmlns:a16="http://schemas.microsoft.com/office/drawing/2014/main" id="{F156B368-CB42-F8E1-6AC1-A0BFBCCE8ABC}"/>
              </a:ext>
            </a:extLst>
          </p:cNvPr>
          <p:cNvPicPr>
            <a:picLocks noChangeAspect="1"/>
          </p:cNvPicPr>
          <p:nvPr/>
        </p:nvPicPr>
        <p:blipFill>
          <a:blip r:embed="rId4"/>
          <a:stretch>
            <a:fillRect/>
          </a:stretch>
        </p:blipFill>
        <p:spPr>
          <a:xfrm>
            <a:off x="7220543" y="3429000"/>
            <a:ext cx="4715856" cy="2411877"/>
          </a:xfrm>
          <a:prstGeom prst="rect">
            <a:avLst/>
          </a:prstGeom>
          <a:ln>
            <a:solidFill>
              <a:schemeClr val="tx2"/>
            </a:solidFill>
          </a:ln>
          <a:effectLst>
            <a:outerShdw blurRad="63500" sx="102000" sy="102000" algn="ctr" rotWithShape="0">
              <a:prstClr val="black">
                <a:alpha val="40000"/>
              </a:prstClr>
            </a:outerShdw>
          </a:effectLst>
        </p:spPr>
      </p:pic>
      <p:sp>
        <p:nvSpPr>
          <p:cNvPr id="19" name="Title 1">
            <a:extLst>
              <a:ext uri="{FF2B5EF4-FFF2-40B4-BE49-F238E27FC236}">
                <a16:creationId xmlns:a16="http://schemas.microsoft.com/office/drawing/2014/main" id="{0B0B3446-8DC0-680F-8567-E9FC38C1621A}"/>
              </a:ext>
            </a:extLst>
          </p:cNvPr>
          <p:cNvSpPr>
            <a:spLocks noGrp="1"/>
          </p:cNvSpPr>
          <p:nvPr>
            <p:ph type="title"/>
          </p:nvPr>
        </p:nvSpPr>
        <p:spPr/>
        <p:txBody>
          <a:bodyPr/>
          <a:lstStyle/>
          <a:p>
            <a:r>
              <a:rPr lang="en-US"/>
              <a:t>GTM Capacity Planning Application</a:t>
            </a:r>
          </a:p>
        </p:txBody>
      </p:sp>
      <p:grpSp>
        <p:nvGrpSpPr>
          <p:cNvPr id="3" name="Group 2">
            <a:extLst>
              <a:ext uri="{FF2B5EF4-FFF2-40B4-BE49-F238E27FC236}">
                <a16:creationId xmlns:a16="http://schemas.microsoft.com/office/drawing/2014/main" id="{52C03468-5041-8B46-097C-B48459641A02}"/>
              </a:ext>
            </a:extLst>
          </p:cNvPr>
          <p:cNvGrpSpPr/>
          <p:nvPr/>
        </p:nvGrpSpPr>
        <p:grpSpPr>
          <a:xfrm>
            <a:off x="201799" y="6299912"/>
            <a:ext cx="484000" cy="484000"/>
            <a:chOff x="7649095" y="416458"/>
            <a:chExt cx="363000" cy="363000"/>
          </a:xfrm>
        </p:grpSpPr>
        <p:pic>
          <p:nvPicPr>
            <p:cNvPr id="4" name="Graphic 3" descr="Users with solid fill">
              <a:extLst>
                <a:ext uri="{FF2B5EF4-FFF2-40B4-BE49-F238E27FC236}">
                  <a16:creationId xmlns:a16="http://schemas.microsoft.com/office/drawing/2014/main" id="{CE5A1521-CC86-4499-F997-1B47F3D234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49095" y="416458"/>
              <a:ext cx="363000" cy="363000"/>
            </a:xfrm>
            <a:prstGeom prst="rect">
              <a:avLst/>
            </a:prstGeom>
          </p:spPr>
        </p:pic>
        <p:sp>
          <p:nvSpPr>
            <p:cNvPr id="6" name="Oval 5">
              <a:extLst>
                <a:ext uri="{FF2B5EF4-FFF2-40B4-BE49-F238E27FC236}">
                  <a16:creationId xmlns:a16="http://schemas.microsoft.com/office/drawing/2014/main" id="{818E914A-ADEC-1749-4436-95B1DA4B3AF4}"/>
                </a:ext>
              </a:extLst>
            </p:cNvPr>
            <p:cNvSpPr/>
            <p:nvPr/>
          </p:nvSpPr>
          <p:spPr>
            <a:xfrm>
              <a:off x="7793284" y="547279"/>
              <a:ext cx="73819" cy="73819"/>
            </a:xfrm>
            <a:prstGeom prst="ellips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600" err="1">
                <a:solidFill>
                  <a:srgbClr val="FFFFFF"/>
                </a:solidFill>
                <a:latin typeface="Verdana" charset="0"/>
                <a:ea typeface="Verdana" charset="0"/>
                <a:cs typeface="Verdana" charset="0"/>
              </a:endParaRPr>
            </a:p>
          </p:txBody>
        </p:sp>
      </p:grpSp>
      <p:cxnSp>
        <p:nvCxnSpPr>
          <p:cNvPr id="8" name="Straight Connector 7">
            <a:extLst>
              <a:ext uri="{FF2B5EF4-FFF2-40B4-BE49-F238E27FC236}">
                <a16:creationId xmlns:a16="http://schemas.microsoft.com/office/drawing/2014/main" id="{6AA711F0-66F2-1151-8223-A5F89480A609}"/>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9E6FD3D-1400-4C42-2864-317B63415556}"/>
              </a:ext>
            </a:extLst>
          </p:cNvPr>
          <p:cNvSpPr txBox="1"/>
          <p:nvPr/>
        </p:nvSpPr>
        <p:spPr>
          <a:xfrm>
            <a:off x="668775" y="1414272"/>
            <a:ext cx="4389120" cy="359009"/>
          </a:xfrm>
          <a:prstGeom prst="rect">
            <a:avLst/>
          </a:prstGeom>
          <a:noFill/>
        </p:spPr>
        <p:txBody>
          <a:bodyPr wrap="square" lIns="0" rtlCol="0">
            <a:spAutoFit/>
          </a:bodyPr>
          <a:lstStyle/>
          <a:p>
            <a:pPr algn="ctr" defTabSz="1219170">
              <a:spcAft>
                <a:spcPts val="1067"/>
              </a:spcAft>
            </a:pPr>
            <a:r>
              <a:rPr lang="en-US" sz="1733">
                <a:solidFill>
                  <a:srgbClr val="F2F1EE"/>
                </a:solidFill>
                <a:latin typeface="Arial" panose="020B0604020202020204"/>
              </a:rPr>
              <a:t>Coverage Analysis &amp; Resource Allocation</a:t>
            </a:r>
          </a:p>
        </p:txBody>
      </p:sp>
    </p:spTree>
    <p:extLst>
      <p:ext uri="{BB962C8B-B14F-4D97-AF65-F5344CB8AC3E}">
        <p14:creationId xmlns:p14="http://schemas.microsoft.com/office/powerpoint/2010/main" val="3639704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BADA5-3990-FA2F-BD0F-516098584FCE}"/>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3E206BAE-D82B-9580-3AA3-7F5A7E3B81A1}"/>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36414B96-AA14-F6F7-5EBE-ECAC53792DC6}"/>
              </a:ext>
            </a:extLst>
          </p:cNvPr>
          <p:cNvSpPr txBox="1"/>
          <p:nvPr/>
        </p:nvSpPr>
        <p:spPr>
          <a:xfrm>
            <a:off x="670560" y="2564056"/>
            <a:ext cx="4389120" cy="1980479"/>
          </a:xfrm>
          <a:prstGeom prst="rect">
            <a:avLst/>
          </a:prstGeom>
          <a:noFill/>
        </p:spPr>
        <p:txBody>
          <a:bodyPr wrap="square" rtlCol="0">
            <a:spAutoFit/>
          </a:bodyPr>
          <a:lstStyle/>
          <a:p>
            <a:pPr marL="228594" indent="-228594" defTabSz="1219170">
              <a:spcBef>
                <a:spcPts val="800"/>
              </a:spcBef>
              <a:buFont typeface="Wingdings" pitchFamily="2" charset="2"/>
              <a:buChar char="ü"/>
            </a:pPr>
            <a:r>
              <a:rPr lang="en-US" sz="1467" b="1">
                <a:solidFill>
                  <a:srgbClr val="F2F1EE"/>
                </a:solidFill>
                <a:latin typeface="Arial" panose="020B0604020202020204"/>
              </a:rPr>
              <a:t>Input hiring and attrition monthly by role</a:t>
            </a:r>
            <a:r>
              <a:rPr lang="en-US" sz="1467">
                <a:solidFill>
                  <a:srgbClr val="F2F1EE"/>
                </a:solidFill>
                <a:latin typeface="Arial" panose="020B0604020202020204"/>
              </a:rPr>
              <a:t> for accurate projections</a:t>
            </a:r>
          </a:p>
          <a:p>
            <a:pPr marL="228594" indent="-228594" defTabSz="1219170">
              <a:spcBef>
                <a:spcPts val="800"/>
              </a:spcBef>
              <a:buFont typeface="Wingdings" pitchFamily="2" charset="2"/>
              <a:buChar char="ü"/>
            </a:pPr>
            <a:r>
              <a:rPr lang="en-US" sz="1467" b="1">
                <a:solidFill>
                  <a:srgbClr val="F2F1EE"/>
                </a:solidFill>
                <a:latin typeface="Arial" panose="020B0604020202020204"/>
              </a:rPr>
              <a:t>Track productivity trends </a:t>
            </a:r>
            <a:r>
              <a:rPr lang="en-US" sz="1467">
                <a:solidFill>
                  <a:srgbClr val="F2F1EE"/>
                </a:solidFill>
                <a:latin typeface="Arial" panose="020B0604020202020204"/>
              </a:rPr>
              <a:t>month over month</a:t>
            </a:r>
          </a:p>
          <a:p>
            <a:pPr marL="228594" indent="-228594" defTabSz="1219170">
              <a:spcBef>
                <a:spcPts val="800"/>
              </a:spcBef>
              <a:buFont typeface="Wingdings" pitchFamily="2" charset="2"/>
              <a:buChar char="ü"/>
            </a:pPr>
            <a:r>
              <a:rPr lang="en-US" sz="1467">
                <a:solidFill>
                  <a:srgbClr val="F2F1EE"/>
                </a:solidFill>
                <a:latin typeface="Arial" panose="020B0604020202020204"/>
              </a:rPr>
              <a:t>View</a:t>
            </a:r>
            <a:r>
              <a:rPr lang="en-US" sz="1467" b="1">
                <a:solidFill>
                  <a:srgbClr val="F2F1EE"/>
                </a:solidFill>
                <a:latin typeface="Arial" panose="020B0604020202020204"/>
              </a:rPr>
              <a:t> HC &amp; FTE by role and month </a:t>
            </a:r>
            <a:r>
              <a:rPr lang="en-US" sz="1467">
                <a:solidFill>
                  <a:srgbClr val="F2F1EE"/>
                </a:solidFill>
                <a:latin typeface="Arial" panose="020B0604020202020204"/>
              </a:rPr>
              <a:t>for workforce visibility</a:t>
            </a:r>
          </a:p>
          <a:p>
            <a:pPr marL="228594" indent="-228594" defTabSz="1219170">
              <a:spcBef>
                <a:spcPts val="800"/>
              </a:spcBef>
              <a:buFont typeface="Wingdings" pitchFamily="2" charset="2"/>
              <a:buChar char="ü"/>
            </a:pPr>
            <a:r>
              <a:rPr lang="en-US" sz="1467">
                <a:solidFill>
                  <a:srgbClr val="F2F1EE"/>
                </a:solidFill>
                <a:latin typeface="Arial" panose="020B0604020202020204"/>
              </a:rPr>
              <a:t>Run </a:t>
            </a:r>
            <a:r>
              <a:rPr lang="en-US" sz="1467" b="1">
                <a:solidFill>
                  <a:srgbClr val="F2F1EE"/>
                </a:solidFill>
                <a:latin typeface="Arial" panose="020B0604020202020204"/>
              </a:rPr>
              <a:t>what-if scenarios </a:t>
            </a:r>
            <a:r>
              <a:rPr lang="en-US" sz="1467">
                <a:solidFill>
                  <a:srgbClr val="F2F1EE"/>
                </a:solidFill>
                <a:latin typeface="Arial" panose="020B0604020202020204"/>
              </a:rPr>
              <a:t>to test different planning assumptions</a:t>
            </a:r>
          </a:p>
        </p:txBody>
      </p:sp>
      <p:pic>
        <p:nvPicPr>
          <p:cNvPr id="2" name="Picture 1">
            <a:extLst>
              <a:ext uri="{FF2B5EF4-FFF2-40B4-BE49-F238E27FC236}">
                <a16:creationId xmlns:a16="http://schemas.microsoft.com/office/drawing/2014/main" id="{5C649040-63C3-443A-CD74-61748C7C58CD}"/>
              </a:ext>
            </a:extLst>
          </p:cNvPr>
          <p:cNvPicPr>
            <a:picLocks noChangeAspect="1"/>
          </p:cNvPicPr>
          <p:nvPr/>
        </p:nvPicPr>
        <p:blipFill>
          <a:blip r:embed="rId3"/>
          <a:stretch>
            <a:fillRect/>
          </a:stretch>
        </p:blipFill>
        <p:spPr>
          <a:xfrm>
            <a:off x="5635329" y="1396691"/>
            <a:ext cx="5794672" cy="2918683"/>
          </a:xfrm>
          <a:prstGeom prst="rect">
            <a:avLst/>
          </a:prstGeom>
          <a:ln>
            <a:solidFill>
              <a:schemeClr val="tx2"/>
            </a:solidFill>
          </a:ln>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3A431778-0EDF-ABBD-7B68-5A4C7C53D029}"/>
              </a:ext>
            </a:extLst>
          </p:cNvPr>
          <p:cNvPicPr>
            <a:picLocks noChangeAspect="1"/>
          </p:cNvPicPr>
          <p:nvPr/>
        </p:nvPicPr>
        <p:blipFill>
          <a:blip r:embed="rId4"/>
          <a:stretch>
            <a:fillRect/>
          </a:stretch>
        </p:blipFill>
        <p:spPr>
          <a:xfrm>
            <a:off x="6096001" y="3429001"/>
            <a:ext cx="5946476" cy="2481033"/>
          </a:xfrm>
          <a:prstGeom prst="rect">
            <a:avLst/>
          </a:prstGeom>
          <a:ln>
            <a:solidFill>
              <a:schemeClr val="tx2"/>
            </a:solidFill>
          </a:ln>
          <a:effectLst>
            <a:outerShdw blurRad="63500" sx="102000" sy="102000" algn="ctr" rotWithShape="0">
              <a:prstClr val="black">
                <a:alpha val="40000"/>
              </a:prstClr>
            </a:outerShdw>
          </a:effectLst>
        </p:spPr>
      </p:pic>
      <p:sp>
        <p:nvSpPr>
          <p:cNvPr id="19" name="Title 1">
            <a:extLst>
              <a:ext uri="{FF2B5EF4-FFF2-40B4-BE49-F238E27FC236}">
                <a16:creationId xmlns:a16="http://schemas.microsoft.com/office/drawing/2014/main" id="{9B61B876-6C48-EFF8-B06E-78DB45E54933}"/>
              </a:ext>
            </a:extLst>
          </p:cNvPr>
          <p:cNvSpPr>
            <a:spLocks noGrp="1"/>
          </p:cNvSpPr>
          <p:nvPr>
            <p:ph type="title"/>
          </p:nvPr>
        </p:nvSpPr>
        <p:spPr/>
        <p:txBody>
          <a:bodyPr/>
          <a:lstStyle/>
          <a:p>
            <a:r>
              <a:rPr lang="en-US"/>
              <a:t>GTM Capacity Planning Application</a:t>
            </a:r>
          </a:p>
        </p:txBody>
      </p:sp>
      <p:grpSp>
        <p:nvGrpSpPr>
          <p:cNvPr id="4" name="Group 3">
            <a:extLst>
              <a:ext uri="{FF2B5EF4-FFF2-40B4-BE49-F238E27FC236}">
                <a16:creationId xmlns:a16="http://schemas.microsoft.com/office/drawing/2014/main" id="{13721FB4-D865-6366-38A3-56AC2F910757}"/>
              </a:ext>
            </a:extLst>
          </p:cNvPr>
          <p:cNvGrpSpPr/>
          <p:nvPr/>
        </p:nvGrpSpPr>
        <p:grpSpPr>
          <a:xfrm>
            <a:off x="201799" y="6299912"/>
            <a:ext cx="484000" cy="484000"/>
            <a:chOff x="7649095" y="416458"/>
            <a:chExt cx="363000" cy="363000"/>
          </a:xfrm>
        </p:grpSpPr>
        <p:pic>
          <p:nvPicPr>
            <p:cNvPr id="6" name="Graphic 5" descr="Users with solid fill">
              <a:extLst>
                <a:ext uri="{FF2B5EF4-FFF2-40B4-BE49-F238E27FC236}">
                  <a16:creationId xmlns:a16="http://schemas.microsoft.com/office/drawing/2014/main" id="{20B60855-7294-4526-113E-7875693402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49095" y="416458"/>
              <a:ext cx="363000" cy="363000"/>
            </a:xfrm>
            <a:prstGeom prst="rect">
              <a:avLst/>
            </a:prstGeom>
          </p:spPr>
        </p:pic>
        <p:sp>
          <p:nvSpPr>
            <p:cNvPr id="8" name="Oval 7">
              <a:extLst>
                <a:ext uri="{FF2B5EF4-FFF2-40B4-BE49-F238E27FC236}">
                  <a16:creationId xmlns:a16="http://schemas.microsoft.com/office/drawing/2014/main" id="{3B66C3B9-3757-5D4A-7DFB-06F5ADA44BD4}"/>
                </a:ext>
              </a:extLst>
            </p:cNvPr>
            <p:cNvSpPr/>
            <p:nvPr/>
          </p:nvSpPr>
          <p:spPr>
            <a:xfrm>
              <a:off x="7793284" y="547279"/>
              <a:ext cx="73819" cy="73819"/>
            </a:xfrm>
            <a:prstGeom prst="ellips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600" err="1">
                <a:solidFill>
                  <a:srgbClr val="FFFFFF"/>
                </a:solidFill>
                <a:latin typeface="Verdana" charset="0"/>
                <a:ea typeface="Verdana" charset="0"/>
                <a:cs typeface="Verdana" charset="0"/>
              </a:endParaRPr>
            </a:p>
          </p:txBody>
        </p:sp>
      </p:grpSp>
      <p:cxnSp>
        <p:nvCxnSpPr>
          <p:cNvPr id="9" name="Straight Connector 8">
            <a:extLst>
              <a:ext uri="{FF2B5EF4-FFF2-40B4-BE49-F238E27FC236}">
                <a16:creationId xmlns:a16="http://schemas.microsoft.com/office/drawing/2014/main" id="{919E9119-D7E1-EBE8-8684-E293DD5145AA}"/>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9F7C46F-BA88-E216-F53E-9A2041AFE3C4}"/>
              </a:ext>
            </a:extLst>
          </p:cNvPr>
          <p:cNvSpPr txBox="1"/>
          <p:nvPr/>
        </p:nvSpPr>
        <p:spPr>
          <a:xfrm>
            <a:off x="668775" y="1414273"/>
            <a:ext cx="4389120" cy="359009"/>
          </a:xfrm>
          <a:prstGeom prst="rect">
            <a:avLst/>
          </a:prstGeom>
          <a:noFill/>
        </p:spPr>
        <p:txBody>
          <a:bodyPr wrap="square" lIns="0" rtlCol="0">
            <a:spAutoFit/>
          </a:bodyPr>
          <a:lstStyle/>
          <a:p>
            <a:pPr algn="ctr" defTabSz="1219170">
              <a:spcAft>
                <a:spcPts val="1067"/>
              </a:spcAft>
            </a:pPr>
            <a:r>
              <a:rPr lang="en-US" sz="1733">
                <a:solidFill>
                  <a:srgbClr val="F2F1EE"/>
                </a:solidFill>
                <a:latin typeface="Arial" panose="020B0604020202020204"/>
              </a:rPr>
              <a:t>Bottom-Up Planning</a:t>
            </a:r>
          </a:p>
        </p:txBody>
      </p:sp>
    </p:spTree>
    <p:extLst>
      <p:ext uri="{BB962C8B-B14F-4D97-AF65-F5344CB8AC3E}">
        <p14:creationId xmlns:p14="http://schemas.microsoft.com/office/powerpoint/2010/main" val="329547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98537-14F5-D978-6517-9E249582896F}"/>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777151DF-5C6C-ABBA-AD08-21FAE14441AB}"/>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ECF149D8-669F-404D-35B5-47611E22930E}"/>
              </a:ext>
            </a:extLst>
          </p:cNvPr>
          <p:cNvSpPr txBox="1"/>
          <p:nvPr/>
        </p:nvSpPr>
        <p:spPr>
          <a:xfrm>
            <a:off x="668775" y="2453831"/>
            <a:ext cx="4389120" cy="2206245"/>
          </a:xfrm>
          <a:prstGeom prst="rect">
            <a:avLst/>
          </a:prstGeom>
          <a:noFill/>
        </p:spPr>
        <p:txBody>
          <a:bodyPr wrap="square" rtlCol="0">
            <a:spAutoFit/>
          </a:bodyPr>
          <a:lstStyle/>
          <a:p>
            <a:pPr marL="228594" indent="-228594" defTabSz="1219170">
              <a:spcBef>
                <a:spcPts val="800"/>
              </a:spcBef>
              <a:buFont typeface="Wingdings" pitchFamily="2" charset="2"/>
              <a:buChar char="ü"/>
            </a:pPr>
            <a:r>
              <a:rPr lang="en-US" sz="1467" b="1">
                <a:solidFill>
                  <a:srgbClr val="F2F1EE"/>
                </a:solidFill>
                <a:latin typeface="Arial" panose="020B0604020202020204"/>
              </a:rPr>
              <a:t>Allocate headcount targets </a:t>
            </a:r>
            <a:r>
              <a:rPr lang="en-US" sz="1467">
                <a:solidFill>
                  <a:srgbClr val="F2F1EE"/>
                </a:solidFill>
                <a:latin typeface="Arial" panose="020B0604020202020204"/>
              </a:rPr>
              <a:t>and cascade by sales hierarchy</a:t>
            </a:r>
          </a:p>
          <a:p>
            <a:pPr marL="228594" indent="-228594" defTabSz="1219170">
              <a:spcBef>
                <a:spcPts val="800"/>
              </a:spcBef>
              <a:buFont typeface="Wingdings" pitchFamily="2" charset="2"/>
              <a:buChar char="ü"/>
            </a:pPr>
            <a:r>
              <a:rPr lang="en-US" sz="1467">
                <a:solidFill>
                  <a:srgbClr val="F2F1EE"/>
                </a:solidFill>
                <a:latin typeface="Arial" panose="020B0604020202020204"/>
              </a:rPr>
              <a:t>Run </a:t>
            </a:r>
            <a:r>
              <a:rPr lang="en-US" sz="1467" b="1">
                <a:solidFill>
                  <a:srgbClr val="F2F1EE"/>
                </a:solidFill>
                <a:latin typeface="Arial" panose="020B0604020202020204"/>
              </a:rPr>
              <a:t>what-if scenarios </a:t>
            </a:r>
            <a:r>
              <a:rPr lang="en-US" sz="1467">
                <a:solidFill>
                  <a:srgbClr val="F2F1EE"/>
                </a:solidFill>
                <a:latin typeface="Arial" panose="020B0604020202020204"/>
              </a:rPr>
              <a:t>to test allocation strategies</a:t>
            </a:r>
          </a:p>
          <a:p>
            <a:pPr marL="228594" indent="-228594" defTabSz="1219170">
              <a:spcBef>
                <a:spcPts val="800"/>
              </a:spcBef>
              <a:buFont typeface="Wingdings" pitchFamily="2" charset="2"/>
              <a:buChar char="ü"/>
            </a:pPr>
            <a:r>
              <a:rPr lang="en-US" sz="1467">
                <a:solidFill>
                  <a:srgbClr val="F2F1EE"/>
                </a:solidFill>
                <a:latin typeface="Arial" panose="020B0604020202020204"/>
              </a:rPr>
              <a:t>Apply </a:t>
            </a:r>
            <a:r>
              <a:rPr lang="en-US" sz="1467" b="1">
                <a:solidFill>
                  <a:srgbClr val="F2F1EE"/>
                </a:solidFill>
                <a:latin typeface="Arial" panose="020B0604020202020204"/>
              </a:rPr>
              <a:t>constraints</a:t>
            </a:r>
            <a:r>
              <a:rPr lang="en-US" sz="1467">
                <a:solidFill>
                  <a:srgbClr val="F2F1EE"/>
                </a:solidFill>
                <a:latin typeface="Arial" panose="020B0604020202020204"/>
              </a:rPr>
              <a:t> and system-generated recommendations</a:t>
            </a:r>
          </a:p>
          <a:p>
            <a:pPr marL="228594" indent="-228594" defTabSz="1219170">
              <a:spcBef>
                <a:spcPts val="800"/>
              </a:spcBef>
              <a:buFont typeface="Wingdings" pitchFamily="2" charset="2"/>
              <a:buChar char="ü"/>
            </a:pPr>
            <a:r>
              <a:rPr lang="en-US" sz="1467">
                <a:solidFill>
                  <a:srgbClr val="F2F1EE"/>
                </a:solidFill>
                <a:latin typeface="Arial" panose="020B0604020202020204"/>
              </a:rPr>
              <a:t>Enable approval and dispute </a:t>
            </a:r>
            <a:r>
              <a:rPr lang="en-US" sz="1467" b="1">
                <a:solidFill>
                  <a:srgbClr val="F2F1EE"/>
                </a:solidFill>
                <a:latin typeface="Arial" panose="020B0604020202020204"/>
              </a:rPr>
              <a:t>workflows</a:t>
            </a:r>
            <a:r>
              <a:rPr lang="en-US" sz="1467">
                <a:solidFill>
                  <a:srgbClr val="F2F1EE"/>
                </a:solidFill>
                <a:latin typeface="Arial" panose="020B0604020202020204"/>
              </a:rPr>
              <a:t> for resource splits</a:t>
            </a:r>
          </a:p>
        </p:txBody>
      </p:sp>
      <p:pic>
        <p:nvPicPr>
          <p:cNvPr id="2" name="Picture 1">
            <a:extLst>
              <a:ext uri="{FF2B5EF4-FFF2-40B4-BE49-F238E27FC236}">
                <a16:creationId xmlns:a16="http://schemas.microsoft.com/office/drawing/2014/main" id="{BB95F3F0-F76E-84DE-3CB9-90C24F2A91B9}"/>
              </a:ext>
            </a:extLst>
          </p:cNvPr>
          <p:cNvPicPr>
            <a:picLocks noChangeAspect="1"/>
          </p:cNvPicPr>
          <p:nvPr/>
        </p:nvPicPr>
        <p:blipFill>
          <a:blip r:embed="rId3"/>
          <a:stretch>
            <a:fillRect/>
          </a:stretch>
        </p:blipFill>
        <p:spPr>
          <a:xfrm>
            <a:off x="5601645" y="1802987"/>
            <a:ext cx="6067460" cy="3252027"/>
          </a:xfrm>
          <a:prstGeom prst="rect">
            <a:avLst/>
          </a:prstGeom>
          <a:ln>
            <a:solidFill>
              <a:schemeClr val="tx2"/>
            </a:solidFill>
          </a:ln>
          <a:effectLst>
            <a:outerShdw blurRad="63500" sx="102000" sy="102000" algn="ctr" rotWithShape="0">
              <a:prstClr val="black">
                <a:alpha val="40000"/>
              </a:prstClr>
            </a:outerShdw>
          </a:effectLst>
        </p:spPr>
      </p:pic>
      <p:sp>
        <p:nvSpPr>
          <p:cNvPr id="18" name="Title 1">
            <a:extLst>
              <a:ext uri="{FF2B5EF4-FFF2-40B4-BE49-F238E27FC236}">
                <a16:creationId xmlns:a16="http://schemas.microsoft.com/office/drawing/2014/main" id="{A86E5A5C-028E-E8E2-9D6E-7EEE2C03E6D0}"/>
              </a:ext>
            </a:extLst>
          </p:cNvPr>
          <p:cNvSpPr>
            <a:spLocks noGrp="1"/>
          </p:cNvSpPr>
          <p:nvPr>
            <p:ph type="title"/>
          </p:nvPr>
        </p:nvSpPr>
        <p:spPr/>
        <p:txBody>
          <a:bodyPr/>
          <a:lstStyle/>
          <a:p>
            <a:r>
              <a:rPr lang="en-US"/>
              <a:t>GTM Capacity Planning Application</a:t>
            </a:r>
          </a:p>
        </p:txBody>
      </p:sp>
      <p:grpSp>
        <p:nvGrpSpPr>
          <p:cNvPr id="4" name="Group 3">
            <a:extLst>
              <a:ext uri="{FF2B5EF4-FFF2-40B4-BE49-F238E27FC236}">
                <a16:creationId xmlns:a16="http://schemas.microsoft.com/office/drawing/2014/main" id="{9E1D9E0E-86A8-FB6C-2C9D-2E785406E0AF}"/>
              </a:ext>
            </a:extLst>
          </p:cNvPr>
          <p:cNvGrpSpPr/>
          <p:nvPr/>
        </p:nvGrpSpPr>
        <p:grpSpPr>
          <a:xfrm>
            <a:off x="201799" y="6299912"/>
            <a:ext cx="484000" cy="484000"/>
            <a:chOff x="7649095" y="416458"/>
            <a:chExt cx="363000" cy="363000"/>
          </a:xfrm>
        </p:grpSpPr>
        <p:pic>
          <p:nvPicPr>
            <p:cNvPr id="6" name="Graphic 5" descr="Users with solid fill">
              <a:extLst>
                <a:ext uri="{FF2B5EF4-FFF2-40B4-BE49-F238E27FC236}">
                  <a16:creationId xmlns:a16="http://schemas.microsoft.com/office/drawing/2014/main" id="{5C66A54F-7F8F-2537-3AFA-2701BD1D1D0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49095" y="416458"/>
              <a:ext cx="363000" cy="363000"/>
            </a:xfrm>
            <a:prstGeom prst="rect">
              <a:avLst/>
            </a:prstGeom>
          </p:spPr>
        </p:pic>
        <p:sp>
          <p:nvSpPr>
            <p:cNvPr id="7" name="Oval 6">
              <a:extLst>
                <a:ext uri="{FF2B5EF4-FFF2-40B4-BE49-F238E27FC236}">
                  <a16:creationId xmlns:a16="http://schemas.microsoft.com/office/drawing/2014/main" id="{05492C3F-D9B3-479C-3D89-5D7E19EBF53A}"/>
                </a:ext>
              </a:extLst>
            </p:cNvPr>
            <p:cNvSpPr/>
            <p:nvPr/>
          </p:nvSpPr>
          <p:spPr>
            <a:xfrm>
              <a:off x="7793284" y="547279"/>
              <a:ext cx="73819" cy="73819"/>
            </a:xfrm>
            <a:prstGeom prst="ellips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600" err="1">
                <a:solidFill>
                  <a:srgbClr val="FFFFFF"/>
                </a:solidFill>
                <a:latin typeface="Verdana" charset="0"/>
                <a:ea typeface="Verdana" charset="0"/>
                <a:cs typeface="Verdana" charset="0"/>
              </a:endParaRPr>
            </a:p>
          </p:txBody>
        </p:sp>
      </p:grpSp>
      <p:cxnSp>
        <p:nvCxnSpPr>
          <p:cNvPr id="8" name="Straight Connector 7">
            <a:extLst>
              <a:ext uri="{FF2B5EF4-FFF2-40B4-BE49-F238E27FC236}">
                <a16:creationId xmlns:a16="http://schemas.microsoft.com/office/drawing/2014/main" id="{45F11AB0-28A3-95EB-1F87-1DD4AF850D3A}"/>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F3A7570-0CCB-F04D-761E-1239BA0E7927}"/>
              </a:ext>
            </a:extLst>
          </p:cNvPr>
          <p:cNvSpPr txBox="1"/>
          <p:nvPr/>
        </p:nvSpPr>
        <p:spPr>
          <a:xfrm>
            <a:off x="668775" y="1414273"/>
            <a:ext cx="4389120" cy="359009"/>
          </a:xfrm>
          <a:prstGeom prst="rect">
            <a:avLst/>
          </a:prstGeom>
          <a:noFill/>
        </p:spPr>
        <p:txBody>
          <a:bodyPr wrap="square" lIns="0" rtlCol="0">
            <a:spAutoFit/>
          </a:bodyPr>
          <a:lstStyle/>
          <a:p>
            <a:pPr algn="ctr" defTabSz="1219170">
              <a:spcAft>
                <a:spcPts val="1067"/>
              </a:spcAft>
            </a:pPr>
            <a:r>
              <a:rPr lang="en-US" sz="1733">
                <a:solidFill>
                  <a:srgbClr val="F2F1EE"/>
                </a:solidFill>
                <a:latin typeface="Arial" panose="020B0604020202020204"/>
              </a:rPr>
              <a:t>Top-Down Planning</a:t>
            </a:r>
          </a:p>
        </p:txBody>
      </p:sp>
    </p:spTree>
    <p:extLst>
      <p:ext uri="{BB962C8B-B14F-4D97-AF65-F5344CB8AC3E}">
        <p14:creationId xmlns:p14="http://schemas.microsoft.com/office/powerpoint/2010/main" val="3829254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F6906-367A-0817-EB91-2A720091A085}"/>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63B47EFB-899D-CFB1-A2D9-3495DC95290A}"/>
              </a:ext>
            </a:extLst>
          </p:cNvPr>
          <p:cNvSpPr/>
          <p:nvPr/>
        </p:nvSpPr>
        <p:spPr>
          <a:xfrm>
            <a:off x="558799" y="1221889"/>
            <a:ext cx="4584192"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910F26CA-81E6-0A90-CC25-847252E29EB5}"/>
              </a:ext>
            </a:extLst>
          </p:cNvPr>
          <p:cNvSpPr txBox="1"/>
          <p:nvPr/>
        </p:nvSpPr>
        <p:spPr>
          <a:xfrm>
            <a:off x="670560" y="2448137"/>
            <a:ext cx="4389120" cy="1652119"/>
          </a:xfrm>
          <a:prstGeom prst="rect">
            <a:avLst/>
          </a:prstGeom>
          <a:noFill/>
        </p:spPr>
        <p:txBody>
          <a:bodyPr wrap="square" rtlCol="0">
            <a:spAutoFit/>
          </a:bodyPr>
          <a:lstStyle/>
          <a:p>
            <a:pPr marL="228594" indent="-228594" defTabSz="1219170">
              <a:spcBef>
                <a:spcPts val="800"/>
              </a:spcBef>
              <a:buFont typeface="Wingdings" pitchFamily="2" charset="2"/>
              <a:buChar char="ü"/>
            </a:pPr>
            <a:r>
              <a:rPr lang="en-US" sz="1467" b="1">
                <a:solidFill>
                  <a:srgbClr val="F2F1EE"/>
                </a:solidFill>
                <a:latin typeface="Arial" panose="020B0604020202020204"/>
              </a:rPr>
              <a:t>Input average cost by role and level</a:t>
            </a:r>
            <a:r>
              <a:rPr lang="en-US" sz="1467">
                <a:solidFill>
                  <a:srgbClr val="F2F1EE"/>
                </a:solidFill>
                <a:latin typeface="Arial" panose="020B0604020202020204"/>
              </a:rPr>
              <a:t> to model expenses</a:t>
            </a:r>
          </a:p>
          <a:p>
            <a:pPr marL="228594" indent="-228594" defTabSz="1219170">
              <a:spcBef>
                <a:spcPts val="800"/>
              </a:spcBef>
              <a:buFont typeface="Wingdings" pitchFamily="2" charset="2"/>
              <a:buChar char="ü"/>
            </a:pPr>
            <a:r>
              <a:rPr lang="en-US" sz="1467" b="1">
                <a:solidFill>
                  <a:srgbClr val="F2F1EE"/>
                </a:solidFill>
                <a:latin typeface="Arial" panose="020B0604020202020204"/>
              </a:rPr>
              <a:t>Aggregate and analyze </a:t>
            </a:r>
            <a:r>
              <a:rPr lang="en-US" sz="1467">
                <a:solidFill>
                  <a:srgbClr val="F2F1EE"/>
                </a:solidFill>
                <a:latin typeface="Arial" panose="020B0604020202020204"/>
              </a:rPr>
              <a:t>cost structure across teams</a:t>
            </a:r>
          </a:p>
          <a:p>
            <a:pPr marL="228594" indent="-228594" defTabSz="1219170">
              <a:spcBef>
                <a:spcPts val="800"/>
              </a:spcBef>
              <a:buFont typeface="Wingdings" pitchFamily="2" charset="2"/>
              <a:buChar char="ü"/>
            </a:pPr>
            <a:r>
              <a:rPr lang="en-US" sz="1467">
                <a:solidFill>
                  <a:srgbClr val="F2F1EE"/>
                </a:solidFill>
                <a:latin typeface="Arial" panose="020B0604020202020204"/>
              </a:rPr>
              <a:t>Track monthly </a:t>
            </a:r>
            <a:r>
              <a:rPr lang="en-US" sz="1467" b="1">
                <a:solidFill>
                  <a:srgbClr val="F2F1EE"/>
                </a:solidFill>
                <a:latin typeface="Arial" panose="020B0604020202020204"/>
              </a:rPr>
              <a:t>sales margin </a:t>
            </a:r>
            <a:r>
              <a:rPr lang="en-US" sz="1467">
                <a:solidFill>
                  <a:srgbClr val="0A2F46"/>
                </a:solidFill>
                <a:latin typeface="Arial" panose="020B0604020202020204"/>
              </a:rPr>
              <a:t>using ramp, </a:t>
            </a:r>
            <a:r>
              <a:rPr lang="en-US" sz="1467">
                <a:solidFill>
                  <a:srgbClr val="F2F1EE"/>
                </a:solidFill>
                <a:latin typeface="Arial" panose="020B0604020202020204"/>
              </a:rPr>
              <a:t>productivity, and </a:t>
            </a:r>
            <a:r>
              <a:rPr lang="en-US" sz="1467">
                <a:solidFill>
                  <a:srgbClr val="0A2F46"/>
                </a:solidFill>
                <a:latin typeface="Arial" panose="020B0604020202020204"/>
              </a:rPr>
              <a:t>seasonality assumptions</a:t>
            </a:r>
          </a:p>
        </p:txBody>
      </p:sp>
      <p:pic>
        <p:nvPicPr>
          <p:cNvPr id="2" name="Picture 1">
            <a:extLst>
              <a:ext uri="{FF2B5EF4-FFF2-40B4-BE49-F238E27FC236}">
                <a16:creationId xmlns:a16="http://schemas.microsoft.com/office/drawing/2014/main" id="{AC3892EE-624C-8F3A-225D-BF15C33C8A11}"/>
              </a:ext>
            </a:extLst>
          </p:cNvPr>
          <p:cNvPicPr>
            <a:picLocks noChangeAspect="1"/>
          </p:cNvPicPr>
          <p:nvPr/>
        </p:nvPicPr>
        <p:blipFill>
          <a:blip r:embed="rId3"/>
          <a:stretch>
            <a:fillRect/>
          </a:stretch>
        </p:blipFill>
        <p:spPr>
          <a:xfrm>
            <a:off x="5812534" y="1533149"/>
            <a:ext cx="5532969" cy="2857401"/>
          </a:xfrm>
          <a:prstGeom prst="rect">
            <a:avLst/>
          </a:prstGeom>
          <a:ln>
            <a:solidFill>
              <a:schemeClr val="tx2"/>
            </a:solidFill>
          </a:ln>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274C2F76-B469-A262-E72E-FD093A589FBA}"/>
              </a:ext>
            </a:extLst>
          </p:cNvPr>
          <p:cNvPicPr>
            <a:picLocks noChangeAspect="1"/>
          </p:cNvPicPr>
          <p:nvPr/>
        </p:nvPicPr>
        <p:blipFill>
          <a:blip r:embed="rId4"/>
          <a:stretch>
            <a:fillRect/>
          </a:stretch>
        </p:blipFill>
        <p:spPr>
          <a:xfrm>
            <a:off x="6701935" y="4219265"/>
            <a:ext cx="5304315" cy="1954439"/>
          </a:xfrm>
          <a:prstGeom prst="rect">
            <a:avLst/>
          </a:prstGeom>
          <a:ln>
            <a:solidFill>
              <a:schemeClr val="tx2"/>
            </a:solidFill>
          </a:ln>
          <a:effectLst>
            <a:outerShdw blurRad="63500" sx="102000" sy="102000" algn="ctr" rotWithShape="0">
              <a:prstClr val="black">
                <a:alpha val="40000"/>
              </a:prstClr>
            </a:outerShdw>
          </a:effectLst>
        </p:spPr>
      </p:pic>
      <p:sp>
        <p:nvSpPr>
          <p:cNvPr id="19" name="Title 1">
            <a:extLst>
              <a:ext uri="{FF2B5EF4-FFF2-40B4-BE49-F238E27FC236}">
                <a16:creationId xmlns:a16="http://schemas.microsoft.com/office/drawing/2014/main" id="{E92B35ED-71DF-8251-0B9D-7D7299CD0E67}"/>
              </a:ext>
            </a:extLst>
          </p:cNvPr>
          <p:cNvSpPr>
            <a:spLocks noGrp="1"/>
          </p:cNvSpPr>
          <p:nvPr>
            <p:ph type="title"/>
          </p:nvPr>
        </p:nvSpPr>
        <p:spPr/>
        <p:txBody>
          <a:bodyPr/>
          <a:lstStyle/>
          <a:p>
            <a:r>
              <a:rPr lang="en-US"/>
              <a:t>GTM Capacity Planning Application</a:t>
            </a:r>
          </a:p>
        </p:txBody>
      </p:sp>
      <p:grpSp>
        <p:nvGrpSpPr>
          <p:cNvPr id="4" name="Group 3">
            <a:extLst>
              <a:ext uri="{FF2B5EF4-FFF2-40B4-BE49-F238E27FC236}">
                <a16:creationId xmlns:a16="http://schemas.microsoft.com/office/drawing/2014/main" id="{AC0E9CB0-4E63-76A5-FE9D-13F491C19327}"/>
              </a:ext>
            </a:extLst>
          </p:cNvPr>
          <p:cNvGrpSpPr/>
          <p:nvPr/>
        </p:nvGrpSpPr>
        <p:grpSpPr>
          <a:xfrm>
            <a:off x="201799" y="6299912"/>
            <a:ext cx="484000" cy="484000"/>
            <a:chOff x="7649095" y="416458"/>
            <a:chExt cx="363000" cy="363000"/>
          </a:xfrm>
        </p:grpSpPr>
        <p:pic>
          <p:nvPicPr>
            <p:cNvPr id="6" name="Graphic 5" descr="Users with solid fill">
              <a:extLst>
                <a:ext uri="{FF2B5EF4-FFF2-40B4-BE49-F238E27FC236}">
                  <a16:creationId xmlns:a16="http://schemas.microsoft.com/office/drawing/2014/main" id="{D347C617-F453-9CF7-D729-1EF2805A13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49095" y="416458"/>
              <a:ext cx="363000" cy="363000"/>
            </a:xfrm>
            <a:prstGeom prst="rect">
              <a:avLst/>
            </a:prstGeom>
          </p:spPr>
        </p:pic>
        <p:sp>
          <p:nvSpPr>
            <p:cNvPr id="8" name="Oval 7">
              <a:extLst>
                <a:ext uri="{FF2B5EF4-FFF2-40B4-BE49-F238E27FC236}">
                  <a16:creationId xmlns:a16="http://schemas.microsoft.com/office/drawing/2014/main" id="{A7B5ECBF-D486-4869-FF73-B0736E65A268}"/>
                </a:ext>
              </a:extLst>
            </p:cNvPr>
            <p:cNvSpPr/>
            <p:nvPr/>
          </p:nvSpPr>
          <p:spPr>
            <a:xfrm>
              <a:off x="7793284" y="547279"/>
              <a:ext cx="73819" cy="73819"/>
            </a:xfrm>
            <a:prstGeom prst="ellips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600" err="1">
                <a:solidFill>
                  <a:srgbClr val="FFFFFF"/>
                </a:solidFill>
                <a:latin typeface="Verdana" charset="0"/>
                <a:ea typeface="Verdana" charset="0"/>
                <a:cs typeface="Verdana" charset="0"/>
              </a:endParaRPr>
            </a:p>
          </p:txBody>
        </p:sp>
      </p:grpSp>
      <p:cxnSp>
        <p:nvCxnSpPr>
          <p:cNvPr id="9" name="Straight Connector 8">
            <a:extLst>
              <a:ext uri="{FF2B5EF4-FFF2-40B4-BE49-F238E27FC236}">
                <a16:creationId xmlns:a16="http://schemas.microsoft.com/office/drawing/2014/main" id="{82B5DA95-AC3B-30FC-CD4B-0188DA606B4F}"/>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D62718B-A0BA-B242-6B11-3B04543CE1B3}"/>
              </a:ext>
            </a:extLst>
          </p:cNvPr>
          <p:cNvSpPr txBox="1"/>
          <p:nvPr/>
        </p:nvSpPr>
        <p:spPr>
          <a:xfrm>
            <a:off x="668775" y="1414272"/>
            <a:ext cx="4389120" cy="359009"/>
          </a:xfrm>
          <a:prstGeom prst="rect">
            <a:avLst/>
          </a:prstGeom>
          <a:noFill/>
        </p:spPr>
        <p:txBody>
          <a:bodyPr wrap="square" lIns="0" rtlCol="0">
            <a:spAutoFit/>
          </a:bodyPr>
          <a:lstStyle/>
          <a:p>
            <a:pPr algn="ctr" defTabSz="1219170">
              <a:spcAft>
                <a:spcPts val="1067"/>
              </a:spcAft>
            </a:pPr>
            <a:r>
              <a:rPr lang="en-US" sz="1733">
                <a:solidFill>
                  <a:srgbClr val="F2F1EE"/>
                </a:solidFill>
                <a:latin typeface="Arial" panose="020B0604020202020204"/>
              </a:rPr>
              <a:t>Sales Margin Planning &amp; Cost Analysis</a:t>
            </a:r>
          </a:p>
        </p:txBody>
      </p:sp>
    </p:spTree>
    <p:extLst>
      <p:ext uri="{BB962C8B-B14F-4D97-AF65-F5344CB8AC3E}">
        <p14:creationId xmlns:p14="http://schemas.microsoft.com/office/powerpoint/2010/main" val="159680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14235-5466-BF05-8AEE-4AB64F23A052}"/>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C773886D-3547-48BA-7D90-CCB2EB673307}"/>
              </a:ext>
            </a:extLst>
          </p:cNvPr>
          <p:cNvSpPr/>
          <p:nvPr/>
        </p:nvSpPr>
        <p:spPr>
          <a:xfrm>
            <a:off x="558799" y="1221889"/>
            <a:ext cx="4584192"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F633A09A-3999-8108-BCDC-1E383B1B9A24}"/>
              </a:ext>
            </a:extLst>
          </p:cNvPr>
          <p:cNvSpPr txBox="1"/>
          <p:nvPr/>
        </p:nvSpPr>
        <p:spPr>
          <a:xfrm>
            <a:off x="670560" y="2370338"/>
            <a:ext cx="4389120" cy="2534605"/>
          </a:xfrm>
          <a:prstGeom prst="rect">
            <a:avLst/>
          </a:prstGeom>
          <a:noFill/>
        </p:spPr>
        <p:txBody>
          <a:bodyPr wrap="square" rtlCol="0">
            <a:spAutoFit/>
          </a:bodyPr>
          <a:lstStyle/>
          <a:p>
            <a:pPr marL="228594" indent="-228594" defTabSz="1219170">
              <a:spcBef>
                <a:spcPts val="800"/>
              </a:spcBef>
              <a:buFont typeface="Wingdings" pitchFamily="2" charset="2"/>
              <a:buChar char="ü"/>
            </a:pPr>
            <a:r>
              <a:rPr lang="en-US" sz="1467" b="1">
                <a:solidFill>
                  <a:srgbClr val="F2F1EE"/>
                </a:solidFill>
                <a:latin typeface="Arial" panose="020B0604020202020204"/>
              </a:rPr>
              <a:t>Lock planning inputs</a:t>
            </a:r>
            <a:r>
              <a:rPr lang="en-US" sz="1467">
                <a:solidFill>
                  <a:srgbClr val="F2F1EE"/>
                </a:solidFill>
                <a:latin typeface="Arial" panose="020B0604020202020204"/>
              </a:rPr>
              <a:t> to preserve version integrity</a:t>
            </a:r>
          </a:p>
          <a:p>
            <a:pPr marL="228594" indent="-228594" defTabSz="1219170">
              <a:spcBef>
                <a:spcPts val="800"/>
              </a:spcBef>
              <a:buFont typeface="Wingdings" pitchFamily="2" charset="2"/>
              <a:buChar char="ü"/>
            </a:pPr>
            <a:r>
              <a:rPr lang="en-US" sz="1467">
                <a:solidFill>
                  <a:srgbClr val="F2F1EE"/>
                </a:solidFill>
                <a:latin typeface="Arial" panose="020B0604020202020204"/>
              </a:rPr>
              <a:t>Enable </a:t>
            </a:r>
            <a:r>
              <a:rPr lang="en-US" sz="1467" b="1">
                <a:solidFill>
                  <a:srgbClr val="F2F1EE"/>
                </a:solidFill>
                <a:latin typeface="Arial" panose="020B0604020202020204"/>
              </a:rPr>
              <a:t>approval workflows </a:t>
            </a:r>
            <a:r>
              <a:rPr lang="en-US" sz="1467">
                <a:solidFill>
                  <a:srgbClr val="F2F1EE"/>
                </a:solidFill>
                <a:latin typeface="Arial" panose="020B0604020202020204"/>
              </a:rPr>
              <a:t>for mid-year changes</a:t>
            </a:r>
          </a:p>
          <a:p>
            <a:pPr marL="228594" indent="-228594" defTabSz="1219170">
              <a:spcBef>
                <a:spcPts val="800"/>
              </a:spcBef>
              <a:buFont typeface="Wingdings" pitchFamily="2" charset="2"/>
              <a:buChar char="ü"/>
            </a:pPr>
            <a:r>
              <a:rPr lang="en-US" sz="1467" b="1">
                <a:solidFill>
                  <a:srgbClr val="F2F1EE"/>
                </a:solidFill>
                <a:latin typeface="Arial" panose="020B0604020202020204"/>
              </a:rPr>
              <a:t>Snapshot</a:t>
            </a:r>
            <a:r>
              <a:rPr lang="en-US" sz="1467">
                <a:solidFill>
                  <a:srgbClr val="F2F1EE"/>
                </a:solidFill>
                <a:latin typeface="Arial" panose="020B0604020202020204"/>
              </a:rPr>
              <a:t> hiring plan versions for comparison</a:t>
            </a:r>
          </a:p>
          <a:p>
            <a:pPr marL="228594" indent="-228594" defTabSz="1219170">
              <a:spcBef>
                <a:spcPts val="800"/>
              </a:spcBef>
              <a:buFont typeface="Wingdings" pitchFamily="2" charset="2"/>
              <a:buChar char="ü"/>
            </a:pPr>
            <a:r>
              <a:rPr lang="en-US" sz="1467" b="1">
                <a:solidFill>
                  <a:srgbClr val="F2F1EE"/>
                </a:solidFill>
                <a:latin typeface="Arial" panose="020B0604020202020204"/>
              </a:rPr>
              <a:t>Re-open planning periods </a:t>
            </a:r>
            <a:r>
              <a:rPr lang="en-US" sz="1467">
                <a:solidFill>
                  <a:srgbClr val="F2F1EE"/>
                </a:solidFill>
                <a:latin typeface="Arial" panose="020B0604020202020204"/>
              </a:rPr>
              <a:t>when adjustments are needed</a:t>
            </a:r>
          </a:p>
          <a:p>
            <a:pPr marL="228594" indent="-228594" defTabSz="1219170">
              <a:spcBef>
                <a:spcPts val="800"/>
              </a:spcBef>
              <a:buFont typeface="Wingdings" pitchFamily="2" charset="2"/>
              <a:buChar char="ü"/>
            </a:pPr>
            <a:r>
              <a:rPr lang="en-US" sz="1467">
                <a:solidFill>
                  <a:srgbClr val="F2F1EE"/>
                </a:solidFill>
                <a:latin typeface="Arial" panose="020B0604020202020204"/>
              </a:rPr>
              <a:t>Analyze </a:t>
            </a:r>
            <a:r>
              <a:rPr lang="en-US" sz="1467" b="1">
                <a:solidFill>
                  <a:srgbClr val="F2F1EE"/>
                </a:solidFill>
                <a:latin typeface="Arial" panose="020B0604020202020204"/>
              </a:rPr>
              <a:t>actuals vs. plan </a:t>
            </a:r>
            <a:r>
              <a:rPr lang="en-US" sz="1467">
                <a:solidFill>
                  <a:srgbClr val="F2F1EE"/>
                </a:solidFill>
                <a:latin typeface="Arial" panose="020B0604020202020204"/>
              </a:rPr>
              <a:t>to understand performance gaps</a:t>
            </a:r>
          </a:p>
        </p:txBody>
      </p:sp>
      <p:pic>
        <p:nvPicPr>
          <p:cNvPr id="2" name="Picture 1">
            <a:extLst>
              <a:ext uri="{FF2B5EF4-FFF2-40B4-BE49-F238E27FC236}">
                <a16:creationId xmlns:a16="http://schemas.microsoft.com/office/drawing/2014/main" id="{A2E3DEDD-6E4D-7E36-87C9-4BAD7FDAAAEE}"/>
              </a:ext>
            </a:extLst>
          </p:cNvPr>
          <p:cNvPicPr>
            <a:picLocks noChangeAspect="1"/>
          </p:cNvPicPr>
          <p:nvPr/>
        </p:nvPicPr>
        <p:blipFill>
          <a:blip r:embed="rId3"/>
          <a:stretch>
            <a:fillRect/>
          </a:stretch>
        </p:blipFill>
        <p:spPr>
          <a:xfrm>
            <a:off x="5669262" y="2073343"/>
            <a:ext cx="6077641" cy="3192992"/>
          </a:xfrm>
          <a:prstGeom prst="rect">
            <a:avLst/>
          </a:prstGeom>
          <a:ln>
            <a:solidFill>
              <a:schemeClr val="tx2"/>
            </a:solidFill>
          </a:ln>
          <a:effectLst>
            <a:outerShdw blurRad="63500" sx="102000" sy="102000" algn="ctr" rotWithShape="0">
              <a:prstClr val="black">
                <a:alpha val="40000"/>
              </a:prstClr>
            </a:outerShdw>
          </a:effectLst>
        </p:spPr>
      </p:pic>
      <p:sp>
        <p:nvSpPr>
          <p:cNvPr id="18" name="Title 1">
            <a:extLst>
              <a:ext uri="{FF2B5EF4-FFF2-40B4-BE49-F238E27FC236}">
                <a16:creationId xmlns:a16="http://schemas.microsoft.com/office/drawing/2014/main" id="{835AE673-1333-34DB-2D31-8F8E3F910F7C}"/>
              </a:ext>
            </a:extLst>
          </p:cNvPr>
          <p:cNvSpPr>
            <a:spLocks noGrp="1"/>
          </p:cNvSpPr>
          <p:nvPr>
            <p:ph type="title"/>
          </p:nvPr>
        </p:nvSpPr>
        <p:spPr/>
        <p:txBody>
          <a:bodyPr/>
          <a:lstStyle/>
          <a:p>
            <a:r>
              <a:rPr lang="en-US"/>
              <a:t>GTM Capacity Planning Application</a:t>
            </a:r>
          </a:p>
        </p:txBody>
      </p:sp>
      <p:grpSp>
        <p:nvGrpSpPr>
          <p:cNvPr id="4" name="Group 3">
            <a:extLst>
              <a:ext uri="{FF2B5EF4-FFF2-40B4-BE49-F238E27FC236}">
                <a16:creationId xmlns:a16="http://schemas.microsoft.com/office/drawing/2014/main" id="{4FF60718-EBA1-8A08-FB17-98A51AF885D8}"/>
              </a:ext>
            </a:extLst>
          </p:cNvPr>
          <p:cNvGrpSpPr/>
          <p:nvPr/>
        </p:nvGrpSpPr>
        <p:grpSpPr>
          <a:xfrm>
            <a:off x="201799" y="6299912"/>
            <a:ext cx="484000" cy="484000"/>
            <a:chOff x="7649095" y="416458"/>
            <a:chExt cx="363000" cy="363000"/>
          </a:xfrm>
        </p:grpSpPr>
        <p:pic>
          <p:nvPicPr>
            <p:cNvPr id="6" name="Graphic 5" descr="Users with solid fill">
              <a:extLst>
                <a:ext uri="{FF2B5EF4-FFF2-40B4-BE49-F238E27FC236}">
                  <a16:creationId xmlns:a16="http://schemas.microsoft.com/office/drawing/2014/main" id="{1B598B91-727B-F2D6-44CC-69B9E0034C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49095" y="416458"/>
              <a:ext cx="363000" cy="363000"/>
            </a:xfrm>
            <a:prstGeom prst="rect">
              <a:avLst/>
            </a:prstGeom>
          </p:spPr>
        </p:pic>
        <p:sp>
          <p:nvSpPr>
            <p:cNvPr id="7" name="Oval 6">
              <a:extLst>
                <a:ext uri="{FF2B5EF4-FFF2-40B4-BE49-F238E27FC236}">
                  <a16:creationId xmlns:a16="http://schemas.microsoft.com/office/drawing/2014/main" id="{4030E84C-1FD8-E65A-3F38-D01CEFE95885}"/>
                </a:ext>
              </a:extLst>
            </p:cNvPr>
            <p:cNvSpPr/>
            <p:nvPr/>
          </p:nvSpPr>
          <p:spPr>
            <a:xfrm>
              <a:off x="7793284" y="547279"/>
              <a:ext cx="73819" cy="73819"/>
            </a:xfrm>
            <a:prstGeom prst="ellips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600" err="1">
                <a:solidFill>
                  <a:srgbClr val="FFFFFF"/>
                </a:solidFill>
                <a:latin typeface="Verdana" charset="0"/>
                <a:ea typeface="Verdana" charset="0"/>
                <a:cs typeface="Verdana" charset="0"/>
              </a:endParaRPr>
            </a:p>
          </p:txBody>
        </p:sp>
      </p:grpSp>
      <p:cxnSp>
        <p:nvCxnSpPr>
          <p:cNvPr id="8" name="Straight Connector 7">
            <a:extLst>
              <a:ext uri="{FF2B5EF4-FFF2-40B4-BE49-F238E27FC236}">
                <a16:creationId xmlns:a16="http://schemas.microsoft.com/office/drawing/2014/main" id="{9CD5DB79-6D44-2279-B69D-2DFBE8F03923}"/>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DC2D2DC-B07A-54E9-D8EB-50FB7B53F517}"/>
              </a:ext>
            </a:extLst>
          </p:cNvPr>
          <p:cNvSpPr txBox="1"/>
          <p:nvPr/>
        </p:nvSpPr>
        <p:spPr>
          <a:xfrm>
            <a:off x="668775" y="1414272"/>
            <a:ext cx="4389120" cy="359009"/>
          </a:xfrm>
          <a:prstGeom prst="rect">
            <a:avLst/>
          </a:prstGeom>
          <a:noFill/>
        </p:spPr>
        <p:txBody>
          <a:bodyPr wrap="square" lIns="0" rtlCol="0">
            <a:spAutoFit/>
          </a:bodyPr>
          <a:lstStyle/>
          <a:p>
            <a:pPr algn="ctr" defTabSz="1219170">
              <a:spcAft>
                <a:spcPts val="1067"/>
              </a:spcAft>
            </a:pPr>
            <a:r>
              <a:rPr lang="en-US" sz="1733">
                <a:solidFill>
                  <a:srgbClr val="F2F1EE"/>
                </a:solidFill>
                <a:latin typeface="Arial" panose="020B0604020202020204"/>
              </a:rPr>
              <a:t>In-Year Planning vs. Actuals Tracking</a:t>
            </a:r>
          </a:p>
        </p:txBody>
      </p:sp>
    </p:spTree>
    <p:extLst>
      <p:ext uri="{BB962C8B-B14F-4D97-AF65-F5344CB8AC3E}">
        <p14:creationId xmlns:p14="http://schemas.microsoft.com/office/powerpoint/2010/main" val="1210860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Hexagon 38">
            <a:extLst>
              <a:ext uri="{FF2B5EF4-FFF2-40B4-BE49-F238E27FC236}">
                <a16:creationId xmlns:a16="http://schemas.microsoft.com/office/drawing/2014/main" id="{F9C4AE09-4114-8E5D-8E4C-FDC7AC7F24AB}"/>
              </a:ext>
            </a:extLst>
          </p:cNvPr>
          <p:cNvSpPr/>
          <p:nvPr/>
        </p:nvSpPr>
        <p:spPr>
          <a:xfrm>
            <a:off x="4109825" y="1088553"/>
            <a:ext cx="3590239" cy="2959335"/>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E99D5142-6FE2-8914-83CD-2A02EF67B19F}"/>
              </a:ext>
            </a:extLst>
          </p:cNvPr>
          <p:cNvSpPr/>
          <p:nvPr/>
        </p:nvSpPr>
        <p:spPr>
          <a:xfrm>
            <a:off x="173693" y="1159766"/>
            <a:ext cx="3657600" cy="169186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56" name="TextBox 55">
            <a:extLst>
              <a:ext uri="{FF2B5EF4-FFF2-40B4-BE49-F238E27FC236}">
                <a16:creationId xmlns:a16="http://schemas.microsoft.com/office/drawing/2014/main" id="{D1682236-EE74-3B31-9B34-F243DF178587}"/>
              </a:ext>
            </a:extLst>
          </p:cNvPr>
          <p:cNvSpPr txBox="1"/>
          <p:nvPr/>
        </p:nvSpPr>
        <p:spPr>
          <a:xfrm>
            <a:off x="365760" y="1219731"/>
            <a:ext cx="3251200" cy="338554"/>
          </a:xfrm>
          <a:prstGeom prst="rect">
            <a:avLst/>
          </a:prstGeom>
          <a:noFill/>
        </p:spPr>
        <p:txBody>
          <a:bodyPr wrap="square" lIns="0" rtlCol="0">
            <a:spAutoFit/>
          </a:bodyPr>
          <a:lstStyle/>
          <a:p>
            <a:pPr marL="137154" indent="-137154" algn="ctr" defTabSz="914377" fontAlgn="base"/>
            <a:r>
              <a:rPr lang="en-US" sz="1600" b="1">
                <a:solidFill>
                  <a:srgbClr val="0A2F46"/>
                </a:solidFill>
                <a:latin typeface="Arial" panose="020B0604020202020204"/>
              </a:rPr>
              <a:t>FTE &amp; Headcount Reporting</a:t>
            </a:r>
          </a:p>
        </p:txBody>
      </p:sp>
      <p:sp>
        <p:nvSpPr>
          <p:cNvPr id="59" name="Text Placeholder 12">
            <a:extLst>
              <a:ext uri="{FF2B5EF4-FFF2-40B4-BE49-F238E27FC236}">
                <a16:creationId xmlns:a16="http://schemas.microsoft.com/office/drawing/2014/main" id="{21D34279-E371-1099-3921-9F8344869FE2}"/>
              </a:ext>
            </a:extLst>
          </p:cNvPr>
          <p:cNvSpPr txBox="1">
            <a:spLocks/>
          </p:cNvSpPr>
          <p:nvPr/>
        </p:nvSpPr>
        <p:spPr>
          <a:xfrm>
            <a:off x="137976" y="1618250"/>
            <a:ext cx="3693317" cy="1146471"/>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44" lvl="1" indent="-194306" defTabSz="1625478" fontAlgn="base">
              <a:buClr>
                <a:srgbClr val="FF6100"/>
              </a:buClr>
              <a:buFont typeface="Wingdings" pitchFamily="2" charset="2"/>
              <a:buChar char="ü"/>
            </a:pPr>
            <a:r>
              <a:rPr lang="en-US" sz="1051">
                <a:solidFill>
                  <a:srgbClr val="000000"/>
                </a:solidFill>
              </a:rPr>
              <a:t>Track FTE and headcount with real-time visibility by role, hierarchy, and month across the GTM hierarchies</a:t>
            </a:r>
          </a:p>
          <a:p>
            <a:pPr marL="255244" lvl="1" indent="-194306" defTabSz="1625478" fontAlgn="base">
              <a:buClr>
                <a:srgbClr val="FF6100"/>
              </a:buClr>
              <a:buFont typeface="Wingdings" pitchFamily="2" charset="2"/>
              <a:buChar char="ü"/>
            </a:pPr>
            <a:r>
              <a:rPr lang="en-US" sz="1051">
                <a:solidFill>
                  <a:srgbClr val="000000"/>
                </a:solidFill>
              </a:rPr>
              <a:t>View employee-level details, role history, and model ramp assumptions</a:t>
            </a:r>
          </a:p>
        </p:txBody>
      </p:sp>
      <p:sp>
        <p:nvSpPr>
          <p:cNvPr id="88" name="Title 1">
            <a:extLst>
              <a:ext uri="{FF2B5EF4-FFF2-40B4-BE49-F238E27FC236}">
                <a16:creationId xmlns:a16="http://schemas.microsoft.com/office/drawing/2014/main" id="{7EB6A83E-6E60-F4A3-B918-3C598A7E963C}"/>
              </a:ext>
            </a:extLst>
          </p:cNvPr>
          <p:cNvSpPr>
            <a:spLocks noGrp="1"/>
          </p:cNvSpPr>
          <p:nvPr>
            <p:ph type="title"/>
          </p:nvPr>
        </p:nvSpPr>
        <p:spPr/>
        <p:txBody>
          <a:bodyPr/>
          <a:lstStyle/>
          <a:p>
            <a:r>
              <a:rPr lang="en-US"/>
              <a:t>Anaplan Go-to-Market Capacity Planning Application – Summary</a:t>
            </a:r>
          </a:p>
        </p:txBody>
      </p:sp>
      <p:sp>
        <p:nvSpPr>
          <p:cNvPr id="18" name="Rounded Rectangle 17">
            <a:extLst>
              <a:ext uri="{FF2B5EF4-FFF2-40B4-BE49-F238E27FC236}">
                <a16:creationId xmlns:a16="http://schemas.microsoft.com/office/drawing/2014/main" id="{7C8D85DB-4F88-AED2-AC77-7F623BDB7FE4}"/>
              </a:ext>
            </a:extLst>
          </p:cNvPr>
          <p:cNvSpPr/>
          <p:nvPr/>
        </p:nvSpPr>
        <p:spPr>
          <a:xfrm>
            <a:off x="4109823" y="4246367"/>
            <a:ext cx="3657600" cy="228600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19" name="TextBox 18">
            <a:extLst>
              <a:ext uri="{FF2B5EF4-FFF2-40B4-BE49-F238E27FC236}">
                <a16:creationId xmlns:a16="http://schemas.microsoft.com/office/drawing/2014/main" id="{2FBC931A-CB22-10A5-D708-F58C54C309E9}"/>
              </a:ext>
            </a:extLst>
          </p:cNvPr>
          <p:cNvSpPr txBox="1"/>
          <p:nvPr/>
        </p:nvSpPr>
        <p:spPr>
          <a:xfrm>
            <a:off x="4269280" y="4336918"/>
            <a:ext cx="3405792" cy="338554"/>
          </a:xfrm>
          <a:prstGeom prst="rect">
            <a:avLst/>
          </a:prstGeom>
          <a:noFill/>
        </p:spPr>
        <p:txBody>
          <a:bodyPr wrap="square" lIns="0" rtlCol="0">
            <a:spAutoFit/>
          </a:bodyPr>
          <a:lstStyle/>
          <a:p>
            <a:pPr algn="ctr" defTabSz="914377"/>
            <a:r>
              <a:rPr lang="en-US" sz="1600" b="1">
                <a:solidFill>
                  <a:srgbClr val="0A2F46"/>
                </a:solidFill>
                <a:latin typeface="Arial" panose="020B0604020202020204"/>
              </a:rPr>
              <a:t>Top-down &amp; Bottom-up Planning</a:t>
            </a:r>
            <a:endParaRPr lang="en-US" sz="1600">
              <a:solidFill>
                <a:srgbClr val="0A2F46"/>
              </a:solidFill>
              <a:latin typeface="Arial" panose="020B0604020202020204" pitchFamily="34" charset="0"/>
              <a:ea typeface="Inter Light" panose="02000503000000020004" pitchFamily="2" charset="0"/>
              <a:cs typeface="Arial" panose="020B0604020202020204" pitchFamily="34" charset="0"/>
            </a:endParaRPr>
          </a:p>
        </p:txBody>
      </p:sp>
      <p:sp>
        <p:nvSpPr>
          <p:cNvPr id="20" name="Text Placeholder 12">
            <a:extLst>
              <a:ext uri="{FF2B5EF4-FFF2-40B4-BE49-F238E27FC236}">
                <a16:creationId xmlns:a16="http://schemas.microsoft.com/office/drawing/2014/main" id="{BAA5F487-351A-E22D-ED5F-9231986B5361}"/>
              </a:ext>
            </a:extLst>
          </p:cNvPr>
          <p:cNvSpPr txBox="1">
            <a:spLocks/>
          </p:cNvSpPr>
          <p:nvPr/>
        </p:nvSpPr>
        <p:spPr>
          <a:xfrm>
            <a:off x="4097124" y="4752746"/>
            <a:ext cx="3683001" cy="1146471"/>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44" lvl="1" indent="-194306" defTabSz="1625478" fontAlgn="base">
              <a:buClr>
                <a:srgbClr val="FF6100"/>
              </a:buClr>
              <a:buFont typeface="Wingdings" pitchFamily="2" charset="2"/>
              <a:buChar char="ü"/>
            </a:pPr>
            <a:r>
              <a:rPr lang="en-US" sz="1051">
                <a:solidFill>
                  <a:srgbClr val="000000"/>
                </a:solidFill>
              </a:rPr>
              <a:t>Input hiring, attrition, and productivity assumptions per role</a:t>
            </a:r>
          </a:p>
          <a:p>
            <a:pPr marL="255244" lvl="1" indent="-194306" defTabSz="1625478" fontAlgn="base">
              <a:buClr>
                <a:srgbClr val="FF6100"/>
              </a:buClr>
              <a:buFont typeface="Wingdings" pitchFamily="2" charset="2"/>
              <a:buChar char="ü"/>
            </a:pPr>
            <a:r>
              <a:rPr lang="en-US" sz="1051">
                <a:solidFill>
                  <a:srgbClr val="000000"/>
                </a:solidFill>
              </a:rPr>
              <a:t>Track monthly headcount trends and hiring needs</a:t>
            </a:r>
          </a:p>
          <a:p>
            <a:pPr marL="255244" lvl="1" indent="-194306" defTabSz="1625478" fontAlgn="base">
              <a:buClr>
                <a:srgbClr val="FF6100"/>
              </a:buClr>
              <a:buFont typeface="Wingdings" pitchFamily="2" charset="2"/>
              <a:buChar char="ü"/>
            </a:pPr>
            <a:r>
              <a:rPr lang="en-US" sz="1051">
                <a:solidFill>
                  <a:srgbClr val="000000"/>
                </a:solidFill>
              </a:rPr>
              <a:t>Cascade resource allocation through the sales hierarchy</a:t>
            </a:r>
          </a:p>
          <a:p>
            <a:pPr marL="255244" lvl="1" indent="-194306" defTabSz="1625478" fontAlgn="base">
              <a:buClr>
                <a:srgbClr val="FF6100"/>
              </a:buClr>
              <a:buFont typeface="Wingdings" pitchFamily="2" charset="2"/>
              <a:buChar char="ü"/>
            </a:pPr>
            <a:r>
              <a:rPr lang="en-US" sz="1051">
                <a:solidFill>
                  <a:srgbClr val="000000"/>
                </a:solidFill>
              </a:rPr>
              <a:t>Apply constraints and recommendations for resource planning</a:t>
            </a:r>
          </a:p>
          <a:p>
            <a:pPr marL="255244" lvl="1" indent="-194306" defTabSz="1625478" fontAlgn="base">
              <a:buClr>
                <a:srgbClr val="FF6100"/>
              </a:buClr>
              <a:buFont typeface="Wingdings" pitchFamily="2" charset="2"/>
              <a:buChar char="ü"/>
            </a:pPr>
            <a:r>
              <a:rPr lang="en-US" sz="1051">
                <a:solidFill>
                  <a:srgbClr val="000000"/>
                </a:solidFill>
              </a:rPr>
              <a:t>Manage approvals and disputes in a structured workflow</a:t>
            </a:r>
          </a:p>
          <a:p>
            <a:pPr marL="0" indent="0" defTabSz="1625478" fontAlgn="base">
              <a:lnSpc>
                <a:spcPts val="1651"/>
              </a:lnSpc>
              <a:buClr>
                <a:srgbClr val="FF6100"/>
              </a:buClr>
              <a:buNone/>
            </a:pPr>
            <a:endParaRPr lang="en-US" sz="1000">
              <a:solidFill>
                <a:srgbClr val="000000"/>
              </a:solidFill>
            </a:endParaRPr>
          </a:p>
        </p:txBody>
      </p:sp>
      <p:grpSp>
        <p:nvGrpSpPr>
          <p:cNvPr id="48" name="Group 47">
            <a:extLst>
              <a:ext uri="{FF2B5EF4-FFF2-40B4-BE49-F238E27FC236}">
                <a16:creationId xmlns:a16="http://schemas.microsoft.com/office/drawing/2014/main" id="{37D1611A-0BAD-A08F-0B0F-1A562671017E}"/>
              </a:ext>
            </a:extLst>
          </p:cNvPr>
          <p:cNvGrpSpPr/>
          <p:nvPr/>
        </p:nvGrpSpPr>
        <p:grpSpPr>
          <a:xfrm>
            <a:off x="4895065" y="1106381"/>
            <a:ext cx="2131643" cy="2781690"/>
            <a:chOff x="1027960" y="276229"/>
            <a:chExt cx="1598732" cy="2086268"/>
          </a:xfrm>
        </p:grpSpPr>
        <p:sp>
          <p:nvSpPr>
            <p:cNvPr id="60" name="TextBox 59">
              <a:extLst>
                <a:ext uri="{FF2B5EF4-FFF2-40B4-BE49-F238E27FC236}">
                  <a16:creationId xmlns:a16="http://schemas.microsoft.com/office/drawing/2014/main" id="{D00B9230-C8C2-F020-0D26-319633BA3D12}"/>
                </a:ext>
              </a:extLst>
            </p:cNvPr>
            <p:cNvSpPr txBox="1"/>
            <p:nvPr/>
          </p:nvSpPr>
          <p:spPr>
            <a:xfrm>
              <a:off x="1027960" y="1862264"/>
              <a:ext cx="1598732" cy="500233"/>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140"/>
              <a:r>
                <a:rPr lang="en-US" sz="1867" b="1">
                  <a:solidFill>
                    <a:srgbClr val="0A2F46"/>
                  </a:solidFill>
                  <a:latin typeface="Aptos" panose="020B0004020202020204" pitchFamily="34" charset="0"/>
                  <a:ea typeface="Inter Light" panose="02000503000000020004" pitchFamily="2" charset="0"/>
                  <a:cs typeface="Arial" panose="020B0604020202020204" pitchFamily="34" charset="0"/>
                </a:rPr>
                <a:t>Go-to-Market Capacity Planning</a:t>
              </a:r>
            </a:p>
          </p:txBody>
        </p:sp>
        <p:cxnSp>
          <p:nvCxnSpPr>
            <p:cNvPr id="61" name="Straight Connector 60">
              <a:extLst>
                <a:ext uri="{FF2B5EF4-FFF2-40B4-BE49-F238E27FC236}">
                  <a16:creationId xmlns:a16="http://schemas.microsoft.com/office/drawing/2014/main" id="{06F7632C-0BE3-59EC-B24C-F9644B29F35F}"/>
                </a:ext>
              </a:extLst>
            </p:cNvPr>
            <p:cNvCxnSpPr>
              <a:cxnSpLocks/>
            </p:cNvCxnSpPr>
            <p:nvPr/>
          </p:nvCxnSpPr>
          <p:spPr>
            <a:xfrm flipH="1">
              <a:off x="1115795" y="1785190"/>
              <a:ext cx="1374105" cy="0"/>
            </a:xfrm>
            <a:prstGeom prst="line">
              <a:avLst/>
            </a:prstGeom>
            <a:ln w="2540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62" name="Group 61">
              <a:extLst>
                <a:ext uri="{FF2B5EF4-FFF2-40B4-BE49-F238E27FC236}">
                  <a16:creationId xmlns:a16="http://schemas.microsoft.com/office/drawing/2014/main" id="{E910D57B-F776-C7D7-1451-EF04C6C998ED}"/>
                </a:ext>
              </a:extLst>
            </p:cNvPr>
            <p:cNvGrpSpPr/>
            <p:nvPr/>
          </p:nvGrpSpPr>
          <p:grpSpPr>
            <a:xfrm rot="5400000">
              <a:off x="1115795" y="276229"/>
              <a:ext cx="1371600" cy="1371600"/>
              <a:chOff x="2878315" y="2306707"/>
              <a:chExt cx="1371600" cy="1371600"/>
            </a:xfrm>
          </p:grpSpPr>
          <p:sp>
            <p:nvSpPr>
              <p:cNvPr id="63" name="Oval 62">
                <a:extLst>
                  <a:ext uri="{FF2B5EF4-FFF2-40B4-BE49-F238E27FC236}">
                    <a16:creationId xmlns:a16="http://schemas.microsoft.com/office/drawing/2014/main" id="{5B216DFD-3EC4-57E9-3F53-B38F16B05671}"/>
                  </a:ext>
                </a:extLst>
              </p:cNvPr>
              <p:cNvSpPr>
                <a:spLocks noChangeAspect="1"/>
              </p:cNvSpPr>
              <p:nvPr/>
            </p:nvSpPr>
            <p:spPr>
              <a:xfrm>
                <a:off x="3969100" y="2476524"/>
                <a:ext cx="182880" cy="1828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140"/>
                <a:endParaRPr lang="en-US" sz="2133">
                  <a:solidFill>
                    <a:srgbClr val="FFFFFF"/>
                  </a:solidFill>
                  <a:latin typeface="Arial" panose="020B0604020202020204" pitchFamily="34" charset="0"/>
                  <a:ea typeface="Verdana" charset="0"/>
                  <a:cs typeface="Arial" panose="020B0604020202020204" pitchFamily="34" charset="0"/>
                </a:endParaRPr>
              </a:p>
            </p:txBody>
          </p:sp>
          <p:sp>
            <p:nvSpPr>
              <p:cNvPr id="64" name="Oval 63">
                <a:extLst>
                  <a:ext uri="{FF2B5EF4-FFF2-40B4-BE49-F238E27FC236}">
                    <a16:creationId xmlns:a16="http://schemas.microsoft.com/office/drawing/2014/main" id="{0595E183-4A2F-E44F-79B2-408F25A81EC6}"/>
                  </a:ext>
                </a:extLst>
              </p:cNvPr>
              <p:cNvSpPr>
                <a:spLocks noChangeAspect="1"/>
              </p:cNvSpPr>
              <p:nvPr/>
            </p:nvSpPr>
            <p:spPr>
              <a:xfrm>
                <a:off x="2965939" y="2936632"/>
                <a:ext cx="182880" cy="1828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140"/>
                <a:endParaRPr lang="en-US" sz="2133">
                  <a:solidFill>
                    <a:srgbClr val="FFFFFF"/>
                  </a:solidFill>
                  <a:latin typeface="Arial" panose="020B0604020202020204" pitchFamily="34" charset="0"/>
                  <a:ea typeface="Verdana" charset="0"/>
                  <a:cs typeface="Arial" panose="020B0604020202020204" pitchFamily="34" charset="0"/>
                </a:endParaRPr>
              </a:p>
            </p:txBody>
          </p:sp>
          <p:sp>
            <p:nvSpPr>
              <p:cNvPr id="65" name="Oval 64">
                <a:extLst>
                  <a:ext uri="{FF2B5EF4-FFF2-40B4-BE49-F238E27FC236}">
                    <a16:creationId xmlns:a16="http://schemas.microsoft.com/office/drawing/2014/main" id="{AE91513F-DA0D-43EA-A44A-0958E067E22B}"/>
                  </a:ext>
                </a:extLst>
              </p:cNvPr>
              <p:cNvSpPr>
                <a:spLocks noChangeAspect="1"/>
              </p:cNvSpPr>
              <p:nvPr/>
            </p:nvSpPr>
            <p:spPr>
              <a:xfrm>
                <a:off x="3969100" y="3320144"/>
                <a:ext cx="182880" cy="1828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140"/>
                <a:endParaRPr lang="en-US" sz="2133">
                  <a:solidFill>
                    <a:srgbClr val="FFFFFF"/>
                  </a:solidFill>
                  <a:latin typeface="Arial" panose="020B0604020202020204" pitchFamily="34" charset="0"/>
                  <a:ea typeface="Verdana" charset="0"/>
                  <a:cs typeface="Arial" panose="020B0604020202020204" pitchFamily="34" charset="0"/>
                </a:endParaRPr>
              </a:p>
            </p:txBody>
          </p:sp>
          <p:pic>
            <p:nvPicPr>
              <p:cNvPr id="66" name="Graphic 4">
                <a:extLst>
                  <a:ext uri="{FF2B5EF4-FFF2-40B4-BE49-F238E27FC236}">
                    <a16:creationId xmlns:a16="http://schemas.microsoft.com/office/drawing/2014/main" id="{A1E0E7EB-3051-9023-5AC8-35619FABB28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rot="10800000">
                <a:off x="2878315" y="2306707"/>
                <a:ext cx="1371600" cy="1371600"/>
              </a:xfrm>
              <a:prstGeom prst="rect">
                <a:avLst/>
              </a:prstGeom>
            </p:spPr>
          </p:pic>
        </p:grpSp>
      </p:grpSp>
      <p:sp>
        <p:nvSpPr>
          <p:cNvPr id="67" name="Rounded Rectangle 66">
            <a:extLst>
              <a:ext uri="{FF2B5EF4-FFF2-40B4-BE49-F238E27FC236}">
                <a16:creationId xmlns:a16="http://schemas.microsoft.com/office/drawing/2014/main" id="{977F8078-3A17-F1F9-936C-39934CBDD80D}"/>
              </a:ext>
            </a:extLst>
          </p:cNvPr>
          <p:cNvSpPr/>
          <p:nvPr/>
        </p:nvSpPr>
        <p:spPr>
          <a:xfrm>
            <a:off x="169144" y="3014490"/>
            <a:ext cx="3657600" cy="169186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68" name="TextBox 67">
            <a:extLst>
              <a:ext uri="{FF2B5EF4-FFF2-40B4-BE49-F238E27FC236}">
                <a16:creationId xmlns:a16="http://schemas.microsoft.com/office/drawing/2014/main" id="{9E611783-41E4-114D-1FEF-166A90A1CA77}"/>
              </a:ext>
            </a:extLst>
          </p:cNvPr>
          <p:cNvSpPr txBox="1"/>
          <p:nvPr/>
        </p:nvSpPr>
        <p:spPr>
          <a:xfrm>
            <a:off x="361211" y="3074455"/>
            <a:ext cx="3251200" cy="338554"/>
          </a:xfrm>
          <a:prstGeom prst="rect">
            <a:avLst/>
          </a:prstGeom>
          <a:noFill/>
        </p:spPr>
        <p:txBody>
          <a:bodyPr wrap="square" lIns="0" rtlCol="0">
            <a:spAutoFit/>
          </a:bodyPr>
          <a:lstStyle/>
          <a:p>
            <a:pPr marL="137154" indent="-137154" algn="ctr" defTabSz="914377" fontAlgn="base"/>
            <a:r>
              <a:rPr lang="en-US" sz="1600" b="1">
                <a:solidFill>
                  <a:srgbClr val="0A2F46"/>
                </a:solidFill>
                <a:latin typeface="Arial" panose="020B0604020202020204"/>
              </a:rPr>
              <a:t>Coverage Analysis</a:t>
            </a:r>
          </a:p>
        </p:txBody>
      </p:sp>
      <p:sp>
        <p:nvSpPr>
          <p:cNvPr id="69" name="Text Placeholder 12">
            <a:extLst>
              <a:ext uri="{FF2B5EF4-FFF2-40B4-BE49-F238E27FC236}">
                <a16:creationId xmlns:a16="http://schemas.microsoft.com/office/drawing/2014/main" id="{DD9218D9-CB68-DF96-8F35-6675684342AB}"/>
              </a:ext>
            </a:extLst>
          </p:cNvPr>
          <p:cNvSpPr txBox="1">
            <a:spLocks/>
          </p:cNvSpPr>
          <p:nvPr/>
        </p:nvSpPr>
        <p:spPr>
          <a:xfrm>
            <a:off x="133428" y="3472974"/>
            <a:ext cx="3693317" cy="1146471"/>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44" lvl="1" indent="-194306" defTabSz="1625478" fontAlgn="base">
              <a:buClr>
                <a:srgbClr val="FF6100"/>
              </a:buClr>
              <a:buFont typeface="Wingdings" pitchFamily="2" charset="2"/>
              <a:buChar char="ü"/>
            </a:pPr>
            <a:r>
              <a:rPr lang="en-US" sz="1051">
                <a:solidFill>
                  <a:srgbClr val="000000"/>
                </a:solidFill>
              </a:rPr>
              <a:t>Identify HC gaps and optimize core vs. support resources</a:t>
            </a:r>
          </a:p>
          <a:p>
            <a:pPr marL="255244" lvl="1" indent="-194306" defTabSz="1625478" fontAlgn="base">
              <a:buClr>
                <a:srgbClr val="FF6100"/>
              </a:buClr>
              <a:buFont typeface="Wingdings" pitchFamily="2" charset="2"/>
              <a:buChar char="ü"/>
            </a:pPr>
            <a:r>
              <a:rPr lang="en-US" sz="1051">
                <a:solidFill>
                  <a:srgbClr val="000000"/>
                </a:solidFill>
              </a:rPr>
              <a:t>Define role-based and time-based coverage assumptions</a:t>
            </a:r>
          </a:p>
          <a:p>
            <a:pPr marL="152378" lvl="1" indent="0" defTabSz="1219140" fontAlgn="base">
              <a:buClr>
                <a:srgbClr val="FF6100"/>
              </a:buClr>
              <a:buNone/>
            </a:pPr>
            <a:endParaRPr lang="en-US" sz="1051">
              <a:solidFill>
                <a:srgbClr val="000000"/>
              </a:solidFill>
            </a:endParaRPr>
          </a:p>
        </p:txBody>
      </p:sp>
      <p:sp>
        <p:nvSpPr>
          <p:cNvPr id="70" name="Rounded Rectangle 69">
            <a:extLst>
              <a:ext uri="{FF2B5EF4-FFF2-40B4-BE49-F238E27FC236}">
                <a16:creationId xmlns:a16="http://schemas.microsoft.com/office/drawing/2014/main" id="{E88C595E-6E4C-23AB-2B53-F32C38ED819E}"/>
              </a:ext>
            </a:extLst>
          </p:cNvPr>
          <p:cNvSpPr/>
          <p:nvPr/>
        </p:nvSpPr>
        <p:spPr>
          <a:xfrm>
            <a:off x="133427" y="4869214"/>
            <a:ext cx="3657600" cy="169186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72" name="TextBox 71">
            <a:extLst>
              <a:ext uri="{FF2B5EF4-FFF2-40B4-BE49-F238E27FC236}">
                <a16:creationId xmlns:a16="http://schemas.microsoft.com/office/drawing/2014/main" id="{1BFF8330-A675-A1E3-2004-1DE5994133A5}"/>
              </a:ext>
            </a:extLst>
          </p:cNvPr>
          <p:cNvSpPr txBox="1"/>
          <p:nvPr/>
        </p:nvSpPr>
        <p:spPr>
          <a:xfrm>
            <a:off x="325495" y="4929179"/>
            <a:ext cx="3251200" cy="584775"/>
          </a:xfrm>
          <a:prstGeom prst="rect">
            <a:avLst/>
          </a:prstGeom>
          <a:noFill/>
        </p:spPr>
        <p:txBody>
          <a:bodyPr wrap="square" lIns="0" rtlCol="0">
            <a:spAutoFit/>
          </a:bodyPr>
          <a:lstStyle/>
          <a:p>
            <a:pPr marL="137154" indent="-137154" algn="ctr" defTabSz="914377" fontAlgn="base"/>
            <a:r>
              <a:rPr lang="en-US" sz="1600" b="1">
                <a:solidFill>
                  <a:srgbClr val="0A2F46"/>
                </a:solidFill>
                <a:latin typeface="Arial" panose="020B0604020202020204"/>
              </a:rPr>
              <a:t>Productivity &amp; Performance Analysis</a:t>
            </a:r>
          </a:p>
        </p:txBody>
      </p:sp>
      <p:sp>
        <p:nvSpPr>
          <p:cNvPr id="73" name="Text Placeholder 12">
            <a:extLst>
              <a:ext uri="{FF2B5EF4-FFF2-40B4-BE49-F238E27FC236}">
                <a16:creationId xmlns:a16="http://schemas.microsoft.com/office/drawing/2014/main" id="{B5131860-9BDB-0AEA-F59A-11DA8DC67877}"/>
              </a:ext>
            </a:extLst>
          </p:cNvPr>
          <p:cNvSpPr txBox="1">
            <a:spLocks/>
          </p:cNvSpPr>
          <p:nvPr/>
        </p:nvSpPr>
        <p:spPr>
          <a:xfrm>
            <a:off x="97711" y="5554918"/>
            <a:ext cx="3693317" cy="1146471"/>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44" lvl="1" indent="-194306" defTabSz="1625478" fontAlgn="base">
              <a:buClr>
                <a:srgbClr val="FF6100"/>
              </a:buClr>
              <a:buFont typeface="Wingdings" pitchFamily="2" charset="2"/>
              <a:buChar char="ü"/>
            </a:pPr>
            <a:r>
              <a:rPr lang="en-US" sz="1051">
                <a:solidFill>
                  <a:srgbClr val="000000"/>
                </a:solidFill>
              </a:rPr>
              <a:t>Analyze and compare reps against role-based performance by configurable dimensions (e.g., segment, industry, tenure) </a:t>
            </a:r>
          </a:p>
          <a:p>
            <a:pPr marL="255244" lvl="1" indent="-194306" defTabSz="1625478" fontAlgn="base">
              <a:buClr>
                <a:srgbClr val="FF6100"/>
              </a:buClr>
              <a:buFont typeface="Wingdings" pitchFamily="2" charset="2"/>
              <a:buChar char="ü"/>
            </a:pPr>
            <a:r>
              <a:rPr lang="en-US" sz="1051">
                <a:solidFill>
                  <a:srgbClr val="000000"/>
                </a:solidFill>
              </a:rPr>
              <a:t>Model productivity uplift</a:t>
            </a:r>
          </a:p>
        </p:txBody>
      </p:sp>
      <p:sp>
        <p:nvSpPr>
          <p:cNvPr id="74" name="Rounded Rectangle 73">
            <a:extLst>
              <a:ext uri="{FF2B5EF4-FFF2-40B4-BE49-F238E27FC236}">
                <a16:creationId xmlns:a16="http://schemas.microsoft.com/office/drawing/2014/main" id="{3EF08B66-B704-F82A-EE67-31B404BBD9CD}"/>
              </a:ext>
            </a:extLst>
          </p:cNvPr>
          <p:cNvSpPr/>
          <p:nvPr/>
        </p:nvSpPr>
        <p:spPr>
          <a:xfrm>
            <a:off x="8098919" y="1159766"/>
            <a:ext cx="3657600" cy="169186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75" name="TextBox 74">
            <a:extLst>
              <a:ext uri="{FF2B5EF4-FFF2-40B4-BE49-F238E27FC236}">
                <a16:creationId xmlns:a16="http://schemas.microsoft.com/office/drawing/2014/main" id="{3F89575C-DBBC-FBB5-EE9A-B19F7DEF9985}"/>
              </a:ext>
            </a:extLst>
          </p:cNvPr>
          <p:cNvSpPr txBox="1"/>
          <p:nvPr/>
        </p:nvSpPr>
        <p:spPr>
          <a:xfrm>
            <a:off x="8290987" y="1219731"/>
            <a:ext cx="3251200" cy="338554"/>
          </a:xfrm>
          <a:prstGeom prst="rect">
            <a:avLst/>
          </a:prstGeom>
          <a:noFill/>
        </p:spPr>
        <p:txBody>
          <a:bodyPr wrap="square" lIns="0" rtlCol="0">
            <a:spAutoFit/>
          </a:bodyPr>
          <a:lstStyle/>
          <a:p>
            <a:pPr marL="137154" indent="-137154" algn="ctr" defTabSz="914377" fontAlgn="base"/>
            <a:r>
              <a:rPr lang="en-US" sz="1600" b="1">
                <a:solidFill>
                  <a:srgbClr val="0A2F46"/>
                </a:solidFill>
                <a:latin typeface="Arial" panose="020B0604020202020204"/>
              </a:rPr>
              <a:t>Sales Margin Planning</a:t>
            </a:r>
          </a:p>
        </p:txBody>
      </p:sp>
      <p:sp>
        <p:nvSpPr>
          <p:cNvPr id="78" name="Text Placeholder 12">
            <a:extLst>
              <a:ext uri="{FF2B5EF4-FFF2-40B4-BE49-F238E27FC236}">
                <a16:creationId xmlns:a16="http://schemas.microsoft.com/office/drawing/2014/main" id="{2DBD6826-C01A-76B9-3992-FC41BFAEFAA9}"/>
              </a:ext>
            </a:extLst>
          </p:cNvPr>
          <p:cNvSpPr txBox="1">
            <a:spLocks/>
          </p:cNvSpPr>
          <p:nvPr/>
        </p:nvSpPr>
        <p:spPr>
          <a:xfrm>
            <a:off x="8063203" y="1618250"/>
            <a:ext cx="3693317" cy="1146471"/>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44" lvl="1" indent="-194306" defTabSz="1625478" fontAlgn="base">
              <a:buClr>
                <a:srgbClr val="FF6100"/>
              </a:buClr>
              <a:buFont typeface="Wingdings" pitchFamily="2" charset="2"/>
              <a:buChar char="ü"/>
            </a:pPr>
            <a:r>
              <a:rPr lang="en-US" sz="1051">
                <a:solidFill>
                  <a:srgbClr val="000000"/>
                </a:solidFill>
              </a:rPr>
              <a:t>Define role-based cost structures and aggregate data</a:t>
            </a:r>
          </a:p>
          <a:p>
            <a:pPr marL="255244" lvl="1" indent="-194306" defTabSz="1625478" fontAlgn="base">
              <a:buClr>
                <a:srgbClr val="FF6100"/>
              </a:buClr>
              <a:buFont typeface="Wingdings" pitchFamily="2" charset="2"/>
              <a:buChar char="ü"/>
            </a:pPr>
            <a:r>
              <a:rPr lang="en-US" sz="1051">
                <a:solidFill>
                  <a:srgbClr val="000000"/>
                </a:solidFill>
              </a:rPr>
              <a:t>Track monthly sales margins based on productivity and ramping</a:t>
            </a:r>
          </a:p>
        </p:txBody>
      </p:sp>
      <p:sp>
        <p:nvSpPr>
          <p:cNvPr id="79" name="Rounded Rectangle 78">
            <a:extLst>
              <a:ext uri="{FF2B5EF4-FFF2-40B4-BE49-F238E27FC236}">
                <a16:creationId xmlns:a16="http://schemas.microsoft.com/office/drawing/2014/main" id="{F77D850E-EE44-A56C-538F-13F60637645B}"/>
              </a:ext>
            </a:extLst>
          </p:cNvPr>
          <p:cNvSpPr/>
          <p:nvPr/>
        </p:nvSpPr>
        <p:spPr>
          <a:xfrm>
            <a:off x="8094371" y="3014490"/>
            <a:ext cx="3657600" cy="169186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80" name="TextBox 79">
            <a:extLst>
              <a:ext uri="{FF2B5EF4-FFF2-40B4-BE49-F238E27FC236}">
                <a16:creationId xmlns:a16="http://schemas.microsoft.com/office/drawing/2014/main" id="{3B615E69-AD5A-3D0F-BE30-73DE9E9757F8}"/>
              </a:ext>
            </a:extLst>
          </p:cNvPr>
          <p:cNvSpPr txBox="1"/>
          <p:nvPr/>
        </p:nvSpPr>
        <p:spPr>
          <a:xfrm>
            <a:off x="8286437" y="3074455"/>
            <a:ext cx="3251200" cy="338554"/>
          </a:xfrm>
          <a:prstGeom prst="rect">
            <a:avLst/>
          </a:prstGeom>
          <a:noFill/>
        </p:spPr>
        <p:txBody>
          <a:bodyPr wrap="square" lIns="0" rtlCol="0">
            <a:spAutoFit/>
          </a:bodyPr>
          <a:lstStyle/>
          <a:p>
            <a:pPr marL="137154" indent="-137154" algn="ctr" defTabSz="914377" fontAlgn="base"/>
            <a:r>
              <a:rPr lang="en-US" sz="1600" b="1">
                <a:solidFill>
                  <a:srgbClr val="0A2F46"/>
                </a:solidFill>
                <a:latin typeface="Arial" panose="020B0604020202020204"/>
              </a:rPr>
              <a:t>In-Year vs. Actual Planning</a:t>
            </a:r>
          </a:p>
        </p:txBody>
      </p:sp>
      <p:sp>
        <p:nvSpPr>
          <p:cNvPr id="81" name="Text Placeholder 12">
            <a:extLst>
              <a:ext uri="{FF2B5EF4-FFF2-40B4-BE49-F238E27FC236}">
                <a16:creationId xmlns:a16="http://schemas.microsoft.com/office/drawing/2014/main" id="{40BA356D-E872-FC43-98BC-B985ED84BFCD}"/>
              </a:ext>
            </a:extLst>
          </p:cNvPr>
          <p:cNvSpPr txBox="1">
            <a:spLocks/>
          </p:cNvSpPr>
          <p:nvPr/>
        </p:nvSpPr>
        <p:spPr>
          <a:xfrm>
            <a:off x="8058654" y="3498376"/>
            <a:ext cx="3693317" cy="773393"/>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44" lvl="1" indent="-194306" defTabSz="1625478" fontAlgn="base">
              <a:buClr>
                <a:srgbClr val="FF6100"/>
              </a:buClr>
              <a:buFont typeface="Wingdings" pitchFamily="2" charset="2"/>
              <a:buChar char="ü"/>
            </a:pPr>
            <a:r>
              <a:rPr lang="en-US" sz="1051">
                <a:solidFill>
                  <a:srgbClr val="000000"/>
                </a:solidFill>
              </a:rPr>
              <a:t>Lock planning inputs and snapshot hiring plans</a:t>
            </a:r>
          </a:p>
          <a:p>
            <a:pPr marL="255244" lvl="1" indent="-194306" defTabSz="1625478" fontAlgn="base">
              <a:buClr>
                <a:srgbClr val="FF6100"/>
              </a:buClr>
              <a:buFont typeface="Wingdings" pitchFamily="2" charset="2"/>
              <a:buChar char="ü"/>
            </a:pPr>
            <a:r>
              <a:rPr lang="en-US" sz="1051">
                <a:solidFill>
                  <a:srgbClr val="000000"/>
                </a:solidFill>
              </a:rPr>
              <a:t>Compare actual vs. planned HC and hiring needs for realignment; re-open planning period to adjust strategy</a:t>
            </a:r>
          </a:p>
        </p:txBody>
      </p:sp>
      <p:sp>
        <p:nvSpPr>
          <p:cNvPr id="82" name="Rounded Rectangle 81">
            <a:extLst>
              <a:ext uri="{FF2B5EF4-FFF2-40B4-BE49-F238E27FC236}">
                <a16:creationId xmlns:a16="http://schemas.microsoft.com/office/drawing/2014/main" id="{21BD717E-547A-3F7B-7CF0-B5B905BC50D9}"/>
              </a:ext>
            </a:extLst>
          </p:cNvPr>
          <p:cNvSpPr/>
          <p:nvPr/>
        </p:nvSpPr>
        <p:spPr>
          <a:xfrm>
            <a:off x="8058653" y="4869214"/>
            <a:ext cx="3657600" cy="169186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83" name="TextBox 82">
            <a:extLst>
              <a:ext uri="{FF2B5EF4-FFF2-40B4-BE49-F238E27FC236}">
                <a16:creationId xmlns:a16="http://schemas.microsoft.com/office/drawing/2014/main" id="{FF57AB14-794E-AF5C-0932-05A54EADC0A3}"/>
              </a:ext>
            </a:extLst>
          </p:cNvPr>
          <p:cNvSpPr txBox="1"/>
          <p:nvPr/>
        </p:nvSpPr>
        <p:spPr>
          <a:xfrm>
            <a:off x="8250720" y="4929179"/>
            <a:ext cx="3251200" cy="338554"/>
          </a:xfrm>
          <a:prstGeom prst="rect">
            <a:avLst/>
          </a:prstGeom>
          <a:noFill/>
        </p:spPr>
        <p:txBody>
          <a:bodyPr wrap="square" lIns="0" rtlCol="0">
            <a:spAutoFit/>
          </a:bodyPr>
          <a:lstStyle/>
          <a:p>
            <a:pPr marL="0" lvl="1" algn="ctr" defTabSz="914377" fontAlgn="base">
              <a:buClr>
                <a:srgbClr val="FF6100"/>
              </a:buClr>
            </a:pPr>
            <a:r>
              <a:rPr lang="en-US" sz="1600" b="1">
                <a:solidFill>
                  <a:srgbClr val="0A2F46"/>
                </a:solidFill>
                <a:latin typeface="Arial" panose="020B0604020202020204"/>
              </a:rPr>
              <a:t>GTM Strategy &amp; Blueprinting</a:t>
            </a:r>
          </a:p>
        </p:txBody>
      </p:sp>
      <p:sp>
        <p:nvSpPr>
          <p:cNvPr id="84" name="Text Placeholder 12">
            <a:extLst>
              <a:ext uri="{FF2B5EF4-FFF2-40B4-BE49-F238E27FC236}">
                <a16:creationId xmlns:a16="http://schemas.microsoft.com/office/drawing/2014/main" id="{76D03136-6559-FADA-9655-A1B9129935DF}"/>
              </a:ext>
            </a:extLst>
          </p:cNvPr>
          <p:cNvSpPr txBox="1">
            <a:spLocks/>
          </p:cNvSpPr>
          <p:nvPr/>
        </p:nvSpPr>
        <p:spPr>
          <a:xfrm>
            <a:off x="8022936" y="5327698"/>
            <a:ext cx="3693317" cy="1146471"/>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44" lvl="1" indent="-194306" defTabSz="1625478" fontAlgn="base">
              <a:buClr>
                <a:srgbClr val="FF6100"/>
              </a:buClr>
              <a:buFont typeface="Wingdings" pitchFamily="2" charset="2"/>
              <a:buChar char="ü"/>
            </a:pPr>
            <a:r>
              <a:rPr lang="en-US" sz="1051">
                <a:solidFill>
                  <a:srgbClr val="000000"/>
                </a:solidFill>
              </a:rPr>
              <a:t>Model sales hierarchy changes in a sandbox.</a:t>
            </a:r>
          </a:p>
          <a:p>
            <a:pPr marL="255244" lvl="1" indent="-194306" defTabSz="1625478" fontAlgn="base">
              <a:buClr>
                <a:srgbClr val="FF6100"/>
              </a:buClr>
              <a:buFont typeface="Wingdings" pitchFamily="2" charset="2"/>
              <a:buChar char="ü"/>
            </a:pPr>
            <a:r>
              <a:rPr lang="en-US" sz="1051">
                <a:solidFill>
                  <a:srgbClr val="000000"/>
                </a:solidFill>
              </a:rPr>
              <a:t>Maintain an approval workflow and audit trail</a:t>
            </a:r>
          </a:p>
          <a:p>
            <a:pPr marL="255244" lvl="1" indent="-194306" defTabSz="1625478" fontAlgn="base">
              <a:buClr>
                <a:srgbClr val="FF6100"/>
              </a:buClr>
              <a:buFont typeface="Wingdings" pitchFamily="2" charset="2"/>
              <a:buChar char="ü"/>
            </a:pPr>
            <a:r>
              <a:rPr lang="en-US" sz="1051">
                <a:solidFill>
                  <a:srgbClr val="000000"/>
                </a:solidFill>
              </a:rPr>
              <a:t>Conduct what-if scenario modeling for strategic decisions</a:t>
            </a:r>
          </a:p>
          <a:p>
            <a:pPr marL="255244" lvl="1" indent="-194306" defTabSz="1625478" fontAlgn="base">
              <a:buClr>
                <a:srgbClr val="FF6100"/>
              </a:buClr>
              <a:buFont typeface="Wingdings" pitchFamily="2" charset="2"/>
              <a:buChar char="ü"/>
            </a:pPr>
            <a:r>
              <a:rPr lang="en-US" sz="1051">
                <a:solidFill>
                  <a:srgbClr val="000000"/>
                </a:solidFill>
              </a:rPr>
              <a:t>Approve and export finalized headcount plans</a:t>
            </a:r>
          </a:p>
          <a:p>
            <a:pPr marL="0" indent="0" defTabSz="1625478" fontAlgn="base">
              <a:lnSpc>
                <a:spcPts val="1651"/>
              </a:lnSpc>
              <a:buClr>
                <a:srgbClr val="FF6100"/>
              </a:buClr>
              <a:buNone/>
            </a:pPr>
            <a:endParaRPr lang="en-US" sz="1000">
              <a:solidFill>
                <a:srgbClr val="000000"/>
              </a:solidFill>
            </a:endParaRPr>
          </a:p>
        </p:txBody>
      </p:sp>
      <p:sp>
        <p:nvSpPr>
          <p:cNvPr id="2" name="Rounded Rectangle 1">
            <a:extLst>
              <a:ext uri="{FF2B5EF4-FFF2-40B4-BE49-F238E27FC236}">
                <a16:creationId xmlns:a16="http://schemas.microsoft.com/office/drawing/2014/main" id="{BDA3CC89-0BEE-822A-0092-C5ECC808962A}"/>
              </a:ext>
            </a:extLst>
          </p:cNvPr>
          <p:cNvSpPr/>
          <p:nvPr/>
        </p:nvSpPr>
        <p:spPr>
          <a:xfrm>
            <a:off x="5423978" y="0"/>
            <a:ext cx="6768023" cy="3928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1219140"/>
            <a:r>
              <a:rPr lang="en-US" sz="1000">
                <a:solidFill>
                  <a:srgbClr val="FFFFFF"/>
                </a:solidFill>
                <a:latin typeface="Arial"/>
                <a:ea typeface="Verdana"/>
                <a:cs typeface="Arial"/>
              </a:rPr>
              <a:t>DETAILED FUNCTIONALITY VIEW IS INTERNAL &amp; PARTNER ONLY – DO NOT SHARE WITH PROSPECTS</a:t>
            </a:r>
          </a:p>
        </p:txBody>
      </p:sp>
    </p:spTree>
    <p:extLst>
      <p:ext uri="{BB962C8B-B14F-4D97-AF65-F5344CB8AC3E}">
        <p14:creationId xmlns:p14="http://schemas.microsoft.com/office/powerpoint/2010/main" val="26271614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xml><?xml version="1.0" encoding="utf-8"?>
<p:tagLst xmlns:a="http://schemas.openxmlformats.org/drawingml/2006/main" xmlns:r="http://schemas.openxmlformats.org/officeDocument/2006/relationships" xmlns:p="http://schemas.openxmlformats.org/presentationml/2006/main">
  <p:tag name="SHAPENAME" val="5. Source"/>
</p:tagLst>
</file>

<file path=ppt/tags/tag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4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Props1.xml><?xml version="1.0" encoding="utf-8"?>
<ds:datastoreItem xmlns:ds="http://schemas.openxmlformats.org/officeDocument/2006/customXml" ds:itemID="{89856E5B-BD02-4189-8BCC-4CFDB700A158}">
  <ds:schemaRefs>
    <ds:schemaRef ds:uri="http://schemas.microsoft.com/sharepoint/v3/contenttype/forms"/>
  </ds:schemaRefs>
</ds:datastoreItem>
</file>

<file path=customXml/itemProps2.xml><?xml version="1.0" encoding="utf-8"?>
<ds:datastoreItem xmlns:ds="http://schemas.openxmlformats.org/officeDocument/2006/customXml" ds:itemID="{DD553BFB-0D94-4A12-B692-B66FD1C86D78}"/>
</file>

<file path=customXml/itemProps3.xml><?xml version="1.0" encoding="utf-8"?>
<ds:datastoreItem xmlns:ds="http://schemas.openxmlformats.org/officeDocument/2006/customXml" ds:itemID="{3F7DBD51-5FF7-49E1-8180-DAEE9CE59875}">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353273ea-d273-4542-842b-94f110f8e894"/>
    <ds:schemaRef ds:uri="758741ea-5fe0-4f3f-9056-0fecaa5078a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9</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1_Anaplan</vt:lpstr>
      <vt:lpstr>4_Anaplan</vt:lpstr>
      <vt:lpstr>Go-to-Market Capacity Planning Application</vt:lpstr>
      <vt:lpstr>GTM Capacity Planning Application</vt:lpstr>
      <vt:lpstr>PowerPoint Presentation</vt:lpstr>
      <vt:lpstr>Anaplan GTM Capacity Planning Application Out-of-the-box</vt:lpstr>
      <vt:lpstr>GTM Capacity Planning Application</vt:lpstr>
      <vt:lpstr>GTM Capacity Planning Application</vt:lpstr>
      <vt:lpstr>GTM Capacity Planning Application</vt:lpstr>
      <vt:lpstr>GTM Capacity Planning Application</vt:lpstr>
      <vt:lpstr>GTM Capacity Planning Application</vt:lpstr>
      <vt:lpstr>GTM Capacity Planning Application</vt:lpstr>
      <vt:lpstr>GTM Capacity Planning Application</vt:lpstr>
      <vt:lpstr>Anaplan Go-to-Market Capacity Planning Application –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Schera</dc:creator>
  <cp:revision>6</cp:revision>
  <dcterms:created xsi:type="dcterms:W3CDTF">2025-05-07T23:14:54Z</dcterms:created>
  <dcterms:modified xsi:type="dcterms:W3CDTF">2025-07-03T18:44:03Z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