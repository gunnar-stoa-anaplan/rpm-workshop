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27"/>
  </p:notesMasterIdLst>
  <p:handoutMasterIdLst>
    <p:handoutMasterId r:id="rId28"/>
  </p:handoutMasterIdLst>
  <p:sldIdLst>
    <p:sldId id="262" r:id="rId5"/>
    <p:sldId id="354" r:id="rId6"/>
    <p:sldId id="379" r:id="rId7"/>
    <p:sldId id="274" r:id="rId8"/>
    <p:sldId id="359" r:id="rId9"/>
    <p:sldId id="360" r:id="rId10"/>
    <p:sldId id="361" r:id="rId11"/>
    <p:sldId id="362" r:id="rId12"/>
    <p:sldId id="364" r:id="rId13"/>
    <p:sldId id="365" r:id="rId14"/>
    <p:sldId id="366" r:id="rId15"/>
    <p:sldId id="367" r:id="rId16"/>
    <p:sldId id="369" r:id="rId17"/>
    <p:sldId id="368" r:id="rId18"/>
    <p:sldId id="370" r:id="rId19"/>
    <p:sldId id="282" r:id="rId20"/>
    <p:sldId id="273" r:id="rId21"/>
    <p:sldId id="380" r:id="rId22"/>
    <p:sldId id="2147483646" r:id="rId23"/>
    <p:sldId id="2147483647" r:id="rId24"/>
    <p:sldId id="318" r:id="rId25"/>
    <p:sldId id="378"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A5DA225C-82D7-0241-9653-7D3D224E6F6E}">
          <p14:sldIdLst>
            <p14:sldId id="262"/>
            <p14:sldId id="354"/>
            <p14:sldId id="379"/>
            <p14:sldId id="274"/>
            <p14:sldId id="359"/>
            <p14:sldId id="360"/>
            <p14:sldId id="361"/>
            <p14:sldId id="362"/>
            <p14:sldId id="364"/>
            <p14:sldId id="365"/>
            <p14:sldId id="366"/>
            <p14:sldId id="367"/>
            <p14:sldId id="369"/>
            <p14:sldId id="368"/>
            <p14:sldId id="370"/>
            <p14:sldId id="282"/>
            <p14:sldId id="273"/>
            <p14:sldId id="380"/>
            <p14:sldId id="2147483646"/>
            <p14:sldId id="2147483647"/>
            <p14:sldId id="318"/>
            <p14:sldId id="378"/>
          </p14:sldIdLst>
        </p14:section>
      </p14:section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BD676F-8E28-25D4-2D0E-94EC625501E2}" name="Kerri Vogel" initials="KV" userId="S::kerri.vogel@anaplan.com::a3b61504-22a4-41c4-8fe9-cd561b1abc85"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001D32"/>
    <a:srgbClr val="3B596B"/>
    <a:srgbClr val="F0F1F7"/>
    <a:srgbClr val="C882D9"/>
    <a:srgbClr val="9696FA"/>
    <a:srgbClr val="8AE6D2"/>
    <a:srgbClr val="96B5FA"/>
    <a:srgbClr val="89E5D2"/>
    <a:srgbClr val="5BC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193592-A48A-4579-C32E-0D66464D7549}" v="1" dt="2026-04-08T00:24:29.85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D97ADCDC-7672-43A3-1876-0928B5E4072D}"/>
    <pc:docChg chg="addSld modSld sldOrd modSection">
      <pc:chgData name="Jon Newcomb" userId="S::jon.newcomb@anaplan.com::d672d284-d87e-4cae-bfeb-0aed989ae14e" providerId="AD" clId="Web-{D97ADCDC-7672-43A3-1876-0928B5E4072D}" dt="2026-03-16T19:29:09.112" v="1238"/>
      <pc:docMkLst>
        <pc:docMk/>
      </pc:docMkLst>
      <pc:sldChg chg="modSp">
        <pc:chgData name="Jon Newcomb" userId="S::jon.newcomb@anaplan.com::d672d284-d87e-4cae-bfeb-0aed989ae14e" providerId="AD" clId="Web-{D97ADCDC-7672-43A3-1876-0928B5E4072D}" dt="2026-03-16T19:03:10.794" v="0" actId="20577"/>
        <pc:sldMkLst>
          <pc:docMk/>
          <pc:sldMk cId="3642360078" sldId="262"/>
        </pc:sldMkLst>
        <pc:spChg chg="mod">
          <ac:chgData name="Jon Newcomb" userId="S::jon.newcomb@anaplan.com::d672d284-d87e-4cae-bfeb-0aed989ae14e" providerId="AD" clId="Web-{D97ADCDC-7672-43A3-1876-0928B5E4072D}" dt="2026-03-16T19:03:10.794" v="0" actId="20577"/>
          <ac:spMkLst>
            <pc:docMk/>
            <pc:sldMk cId="3642360078" sldId="262"/>
            <ac:spMk id="3" creationId="{14DE3491-D1C9-92B4-3C37-11F5948D6231}"/>
          </ac:spMkLst>
        </pc:spChg>
      </pc:sldChg>
      <pc:sldChg chg="addSp delSp modSp ord">
        <pc:chgData name="Jon Newcomb" userId="S::jon.newcomb@anaplan.com::d672d284-d87e-4cae-bfeb-0aed989ae14e" providerId="AD" clId="Web-{D97ADCDC-7672-43A3-1876-0928B5E4072D}" dt="2026-03-16T19:28:31.924" v="1174"/>
        <pc:sldMkLst>
          <pc:docMk/>
          <pc:sldMk cId="1816512502" sldId="354"/>
        </pc:sldMkLst>
        <pc:spChg chg="mod">
          <ac:chgData name="Jon Newcomb" userId="S::jon.newcomb@anaplan.com::d672d284-d87e-4cae-bfeb-0aed989ae14e" providerId="AD" clId="Web-{D97ADCDC-7672-43A3-1876-0928B5E4072D}" dt="2026-03-16T19:25:37.173" v="769" actId="20577"/>
          <ac:spMkLst>
            <pc:docMk/>
            <pc:sldMk cId="1816512502" sldId="354"/>
            <ac:spMk id="2" creationId="{25F111A7-BC54-58F4-2FF9-020D75159318}"/>
          </ac:spMkLst>
        </pc:spChg>
        <pc:graphicFrameChg chg="mod modGraphic">
          <ac:chgData name="Jon Newcomb" userId="S::jon.newcomb@anaplan.com::d672d284-d87e-4cae-bfeb-0aed989ae14e" providerId="AD" clId="Web-{D97ADCDC-7672-43A3-1876-0928B5E4072D}" dt="2026-03-16T19:28:31.924" v="1174"/>
          <ac:graphicFrameMkLst>
            <pc:docMk/>
            <pc:sldMk cId="1816512502" sldId="354"/>
            <ac:graphicFrameMk id="4" creationId="{BC12A04C-A175-3AFE-0F18-F191A0E6A195}"/>
          </ac:graphicFrameMkLst>
        </pc:graphicFrameChg>
      </pc:sldChg>
      <pc:sldChg chg="modSp">
        <pc:chgData name="Jon Newcomb" userId="S::jon.newcomb@anaplan.com::d672d284-d87e-4cae-bfeb-0aed989ae14e" providerId="AD" clId="Web-{D97ADCDC-7672-43A3-1876-0928B5E4072D}" dt="2026-03-16T19:17:47.547" v="10" actId="20577"/>
        <pc:sldMkLst>
          <pc:docMk/>
          <pc:sldMk cId="2942536761" sldId="361"/>
        </pc:sldMkLst>
        <pc:spChg chg="mod">
          <ac:chgData name="Jon Newcomb" userId="S::jon.newcomb@anaplan.com::d672d284-d87e-4cae-bfeb-0aed989ae14e" providerId="AD" clId="Web-{D97ADCDC-7672-43A3-1876-0928B5E4072D}" dt="2026-03-16T19:17:47.547" v="10" actId="20577"/>
          <ac:spMkLst>
            <pc:docMk/>
            <pc:sldMk cId="2942536761" sldId="361"/>
            <ac:spMk id="6" creationId="{335D4489-B17F-6B47-6CA0-6DC5E12B4690}"/>
          </ac:spMkLst>
        </pc:spChg>
      </pc:sldChg>
      <pc:sldChg chg="addSp delSp modSp">
        <pc:chgData name="Jon Newcomb" userId="S::jon.newcomb@anaplan.com::d672d284-d87e-4cae-bfeb-0aed989ae14e" providerId="AD" clId="Web-{D97ADCDC-7672-43A3-1876-0928B5E4072D}" dt="2026-03-16T19:17:35.844" v="9" actId="1076"/>
        <pc:sldMkLst>
          <pc:docMk/>
          <pc:sldMk cId="2888692232" sldId="362"/>
        </pc:sldMkLst>
        <pc:picChg chg="add mod">
          <ac:chgData name="Jon Newcomb" userId="S::jon.newcomb@anaplan.com::d672d284-d87e-4cae-bfeb-0aed989ae14e" providerId="AD" clId="Web-{D97ADCDC-7672-43A3-1876-0928B5E4072D}" dt="2026-03-16T19:17:35.844" v="9" actId="1076"/>
          <ac:picMkLst>
            <pc:docMk/>
            <pc:sldMk cId="2888692232" sldId="362"/>
            <ac:picMk id="4" creationId="{E514AC53-EDBD-CD3F-6CFA-38B2989FC33C}"/>
          </ac:picMkLst>
        </pc:picChg>
      </pc:sldChg>
      <pc:sldChg chg="modSp add replId">
        <pc:chgData name="Jon Newcomb" userId="S::jon.newcomb@anaplan.com::d672d284-d87e-4cae-bfeb-0aed989ae14e" providerId="AD" clId="Web-{D97ADCDC-7672-43A3-1876-0928B5E4072D}" dt="2026-03-16T19:29:09.112" v="1238"/>
        <pc:sldMkLst>
          <pc:docMk/>
          <pc:sldMk cId="3277121303" sldId="379"/>
        </pc:sldMkLst>
        <pc:spChg chg="mod">
          <ac:chgData name="Jon Newcomb" userId="S::jon.newcomb@anaplan.com::d672d284-d87e-4cae-bfeb-0aed989ae14e" providerId="AD" clId="Web-{D97ADCDC-7672-43A3-1876-0928B5E4072D}" dt="2026-03-16T19:26:20.157" v="777" actId="20577"/>
          <ac:spMkLst>
            <pc:docMk/>
            <pc:sldMk cId="3277121303" sldId="379"/>
            <ac:spMk id="2" creationId="{39F02EC2-E213-4D95-6147-8A7585EE2F1F}"/>
          </ac:spMkLst>
        </pc:spChg>
        <pc:graphicFrameChg chg="mod modGraphic">
          <ac:chgData name="Jon Newcomb" userId="S::jon.newcomb@anaplan.com::d672d284-d87e-4cae-bfeb-0aed989ae14e" providerId="AD" clId="Web-{D97ADCDC-7672-43A3-1876-0928B5E4072D}" dt="2026-03-16T19:29:09.112" v="1238"/>
          <ac:graphicFrameMkLst>
            <pc:docMk/>
            <pc:sldMk cId="3277121303" sldId="379"/>
            <ac:graphicFrameMk id="4" creationId="{A3632E8A-9167-586A-BE5B-B58EF6B7CE56}"/>
          </ac:graphicFrameMkLst>
        </pc:graphicFrameChg>
      </pc:sldChg>
    </pc:docChg>
  </pc:docChgLst>
  <pc:docChgLst>
    <pc:chgData name="Chan Duh" userId="S::chan.duh@anaplan.com::b840b9db-54ae-4d18-a5e4-ccd87183607d" providerId="AD" clId="Web-{62AF8254-73D5-80D3-3F23-5F5E9F18B305}"/>
    <pc:docChg chg="sldOrd">
      <pc:chgData name="Chan Duh" userId="S::chan.duh@anaplan.com::b840b9db-54ae-4d18-a5e4-ccd87183607d" providerId="AD" clId="Web-{62AF8254-73D5-80D3-3F23-5F5E9F18B305}" dt="2026-03-23T16:23:59.260" v="0"/>
      <pc:docMkLst>
        <pc:docMk/>
      </pc:docMkLst>
      <pc:sldChg chg="ord">
        <pc:chgData name="Chan Duh" userId="S::chan.duh@anaplan.com::b840b9db-54ae-4d18-a5e4-ccd87183607d" providerId="AD" clId="Web-{62AF8254-73D5-80D3-3F23-5F5E9F18B305}" dt="2026-03-23T16:23:59.260" v="0"/>
        <pc:sldMkLst>
          <pc:docMk/>
          <pc:sldMk cId="3277121303" sldId="379"/>
        </pc:sldMkLst>
      </pc:sldChg>
    </pc:docChg>
  </pc:docChgLst>
  <pc:docChgLst>
    <pc:chgData name="Chan Duh" userId="S::chan.duh@anaplan.com::b840b9db-54ae-4d18-a5e4-ccd87183607d" providerId="AD" clId="Web-{0348116D-C7CF-C087-553C-6C35DB2E0ED1}"/>
    <pc:docChg chg="addSld sldOrd modSection">
      <pc:chgData name="Chan Duh" userId="S::chan.duh@anaplan.com::b840b9db-54ae-4d18-a5e4-ccd87183607d" providerId="AD" clId="Web-{0348116D-C7CF-C087-553C-6C35DB2E0ED1}" dt="2026-03-17T15:59:33.031" v="3"/>
      <pc:docMkLst>
        <pc:docMk/>
      </pc:docMkLst>
      <pc:sldChg chg="add ord">
        <pc:chgData name="Chan Duh" userId="S::chan.duh@anaplan.com::b840b9db-54ae-4d18-a5e4-ccd87183607d" providerId="AD" clId="Web-{0348116D-C7CF-C087-553C-6C35DB2E0ED1}" dt="2026-03-17T15:59:33.031" v="2"/>
        <pc:sldMkLst>
          <pc:docMk/>
          <pc:sldMk cId="2052440183" sldId="273"/>
        </pc:sldMkLst>
      </pc:sldChg>
      <pc:sldChg chg="add ord">
        <pc:chgData name="Chan Duh" userId="S::chan.duh@anaplan.com::b840b9db-54ae-4d18-a5e4-ccd87183607d" providerId="AD" clId="Web-{0348116D-C7CF-C087-553C-6C35DB2E0ED1}" dt="2026-03-17T15:59:33.031" v="3"/>
        <pc:sldMkLst>
          <pc:docMk/>
          <pc:sldMk cId="2586465249" sldId="282"/>
        </pc:sldMkLst>
      </pc:sldChg>
    </pc:docChg>
  </pc:docChgLst>
  <pc:docChgLst>
    <pc:chgData name="Chan Duh" userId="b840b9db-54ae-4d18-a5e4-ccd87183607d" providerId="ADAL" clId="{28FF4C69-FC39-5FB2-8958-3E1FC728B4B8}"/>
    <pc:docChg chg="modSld">
      <pc:chgData name="Chan Duh" userId="b840b9db-54ae-4d18-a5e4-ccd87183607d" providerId="ADAL" clId="{28FF4C69-FC39-5FB2-8958-3E1FC728B4B8}" dt="2026-03-23T01:47:50.157" v="49" actId="20577"/>
      <pc:docMkLst>
        <pc:docMk/>
      </pc:docMkLst>
      <pc:sldChg chg="modSp mod">
        <pc:chgData name="Chan Duh" userId="b840b9db-54ae-4d18-a5e4-ccd87183607d" providerId="ADAL" clId="{28FF4C69-FC39-5FB2-8958-3E1FC728B4B8}" dt="2026-03-23T01:47:50.157" v="49" actId="20577"/>
        <pc:sldMkLst>
          <pc:docMk/>
          <pc:sldMk cId="4028620909" sldId="274"/>
        </pc:sldMkLst>
        <pc:spChg chg="mod">
          <ac:chgData name="Chan Duh" userId="b840b9db-54ae-4d18-a5e4-ccd87183607d" providerId="ADAL" clId="{28FF4C69-FC39-5FB2-8958-3E1FC728B4B8}" dt="2026-03-23T01:47:50.157" v="49" actId="20577"/>
          <ac:spMkLst>
            <pc:docMk/>
            <pc:sldMk cId="4028620909" sldId="274"/>
            <ac:spMk id="37" creationId="{3B15BA02-3C30-BEEB-DF68-ADB423710F8D}"/>
          </ac:spMkLst>
        </pc:spChg>
      </pc:sldChg>
    </pc:docChg>
  </pc:docChgLst>
  <pc:docChgLst>
    <pc:chgData name="Chan Duh" userId="S::chan.duh@anaplan.com::b840b9db-54ae-4d18-a5e4-ccd87183607d" providerId="AD" clId="Web-{04CB6EBA-D098-6F57-43C5-8FFD7B091902}"/>
    <pc:docChg chg="addSld modSld modSection">
      <pc:chgData name="Chan Duh" userId="S::chan.duh@anaplan.com::b840b9db-54ae-4d18-a5e4-ccd87183607d" providerId="AD" clId="Web-{04CB6EBA-D098-6F57-43C5-8FFD7B091902}" dt="2026-03-17T17:35:52.627" v="5"/>
      <pc:docMkLst>
        <pc:docMk/>
      </pc:docMkLst>
      <pc:sldChg chg="delSp add">
        <pc:chgData name="Chan Duh" userId="S::chan.duh@anaplan.com::b840b9db-54ae-4d18-a5e4-ccd87183607d" providerId="AD" clId="Web-{04CB6EBA-D098-6F57-43C5-8FFD7B091902}" dt="2026-03-17T16:56:32.860" v="1"/>
        <pc:sldMkLst>
          <pc:docMk/>
          <pc:sldMk cId="4197415693" sldId="380"/>
        </pc:sldMkLst>
      </pc:sldChg>
      <pc:sldChg chg="delSp add">
        <pc:chgData name="Chan Duh" userId="S::chan.duh@anaplan.com::b840b9db-54ae-4d18-a5e4-ccd87183607d" providerId="AD" clId="Web-{04CB6EBA-D098-6F57-43C5-8FFD7B091902}" dt="2026-03-17T17:35:50.236" v="4"/>
        <pc:sldMkLst>
          <pc:docMk/>
          <pc:sldMk cId="222500148" sldId="2147483646"/>
        </pc:sldMkLst>
      </pc:sldChg>
      <pc:sldChg chg="delSp add">
        <pc:chgData name="Chan Duh" userId="S::chan.duh@anaplan.com::b840b9db-54ae-4d18-a5e4-ccd87183607d" providerId="AD" clId="Web-{04CB6EBA-D098-6F57-43C5-8FFD7B091902}" dt="2026-03-17T17:35:52.627" v="5"/>
        <pc:sldMkLst>
          <pc:docMk/>
          <pc:sldMk cId="3565977079" sldId="2147483647"/>
        </pc:sldMkLst>
      </pc:sldChg>
    </pc:docChg>
  </pc:docChgLst>
  <pc:docChgLst>
    <pc:chgData name="Chan Duh" userId="S::chan.duh@anaplan.com::b840b9db-54ae-4d18-a5e4-ccd87183607d" providerId="AD" clId="Web-{11193592-A48A-4579-C32E-0D66464D7549}"/>
    <pc:docChg chg="sldOrd">
      <pc:chgData name="Chan Duh" userId="S::chan.duh@anaplan.com::b840b9db-54ae-4d18-a5e4-ccd87183607d" providerId="AD" clId="Web-{11193592-A48A-4579-C32E-0D66464D7549}" dt="2026-04-08T00:24:29.853" v="0"/>
      <pc:docMkLst>
        <pc:docMk/>
      </pc:docMkLst>
      <pc:sldChg chg="ord">
        <pc:chgData name="Chan Duh" userId="S::chan.duh@anaplan.com::b840b9db-54ae-4d18-a5e4-ccd87183607d" providerId="AD" clId="Web-{11193592-A48A-4579-C32E-0D66464D7549}" dt="2026-04-08T00:24:29.853" v="0"/>
        <pc:sldMkLst>
          <pc:docMk/>
          <pc:sldMk cId="4221307095" sldId="364"/>
        </pc:sldMkLst>
      </pc:sldChg>
    </pc:docChg>
  </pc:docChgLst>
  <pc:docChgLst>
    <pc:chgData name="Chan Duh" userId="S::chan.duh@anaplan.com::b840b9db-54ae-4d18-a5e4-ccd87183607d" providerId="AD" clId="Web-{3A937B02-5FCA-859E-10BC-1B7E9BB08541}"/>
    <pc:docChg chg="modSld">
      <pc:chgData name="Chan Duh" userId="S::chan.duh@anaplan.com::b840b9db-54ae-4d18-a5e4-ccd87183607d" providerId="AD" clId="Web-{3A937B02-5FCA-859E-10BC-1B7E9BB08541}" dt="2026-03-19T18:32:36.342" v="2" actId="20577"/>
      <pc:docMkLst>
        <pc:docMk/>
      </pc:docMkLst>
      <pc:sldChg chg="modSp">
        <pc:chgData name="Chan Duh" userId="S::chan.duh@anaplan.com::b840b9db-54ae-4d18-a5e4-ccd87183607d" providerId="AD" clId="Web-{3A937B02-5FCA-859E-10BC-1B7E9BB08541}" dt="2026-03-19T18:32:36.342" v="2" actId="20577"/>
        <pc:sldMkLst>
          <pc:docMk/>
          <pc:sldMk cId="3032673088" sldId="318"/>
        </pc:sldMkLst>
        <pc:spChg chg="mod">
          <ac:chgData name="Chan Duh" userId="S::chan.duh@anaplan.com::b840b9db-54ae-4d18-a5e4-ccd87183607d" providerId="AD" clId="Web-{3A937B02-5FCA-859E-10BC-1B7E9BB08541}" dt="2026-03-19T18:32:36.342" v="2" actId="20577"/>
          <ac:spMkLst>
            <pc:docMk/>
            <pc:sldMk cId="3032673088" sldId="318"/>
            <ac:spMk id="49" creationId="{21AEEEB5-1440-1361-C338-C87DCF09E116}"/>
          </ac:spMkLst>
        </pc:spChg>
        <pc:spChg chg="mod">
          <ac:chgData name="Chan Duh" userId="S::chan.duh@anaplan.com::b840b9db-54ae-4d18-a5e4-ccd87183607d" providerId="AD" clId="Web-{3A937B02-5FCA-859E-10BC-1B7E9BB08541}" dt="2026-03-19T18:32:31.452" v="0" actId="20577"/>
          <ac:spMkLst>
            <pc:docMk/>
            <pc:sldMk cId="3032673088" sldId="318"/>
            <ac:spMk id="62" creationId="{3E42494C-0050-87AF-E1A2-35686F51C495}"/>
          </ac:spMkLst>
        </pc:spChg>
      </pc:sldChg>
    </pc:docChg>
  </pc:docChgLst>
  <pc:docChgLst>
    <pc:chgData name="Chan Duh" userId="S::chan.duh@anaplan.com::b840b9db-54ae-4d18-a5e4-ccd87183607d" providerId="AD" clId="Web-{9C9D353E-BBBB-9881-B7C1-7CDC06E1CF33}"/>
    <pc:docChg chg="addSld delSld modSld modSection">
      <pc:chgData name="Chan Duh" userId="S::chan.duh@anaplan.com::b840b9db-54ae-4d18-a5e4-ccd87183607d" providerId="AD" clId="Web-{9C9D353E-BBBB-9881-B7C1-7CDC06E1CF33}" dt="2026-03-17T18:02:34.554" v="361" actId="1076"/>
      <pc:docMkLst>
        <pc:docMk/>
      </pc:docMkLst>
      <pc:sldChg chg="modSp add">
        <pc:chgData name="Chan Duh" userId="S::chan.duh@anaplan.com::b840b9db-54ae-4d18-a5e4-ccd87183607d" providerId="AD" clId="Web-{9C9D353E-BBBB-9881-B7C1-7CDC06E1CF33}" dt="2026-03-17T18:02:34.554" v="361" actId="1076"/>
        <pc:sldMkLst>
          <pc:docMk/>
          <pc:sldMk cId="3032673088" sldId="318"/>
        </pc:sldMkLst>
        <pc:spChg chg="mod">
          <ac:chgData name="Chan Duh" userId="S::chan.duh@anaplan.com::b840b9db-54ae-4d18-a5e4-ccd87183607d" providerId="AD" clId="Web-{9C9D353E-BBBB-9881-B7C1-7CDC06E1CF33}" dt="2026-03-17T17:56:28.644" v="144" actId="20577"/>
          <ac:spMkLst>
            <pc:docMk/>
            <pc:sldMk cId="3032673088" sldId="318"/>
            <ac:spMk id="46" creationId="{1C831FD6-E273-3E5D-4C39-B51DA8F71363}"/>
          </ac:spMkLst>
        </pc:spChg>
        <pc:spChg chg="mod">
          <ac:chgData name="Chan Duh" userId="S::chan.duh@anaplan.com::b840b9db-54ae-4d18-a5e4-ccd87183607d" providerId="AD" clId="Web-{9C9D353E-BBBB-9881-B7C1-7CDC06E1CF33}" dt="2026-03-17T17:56:34.910" v="145" actId="20577"/>
          <ac:spMkLst>
            <pc:docMk/>
            <pc:sldMk cId="3032673088" sldId="318"/>
            <ac:spMk id="47" creationId="{93171AC4-9C5D-6198-74FB-2697E6AEF1FD}"/>
          </ac:spMkLst>
        </pc:spChg>
        <pc:spChg chg="mod">
          <ac:chgData name="Chan Duh" userId="S::chan.duh@anaplan.com::b840b9db-54ae-4d18-a5e4-ccd87183607d" providerId="AD" clId="Web-{9C9D353E-BBBB-9881-B7C1-7CDC06E1CF33}" dt="2026-03-17T17:58:57.085" v="302" actId="20577"/>
          <ac:spMkLst>
            <pc:docMk/>
            <pc:sldMk cId="3032673088" sldId="318"/>
            <ac:spMk id="48" creationId="{0A25A9D9-314B-9036-6246-22DC50498B40}"/>
          </ac:spMkLst>
        </pc:spChg>
        <pc:spChg chg="mod">
          <ac:chgData name="Chan Duh" userId="S::chan.duh@anaplan.com::b840b9db-54ae-4d18-a5e4-ccd87183607d" providerId="AD" clId="Web-{9C9D353E-BBBB-9881-B7C1-7CDC06E1CF33}" dt="2026-03-17T17:56:46.473" v="171" actId="20577"/>
          <ac:spMkLst>
            <pc:docMk/>
            <pc:sldMk cId="3032673088" sldId="318"/>
            <ac:spMk id="49" creationId="{21AEEEB5-1440-1361-C338-C87DCF09E116}"/>
          </ac:spMkLst>
        </pc:spChg>
        <pc:spChg chg="mod">
          <ac:chgData name="Chan Duh" userId="S::chan.duh@anaplan.com::b840b9db-54ae-4d18-a5e4-ccd87183607d" providerId="AD" clId="Web-{9C9D353E-BBBB-9881-B7C1-7CDC06E1CF33}" dt="2026-03-17T17:59:08.100" v="303" actId="20577"/>
          <ac:spMkLst>
            <pc:docMk/>
            <pc:sldMk cId="3032673088" sldId="318"/>
            <ac:spMk id="50" creationId="{568478D3-D465-BF48-7F80-2215EC64F559}"/>
          </ac:spMkLst>
        </pc:spChg>
        <pc:spChg chg="mod">
          <ac:chgData name="Chan Duh" userId="S::chan.duh@anaplan.com::b840b9db-54ae-4d18-a5e4-ccd87183607d" providerId="AD" clId="Web-{9C9D353E-BBBB-9881-B7C1-7CDC06E1CF33}" dt="2026-03-17T17:56:55.880" v="181" actId="20577"/>
          <ac:spMkLst>
            <pc:docMk/>
            <pc:sldMk cId="3032673088" sldId="318"/>
            <ac:spMk id="51" creationId="{A590540C-3184-CCD3-C1F7-E9C29FB5DC47}"/>
          </ac:spMkLst>
        </pc:spChg>
        <pc:spChg chg="mod">
          <ac:chgData name="Chan Duh" userId="S::chan.duh@anaplan.com::b840b9db-54ae-4d18-a5e4-ccd87183607d" providerId="AD" clId="Web-{9C9D353E-BBBB-9881-B7C1-7CDC06E1CF33}" dt="2026-03-17T17:59:20.194" v="304" actId="20577"/>
          <ac:spMkLst>
            <pc:docMk/>
            <pc:sldMk cId="3032673088" sldId="318"/>
            <ac:spMk id="52" creationId="{F5AA89DD-4068-3704-2FAE-97F6DA210459}"/>
          </ac:spMkLst>
        </pc:spChg>
        <pc:spChg chg="mod">
          <ac:chgData name="Chan Duh" userId="S::chan.duh@anaplan.com::b840b9db-54ae-4d18-a5e4-ccd87183607d" providerId="AD" clId="Web-{9C9D353E-BBBB-9881-B7C1-7CDC06E1CF33}" dt="2026-03-17T17:59:39.444" v="307" actId="20577"/>
          <ac:spMkLst>
            <pc:docMk/>
            <pc:sldMk cId="3032673088" sldId="318"/>
            <ac:spMk id="53" creationId="{556EBC67-D3D3-EC7F-B8D9-155403D602B4}"/>
          </ac:spMkLst>
        </pc:spChg>
        <pc:spChg chg="mod">
          <ac:chgData name="Chan Duh" userId="S::chan.duh@anaplan.com::b840b9db-54ae-4d18-a5e4-ccd87183607d" providerId="AD" clId="Web-{9C9D353E-BBBB-9881-B7C1-7CDC06E1CF33}" dt="2026-03-17T17:59:43.773" v="308" actId="14100"/>
          <ac:spMkLst>
            <pc:docMk/>
            <pc:sldMk cId="3032673088" sldId="318"/>
            <ac:spMk id="54" creationId="{B023A3E6-85CC-D71A-725E-104E9B5CD0A4}"/>
          </ac:spMkLst>
        </pc:spChg>
        <pc:spChg chg="mod">
          <ac:chgData name="Chan Duh" userId="S::chan.duh@anaplan.com::b840b9db-54ae-4d18-a5e4-ccd87183607d" providerId="AD" clId="Web-{9C9D353E-BBBB-9881-B7C1-7CDC06E1CF33}" dt="2026-03-17T17:57:42.194" v="230" actId="14100"/>
          <ac:spMkLst>
            <pc:docMk/>
            <pc:sldMk cId="3032673088" sldId="318"/>
            <ac:spMk id="55" creationId="{4DA5646C-03FC-A970-D93A-EB48D428A7C3}"/>
          </ac:spMkLst>
        </pc:spChg>
        <pc:spChg chg="mod">
          <ac:chgData name="Chan Duh" userId="S::chan.duh@anaplan.com::b840b9db-54ae-4d18-a5e4-ccd87183607d" providerId="AD" clId="Web-{9C9D353E-BBBB-9881-B7C1-7CDC06E1CF33}" dt="2026-03-17T17:59:56.554" v="309" actId="20577"/>
          <ac:spMkLst>
            <pc:docMk/>
            <pc:sldMk cId="3032673088" sldId="318"/>
            <ac:spMk id="56" creationId="{68648935-3481-46D6-26BA-E7CF4015261A}"/>
          </ac:spMkLst>
        </pc:spChg>
        <pc:spChg chg="mod">
          <ac:chgData name="Chan Duh" userId="S::chan.duh@anaplan.com::b840b9db-54ae-4d18-a5e4-ccd87183607d" providerId="AD" clId="Web-{9C9D353E-BBBB-9881-B7C1-7CDC06E1CF33}" dt="2026-03-17T18:02:34.554" v="361" actId="1076"/>
          <ac:spMkLst>
            <pc:docMk/>
            <pc:sldMk cId="3032673088" sldId="318"/>
            <ac:spMk id="57" creationId="{D11A8D57-1606-C920-6F5A-0801FB3D8F5F}"/>
          </ac:spMkLst>
        </pc:spChg>
        <pc:spChg chg="mod">
          <ac:chgData name="Chan Duh" userId="S::chan.duh@anaplan.com::b840b9db-54ae-4d18-a5e4-ccd87183607d" providerId="AD" clId="Web-{9C9D353E-BBBB-9881-B7C1-7CDC06E1CF33}" dt="2026-03-17T18:00:03.367" v="310" actId="20577"/>
          <ac:spMkLst>
            <pc:docMk/>
            <pc:sldMk cId="3032673088" sldId="318"/>
            <ac:spMk id="58" creationId="{33F62EB1-505B-8347-CBAB-240AC8EEB926}"/>
          </ac:spMkLst>
        </pc:spChg>
        <pc:spChg chg="mod">
          <ac:chgData name="Chan Duh" userId="S::chan.duh@anaplan.com::b840b9db-54ae-4d18-a5e4-ccd87183607d" providerId="AD" clId="Web-{9C9D353E-BBBB-9881-B7C1-7CDC06E1CF33}" dt="2026-03-17T17:58:30.960" v="276" actId="20577"/>
          <ac:spMkLst>
            <pc:docMk/>
            <pc:sldMk cId="3032673088" sldId="318"/>
            <ac:spMk id="59" creationId="{A1FF1BF0-0668-BE2D-0677-2081B931660D}"/>
          </ac:spMkLst>
        </pc:spChg>
        <pc:spChg chg="mod">
          <ac:chgData name="Chan Duh" userId="S::chan.duh@anaplan.com::b840b9db-54ae-4d18-a5e4-ccd87183607d" providerId="AD" clId="Web-{9C9D353E-BBBB-9881-B7C1-7CDC06E1CF33}" dt="2026-03-17T18:00:12.679" v="311" actId="20577"/>
          <ac:spMkLst>
            <pc:docMk/>
            <pc:sldMk cId="3032673088" sldId="318"/>
            <ac:spMk id="60" creationId="{A1A854C1-B337-4239-F849-4D4A02083A68}"/>
          </ac:spMkLst>
        </pc:spChg>
        <pc:spChg chg="mod">
          <ac:chgData name="Chan Duh" userId="S::chan.duh@anaplan.com::b840b9db-54ae-4d18-a5e4-ccd87183607d" providerId="AD" clId="Web-{9C9D353E-BBBB-9881-B7C1-7CDC06E1CF33}" dt="2026-03-17T18:00:30.789" v="324" actId="20577"/>
          <ac:spMkLst>
            <pc:docMk/>
            <pc:sldMk cId="3032673088" sldId="318"/>
            <ac:spMk id="61" creationId="{BCEF6766-8D3D-BB8B-7FA4-DE26264CDC0C}"/>
          </ac:spMkLst>
        </pc:spChg>
        <pc:spChg chg="mod">
          <ac:chgData name="Chan Duh" userId="S::chan.duh@anaplan.com::b840b9db-54ae-4d18-a5e4-ccd87183607d" providerId="AD" clId="Web-{9C9D353E-BBBB-9881-B7C1-7CDC06E1CF33}" dt="2026-03-17T18:02:09.296" v="360" actId="20577"/>
          <ac:spMkLst>
            <pc:docMk/>
            <pc:sldMk cId="3032673088" sldId="318"/>
            <ac:spMk id="62" creationId="{3E42494C-0050-87AF-E1A2-35686F51C495}"/>
          </ac:spMkLst>
        </pc:spChg>
      </pc:sldChg>
    </pc:docChg>
  </pc:docChgLst>
  <pc:docChgLst>
    <pc:chgData name="Jon Newcomb" userId="S::jon.newcomb@anaplan.com::d672d284-d87e-4cae-bfeb-0aed989ae14e" providerId="AD" clId="Web-{C3C796F9-52FA-DA1C-65F9-B326D9B7692C}"/>
    <pc:docChg chg="modSld">
      <pc:chgData name="Jon Newcomb" userId="S::jon.newcomb@anaplan.com::d672d284-d87e-4cae-bfeb-0aed989ae14e" providerId="AD" clId="Web-{C3C796F9-52FA-DA1C-65F9-B326D9B7692C}" dt="2026-03-17T16:17:20.028" v="5"/>
      <pc:docMkLst>
        <pc:docMk/>
      </pc:docMkLst>
      <pc:sldChg chg="modSp">
        <pc:chgData name="Jon Newcomb" userId="S::jon.newcomb@anaplan.com::d672d284-d87e-4cae-bfeb-0aed989ae14e" providerId="AD" clId="Web-{C3C796F9-52FA-DA1C-65F9-B326D9B7692C}" dt="2026-03-17T16:17:20.028" v="5"/>
        <pc:sldMkLst>
          <pc:docMk/>
          <pc:sldMk cId="1816512502" sldId="354"/>
        </pc:sldMkLst>
        <pc:graphicFrameChg chg="mod modGraphic">
          <ac:chgData name="Jon Newcomb" userId="S::jon.newcomb@anaplan.com::d672d284-d87e-4cae-bfeb-0aed989ae14e" providerId="AD" clId="Web-{C3C796F9-52FA-DA1C-65F9-B326D9B7692C}" dt="2026-03-17T16:17:20.028" v="5"/>
          <ac:graphicFrameMkLst>
            <pc:docMk/>
            <pc:sldMk cId="1816512502" sldId="354"/>
            <ac:graphicFrameMk id="4" creationId="{BC12A04C-A175-3AFE-0F18-F191A0E6A19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7/4/2026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4/7/2026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0850" indent="-285750">
              <a:spcBef>
                <a:spcPts val="600"/>
              </a:spcBef>
              <a:buFont typeface="Arial" panose="020B0604020202020204" pitchFamily="34" charset="0"/>
              <a:buChar char="•"/>
            </a:pPr>
            <a:r>
              <a:rPr lang="en-US" sz="1200"/>
              <a:t>Integrating Data across multiple sales(CRM), finance(ERP), and HR(HRIS) systems</a:t>
            </a:r>
          </a:p>
          <a:p>
            <a:pPr marL="450850" indent="-285750">
              <a:spcBef>
                <a:spcPts val="600"/>
              </a:spcBef>
              <a:buFont typeface="Arial" panose="020B0604020202020204" pitchFamily="34" charset="0"/>
              <a:buChar char="•"/>
            </a:pPr>
            <a:r>
              <a:rPr lang="en-US" sz="1200"/>
              <a:t>Automate performance management workflows</a:t>
            </a:r>
          </a:p>
          <a:p>
            <a:pPr marL="450850" indent="-285750">
              <a:spcBef>
                <a:spcPts val="600"/>
              </a:spcBef>
              <a:buFont typeface="Arial" panose="020B0604020202020204" pitchFamily="34" charset="0"/>
              <a:buChar char="•"/>
            </a:pPr>
            <a:r>
              <a:rPr lang="en-US" sz="1200"/>
              <a:t>Providing visibility into sales performance, territories, and compensation</a:t>
            </a:r>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9</a:t>
            </a:fld>
            <a:endParaRPr lang="en-US"/>
          </a:p>
        </p:txBody>
      </p:sp>
    </p:spTree>
    <p:extLst>
      <p:ext uri="{BB962C8B-B14F-4D97-AF65-F5344CB8AC3E}">
        <p14:creationId xmlns:p14="http://schemas.microsoft.com/office/powerpoint/2010/main" val="1725003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Optimized Coverage</a:t>
            </a:r>
            <a:r>
              <a:rPr lang="en-US"/>
              <a:t>: Ensures every market, region, or segment has fair and complete coverage.</a:t>
            </a:r>
          </a:p>
          <a:p>
            <a:r>
              <a:rPr lang="en-US" b="1"/>
              <a:t>Reduced Overlap &amp; Conflict</a:t>
            </a:r>
            <a:r>
              <a:rPr lang="en-US"/>
              <a:t>: Minimizes disputes between reps by clarifying ownership.</a:t>
            </a:r>
          </a:p>
          <a:p>
            <a:r>
              <a:rPr lang="en-US" b="1"/>
              <a:t>Increased Productivity</a:t>
            </a:r>
            <a:r>
              <a:rPr lang="en-US"/>
              <a:t>: Directs reps toward the best-fit opportunities.</a:t>
            </a:r>
          </a:p>
          <a:p>
            <a:r>
              <a:rPr lang="en-US" b="1"/>
              <a:t>Balanced Workload</a:t>
            </a:r>
            <a:r>
              <a:rPr lang="en-US"/>
              <a:t>: Prevents overloading some reps while others are underutilized.</a:t>
            </a:r>
          </a:p>
          <a:p>
            <a:r>
              <a:rPr lang="en-US" b="1"/>
              <a:t>Revenue Potential Realized</a:t>
            </a:r>
            <a:r>
              <a:rPr lang="en-US"/>
              <a:t>: Unlocks untapped markets and avoids gaps in coverage.</a:t>
            </a:r>
          </a:p>
          <a:p>
            <a:endParaRPr lang="en-US"/>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11</a:t>
            </a:fld>
            <a:endParaRPr lang="en-US"/>
          </a:p>
        </p:txBody>
      </p:sp>
    </p:spTree>
    <p:extLst>
      <p:ext uri="{BB962C8B-B14F-4D97-AF65-F5344CB8AC3E}">
        <p14:creationId xmlns:p14="http://schemas.microsoft.com/office/powerpoint/2010/main" val="2190543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Fair &amp; Attainable Targets</a:t>
            </a:r>
            <a:r>
              <a:rPr lang="en-US"/>
              <a:t>: Builds trust and maintains motivation among reps.</a:t>
            </a:r>
          </a:p>
          <a:p>
            <a:r>
              <a:rPr lang="en-US" b="1"/>
              <a:t>Alignment with Strategy</a:t>
            </a:r>
            <a:r>
              <a:rPr lang="en-US"/>
              <a:t>: Connects individual goals to company revenue objectives.</a:t>
            </a:r>
          </a:p>
          <a:p>
            <a:r>
              <a:rPr lang="en-US" b="1"/>
              <a:t>Improved Performance Tracking</a:t>
            </a:r>
            <a:r>
              <a:rPr lang="en-US"/>
              <a:t>: Provides visibility into who is on track and where support is needed.</a:t>
            </a:r>
          </a:p>
          <a:p>
            <a:r>
              <a:rPr lang="en-US" b="1"/>
              <a:t>Motivation &amp; Retention</a:t>
            </a:r>
            <a:r>
              <a:rPr lang="en-US"/>
              <a:t>: Drives desired behaviors through achievable goals and clear expectations.</a:t>
            </a:r>
          </a:p>
          <a:p>
            <a:r>
              <a:rPr lang="en-US" b="1"/>
              <a:t>Predictable Revenue</a:t>
            </a:r>
            <a:r>
              <a:rPr lang="en-US"/>
              <a:t>: Increases accuracy in forecasting and organizational confidence.</a:t>
            </a:r>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12</a:t>
            </a:fld>
            <a:endParaRPr lang="en-US"/>
          </a:p>
        </p:txBody>
      </p:sp>
    </p:spTree>
    <p:extLst>
      <p:ext uri="{BB962C8B-B14F-4D97-AF65-F5344CB8AC3E}">
        <p14:creationId xmlns:p14="http://schemas.microsoft.com/office/powerpoint/2010/main" val="1891447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Challenges in Territory Management</a:t>
            </a:r>
          </a:p>
          <a:p>
            <a:r>
              <a:rPr lang="en-US" b="1"/>
              <a:t>Inequitable Territories</a:t>
            </a:r>
            <a:r>
              <a:rPr lang="en-US"/>
              <a:t>: Some reps get high-potential markets while others are left with limited opportunity.</a:t>
            </a:r>
          </a:p>
          <a:p>
            <a:r>
              <a:rPr lang="en-US" b="1"/>
              <a:t>Overlaps &amp; Gaps</a:t>
            </a:r>
            <a:r>
              <a:rPr lang="en-US"/>
              <a:t>: Ambiguous boundaries lead to conflicts between reps or leave customers uncovered.</a:t>
            </a:r>
          </a:p>
          <a:p>
            <a:r>
              <a:rPr lang="en-US" b="1"/>
              <a:t>Static Territory Design</a:t>
            </a:r>
            <a:r>
              <a:rPr lang="en-US"/>
              <a:t>: Territories fail to keep up with market shifts, mergers, or rep turnover.</a:t>
            </a:r>
          </a:p>
          <a:p>
            <a:r>
              <a:rPr lang="en-US" b="1"/>
              <a:t>Data Quality Issues</a:t>
            </a:r>
            <a:r>
              <a:rPr lang="en-US"/>
              <a:t>: Inaccurate or incomplete account data undermines fair allocation.</a:t>
            </a:r>
          </a:p>
          <a:p>
            <a:r>
              <a:rPr lang="en-US" b="1"/>
              <a:t>Complexity at Scale</a:t>
            </a:r>
            <a:r>
              <a:rPr lang="en-US"/>
              <a:t>: Global or large orgs struggle to balance thousands of accounts across regions.</a:t>
            </a:r>
          </a:p>
          <a:p>
            <a:br>
              <a:rPr lang="en-US"/>
            </a:br>
            <a:endParaRPr lang="en-US"/>
          </a:p>
          <a:p>
            <a:r>
              <a:rPr lang="en-US" b="1"/>
              <a:t>Challenges in Quota Management</a:t>
            </a:r>
          </a:p>
          <a:p>
            <a:r>
              <a:rPr lang="en-US" b="1"/>
              <a:t>Unrealistic Quotas</a:t>
            </a:r>
            <a:r>
              <a:rPr lang="en-US"/>
              <a:t>: Targets set too high demotivate reps; too low reduce revenue potential.</a:t>
            </a:r>
          </a:p>
          <a:p>
            <a:r>
              <a:rPr lang="en-US" b="1"/>
              <a:t>Misalignment with Opportunity</a:t>
            </a:r>
            <a:r>
              <a:rPr lang="en-US"/>
              <a:t>: Quotas don’t reflect territory size, market potential, or rep experience.</a:t>
            </a:r>
          </a:p>
          <a:p>
            <a:r>
              <a:rPr lang="en-US" b="1"/>
              <a:t>Slow Planning Cycles</a:t>
            </a:r>
            <a:r>
              <a:rPr lang="en-US"/>
              <a:t>: Manual, spreadsheet-driven quota setting delays the sales year kickoff.</a:t>
            </a:r>
          </a:p>
          <a:p>
            <a:r>
              <a:rPr lang="en-US" b="1"/>
              <a:t>Lack of Transparency</a:t>
            </a:r>
            <a:r>
              <a:rPr lang="en-US"/>
              <a:t>: Reps don’t understand how quotas are set, leading to distrust.</a:t>
            </a:r>
          </a:p>
          <a:p>
            <a:r>
              <a:rPr lang="en-US" b="1"/>
              <a:t>Frequent Mid-Cycle Adjustments</a:t>
            </a:r>
            <a:r>
              <a:rPr lang="en-US"/>
              <a:t>: Poorly designed quotas require constant rework, disrupting execution.</a:t>
            </a:r>
          </a:p>
          <a:p>
            <a:endParaRPr lang="en-US" b="1"/>
          </a:p>
        </p:txBody>
      </p:sp>
      <p:sp>
        <p:nvSpPr>
          <p:cNvPr id="4" name="Slide Number Placeholder 3"/>
          <p:cNvSpPr>
            <a:spLocks noGrp="1"/>
          </p:cNvSpPr>
          <p:nvPr>
            <p:ph type="sldNum" sz="quarter" idx="5"/>
          </p:nvPr>
        </p:nvSpPr>
        <p:spPr/>
        <p:txBody>
          <a:bodyPr/>
          <a:lstStyle/>
          <a:p>
            <a:fld id="{5DA7E72F-BFB2-D748-87F9-5C2F0B5EB908}" type="slidenum">
              <a:rPr lang="en-US" smtClean="0"/>
              <a:pPr/>
              <a:t>13</a:t>
            </a:fld>
            <a:endParaRPr lang="en-US"/>
          </a:p>
        </p:txBody>
      </p:sp>
    </p:spTree>
    <p:extLst>
      <p:ext uri="{BB962C8B-B14F-4D97-AF65-F5344CB8AC3E}">
        <p14:creationId xmlns:p14="http://schemas.microsoft.com/office/powerpoint/2010/main" val="133509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EB88-F528-6EE2-3128-18B78C1CE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18623-545B-8549-F7C2-39CA6AE20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F747B-DE62-D17E-8C75-7BD39ABE96B5}"/>
              </a:ext>
            </a:extLst>
          </p:cNvPr>
          <p:cNvSpPr>
            <a:spLocks noGrp="1"/>
          </p:cNvSpPr>
          <p:nvPr>
            <p:ph type="body" idx="1"/>
          </p:nvPr>
        </p:nvSpPr>
        <p:spPr/>
        <p:txBody>
          <a:bodyPr/>
          <a:lstStyle/>
          <a:p>
            <a:endParaRPr lang="en-US" b="1"/>
          </a:p>
        </p:txBody>
      </p:sp>
      <p:sp>
        <p:nvSpPr>
          <p:cNvPr id="4" name="Slide Number Placeholder 3">
            <a:extLst>
              <a:ext uri="{FF2B5EF4-FFF2-40B4-BE49-F238E27FC236}">
                <a16:creationId xmlns:a16="http://schemas.microsoft.com/office/drawing/2014/main" id="{C8073F96-4610-8CB7-8415-FFCD3F80835A}"/>
              </a:ext>
            </a:extLst>
          </p:cNvPr>
          <p:cNvSpPr>
            <a:spLocks noGrp="1"/>
          </p:cNvSpPr>
          <p:nvPr>
            <p:ph type="sldNum" sz="quarter" idx="5"/>
          </p:nvPr>
        </p:nvSpPr>
        <p:spPr/>
        <p:txBody>
          <a:bodyPr/>
          <a:lstStyle/>
          <a:p>
            <a:fld id="{5DA7E72F-BFB2-D748-87F9-5C2F0B5EB908}" type="slidenum">
              <a:rPr lang="en-US" smtClean="0"/>
              <a:pPr/>
              <a:t>14</a:t>
            </a:fld>
            <a:endParaRPr lang="en-US"/>
          </a:p>
        </p:txBody>
      </p:sp>
    </p:spTree>
    <p:extLst>
      <p:ext uri="{BB962C8B-B14F-4D97-AF65-F5344CB8AC3E}">
        <p14:creationId xmlns:p14="http://schemas.microsoft.com/office/powerpoint/2010/main" val="1988081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7359F-A65B-A875-4E4B-AEEB821C3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4AE09-A57E-F793-E495-71DCACA9D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AA0C6-C672-5F6E-47D4-34858B9EA465}"/>
              </a:ext>
            </a:extLst>
          </p:cNvPr>
          <p:cNvSpPr>
            <a:spLocks noGrp="1"/>
          </p:cNvSpPr>
          <p:nvPr>
            <p:ph type="body" idx="1"/>
          </p:nvPr>
        </p:nvSpPr>
        <p:spPr/>
        <p:txBody>
          <a:bodyPr/>
          <a:lstStyle/>
          <a:p>
            <a:r>
              <a:rPr lang="en-US" b="1"/>
              <a:t>The Anaplan GTM Capacity Planning Application includes the following components:</a:t>
            </a:r>
          </a:p>
          <a:p>
            <a:endParaRPr lang="en-US"/>
          </a:p>
          <a:p>
            <a:pPr marL="171450" indent="-171450">
              <a:buFont typeface="Arial" panose="020B0604020202020204" pitchFamily="34" charset="0"/>
              <a:buChar char="•"/>
            </a:pPr>
            <a:r>
              <a:rPr lang="en-US" b="1"/>
              <a:t>HC Gap Analysis: </a:t>
            </a:r>
            <a:r>
              <a:rPr lang="en-US"/>
              <a:t>Evaluate HC needs based on account volume, revenue targets, and historical data while aligning with financial goals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Top-Down Planning: </a:t>
            </a:r>
            <a:r>
              <a:rPr lang="en-US"/>
              <a:t>Distribute HC targets, simulate scenarios, and optimize allocation and approvals.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Bottom-Up Planning: </a:t>
            </a:r>
            <a:r>
              <a:rPr lang="en-US"/>
              <a:t>Track trends in hiring, attrition, and productivity and run scenarios to adapt plans.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Sales Margins Planning: </a:t>
            </a:r>
            <a:r>
              <a:rPr lang="en-US"/>
              <a:t>Capture role-specific cost data and model dynamic sales margins to improve profitability.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In-Year vs Actual Plan: </a:t>
            </a:r>
            <a:r>
              <a:rPr lang="en-US"/>
              <a:t>Lock plans for data integrity, adjust, and compare snapshots to optimize coverage.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Baseline Productivity: </a:t>
            </a:r>
            <a:r>
              <a:rPr lang="en-US"/>
              <a:t>Evaluate productivity vs. quota attainment to optimize targets and resource allocation.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Coverage Analysis: </a:t>
            </a:r>
            <a:r>
              <a:rPr lang="en-US"/>
              <a:t>Balance HC allocation while adjusting sales coverage in real time to address gaps.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Role-Based Reviews:</a:t>
            </a:r>
            <a:r>
              <a:rPr lang="en-US" b="0"/>
              <a:t> Analyze</a:t>
            </a:r>
            <a:r>
              <a:rPr lang="en-US" b="1"/>
              <a:t> </a:t>
            </a:r>
            <a:r>
              <a:rPr lang="en-US"/>
              <a:t>performance to gain actionable insights for improving role effectiveness.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Current FTE Reporting: </a:t>
            </a:r>
            <a:r>
              <a:rPr lang="en-US"/>
              <a:t>Access HC and FTE data and simulate "what-if" scenarios with employee-level insights. </a:t>
            </a:r>
          </a:p>
          <a:p>
            <a:endParaRPr lang="en-US"/>
          </a:p>
          <a:p>
            <a:endParaRPr lang="en-US"/>
          </a:p>
          <a:p>
            <a:pPr marL="0" indent="0">
              <a:buNone/>
            </a:pPr>
            <a:r>
              <a:rPr lang="en-US" sz="1800" b="1">
                <a:solidFill>
                  <a:schemeClr val="bg1"/>
                </a:solidFill>
              </a:rPr>
              <a:t>As a customer, this applications empowers you with sped and agility to quickly:</a:t>
            </a:r>
          </a:p>
          <a:p>
            <a:pPr marL="0" indent="0">
              <a:buNone/>
            </a:pPr>
            <a:endParaRPr lang="en-US" sz="1800" b="1">
              <a:solidFill>
                <a:schemeClr val="bg1"/>
              </a:solidFill>
            </a:endParaRPr>
          </a:p>
          <a:p>
            <a:pPr marL="171450" indent="-171450">
              <a:buFont typeface="Wingdings" pitchFamily="2" charset="2"/>
              <a:buChar char="ü"/>
            </a:pPr>
            <a:r>
              <a:rPr lang="en-US" sz="1200">
                <a:solidFill>
                  <a:schemeClr val="bg1"/>
                </a:solidFill>
              </a:rPr>
              <a:t>Optimize FTE and HC allocation for maximum efficiency.</a:t>
            </a:r>
          </a:p>
          <a:p>
            <a:pPr marL="171450" indent="-171450">
              <a:buFont typeface="Wingdings" pitchFamily="2" charset="2"/>
              <a:buChar char="ü"/>
            </a:pPr>
            <a:r>
              <a:rPr lang="en-US" sz="1200">
                <a:solidFill>
                  <a:schemeClr val="bg1"/>
                </a:solidFill>
              </a:rPr>
              <a:t>Enhance planning with insights into sales and ramp trends.</a:t>
            </a:r>
            <a:endParaRPr lang="en-US" sz="1200">
              <a:solidFill>
                <a:schemeClr val="bg1"/>
              </a:solidFill>
              <a:cs typeface="Arial"/>
            </a:endParaRPr>
          </a:p>
          <a:p>
            <a:pPr marL="171450" indent="-171450">
              <a:buFont typeface="Wingdings" pitchFamily="2" charset="2"/>
              <a:buChar char="ü"/>
            </a:pPr>
            <a:r>
              <a:rPr lang="en-US" sz="1200">
                <a:solidFill>
                  <a:schemeClr val="bg1"/>
                </a:solidFill>
              </a:rPr>
              <a:t>Predict and mitigate turnover by  forecasting attrition.</a:t>
            </a:r>
            <a:endParaRPr lang="en-US" sz="1200">
              <a:solidFill>
                <a:schemeClr val="bg1"/>
              </a:solidFill>
              <a:cs typeface="Arial"/>
            </a:endParaRPr>
          </a:p>
          <a:p>
            <a:pPr marL="171450" indent="-171450">
              <a:buFont typeface="Wingdings" pitchFamily="2" charset="2"/>
              <a:buChar char="ü"/>
            </a:pPr>
            <a:r>
              <a:rPr lang="en-US" sz="1200">
                <a:solidFill>
                  <a:schemeClr val="bg1"/>
                </a:solidFill>
              </a:rPr>
              <a:t>Enable real-time scenario modeling and performance tracking.</a:t>
            </a:r>
            <a:endParaRPr lang="en-US" sz="1200">
              <a:solidFill>
                <a:schemeClr val="bg1"/>
              </a:solidFill>
              <a:cs typeface="Arial"/>
            </a:endParaRPr>
          </a:p>
          <a:p>
            <a:pPr marL="171450" indent="-171450">
              <a:buFont typeface="Wingdings" pitchFamily="2" charset="2"/>
              <a:buChar char="ü"/>
            </a:pPr>
            <a:r>
              <a:rPr lang="en-US" sz="1200">
                <a:solidFill>
                  <a:schemeClr val="bg1"/>
                </a:solidFill>
              </a:rPr>
              <a:t>Align headcount with budgets to maintain cost control.</a:t>
            </a:r>
            <a:endParaRPr lang="en-US" sz="1200">
              <a:solidFill>
                <a:schemeClr val="bg1"/>
              </a:solidFill>
              <a:cs typeface="Arial"/>
            </a:endParaRPr>
          </a:p>
          <a:p>
            <a:pPr marL="171450" indent="-171450">
              <a:buFont typeface="Wingdings" pitchFamily="2" charset="2"/>
              <a:buChar char="ü"/>
            </a:pPr>
            <a:r>
              <a:rPr lang="en-US" sz="1200">
                <a:solidFill>
                  <a:schemeClr val="bg1"/>
                </a:solidFill>
              </a:rPr>
              <a:t>Monitoring new hire success through impact analysis.</a:t>
            </a:r>
            <a:endParaRPr lang="en-US" sz="2400">
              <a:solidFill>
                <a:schemeClr val="tx2"/>
              </a:solidFill>
              <a:latin typeface="Arial" panose="020B0604020202020204" pitchFamily="34" charset="0"/>
              <a:ea typeface="Inter Light" panose="02000503000000020004" pitchFamily="2" charset="0"/>
              <a:cs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67F7611E-26C3-FA6E-41D1-79FAE2F4D4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30548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84C9-B81A-E46B-147F-D3B717ADC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84F49-B78C-1FEA-06CE-161B2AD9578C}"/>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3E69B837-33F6-6C1F-BA17-FD8F81E4E6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B72453-2EC6-0004-BBE4-1C9F7ABB7A6E}"/>
              </a:ext>
            </a:extLst>
          </p:cNvPr>
          <p:cNvSpPr>
            <a:spLocks noGrp="1"/>
          </p:cNvSpPr>
          <p:nvPr>
            <p:ph type="sldNum" sz="quarter" idx="5"/>
          </p:nvPr>
        </p:nvSpPr>
        <p:spPr/>
        <p:txBody>
          <a:bodyPr/>
          <a:lstStyle/>
          <a:p>
            <a:fld id="{979717FE-9929-47D1-8F09-04B7240822A5}" type="slidenum">
              <a:rPr lang="en-US" smtClean="0"/>
              <a:t>17</a:t>
            </a:fld>
            <a:endParaRPr lang="en-US"/>
          </a:p>
        </p:txBody>
      </p:sp>
    </p:spTree>
    <p:extLst>
      <p:ext uri="{BB962C8B-B14F-4D97-AF65-F5344CB8AC3E}">
        <p14:creationId xmlns:p14="http://schemas.microsoft.com/office/powerpoint/2010/main" val="4273304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B66E-491E-A615-956D-F1159E28A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03FDD-8A15-3D66-0EAD-9E8CFA9E8F4F}"/>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00E94B77-DF2F-B4CD-7ABB-A62047B74B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23C6EB-E6C9-9DD0-1078-2D2E751CCDC6}"/>
              </a:ext>
            </a:extLst>
          </p:cNvPr>
          <p:cNvSpPr>
            <a:spLocks noGrp="1"/>
          </p:cNvSpPr>
          <p:nvPr>
            <p:ph type="sldNum" sz="quarter" idx="5"/>
          </p:nvPr>
        </p:nvSpPr>
        <p:spPr/>
        <p:txBody>
          <a:bodyPr/>
          <a:lstStyle/>
          <a:p>
            <a:fld id="{979717FE-9929-47D1-8F09-04B7240822A5}" type="slidenum">
              <a:rPr lang="en-US" smtClean="0"/>
              <a:t>18</a:t>
            </a:fld>
            <a:endParaRPr lang="en-US"/>
          </a:p>
        </p:txBody>
      </p:sp>
    </p:spTree>
    <p:extLst>
      <p:ext uri="{BB962C8B-B14F-4D97-AF65-F5344CB8AC3E}">
        <p14:creationId xmlns:p14="http://schemas.microsoft.com/office/powerpoint/2010/main" val="1305424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Dimensions &amp; Hierarchies:</a:t>
            </a:r>
          </a:p>
          <a:p>
            <a:r>
              <a:rPr lang="en-US"/>
              <a:t>Objectives -</a:t>
            </a:r>
          </a:p>
          <a:p>
            <a:pPr marL="171450" indent="-171450">
              <a:buFont typeface="Arial" panose="020B0604020202020204" pitchFamily="34" charset="0"/>
              <a:buChar char="•"/>
            </a:pPr>
            <a:r>
              <a:rPr lang="en-US"/>
              <a:t>Territory Assignment Dimensional Inconsistencies</a:t>
            </a:r>
          </a:p>
          <a:p>
            <a:pPr marL="171450" indent="-171450">
              <a:buFont typeface="Arial" panose="020B0604020202020204" pitchFamily="34" charset="0"/>
              <a:buChar char="•"/>
            </a:pPr>
            <a:r>
              <a:rPr lang="en-US"/>
              <a:t>Target &amp; Goal Setting </a:t>
            </a:r>
          </a:p>
          <a:p>
            <a:pPr marL="171450" indent="-171450">
              <a:buFont typeface="Arial" panose="020B0604020202020204" pitchFamily="34" charset="0"/>
              <a:buChar char="•"/>
            </a:pPr>
            <a:r>
              <a:rPr lang="en-US"/>
              <a:t>Reporting Needs</a:t>
            </a:r>
          </a:p>
          <a:p>
            <a:pPr marL="0" indent="0">
              <a:buFont typeface="Arial" panose="020B0604020202020204" pitchFamily="34" charset="0"/>
              <a:buNone/>
            </a:pPr>
            <a:r>
              <a:rPr lang="en-US"/>
              <a:t>Activities – </a:t>
            </a:r>
          </a:p>
          <a:p>
            <a:pPr marL="171450" indent="-171450">
              <a:buFont typeface="Arial" panose="020B0604020202020204" pitchFamily="34" charset="0"/>
              <a:buChar char="•"/>
            </a:pPr>
            <a:r>
              <a:rPr lang="en-US"/>
              <a:t>Identify dimensions that need to change (ex. Extra dimension on Target Setting)</a:t>
            </a:r>
          </a:p>
          <a:p>
            <a:pPr marL="171450" indent="-171450">
              <a:buFont typeface="Arial" panose="020B0604020202020204" pitchFamily="34" charset="0"/>
              <a:buChar char="•"/>
            </a:pPr>
            <a:r>
              <a:rPr lang="en-US"/>
              <a:t>Identify downstream impacts to changed dimensions</a:t>
            </a:r>
          </a:p>
          <a:p>
            <a:pPr marL="171450" indent="-171450">
              <a:buFont typeface="Arial" panose="020B0604020202020204" pitchFamily="34" charset="0"/>
              <a:buChar char="•"/>
            </a:pPr>
            <a:endParaRPr lang="en-US"/>
          </a:p>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19</a:t>
            </a:fld>
            <a:endParaRPr lang="en-US"/>
          </a:p>
        </p:txBody>
      </p:sp>
    </p:spTree>
    <p:extLst>
      <p:ext uri="{BB962C8B-B14F-4D97-AF65-F5344CB8AC3E}">
        <p14:creationId xmlns:p14="http://schemas.microsoft.com/office/powerpoint/2010/main" val="14739226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image" Target="../media/image1.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7.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image" Target="../media/image18.png"/><Relationship Id="rId16" Type="http://schemas.openxmlformats.org/officeDocument/2006/relationships/image" Target="../media/image32.png"/><Relationship Id="rId1" Type="http://schemas.openxmlformats.org/officeDocument/2006/relationships/slideLayout" Target="../slideLayouts/slideLayout130.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13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0.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9.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FFCD-FE2E-02FB-E3F8-49A7909A51E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ECD0CA-876C-CF11-BD50-D1E18CA55BC8}"/>
              </a:ext>
            </a:extLst>
          </p:cNvPr>
          <p:cNvSpPr>
            <a:spLocks noGrp="1"/>
          </p:cNvSpPr>
          <p:nvPr>
            <p:ph type="title"/>
          </p:nvPr>
        </p:nvSpPr>
        <p:spPr>
          <a:xfrm>
            <a:off x="763527" y="1123870"/>
            <a:ext cx="4261100" cy="1588068"/>
          </a:xfrm>
        </p:spPr>
        <p:txBody>
          <a:bodyPr/>
          <a:lstStyle/>
          <a:p>
            <a:r>
              <a:rPr lang="en-US"/>
              <a:t>Anaplan RPM Applications </a:t>
            </a:r>
          </a:p>
        </p:txBody>
      </p:sp>
      <p:sp>
        <p:nvSpPr>
          <p:cNvPr id="3" name="Text Placeholder 2">
            <a:extLst>
              <a:ext uri="{FF2B5EF4-FFF2-40B4-BE49-F238E27FC236}">
                <a16:creationId xmlns:a16="http://schemas.microsoft.com/office/drawing/2014/main" id="{14DE3491-D1C9-92B4-3C37-11F5948D6231}"/>
              </a:ext>
            </a:extLst>
          </p:cNvPr>
          <p:cNvSpPr>
            <a:spLocks noGrp="1"/>
          </p:cNvSpPr>
          <p:nvPr>
            <p:ph type="body" sz="quarter" idx="10"/>
          </p:nvPr>
        </p:nvSpPr>
        <p:spPr/>
        <p:txBody>
          <a:bodyPr lIns="0" tIns="45720" rIns="91440" bIns="45720" anchor="t"/>
          <a:lstStyle/>
          <a:p>
            <a:r>
              <a:rPr lang="en-US">
                <a:latin typeface="Arial"/>
                <a:cs typeface="Arial"/>
              </a:rPr>
              <a:t>FY26 Implementation Enablement Workshop</a:t>
            </a:r>
          </a:p>
        </p:txBody>
      </p:sp>
    </p:spTree>
    <p:extLst>
      <p:ext uri="{BB962C8B-B14F-4D97-AF65-F5344CB8AC3E}">
        <p14:creationId xmlns:p14="http://schemas.microsoft.com/office/powerpoint/2010/main" val="3642360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2AA8-2FC3-781D-C7DC-6DD268D8E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111A7-BC54-58F4-2FF9-020D75159318}"/>
              </a:ext>
            </a:extLst>
          </p:cNvPr>
          <p:cNvSpPr>
            <a:spLocks noGrp="1"/>
          </p:cNvSpPr>
          <p:nvPr>
            <p:ph type="title"/>
          </p:nvPr>
        </p:nvSpPr>
        <p:spPr>
          <a:prstGeom prst="rect">
            <a:avLst/>
          </a:prstGeom>
        </p:spPr>
        <p:txBody>
          <a:bodyPr lIns="0" tIns="45720" rIns="0" bIns="45720" anchor="t"/>
          <a:lstStyle/>
          <a:p>
            <a:r>
              <a:rPr lang="en-US">
                <a:latin typeface="Arial"/>
                <a:cs typeface="Arial"/>
              </a:rPr>
              <a:t>Day 1: 9:00AM – 5:00PM</a:t>
            </a:r>
            <a:endParaRPr lang="en-US"/>
          </a:p>
        </p:txBody>
      </p:sp>
      <p:graphicFrame>
        <p:nvGraphicFramePr>
          <p:cNvPr id="4" name="Table 3">
            <a:extLst>
              <a:ext uri="{FF2B5EF4-FFF2-40B4-BE49-F238E27FC236}">
                <a16:creationId xmlns:a16="http://schemas.microsoft.com/office/drawing/2014/main" id="{BC12A04C-A175-3AFE-0F18-F191A0E6A195}"/>
              </a:ext>
            </a:extLst>
          </p:cNvPr>
          <p:cNvGraphicFramePr>
            <a:graphicFrameLocks noGrp="1"/>
          </p:cNvGraphicFramePr>
          <p:nvPr>
            <p:extLst>
              <p:ext uri="{D42A27DB-BD31-4B8C-83A1-F6EECF244321}">
                <p14:modId xmlns:p14="http://schemas.microsoft.com/office/powerpoint/2010/main" val="2125821133"/>
              </p:ext>
            </p:extLst>
          </p:nvPr>
        </p:nvGraphicFramePr>
        <p:xfrm>
          <a:off x="556970" y="707110"/>
          <a:ext cx="7168670" cy="4287243"/>
        </p:xfrm>
        <a:graphic>
          <a:graphicData uri="http://schemas.openxmlformats.org/drawingml/2006/table">
            <a:tbl>
              <a:tblPr firstRow="1" bandRow="1">
                <a:tableStyleId>{073A0DAA-6AF3-43AB-8588-CEC1D06C72B9}</a:tableStyleId>
              </a:tblPr>
              <a:tblGrid>
                <a:gridCol w="3572410">
                  <a:extLst>
                    <a:ext uri="{9D8B030D-6E8A-4147-A177-3AD203B41FA5}">
                      <a16:colId xmlns:a16="http://schemas.microsoft.com/office/drawing/2014/main" val="1361175596"/>
                    </a:ext>
                  </a:extLst>
                </a:gridCol>
                <a:gridCol w="3596260">
                  <a:extLst>
                    <a:ext uri="{9D8B030D-6E8A-4147-A177-3AD203B41FA5}">
                      <a16:colId xmlns:a16="http://schemas.microsoft.com/office/drawing/2014/main" val="2839593601"/>
                    </a:ext>
                  </a:extLst>
                </a:gridCol>
              </a:tblGrid>
              <a:tr h="323638">
                <a:tc>
                  <a:txBody>
                    <a:bodyPr/>
                    <a:lstStyle/>
                    <a:p>
                      <a:r>
                        <a:rPr lang="en-US" sz="1400" b="0"/>
                        <a:t>Topic</a:t>
                      </a:r>
                      <a:endParaRPr lang="en-US" sz="1400" b="0" i="0">
                        <a:latin typeface="Arial" panose="020B0604020202020204" pitchFamily="34" charset="0"/>
                        <a:ea typeface="Inter Medium" panose="02000503000000020004" pitchFamily="2" charset="0"/>
                      </a:endParaRPr>
                    </a:p>
                  </a:txBody>
                  <a:tcPr anchor="ctr"/>
                </a:tc>
                <a:tc>
                  <a:txBody>
                    <a:bodyPr/>
                    <a:lstStyle/>
                    <a:p>
                      <a:r>
                        <a:rPr lang="en-US" sz="1400" b="0"/>
                        <a:t>Time</a:t>
                      </a:r>
                      <a:endParaRPr lang="en-US" sz="1400" b="0" i="0">
                        <a:latin typeface="Arial" panose="020B0604020202020204" pitchFamily="34" charset="0"/>
                        <a:ea typeface="Inter Medium" panose="02000503000000020004" pitchFamily="2" charset="0"/>
                      </a:endParaRPr>
                    </a:p>
                  </a:txBody>
                  <a:tcPr anchor="ctr"/>
                </a:tc>
                <a:extLst>
                  <a:ext uri="{0D108BD9-81ED-4DB2-BD59-A6C34878D82A}">
                    <a16:rowId xmlns:a16="http://schemas.microsoft.com/office/drawing/2014/main" val="2071171244"/>
                  </a:ext>
                </a:extLst>
              </a:tr>
              <a:tr h="323638">
                <a:tc>
                  <a:txBody>
                    <a:bodyPr/>
                    <a:lstStyle/>
                    <a:p>
                      <a:pPr marL="0" marR="0" lvl="0" indent="0" algn="l" rtl="0" eaLnBrk="1" fontAlgn="auto" latinLnBrk="0" hangingPunct="1">
                        <a:lnSpc>
                          <a:spcPct val="100000"/>
                        </a:lnSpc>
                        <a:spcBef>
                          <a:spcPts val="0"/>
                        </a:spcBef>
                        <a:spcAft>
                          <a:spcPts val="0"/>
                        </a:spcAft>
                        <a:buClrTx/>
                        <a:buSzTx/>
                        <a:buFontTx/>
                        <a:buNone/>
                      </a:pPr>
                      <a:r>
                        <a:rPr lang="en-US" sz="1050" b="0"/>
                        <a:t>Introductions and Agenda</a:t>
                      </a:r>
                      <a:endParaRPr lang="en-US" sz="1050" b="0" i="0">
                        <a:latin typeface="Arial" panose="020B0604020202020204" pitchFamily="34" charset="0"/>
                        <a:ea typeface="Inter Light" panose="02000503000000020004"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a:t>9:00 – 9:15 (15mn)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386132479"/>
                  </a:ext>
                </a:extLst>
              </a:tr>
              <a:tr h="363106">
                <a:tc>
                  <a:txBody>
                    <a:bodyPr/>
                    <a:lstStyle/>
                    <a:p>
                      <a:pPr marL="0" marR="0" lvl="0" indent="0" algn="l">
                        <a:lnSpc>
                          <a:spcPct val="100000"/>
                        </a:lnSpc>
                        <a:spcBef>
                          <a:spcPts val="0"/>
                        </a:spcBef>
                        <a:spcAft>
                          <a:spcPts val="0"/>
                        </a:spcAft>
                        <a:buNone/>
                      </a:pPr>
                      <a:r>
                        <a:rPr lang="en-US" sz="1050" b="0"/>
                        <a:t>SPM Overview / Anaplan Way for Apps / Implementation Guide</a:t>
                      </a:r>
                      <a:endParaRPr lang="en-US"/>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050" b="0"/>
                        <a:t>9:15 – 10:15 (60mn)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960361401"/>
                  </a:ext>
                </a:extLst>
              </a:tr>
              <a:tr h="323638">
                <a:tc>
                  <a:txBody>
                    <a:bodyPr/>
                    <a:lstStyle/>
                    <a:p>
                      <a:pPr marL="0" marR="0" lvl="0" indent="0" algn="l">
                        <a:lnSpc>
                          <a:spcPct val="100000"/>
                        </a:lnSpc>
                        <a:spcBef>
                          <a:spcPts val="0"/>
                        </a:spcBef>
                        <a:spcAft>
                          <a:spcPts val="0"/>
                        </a:spcAft>
                        <a:buNone/>
                      </a:pPr>
                      <a:r>
                        <a:rPr lang="en-US" sz="1050" b="0"/>
                        <a:t>T&amp;Q Configuration Overview</a:t>
                      </a:r>
                      <a:endParaRPr lang="en-US"/>
                    </a:p>
                  </a:txBody>
                  <a:tcPr anchor="ctr"/>
                </a:tc>
                <a:tc>
                  <a:txBody>
                    <a:bodyPr/>
                    <a:lstStyle/>
                    <a:p>
                      <a:pPr lvl="0">
                        <a:buNone/>
                      </a:pPr>
                      <a:r>
                        <a:rPr lang="en-US" sz="1050"/>
                        <a:t>10:15 – 11:15 (60mn)</a:t>
                      </a:r>
                    </a:p>
                  </a:txBody>
                  <a:tcPr anchor="ctr"/>
                </a:tc>
                <a:extLst>
                  <a:ext uri="{0D108BD9-81ED-4DB2-BD59-A6C34878D82A}">
                    <a16:rowId xmlns:a16="http://schemas.microsoft.com/office/drawing/2014/main" val="508519815"/>
                  </a:ext>
                </a:extLst>
              </a:tr>
              <a:tr h="323638">
                <a:tc>
                  <a:txBody>
                    <a:bodyPr/>
                    <a:lstStyle/>
                    <a:p>
                      <a:pPr lvl="0">
                        <a:buNone/>
                      </a:pPr>
                      <a:r>
                        <a:rPr lang="en-US" sz="1050"/>
                        <a:t>T&amp;Q Configuration Exercise</a:t>
                      </a:r>
                    </a:p>
                  </a:txBody>
                  <a:tcPr anchor="ctr"/>
                </a:tc>
                <a:tc>
                  <a:txBody>
                    <a:bodyPr/>
                    <a:lstStyle/>
                    <a:p>
                      <a:pPr lvl="0">
                        <a:buNone/>
                      </a:pPr>
                      <a:r>
                        <a:rPr lang="en-US" sz="1050"/>
                        <a:t>11:15 – 12:00 (45mn)</a:t>
                      </a:r>
                    </a:p>
                  </a:txBody>
                  <a:tcPr anchor="ctr"/>
                </a:tc>
                <a:extLst>
                  <a:ext uri="{0D108BD9-81ED-4DB2-BD59-A6C34878D82A}">
                    <a16:rowId xmlns:a16="http://schemas.microsoft.com/office/drawing/2014/main" val="759162792"/>
                  </a:ext>
                </a:extLst>
              </a:tr>
              <a:tr h="323638">
                <a:tc>
                  <a: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50" b="0" u="none" strike="noStrike" noProof="0">
                          <a:solidFill>
                            <a:schemeClr val="dk1"/>
                          </a:solidFill>
                        </a:rPr>
                        <a:t>Break &amp; Lunch</a:t>
                      </a:r>
                      <a:r>
                        <a:rPr lang="en-US" sz="1050"/>
                        <a:t> </a:t>
                      </a:r>
                    </a:p>
                  </a:txBody>
                  <a:tcPr anchor="ctr"/>
                </a:tc>
                <a:tc>
                  <a:txBody>
                    <a:bodyPr/>
                    <a:lstStyle/>
                    <a:p>
                      <a:pPr lvl="0">
                        <a:buNone/>
                      </a:pPr>
                      <a:r>
                        <a:rPr lang="en-US" sz="1050"/>
                        <a:t>12:00 </a:t>
                      </a:r>
                      <a:r>
                        <a:rPr lang="en-US" sz="1050" b="0" u="none" strike="noStrike" noProof="0">
                          <a:solidFill>
                            <a:schemeClr val="dk1"/>
                          </a:solidFill>
                        </a:rPr>
                        <a:t>– 1:00 (60mn)</a:t>
                      </a:r>
                      <a:r>
                        <a:rPr lang="en-US" sz="1050"/>
                        <a:t> </a:t>
                      </a:r>
                    </a:p>
                  </a:txBody>
                  <a:tcPr anchor="ctr"/>
                </a:tc>
                <a:extLst>
                  <a:ext uri="{0D108BD9-81ED-4DB2-BD59-A6C34878D82A}">
                    <a16:rowId xmlns:a16="http://schemas.microsoft.com/office/drawing/2014/main" val="4019100342"/>
                  </a:ext>
                </a:extLst>
              </a:tr>
              <a:tr h="315745">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T&amp;Q Configuration Exercise (cont.)</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1:00 – 1:30 (30mn)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124395346"/>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Post Generation Steps</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1:30 – 2:00 (30mn)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3817158030"/>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Data Integration / ADO</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2:00 –  2:30 (30mn)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805450805"/>
                  </a:ext>
                </a:extLst>
              </a:tr>
              <a:tr h="323638">
                <a:tc>
                  <a:txBody>
                    <a:bodyPr/>
                    <a:lstStyle/>
                    <a:p>
                      <a:pPr marL="0" marR="0" lvl="0" indent="0" algn="l" defTabSz="914400">
                        <a:lnSpc>
                          <a:spcPct val="100000"/>
                        </a:lnSpc>
                        <a:spcBef>
                          <a:spcPts val="0"/>
                        </a:spcBef>
                        <a:spcAft>
                          <a:spcPts val="0"/>
                        </a:spcAft>
                        <a:buNone/>
                        <a:tabLst/>
                        <a:defRPr/>
                      </a:pPr>
                      <a:r>
                        <a:rPr lang="en-US" sz="1050" b="0" u="none" strike="noStrike" kern="1200" noProof="0">
                          <a:solidFill>
                            <a:schemeClr val="dk1"/>
                          </a:solidFill>
                        </a:rPr>
                        <a:t>Break</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050" kern="1200">
                          <a:solidFill>
                            <a:schemeClr val="dk1"/>
                          </a:solidFill>
                          <a:latin typeface="+mn-lt"/>
                          <a:ea typeface="+mn-ea"/>
                          <a:cs typeface="+mn-cs"/>
                        </a:rPr>
                        <a:t>2:30 - 2:45 (15mn) </a:t>
                      </a:r>
                      <a:endParaRPr lang="en-US" sz="1050" kern="1200">
                        <a:solidFill>
                          <a:schemeClr val="dk1"/>
                        </a:solidFill>
                      </a:endParaRPr>
                    </a:p>
                  </a:txBody>
                  <a:tcPr anchor="ctr"/>
                </a:tc>
                <a:extLst>
                  <a:ext uri="{0D108BD9-81ED-4DB2-BD59-A6C34878D82A}">
                    <a16:rowId xmlns:a16="http://schemas.microsoft.com/office/drawing/2014/main" val="4192887972"/>
                  </a:ext>
                </a:extLst>
              </a:tr>
              <a:tr h="323638">
                <a:tc>
                  <a:txBody>
                    <a:bodyPr/>
                    <a:lstStyle/>
                    <a:p>
                      <a:pPr marL="0" lvl="0" indent="0" algn="l">
                        <a:lnSpc>
                          <a:spcPct val="100000"/>
                        </a:lnSpc>
                        <a:spcBef>
                          <a:spcPts val="0"/>
                        </a:spcBef>
                        <a:spcAft>
                          <a:spcPts val="0"/>
                        </a:spcAft>
                        <a:buNone/>
                      </a:pPr>
                      <a:r>
                        <a:rPr lang="en-US" sz="1050" b="0" u="none" strike="noStrike" kern="1200" noProof="0">
                          <a:solidFill>
                            <a:schemeClr val="dk1"/>
                          </a:solidFill>
                        </a:rPr>
                        <a:t>T&amp;Q Spoke Review and Exercise</a:t>
                      </a:r>
                    </a:p>
                  </a:txBody>
                  <a:tcPr anchor="ctr"/>
                </a:tc>
                <a:tc>
                  <a:txBody>
                    <a:bodyPr/>
                    <a:lstStyle/>
                    <a:p>
                      <a:pPr marL="0" lvl="0" indent="0" algn="l">
                        <a:lnSpc>
                          <a:spcPct val="100000"/>
                        </a:lnSpc>
                        <a:spcBef>
                          <a:spcPts val="0"/>
                        </a:spcBef>
                        <a:spcAft>
                          <a:spcPts val="0"/>
                        </a:spcAft>
                        <a:buNone/>
                      </a:pPr>
                      <a:r>
                        <a:rPr lang="en-US" sz="1050" kern="1200">
                          <a:solidFill>
                            <a:schemeClr val="dk1"/>
                          </a:solidFill>
                          <a:latin typeface="+mn-lt"/>
                          <a:ea typeface="+mn-ea"/>
                          <a:cs typeface="+mn-cs"/>
                        </a:rPr>
                        <a:t>2:45 – 4:15 (90mn)</a:t>
                      </a:r>
                    </a:p>
                  </a:txBody>
                  <a:tcPr anchor="ctr"/>
                </a:tc>
                <a:extLst>
                  <a:ext uri="{0D108BD9-81ED-4DB2-BD59-A6C34878D82A}">
                    <a16:rowId xmlns:a16="http://schemas.microsoft.com/office/drawing/2014/main" val="4024307619"/>
                  </a:ext>
                </a:extLst>
              </a:tr>
              <a:tr h="323638">
                <a:tc>
                  <a:txBody>
                    <a:bodyPr/>
                    <a:lstStyle/>
                    <a:p>
                      <a:pPr marL="0" lvl="0" indent="0" algn="l">
                        <a:lnSpc>
                          <a:spcPct val="100000"/>
                        </a:lnSpc>
                        <a:spcBef>
                          <a:spcPts val="0"/>
                        </a:spcBef>
                        <a:spcAft>
                          <a:spcPts val="0"/>
                        </a:spcAft>
                        <a:buNone/>
                      </a:pPr>
                      <a:r>
                        <a:rPr lang="en-US" sz="1050" b="0" u="none" strike="noStrike" kern="1200" noProof="0">
                          <a:solidFill>
                            <a:schemeClr val="dk1"/>
                          </a:solidFill>
                        </a:rPr>
                        <a:t>Common Extensions</a:t>
                      </a:r>
                    </a:p>
                  </a:txBody>
                  <a:tcPr anchor="ctr"/>
                </a:tc>
                <a:tc>
                  <a:txBody>
                    <a:bodyPr/>
                    <a:lstStyle/>
                    <a:p>
                      <a:pPr marL="0" lvl="0" indent="0" algn="l">
                        <a:lnSpc>
                          <a:spcPct val="100000"/>
                        </a:lnSpc>
                        <a:spcBef>
                          <a:spcPts val="0"/>
                        </a:spcBef>
                        <a:spcAft>
                          <a:spcPts val="0"/>
                        </a:spcAft>
                        <a:buNone/>
                      </a:pPr>
                      <a:r>
                        <a:rPr lang="en-US" sz="1050" kern="1200">
                          <a:solidFill>
                            <a:schemeClr val="dk1"/>
                          </a:solidFill>
                          <a:latin typeface="+mn-lt"/>
                          <a:ea typeface="+mn-ea"/>
                          <a:cs typeface="+mn-cs"/>
                        </a:rPr>
                        <a:t>4:15 – 4:45 (30mn)</a:t>
                      </a:r>
                    </a:p>
                  </a:txBody>
                  <a:tcPr anchor="ctr"/>
                </a:tc>
                <a:extLst>
                  <a:ext uri="{0D108BD9-81ED-4DB2-BD59-A6C34878D82A}">
                    <a16:rowId xmlns:a16="http://schemas.microsoft.com/office/drawing/2014/main" val="1270991086"/>
                  </a:ext>
                </a:extLst>
              </a:tr>
              <a:tr h="323638">
                <a:tc>
                  <a:txBody>
                    <a:bodyPr/>
                    <a:lstStyle/>
                    <a:p>
                      <a:pPr marL="0" lvl="0" indent="0" algn="l">
                        <a:lnSpc>
                          <a:spcPct val="100000"/>
                        </a:lnSpc>
                        <a:spcBef>
                          <a:spcPts val="0"/>
                        </a:spcBef>
                        <a:spcAft>
                          <a:spcPts val="0"/>
                        </a:spcAft>
                        <a:buNone/>
                      </a:pPr>
                      <a:r>
                        <a:rPr lang="en-US" sz="1050" b="0" u="none" strike="noStrike" kern="1200" noProof="0">
                          <a:solidFill>
                            <a:schemeClr val="dk1"/>
                          </a:solidFill>
                        </a:rPr>
                        <a:t>Day 1 Conclusion and Feedback</a:t>
                      </a:r>
                    </a:p>
                  </a:txBody>
                  <a:tcPr anchor="ctr"/>
                </a:tc>
                <a:tc>
                  <a:txBody>
                    <a:bodyPr/>
                    <a:lstStyle/>
                    <a:p>
                      <a:pPr marL="0" lvl="0" indent="0" algn="l">
                        <a:lnSpc>
                          <a:spcPct val="100000"/>
                        </a:lnSpc>
                        <a:spcBef>
                          <a:spcPts val="0"/>
                        </a:spcBef>
                        <a:spcAft>
                          <a:spcPts val="0"/>
                        </a:spcAft>
                        <a:buNone/>
                      </a:pPr>
                      <a:r>
                        <a:rPr lang="en-US" sz="1050" kern="1200">
                          <a:solidFill>
                            <a:schemeClr val="dk1"/>
                          </a:solidFill>
                          <a:latin typeface="+mn-lt"/>
                          <a:ea typeface="+mn-ea"/>
                          <a:cs typeface="+mn-cs"/>
                        </a:rPr>
                        <a:t>4:45 – 5:00 (15mn)</a:t>
                      </a:r>
                    </a:p>
                  </a:txBody>
                  <a:tcPr anchor="ctr"/>
                </a:tc>
                <a:extLst>
                  <a:ext uri="{0D108BD9-81ED-4DB2-BD59-A6C34878D82A}">
                    <a16:rowId xmlns:a16="http://schemas.microsoft.com/office/drawing/2014/main" val="1713287973"/>
                  </a:ext>
                </a:extLst>
              </a:tr>
            </a:tbl>
          </a:graphicData>
        </a:graphic>
      </p:graphicFrame>
    </p:spTree>
    <p:extLst>
      <p:ext uri="{BB962C8B-B14F-4D97-AF65-F5344CB8AC3E}">
        <p14:creationId xmlns:p14="http://schemas.microsoft.com/office/powerpoint/2010/main" val="1816512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2372-78E2-A0D2-56A4-C9E7C8821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02EC2-E213-4D95-6147-8A7585EE2F1F}"/>
              </a:ext>
            </a:extLst>
          </p:cNvPr>
          <p:cNvSpPr>
            <a:spLocks noGrp="1"/>
          </p:cNvSpPr>
          <p:nvPr>
            <p:ph type="title"/>
          </p:nvPr>
        </p:nvSpPr>
        <p:spPr>
          <a:prstGeom prst="rect">
            <a:avLst/>
          </a:prstGeom>
        </p:spPr>
        <p:txBody>
          <a:bodyPr lIns="0" tIns="45720" rIns="0" bIns="45720" anchor="t"/>
          <a:lstStyle/>
          <a:p>
            <a:r>
              <a:rPr lang="en-US">
                <a:latin typeface="Arial"/>
                <a:cs typeface="Arial"/>
              </a:rPr>
              <a:t>Day 2: 9:00AM – 4:15PM</a:t>
            </a:r>
            <a:endParaRPr lang="en-US"/>
          </a:p>
        </p:txBody>
      </p:sp>
      <p:graphicFrame>
        <p:nvGraphicFramePr>
          <p:cNvPr id="4" name="Table 3">
            <a:extLst>
              <a:ext uri="{FF2B5EF4-FFF2-40B4-BE49-F238E27FC236}">
                <a16:creationId xmlns:a16="http://schemas.microsoft.com/office/drawing/2014/main" id="{A3632E8A-9167-586A-BE5B-B58EF6B7CE56}"/>
              </a:ext>
            </a:extLst>
          </p:cNvPr>
          <p:cNvGraphicFramePr>
            <a:graphicFrameLocks noGrp="1"/>
          </p:cNvGraphicFramePr>
          <p:nvPr>
            <p:extLst>
              <p:ext uri="{D42A27DB-BD31-4B8C-83A1-F6EECF244321}">
                <p14:modId xmlns:p14="http://schemas.microsoft.com/office/powerpoint/2010/main" val="119359576"/>
              </p:ext>
            </p:extLst>
          </p:nvPr>
        </p:nvGraphicFramePr>
        <p:xfrm>
          <a:off x="556970" y="707110"/>
          <a:ext cx="7168670" cy="2944317"/>
        </p:xfrm>
        <a:graphic>
          <a:graphicData uri="http://schemas.openxmlformats.org/drawingml/2006/table">
            <a:tbl>
              <a:tblPr firstRow="1" bandRow="1">
                <a:tableStyleId>{073A0DAA-6AF3-43AB-8588-CEC1D06C72B9}</a:tableStyleId>
              </a:tblPr>
              <a:tblGrid>
                <a:gridCol w="3572410">
                  <a:extLst>
                    <a:ext uri="{9D8B030D-6E8A-4147-A177-3AD203B41FA5}">
                      <a16:colId xmlns:a16="http://schemas.microsoft.com/office/drawing/2014/main" val="1361175596"/>
                    </a:ext>
                  </a:extLst>
                </a:gridCol>
                <a:gridCol w="3596260">
                  <a:extLst>
                    <a:ext uri="{9D8B030D-6E8A-4147-A177-3AD203B41FA5}">
                      <a16:colId xmlns:a16="http://schemas.microsoft.com/office/drawing/2014/main" val="2839593601"/>
                    </a:ext>
                  </a:extLst>
                </a:gridCol>
              </a:tblGrid>
              <a:tr h="323638">
                <a:tc>
                  <a:txBody>
                    <a:bodyPr/>
                    <a:lstStyle/>
                    <a:p>
                      <a:r>
                        <a:rPr lang="en-US" sz="1400" b="0"/>
                        <a:t>Topic</a:t>
                      </a:r>
                      <a:endParaRPr lang="en-US" sz="1400" b="0" i="0">
                        <a:latin typeface="Arial" panose="020B0604020202020204" pitchFamily="34" charset="0"/>
                        <a:ea typeface="Inter Medium" panose="02000503000000020004" pitchFamily="2" charset="0"/>
                      </a:endParaRPr>
                    </a:p>
                  </a:txBody>
                  <a:tcPr anchor="ctr"/>
                </a:tc>
                <a:tc>
                  <a:txBody>
                    <a:bodyPr/>
                    <a:lstStyle/>
                    <a:p>
                      <a:r>
                        <a:rPr lang="en-US" sz="1400" b="0"/>
                        <a:t>Time</a:t>
                      </a:r>
                      <a:endParaRPr lang="en-US" sz="1400" b="0" i="0">
                        <a:latin typeface="Arial" panose="020B0604020202020204" pitchFamily="34" charset="0"/>
                        <a:ea typeface="Inter Medium" panose="02000503000000020004" pitchFamily="2" charset="0"/>
                      </a:endParaRPr>
                    </a:p>
                  </a:txBody>
                  <a:tcPr anchor="ctr"/>
                </a:tc>
                <a:extLst>
                  <a:ext uri="{0D108BD9-81ED-4DB2-BD59-A6C34878D82A}">
                    <a16:rowId xmlns:a16="http://schemas.microsoft.com/office/drawing/2014/main" val="2071171244"/>
                  </a:ext>
                </a:extLst>
              </a:tr>
              <a:tr h="323638">
                <a:tc>
                  <a:txBody>
                    <a:bodyPr/>
                    <a:lstStyle/>
                    <a:p>
                      <a:pPr marL="0" marR="0" lvl="0" indent="0" algn="l">
                        <a:lnSpc>
                          <a:spcPct val="100000"/>
                        </a:lnSpc>
                        <a:spcBef>
                          <a:spcPts val="0"/>
                        </a:spcBef>
                        <a:spcAft>
                          <a:spcPts val="0"/>
                        </a:spcAft>
                        <a:buNone/>
                      </a:pPr>
                      <a:r>
                        <a:rPr lang="en-US" sz="1050" b="0"/>
                        <a:t>Segmentation Configurator Review</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a:t>9:00 – 9:45 (45mn)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386132479"/>
                  </a:ext>
                </a:extLst>
              </a:tr>
              <a:tr h="363106">
                <a:tc>
                  <a:txBody>
                    <a:bodyPr/>
                    <a:lstStyle/>
                    <a:p>
                      <a:pPr marL="0" marR="0" lvl="0" indent="0" algn="l">
                        <a:lnSpc>
                          <a:spcPct val="100000"/>
                        </a:lnSpc>
                        <a:spcBef>
                          <a:spcPts val="0"/>
                        </a:spcBef>
                        <a:spcAft>
                          <a:spcPts val="0"/>
                        </a:spcAft>
                        <a:buNone/>
                      </a:pPr>
                      <a:r>
                        <a:rPr lang="en-US" sz="1050" b="0"/>
                        <a:t>Capacity Configurator Review</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050" b="0"/>
                        <a:t>9:45 – 10:30 (45mn)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960361401"/>
                  </a:ext>
                </a:extLst>
              </a:tr>
              <a:tr h="323638">
                <a:tc>
                  <a:txBody>
                    <a:bodyPr/>
                    <a:lstStyle/>
                    <a:p>
                      <a:pPr marL="0" marR="0" lvl="0" indent="0" algn="l">
                        <a:lnSpc>
                          <a:spcPct val="100000"/>
                        </a:lnSpc>
                        <a:spcBef>
                          <a:spcPts val="0"/>
                        </a:spcBef>
                        <a:spcAft>
                          <a:spcPts val="0"/>
                        </a:spcAft>
                        <a:buNone/>
                      </a:pPr>
                      <a:r>
                        <a:rPr lang="en-US" sz="1050" b="0"/>
                        <a:t>Configurator Exercise</a:t>
                      </a:r>
                      <a:endParaRPr lang="en-US"/>
                    </a:p>
                  </a:txBody>
                  <a:tcPr anchor="ctr"/>
                </a:tc>
                <a:tc>
                  <a:txBody>
                    <a:bodyPr/>
                    <a:lstStyle/>
                    <a:p>
                      <a:pPr lvl="0">
                        <a:buNone/>
                      </a:pPr>
                      <a:r>
                        <a:rPr lang="en-US" sz="1050"/>
                        <a:t>10:30 – 12:00 (90mn)</a:t>
                      </a:r>
                    </a:p>
                  </a:txBody>
                  <a:tcPr anchor="ctr"/>
                </a:tc>
                <a:extLst>
                  <a:ext uri="{0D108BD9-81ED-4DB2-BD59-A6C34878D82A}">
                    <a16:rowId xmlns:a16="http://schemas.microsoft.com/office/drawing/2014/main" val="508519815"/>
                  </a:ext>
                </a:extLst>
              </a:tr>
              <a:tr h="323638">
                <a:tc>
                  <a:txBody>
                    <a:bodyPr/>
                    <a:lstStyle/>
                    <a:p>
                      <a:pPr lvl="0">
                        <a:buNone/>
                      </a:pPr>
                      <a:r>
                        <a:rPr lang="en-US" sz="1050"/>
                        <a:t>Break and Lunch</a:t>
                      </a:r>
                    </a:p>
                  </a:txBody>
                  <a:tcPr anchor="ctr"/>
                </a:tc>
                <a:tc>
                  <a:txBody>
                    <a:bodyPr/>
                    <a:lstStyle/>
                    <a:p>
                      <a:pPr lvl="0">
                        <a:buNone/>
                      </a:pPr>
                      <a:r>
                        <a:rPr lang="en-US" sz="1050"/>
                        <a:t>12:00 – 1:00 (60mn)</a:t>
                      </a:r>
                    </a:p>
                  </a:txBody>
                  <a:tcPr anchor="ctr"/>
                </a:tc>
                <a:extLst>
                  <a:ext uri="{0D108BD9-81ED-4DB2-BD59-A6C34878D82A}">
                    <a16:rowId xmlns:a16="http://schemas.microsoft.com/office/drawing/2014/main" val="759162792"/>
                  </a:ext>
                </a:extLst>
              </a:tr>
              <a:tr h="323638">
                <a:tc>
                  <a:txBody>
                    <a:bodyPr/>
                    <a:lstStyle/>
                    <a:p>
                      <a:pPr marL="0" marR="0" lvl="0" indent="0" algn="l" rtl="0" eaLnBrk="1" fontAlgn="auto" latinLnBrk="0" hangingPunct="1">
                        <a:lnSpc>
                          <a:spcPct val="100000"/>
                        </a:lnSpc>
                        <a:spcBef>
                          <a:spcPts val="0"/>
                        </a:spcBef>
                        <a:spcAft>
                          <a:spcPts val="0"/>
                        </a:spcAft>
                        <a:buClrTx/>
                        <a:buSzTx/>
                        <a:buFontTx/>
                        <a:buNone/>
                      </a:pPr>
                      <a:r>
                        <a:rPr lang="en-US" sz="1050"/>
                        <a:t>Post Generation Prep</a:t>
                      </a:r>
                    </a:p>
                  </a:txBody>
                  <a:tcPr anchor="ctr"/>
                </a:tc>
                <a:tc>
                  <a:txBody>
                    <a:bodyPr/>
                    <a:lstStyle/>
                    <a:p>
                      <a:pPr lvl="0">
                        <a:buNone/>
                      </a:pPr>
                      <a:r>
                        <a:rPr lang="en-US" sz="1050"/>
                        <a:t>1:00 </a:t>
                      </a:r>
                      <a:r>
                        <a:rPr lang="en-US" sz="1050" b="0" u="none" strike="noStrike" noProof="0">
                          <a:solidFill>
                            <a:schemeClr val="dk1"/>
                          </a:solidFill>
                        </a:rPr>
                        <a:t>– 1:30 (30mn)</a:t>
                      </a:r>
                      <a:r>
                        <a:rPr lang="en-US" sz="1050"/>
                        <a:t> </a:t>
                      </a:r>
                    </a:p>
                  </a:txBody>
                  <a:tcPr anchor="ctr"/>
                </a:tc>
                <a:extLst>
                  <a:ext uri="{0D108BD9-81ED-4DB2-BD59-A6C34878D82A}">
                    <a16:rowId xmlns:a16="http://schemas.microsoft.com/office/drawing/2014/main" val="4019100342"/>
                  </a:ext>
                </a:extLst>
              </a:tr>
              <a:tr h="315745">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Segmentation and Capacity UX Walk Through</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1:30 – 3:00 (90mn)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124395346"/>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What is Coming in RPM Apps</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3:00 – 4:00 (60mn)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3817158030"/>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Day 2 Conclusion and Feedback</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4:00 – 4:15 (15mn)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805450805"/>
                  </a:ext>
                </a:extLst>
              </a:tr>
            </a:tbl>
          </a:graphicData>
        </a:graphic>
      </p:graphicFrame>
    </p:spTree>
    <p:extLst>
      <p:ext uri="{BB962C8B-B14F-4D97-AF65-F5344CB8AC3E}">
        <p14:creationId xmlns:p14="http://schemas.microsoft.com/office/powerpoint/2010/main" val="3277121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3077C675-ED46-B82F-81DD-D4247C188E81}"/>
              </a:ext>
            </a:extLst>
          </p:cNvPr>
          <p:cNvPicPr>
            <a:picLocks noGrp="1" noChangeAspect="1"/>
          </p:cNvPicPr>
          <p:nvPr>
            <p:ph type="pic" sz="quarter" idx="17"/>
          </p:nvPr>
        </p:nvPicPr>
        <p:blipFill>
          <a:blip r:embed="rId2" cstate="print">
            <a:extLst>
              <a:ext uri="{28A0092B-C50C-407E-A947-70E740481C1C}">
                <a14:useLocalDpi xmlns:a14="http://schemas.microsoft.com/office/drawing/2010/main" val="0"/>
              </a:ext>
            </a:extLst>
          </a:blip>
          <a:srcRect/>
          <a:stretch/>
        </p:blipFill>
        <p:spPr>
          <a:xfrm>
            <a:off x="419100" y="1078606"/>
            <a:ext cx="1530075" cy="1574548"/>
          </a:xfrm>
        </p:spPr>
      </p:pic>
      <p:sp>
        <p:nvSpPr>
          <p:cNvPr id="36" name="Text Placeholder 35">
            <a:extLst>
              <a:ext uri="{FF2B5EF4-FFF2-40B4-BE49-F238E27FC236}">
                <a16:creationId xmlns:a16="http://schemas.microsoft.com/office/drawing/2014/main" id="{4C8FCA9B-93B0-F0C1-4875-633278770798}"/>
              </a:ext>
            </a:extLst>
          </p:cNvPr>
          <p:cNvSpPr>
            <a:spLocks noGrp="1"/>
          </p:cNvSpPr>
          <p:nvPr>
            <p:ph type="body" sz="quarter" idx="18"/>
          </p:nvPr>
        </p:nvSpPr>
        <p:spPr/>
        <p:txBody>
          <a:bodyPr/>
          <a:lstStyle/>
          <a:p>
            <a:r>
              <a:rPr lang="en-US"/>
              <a:t>Chan Duh</a:t>
            </a:r>
          </a:p>
        </p:txBody>
      </p:sp>
      <p:sp>
        <p:nvSpPr>
          <p:cNvPr id="37" name="Text Placeholder 36">
            <a:extLst>
              <a:ext uri="{FF2B5EF4-FFF2-40B4-BE49-F238E27FC236}">
                <a16:creationId xmlns:a16="http://schemas.microsoft.com/office/drawing/2014/main" id="{3B15BA02-3C30-BEEB-DF68-ADB423710F8D}"/>
              </a:ext>
            </a:extLst>
          </p:cNvPr>
          <p:cNvSpPr>
            <a:spLocks noGrp="1"/>
          </p:cNvSpPr>
          <p:nvPr>
            <p:ph type="body" sz="quarter" idx="19"/>
          </p:nvPr>
        </p:nvSpPr>
        <p:spPr/>
        <p:txBody>
          <a:bodyPr/>
          <a:lstStyle/>
          <a:p>
            <a:r>
              <a:rPr lang="en-US"/>
              <a:t>RPM Delivery Advisor</a:t>
            </a:r>
          </a:p>
        </p:txBody>
      </p:sp>
      <p:sp>
        <p:nvSpPr>
          <p:cNvPr id="39" name="Text Placeholder 38">
            <a:extLst>
              <a:ext uri="{FF2B5EF4-FFF2-40B4-BE49-F238E27FC236}">
                <a16:creationId xmlns:a16="http://schemas.microsoft.com/office/drawing/2014/main" id="{C28E4271-E495-27CB-F12A-1F799AC56A02}"/>
              </a:ext>
            </a:extLst>
          </p:cNvPr>
          <p:cNvSpPr>
            <a:spLocks noGrp="1"/>
          </p:cNvSpPr>
          <p:nvPr>
            <p:ph type="body" sz="quarter" idx="22"/>
          </p:nvPr>
        </p:nvSpPr>
        <p:spPr/>
        <p:txBody>
          <a:bodyPr/>
          <a:lstStyle/>
          <a:p>
            <a:r>
              <a:rPr lang="en-US"/>
              <a:t>Jon Newcomb</a:t>
            </a:r>
          </a:p>
        </p:txBody>
      </p:sp>
      <p:sp>
        <p:nvSpPr>
          <p:cNvPr id="40" name="Text Placeholder 39">
            <a:extLst>
              <a:ext uri="{FF2B5EF4-FFF2-40B4-BE49-F238E27FC236}">
                <a16:creationId xmlns:a16="http://schemas.microsoft.com/office/drawing/2014/main" id="{548CE0CF-638F-3DD7-C349-0BCD58AD6F16}"/>
              </a:ext>
            </a:extLst>
          </p:cNvPr>
          <p:cNvSpPr>
            <a:spLocks noGrp="1"/>
          </p:cNvSpPr>
          <p:nvPr>
            <p:ph type="body" sz="quarter" idx="23"/>
          </p:nvPr>
        </p:nvSpPr>
        <p:spPr/>
        <p:txBody>
          <a:bodyPr/>
          <a:lstStyle/>
          <a:p>
            <a:r>
              <a:rPr lang="en-US"/>
              <a:t>Revenue Performance Application Lead</a:t>
            </a:r>
          </a:p>
        </p:txBody>
      </p:sp>
      <p:sp>
        <p:nvSpPr>
          <p:cNvPr id="35" name="Title 34">
            <a:extLst>
              <a:ext uri="{FF2B5EF4-FFF2-40B4-BE49-F238E27FC236}">
                <a16:creationId xmlns:a16="http://schemas.microsoft.com/office/drawing/2014/main" id="{AC791940-2D25-62EE-0911-F023382878F3}"/>
              </a:ext>
            </a:extLst>
          </p:cNvPr>
          <p:cNvSpPr>
            <a:spLocks noGrp="1"/>
          </p:cNvSpPr>
          <p:nvPr>
            <p:ph type="title"/>
          </p:nvPr>
        </p:nvSpPr>
        <p:spPr/>
        <p:txBody>
          <a:bodyPr/>
          <a:lstStyle/>
          <a:p>
            <a:r>
              <a:rPr lang="en-US"/>
              <a:t>Who you are stuck with today</a:t>
            </a:r>
          </a:p>
        </p:txBody>
      </p:sp>
      <p:pic>
        <p:nvPicPr>
          <p:cNvPr id="2" name="Picture Placeholder 4" descr="A person in a suit smiling&#10;&#10;AI-generated content may be incorrect.">
            <a:extLst>
              <a:ext uri="{FF2B5EF4-FFF2-40B4-BE49-F238E27FC236}">
                <a16:creationId xmlns:a16="http://schemas.microsoft.com/office/drawing/2014/main" id="{EC089795-C74D-CC02-C187-5B628E1A5CCF}"/>
              </a:ext>
            </a:extLst>
          </p:cNvPr>
          <p:cNvPicPr>
            <a:picLocks noChangeAspect="1"/>
          </p:cNvPicPr>
          <p:nvPr/>
        </p:nvPicPr>
        <p:blipFill>
          <a:blip r:embed="rId3" cstate="print">
            <a:extLst>
              <a:ext uri="{28A0092B-C50C-407E-A947-70E740481C1C}">
                <a14:useLocalDpi xmlns:a14="http://schemas.microsoft.com/office/drawing/2010/main" val="0"/>
              </a:ext>
            </a:extLst>
          </a:blip>
          <a:srcRect l="1395" r="1395"/>
          <a:stretch>
            <a:fillRect/>
          </a:stretch>
        </p:blipFill>
        <p:spPr>
          <a:xfrm>
            <a:off x="3891643" y="2787662"/>
            <a:ext cx="1530075" cy="1574549"/>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p:spPr>
      </p:pic>
    </p:spTree>
    <p:extLst>
      <p:ext uri="{BB962C8B-B14F-4D97-AF65-F5344CB8AC3E}">
        <p14:creationId xmlns:p14="http://schemas.microsoft.com/office/powerpoint/2010/main" val="4028620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D7043-FE71-7C5B-8F0B-C758E6B439A8}"/>
            </a:ext>
          </a:extLst>
        </p:cNvPr>
        <p:cNvGrpSpPr/>
        <p:nvPr/>
      </p:nvGrpSpPr>
      <p:grpSpPr>
        <a:xfrm>
          <a:off x="0" y="0"/>
          <a:ext cx="0" cy="0"/>
          <a:chOff x="0" y="0"/>
          <a:chExt cx="0" cy="0"/>
        </a:xfrm>
      </p:grpSpPr>
      <p:sp>
        <p:nvSpPr>
          <p:cNvPr id="73" name="Title 72">
            <a:extLst>
              <a:ext uri="{FF2B5EF4-FFF2-40B4-BE49-F238E27FC236}">
                <a16:creationId xmlns:a16="http://schemas.microsoft.com/office/drawing/2014/main" id="{6E4945AE-3D4C-A78B-DCB6-6B4A4F2B5485}"/>
              </a:ext>
            </a:extLst>
          </p:cNvPr>
          <p:cNvSpPr>
            <a:spLocks noGrp="1"/>
          </p:cNvSpPr>
          <p:nvPr>
            <p:ph type="title"/>
          </p:nvPr>
        </p:nvSpPr>
        <p:spPr>
          <a:xfrm>
            <a:off x="419100" y="294640"/>
            <a:ext cx="7994871" cy="338554"/>
          </a:xfrm>
        </p:spPr>
        <p:txBody>
          <a:bodyPr/>
          <a:lstStyle/>
          <a:p>
            <a:r>
              <a:rPr lang="en-US"/>
              <a:t>Enablement Objectives</a:t>
            </a:r>
          </a:p>
        </p:txBody>
      </p:sp>
      <p:sp>
        <p:nvSpPr>
          <p:cNvPr id="74" name="Text Placeholder 73">
            <a:extLst>
              <a:ext uri="{FF2B5EF4-FFF2-40B4-BE49-F238E27FC236}">
                <a16:creationId xmlns:a16="http://schemas.microsoft.com/office/drawing/2014/main" id="{CE3F0E7F-412B-C4B9-9F0C-2A45131D683C}"/>
              </a:ext>
            </a:extLst>
          </p:cNvPr>
          <p:cNvSpPr>
            <a:spLocks noGrp="1"/>
          </p:cNvSpPr>
          <p:nvPr>
            <p:ph type="body" sz="quarter" idx="46"/>
          </p:nvPr>
        </p:nvSpPr>
        <p:spPr>
          <a:xfrm>
            <a:off x="529071" y="1078031"/>
            <a:ext cx="2299189" cy="297516"/>
          </a:xfrm>
        </p:spPr>
        <p:txBody>
          <a:bodyPr/>
          <a:lstStyle/>
          <a:p>
            <a:r>
              <a:rPr lang="en-US"/>
              <a:t>SPM Understanding</a:t>
            </a:r>
          </a:p>
        </p:txBody>
      </p:sp>
      <p:sp>
        <p:nvSpPr>
          <p:cNvPr id="76" name="Text Placeholder 75">
            <a:extLst>
              <a:ext uri="{FF2B5EF4-FFF2-40B4-BE49-F238E27FC236}">
                <a16:creationId xmlns:a16="http://schemas.microsoft.com/office/drawing/2014/main" id="{3459337F-FAD4-E917-0B9B-2FDFD637FBE2}"/>
              </a:ext>
            </a:extLst>
          </p:cNvPr>
          <p:cNvSpPr>
            <a:spLocks noGrp="1"/>
          </p:cNvSpPr>
          <p:nvPr>
            <p:ph type="body" sz="quarter" idx="49"/>
          </p:nvPr>
        </p:nvSpPr>
        <p:spPr>
          <a:xfrm>
            <a:off x="3258131" y="1078031"/>
            <a:ext cx="2299189" cy="297516"/>
          </a:xfrm>
        </p:spPr>
        <p:txBody>
          <a:bodyPr/>
          <a:lstStyle/>
          <a:p>
            <a:r>
              <a:rPr lang="en-US"/>
              <a:t>Application Offerings/Demo</a:t>
            </a:r>
          </a:p>
        </p:txBody>
      </p:sp>
      <p:sp>
        <p:nvSpPr>
          <p:cNvPr id="78" name="Text Placeholder 77">
            <a:extLst>
              <a:ext uri="{FF2B5EF4-FFF2-40B4-BE49-F238E27FC236}">
                <a16:creationId xmlns:a16="http://schemas.microsoft.com/office/drawing/2014/main" id="{CE4E65D6-5A6A-036E-0AE8-2EDABC31571E}"/>
              </a:ext>
            </a:extLst>
          </p:cNvPr>
          <p:cNvSpPr>
            <a:spLocks noGrp="1"/>
          </p:cNvSpPr>
          <p:nvPr>
            <p:ph type="body" sz="quarter" idx="52"/>
          </p:nvPr>
        </p:nvSpPr>
        <p:spPr>
          <a:xfrm>
            <a:off x="5987191" y="1078031"/>
            <a:ext cx="2299189" cy="297516"/>
          </a:xfrm>
        </p:spPr>
        <p:txBody>
          <a:bodyPr/>
          <a:lstStyle/>
          <a:p>
            <a:r>
              <a:rPr lang="en-US"/>
              <a:t>How Configurator works</a:t>
            </a:r>
          </a:p>
        </p:txBody>
      </p:sp>
      <p:sp>
        <p:nvSpPr>
          <p:cNvPr id="80" name="Text Placeholder 79">
            <a:extLst>
              <a:ext uri="{FF2B5EF4-FFF2-40B4-BE49-F238E27FC236}">
                <a16:creationId xmlns:a16="http://schemas.microsoft.com/office/drawing/2014/main" id="{985917F6-D76E-1804-385E-7AF6CDE9BD40}"/>
              </a:ext>
            </a:extLst>
          </p:cNvPr>
          <p:cNvSpPr>
            <a:spLocks noGrp="1"/>
          </p:cNvSpPr>
          <p:nvPr>
            <p:ph type="body" sz="quarter" idx="55"/>
          </p:nvPr>
        </p:nvSpPr>
        <p:spPr>
          <a:xfrm>
            <a:off x="529071" y="3085940"/>
            <a:ext cx="2299189" cy="297516"/>
          </a:xfrm>
        </p:spPr>
        <p:txBody>
          <a:bodyPr/>
          <a:lstStyle/>
          <a:p>
            <a:r>
              <a:rPr lang="en-US"/>
              <a:t>App Implementation</a:t>
            </a:r>
          </a:p>
        </p:txBody>
      </p:sp>
      <p:sp>
        <p:nvSpPr>
          <p:cNvPr id="82" name="Text Placeholder 81">
            <a:extLst>
              <a:ext uri="{FF2B5EF4-FFF2-40B4-BE49-F238E27FC236}">
                <a16:creationId xmlns:a16="http://schemas.microsoft.com/office/drawing/2014/main" id="{C379C2BC-B7CE-D14C-7E3C-744E2B9362AD}"/>
              </a:ext>
            </a:extLst>
          </p:cNvPr>
          <p:cNvSpPr>
            <a:spLocks noGrp="1"/>
          </p:cNvSpPr>
          <p:nvPr>
            <p:ph type="body" sz="quarter" idx="58"/>
          </p:nvPr>
        </p:nvSpPr>
        <p:spPr>
          <a:xfrm>
            <a:off x="3258131" y="3085940"/>
            <a:ext cx="2299189" cy="297516"/>
          </a:xfrm>
        </p:spPr>
        <p:txBody>
          <a:bodyPr/>
          <a:lstStyle/>
          <a:p>
            <a:r>
              <a:rPr lang="en-US"/>
              <a:t>Showcase to customers</a:t>
            </a:r>
          </a:p>
        </p:txBody>
      </p:sp>
      <p:sp>
        <p:nvSpPr>
          <p:cNvPr id="84" name="Text Placeholder 83">
            <a:extLst>
              <a:ext uri="{FF2B5EF4-FFF2-40B4-BE49-F238E27FC236}">
                <a16:creationId xmlns:a16="http://schemas.microsoft.com/office/drawing/2014/main" id="{709EC22B-7089-6F34-E325-6463C9630E07}"/>
              </a:ext>
            </a:extLst>
          </p:cNvPr>
          <p:cNvSpPr>
            <a:spLocks noGrp="1"/>
          </p:cNvSpPr>
          <p:nvPr>
            <p:ph type="body" sz="quarter" idx="61"/>
          </p:nvPr>
        </p:nvSpPr>
        <p:spPr>
          <a:xfrm>
            <a:off x="5987191" y="3085940"/>
            <a:ext cx="2299189" cy="297516"/>
          </a:xfrm>
        </p:spPr>
        <p:txBody>
          <a:bodyPr/>
          <a:lstStyle/>
          <a:p>
            <a:r>
              <a:rPr lang="en-US"/>
              <a:t>How we can support you</a:t>
            </a:r>
          </a:p>
        </p:txBody>
      </p:sp>
      <p:sp>
        <p:nvSpPr>
          <p:cNvPr id="75" name="Text Placeholder 74">
            <a:extLst>
              <a:ext uri="{FF2B5EF4-FFF2-40B4-BE49-F238E27FC236}">
                <a16:creationId xmlns:a16="http://schemas.microsoft.com/office/drawing/2014/main" id="{D493631D-4EAB-54BF-D690-513B907AD99B}"/>
              </a:ext>
            </a:extLst>
          </p:cNvPr>
          <p:cNvSpPr>
            <a:spLocks noGrp="1"/>
          </p:cNvSpPr>
          <p:nvPr>
            <p:ph type="body" sz="quarter" idx="63"/>
          </p:nvPr>
        </p:nvSpPr>
        <p:spPr/>
        <p:txBody>
          <a:bodyPr/>
          <a:lstStyle/>
          <a:p>
            <a:r>
              <a:rPr lang="en-US" noProof="0"/>
              <a:t>A high-level understanding of Sales Performance Management and why it matters for Anaplan</a:t>
            </a:r>
            <a:endParaRPr lang="en-US"/>
          </a:p>
        </p:txBody>
      </p:sp>
      <p:sp>
        <p:nvSpPr>
          <p:cNvPr id="77" name="Text Placeholder 76">
            <a:extLst>
              <a:ext uri="{FF2B5EF4-FFF2-40B4-BE49-F238E27FC236}">
                <a16:creationId xmlns:a16="http://schemas.microsoft.com/office/drawing/2014/main" id="{8DAECB9B-D031-1D29-2D51-3B5600E811EC}"/>
              </a:ext>
            </a:extLst>
          </p:cNvPr>
          <p:cNvSpPr>
            <a:spLocks noGrp="1"/>
          </p:cNvSpPr>
          <p:nvPr>
            <p:ph type="body" sz="quarter" idx="64"/>
          </p:nvPr>
        </p:nvSpPr>
        <p:spPr/>
        <p:txBody>
          <a:bodyPr/>
          <a:lstStyle/>
          <a:p>
            <a:r>
              <a:rPr lang="en-US" noProof="0"/>
              <a:t>Being able to showcase the application with the template models/apps</a:t>
            </a:r>
            <a:endParaRPr lang="en-US"/>
          </a:p>
          <a:p>
            <a:endParaRPr lang="en-US"/>
          </a:p>
        </p:txBody>
      </p:sp>
      <p:sp>
        <p:nvSpPr>
          <p:cNvPr id="79" name="Text Placeholder 78">
            <a:extLst>
              <a:ext uri="{FF2B5EF4-FFF2-40B4-BE49-F238E27FC236}">
                <a16:creationId xmlns:a16="http://schemas.microsoft.com/office/drawing/2014/main" id="{5C024D54-483C-7F0F-2292-68CBCAA67770}"/>
              </a:ext>
            </a:extLst>
          </p:cNvPr>
          <p:cNvSpPr>
            <a:spLocks noGrp="1"/>
          </p:cNvSpPr>
          <p:nvPr>
            <p:ph type="body" sz="quarter" idx="65"/>
          </p:nvPr>
        </p:nvSpPr>
        <p:spPr/>
        <p:txBody>
          <a:bodyPr/>
          <a:lstStyle/>
          <a:p>
            <a:r>
              <a:rPr lang="en-US" noProof="0"/>
              <a:t>Understand what the critical inputs are for the configurator and what is required to generate the application</a:t>
            </a:r>
            <a:endParaRPr lang="en-US"/>
          </a:p>
          <a:p>
            <a:endParaRPr lang="en-US"/>
          </a:p>
        </p:txBody>
      </p:sp>
      <p:sp>
        <p:nvSpPr>
          <p:cNvPr id="81" name="Text Placeholder 80">
            <a:extLst>
              <a:ext uri="{FF2B5EF4-FFF2-40B4-BE49-F238E27FC236}">
                <a16:creationId xmlns:a16="http://schemas.microsoft.com/office/drawing/2014/main" id="{E7FD9033-00F2-34C7-F3E5-0A3E76F6E139}"/>
              </a:ext>
            </a:extLst>
          </p:cNvPr>
          <p:cNvSpPr>
            <a:spLocks noGrp="1"/>
          </p:cNvSpPr>
          <p:nvPr>
            <p:ph type="body" sz="quarter" idx="66"/>
          </p:nvPr>
        </p:nvSpPr>
        <p:spPr/>
        <p:txBody>
          <a:bodyPr/>
          <a:lstStyle/>
          <a:p>
            <a:r>
              <a:rPr lang="en-US"/>
              <a:t>Know the flow of implementation involving the application configurator</a:t>
            </a:r>
          </a:p>
        </p:txBody>
      </p:sp>
      <p:sp>
        <p:nvSpPr>
          <p:cNvPr id="83" name="Text Placeholder 82">
            <a:extLst>
              <a:ext uri="{FF2B5EF4-FFF2-40B4-BE49-F238E27FC236}">
                <a16:creationId xmlns:a16="http://schemas.microsoft.com/office/drawing/2014/main" id="{05D2E546-DE4D-5F5F-0B94-4211F1EEB93C}"/>
              </a:ext>
            </a:extLst>
          </p:cNvPr>
          <p:cNvSpPr>
            <a:spLocks noGrp="1"/>
          </p:cNvSpPr>
          <p:nvPr>
            <p:ph type="body" sz="quarter" idx="67"/>
          </p:nvPr>
        </p:nvSpPr>
        <p:spPr/>
        <p:txBody>
          <a:bodyPr/>
          <a:lstStyle/>
          <a:p>
            <a:r>
              <a:rPr lang="en-US" noProof="0"/>
              <a:t>Able to articulate the offering of current SPM apps to prospects and customers</a:t>
            </a:r>
            <a:endParaRPr lang="en-US"/>
          </a:p>
          <a:p>
            <a:endParaRPr lang="en-US"/>
          </a:p>
        </p:txBody>
      </p:sp>
      <p:sp>
        <p:nvSpPr>
          <p:cNvPr id="85" name="Text Placeholder 84">
            <a:extLst>
              <a:ext uri="{FF2B5EF4-FFF2-40B4-BE49-F238E27FC236}">
                <a16:creationId xmlns:a16="http://schemas.microsoft.com/office/drawing/2014/main" id="{143A444C-3CD1-B18D-9A08-EBF9ADE6E528}"/>
              </a:ext>
            </a:extLst>
          </p:cNvPr>
          <p:cNvSpPr>
            <a:spLocks noGrp="1"/>
          </p:cNvSpPr>
          <p:nvPr>
            <p:ph type="body" sz="quarter" idx="68"/>
          </p:nvPr>
        </p:nvSpPr>
        <p:spPr/>
        <p:txBody>
          <a:bodyPr/>
          <a:lstStyle/>
          <a:p>
            <a:r>
              <a:rPr lang="en-US" noProof="0"/>
              <a:t>Know what is available and how the application team can assist you in your enablement and implementation journey</a:t>
            </a:r>
            <a:endParaRPr lang="en-US"/>
          </a:p>
          <a:p>
            <a:endParaRPr lang="en-US"/>
          </a:p>
        </p:txBody>
      </p:sp>
    </p:spTree>
    <p:extLst>
      <p:ext uri="{BB962C8B-B14F-4D97-AF65-F5344CB8AC3E}">
        <p14:creationId xmlns:p14="http://schemas.microsoft.com/office/powerpoint/2010/main" val="426776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52145-419C-B181-A6A1-7318EBA37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ED81E-E488-FF62-10B0-988ECC9184AB}"/>
              </a:ext>
            </a:extLst>
          </p:cNvPr>
          <p:cNvSpPr>
            <a:spLocks noGrp="1"/>
          </p:cNvSpPr>
          <p:nvPr>
            <p:ph type="title"/>
          </p:nvPr>
        </p:nvSpPr>
        <p:spPr/>
        <p:txBody>
          <a:bodyPr/>
          <a:lstStyle/>
          <a:p>
            <a:r>
              <a:rPr lang="en-US"/>
              <a:t>Sales Performance Management (SPM) Overview</a:t>
            </a:r>
          </a:p>
        </p:txBody>
      </p:sp>
    </p:spTree>
    <p:extLst>
      <p:ext uri="{BB962C8B-B14F-4D97-AF65-F5344CB8AC3E}">
        <p14:creationId xmlns:p14="http://schemas.microsoft.com/office/powerpoint/2010/main" val="13278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E4E0-A05C-476B-D95B-075A16EF7B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044559-8E42-C4F9-8690-936B3A9D0663}"/>
              </a:ext>
            </a:extLst>
          </p:cNvPr>
          <p:cNvSpPr>
            <a:spLocks noGrp="1"/>
          </p:cNvSpPr>
          <p:nvPr>
            <p:ph type="title"/>
          </p:nvPr>
        </p:nvSpPr>
        <p:spPr>
          <a:xfrm>
            <a:off x="419100" y="294640"/>
            <a:ext cx="8153401" cy="338554"/>
          </a:xfrm>
        </p:spPr>
        <p:txBody>
          <a:bodyPr/>
          <a:lstStyle/>
          <a:p>
            <a:r>
              <a:rPr lang="en-US"/>
              <a:t>Sales Performance Management</a:t>
            </a:r>
          </a:p>
        </p:txBody>
      </p:sp>
      <p:sp>
        <p:nvSpPr>
          <p:cNvPr id="21" name="Text Placeholder 20">
            <a:extLst>
              <a:ext uri="{FF2B5EF4-FFF2-40B4-BE49-F238E27FC236}">
                <a16:creationId xmlns:a16="http://schemas.microsoft.com/office/drawing/2014/main" id="{8565B9A2-7BDF-7BC6-0471-9630B2AA201B}"/>
              </a:ext>
            </a:extLst>
          </p:cNvPr>
          <p:cNvSpPr>
            <a:spLocks noGrp="1"/>
          </p:cNvSpPr>
          <p:nvPr>
            <p:ph type="body" sz="quarter" idx="43"/>
          </p:nvPr>
        </p:nvSpPr>
        <p:spPr>
          <a:xfrm>
            <a:off x="639763" y="1229342"/>
            <a:ext cx="3389029" cy="207495"/>
          </a:xfrm>
        </p:spPr>
        <p:txBody>
          <a:bodyPr/>
          <a:lstStyle/>
          <a:p>
            <a:r>
              <a:rPr lang="en-US"/>
              <a:t>What is SPM?</a:t>
            </a:r>
          </a:p>
        </p:txBody>
      </p:sp>
      <p:sp>
        <p:nvSpPr>
          <p:cNvPr id="5" name="Text Placeholder 4">
            <a:extLst>
              <a:ext uri="{FF2B5EF4-FFF2-40B4-BE49-F238E27FC236}">
                <a16:creationId xmlns:a16="http://schemas.microsoft.com/office/drawing/2014/main" id="{48A4E88A-3994-41FC-BC5B-C0359B431009}"/>
              </a:ext>
            </a:extLst>
          </p:cNvPr>
          <p:cNvSpPr>
            <a:spLocks noGrp="1"/>
          </p:cNvSpPr>
          <p:nvPr>
            <p:ph type="body" sz="quarter" idx="45"/>
          </p:nvPr>
        </p:nvSpPr>
        <p:spPr>
          <a:xfrm>
            <a:off x="4690086" y="1229342"/>
            <a:ext cx="3376552" cy="207489"/>
          </a:xfrm>
        </p:spPr>
        <p:txBody>
          <a:bodyPr/>
          <a:lstStyle/>
          <a:p>
            <a:r>
              <a:rPr lang="en-US"/>
              <a:t>Key Areas</a:t>
            </a:r>
          </a:p>
        </p:txBody>
      </p:sp>
      <p:sp>
        <p:nvSpPr>
          <p:cNvPr id="4" name="Text Placeholder 3">
            <a:extLst>
              <a:ext uri="{FF2B5EF4-FFF2-40B4-BE49-F238E27FC236}">
                <a16:creationId xmlns:a16="http://schemas.microsoft.com/office/drawing/2014/main" id="{D2CD8F4E-E58F-4AA2-D9CC-9885CED57EFC}"/>
              </a:ext>
            </a:extLst>
          </p:cNvPr>
          <p:cNvSpPr>
            <a:spLocks noGrp="1"/>
          </p:cNvSpPr>
          <p:nvPr>
            <p:ph type="body" sz="quarter" idx="47"/>
          </p:nvPr>
        </p:nvSpPr>
        <p:spPr/>
        <p:txBody>
          <a:bodyPr/>
          <a:lstStyle/>
          <a:p>
            <a:r>
              <a:rPr lang="en-US"/>
              <a:t>SPM is a suite of tools and processes designed to improve sales effectiveness and efficiency by managing sales strategies, performance metrics, and compensation systems.</a:t>
            </a:r>
          </a:p>
          <a:p>
            <a:endParaRPr lang="en-US"/>
          </a:p>
        </p:txBody>
      </p:sp>
      <p:sp>
        <p:nvSpPr>
          <p:cNvPr id="6" name="Text Placeholder 5">
            <a:extLst>
              <a:ext uri="{FF2B5EF4-FFF2-40B4-BE49-F238E27FC236}">
                <a16:creationId xmlns:a16="http://schemas.microsoft.com/office/drawing/2014/main" id="{335D4489-B17F-6B47-6CA0-6DC5E12B4690}"/>
              </a:ext>
            </a:extLst>
          </p:cNvPr>
          <p:cNvSpPr>
            <a:spLocks noGrp="1"/>
          </p:cNvSpPr>
          <p:nvPr>
            <p:ph type="body" sz="quarter" idx="48"/>
          </p:nvPr>
        </p:nvSpPr>
        <p:spPr>
          <a:xfrm>
            <a:off x="4707026" y="1562376"/>
            <a:ext cx="3575236" cy="2894117"/>
          </a:xfrm>
        </p:spPr>
        <p:txBody>
          <a:bodyPr lIns="0" tIns="45720" rIns="91440" bIns="45720" anchor="t"/>
          <a:lstStyle/>
          <a:p>
            <a:pPr marL="285750" indent="-285750">
              <a:buFont typeface="Arial" panose="020B0604020202020204" pitchFamily="34" charset="0"/>
              <a:buChar char="•"/>
            </a:pPr>
            <a:r>
              <a:rPr lang="en-US">
                <a:latin typeface="Arial"/>
                <a:ea typeface="Verdana"/>
                <a:cs typeface="Arial"/>
              </a:rPr>
              <a:t>Territory and Quota Management (TQM/T&amp;Q)</a:t>
            </a:r>
          </a:p>
          <a:p>
            <a:pPr marL="285750" indent="-285750">
              <a:buFont typeface="Arial" panose="020B0604020202020204" pitchFamily="34" charset="0"/>
              <a:buChar char="•"/>
            </a:pPr>
            <a:r>
              <a:rPr lang="en-US"/>
              <a:t>Account Segmentation and Scoring</a:t>
            </a:r>
          </a:p>
          <a:p>
            <a:pPr marL="285750" indent="-285750">
              <a:buFont typeface="Arial" panose="020B0604020202020204" pitchFamily="34" charset="0"/>
              <a:buChar char="•"/>
            </a:pPr>
            <a:r>
              <a:rPr lang="en-US"/>
              <a:t>Capacity Planning</a:t>
            </a:r>
          </a:p>
          <a:p>
            <a:pPr marL="285750" indent="-285750">
              <a:buFont typeface="Arial" panose="020B0604020202020204" pitchFamily="34" charset="0"/>
              <a:buChar char="•"/>
            </a:pPr>
            <a:r>
              <a:rPr lang="en-US"/>
              <a:t>Sales Forecasting</a:t>
            </a:r>
          </a:p>
          <a:p>
            <a:pPr marL="285750" indent="-285750">
              <a:buFont typeface="Arial" panose="020B0604020202020204" pitchFamily="34" charset="0"/>
              <a:buChar char="•"/>
            </a:pPr>
            <a:r>
              <a:rPr lang="en-US">
                <a:latin typeface="Arial"/>
                <a:ea typeface="Verdana"/>
                <a:cs typeface="Arial"/>
              </a:rPr>
              <a:t>Incentive Compensation Management (ICM)</a:t>
            </a:r>
          </a:p>
          <a:p>
            <a:endParaRPr lang="en-US"/>
          </a:p>
        </p:txBody>
      </p:sp>
    </p:spTree>
    <p:extLst>
      <p:ext uri="{BB962C8B-B14F-4D97-AF65-F5344CB8AC3E}">
        <p14:creationId xmlns:p14="http://schemas.microsoft.com/office/powerpoint/2010/main" val="2942536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FA834-3246-DF86-559F-75D65D821F89}"/>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95E76F93-5835-3668-C894-86467CF49FDE}"/>
              </a:ext>
            </a:extLst>
          </p:cNvPr>
          <p:cNvSpPr>
            <a:spLocks noGrp="1"/>
          </p:cNvSpPr>
          <p:nvPr>
            <p:ph type="title"/>
          </p:nvPr>
        </p:nvSpPr>
        <p:spPr/>
        <p:txBody>
          <a:bodyPr/>
          <a:lstStyle/>
          <a:p>
            <a:r>
              <a:rPr lang="en-US"/>
              <a:t>Why is SPM Important</a:t>
            </a:r>
          </a:p>
        </p:txBody>
      </p:sp>
      <p:sp>
        <p:nvSpPr>
          <p:cNvPr id="31" name="TextBox 30">
            <a:extLst>
              <a:ext uri="{FF2B5EF4-FFF2-40B4-BE49-F238E27FC236}">
                <a16:creationId xmlns:a16="http://schemas.microsoft.com/office/drawing/2014/main" id="{874EE197-75DC-CC70-8D38-90B7E15D7804}"/>
              </a:ext>
            </a:extLst>
          </p:cNvPr>
          <p:cNvSpPr txBox="1"/>
          <p:nvPr/>
        </p:nvSpPr>
        <p:spPr>
          <a:xfrm>
            <a:off x="4368247" y="1218751"/>
            <a:ext cx="4412973" cy="2539157"/>
          </a:xfrm>
          <a:prstGeom prst="rect">
            <a:avLst/>
          </a:prstGeom>
          <a:noFill/>
        </p:spPr>
        <p:txBody>
          <a:bodyPr wrap="square" lIns="0" rtlCol="0">
            <a:spAutoFit/>
          </a:bodyPr>
          <a:lstStyle/>
          <a:p>
            <a:pPr marL="450850" indent="-285750">
              <a:spcBef>
                <a:spcPts val="600"/>
              </a:spcBef>
              <a:buFont typeface="Arial" panose="020B0604020202020204" pitchFamily="34" charset="0"/>
              <a:buChar char="•"/>
            </a:pPr>
            <a:r>
              <a:rPr lang="en-US" sz="1600" b="1"/>
              <a:t>Revenue Growth: </a:t>
            </a:r>
            <a:r>
              <a:rPr lang="en-US" sz="1600"/>
              <a:t>Aligns sellers, quotas, and incentives to maximize attainment.</a:t>
            </a:r>
          </a:p>
          <a:p>
            <a:pPr marL="450850" indent="-285750">
              <a:spcBef>
                <a:spcPts val="600"/>
              </a:spcBef>
              <a:buFont typeface="Arial" panose="020B0604020202020204" pitchFamily="34" charset="0"/>
              <a:buChar char="•"/>
            </a:pPr>
            <a:r>
              <a:rPr lang="en-US" sz="1600" b="1"/>
              <a:t>Fairness &amp; Trust: </a:t>
            </a:r>
            <a:r>
              <a:rPr lang="en-US" sz="1600"/>
              <a:t>Transparent quotas and pay motivate and retain reps.</a:t>
            </a:r>
          </a:p>
          <a:p>
            <a:pPr marL="450850" indent="-285750">
              <a:spcBef>
                <a:spcPts val="600"/>
              </a:spcBef>
              <a:buFont typeface="Arial" panose="020B0604020202020204" pitchFamily="34" charset="0"/>
              <a:buChar char="•"/>
            </a:pPr>
            <a:r>
              <a:rPr lang="en-US" sz="1600" b="1"/>
              <a:t>Agility: </a:t>
            </a:r>
            <a:r>
              <a:rPr lang="en-US" sz="1600"/>
              <a:t>Enables mid-cycle adjustments to stay ahead of market shifts.</a:t>
            </a:r>
          </a:p>
          <a:p>
            <a:pPr marL="450850" indent="-285750">
              <a:spcBef>
                <a:spcPts val="600"/>
              </a:spcBef>
              <a:buFont typeface="Arial" panose="020B0604020202020204" pitchFamily="34" charset="0"/>
              <a:buChar char="•"/>
            </a:pPr>
            <a:r>
              <a:rPr lang="en-US" sz="1600" b="1"/>
              <a:t>Executive Confidence: </a:t>
            </a:r>
            <a:r>
              <a:rPr lang="en-US" sz="1600"/>
              <a:t>Accurate forecasts build credibility with leadership &amp; investors.</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pic>
        <p:nvPicPr>
          <p:cNvPr id="4" name="Picture 3" descr="A person walking on a graph&#10;&#10;AI-generated content may be incorrect.">
            <a:extLst>
              <a:ext uri="{FF2B5EF4-FFF2-40B4-BE49-F238E27FC236}">
                <a16:creationId xmlns:a16="http://schemas.microsoft.com/office/drawing/2014/main" id="{E514AC53-EDBD-CD3F-6CFA-38B2989FC33C}"/>
              </a:ext>
            </a:extLst>
          </p:cNvPr>
          <p:cNvPicPr>
            <a:picLocks noChangeAspect="1"/>
          </p:cNvPicPr>
          <p:nvPr/>
        </p:nvPicPr>
        <p:blipFill>
          <a:blip r:embed="rId2"/>
          <a:stretch>
            <a:fillRect/>
          </a:stretch>
        </p:blipFill>
        <p:spPr>
          <a:xfrm>
            <a:off x="160408" y="1344267"/>
            <a:ext cx="4250221" cy="2812774"/>
          </a:xfrm>
          <a:prstGeom prst="rect">
            <a:avLst/>
          </a:prstGeom>
          <a:ln>
            <a:solidFill>
              <a:schemeClr val="tx1"/>
            </a:solidFill>
          </a:ln>
        </p:spPr>
      </p:pic>
    </p:spTree>
    <p:extLst>
      <p:ext uri="{BB962C8B-B14F-4D97-AF65-F5344CB8AC3E}">
        <p14:creationId xmlns:p14="http://schemas.microsoft.com/office/powerpoint/2010/main" val="28886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91CB5-08F0-0ED7-DB9C-969D79F4AAEF}"/>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B247F818-C6D5-D6B3-29DC-E642CAD3C5D5}"/>
              </a:ext>
            </a:extLst>
          </p:cNvPr>
          <p:cNvSpPr>
            <a:spLocks noGrp="1"/>
          </p:cNvSpPr>
          <p:nvPr>
            <p:ph type="title"/>
          </p:nvPr>
        </p:nvSpPr>
        <p:spPr/>
        <p:txBody>
          <a:bodyPr/>
          <a:lstStyle/>
          <a:p>
            <a:r>
              <a:rPr lang="en-US"/>
              <a:t>SPM in practice</a:t>
            </a:r>
          </a:p>
        </p:txBody>
      </p:sp>
      <p:sp>
        <p:nvSpPr>
          <p:cNvPr id="31" name="TextBox 30">
            <a:extLst>
              <a:ext uri="{FF2B5EF4-FFF2-40B4-BE49-F238E27FC236}">
                <a16:creationId xmlns:a16="http://schemas.microsoft.com/office/drawing/2014/main" id="{E134DC24-DFC1-FA64-C0F1-94F9344061E2}"/>
              </a:ext>
            </a:extLst>
          </p:cNvPr>
          <p:cNvSpPr txBox="1"/>
          <p:nvPr/>
        </p:nvSpPr>
        <p:spPr>
          <a:xfrm>
            <a:off x="4383157" y="970272"/>
            <a:ext cx="4040256" cy="3108543"/>
          </a:xfrm>
          <a:prstGeom prst="rect">
            <a:avLst/>
          </a:prstGeom>
          <a:noFill/>
        </p:spPr>
        <p:txBody>
          <a:bodyPr wrap="square" lIns="0" rtlCol="0">
            <a:spAutoFit/>
          </a:bodyPr>
          <a:lstStyle/>
          <a:p>
            <a:pPr marL="450850" indent="-285750">
              <a:spcBef>
                <a:spcPts val="600"/>
              </a:spcBef>
              <a:buFont typeface="Arial" panose="020B0604020202020204" pitchFamily="34" charset="0"/>
              <a:buChar char="•"/>
            </a:pPr>
            <a:r>
              <a:rPr lang="en-US" sz="1600" b="1"/>
              <a:t>Territory &amp; Quota: </a:t>
            </a:r>
            <a:r>
              <a:rPr lang="en-US" sz="1600"/>
              <a:t>Balanced coverage and achievable quotas.</a:t>
            </a:r>
          </a:p>
          <a:p>
            <a:pPr marL="450850" indent="-285750">
              <a:spcBef>
                <a:spcPts val="600"/>
              </a:spcBef>
              <a:buFont typeface="Arial" panose="020B0604020202020204" pitchFamily="34" charset="0"/>
              <a:buChar char="•"/>
            </a:pPr>
            <a:r>
              <a:rPr lang="en-US" sz="1600" b="1"/>
              <a:t>Segmentation &amp; Scoring: </a:t>
            </a:r>
            <a:r>
              <a:rPr lang="en-US" sz="1600"/>
              <a:t>Focus on high-value accounts with data-driven insights.</a:t>
            </a:r>
          </a:p>
          <a:p>
            <a:pPr marL="450850" indent="-285750">
              <a:spcBef>
                <a:spcPts val="600"/>
              </a:spcBef>
              <a:buFont typeface="Arial" panose="020B0604020202020204" pitchFamily="34" charset="0"/>
              <a:buChar char="•"/>
            </a:pPr>
            <a:r>
              <a:rPr lang="en-US" sz="1600" b="1"/>
              <a:t>Capacity Planning: </a:t>
            </a:r>
            <a:r>
              <a:rPr lang="en-US" sz="1600"/>
              <a:t>Align headcount and resources to growth goals.</a:t>
            </a:r>
          </a:p>
          <a:p>
            <a:pPr marL="450850" indent="-285750">
              <a:spcBef>
                <a:spcPts val="600"/>
              </a:spcBef>
              <a:buFont typeface="Arial" panose="020B0604020202020204" pitchFamily="34" charset="0"/>
              <a:buChar char="•"/>
            </a:pPr>
            <a:r>
              <a:rPr lang="en-US" sz="1600" b="1"/>
              <a:t>Forecasting: </a:t>
            </a:r>
            <a:r>
              <a:rPr lang="en-US" sz="1600"/>
              <a:t>Pipeline visibility and predictive insights for proactive action.</a:t>
            </a:r>
          </a:p>
          <a:p>
            <a:pPr marL="450850" indent="-285750">
              <a:spcBef>
                <a:spcPts val="600"/>
              </a:spcBef>
              <a:buFont typeface="Arial" panose="020B0604020202020204" pitchFamily="34" charset="0"/>
              <a:buChar char="•"/>
            </a:pPr>
            <a:r>
              <a:rPr lang="en-US" sz="1600" b="1"/>
              <a:t>Incentives: </a:t>
            </a:r>
            <a:r>
              <a:rPr lang="en-US" sz="1600"/>
              <a:t>Pay-for-performance that drives the right behaviors.</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pic>
        <p:nvPicPr>
          <p:cNvPr id="5" name="Content Placeholder 4" descr="A person walking on a graph&#10;&#10;AI-generated content may be incorrect.">
            <a:extLst>
              <a:ext uri="{FF2B5EF4-FFF2-40B4-BE49-F238E27FC236}">
                <a16:creationId xmlns:a16="http://schemas.microsoft.com/office/drawing/2014/main" id="{DDE32A30-FC3D-C87B-B35A-15965171849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20587" y="775390"/>
            <a:ext cx="2656416" cy="3984625"/>
          </a:xfrm>
        </p:spPr>
      </p:pic>
    </p:spTree>
    <p:extLst>
      <p:ext uri="{BB962C8B-B14F-4D97-AF65-F5344CB8AC3E}">
        <p14:creationId xmlns:p14="http://schemas.microsoft.com/office/powerpoint/2010/main" val="4221307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ED4D-6448-0050-12B1-53186E49D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8B9F1-9A6F-B826-202B-7E690453CB66}"/>
              </a:ext>
            </a:extLst>
          </p:cNvPr>
          <p:cNvSpPr>
            <a:spLocks noGrp="1"/>
          </p:cNvSpPr>
          <p:nvPr>
            <p:ph type="title"/>
          </p:nvPr>
        </p:nvSpPr>
        <p:spPr/>
        <p:txBody>
          <a:bodyPr/>
          <a:lstStyle/>
          <a:p>
            <a:r>
              <a:rPr lang="en-US"/>
              <a:t>Territory and Quota Planning/Management</a:t>
            </a:r>
          </a:p>
        </p:txBody>
      </p:sp>
    </p:spTree>
    <p:extLst>
      <p:ext uri="{BB962C8B-B14F-4D97-AF65-F5344CB8AC3E}">
        <p14:creationId xmlns:p14="http://schemas.microsoft.com/office/powerpoint/2010/main" val="248612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06225-E079-FAC8-7460-A9DB12940F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983CB3-6C74-A7EE-D05B-4D7ED23FB799}"/>
              </a:ext>
            </a:extLst>
          </p:cNvPr>
          <p:cNvSpPr>
            <a:spLocks noGrp="1"/>
          </p:cNvSpPr>
          <p:nvPr>
            <p:ph type="title"/>
          </p:nvPr>
        </p:nvSpPr>
        <p:spPr>
          <a:xfrm>
            <a:off x="419100" y="294640"/>
            <a:ext cx="8153401" cy="338554"/>
          </a:xfrm>
        </p:spPr>
        <p:txBody>
          <a:bodyPr/>
          <a:lstStyle/>
          <a:p>
            <a:r>
              <a:rPr lang="en-US"/>
              <a:t>Territory Management</a:t>
            </a:r>
          </a:p>
        </p:txBody>
      </p:sp>
      <p:sp>
        <p:nvSpPr>
          <p:cNvPr id="21" name="Text Placeholder 20">
            <a:extLst>
              <a:ext uri="{FF2B5EF4-FFF2-40B4-BE49-F238E27FC236}">
                <a16:creationId xmlns:a16="http://schemas.microsoft.com/office/drawing/2014/main" id="{702E465C-C9B4-4A4B-9BBF-A053B2A8F66D}"/>
              </a:ext>
            </a:extLst>
          </p:cNvPr>
          <p:cNvSpPr>
            <a:spLocks noGrp="1"/>
          </p:cNvSpPr>
          <p:nvPr>
            <p:ph type="body" sz="quarter" idx="43"/>
          </p:nvPr>
        </p:nvSpPr>
        <p:spPr>
          <a:xfrm>
            <a:off x="639763" y="1229342"/>
            <a:ext cx="3389029" cy="207495"/>
          </a:xfrm>
        </p:spPr>
        <p:txBody>
          <a:bodyPr/>
          <a:lstStyle/>
          <a:p>
            <a:r>
              <a:rPr lang="en-US"/>
              <a:t>What is Territory Management?</a:t>
            </a:r>
          </a:p>
        </p:txBody>
      </p:sp>
      <p:sp>
        <p:nvSpPr>
          <p:cNvPr id="5" name="Text Placeholder 4">
            <a:extLst>
              <a:ext uri="{FF2B5EF4-FFF2-40B4-BE49-F238E27FC236}">
                <a16:creationId xmlns:a16="http://schemas.microsoft.com/office/drawing/2014/main" id="{3C2D44FD-5D84-D36F-C12C-A682212A2CF3}"/>
              </a:ext>
            </a:extLst>
          </p:cNvPr>
          <p:cNvSpPr>
            <a:spLocks noGrp="1"/>
          </p:cNvSpPr>
          <p:nvPr>
            <p:ph type="body" sz="quarter" idx="45"/>
          </p:nvPr>
        </p:nvSpPr>
        <p:spPr>
          <a:xfrm>
            <a:off x="4690085" y="1229342"/>
            <a:ext cx="3882415" cy="207489"/>
          </a:xfrm>
        </p:spPr>
        <p:txBody>
          <a:bodyPr/>
          <a:lstStyle/>
          <a:p>
            <a:r>
              <a:rPr lang="en-US"/>
              <a:t>Territory Management Benefits</a:t>
            </a:r>
          </a:p>
        </p:txBody>
      </p:sp>
      <p:sp>
        <p:nvSpPr>
          <p:cNvPr id="4" name="Text Placeholder 3">
            <a:extLst>
              <a:ext uri="{FF2B5EF4-FFF2-40B4-BE49-F238E27FC236}">
                <a16:creationId xmlns:a16="http://schemas.microsoft.com/office/drawing/2014/main" id="{EE6C392D-5F2F-346E-0A6E-A1421442099F}"/>
              </a:ext>
            </a:extLst>
          </p:cNvPr>
          <p:cNvSpPr>
            <a:spLocks noGrp="1"/>
          </p:cNvSpPr>
          <p:nvPr>
            <p:ph type="body" sz="quarter" idx="47"/>
          </p:nvPr>
        </p:nvSpPr>
        <p:spPr/>
        <p:txBody>
          <a:bodyPr/>
          <a:lstStyle/>
          <a:p>
            <a:r>
              <a:rPr lang="en-US"/>
              <a:t>Territory Management is the process of defining and allocating sales territories to ensure balanced market coverage. The goal is to match selling resources with market opportunity, so each territory is equitable and achievable. Effective territory management reduces coverage gaps, prevents overlaps, and ensures reps are focused on the right regions, industries, or accounts.</a:t>
            </a:r>
          </a:p>
        </p:txBody>
      </p:sp>
      <p:sp>
        <p:nvSpPr>
          <p:cNvPr id="6" name="Text Placeholder 5">
            <a:extLst>
              <a:ext uri="{FF2B5EF4-FFF2-40B4-BE49-F238E27FC236}">
                <a16:creationId xmlns:a16="http://schemas.microsoft.com/office/drawing/2014/main" id="{0C803815-80D9-8C69-2577-443FEEC9F171}"/>
              </a:ext>
            </a:extLst>
          </p:cNvPr>
          <p:cNvSpPr>
            <a:spLocks noGrp="1"/>
          </p:cNvSpPr>
          <p:nvPr>
            <p:ph type="body" sz="quarter" idx="48"/>
          </p:nvPr>
        </p:nvSpPr>
        <p:spPr>
          <a:xfrm>
            <a:off x="4707026" y="1562376"/>
            <a:ext cx="3575236" cy="3088707"/>
          </a:xfrm>
        </p:spPr>
        <p:txBody>
          <a:bodyPr/>
          <a:lstStyle/>
          <a:p>
            <a:pPr marL="285750" indent="-285750">
              <a:lnSpc>
                <a:spcPct val="200000"/>
              </a:lnSpc>
              <a:buFont typeface="Arial" panose="020B0604020202020204" pitchFamily="34" charset="0"/>
              <a:buChar char="•"/>
            </a:pPr>
            <a:r>
              <a:rPr lang="en-US" b="1"/>
              <a:t>Optimized Coverage</a:t>
            </a:r>
          </a:p>
          <a:p>
            <a:pPr marL="285750" indent="-285750">
              <a:lnSpc>
                <a:spcPct val="200000"/>
              </a:lnSpc>
              <a:buFont typeface="Arial" panose="020B0604020202020204" pitchFamily="34" charset="0"/>
              <a:buChar char="•"/>
            </a:pPr>
            <a:r>
              <a:rPr lang="en-US" b="1"/>
              <a:t>Reduced Overlap &amp; Conflict</a:t>
            </a:r>
          </a:p>
          <a:p>
            <a:pPr marL="285750" indent="-285750">
              <a:lnSpc>
                <a:spcPct val="200000"/>
              </a:lnSpc>
              <a:buFont typeface="Arial" panose="020B0604020202020204" pitchFamily="34" charset="0"/>
              <a:buChar char="•"/>
            </a:pPr>
            <a:r>
              <a:rPr lang="en-US" b="1"/>
              <a:t>Increased Productivity</a:t>
            </a:r>
          </a:p>
          <a:p>
            <a:pPr marL="285750" indent="-285750">
              <a:lnSpc>
                <a:spcPct val="200000"/>
              </a:lnSpc>
              <a:buFont typeface="Arial" panose="020B0604020202020204" pitchFamily="34" charset="0"/>
              <a:buChar char="•"/>
            </a:pPr>
            <a:r>
              <a:rPr lang="en-US" b="1"/>
              <a:t>Balanced Workload</a:t>
            </a:r>
          </a:p>
          <a:p>
            <a:pPr marL="285750" indent="-285750">
              <a:lnSpc>
                <a:spcPct val="200000"/>
              </a:lnSpc>
              <a:buFont typeface="Arial" panose="020B0604020202020204" pitchFamily="34" charset="0"/>
              <a:buChar char="•"/>
            </a:pPr>
            <a:r>
              <a:rPr lang="en-US" b="1"/>
              <a:t>Revenue Potential Realized</a:t>
            </a:r>
            <a:endParaRPr lang="en-US"/>
          </a:p>
        </p:txBody>
      </p:sp>
    </p:spTree>
    <p:extLst>
      <p:ext uri="{BB962C8B-B14F-4D97-AF65-F5344CB8AC3E}">
        <p14:creationId xmlns:p14="http://schemas.microsoft.com/office/powerpoint/2010/main" val="157699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817D5-EE60-E871-A919-E3D3E1929D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CECC1D-6F08-5923-B779-940096FDC56A}"/>
              </a:ext>
            </a:extLst>
          </p:cNvPr>
          <p:cNvSpPr>
            <a:spLocks noGrp="1"/>
          </p:cNvSpPr>
          <p:nvPr>
            <p:ph type="title"/>
          </p:nvPr>
        </p:nvSpPr>
        <p:spPr>
          <a:xfrm>
            <a:off x="419100" y="294640"/>
            <a:ext cx="8153401" cy="338554"/>
          </a:xfrm>
        </p:spPr>
        <p:txBody>
          <a:bodyPr/>
          <a:lstStyle/>
          <a:p>
            <a:r>
              <a:rPr lang="en-US"/>
              <a:t>Quota Management</a:t>
            </a:r>
          </a:p>
        </p:txBody>
      </p:sp>
      <p:sp>
        <p:nvSpPr>
          <p:cNvPr id="21" name="Text Placeholder 20">
            <a:extLst>
              <a:ext uri="{FF2B5EF4-FFF2-40B4-BE49-F238E27FC236}">
                <a16:creationId xmlns:a16="http://schemas.microsoft.com/office/drawing/2014/main" id="{69D17F23-778C-C8FC-B730-AC56FC0CFE65}"/>
              </a:ext>
            </a:extLst>
          </p:cNvPr>
          <p:cNvSpPr>
            <a:spLocks noGrp="1"/>
          </p:cNvSpPr>
          <p:nvPr>
            <p:ph type="body" sz="quarter" idx="43"/>
          </p:nvPr>
        </p:nvSpPr>
        <p:spPr>
          <a:xfrm>
            <a:off x="639763" y="1229342"/>
            <a:ext cx="3389029" cy="207495"/>
          </a:xfrm>
        </p:spPr>
        <p:txBody>
          <a:bodyPr/>
          <a:lstStyle/>
          <a:p>
            <a:r>
              <a:rPr lang="en-US"/>
              <a:t>What is Quota Management?</a:t>
            </a:r>
          </a:p>
        </p:txBody>
      </p:sp>
      <p:sp>
        <p:nvSpPr>
          <p:cNvPr id="5" name="Text Placeholder 4">
            <a:extLst>
              <a:ext uri="{FF2B5EF4-FFF2-40B4-BE49-F238E27FC236}">
                <a16:creationId xmlns:a16="http://schemas.microsoft.com/office/drawing/2014/main" id="{8AD766EB-B6E5-4A64-B786-855721023C50}"/>
              </a:ext>
            </a:extLst>
          </p:cNvPr>
          <p:cNvSpPr>
            <a:spLocks noGrp="1"/>
          </p:cNvSpPr>
          <p:nvPr>
            <p:ph type="body" sz="quarter" idx="45"/>
          </p:nvPr>
        </p:nvSpPr>
        <p:spPr>
          <a:xfrm>
            <a:off x="4690085" y="1229342"/>
            <a:ext cx="3882415" cy="207489"/>
          </a:xfrm>
        </p:spPr>
        <p:txBody>
          <a:bodyPr/>
          <a:lstStyle/>
          <a:p>
            <a:r>
              <a:rPr lang="en-US"/>
              <a:t>Quota Management Benefits</a:t>
            </a:r>
          </a:p>
        </p:txBody>
      </p:sp>
      <p:sp>
        <p:nvSpPr>
          <p:cNvPr id="4" name="Text Placeholder 3">
            <a:extLst>
              <a:ext uri="{FF2B5EF4-FFF2-40B4-BE49-F238E27FC236}">
                <a16:creationId xmlns:a16="http://schemas.microsoft.com/office/drawing/2014/main" id="{FD787B40-1CA2-926B-84E5-44796F1C76EE}"/>
              </a:ext>
            </a:extLst>
          </p:cNvPr>
          <p:cNvSpPr>
            <a:spLocks noGrp="1"/>
          </p:cNvSpPr>
          <p:nvPr>
            <p:ph type="body" sz="quarter" idx="47"/>
          </p:nvPr>
        </p:nvSpPr>
        <p:spPr/>
        <p:txBody>
          <a:bodyPr/>
          <a:lstStyle/>
          <a:p>
            <a:r>
              <a:rPr lang="en-US"/>
              <a:t>Quota Management is the process of setting and distributing sales targets across the organization. Quotas are aligned with corporate revenue goals and tailored to territory potential, rep experience, and historical performance. Strong quota management ensures fairness, motivates sellers, and provides leadership with confidence in achieving top-line goals.</a:t>
            </a:r>
          </a:p>
        </p:txBody>
      </p:sp>
      <p:sp>
        <p:nvSpPr>
          <p:cNvPr id="6" name="Text Placeholder 5">
            <a:extLst>
              <a:ext uri="{FF2B5EF4-FFF2-40B4-BE49-F238E27FC236}">
                <a16:creationId xmlns:a16="http://schemas.microsoft.com/office/drawing/2014/main" id="{9BE3113D-C680-8707-9FB9-24BA5D8BACE4}"/>
              </a:ext>
            </a:extLst>
          </p:cNvPr>
          <p:cNvSpPr>
            <a:spLocks noGrp="1"/>
          </p:cNvSpPr>
          <p:nvPr>
            <p:ph type="body" sz="quarter" idx="48"/>
          </p:nvPr>
        </p:nvSpPr>
        <p:spPr>
          <a:xfrm>
            <a:off x="4707026" y="1562376"/>
            <a:ext cx="3575236" cy="3088707"/>
          </a:xfrm>
        </p:spPr>
        <p:txBody>
          <a:bodyPr/>
          <a:lstStyle/>
          <a:p>
            <a:pPr marL="285750" indent="-285750">
              <a:lnSpc>
                <a:spcPct val="200000"/>
              </a:lnSpc>
              <a:buFont typeface="Arial" panose="020B0604020202020204" pitchFamily="34" charset="0"/>
              <a:buChar char="•"/>
            </a:pPr>
            <a:r>
              <a:rPr lang="en-US" b="1"/>
              <a:t>Fair &amp; Attainable Targets</a:t>
            </a:r>
          </a:p>
          <a:p>
            <a:pPr marL="285750" indent="-285750">
              <a:lnSpc>
                <a:spcPct val="200000"/>
              </a:lnSpc>
              <a:buFont typeface="Arial" panose="020B0604020202020204" pitchFamily="34" charset="0"/>
              <a:buChar char="•"/>
            </a:pPr>
            <a:r>
              <a:rPr lang="en-US" b="1"/>
              <a:t>Alignment with Strategy</a:t>
            </a:r>
          </a:p>
          <a:p>
            <a:pPr marL="285750" indent="-285750">
              <a:lnSpc>
                <a:spcPct val="200000"/>
              </a:lnSpc>
              <a:buFont typeface="Arial" panose="020B0604020202020204" pitchFamily="34" charset="0"/>
              <a:buChar char="•"/>
            </a:pPr>
            <a:r>
              <a:rPr lang="en-US" b="1"/>
              <a:t>Improved Performance Tracking</a:t>
            </a:r>
          </a:p>
          <a:p>
            <a:pPr marL="285750" indent="-285750">
              <a:lnSpc>
                <a:spcPct val="200000"/>
              </a:lnSpc>
              <a:buFont typeface="Arial" panose="020B0604020202020204" pitchFamily="34" charset="0"/>
              <a:buChar char="•"/>
            </a:pPr>
            <a:r>
              <a:rPr lang="en-US" b="1"/>
              <a:t>Motivation &amp; Retention</a:t>
            </a:r>
          </a:p>
          <a:p>
            <a:pPr marL="285750" indent="-285750">
              <a:lnSpc>
                <a:spcPct val="200000"/>
              </a:lnSpc>
              <a:buFont typeface="Arial" panose="020B0604020202020204" pitchFamily="34" charset="0"/>
              <a:buChar char="•"/>
            </a:pPr>
            <a:r>
              <a:rPr lang="en-US" b="1"/>
              <a:t>Predictable Revenue</a:t>
            </a:r>
            <a:endParaRPr lang="en-US"/>
          </a:p>
        </p:txBody>
      </p:sp>
    </p:spTree>
    <p:extLst>
      <p:ext uri="{BB962C8B-B14F-4D97-AF65-F5344CB8AC3E}">
        <p14:creationId xmlns:p14="http://schemas.microsoft.com/office/powerpoint/2010/main" val="301187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ED9B4-B583-4C58-9577-F8365A5FEA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89B516-5C90-1429-65AE-08B50F24A14A}"/>
              </a:ext>
            </a:extLst>
          </p:cNvPr>
          <p:cNvSpPr>
            <a:spLocks noGrp="1"/>
          </p:cNvSpPr>
          <p:nvPr>
            <p:ph type="title"/>
          </p:nvPr>
        </p:nvSpPr>
        <p:spPr>
          <a:xfrm>
            <a:off x="419100" y="294640"/>
            <a:ext cx="8153401" cy="338554"/>
          </a:xfrm>
        </p:spPr>
        <p:txBody>
          <a:bodyPr/>
          <a:lstStyle/>
          <a:p>
            <a:r>
              <a:rPr lang="en-US"/>
              <a:t>T&amp;Q Challenges</a:t>
            </a:r>
          </a:p>
        </p:txBody>
      </p:sp>
      <p:sp>
        <p:nvSpPr>
          <p:cNvPr id="21" name="Text Placeholder 20">
            <a:extLst>
              <a:ext uri="{FF2B5EF4-FFF2-40B4-BE49-F238E27FC236}">
                <a16:creationId xmlns:a16="http://schemas.microsoft.com/office/drawing/2014/main" id="{EB9AA68F-95BA-04BF-C944-6EB808C7AF56}"/>
              </a:ext>
            </a:extLst>
          </p:cNvPr>
          <p:cNvSpPr>
            <a:spLocks noGrp="1"/>
          </p:cNvSpPr>
          <p:nvPr>
            <p:ph type="body" sz="quarter" idx="43"/>
          </p:nvPr>
        </p:nvSpPr>
        <p:spPr>
          <a:xfrm>
            <a:off x="639763" y="1229342"/>
            <a:ext cx="3389029" cy="207495"/>
          </a:xfrm>
        </p:spPr>
        <p:txBody>
          <a:bodyPr/>
          <a:lstStyle/>
          <a:p>
            <a:r>
              <a:rPr lang="en-US"/>
              <a:t>Challenges in Territory Management</a:t>
            </a:r>
          </a:p>
        </p:txBody>
      </p:sp>
      <p:sp>
        <p:nvSpPr>
          <p:cNvPr id="5" name="Text Placeholder 4">
            <a:extLst>
              <a:ext uri="{FF2B5EF4-FFF2-40B4-BE49-F238E27FC236}">
                <a16:creationId xmlns:a16="http://schemas.microsoft.com/office/drawing/2014/main" id="{4827D1E6-494C-BD90-9FA6-F8C32D4512F7}"/>
              </a:ext>
            </a:extLst>
          </p:cNvPr>
          <p:cNvSpPr>
            <a:spLocks noGrp="1"/>
          </p:cNvSpPr>
          <p:nvPr>
            <p:ph type="body" sz="quarter" idx="45"/>
          </p:nvPr>
        </p:nvSpPr>
        <p:spPr>
          <a:xfrm>
            <a:off x="4690085" y="1229342"/>
            <a:ext cx="3882415" cy="207489"/>
          </a:xfrm>
        </p:spPr>
        <p:txBody>
          <a:bodyPr/>
          <a:lstStyle/>
          <a:p>
            <a:r>
              <a:rPr lang="en-US"/>
              <a:t>Challenges in Quota Management</a:t>
            </a:r>
          </a:p>
        </p:txBody>
      </p:sp>
      <p:sp>
        <p:nvSpPr>
          <p:cNvPr id="4" name="Text Placeholder 3">
            <a:extLst>
              <a:ext uri="{FF2B5EF4-FFF2-40B4-BE49-F238E27FC236}">
                <a16:creationId xmlns:a16="http://schemas.microsoft.com/office/drawing/2014/main" id="{EFA59FFA-3580-50DC-BE70-041EB3053D44}"/>
              </a:ext>
            </a:extLst>
          </p:cNvPr>
          <p:cNvSpPr>
            <a:spLocks noGrp="1"/>
          </p:cNvSpPr>
          <p:nvPr>
            <p:ph type="body" sz="quarter" idx="47"/>
          </p:nvPr>
        </p:nvSpPr>
        <p:spPr/>
        <p:txBody>
          <a:bodyPr/>
          <a:lstStyle/>
          <a:p>
            <a:pPr marL="285750" indent="-285750">
              <a:lnSpc>
                <a:spcPct val="200000"/>
              </a:lnSpc>
              <a:buFont typeface="Arial" panose="020B0604020202020204" pitchFamily="34" charset="0"/>
              <a:buChar char="•"/>
            </a:pPr>
            <a:r>
              <a:rPr lang="en-US" b="1"/>
              <a:t>Inequitable Territories</a:t>
            </a:r>
          </a:p>
          <a:p>
            <a:pPr marL="285750" indent="-285750">
              <a:lnSpc>
                <a:spcPct val="200000"/>
              </a:lnSpc>
              <a:buFont typeface="Arial" panose="020B0604020202020204" pitchFamily="34" charset="0"/>
              <a:buChar char="•"/>
            </a:pPr>
            <a:r>
              <a:rPr lang="en-US" b="1"/>
              <a:t>Overlaps &amp; Gaps</a:t>
            </a:r>
          </a:p>
          <a:p>
            <a:pPr marL="285750" indent="-285750">
              <a:lnSpc>
                <a:spcPct val="200000"/>
              </a:lnSpc>
              <a:buFont typeface="Arial" panose="020B0604020202020204" pitchFamily="34" charset="0"/>
              <a:buChar char="•"/>
            </a:pPr>
            <a:r>
              <a:rPr lang="en-US" b="1"/>
              <a:t>Static Territory Design</a:t>
            </a:r>
          </a:p>
          <a:p>
            <a:pPr marL="285750" indent="-285750">
              <a:lnSpc>
                <a:spcPct val="200000"/>
              </a:lnSpc>
              <a:buFont typeface="Arial" panose="020B0604020202020204" pitchFamily="34" charset="0"/>
              <a:buChar char="•"/>
            </a:pPr>
            <a:r>
              <a:rPr lang="en-US" b="1"/>
              <a:t>Data Quality Issues</a:t>
            </a:r>
          </a:p>
          <a:p>
            <a:pPr marL="285750" indent="-285750">
              <a:lnSpc>
                <a:spcPct val="200000"/>
              </a:lnSpc>
              <a:buFont typeface="Arial" panose="020B0604020202020204" pitchFamily="34" charset="0"/>
              <a:buChar char="•"/>
            </a:pPr>
            <a:r>
              <a:rPr lang="en-US" b="1"/>
              <a:t>Complexity at Scale</a:t>
            </a:r>
          </a:p>
        </p:txBody>
      </p:sp>
      <p:sp>
        <p:nvSpPr>
          <p:cNvPr id="6" name="Text Placeholder 5">
            <a:extLst>
              <a:ext uri="{FF2B5EF4-FFF2-40B4-BE49-F238E27FC236}">
                <a16:creationId xmlns:a16="http://schemas.microsoft.com/office/drawing/2014/main" id="{9929C965-8525-45D9-AE21-E6265378721E}"/>
              </a:ext>
            </a:extLst>
          </p:cNvPr>
          <p:cNvSpPr>
            <a:spLocks noGrp="1"/>
          </p:cNvSpPr>
          <p:nvPr>
            <p:ph type="body" sz="quarter" idx="48"/>
          </p:nvPr>
        </p:nvSpPr>
        <p:spPr>
          <a:xfrm>
            <a:off x="4707026" y="1562376"/>
            <a:ext cx="3575236" cy="3088707"/>
          </a:xfrm>
        </p:spPr>
        <p:txBody>
          <a:bodyPr/>
          <a:lstStyle/>
          <a:p>
            <a:pPr marL="285750" indent="-285750">
              <a:lnSpc>
                <a:spcPct val="200000"/>
              </a:lnSpc>
              <a:buFont typeface="Arial" panose="020B0604020202020204" pitchFamily="34" charset="0"/>
              <a:buChar char="•"/>
            </a:pPr>
            <a:r>
              <a:rPr lang="en-US" b="1"/>
              <a:t>Unrealistic Quotas</a:t>
            </a:r>
          </a:p>
          <a:p>
            <a:pPr marL="285750" indent="-285750">
              <a:lnSpc>
                <a:spcPct val="200000"/>
              </a:lnSpc>
              <a:buFont typeface="Arial" panose="020B0604020202020204" pitchFamily="34" charset="0"/>
              <a:buChar char="•"/>
            </a:pPr>
            <a:r>
              <a:rPr lang="en-US" b="1"/>
              <a:t>Misalignment with Opportunity</a:t>
            </a:r>
          </a:p>
          <a:p>
            <a:pPr marL="285750" indent="-285750">
              <a:lnSpc>
                <a:spcPct val="200000"/>
              </a:lnSpc>
              <a:buFont typeface="Arial" panose="020B0604020202020204" pitchFamily="34" charset="0"/>
              <a:buChar char="•"/>
            </a:pPr>
            <a:r>
              <a:rPr lang="en-US" b="1"/>
              <a:t>Slow Planning Cycles</a:t>
            </a:r>
          </a:p>
          <a:p>
            <a:pPr marL="285750" indent="-285750">
              <a:lnSpc>
                <a:spcPct val="200000"/>
              </a:lnSpc>
              <a:buFont typeface="Arial" panose="020B0604020202020204" pitchFamily="34" charset="0"/>
              <a:buChar char="•"/>
            </a:pPr>
            <a:r>
              <a:rPr lang="en-US" b="1"/>
              <a:t>Lack of Transparency</a:t>
            </a:r>
          </a:p>
          <a:p>
            <a:pPr marL="285750" indent="-285750">
              <a:lnSpc>
                <a:spcPct val="200000"/>
              </a:lnSpc>
              <a:buFont typeface="Arial" panose="020B0604020202020204" pitchFamily="34" charset="0"/>
              <a:buChar char="•"/>
            </a:pPr>
            <a:r>
              <a:rPr lang="en-US" b="1"/>
              <a:t>Frequent Mid-Cycle Adjustments</a:t>
            </a:r>
          </a:p>
        </p:txBody>
      </p:sp>
    </p:spTree>
    <p:extLst>
      <p:ext uri="{BB962C8B-B14F-4D97-AF65-F5344CB8AC3E}">
        <p14:creationId xmlns:p14="http://schemas.microsoft.com/office/powerpoint/2010/main" val="8794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8CB63-2907-96A1-E62C-B49721DBF1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A103A6-5AFC-5F1D-1577-BF7567E026BA}"/>
              </a:ext>
            </a:extLst>
          </p:cNvPr>
          <p:cNvSpPr>
            <a:spLocks noGrp="1"/>
          </p:cNvSpPr>
          <p:nvPr>
            <p:ph type="title"/>
          </p:nvPr>
        </p:nvSpPr>
        <p:spPr>
          <a:xfrm>
            <a:off x="419100" y="294640"/>
            <a:ext cx="8153401" cy="338554"/>
          </a:xfrm>
        </p:spPr>
        <p:txBody>
          <a:bodyPr/>
          <a:lstStyle/>
          <a:p>
            <a:r>
              <a:rPr lang="en-US"/>
              <a:t>T&amp;Q Key Elements</a:t>
            </a:r>
          </a:p>
        </p:txBody>
      </p:sp>
      <p:sp>
        <p:nvSpPr>
          <p:cNvPr id="21" name="Text Placeholder 20">
            <a:extLst>
              <a:ext uri="{FF2B5EF4-FFF2-40B4-BE49-F238E27FC236}">
                <a16:creationId xmlns:a16="http://schemas.microsoft.com/office/drawing/2014/main" id="{E130C89C-2B26-C018-18AD-A788A629A2BD}"/>
              </a:ext>
            </a:extLst>
          </p:cNvPr>
          <p:cNvSpPr>
            <a:spLocks noGrp="1"/>
          </p:cNvSpPr>
          <p:nvPr>
            <p:ph type="body" sz="quarter" idx="43"/>
          </p:nvPr>
        </p:nvSpPr>
        <p:spPr>
          <a:xfrm>
            <a:off x="639763" y="1229342"/>
            <a:ext cx="3389029" cy="207495"/>
          </a:xfrm>
        </p:spPr>
        <p:txBody>
          <a:bodyPr/>
          <a:lstStyle/>
          <a:p>
            <a:r>
              <a:rPr lang="en-US"/>
              <a:t>Where to sell</a:t>
            </a:r>
          </a:p>
        </p:txBody>
      </p:sp>
      <p:sp>
        <p:nvSpPr>
          <p:cNvPr id="5" name="Text Placeholder 4">
            <a:extLst>
              <a:ext uri="{FF2B5EF4-FFF2-40B4-BE49-F238E27FC236}">
                <a16:creationId xmlns:a16="http://schemas.microsoft.com/office/drawing/2014/main" id="{1EA9EB61-E790-E60A-5776-C8BD70042288}"/>
              </a:ext>
            </a:extLst>
          </p:cNvPr>
          <p:cNvSpPr>
            <a:spLocks noGrp="1"/>
          </p:cNvSpPr>
          <p:nvPr>
            <p:ph type="body" sz="quarter" idx="45"/>
          </p:nvPr>
        </p:nvSpPr>
        <p:spPr>
          <a:xfrm>
            <a:off x="4690085" y="1229342"/>
            <a:ext cx="3882415" cy="207489"/>
          </a:xfrm>
        </p:spPr>
        <p:txBody>
          <a:bodyPr/>
          <a:lstStyle/>
          <a:p>
            <a:r>
              <a:rPr lang="en-US"/>
              <a:t>How much to sell</a:t>
            </a:r>
          </a:p>
        </p:txBody>
      </p:sp>
      <p:sp>
        <p:nvSpPr>
          <p:cNvPr id="4" name="Text Placeholder 3">
            <a:extLst>
              <a:ext uri="{FF2B5EF4-FFF2-40B4-BE49-F238E27FC236}">
                <a16:creationId xmlns:a16="http://schemas.microsoft.com/office/drawing/2014/main" id="{79BBD7CD-8B2A-4A11-6464-86714AA9BB48}"/>
              </a:ext>
            </a:extLst>
          </p:cNvPr>
          <p:cNvSpPr>
            <a:spLocks noGrp="1"/>
          </p:cNvSpPr>
          <p:nvPr>
            <p:ph type="body" sz="quarter" idx="47"/>
          </p:nvPr>
        </p:nvSpPr>
        <p:spPr/>
        <p:txBody>
          <a:bodyPr/>
          <a:lstStyle/>
          <a:p>
            <a:pPr marL="285750" indent="-285750">
              <a:buFont typeface="Arial" panose="020B0604020202020204" pitchFamily="34" charset="0"/>
              <a:buChar char="•"/>
            </a:pPr>
            <a:r>
              <a:rPr lang="en-US"/>
              <a:t>Territory Design/Coverage Model</a:t>
            </a:r>
          </a:p>
          <a:p>
            <a:pPr marL="285750" indent="-285750">
              <a:buFont typeface="Arial" panose="020B0604020202020204" pitchFamily="34" charset="0"/>
              <a:buChar char="•"/>
            </a:pPr>
            <a:r>
              <a:rPr lang="en-US"/>
              <a:t>Market potential analysis to balance opportunity</a:t>
            </a:r>
          </a:p>
          <a:p>
            <a:pPr marL="285750" indent="-285750">
              <a:buFont typeface="Arial" panose="020B0604020202020204" pitchFamily="34" charset="0"/>
              <a:buChar char="•"/>
            </a:pPr>
            <a:r>
              <a:rPr lang="en-US"/>
              <a:t>Account allocation&amp; Ownership clarity</a:t>
            </a:r>
          </a:p>
          <a:p>
            <a:pPr marL="285750" indent="-285750">
              <a:buFont typeface="Arial" panose="020B0604020202020204" pitchFamily="34" charset="0"/>
              <a:buChar char="•"/>
            </a:pPr>
            <a:r>
              <a:rPr lang="en-US"/>
              <a:t>Ongoing maintenance as market and teams shift</a:t>
            </a:r>
          </a:p>
        </p:txBody>
      </p:sp>
      <p:sp>
        <p:nvSpPr>
          <p:cNvPr id="6" name="Text Placeholder 5">
            <a:extLst>
              <a:ext uri="{FF2B5EF4-FFF2-40B4-BE49-F238E27FC236}">
                <a16:creationId xmlns:a16="http://schemas.microsoft.com/office/drawing/2014/main" id="{559FE786-2D67-3F65-3F4A-6572E1801443}"/>
              </a:ext>
            </a:extLst>
          </p:cNvPr>
          <p:cNvSpPr>
            <a:spLocks noGrp="1"/>
          </p:cNvSpPr>
          <p:nvPr>
            <p:ph type="body" sz="quarter" idx="48"/>
          </p:nvPr>
        </p:nvSpPr>
        <p:spPr>
          <a:xfrm>
            <a:off x="4707026" y="1562376"/>
            <a:ext cx="3575236" cy="3088707"/>
          </a:xfrm>
        </p:spPr>
        <p:txBody>
          <a:bodyPr/>
          <a:lstStyle/>
          <a:p>
            <a:pPr marL="285750" indent="-285750">
              <a:buFont typeface="Arial" panose="020B0604020202020204" pitchFamily="34" charset="0"/>
              <a:buChar char="•"/>
            </a:pPr>
            <a:r>
              <a:rPr lang="en-US"/>
              <a:t>Quota setting methodology (top-down vs. bottom-up)</a:t>
            </a:r>
          </a:p>
          <a:p>
            <a:pPr marL="285750" indent="-285750">
              <a:buFont typeface="Arial" panose="020B0604020202020204" pitchFamily="34" charset="0"/>
              <a:buChar char="•"/>
            </a:pPr>
            <a:r>
              <a:rPr lang="en-US"/>
              <a:t>Fairness &amp; attainability tied to territory potential</a:t>
            </a:r>
          </a:p>
          <a:p>
            <a:pPr marL="285750" indent="-285750">
              <a:buFont typeface="Arial" panose="020B0604020202020204" pitchFamily="34" charset="0"/>
              <a:buChar char="•"/>
            </a:pPr>
            <a:r>
              <a:rPr lang="en-US"/>
              <a:t>Distribution across regions, teams, and reps</a:t>
            </a:r>
          </a:p>
          <a:p>
            <a:pPr marL="285750" indent="-285750">
              <a:buFont typeface="Arial" panose="020B0604020202020204" pitchFamily="34" charset="0"/>
              <a:buChar char="•"/>
            </a:pPr>
            <a:r>
              <a:rPr lang="en-US"/>
              <a:t>Strategic alignment (growth areas, products, segments)</a:t>
            </a:r>
          </a:p>
          <a:p>
            <a:pPr marL="285750" indent="-285750">
              <a:buFont typeface="Arial" panose="020B0604020202020204" pitchFamily="34" charset="0"/>
              <a:buChar char="•"/>
            </a:pPr>
            <a:r>
              <a:rPr lang="en-US"/>
              <a:t>Tracking, transparency, and flexibility for adjustments</a:t>
            </a:r>
          </a:p>
        </p:txBody>
      </p:sp>
    </p:spTree>
    <p:extLst>
      <p:ext uri="{BB962C8B-B14F-4D97-AF65-F5344CB8AC3E}">
        <p14:creationId xmlns:p14="http://schemas.microsoft.com/office/powerpoint/2010/main" val="4235359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C35E-AE5D-6A3F-CBC7-073F3F7FE95E}"/>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CB1BA0F2-004E-6DDA-BF7F-98E44F1FC187}"/>
              </a:ext>
            </a:extLst>
          </p:cNvPr>
          <p:cNvSpPr>
            <a:spLocks noGrp="1"/>
          </p:cNvSpPr>
          <p:nvPr>
            <p:ph type="title"/>
          </p:nvPr>
        </p:nvSpPr>
        <p:spPr>
          <a:xfrm>
            <a:off x="419102" y="294642"/>
            <a:ext cx="6002019" cy="338554"/>
          </a:xfrm>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latin typeface="Arial"/>
                <a:cs typeface="Arial"/>
              </a:rPr>
              <a:t>Anaplan Territory and Quota Planning Application</a:t>
            </a:r>
            <a:br>
              <a:rPr lang="en-US">
                <a:latin typeface="Arial"/>
                <a:cs typeface="Arial"/>
              </a:rPr>
            </a:br>
            <a:r>
              <a:rPr lang="en-US" sz="1400" i="1">
                <a:solidFill>
                  <a:schemeClr val="bg1">
                    <a:lumMod val="75000"/>
                  </a:schemeClr>
                </a:solidFill>
                <a:latin typeface="Arial"/>
                <a:cs typeface="Arial"/>
              </a:rPr>
              <a:t>Out-of-the-box</a:t>
            </a:r>
            <a:endParaRPr lang="en-US" i="1">
              <a:solidFill>
                <a:schemeClr val="bg1">
                  <a:lumMod val="75000"/>
                </a:schemeClr>
              </a:solidFill>
              <a:latin typeface="Arial"/>
              <a:cs typeface="Arial"/>
            </a:endParaRPr>
          </a:p>
        </p:txBody>
      </p:sp>
      <p:sp>
        <p:nvSpPr>
          <p:cNvPr id="8" name="Oval 7">
            <a:extLst>
              <a:ext uri="{FF2B5EF4-FFF2-40B4-BE49-F238E27FC236}">
                <a16:creationId xmlns:a16="http://schemas.microsoft.com/office/drawing/2014/main" id="{A6937178-BA69-7E78-7288-7D2ECF3519F5}"/>
              </a:ext>
            </a:extLst>
          </p:cNvPr>
          <p:cNvSpPr/>
          <p:nvPr/>
        </p:nvSpPr>
        <p:spPr>
          <a:xfrm>
            <a:off x="1822618" y="1722778"/>
            <a:ext cx="2057400" cy="2052995"/>
          </a:xfrm>
          <a:prstGeom prst="ellipse">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23" name="TextBox 22">
            <a:extLst>
              <a:ext uri="{FF2B5EF4-FFF2-40B4-BE49-F238E27FC236}">
                <a16:creationId xmlns:a16="http://schemas.microsoft.com/office/drawing/2014/main" id="{3E2A22B1-4E4A-14A5-5598-F0CF348E9116}"/>
              </a:ext>
            </a:extLst>
          </p:cNvPr>
          <p:cNvSpPr txBox="1"/>
          <p:nvPr/>
        </p:nvSpPr>
        <p:spPr>
          <a:xfrm>
            <a:off x="2105168" y="933685"/>
            <a:ext cx="2351970" cy="600164"/>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r>
              <a:rPr lang="en-US" sz="900" b="1">
                <a:solidFill>
                  <a:srgbClr val="0A2F46">
                    <a:lumMod val="75000"/>
                    <a:lumOff val="25000"/>
                  </a:srgbClr>
                </a:solidFill>
              </a:rPr>
              <a:t>Target Allocations</a:t>
            </a:r>
            <a:endParaRPr lang="en-US" sz="900" b="1">
              <a:solidFill>
                <a:srgbClr val="0A2F46">
                  <a:lumMod val="75000"/>
                  <a:lumOff val="25000"/>
                </a:srgbClr>
              </a:solidFill>
              <a:cs typeface="Arial"/>
            </a:endParaRPr>
          </a:p>
          <a:p>
            <a:pPr lvl="0">
              <a:defRPr/>
            </a:pPr>
            <a:r>
              <a:rPr lang="en-US" sz="800">
                <a:solidFill>
                  <a:srgbClr val="0A2F46"/>
                </a:solidFill>
              </a:rPr>
              <a:t>Input, adjust, override, and lock targets using top-down and bottom-up approaches with dynamic approvals and final roll-up alignment</a:t>
            </a:r>
            <a:r>
              <a:rPr lang="en-US" sz="800">
                <a:solidFill>
                  <a:srgbClr val="0A2F46"/>
                </a:solidFill>
                <a:latin typeface="Arial" panose="020B0604020202020204"/>
              </a:rPr>
              <a:t>.</a:t>
            </a:r>
            <a:endParaRPr lang="en-US" sz="800">
              <a:solidFill>
                <a:srgbClr val="0A2F46"/>
              </a:solidFill>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5FC09C2E-3020-963B-976E-B45A03FB1704}"/>
              </a:ext>
            </a:extLst>
          </p:cNvPr>
          <p:cNvSpPr/>
          <p:nvPr/>
        </p:nvSpPr>
        <p:spPr>
          <a:xfrm>
            <a:off x="2177518" y="3490529"/>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34" name="TextBox 33">
            <a:extLst>
              <a:ext uri="{FF2B5EF4-FFF2-40B4-BE49-F238E27FC236}">
                <a16:creationId xmlns:a16="http://schemas.microsoft.com/office/drawing/2014/main" id="{CAA3A292-5E52-DB50-C874-6EB7FF893A7A}"/>
              </a:ext>
            </a:extLst>
          </p:cNvPr>
          <p:cNvSpPr txBox="1"/>
          <p:nvPr/>
        </p:nvSpPr>
        <p:spPr>
          <a:xfrm>
            <a:off x="3988833" y="2194560"/>
            <a:ext cx="1695574" cy="846386"/>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defRPr/>
            </a:pPr>
            <a:r>
              <a:rPr lang="en-US" sz="900" b="1">
                <a:solidFill>
                  <a:srgbClr val="0A2F46">
                    <a:lumMod val="75000"/>
                    <a:lumOff val="25000"/>
                  </a:srgbClr>
                </a:solidFill>
              </a:rPr>
              <a:t>Assign: Account-to-Territory</a:t>
            </a:r>
            <a:r>
              <a:rPr lang="en-US" sz="900" b="1">
                <a:solidFill>
                  <a:srgbClr val="0A2F46"/>
                </a:solidFill>
              </a:rPr>
              <a:t> </a:t>
            </a:r>
            <a:r>
              <a:rPr lang="en-US" sz="800">
                <a:solidFill>
                  <a:srgbClr val="0A2F46"/>
                </a:solidFill>
              </a:rPr>
              <a:t>Model account redistribution scenarios, support multi-territory assignments, and plan geographically with zip code mapping</a:t>
            </a:r>
            <a:endParaRPr lang="en-US" sz="800">
              <a:solidFill>
                <a:srgbClr val="0A2F46"/>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F732EE64-003B-D94F-B1F1-774DEEC1C9D3}"/>
              </a:ext>
            </a:extLst>
          </p:cNvPr>
          <p:cNvSpPr txBox="1"/>
          <p:nvPr/>
        </p:nvSpPr>
        <p:spPr>
          <a:xfrm>
            <a:off x="372461" y="3566161"/>
            <a:ext cx="1732708" cy="846386"/>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lgn="r">
              <a:defRPr/>
            </a:pPr>
            <a:r>
              <a:rPr lang="en-US" sz="900" b="1">
                <a:solidFill>
                  <a:srgbClr val="0A2F46">
                    <a:lumMod val="75000"/>
                    <a:lumOff val="25000"/>
                  </a:srgbClr>
                </a:solidFill>
              </a:rPr>
              <a:t>Assign: Quota</a:t>
            </a:r>
          </a:p>
          <a:p>
            <a:pPr lvl="0" algn="r">
              <a:defRPr/>
            </a:pPr>
            <a:r>
              <a:rPr lang="en-US" sz="800">
                <a:solidFill>
                  <a:srgbClr val="0A2F46"/>
                </a:solidFill>
              </a:rPr>
              <a:t>Assign and allocate flexible quotas using role-based, ramping, or seasonal factors. Compare top-down vs. bottom-up targets and finalize with approvals</a:t>
            </a:r>
            <a:endParaRPr lang="en-US" sz="800">
              <a:solidFill>
                <a:srgbClr val="0A2F46"/>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105C3B50-261F-A8FD-C84C-204B609BF0A5}"/>
              </a:ext>
            </a:extLst>
          </p:cNvPr>
          <p:cNvSpPr txBox="1"/>
          <p:nvPr/>
        </p:nvSpPr>
        <p:spPr>
          <a:xfrm>
            <a:off x="4561373" y="6494336"/>
            <a:ext cx="1683843" cy="4770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fontAlgn="base">
              <a:defRPr/>
            </a:pPr>
            <a:r>
              <a:rPr lang="en-US" sz="900" b="1">
                <a:solidFill>
                  <a:srgbClr val="0A2F46">
                    <a:lumMod val="75000"/>
                    <a:lumOff val="25000"/>
                  </a:srgbClr>
                </a:solidFill>
                <a:latin typeface="Arial" panose="020B0604020202020204"/>
              </a:rPr>
              <a:t>Sales Margins Planning</a:t>
            </a:r>
          </a:p>
          <a:p>
            <a:pPr defTabSz="914333" fontAlgn="base">
              <a:defRPr/>
            </a:pPr>
            <a:r>
              <a:rPr lang="en-US" sz="800">
                <a:solidFill>
                  <a:srgbClr val="0A2F46"/>
                </a:solidFill>
                <a:latin typeface="Arial" panose="020B0604020202020204"/>
              </a:rPr>
              <a:t>Model role-specific costs and sales margins to boost profitability. </a:t>
            </a:r>
            <a:endParaRPr lang="en-US" sz="800">
              <a:solidFill>
                <a:srgbClr val="0A2F46"/>
              </a:solidFill>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34D9E1E2-1C35-7B4A-41C9-ADF1C65BA537}"/>
              </a:ext>
            </a:extLst>
          </p:cNvPr>
          <p:cNvSpPr txBox="1"/>
          <p:nvPr/>
        </p:nvSpPr>
        <p:spPr>
          <a:xfrm>
            <a:off x="3782746" y="7223642"/>
            <a:ext cx="1683843" cy="4770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fontAlgn="base">
              <a:defRPr/>
            </a:pPr>
            <a:r>
              <a:rPr lang="en-US" sz="900" b="1">
                <a:solidFill>
                  <a:srgbClr val="0A2F46">
                    <a:lumMod val="75000"/>
                    <a:lumOff val="25000"/>
                  </a:srgbClr>
                </a:solidFill>
                <a:latin typeface="Arial" panose="020B0604020202020204"/>
              </a:rPr>
              <a:t>In-Year vs Actual Plan</a:t>
            </a:r>
          </a:p>
          <a:p>
            <a:pPr defTabSz="914333" fontAlgn="base">
              <a:defRPr/>
            </a:pPr>
            <a:r>
              <a:rPr lang="en-US" sz="800">
                <a:solidFill>
                  <a:srgbClr val="0A2F46"/>
                </a:solidFill>
                <a:latin typeface="Arial" panose="020B0604020202020204"/>
              </a:rPr>
              <a:t>Lock plans, compare snapshots, and optimize coverage.</a:t>
            </a:r>
            <a:endParaRPr lang="en-US" sz="800">
              <a:solidFill>
                <a:srgbClr val="0A2F46"/>
              </a:solidFill>
              <a:latin typeface="Arial" panose="020B0604020202020204" pitchFamily="34" charset="0"/>
              <a:cs typeface="Arial" panose="020B0604020202020204" pitchFamily="34" charset="0"/>
            </a:endParaRPr>
          </a:p>
        </p:txBody>
      </p:sp>
      <p:grpSp>
        <p:nvGrpSpPr>
          <p:cNvPr id="48" name="Group 47">
            <a:extLst>
              <a:ext uri="{FF2B5EF4-FFF2-40B4-BE49-F238E27FC236}">
                <a16:creationId xmlns:a16="http://schemas.microsoft.com/office/drawing/2014/main" id="{4AF0A9F2-C491-5C7D-F26A-6BE307E40E22}"/>
              </a:ext>
            </a:extLst>
          </p:cNvPr>
          <p:cNvGrpSpPr>
            <a:grpSpLocks noChangeAspect="1"/>
          </p:cNvGrpSpPr>
          <p:nvPr/>
        </p:nvGrpSpPr>
        <p:grpSpPr>
          <a:xfrm>
            <a:off x="2291435" y="2267604"/>
            <a:ext cx="1230425" cy="914401"/>
            <a:chOff x="1505373" y="1481418"/>
            <a:chExt cx="2536935" cy="1885341"/>
          </a:xfrm>
        </p:grpSpPr>
        <p:sp>
          <p:nvSpPr>
            <p:cNvPr id="49" name="Freeform 48">
              <a:extLst>
                <a:ext uri="{FF2B5EF4-FFF2-40B4-BE49-F238E27FC236}">
                  <a16:creationId xmlns:a16="http://schemas.microsoft.com/office/drawing/2014/main" id="{8DB09398-A329-1215-71D3-BC2F44822EFF}"/>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D55197AE-164B-5E0B-5467-F281E67ACDFE}"/>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6E46ACE6-AE31-EB09-DD45-1E624B486CA3}"/>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F76E5712-8A95-326F-027B-6B7B3337D455}"/>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F8F9FEAE-A1C2-1092-9458-6B9D520C0531}"/>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E63D6DFF-AADE-8B1D-0DD6-E7DD2C0B3476}"/>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B276ECC9-2631-D62C-7C41-34EE53D8EB12}"/>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3BDFE94E-730F-058C-A2BD-BE0F50FD3DE8}"/>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88">
                  <a:defRPr/>
                </a:pPr>
                <a:endParaRPr lang="en-US" sz="1600" err="1">
                  <a:solidFill>
                    <a:srgbClr val="FFFFFF"/>
                  </a:solidFill>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5AE9387E-C155-2E6A-FDA3-17EB3F2C5A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9264" y="3519819"/>
                <a:ext cx="850392" cy="850392"/>
              </a:xfrm>
              <a:prstGeom prst="rect">
                <a:avLst/>
              </a:prstGeom>
            </p:spPr>
          </p:pic>
        </p:grpSp>
      </p:grpSp>
      <p:sp>
        <p:nvSpPr>
          <p:cNvPr id="61" name="Oval 60">
            <a:extLst>
              <a:ext uri="{FF2B5EF4-FFF2-40B4-BE49-F238E27FC236}">
                <a16:creationId xmlns:a16="http://schemas.microsoft.com/office/drawing/2014/main" id="{B153AC8D-7477-04DD-1D7E-DD6434AA5E29}"/>
              </a:ext>
            </a:extLst>
          </p:cNvPr>
          <p:cNvSpPr/>
          <p:nvPr/>
        </p:nvSpPr>
        <p:spPr>
          <a:xfrm>
            <a:off x="3612338" y="2187431"/>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63" name="Oval 62">
            <a:extLst>
              <a:ext uri="{FF2B5EF4-FFF2-40B4-BE49-F238E27FC236}">
                <a16:creationId xmlns:a16="http://schemas.microsoft.com/office/drawing/2014/main" id="{63C91D2C-F082-1CE1-B32F-E19755A60CE9}"/>
              </a:ext>
            </a:extLst>
          </p:cNvPr>
          <p:cNvSpPr/>
          <p:nvPr/>
        </p:nvSpPr>
        <p:spPr>
          <a:xfrm>
            <a:off x="3288323" y="3493008"/>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701E6050-0048-2C95-76C0-0DB2018D0085}"/>
              </a:ext>
            </a:extLst>
          </p:cNvPr>
          <p:cNvSpPr/>
          <p:nvPr/>
        </p:nvSpPr>
        <p:spPr>
          <a:xfrm>
            <a:off x="1789115" y="2187431"/>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090A4835-2689-F9E2-AB34-3B493591B5DF}"/>
              </a:ext>
            </a:extLst>
          </p:cNvPr>
          <p:cNvSpPr txBox="1"/>
          <p:nvPr/>
        </p:nvSpPr>
        <p:spPr>
          <a:xfrm>
            <a:off x="3667548" y="3566160"/>
            <a:ext cx="1732708" cy="846386"/>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defRPr/>
            </a:pPr>
            <a:r>
              <a:rPr lang="en-US" sz="900" b="1">
                <a:solidFill>
                  <a:srgbClr val="0A2F46">
                    <a:lumMod val="75000"/>
                    <a:lumOff val="25000"/>
                  </a:srgbClr>
                </a:solidFill>
              </a:rPr>
              <a:t>Assign: Rep-to-Territory</a:t>
            </a:r>
            <a:r>
              <a:rPr lang="en-US" sz="900" b="1">
                <a:solidFill>
                  <a:srgbClr val="0A2F46"/>
                </a:solidFill>
              </a:rPr>
              <a:t> </a:t>
            </a:r>
            <a:r>
              <a:rPr lang="en-US" sz="800">
                <a:solidFill>
                  <a:srgbClr val="0A2F46"/>
                </a:solidFill>
              </a:rPr>
              <a:t>Assign sales teams and overlays by role, manage temporary or player/coach assignments, and create hierarchies from sales relationships</a:t>
            </a:r>
            <a:r>
              <a:rPr lang="en-US" sz="800">
                <a:solidFill>
                  <a:srgbClr val="0A2F46"/>
                </a:solidFill>
                <a:latin typeface="Arial" panose="020B0604020202020204"/>
              </a:rPr>
              <a:t>.</a:t>
            </a:r>
            <a:endParaRPr lang="en-US" sz="800">
              <a:solidFill>
                <a:srgbClr val="0A2F46"/>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CEED03F5-083D-8156-119B-02A2E4161A9C}"/>
              </a:ext>
            </a:extLst>
          </p:cNvPr>
          <p:cNvSpPr/>
          <p:nvPr/>
        </p:nvSpPr>
        <p:spPr>
          <a:xfrm>
            <a:off x="2739531" y="1573037"/>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22" name="TextBox 21">
            <a:extLst>
              <a:ext uri="{FF2B5EF4-FFF2-40B4-BE49-F238E27FC236}">
                <a16:creationId xmlns:a16="http://schemas.microsoft.com/office/drawing/2014/main" id="{F00EFC7D-A291-D985-D98B-E565AFE29321}"/>
              </a:ext>
            </a:extLst>
          </p:cNvPr>
          <p:cNvSpPr txBox="1"/>
          <p:nvPr/>
        </p:nvSpPr>
        <p:spPr>
          <a:xfrm>
            <a:off x="101695" y="2194561"/>
            <a:ext cx="1683843" cy="846386"/>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333">
              <a:defRPr/>
            </a:pPr>
            <a:r>
              <a:rPr lang="en-US" sz="900" b="1">
                <a:solidFill>
                  <a:srgbClr val="0A2F46">
                    <a:lumMod val="75000"/>
                    <a:lumOff val="25000"/>
                  </a:srgbClr>
                </a:solidFill>
              </a:rPr>
              <a:t>Scenario Planning</a:t>
            </a:r>
          </a:p>
          <a:p>
            <a:pPr lvl="0" algn="r">
              <a:defRPr/>
            </a:pPr>
            <a:r>
              <a:rPr lang="en-US" sz="800">
                <a:solidFill>
                  <a:srgbClr val="0A2F46"/>
                </a:solidFill>
              </a:rPr>
              <a:t>Build dynamic, driver-based sales plans by segment, product, or role. Model and compare full-year projections and growth strategies</a:t>
            </a:r>
          </a:p>
          <a:p>
            <a:pPr algn="r" defTabSz="914333" fontAlgn="base">
              <a:defRPr/>
            </a:pPr>
            <a:r>
              <a:rPr lang="en-US" sz="800">
                <a:solidFill>
                  <a:srgbClr val="0A2F46"/>
                </a:solidFill>
                <a:latin typeface="Arial" panose="020B0604020202020204"/>
              </a:rPr>
              <a:t>. </a:t>
            </a:r>
            <a:endParaRPr lang="en-US" sz="800">
              <a:solidFill>
                <a:srgbClr val="0A2F46"/>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5CBC25B3-62F6-BE53-1C50-AAC4A19DFF97}"/>
              </a:ext>
            </a:extLst>
          </p:cNvPr>
          <p:cNvSpPr txBox="1"/>
          <p:nvPr/>
        </p:nvSpPr>
        <p:spPr>
          <a:xfrm>
            <a:off x="6135889" y="1002616"/>
            <a:ext cx="2351971" cy="3077766"/>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r>
              <a:rPr lang="en-US" sz="1200" b="1">
                <a:solidFill>
                  <a:srgbClr val="F2F1EE"/>
                </a:solidFill>
                <a:latin typeface="Arial" panose="020B0604020202020204"/>
              </a:rPr>
              <a:t>Key Benefits:</a:t>
            </a:r>
          </a:p>
          <a:p>
            <a:pPr defTabSz="914333">
              <a:defRPr/>
            </a:pPr>
            <a:endParaRPr lang="en-US" sz="1200" b="1">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Align territories and quotas using historical and forecasted data</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Adapt sales plans with dynamic, scenario-based modeling</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Improve coverage with flexible rep assignments and geo-planning</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Assign quotas by role with ramping and seasonal flexibility</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Streamline workflows with approvals and effective dating</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Compare what-if scenarios to guide smarter, faster decisions</a:t>
            </a:r>
          </a:p>
        </p:txBody>
      </p:sp>
      <p:grpSp>
        <p:nvGrpSpPr>
          <p:cNvPr id="19" name="Group 18">
            <a:extLst>
              <a:ext uri="{FF2B5EF4-FFF2-40B4-BE49-F238E27FC236}">
                <a16:creationId xmlns:a16="http://schemas.microsoft.com/office/drawing/2014/main" id="{D2D14AF1-2603-9F80-1338-CE4E3031E644}"/>
              </a:ext>
            </a:extLst>
          </p:cNvPr>
          <p:cNvGrpSpPr>
            <a:grpSpLocks noChangeAspect="1"/>
          </p:cNvGrpSpPr>
          <p:nvPr/>
        </p:nvGrpSpPr>
        <p:grpSpPr>
          <a:xfrm>
            <a:off x="2263009" y="2778064"/>
            <a:ext cx="373803" cy="320040"/>
            <a:chOff x="1528380" y="3479925"/>
            <a:chExt cx="747606" cy="640080"/>
          </a:xfrm>
        </p:grpSpPr>
        <p:sp>
          <p:nvSpPr>
            <p:cNvPr id="27" name="Freeform 28">
              <a:extLst>
                <a:ext uri="{FF2B5EF4-FFF2-40B4-BE49-F238E27FC236}">
                  <a16:creationId xmlns:a16="http://schemas.microsoft.com/office/drawing/2014/main" id="{D93CFADE-F6F2-52D8-8112-E849B676AAA7}"/>
                </a:ext>
              </a:extLst>
            </p:cNvPr>
            <p:cNvSpPr>
              <a:spLocks noChangeAspect="1"/>
            </p:cNvSpPr>
            <p:nvPr/>
          </p:nvSpPr>
          <p:spPr bwMode="gray">
            <a:xfrm>
              <a:off x="1528380" y="3479925"/>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019" eaLnBrk="0" fontAlgn="base" hangingPunct="0">
                <a:spcBef>
                  <a:spcPct val="0"/>
                </a:spcBef>
                <a:spcAft>
                  <a:spcPct val="0"/>
                </a:spcAft>
                <a:defRPr/>
              </a:pPr>
              <a:endParaRPr lang="en-US" sz="450" b="1" kern="0">
                <a:solidFill>
                  <a:srgbClr val="FFFFFF"/>
                </a:solidFill>
                <a:latin typeface="Arial"/>
                <a:ea typeface="Verdana" panose="020B0604030504040204" pitchFamily="34" charset="0"/>
                <a:cs typeface="Arial" panose="020B0604020202020204" pitchFamily="34" charset="0"/>
              </a:endParaRPr>
            </a:p>
          </p:txBody>
        </p:sp>
        <p:grpSp>
          <p:nvGrpSpPr>
            <p:cNvPr id="28" name="Group 27">
              <a:extLst>
                <a:ext uri="{FF2B5EF4-FFF2-40B4-BE49-F238E27FC236}">
                  <a16:creationId xmlns:a16="http://schemas.microsoft.com/office/drawing/2014/main" id="{874D24DC-E299-1417-E09A-3FA95D42A48C}"/>
                </a:ext>
              </a:extLst>
            </p:cNvPr>
            <p:cNvGrpSpPr>
              <a:grpSpLocks noChangeAspect="1"/>
            </p:cNvGrpSpPr>
            <p:nvPr/>
          </p:nvGrpSpPr>
          <p:grpSpPr>
            <a:xfrm>
              <a:off x="1733728" y="3656056"/>
              <a:ext cx="336909" cy="284725"/>
              <a:chOff x="3287172" y="2477611"/>
              <a:chExt cx="512255" cy="432912"/>
            </a:xfrm>
          </p:grpSpPr>
          <p:grpSp>
            <p:nvGrpSpPr>
              <p:cNvPr id="29" name="Graphic 85">
                <a:extLst>
                  <a:ext uri="{FF2B5EF4-FFF2-40B4-BE49-F238E27FC236}">
                    <a16:creationId xmlns:a16="http://schemas.microsoft.com/office/drawing/2014/main" id="{BB584190-6603-A5CC-EB49-5BE8B536C6AB}"/>
                  </a:ext>
                </a:extLst>
              </p:cNvPr>
              <p:cNvGrpSpPr/>
              <p:nvPr/>
            </p:nvGrpSpPr>
            <p:grpSpPr>
              <a:xfrm>
                <a:off x="3287172" y="2477611"/>
                <a:ext cx="512255" cy="432912"/>
                <a:chOff x="3287172" y="2477611"/>
                <a:chExt cx="512255" cy="432912"/>
              </a:xfrm>
            </p:grpSpPr>
            <p:sp>
              <p:nvSpPr>
                <p:cNvPr id="31" name="Freeform 30">
                  <a:extLst>
                    <a:ext uri="{FF2B5EF4-FFF2-40B4-BE49-F238E27FC236}">
                      <a16:creationId xmlns:a16="http://schemas.microsoft.com/office/drawing/2014/main" id="{1EF6BBAF-B725-4C56-2794-008395DE552C}"/>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2" name="Freeform 31">
                  <a:extLst>
                    <a:ext uri="{FF2B5EF4-FFF2-40B4-BE49-F238E27FC236}">
                      <a16:creationId xmlns:a16="http://schemas.microsoft.com/office/drawing/2014/main" id="{83D398D2-B00C-33AE-39A9-D811D15C1373}"/>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6" name="Freeform 35">
                  <a:extLst>
                    <a:ext uri="{FF2B5EF4-FFF2-40B4-BE49-F238E27FC236}">
                      <a16:creationId xmlns:a16="http://schemas.microsoft.com/office/drawing/2014/main" id="{5C7FB923-F9F4-81F1-4826-3967A5AFF13F}"/>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8" name="Freeform 37">
                  <a:extLst>
                    <a:ext uri="{FF2B5EF4-FFF2-40B4-BE49-F238E27FC236}">
                      <a16:creationId xmlns:a16="http://schemas.microsoft.com/office/drawing/2014/main" id="{69D638D9-DA77-A46D-9CEC-387334B60E51}"/>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9" name="Freeform 38">
                  <a:extLst>
                    <a:ext uri="{FF2B5EF4-FFF2-40B4-BE49-F238E27FC236}">
                      <a16:creationId xmlns:a16="http://schemas.microsoft.com/office/drawing/2014/main" id="{073CCE44-3985-8988-C7BA-16C5F615D4E2}"/>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grpSp>
          <p:sp>
            <p:nvSpPr>
              <p:cNvPr id="30" name="Freeform 29">
                <a:extLst>
                  <a:ext uri="{FF2B5EF4-FFF2-40B4-BE49-F238E27FC236}">
                    <a16:creationId xmlns:a16="http://schemas.microsoft.com/office/drawing/2014/main" id="{83D2A479-FF32-4E42-E3F6-FC1F8DAE907C}"/>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850"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grpSp>
    </p:spTree>
    <p:extLst>
      <p:ext uri="{BB962C8B-B14F-4D97-AF65-F5344CB8AC3E}">
        <p14:creationId xmlns:p14="http://schemas.microsoft.com/office/powerpoint/2010/main" val="1005061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A983D-58D8-0165-BA18-B4372F87DF49}"/>
            </a:ext>
          </a:extLst>
        </p:cNvPr>
        <p:cNvGrpSpPr/>
        <p:nvPr/>
      </p:nvGrpSpPr>
      <p:grpSpPr>
        <a:xfrm>
          <a:off x="0" y="0"/>
          <a:ext cx="0" cy="0"/>
          <a:chOff x="0" y="0"/>
          <a:chExt cx="0" cy="0"/>
        </a:xfrm>
      </p:grpSpPr>
      <p:cxnSp>
        <p:nvCxnSpPr>
          <p:cNvPr id="88" name="Straight Arrow Connector 87">
            <a:extLst>
              <a:ext uri="{FF2B5EF4-FFF2-40B4-BE49-F238E27FC236}">
                <a16:creationId xmlns:a16="http://schemas.microsoft.com/office/drawing/2014/main" id="{BC362AE8-FFF9-9DE2-B264-2D217E6AF11F}"/>
              </a:ext>
            </a:extLst>
          </p:cNvPr>
          <p:cNvCxnSpPr>
            <a:cxnSpLocks/>
          </p:cNvCxnSpPr>
          <p:nvPr/>
        </p:nvCxnSpPr>
        <p:spPr>
          <a:xfrm flipH="1">
            <a:off x="6178598" y="3268246"/>
            <a:ext cx="3336" cy="463875"/>
          </a:xfrm>
          <a:prstGeom prst="straightConnector1">
            <a:avLst/>
          </a:prstGeom>
          <a:ln w="25400" cap="rnd">
            <a:solidFill>
              <a:schemeClr val="accent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9611EA0F-4569-952E-D8EC-6B254CB9DB3C}"/>
              </a:ext>
            </a:extLst>
          </p:cNvPr>
          <p:cNvCxnSpPr>
            <a:cxnSpLocks/>
          </p:cNvCxnSpPr>
          <p:nvPr/>
        </p:nvCxnSpPr>
        <p:spPr>
          <a:xfrm flipH="1">
            <a:off x="4946300" y="3312894"/>
            <a:ext cx="3336" cy="463875"/>
          </a:xfrm>
          <a:prstGeom prst="straightConnector1">
            <a:avLst/>
          </a:prstGeom>
          <a:ln w="25400" cap="rnd">
            <a:solidFill>
              <a:schemeClr val="accent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557CE210-049C-C817-304A-8E12A3E1C905}"/>
              </a:ext>
            </a:extLst>
          </p:cNvPr>
          <p:cNvCxnSpPr/>
          <p:nvPr/>
        </p:nvCxnSpPr>
        <p:spPr>
          <a:xfrm flipH="1">
            <a:off x="5744362" y="1119670"/>
            <a:ext cx="3336" cy="463875"/>
          </a:xfrm>
          <a:prstGeom prst="straightConnector1">
            <a:avLst/>
          </a:prstGeom>
          <a:ln w="25400" cap="rnd">
            <a:solidFill>
              <a:schemeClr val="accent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00B16EF-9F34-83B3-D37E-AE8832A49144}"/>
              </a:ext>
            </a:extLst>
          </p:cNvPr>
          <p:cNvCxnSpPr/>
          <p:nvPr/>
        </p:nvCxnSpPr>
        <p:spPr>
          <a:xfrm>
            <a:off x="2841702" y="2304088"/>
            <a:ext cx="835" cy="493076"/>
          </a:xfrm>
          <a:prstGeom prst="straightConnector1">
            <a:avLst/>
          </a:prstGeom>
          <a:ln w="25400" cap="rnd">
            <a:solidFill>
              <a:schemeClr val="accent3"/>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44472D56-2984-F92F-F7ED-10BEABF5904F}"/>
              </a:ext>
            </a:extLst>
          </p:cNvPr>
          <p:cNvSpPr>
            <a:spLocks noGrp="1"/>
          </p:cNvSpPr>
          <p:nvPr>
            <p:ph type="title"/>
          </p:nvPr>
        </p:nvSpPr>
        <p:spPr>
          <a:xfrm>
            <a:off x="233892" y="231141"/>
            <a:ext cx="4664894" cy="338554"/>
          </a:xfrm>
        </p:spPr>
        <p:txBody>
          <a:bodyPr lIns="0" tIns="45720" rIns="0" bIns="4572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Arial"/>
                <a:cs typeface="Arial"/>
              </a:rPr>
              <a:t>High-Level The Anaplan Way for Applications </a:t>
            </a:r>
            <a:endParaRPr lang="en-US">
              <a:cs typeface="Arial" panose="020B0604020202020204"/>
            </a:endParaRPr>
          </a:p>
        </p:txBody>
      </p:sp>
      <p:sp>
        <p:nvSpPr>
          <p:cNvPr id="51" name="Pentagon 2">
            <a:extLst>
              <a:ext uri="{FF2B5EF4-FFF2-40B4-BE49-F238E27FC236}">
                <a16:creationId xmlns:a16="http://schemas.microsoft.com/office/drawing/2014/main" id="{DFFEDAA2-6C23-D91E-C506-872AEDF6321A}"/>
              </a:ext>
            </a:extLst>
          </p:cNvPr>
          <p:cNvSpPr/>
          <p:nvPr/>
        </p:nvSpPr>
        <p:spPr>
          <a:xfrm>
            <a:off x="131082" y="2526668"/>
            <a:ext cx="1120600" cy="285784"/>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pitchFamily="34" charset="0"/>
                <a:ea typeface="Verdana" charset="0"/>
                <a:cs typeface="Arial" panose="020B0604020202020204" pitchFamily="34" charset="0"/>
              </a:rPr>
              <a:t>Pre-Project</a:t>
            </a:r>
          </a:p>
        </p:txBody>
      </p:sp>
      <p:sp>
        <p:nvSpPr>
          <p:cNvPr id="53" name="Rounded Rectangle 7">
            <a:extLst>
              <a:ext uri="{FF2B5EF4-FFF2-40B4-BE49-F238E27FC236}">
                <a16:creationId xmlns:a16="http://schemas.microsoft.com/office/drawing/2014/main" id="{B19BBB74-4963-838A-E1F9-8E648171B3EE}"/>
              </a:ext>
            </a:extLst>
          </p:cNvPr>
          <p:cNvSpPr/>
          <p:nvPr/>
        </p:nvSpPr>
        <p:spPr>
          <a:xfrm>
            <a:off x="121977" y="3237362"/>
            <a:ext cx="465604" cy="3852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Aligned Scope</a:t>
            </a:r>
            <a:endParaRPr lang="en-US" sz="788">
              <a:solidFill>
                <a:srgbClr val="0A2F46"/>
              </a:solidFill>
              <a:latin typeface="Arial"/>
              <a:ea typeface="Verdana" charset="0"/>
              <a:cs typeface="Arial"/>
            </a:endParaRPr>
          </a:p>
        </p:txBody>
      </p:sp>
      <p:sp>
        <p:nvSpPr>
          <p:cNvPr id="55" name="Rounded Rectangle 8">
            <a:extLst>
              <a:ext uri="{FF2B5EF4-FFF2-40B4-BE49-F238E27FC236}">
                <a16:creationId xmlns:a16="http://schemas.microsoft.com/office/drawing/2014/main" id="{5C027B32-5D84-5D09-5341-6802BF0E0828}"/>
              </a:ext>
            </a:extLst>
          </p:cNvPr>
          <p:cNvSpPr/>
          <p:nvPr/>
        </p:nvSpPr>
        <p:spPr>
          <a:xfrm>
            <a:off x="578260" y="3237362"/>
            <a:ext cx="465605" cy="387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Signed SOW</a:t>
            </a: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67" name="Straight Arrow Connector 66">
            <a:extLst>
              <a:ext uri="{FF2B5EF4-FFF2-40B4-BE49-F238E27FC236}">
                <a16:creationId xmlns:a16="http://schemas.microsoft.com/office/drawing/2014/main" id="{5B3D0F5A-E087-1248-B081-CF1B6109730F}"/>
              </a:ext>
            </a:extLst>
          </p:cNvPr>
          <p:cNvCxnSpPr/>
          <p:nvPr/>
        </p:nvCxnSpPr>
        <p:spPr>
          <a:xfrm>
            <a:off x="1088086" y="2301136"/>
            <a:ext cx="835" cy="493076"/>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69" name="Flowchart: Connector 68">
            <a:extLst>
              <a:ext uri="{FF2B5EF4-FFF2-40B4-BE49-F238E27FC236}">
                <a16:creationId xmlns:a16="http://schemas.microsoft.com/office/drawing/2014/main" id="{3BED2ECE-1331-9DC2-8888-239C2F08A119}"/>
              </a:ext>
            </a:extLst>
          </p:cNvPr>
          <p:cNvSpPr/>
          <p:nvPr/>
        </p:nvSpPr>
        <p:spPr>
          <a:xfrm>
            <a:off x="859774" y="1886953"/>
            <a:ext cx="457200" cy="457200"/>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88">
              <a:solidFill>
                <a:schemeClr val="bg1"/>
              </a:solidFill>
              <a:latin typeface="Arial"/>
              <a:ea typeface="Verdana" charset="0"/>
              <a:cs typeface="Arial"/>
            </a:endParaRPr>
          </a:p>
        </p:txBody>
      </p:sp>
      <p:sp>
        <p:nvSpPr>
          <p:cNvPr id="73" name="TextBox 72">
            <a:extLst>
              <a:ext uri="{FF2B5EF4-FFF2-40B4-BE49-F238E27FC236}">
                <a16:creationId xmlns:a16="http://schemas.microsoft.com/office/drawing/2014/main" id="{7D2E5575-5830-C528-3491-CEC99EE2921C}"/>
              </a:ext>
            </a:extLst>
          </p:cNvPr>
          <p:cNvSpPr txBox="1"/>
          <p:nvPr/>
        </p:nvSpPr>
        <p:spPr>
          <a:xfrm>
            <a:off x="856516" y="1612708"/>
            <a:ext cx="452345" cy="24237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ea typeface="Inter Light" panose="02000503000000020004" pitchFamily="2" charset="0"/>
                <a:cs typeface="Arial"/>
              </a:rPr>
              <a:t>Project </a:t>
            </a:r>
            <a:br>
              <a:rPr lang="en-GB" sz="788">
                <a:solidFill>
                  <a:schemeClr val="tx2"/>
                </a:solidFill>
                <a:latin typeface="Arial"/>
                <a:ea typeface="Inter Light" panose="02000503000000020004" pitchFamily="2" charset="0"/>
                <a:cs typeface="Arial"/>
              </a:rPr>
            </a:br>
            <a:r>
              <a:rPr lang="en-GB" sz="788">
                <a:solidFill>
                  <a:schemeClr val="tx2"/>
                </a:solidFill>
                <a:latin typeface="Arial"/>
                <a:ea typeface="Inter Light" panose="02000503000000020004" pitchFamily="2" charset="0"/>
                <a:cs typeface="Arial"/>
              </a:rPr>
              <a:t>Kick-Off</a:t>
            </a:r>
            <a:endParaRPr lang="en-US" sz="788">
              <a:solidFill>
                <a:schemeClr val="tx2"/>
              </a:solidFill>
              <a:latin typeface="Arial"/>
              <a:cs typeface="Arial"/>
            </a:endParaRPr>
          </a:p>
        </p:txBody>
      </p:sp>
      <p:sp>
        <p:nvSpPr>
          <p:cNvPr id="31" name="Rounded Rectangle 9">
            <a:extLst>
              <a:ext uri="{FF2B5EF4-FFF2-40B4-BE49-F238E27FC236}">
                <a16:creationId xmlns:a16="http://schemas.microsoft.com/office/drawing/2014/main" id="{5620C2B8-77FC-C5C3-249C-17B93D7FFE7B}"/>
              </a:ext>
            </a:extLst>
          </p:cNvPr>
          <p:cNvSpPr/>
          <p:nvPr/>
        </p:nvSpPr>
        <p:spPr>
          <a:xfrm>
            <a:off x="2819827" y="3237362"/>
            <a:ext cx="734843"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Application-Led Workshops</a:t>
            </a:r>
          </a:p>
        </p:txBody>
      </p:sp>
      <p:sp>
        <p:nvSpPr>
          <p:cNvPr id="3" name="Rounded Rectangle 9">
            <a:extLst>
              <a:ext uri="{FF2B5EF4-FFF2-40B4-BE49-F238E27FC236}">
                <a16:creationId xmlns:a16="http://schemas.microsoft.com/office/drawing/2014/main" id="{5B665D1C-6B87-49B7-CDD1-6F7BB33ECD13}"/>
              </a:ext>
            </a:extLst>
          </p:cNvPr>
          <p:cNvSpPr/>
          <p:nvPr/>
        </p:nvSpPr>
        <p:spPr>
          <a:xfrm>
            <a:off x="1996646" y="3237362"/>
            <a:ext cx="752461"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 Application Configuration</a:t>
            </a:r>
            <a:endParaRPr lang="en-US" sz="1013">
              <a:solidFill>
                <a:srgbClr val="0A2F46"/>
              </a:solidFill>
            </a:endParaRPr>
          </a:p>
        </p:txBody>
      </p:sp>
      <p:sp>
        <p:nvSpPr>
          <p:cNvPr id="5" name="Rounded Rectangle 11">
            <a:extLst>
              <a:ext uri="{FF2B5EF4-FFF2-40B4-BE49-F238E27FC236}">
                <a16:creationId xmlns:a16="http://schemas.microsoft.com/office/drawing/2014/main" id="{844C40E7-3972-E4B4-8553-A9536D0E25AD}"/>
              </a:ext>
            </a:extLst>
          </p:cNvPr>
          <p:cNvSpPr/>
          <p:nvPr/>
        </p:nvSpPr>
        <p:spPr>
          <a:xfrm>
            <a:off x="1210023" y="3237362"/>
            <a:ext cx="714917" cy="393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Data</a:t>
            </a:r>
            <a:br>
              <a:rPr lang="en-US" sz="788">
                <a:solidFill>
                  <a:srgbClr val="0A2F46"/>
                </a:solidFill>
                <a:latin typeface="Arial"/>
                <a:ea typeface="Verdana"/>
                <a:cs typeface="Arial"/>
              </a:rPr>
            </a:br>
            <a:r>
              <a:rPr lang="en-US" sz="788">
                <a:solidFill>
                  <a:srgbClr val="0A2F46"/>
                </a:solidFill>
                <a:latin typeface="Arial"/>
                <a:ea typeface="Verdana"/>
                <a:cs typeface="Arial"/>
              </a:rPr>
              <a:t>Validation</a:t>
            </a:r>
            <a:endParaRPr lang="en-US" sz="788">
              <a:solidFill>
                <a:srgbClr val="0A2F46"/>
              </a:solidFill>
              <a:latin typeface="Arial" panose="020B0604020202020204" pitchFamily="34" charset="0"/>
              <a:ea typeface="Verdana" charset="0"/>
              <a:cs typeface="Arial" panose="020B0604020202020204" pitchFamily="34" charset="0"/>
            </a:endParaRPr>
          </a:p>
        </p:txBody>
      </p:sp>
      <p:sp>
        <p:nvSpPr>
          <p:cNvPr id="13" name="Chevron 3">
            <a:extLst>
              <a:ext uri="{FF2B5EF4-FFF2-40B4-BE49-F238E27FC236}">
                <a16:creationId xmlns:a16="http://schemas.microsoft.com/office/drawing/2014/main" id="{9B6C46AC-5994-C00B-E91C-BCB722F32A17}"/>
              </a:ext>
            </a:extLst>
          </p:cNvPr>
          <p:cNvSpPr/>
          <p:nvPr/>
        </p:nvSpPr>
        <p:spPr>
          <a:xfrm>
            <a:off x="1184190" y="2528756"/>
            <a:ext cx="2462158" cy="288125"/>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a:ea typeface="Verdana"/>
                <a:cs typeface="Arial"/>
              </a:rPr>
              <a:t>Configuration</a:t>
            </a:r>
          </a:p>
        </p:txBody>
      </p:sp>
      <p:sp>
        <p:nvSpPr>
          <p:cNvPr id="8" name="Flowchart: Connector 7">
            <a:extLst>
              <a:ext uri="{FF2B5EF4-FFF2-40B4-BE49-F238E27FC236}">
                <a16:creationId xmlns:a16="http://schemas.microsoft.com/office/drawing/2014/main" id="{10B645C9-3F51-70A7-30D1-F56D6194496C}"/>
              </a:ext>
            </a:extLst>
          </p:cNvPr>
          <p:cNvSpPr/>
          <p:nvPr/>
        </p:nvSpPr>
        <p:spPr>
          <a:xfrm>
            <a:off x="2623551" y="1879844"/>
            <a:ext cx="457200" cy="457200"/>
          </a:xfrm>
          <a:prstGeom prst="flowChart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sp>
        <p:nvSpPr>
          <p:cNvPr id="18" name="TextBox 17">
            <a:extLst>
              <a:ext uri="{FF2B5EF4-FFF2-40B4-BE49-F238E27FC236}">
                <a16:creationId xmlns:a16="http://schemas.microsoft.com/office/drawing/2014/main" id="{37C7B1A2-4E32-F3A5-1C3C-BF294DBDE0EF}"/>
              </a:ext>
            </a:extLst>
          </p:cNvPr>
          <p:cNvSpPr txBox="1"/>
          <p:nvPr/>
        </p:nvSpPr>
        <p:spPr>
          <a:xfrm>
            <a:off x="2499688" y="1461459"/>
            <a:ext cx="711306" cy="363561"/>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ea typeface="Inter Light" panose="02000503000000020004" pitchFamily="2" charset="0"/>
                <a:cs typeface="Arial"/>
              </a:rPr>
              <a:t>Baseline Application Configured</a:t>
            </a:r>
            <a:endParaRPr lang="en-US" sz="788" err="1">
              <a:solidFill>
                <a:schemeClr val="tx2"/>
              </a:solidFill>
              <a:latin typeface="Arial"/>
              <a:cs typeface="Arial"/>
            </a:endParaRPr>
          </a:p>
        </p:txBody>
      </p:sp>
      <p:sp>
        <p:nvSpPr>
          <p:cNvPr id="63" name="TextBox 62">
            <a:extLst>
              <a:ext uri="{FF2B5EF4-FFF2-40B4-BE49-F238E27FC236}">
                <a16:creationId xmlns:a16="http://schemas.microsoft.com/office/drawing/2014/main" id="{35A8071D-497C-D32F-6B7E-4EAA0ED30760}"/>
              </a:ext>
            </a:extLst>
          </p:cNvPr>
          <p:cNvSpPr txBox="1"/>
          <p:nvPr/>
        </p:nvSpPr>
        <p:spPr>
          <a:xfrm>
            <a:off x="5814282" y="2637847"/>
            <a:ext cx="721621" cy="24237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r>
              <a:rPr lang="en-US" sz="788">
                <a:solidFill>
                  <a:srgbClr val="000000"/>
                </a:solidFill>
                <a:latin typeface="Arial" panose="020B0604020202020204"/>
                <a:ea typeface="Verdana"/>
                <a:cs typeface="Arial"/>
              </a:rPr>
              <a:t>Iterative </a:t>
            </a:r>
          </a:p>
          <a:p>
            <a:pPr algn="ctr" defTabSz="914333"/>
            <a:r>
              <a:rPr lang="en-US" sz="788">
                <a:solidFill>
                  <a:srgbClr val="000000"/>
                </a:solidFill>
                <a:latin typeface="Arial" panose="020B0604020202020204"/>
                <a:ea typeface="Verdana"/>
                <a:cs typeface="Arial"/>
              </a:rPr>
              <a:t>Extensions</a:t>
            </a:r>
            <a:endParaRPr lang="en-US" sz="788">
              <a:solidFill>
                <a:srgbClr val="000000"/>
              </a:solidFill>
              <a:latin typeface="Arial" panose="020B0604020202020204"/>
              <a:cs typeface="Arial" panose="020B0604020202020204"/>
            </a:endParaRPr>
          </a:p>
        </p:txBody>
      </p:sp>
      <p:sp>
        <p:nvSpPr>
          <p:cNvPr id="35" name="Chevron 3">
            <a:extLst>
              <a:ext uri="{FF2B5EF4-FFF2-40B4-BE49-F238E27FC236}">
                <a16:creationId xmlns:a16="http://schemas.microsoft.com/office/drawing/2014/main" id="{226330EB-A677-E3B4-7785-E22E2A1AF1C9}"/>
              </a:ext>
            </a:extLst>
          </p:cNvPr>
          <p:cNvSpPr/>
          <p:nvPr/>
        </p:nvSpPr>
        <p:spPr>
          <a:xfrm>
            <a:off x="4270610" y="3497644"/>
            <a:ext cx="1368052" cy="30181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a:ea typeface="Verdana"/>
                <a:cs typeface="Arial"/>
              </a:rPr>
              <a:t>Extension Design</a:t>
            </a:r>
          </a:p>
        </p:txBody>
      </p:sp>
      <p:sp>
        <p:nvSpPr>
          <p:cNvPr id="91" name="Flowchart: Connector 90">
            <a:extLst>
              <a:ext uri="{FF2B5EF4-FFF2-40B4-BE49-F238E27FC236}">
                <a16:creationId xmlns:a16="http://schemas.microsoft.com/office/drawing/2014/main" id="{BC15EA4A-E482-EA62-66E3-AF281761FF3B}"/>
              </a:ext>
            </a:extLst>
          </p:cNvPr>
          <p:cNvSpPr/>
          <p:nvPr/>
        </p:nvSpPr>
        <p:spPr>
          <a:xfrm>
            <a:off x="5942442" y="2895079"/>
            <a:ext cx="457200" cy="4572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88">
              <a:solidFill>
                <a:schemeClr val="bg1"/>
              </a:solidFill>
              <a:latin typeface="Arial"/>
              <a:ea typeface="Verdana" charset="0"/>
              <a:cs typeface="Arial"/>
            </a:endParaRPr>
          </a:p>
        </p:txBody>
      </p:sp>
      <p:cxnSp>
        <p:nvCxnSpPr>
          <p:cNvPr id="42" name="Connector: Elbow 41">
            <a:extLst>
              <a:ext uri="{FF2B5EF4-FFF2-40B4-BE49-F238E27FC236}">
                <a16:creationId xmlns:a16="http://schemas.microsoft.com/office/drawing/2014/main" id="{731F22D4-E098-6387-03EB-7BDED5B439A9}"/>
              </a:ext>
            </a:extLst>
          </p:cNvPr>
          <p:cNvCxnSpPr>
            <a:cxnSpLocks/>
          </p:cNvCxnSpPr>
          <p:nvPr/>
        </p:nvCxnSpPr>
        <p:spPr>
          <a:xfrm rot="16200000" flipH="1">
            <a:off x="3828174" y="3055207"/>
            <a:ext cx="915389" cy="271295"/>
          </a:xfrm>
          <a:prstGeom prst="bentConnector2">
            <a:avLst/>
          </a:prstGeom>
          <a:ln w="25400" cap="rnd">
            <a:no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Chevron 32">
            <a:extLst>
              <a:ext uri="{FF2B5EF4-FFF2-40B4-BE49-F238E27FC236}">
                <a16:creationId xmlns:a16="http://schemas.microsoft.com/office/drawing/2014/main" id="{25FF5785-7139-174F-EBA0-136FF93E023F}"/>
              </a:ext>
            </a:extLst>
          </p:cNvPr>
          <p:cNvSpPr/>
          <p:nvPr/>
        </p:nvSpPr>
        <p:spPr>
          <a:xfrm>
            <a:off x="4295044" y="1329336"/>
            <a:ext cx="1829057" cy="287546"/>
          </a:xfrm>
          <a:prstGeom prst="chevr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0A2F46"/>
                </a:solidFill>
                <a:latin typeface="Arial"/>
                <a:ea typeface="Verdana"/>
                <a:cs typeface="Arial"/>
              </a:rPr>
              <a:t>Test and Deploy</a:t>
            </a:r>
            <a:endParaRPr lang="en-US" sz="900">
              <a:solidFill>
                <a:srgbClr val="0A2F46"/>
              </a:solidFill>
              <a:latin typeface="Arial"/>
              <a:ea typeface="Verdana" charset="0"/>
              <a:cs typeface="Arial"/>
            </a:endParaRPr>
          </a:p>
        </p:txBody>
      </p:sp>
      <p:sp>
        <p:nvSpPr>
          <p:cNvPr id="77" name="Flowchart: Connector 76">
            <a:extLst>
              <a:ext uri="{FF2B5EF4-FFF2-40B4-BE49-F238E27FC236}">
                <a16:creationId xmlns:a16="http://schemas.microsoft.com/office/drawing/2014/main" id="{16DDF225-BB4A-8EBA-FBC4-66FB91809A36}"/>
              </a:ext>
            </a:extLst>
          </p:cNvPr>
          <p:cNvSpPr/>
          <p:nvPr/>
        </p:nvSpPr>
        <p:spPr>
          <a:xfrm>
            <a:off x="5535292" y="715996"/>
            <a:ext cx="457200" cy="457200"/>
          </a:xfrm>
          <a:prstGeom prst="flowChartConnector">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sp>
        <p:nvSpPr>
          <p:cNvPr id="81" name="TextBox 80">
            <a:extLst>
              <a:ext uri="{FF2B5EF4-FFF2-40B4-BE49-F238E27FC236}">
                <a16:creationId xmlns:a16="http://schemas.microsoft.com/office/drawing/2014/main" id="{3F96B89F-13EC-8B5A-BC45-B2A2C6074527}"/>
              </a:ext>
            </a:extLst>
          </p:cNvPr>
          <p:cNvSpPr txBox="1"/>
          <p:nvPr/>
        </p:nvSpPr>
        <p:spPr>
          <a:xfrm>
            <a:off x="5409104" y="310016"/>
            <a:ext cx="724689" cy="36356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cs typeface="Arial"/>
              </a:rPr>
              <a:t>Base </a:t>
            </a:r>
            <a:br>
              <a:rPr lang="en-GB" sz="788">
                <a:solidFill>
                  <a:schemeClr val="tx2"/>
                </a:solidFill>
                <a:latin typeface="Arial"/>
                <a:cs typeface="Arial"/>
              </a:rPr>
            </a:br>
            <a:r>
              <a:rPr lang="en-GB" sz="788">
                <a:solidFill>
                  <a:schemeClr val="tx2"/>
                </a:solidFill>
                <a:latin typeface="Arial"/>
                <a:cs typeface="Arial"/>
              </a:rPr>
              <a:t>Application </a:t>
            </a:r>
            <a:br>
              <a:rPr lang="en-GB" sz="788">
                <a:solidFill>
                  <a:schemeClr val="tx2"/>
                </a:solidFill>
                <a:latin typeface="Arial"/>
                <a:cs typeface="Arial"/>
              </a:rPr>
            </a:br>
            <a:r>
              <a:rPr lang="en-GB" sz="788">
                <a:solidFill>
                  <a:schemeClr val="tx2"/>
                </a:solidFill>
                <a:latin typeface="Arial"/>
                <a:cs typeface="Arial"/>
              </a:rPr>
              <a:t>Go-Live</a:t>
            </a:r>
            <a:endParaRPr lang="en-US" sz="788">
              <a:solidFill>
                <a:schemeClr val="tx2"/>
              </a:solidFill>
              <a:latin typeface="Arial"/>
              <a:cs typeface="Arial"/>
            </a:endParaRPr>
          </a:p>
        </p:txBody>
      </p:sp>
      <p:sp>
        <p:nvSpPr>
          <p:cNvPr id="6" name="Pentagon 5">
            <a:extLst>
              <a:ext uri="{FF2B5EF4-FFF2-40B4-BE49-F238E27FC236}">
                <a16:creationId xmlns:a16="http://schemas.microsoft.com/office/drawing/2014/main" id="{3896ED4D-F7CC-D05C-9FC4-9E289C938FFA}"/>
              </a:ext>
            </a:extLst>
          </p:cNvPr>
          <p:cNvSpPr/>
          <p:nvPr/>
        </p:nvSpPr>
        <p:spPr>
          <a:xfrm>
            <a:off x="1175261" y="3622851"/>
            <a:ext cx="2462158" cy="227394"/>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788">
                <a:solidFill>
                  <a:srgbClr val="0A2F46"/>
                </a:solidFill>
                <a:ea typeface="Verdana"/>
                <a:cs typeface="Arial"/>
              </a:rPr>
              <a:t>Manual Data Loads</a:t>
            </a:r>
            <a:endParaRPr lang="en-US" sz="788">
              <a:solidFill>
                <a:srgbClr val="000000"/>
              </a:solidFill>
              <a:ea typeface="Verdana"/>
              <a:cs typeface="Arial"/>
            </a:endParaRPr>
          </a:p>
        </p:txBody>
      </p:sp>
      <p:sp>
        <p:nvSpPr>
          <p:cNvPr id="26" name="Chevron 3">
            <a:extLst>
              <a:ext uri="{FF2B5EF4-FFF2-40B4-BE49-F238E27FC236}">
                <a16:creationId xmlns:a16="http://schemas.microsoft.com/office/drawing/2014/main" id="{7890DE96-0E9B-E1A3-B8BD-65A4BB5A0159}"/>
              </a:ext>
            </a:extLst>
          </p:cNvPr>
          <p:cNvSpPr/>
          <p:nvPr/>
        </p:nvSpPr>
        <p:spPr>
          <a:xfrm>
            <a:off x="5565414" y="3497644"/>
            <a:ext cx="1368052" cy="30181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a:ea typeface="Verdana"/>
                <a:cs typeface="Arial"/>
              </a:rPr>
              <a:t>Extension Build</a:t>
            </a:r>
          </a:p>
        </p:txBody>
      </p:sp>
      <p:cxnSp>
        <p:nvCxnSpPr>
          <p:cNvPr id="50" name="Straight Arrow Connector 49">
            <a:extLst>
              <a:ext uri="{FF2B5EF4-FFF2-40B4-BE49-F238E27FC236}">
                <a16:creationId xmlns:a16="http://schemas.microsoft.com/office/drawing/2014/main" id="{71F4A8F9-F96B-6141-B302-A3561A3904B4}"/>
              </a:ext>
            </a:extLst>
          </p:cNvPr>
          <p:cNvCxnSpPr>
            <a:cxnSpLocks/>
          </p:cNvCxnSpPr>
          <p:nvPr/>
        </p:nvCxnSpPr>
        <p:spPr>
          <a:xfrm flipH="1">
            <a:off x="8284196" y="3298166"/>
            <a:ext cx="3336" cy="463875"/>
          </a:xfrm>
          <a:prstGeom prst="straightConnector1">
            <a:avLst/>
          </a:prstGeom>
          <a:ln w="25400" cap="rnd">
            <a:solidFill>
              <a:schemeClr val="accent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8" name="Chevron 32">
            <a:extLst>
              <a:ext uri="{FF2B5EF4-FFF2-40B4-BE49-F238E27FC236}">
                <a16:creationId xmlns:a16="http://schemas.microsoft.com/office/drawing/2014/main" id="{42846EFF-43CE-52F3-6A1A-E8CA7948EEC9}"/>
              </a:ext>
            </a:extLst>
          </p:cNvPr>
          <p:cNvSpPr/>
          <p:nvPr/>
        </p:nvSpPr>
        <p:spPr>
          <a:xfrm>
            <a:off x="6859372" y="3507832"/>
            <a:ext cx="1829057" cy="287546"/>
          </a:xfrm>
          <a:prstGeom prst="chevr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0A2F46"/>
                </a:solidFill>
                <a:latin typeface="Arial"/>
                <a:ea typeface="Verdana"/>
                <a:cs typeface="Arial"/>
              </a:rPr>
              <a:t>Test and Deploy</a:t>
            </a:r>
            <a:endParaRPr lang="en-US" sz="900">
              <a:solidFill>
                <a:srgbClr val="0A2F46"/>
              </a:solidFill>
              <a:latin typeface="Arial"/>
              <a:ea typeface="Verdana" charset="0"/>
              <a:cs typeface="Arial"/>
            </a:endParaRPr>
          </a:p>
        </p:txBody>
      </p:sp>
      <p:sp>
        <p:nvSpPr>
          <p:cNvPr id="62" name="Flowchart: Connector 61">
            <a:extLst>
              <a:ext uri="{FF2B5EF4-FFF2-40B4-BE49-F238E27FC236}">
                <a16:creationId xmlns:a16="http://schemas.microsoft.com/office/drawing/2014/main" id="{38AC818C-5604-8326-CCD7-F0CB59BF0F8D}"/>
              </a:ext>
            </a:extLst>
          </p:cNvPr>
          <p:cNvSpPr/>
          <p:nvPr/>
        </p:nvSpPr>
        <p:spPr>
          <a:xfrm>
            <a:off x="8058798" y="2894492"/>
            <a:ext cx="457200" cy="457200"/>
          </a:xfrm>
          <a:prstGeom prst="flowChartConnector">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sp>
        <p:nvSpPr>
          <p:cNvPr id="64" name="TextBox 63">
            <a:extLst>
              <a:ext uri="{FF2B5EF4-FFF2-40B4-BE49-F238E27FC236}">
                <a16:creationId xmlns:a16="http://schemas.microsoft.com/office/drawing/2014/main" id="{54E40ADF-033F-AC82-577A-2F156BA7893F}"/>
              </a:ext>
            </a:extLst>
          </p:cNvPr>
          <p:cNvSpPr txBox="1"/>
          <p:nvPr/>
        </p:nvSpPr>
        <p:spPr>
          <a:xfrm>
            <a:off x="7932610" y="2497442"/>
            <a:ext cx="724689" cy="363561"/>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cs typeface="Arial"/>
              </a:rPr>
              <a:t>Extended</a:t>
            </a:r>
            <a:br>
              <a:rPr lang="en-GB" sz="788">
                <a:solidFill>
                  <a:schemeClr val="tx2"/>
                </a:solidFill>
                <a:latin typeface="Arial"/>
                <a:cs typeface="Arial"/>
              </a:rPr>
            </a:br>
            <a:r>
              <a:rPr lang="en-GB" sz="788">
                <a:solidFill>
                  <a:schemeClr val="tx2"/>
                </a:solidFill>
                <a:latin typeface="Arial"/>
                <a:cs typeface="Arial"/>
              </a:rPr>
              <a:t>Application </a:t>
            </a:r>
            <a:br>
              <a:rPr lang="en-GB" sz="788">
                <a:solidFill>
                  <a:schemeClr val="tx2"/>
                </a:solidFill>
                <a:latin typeface="Arial"/>
                <a:cs typeface="Arial"/>
              </a:rPr>
            </a:br>
            <a:r>
              <a:rPr lang="en-GB" sz="788">
                <a:solidFill>
                  <a:schemeClr val="tx2"/>
                </a:solidFill>
                <a:latin typeface="Arial"/>
                <a:cs typeface="Arial"/>
              </a:rPr>
              <a:t>Go-Live</a:t>
            </a:r>
            <a:endParaRPr lang="en-US" sz="788">
              <a:solidFill>
                <a:schemeClr val="tx2"/>
              </a:solidFill>
              <a:latin typeface="Arial"/>
              <a:cs typeface="Arial"/>
            </a:endParaRPr>
          </a:p>
        </p:txBody>
      </p:sp>
      <p:sp>
        <p:nvSpPr>
          <p:cNvPr id="65" name="Pentagon 5">
            <a:extLst>
              <a:ext uri="{FF2B5EF4-FFF2-40B4-BE49-F238E27FC236}">
                <a16:creationId xmlns:a16="http://schemas.microsoft.com/office/drawing/2014/main" id="{717F06F8-5647-EB91-A02C-D0F45D1BFE73}"/>
              </a:ext>
            </a:extLst>
          </p:cNvPr>
          <p:cNvSpPr/>
          <p:nvPr/>
        </p:nvSpPr>
        <p:spPr>
          <a:xfrm>
            <a:off x="4288706" y="4686179"/>
            <a:ext cx="4346321" cy="218465"/>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788">
                <a:solidFill>
                  <a:srgbClr val="0A2F46"/>
                </a:solidFill>
                <a:ea typeface="+mn-lt"/>
                <a:cs typeface="+mn-lt"/>
              </a:rPr>
              <a:t>Automated Data Loads </a:t>
            </a:r>
            <a:endParaRPr lang="en-US" sz="1013"/>
          </a:p>
        </p:txBody>
      </p:sp>
      <p:pic>
        <p:nvPicPr>
          <p:cNvPr id="68" name="Picture 67" descr="A blue and black logo&#10;&#10;AI-generated content may be incorrect.">
            <a:extLst>
              <a:ext uri="{FF2B5EF4-FFF2-40B4-BE49-F238E27FC236}">
                <a16:creationId xmlns:a16="http://schemas.microsoft.com/office/drawing/2014/main" id="{9AD14F00-4568-9159-C32E-BB9B235C2E1D}"/>
              </a:ext>
            </a:extLst>
          </p:cNvPr>
          <p:cNvPicPr>
            <a:picLocks noChangeAspect="1"/>
          </p:cNvPicPr>
          <p:nvPr/>
        </p:nvPicPr>
        <p:blipFill>
          <a:blip r:embed="rId2"/>
          <a:stretch>
            <a:fillRect/>
          </a:stretch>
        </p:blipFill>
        <p:spPr>
          <a:xfrm>
            <a:off x="5625147" y="791240"/>
            <a:ext cx="278606" cy="278606"/>
          </a:xfrm>
          <a:prstGeom prst="rect">
            <a:avLst/>
          </a:prstGeom>
          <a:ln>
            <a:noFill/>
          </a:ln>
        </p:spPr>
      </p:pic>
      <p:pic>
        <p:nvPicPr>
          <p:cNvPr id="72" name="Picture 71" descr="A blue and black logo&#10;&#10;AI-generated content may be incorrect.">
            <a:extLst>
              <a:ext uri="{FF2B5EF4-FFF2-40B4-BE49-F238E27FC236}">
                <a16:creationId xmlns:a16="http://schemas.microsoft.com/office/drawing/2014/main" id="{2AAD353A-B7C0-A55F-27E2-3769D7922578}"/>
              </a:ext>
            </a:extLst>
          </p:cNvPr>
          <p:cNvPicPr>
            <a:picLocks noChangeAspect="1"/>
          </p:cNvPicPr>
          <p:nvPr/>
        </p:nvPicPr>
        <p:blipFill>
          <a:blip r:embed="rId2"/>
          <a:stretch>
            <a:fillRect/>
          </a:stretch>
        </p:blipFill>
        <p:spPr>
          <a:xfrm>
            <a:off x="8148654" y="2978666"/>
            <a:ext cx="278606" cy="278606"/>
          </a:xfrm>
          <a:prstGeom prst="rect">
            <a:avLst/>
          </a:prstGeom>
          <a:ln>
            <a:noFill/>
          </a:ln>
        </p:spPr>
      </p:pic>
      <p:pic>
        <p:nvPicPr>
          <p:cNvPr id="84" name="Picture 83" descr="A white outline of a hand shaking&#10;&#10;AI-generated content may be incorrect.">
            <a:extLst>
              <a:ext uri="{FF2B5EF4-FFF2-40B4-BE49-F238E27FC236}">
                <a16:creationId xmlns:a16="http://schemas.microsoft.com/office/drawing/2014/main" id="{22C5527C-AF8B-9606-99FB-4799D2FD265F}"/>
              </a:ext>
            </a:extLst>
          </p:cNvPr>
          <p:cNvPicPr>
            <a:picLocks noChangeAspect="1"/>
          </p:cNvPicPr>
          <p:nvPr/>
        </p:nvPicPr>
        <p:blipFill>
          <a:blip r:embed="rId3"/>
          <a:stretch>
            <a:fillRect/>
          </a:stretch>
        </p:blipFill>
        <p:spPr>
          <a:xfrm>
            <a:off x="941189" y="1980781"/>
            <a:ext cx="278606" cy="271463"/>
          </a:xfrm>
          <a:prstGeom prst="rect">
            <a:avLst/>
          </a:prstGeom>
          <a:ln>
            <a:noFill/>
          </a:ln>
        </p:spPr>
      </p:pic>
      <p:sp>
        <p:nvSpPr>
          <p:cNvPr id="94" name="TextBox 93">
            <a:extLst>
              <a:ext uri="{FF2B5EF4-FFF2-40B4-BE49-F238E27FC236}">
                <a16:creationId xmlns:a16="http://schemas.microsoft.com/office/drawing/2014/main" id="{BBAEF366-E206-EEE8-08BF-EB8C059425F9}"/>
              </a:ext>
            </a:extLst>
          </p:cNvPr>
          <p:cNvSpPr txBox="1"/>
          <p:nvPr/>
        </p:nvSpPr>
        <p:spPr>
          <a:xfrm>
            <a:off x="4581984" y="2646777"/>
            <a:ext cx="721621" cy="24237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r>
              <a:rPr lang="en-US" sz="788">
                <a:solidFill>
                  <a:srgbClr val="000000"/>
                </a:solidFill>
                <a:latin typeface="Arial" panose="020B0604020202020204"/>
                <a:ea typeface="Verdana"/>
                <a:cs typeface="Arial"/>
              </a:rPr>
              <a:t>Application-Led Design</a:t>
            </a:r>
            <a:endParaRPr lang="en-US" sz="1013"/>
          </a:p>
        </p:txBody>
      </p:sp>
      <p:sp>
        <p:nvSpPr>
          <p:cNvPr id="95" name="Flowchart: Connector 94">
            <a:extLst>
              <a:ext uri="{FF2B5EF4-FFF2-40B4-BE49-F238E27FC236}">
                <a16:creationId xmlns:a16="http://schemas.microsoft.com/office/drawing/2014/main" id="{91918ADC-005C-1F20-801B-66D28D3BFDC0}"/>
              </a:ext>
            </a:extLst>
          </p:cNvPr>
          <p:cNvSpPr/>
          <p:nvPr/>
        </p:nvSpPr>
        <p:spPr>
          <a:xfrm>
            <a:off x="4710145" y="2904008"/>
            <a:ext cx="457200" cy="4572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88">
              <a:solidFill>
                <a:schemeClr val="bg1"/>
              </a:solidFill>
              <a:latin typeface="Arial"/>
              <a:ea typeface="Verdana" charset="0"/>
              <a:cs typeface="Arial"/>
            </a:endParaRPr>
          </a:p>
        </p:txBody>
      </p:sp>
      <p:cxnSp>
        <p:nvCxnSpPr>
          <p:cNvPr id="98" name="Connector: Elbow 97">
            <a:extLst>
              <a:ext uri="{FF2B5EF4-FFF2-40B4-BE49-F238E27FC236}">
                <a16:creationId xmlns:a16="http://schemas.microsoft.com/office/drawing/2014/main" id="{4E949F16-113C-9DF8-E46C-2C40A743E12F}"/>
              </a:ext>
            </a:extLst>
          </p:cNvPr>
          <p:cNvCxnSpPr/>
          <p:nvPr/>
        </p:nvCxnSpPr>
        <p:spPr>
          <a:xfrm flipV="1">
            <a:off x="3631178" y="1463688"/>
            <a:ext cx="655628" cy="1210912"/>
          </a:xfrm>
          <a:prstGeom prst="bentConnector3">
            <a:avLst/>
          </a:prstGeom>
          <a:ln w="25400" cap="rnd">
            <a:solidFill>
              <a:schemeClr val="accent3"/>
            </a:solidFill>
            <a:prstDash val="sysDot"/>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5080DE7B-A34B-3045-09DF-65FFEADD8282}"/>
              </a:ext>
            </a:extLst>
          </p:cNvPr>
          <p:cNvCxnSpPr>
            <a:cxnSpLocks/>
          </p:cNvCxnSpPr>
          <p:nvPr/>
        </p:nvCxnSpPr>
        <p:spPr>
          <a:xfrm>
            <a:off x="3636726" y="2673826"/>
            <a:ext cx="650080" cy="967142"/>
          </a:xfrm>
          <a:prstGeom prst="bentConnector3">
            <a:avLst/>
          </a:prstGeom>
          <a:ln w="25400" cap="rnd">
            <a:solidFill>
              <a:schemeClr val="accent3"/>
            </a:solidFill>
            <a:prstDash val="sysDot"/>
            <a:headEnd type="none"/>
            <a:tailEnd type="triangle"/>
          </a:ln>
          <a:effectLst/>
        </p:spPr>
        <p:style>
          <a:lnRef idx="2">
            <a:schemeClr val="accent1"/>
          </a:lnRef>
          <a:fillRef idx="0">
            <a:schemeClr val="accent1"/>
          </a:fillRef>
          <a:effectRef idx="1">
            <a:schemeClr val="accent1"/>
          </a:effectRef>
          <a:fontRef idx="minor">
            <a:schemeClr val="tx1"/>
          </a:fontRef>
        </p:style>
      </p:cxnSp>
      <p:pic>
        <p:nvPicPr>
          <p:cNvPr id="101" name="Picture 100" descr="A white logo with a black background&#10;&#10;AI-generated content may be incorrect.">
            <a:extLst>
              <a:ext uri="{FF2B5EF4-FFF2-40B4-BE49-F238E27FC236}">
                <a16:creationId xmlns:a16="http://schemas.microsoft.com/office/drawing/2014/main" id="{A73FF034-92ED-64BB-1746-39DDA25731E2}"/>
              </a:ext>
            </a:extLst>
          </p:cNvPr>
          <p:cNvPicPr>
            <a:picLocks noChangeAspect="1"/>
          </p:cNvPicPr>
          <p:nvPr/>
        </p:nvPicPr>
        <p:blipFill>
          <a:blip r:embed="rId4"/>
          <a:stretch>
            <a:fillRect/>
          </a:stretch>
        </p:blipFill>
        <p:spPr>
          <a:xfrm>
            <a:off x="2716226" y="1977209"/>
            <a:ext cx="278606" cy="278606"/>
          </a:xfrm>
          <a:prstGeom prst="rect">
            <a:avLst/>
          </a:prstGeom>
        </p:spPr>
      </p:pic>
      <p:pic>
        <p:nvPicPr>
          <p:cNvPr id="102" name="Picture 101" descr="A white arrows in a circle&#10;&#10;AI-generated content may be incorrect.">
            <a:extLst>
              <a:ext uri="{FF2B5EF4-FFF2-40B4-BE49-F238E27FC236}">
                <a16:creationId xmlns:a16="http://schemas.microsoft.com/office/drawing/2014/main" id="{115E9039-203D-2A09-3051-5863FB174FC1}"/>
              </a:ext>
            </a:extLst>
          </p:cNvPr>
          <p:cNvPicPr>
            <a:picLocks noChangeAspect="1"/>
          </p:cNvPicPr>
          <p:nvPr/>
        </p:nvPicPr>
        <p:blipFill>
          <a:blip r:embed="rId5"/>
          <a:stretch>
            <a:fillRect/>
          </a:stretch>
        </p:blipFill>
        <p:spPr>
          <a:xfrm>
            <a:off x="6050478" y="2991886"/>
            <a:ext cx="278606" cy="278606"/>
          </a:xfrm>
          <a:prstGeom prst="rect">
            <a:avLst/>
          </a:prstGeom>
        </p:spPr>
      </p:pic>
      <p:pic>
        <p:nvPicPr>
          <p:cNvPr id="106" name="Picture 105" descr="A white line drawing of a diagram&#10;&#10;AI-generated content may be incorrect.">
            <a:extLst>
              <a:ext uri="{FF2B5EF4-FFF2-40B4-BE49-F238E27FC236}">
                <a16:creationId xmlns:a16="http://schemas.microsoft.com/office/drawing/2014/main" id="{2368C9BE-E3DD-533E-7E54-F8B6EB944BA2}"/>
              </a:ext>
            </a:extLst>
          </p:cNvPr>
          <p:cNvPicPr>
            <a:picLocks noChangeAspect="1"/>
          </p:cNvPicPr>
          <p:nvPr/>
        </p:nvPicPr>
        <p:blipFill>
          <a:blip r:embed="rId6"/>
          <a:stretch>
            <a:fillRect/>
          </a:stretch>
        </p:blipFill>
        <p:spPr>
          <a:xfrm>
            <a:off x="4798814" y="2983513"/>
            <a:ext cx="278606" cy="271463"/>
          </a:xfrm>
          <a:prstGeom prst="rect">
            <a:avLst/>
          </a:prstGeom>
        </p:spPr>
      </p:pic>
      <p:pic>
        <p:nvPicPr>
          <p:cNvPr id="4" name="Picture 3" descr="A blue outline of a magnifying glass&#10;&#10;AI-generated content may be incorrect.">
            <a:extLst>
              <a:ext uri="{FF2B5EF4-FFF2-40B4-BE49-F238E27FC236}">
                <a16:creationId xmlns:a16="http://schemas.microsoft.com/office/drawing/2014/main" id="{17C95346-60D4-E440-3E87-4324A5C22B6F}"/>
              </a:ext>
            </a:extLst>
          </p:cNvPr>
          <p:cNvPicPr>
            <a:picLocks noChangeAspect="1"/>
          </p:cNvPicPr>
          <p:nvPr/>
        </p:nvPicPr>
        <p:blipFill>
          <a:blip r:embed="rId7"/>
          <a:stretch>
            <a:fillRect/>
          </a:stretch>
        </p:blipFill>
        <p:spPr>
          <a:xfrm>
            <a:off x="231221" y="2974466"/>
            <a:ext cx="241496" cy="241775"/>
          </a:xfrm>
          <a:prstGeom prst="rect">
            <a:avLst/>
          </a:prstGeom>
        </p:spPr>
      </p:pic>
      <p:pic>
        <p:nvPicPr>
          <p:cNvPr id="9" name="Picture 8" descr="A blue pencil with a black background&#10;&#10;AI-generated content may be incorrect.">
            <a:extLst>
              <a:ext uri="{FF2B5EF4-FFF2-40B4-BE49-F238E27FC236}">
                <a16:creationId xmlns:a16="http://schemas.microsoft.com/office/drawing/2014/main" id="{34235FBD-1868-3407-9B1E-0852E59BF7D2}"/>
              </a:ext>
            </a:extLst>
          </p:cNvPr>
          <p:cNvPicPr>
            <a:picLocks noChangeAspect="1"/>
          </p:cNvPicPr>
          <p:nvPr/>
        </p:nvPicPr>
        <p:blipFill>
          <a:blip r:embed="rId8"/>
          <a:stretch>
            <a:fillRect/>
          </a:stretch>
        </p:blipFill>
        <p:spPr>
          <a:xfrm>
            <a:off x="694173" y="2989310"/>
            <a:ext cx="241496" cy="241775"/>
          </a:xfrm>
          <a:prstGeom prst="rect">
            <a:avLst/>
          </a:prstGeom>
        </p:spPr>
      </p:pic>
      <p:pic>
        <p:nvPicPr>
          <p:cNvPr id="14" name="Picture 13" descr="A blue check mark in a circle&#10;&#10;AI-generated content may be incorrect.">
            <a:extLst>
              <a:ext uri="{FF2B5EF4-FFF2-40B4-BE49-F238E27FC236}">
                <a16:creationId xmlns:a16="http://schemas.microsoft.com/office/drawing/2014/main" id="{8E21F600-6FEA-E5CB-70B1-295E65C277D2}"/>
              </a:ext>
            </a:extLst>
          </p:cNvPr>
          <p:cNvPicPr>
            <a:picLocks noChangeAspect="1"/>
          </p:cNvPicPr>
          <p:nvPr/>
        </p:nvPicPr>
        <p:blipFill>
          <a:blip r:embed="rId9"/>
          <a:stretch>
            <a:fillRect/>
          </a:stretch>
        </p:blipFill>
        <p:spPr>
          <a:xfrm>
            <a:off x="1463518" y="2981889"/>
            <a:ext cx="241496" cy="241496"/>
          </a:xfrm>
          <a:prstGeom prst="rect">
            <a:avLst/>
          </a:prstGeom>
        </p:spPr>
      </p:pic>
      <p:pic>
        <p:nvPicPr>
          <p:cNvPr id="16" name="Picture 15" descr="A blue and black logo&#10;&#10;AI-generated content may be incorrect.">
            <a:extLst>
              <a:ext uri="{FF2B5EF4-FFF2-40B4-BE49-F238E27FC236}">
                <a16:creationId xmlns:a16="http://schemas.microsoft.com/office/drawing/2014/main" id="{4AC24B20-D3E2-672F-3E31-F8A0CB316057}"/>
              </a:ext>
            </a:extLst>
          </p:cNvPr>
          <p:cNvPicPr>
            <a:picLocks noChangeAspect="1"/>
          </p:cNvPicPr>
          <p:nvPr/>
        </p:nvPicPr>
        <p:blipFill>
          <a:blip r:embed="rId10"/>
          <a:stretch>
            <a:fillRect/>
          </a:stretch>
        </p:blipFill>
        <p:spPr>
          <a:xfrm>
            <a:off x="2276120" y="2981889"/>
            <a:ext cx="241496" cy="241496"/>
          </a:xfrm>
          <a:prstGeom prst="rect">
            <a:avLst/>
          </a:prstGeom>
        </p:spPr>
      </p:pic>
      <p:pic>
        <p:nvPicPr>
          <p:cNvPr id="17" name="Picture 16" descr="A group of people with blue circles&#10;&#10;AI-generated content may be incorrect.">
            <a:extLst>
              <a:ext uri="{FF2B5EF4-FFF2-40B4-BE49-F238E27FC236}">
                <a16:creationId xmlns:a16="http://schemas.microsoft.com/office/drawing/2014/main" id="{175DD46D-2193-68B1-309E-DA07CF3830C9}"/>
              </a:ext>
            </a:extLst>
          </p:cNvPr>
          <p:cNvPicPr>
            <a:picLocks noChangeAspect="1"/>
          </p:cNvPicPr>
          <p:nvPr/>
        </p:nvPicPr>
        <p:blipFill>
          <a:blip r:embed="rId11"/>
          <a:stretch>
            <a:fillRect/>
          </a:stretch>
        </p:blipFill>
        <p:spPr>
          <a:xfrm>
            <a:off x="3079792" y="2974466"/>
            <a:ext cx="241496" cy="241775"/>
          </a:xfrm>
          <a:prstGeom prst="rect">
            <a:avLst/>
          </a:prstGeom>
        </p:spPr>
      </p:pic>
      <p:cxnSp>
        <p:nvCxnSpPr>
          <p:cNvPr id="21" name="Straight Arrow Connector 20">
            <a:extLst>
              <a:ext uri="{FF2B5EF4-FFF2-40B4-BE49-F238E27FC236}">
                <a16:creationId xmlns:a16="http://schemas.microsoft.com/office/drawing/2014/main" id="{00DF2B8B-6470-C43F-CD40-83B1536B1C7A}"/>
              </a:ext>
            </a:extLst>
          </p:cNvPr>
          <p:cNvCxnSpPr>
            <a:cxnSpLocks/>
          </p:cNvCxnSpPr>
          <p:nvPr/>
        </p:nvCxnSpPr>
        <p:spPr>
          <a:xfrm>
            <a:off x="316110" y="2736128"/>
            <a:ext cx="0" cy="158111"/>
          </a:xfrm>
          <a:prstGeom prst="straightConnector1">
            <a:avLst/>
          </a:prstGeom>
          <a:ln w="25400" cap="rnd">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AE20AF8-557C-8BE5-0EB3-51FC97259584}"/>
              </a:ext>
            </a:extLst>
          </p:cNvPr>
          <p:cNvCxnSpPr>
            <a:cxnSpLocks/>
          </p:cNvCxnSpPr>
          <p:nvPr/>
        </p:nvCxnSpPr>
        <p:spPr>
          <a:xfrm>
            <a:off x="819406" y="2736128"/>
            <a:ext cx="0" cy="158111"/>
          </a:xfrm>
          <a:prstGeom prst="straightConnector1">
            <a:avLst/>
          </a:prstGeom>
          <a:ln w="25400" cap="rnd">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FA7DA78-7E61-FC74-3D5C-E4613A14507E}"/>
              </a:ext>
            </a:extLst>
          </p:cNvPr>
          <p:cNvCxnSpPr>
            <a:cxnSpLocks/>
          </p:cNvCxnSpPr>
          <p:nvPr/>
        </p:nvCxnSpPr>
        <p:spPr>
          <a:xfrm>
            <a:off x="1585925" y="2736128"/>
            <a:ext cx="0" cy="158111"/>
          </a:xfrm>
          <a:prstGeom prst="straightConnector1">
            <a:avLst/>
          </a:prstGeom>
          <a:ln w="25400" cap="rnd">
            <a:solidFill>
              <a:schemeClr val="accent3"/>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21F3700-6D11-C346-43A9-D65AB2A23505}"/>
              </a:ext>
            </a:extLst>
          </p:cNvPr>
          <p:cNvCxnSpPr>
            <a:cxnSpLocks/>
          </p:cNvCxnSpPr>
          <p:nvPr/>
        </p:nvCxnSpPr>
        <p:spPr>
          <a:xfrm>
            <a:off x="2395393" y="2736128"/>
            <a:ext cx="0" cy="158111"/>
          </a:xfrm>
          <a:prstGeom prst="straightConnector1">
            <a:avLst/>
          </a:prstGeom>
          <a:ln w="25400" cap="rnd">
            <a:solidFill>
              <a:schemeClr val="accent3"/>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D40FEA8-B228-3AB0-8677-AD5B1FAC97D5}"/>
              </a:ext>
            </a:extLst>
          </p:cNvPr>
          <p:cNvCxnSpPr>
            <a:cxnSpLocks/>
          </p:cNvCxnSpPr>
          <p:nvPr/>
        </p:nvCxnSpPr>
        <p:spPr>
          <a:xfrm>
            <a:off x="3202934" y="2736128"/>
            <a:ext cx="0" cy="158111"/>
          </a:xfrm>
          <a:prstGeom prst="straightConnector1">
            <a:avLst/>
          </a:prstGeom>
          <a:ln w="25400" cap="rnd">
            <a:solidFill>
              <a:schemeClr val="accent3"/>
            </a:solidFill>
            <a:headEnd type="none"/>
            <a:tailEnd type="oval"/>
          </a:ln>
          <a:effectLst/>
        </p:spPr>
        <p:style>
          <a:lnRef idx="2">
            <a:schemeClr val="accent1"/>
          </a:lnRef>
          <a:fillRef idx="0">
            <a:schemeClr val="accent1"/>
          </a:fillRef>
          <a:effectRef idx="1">
            <a:schemeClr val="accent1"/>
          </a:effectRef>
          <a:fontRef idx="minor">
            <a:schemeClr val="tx1"/>
          </a:fontRef>
        </p:style>
      </p:cxnSp>
      <p:sp>
        <p:nvSpPr>
          <p:cNvPr id="33" name="Rounded Rectangle 9">
            <a:extLst>
              <a:ext uri="{FF2B5EF4-FFF2-40B4-BE49-F238E27FC236}">
                <a16:creationId xmlns:a16="http://schemas.microsoft.com/office/drawing/2014/main" id="{840E1119-B8AE-D73A-F0BD-D565E8F209CB}"/>
              </a:ext>
            </a:extLst>
          </p:cNvPr>
          <p:cNvSpPr/>
          <p:nvPr/>
        </p:nvSpPr>
        <p:spPr>
          <a:xfrm>
            <a:off x="5388200" y="2029744"/>
            <a:ext cx="734843"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Post Deploy Support</a:t>
            </a:r>
            <a:endParaRPr lang="en-US" sz="788">
              <a:solidFill>
                <a:srgbClr val="0A2F46"/>
              </a:solidFill>
              <a:latin typeface="Arial" panose="020B0604020202020204" pitchFamily="34" charset="0"/>
              <a:ea typeface="Verdana" charset="0"/>
              <a:cs typeface="Arial" panose="020B0604020202020204" pitchFamily="34" charset="0"/>
            </a:endParaRPr>
          </a:p>
        </p:txBody>
      </p:sp>
      <p:sp>
        <p:nvSpPr>
          <p:cNvPr id="34" name="Rounded Rectangle 9">
            <a:extLst>
              <a:ext uri="{FF2B5EF4-FFF2-40B4-BE49-F238E27FC236}">
                <a16:creationId xmlns:a16="http://schemas.microsoft.com/office/drawing/2014/main" id="{5C994338-487B-5DD3-801B-EDE562B759A9}"/>
              </a:ext>
            </a:extLst>
          </p:cNvPr>
          <p:cNvSpPr/>
          <p:nvPr/>
        </p:nvSpPr>
        <p:spPr>
          <a:xfrm>
            <a:off x="4787682" y="2037166"/>
            <a:ext cx="752461"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SIT / </a:t>
            </a:r>
            <a:br>
              <a:rPr lang="en-US" sz="788">
                <a:solidFill>
                  <a:srgbClr val="0A2F46"/>
                </a:solidFill>
                <a:ea typeface="Verdana"/>
                <a:cs typeface="Arial"/>
              </a:rPr>
            </a:br>
            <a:r>
              <a:rPr lang="en-US" sz="788">
                <a:solidFill>
                  <a:srgbClr val="0A2F46"/>
                </a:solidFill>
                <a:ea typeface="Verdana"/>
                <a:cs typeface="Arial"/>
              </a:rPr>
              <a:t>UAT</a:t>
            </a:r>
          </a:p>
        </p:txBody>
      </p:sp>
      <p:sp>
        <p:nvSpPr>
          <p:cNvPr id="36" name="Rounded Rectangle 11">
            <a:extLst>
              <a:ext uri="{FF2B5EF4-FFF2-40B4-BE49-F238E27FC236}">
                <a16:creationId xmlns:a16="http://schemas.microsoft.com/office/drawing/2014/main" id="{F9DA2E5C-1020-6B8D-7087-F30892A41C7A}"/>
              </a:ext>
            </a:extLst>
          </p:cNvPr>
          <p:cNvSpPr/>
          <p:nvPr/>
        </p:nvSpPr>
        <p:spPr>
          <a:xfrm>
            <a:off x="4253410" y="2037165"/>
            <a:ext cx="714917" cy="393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Prod Data Loaded</a:t>
            </a: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41" name="Straight Arrow Connector 40">
            <a:extLst>
              <a:ext uri="{FF2B5EF4-FFF2-40B4-BE49-F238E27FC236}">
                <a16:creationId xmlns:a16="http://schemas.microsoft.com/office/drawing/2014/main" id="{F553FAA2-AEA0-F7C5-E2D7-689D9430F524}"/>
              </a:ext>
            </a:extLst>
          </p:cNvPr>
          <p:cNvCxnSpPr>
            <a:cxnSpLocks/>
          </p:cNvCxnSpPr>
          <p:nvPr/>
        </p:nvCxnSpPr>
        <p:spPr>
          <a:xfrm>
            <a:off x="4607045" y="1529242"/>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0CB0AE3-15D6-39E7-E0A5-8B741D210C70}"/>
              </a:ext>
            </a:extLst>
          </p:cNvPr>
          <p:cNvCxnSpPr>
            <a:cxnSpLocks/>
          </p:cNvCxnSpPr>
          <p:nvPr/>
        </p:nvCxnSpPr>
        <p:spPr>
          <a:xfrm>
            <a:off x="5164163" y="1529242"/>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8F03591-EFFB-41C9-BE34-ABBE4FB86BBF}"/>
              </a:ext>
            </a:extLst>
          </p:cNvPr>
          <p:cNvCxnSpPr>
            <a:cxnSpLocks/>
          </p:cNvCxnSpPr>
          <p:nvPr/>
        </p:nvCxnSpPr>
        <p:spPr>
          <a:xfrm>
            <a:off x="5749042" y="1529242"/>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pic>
        <p:nvPicPr>
          <p:cNvPr id="2" name="Picture 1" descr="A blue and black cube&#10;&#10;AI-generated content may be incorrect.">
            <a:extLst>
              <a:ext uri="{FF2B5EF4-FFF2-40B4-BE49-F238E27FC236}">
                <a16:creationId xmlns:a16="http://schemas.microsoft.com/office/drawing/2014/main" id="{1099932E-43D4-82A1-3E72-872E18DC180A}"/>
              </a:ext>
            </a:extLst>
          </p:cNvPr>
          <p:cNvPicPr>
            <a:picLocks noChangeAspect="1"/>
          </p:cNvPicPr>
          <p:nvPr/>
        </p:nvPicPr>
        <p:blipFill>
          <a:blip r:embed="rId12"/>
          <a:stretch>
            <a:fillRect/>
          </a:stretch>
        </p:blipFill>
        <p:spPr>
          <a:xfrm>
            <a:off x="4506917" y="1779304"/>
            <a:ext cx="226652" cy="226652"/>
          </a:xfrm>
          <a:prstGeom prst="rect">
            <a:avLst/>
          </a:prstGeom>
        </p:spPr>
      </p:pic>
      <p:pic>
        <p:nvPicPr>
          <p:cNvPr id="10" name="Picture 9" descr="A screenshot of a black background&#10;&#10;AI-generated content may be incorrect.">
            <a:extLst>
              <a:ext uri="{FF2B5EF4-FFF2-40B4-BE49-F238E27FC236}">
                <a16:creationId xmlns:a16="http://schemas.microsoft.com/office/drawing/2014/main" id="{6FF9D330-740E-A757-3366-E364C536C1C6}"/>
              </a:ext>
            </a:extLst>
          </p:cNvPr>
          <p:cNvPicPr>
            <a:picLocks noChangeAspect="1"/>
          </p:cNvPicPr>
          <p:nvPr/>
        </p:nvPicPr>
        <p:blipFill>
          <a:blip r:embed="rId13"/>
          <a:stretch>
            <a:fillRect/>
          </a:stretch>
        </p:blipFill>
        <p:spPr>
          <a:xfrm>
            <a:off x="5063572" y="1779304"/>
            <a:ext cx="226652" cy="226652"/>
          </a:xfrm>
          <a:prstGeom prst="rect">
            <a:avLst/>
          </a:prstGeom>
        </p:spPr>
      </p:pic>
      <p:pic>
        <p:nvPicPr>
          <p:cNvPr id="20" name="Picture 19" descr="A blue check mark in a shield&#10;&#10;AI-generated content may be incorrect.">
            <a:extLst>
              <a:ext uri="{FF2B5EF4-FFF2-40B4-BE49-F238E27FC236}">
                <a16:creationId xmlns:a16="http://schemas.microsoft.com/office/drawing/2014/main" id="{C3BF754B-B73F-A79F-B4A2-D05F521E852B}"/>
              </a:ext>
            </a:extLst>
          </p:cNvPr>
          <p:cNvPicPr>
            <a:picLocks noChangeAspect="1"/>
          </p:cNvPicPr>
          <p:nvPr/>
        </p:nvPicPr>
        <p:blipFill>
          <a:blip r:embed="rId14"/>
          <a:stretch>
            <a:fillRect/>
          </a:stretch>
        </p:blipFill>
        <p:spPr>
          <a:xfrm>
            <a:off x="5649918" y="1790297"/>
            <a:ext cx="226652" cy="219509"/>
          </a:xfrm>
          <a:prstGeom prst="rect">
            <a:avLst/>
          </a:prstGeom>
        </p:spPr>
      </p:pic>
      <p:sp>
        <p:nvSpPr>
          <p:cNvPr id="37" name="Rounded Rectangle 9">
            <a:extLst>
              <a:ext uri="{FF2B5EF4-FFF2-40B4-BE49-F238E27FC236}">
                <a16:creationId xmlns:a16="http://schemas.microsoft.com/office/drawing/2014/main" id="{7B89D156-5D0D-9D11-CA07-DD75A7B141AC}"/>
              </a:ext>
            </a:extLst>
          </p:cNvPr>
          <p:cNvSpPr/>
          <p:nvPr/>
        </p:nvSpPr>
        <p:spPr>
          <a:xfrm>
            <a:off x="7933972" y="4226678"/>
            <a:ext cx="734843"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Post Deploy Support</a:t>
            </a:r>
            <a:endParaRPr lang="en-US" sz="788">
              <a:solidFill>
                <a:srgbClr val="0A2F46"/>
              </a:solidFill>
              <a:latin typeface="Arial" panose="020B0604020202020204" pitchFamily="34" charset="0"/>
              <a:ea typeface="Verdana" charset="0"/>
              <a:cs typeface="Arial" panose="020B0604020202020204" pitchFamily="34" charset="0"/>
            </a:endParaRPr>
          </a:p>
        </p:txBody>
      </p:sp>
      <p:sp>
        <p:nvSpPr>
          <p:cNvPr id="38" name="Rounded Rectangle 9">
            <a:extLst>
              <a:ext uri="{FF2B5EF4-FFF2-40B4-BE49-F238E27FC236}">
                <a16:creationId xmlns:a16="http://schemas.microsoft.com/office/drawing/2014/main" id="{3E3BA50D-6FDF-80DA-31F1-6C8C8560A447}"/>
              </a:ext>
            </a:extLst>
          </p:cNvPr>
          <p:cNvSpPr/>
          <p:nvPr/>
        </p:nvSpPr>
        <p:spPr>
          <a:xfrm>
            <a:off x="7333454" y="4226678"/>
            <a:ext cx="752461"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SIT / </a:t>
            </a:r>
            <a:br>
              <a:rPr lang="en-US" sz="788">
                <a:solidFill>
                  <a:srgbClr val="0A2F46"/>
                </a:solidFill>
                <a:ea typeface="Verdana"/>
                <a:cs typeface="Arial"/>
              </a:rPr>
            </a:br>
            <a:r>
              <a:rPr lang="en-US" sz="788">
                <a:solidFill>
                  <a:srgbClr val="0A2F46"/>
                </a:solidFill>
                <a:ea typeface="Verdana"/>
                <a:cs typeface="Arial"/>
              </a:rPr>
              <a:t>UAT</a:t>
            </a:r>
          </a:p>
        </p:txBody>
      </p:sp>
      <p:sp>
        <p:nvSpPr>
          <p:cNvPr id="39" name="Rounded Rectangle 11">
            <a:extLst>
              <a:ext uri="{FF2B5EF4-FFF2-40B4-BE49-F238E27FC236}">
                <a16:creationId xmlns:a16="http://schemas.microsoft.com/office/drawing/2014/main" id="{B415BA82-CF36-E569-8FC6-8BE4A55E8A21}"/>
              </a:ext>
            </a:extLst>
          </p:cNvPr>
          <p:cNvSpPr/>
          <p:nvPr/>
        </p:nvSpPr>
        <p:spPr>
          <a:xfrm>
            <a:off x="6799182" y="4226678"/>
            <a:ext cx="714917" cy="393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Prod Data Loaded</a:t>
            </a: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40" name="Straight Arrow Connector 39">
            <a:extLst>
              <a:ext uri="{FF2B5EF4-FFF2-40B4-BE49-F238E27FC236}">
                <a16:creationId xmlns:a16="http://schemas.microsoft.com/office/drawing/2014/main" id="{09650E4B-939E-911C-C6D5-A1E837F4F99E}"/>
              </a:ext>
            </a:extLst>
          </p:cNvPr>
          <p:cNvCxnSpPr>
            <a:cxnSpLocks/>
          </p:cNvCxnSpPr>
          <p:nvPr/>
        </p:nvCxnSpPr>
        <p:spPr>
          <a:xfrm>
            <a:off x="7145396" y="3723264"/>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3EFC6D2E-615C-3D46-F5D0-CA993FF42DE3}"/>
              </a:ext>
            </a:extLst>
          </p:cNvPr>
          <p:cNvCxnSpPr>
            <a:cxnSpLocks/>
          </p:cNvCxnSpPr>
          <p:nvPr/>
        </p:nvCxnSpPr>
        <p:spPr>
          <a:xfrm>
            <a:off x="7702514" y="3723264"/>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9F2A0A9-3C7E-DEE7-86DF-B67FD8DDE78A}"/>
              </a:ext>
            </a:extLst>
          </p:cNvPr>
          <p:cNvCxnSpPr>
            <a:cxnSpLocks/>
          </p:cNvCxnSpPr>
          <p:nvPr/>
        </p:nvCxnSpPr>
        <p:spPr>
          <a:xfrm>
            <a:off x="8287392" y="3723264"/>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pic>
        <p:nvPicPr>
          <p:cNvPr id="48" name="Picture 47" descr="A blue and black cube&#10;&#10;AI-generated content may be incorrect.">
            <a:extLst>
              <a:ext uri="{FF2B5EF4-FFF2-40B4-BE49-F238E27FC236}">
                <a16:creationId xmlns:a16="http://schemas.microsoft.com/office/drawing/2014/main" id="{56F0DF92-A20D-3208-9AF0-DCCC8CB5A664}"/>
              </a:ext>
            </a:extLst>
          </p:cNvPr>
          <p:cNvPicPr>
            <a:picLocks noChangeAspect="1"/>
          </p:cNvPicPr>
          <p:nvPr/>
        </p:nvPicPr>
        <p:blipFill>
          <a:blip r:embed="rId12"/>
          <a:stretch>
            <a:fillRect/>
          </a:stretch>
        </p:blipFill>
        <p:spPr>
          <a:xfrm>
            <a:off x="7045267" y="3955968"/>
            <a:ext cx="234074" cy="234074"/>
          </a:xfrm>
          <a:prstGeom prst="rect">
            <a:avLst/>
          </a:prstGeom>
        </p:spPr>
      </p:pic>
      <p:pic>
        <p:nvPicPr>
          <p:cNvPr id="49" name="Picture 48" descr="A screenshot of a black background&#10;&#10;AI-generated content may be incorrect.">
            <a:extLst>
              <a:ext uri="{FF2B5EF4-FFF2-40B4-BE49-F238E27FC236}">
                <a16:creationId xmlns:a16="http://schemas.microsoft.com/office/drawing/2014/main" id="{E3D0E0CB-DC23-13AF-36C5-B574BA9E73A8}"/>
              </a:ext>
            </a:extLst>
          </p:cNvPr>
          <p:cNvPicPr>
            <a:picLocks noChangeAspect="1"/>
          </p:cNvPicPr>
          <p:nvPr/>
        </p:nvPicPr>
        <p:blipFill>
          <a:blip r:embed="rId13"/>
          <a:stretch>
            <a:fillRect/>
          </a:stretch>
        </p:blipFill>
        <p:spPr>
          <a:xfrm>
            <a:off x="7601923" y="3955968"/>
            <a:ext cx="234074" cy="234074"/>
          </a:xfrm>
          <a:prstGeom prst="rect">
            <a:avLst/>
          </a:prstGeom>
        </p:spPr>
      </p:pic>
      <p:pic>
        <p:nvPicPr>
          <p:cNvPr id="54" name="Picture 53" descr="A blue check mark in a shield&#10;&#10;AI-generated content may be incorrect.">
            <a:extLst>
              <a:ext uri="{FF2B5EF4-FFF2-40B4-BE49-F238E27FC236}">
                <a16:creationId xmlns:a16="http://schemas.microsoft.com/office/drawing/2014/main" id="{BE65D50A-51F8-A7D5-1359-8A52AF00C489}"/>
              </a:ext>
            </a:extLst>
          </p:cNvPr>
          <p:cNvPicPr>
            <a:picLocks noChangeAspect="1"/>
          </p:cNvPicPr>
          <p:nvPr/>
        </p:nvPicPr>
        <p:blipFill>
          <a:blip r:embed="rId14"/>
          <a:stretch>
            <a:fillRect/>
          </a:stretch>
        </p:blipFill>
        <p:spPr>
          <a:xfrm>
            <a:off x="8188268" y="3955967"/>
            <a:ext cx="234074" cy="226931"/>
          </a:xfrm>
          <a:prstGeom prst="rect">
            <a:avLst/>
          </a:prstGeom>
        </p:spPr>
      </p:pic>
      <p:sp>
        <p:nvSpPr>
          <p:cNvPr id="57" name="Rounded Rectangle 7">
            <a:extLst>
              <a:ext uri="{FF2B5EF4-FFF2-40B4-BE49-F238E27FC236}">
                <a16:creationId xmlns:a16="http://schemas.microsoft.com/office/drawing/2014/main" id="{72D94D60-E59E-F8A3-3440-5989B8C14D77}"/>
              </a:ext>
            </a:extLst>
          </p:cNvPr>
          <p:cNvSpPr/>
          <p:nvPr/>
        </p:nvSpPr>
        <p:spPr>
          <a:xfrm>
            <a:off x="4426782" y="4239342"/>
            <a:ext cx="465604" cy="3852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Write User Stories</a:t>
            </a:r>
            <a:endParaRPr lang="en-US" sz="825" err="1">
              <a:solidFill>
                <a:srgbClr val="000000"/>
              </a:solidFill>
              <a:latin typeface="Arial"/>
              <a:ea typeface="Verdana"/>
              <a:cs typeface="Arial"/>
            </a:endParaRPr>
          </a:p>
          <a:p>
            <a:pPr algn="ctr" defTabSz="914310">
              <a:defRPr/>
            </a:pPr>
            <a:endParaRPr lang="en-US" sz="788">
              <a:solidFill>
                <a:srgbClr val="0A2F46"/>
              </a:solidFill>
              <a:latin typeface="Arial"/>
              <a:ea typeface="Verdana" charset="0"/>
              <a:cs typeface="Arial"/>
            </a:endParaRPr>
          </a:p>
        </p:txBody>
      </p:sp>
      <p:sp>
        <p:nvSpPr>
          <p:cNvPr id="59" name="Rounded Rectangle 8">
            <a:extLst>
              <a:ext uri="{FF2B5EF4-FFF2-40B4-BE49-F238E27FC236}">
                <a16:creationId xmlns:a16="http://schemas.microsoft.com/office/drawing/2014/main" id="{C1BFF956-CCB2-5ECC-E829-BEDBA979632C}"/>
              </a:ext>
            </a:extLst>
          </p:cNvPr>
          <p:cNvSpPr/>
          <p:nvPr/>
        </p:nvSpPr>
        <p:spPr>
          <a:xfrm>
            <a:off x="4927598" y="4239342"/>
            <a:ext cx="465605" cy="387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Confirm Design &amp; Plan</a:t>
            </a:r>
            <a:endParaRPr lang="en-US" sz="825">
              <a:solidFill>
                <a:srgbClr val="000000"/>
              </a:solidFill>
              <a:latin typeface="Arial"/>
              <a:ea typeface="Verdana"/>
              <a:cs typeface="Arial"/>
            </a:endParaRPr>
          </a:p>
          <a:p>
            <a:pPr algn="ctr" defTabSz="914310">
              <a:defRPr/>
            </a:pP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71" name="Straight Arrow Connector 70">
            <a:extLst>
              <a:ext uri="{FF2B5EF4-FFF2-40B4-BE49-F238E27FC236}">
                <a16:creationId xmlns:a16="http://schemas.microsoft.com/office/drawing/2014/main" id="{88613B00-A6EE-E0DD-0E83-6AF663F3CC87}"/>
              </a:ext>
            </a:extLst>
          </p:cNvPr>
          <p:cNvCxnSpPr>
            <a:cxnSpLocks/>
          </p:cNvCxnSpPr>
          <p:nvPr/>
        </p:nvCxnSpPr>
        <p:spPr>
          <a:xfrm>
            <a:off x="4613493"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88423FC4-D568-5BA2-A92F-AE38093EA97E}"/>
              </a:ext>
            </a:extLst>
          </p:cNvPr>
          <p:cNvCxnSpPr>
            <a:cxnSpLocks/>
          </p:cNvCxnSpPr>
          <p:nvPr/>
        </p:nvCxnSpPr>
        <p:spPr>
          <a:xfrm>
            <a:off x="5153900"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sp>
        <p:nvSpPr>
          <p:cNvPr id="76" name="Rounded Rectangle 7">
            <a:extLst>
              <a:ext uri="{FF2B5EF4-FFF2-40B4-BE49-F238E27FC236}">
                <a16:creationId xmlns:a16="http://schemas.microsoft.com/office/drawing/2014/main" id="{0A6E1057-E603-19AE-4D07-F0C952DA7F86}"/>
              </a:ext>
            </a:extLst>
          </p:cNvPr>
          <p:cNvSpPr/>
          <p:nvPr/>
        </p:nvSpPr>
        <p:spPr>
          <a:xfrm>
            <a:off x="5673690" y="4224497"/>
            <a:ext cx="465604" cy="3852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Execute Sprints</a:t>
            </a:r>
            <a:endParaRPr lang="en-US" sz="1013"/>
          </a:p>
        </p:txBody>
      </p:sp>
      <p:sp>
        <p:nvSpPr>
          <p:cNvPr id="78" name="Rounded Rectangle 8">
            <a:extLst>
              <a:ext uri="{FF2B5EF4-FFF2-40B4-BE49-F238E27FC236}">
                <a16:creationId xmlns:a16="http://schemas.microsoft.com/office/drawing/2014/main" id="{E96E08FF-7389-0B56-3B6D-930E1A6E3695}"/>
              </a:ext>
            </a:extLst>
          </p:cNvPr>
          <p:cNvSpPr/>
          <p:nvPr/>
        </p:nvSpPr>
        <p:spPr>
          <a:xfrm>
            <a:off x="6181929" y="4224497"/>
            <a:ext cx="465605" cy="387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Prep for Testing</a:t>
            </a:r>
            <a:endParaRPr lang="en-US" sz="825">
              <a:solidFill>
                <a:srgbClr val="000000"/>
              </a:solidFill>
              <a:latin typeface="Arial"/>
              <a:ea typeface="Verdana" charset="0"/>
              <a:cs typeface="Arial"/>
            </a:endParaRPr>
          </a:p>
          <a:p>
            <a:pPr algn="ctr" defTabSz="914310">
              <a:defRPr/>
            </a:pP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82" name="Straight Arrow Connector 81">
            <a:extLst>
              <a:ext uri="{FF2B5EF4-FFF2-40B4-BE49-F238E27FC236}">
                <a16:creationId xmlns:a16="http://schemas.microsoft.com/office/drawing/2014/main" id="{E981BC22-AAE1-4E98-6F76-22B3AA9E9CC3}"/>
              </a:ext>
            </a:extLst>
          </p:cNvPr>
          <p:cNvCxnSpPr>
            <a:cxnSpLocks/>
          </p:cNvCxnSpPr>
          <p:nvPr/>
        </p:nvCxnSpPr>
        <p:spPr>
          <a:xfrm>
            <a:off x="5882668"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CB955ABC-6C94-B722-9F23-87D2E36CEBFC}"/>
              </a:ext>
            </a:extLst>
          </p:cNvPr>
          <p:cNvCxnSpPr>
            <a:cxnSpLocks/>
          </p:cNvCxnSpPr>
          <p:nvPr/>
        </p:nvCxnSpPr>
        <p:spPr>
          <a:xfrm>
            <a:off x="6423074"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pic>
        <p:nvPicPr>
          <p:cNvPr id="85" name="Picture 84" descr="A blue line drawing of a chat&#10;&#10;AI-generated content may be incorrect.">
            <a:extLst>
              <a:ext uri="{FF2B5EF4-FFF2-40B4-BE49-F238E27FC236}">
                <a16:creationId xmlns:a16="http://schemas.microsoft.com/office/drawing/2014/main" id="{6108C3FE-E1FE-D27F-E0F1-136E15F4ACBC}"/>
              </a:ext>
            </a:extLst>
          </p:cNvPr>
          <p:cNvPicPr>
            <a:picLocks noChangeAspect="1"/>
          </p:cNvPicPr>
          <p:nvPr/>
        </p:nvPicPr>
        <p:blipFill>
          <a:blip r:embed="rId15"/>
          <a:stretch>
            <a:fillRect/>
          </a:stretch>
        </p:blipFill>
        <p:spPr>
          <a:xfrm>
            <a:off x="4514340" y="3955967"/>
            <a:ext cx="234074" cy="226931"/>
          </a:xfrm>
          <a:prstGeom prst="rect">
            <a:avLst/>
          </a:prstGeom>
        </p:spPr>
      </p:pic>
      <p:pic>
        <p:nvPicPr>
          <p:cNvPr id="86" name="Picture 85" descr="A blue line drawing of a document with a check mark&#10;&#10;AI-generated content may be incorrect.">
            <a:extLst>
              <a:ext uri="{FF2B5EF4-FFF2-40B4-BE49-F238E27FC236}">
                <a16:creationId xmlns:a16="http://schemas.microsoft.com/office/drawing/2014/main" id="{D6D2281C-5612-BBE7-0077-461C16C5BDF2}"/>
              </a:ext>
            </a:extLst>
          </p:cNvPr>
          <p:cNvPicPr>
            <a:picLocks noChangeAspect="1"/>
          </p:cNvPicPr>
          <p:nvPr/>
        </p:nvPicPr>
        <p:blipFill>
          <a:blip r:embed="rId16"/>
          <a:stretch>
            <a:fillRect/>
          </a:stretch>
        </p:blipFill>
        <p:spPr>
          <a:xfrm>
            <a:off x="5044879" y="3955968"/>
            <a:ext cx="234353" cy="234074"/>
          </a:xfrm>
          <a:prstGeom prst="rect">
            <a:avLst/>
          </a:prstGeom>
        </p:spPr>
      </p:pic>
      <p:pic>
        <p:nvPicPr>
          <p:cNvPr id="87" name="Picture 86" descr="A blue symbol with circles and a arrow&#10;&#10;AI-generated content may be incorrect.">
            <a:extLst>
              <a:ext uri="{FF2B5EF4-FFF2-40B4-BE49-F238E27FC236}">
                <a16:creationId xmlns:a16="http://schemas.microsoft.com/office/drawing/2014/main" id="{C07F2288-1678-400A-B68A-1C6A854EAA99}"/>
              </a:ext>
            </a:extLst>
          </p:cNvPr>
          <p:cNvPicPr>
            <a:picLocks noChangeAspect="1"/>
          </p:cNvPicPr>
          <p:nvPr/>
        </p:nvPicPr>
        <p:blipFill>
          <a:blip r:embed="rId17"/>
          <a:stretch>
            <a:fillRect/>
          </a:stretch>
        </p:blipFill>
        <p:spPr>
          <a:xfrm>
            <a:off x="5790937" y="3955967"/>
            <a:ext cx="234074" cy="226931"/>
          </a:xfrm>
          <a:prstGeom prst="rect">
            <a:avLst/>
          </a:prstGeom>
        </p:spPr>
      </p:pic>
      <p:pic>
        <p:nvPicPr>
          <p:cNvPr id="90" name="Picture 89" descr="A blue check marks in a box&#10;&#10;AI-generated content may be incorrect.">
            <a:extLst>
              <a:ext uri="{FF2B5EF4-FFF2-40B4-BE49-F238E27FC236}">
                <a16:creationId xmlns:a16="http://schemas.microsoft.com/office/drawing/2014/main" id="{0B92F5D0-7F16-C1F8-CB6A-38A7392D1151}"/>
              </a:ext>
            </a:extLst>
          </p:cNvPr>
          <p:cNvPicPr>
            <a:picLocks noChangeAspect="1"/>
          </p:cNvPicPr>
          <p:nvPr/>
        </p:nvPicPr>
        <p:blipFill>
          <a:blip r:embed="rId18"/>
          <a:stretch>
            <a:fillRect/>
          </a:stretch>
        </p:blipFill>
        <p:spPr>
          <a:xfrm>
            <a:off x="6310483" y="3955968"/>
            <a:ext cx="234074" cy="234074"/>
          </a:xfrm>
          <a:prstGeom prst="rect">
            <a:avLst/>
          </a:prstGeom>
        </p:spPr>
      </p:pic>
      <p:sp>
        <p:nvSpPr>
          <p:cNvPr id="96" name="TextBox 95">
            <a:extLst>
              <a:ext uri="{FF2B5EF4-FFF2-40B4-BE49-F238E27FC236}">
                <a16:creationId xmlns:a16="http://schemas.microsoft.com/office/drawing/2014/main" id="{433D638D-35B8-DC76-9D51-F4E04542098D}"/>
              </a:ext>
            </a:extLst>
          </p:cNvPr>
          <p:cNvSpPr txBox="1"/>
          <p:nvPr/>
        </p:nvSpPr>
        <p:spPr>
          <a:xfrm>
            <a:off x="3653311" y="2067597"/>
            <a:ext cx="627199" cy="299524"/>
          </a:xfrm>
          <a:prstGeom prst="rect">
            <a:avLst/>
          </a:prstGeom>
          <a:solidFill>
            <a:schemeClr val="bg2"/>
          </a:solidFill>
        </p:spPr>
        <p:txBody>
          <a:bodyPr wrap="square" lIns="0" tIns="0" rIns="0" bIns="0" rtlCol="0" anchor="ct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788">
                <a:solidFill>
                  <a:srgbClr val="5C59C6"/>
                </a:solidFill>
                <a:latin typeface="Arial"/>
                <a:cs typeface="Arial"/>
              </a:rPr>
              <a:t>No</a:t>
            </a:r>
            <a:br>
              <a:rPr lang="en-US" sz="788">
                <a:solidFill>
                  <a:srgbClr val="5C59C6"/>
                </a:solidFill>
                <a:latin typeface="Arial"/>
                <a:cs typeface="Arial"/>
              </a:rPr>
            </a:br>
            <a:r>
              <a:rPr lang="en-US" sz="788">
                <a:solidFill>
                  <a:srgbClr val="5C59C6"/>
                </a:solidFill>
                <a:latin typeface="Arial"/>
                <a:cs typeface="Arial"/>
              </a:rPr>
              <a:t>Extensions</a:t>
            </a:r>
          </a:p>
        </p:txBody>
      </p:sp>
      <p:sp>
        <p:nvSpPr>
          <p:cNvPr id="103" name="TextBox 102">
            <a:extLst>
              <a:ext uri="{FF2B5EF4-FFF2-40B4-BE49-F238E27FC236}">
                <a16:creationId xmlns:a16="http://schemas.microsoft.com/office/drawing/2014/main" id="{199936AC-D2C9-1D6A-3BDF-0F6680CC66D1}"/>
              </a:ext>
            </a:extLst>
          </p:cNvPr>
          <p:cNvSpPr txBox="1"/>
          <p:nvPr/>
        </p:nvSpPr>
        <p:spPr>
          <a:xfrm>
            <a:off x="3662858" y="2888777"/>
            <a:ext cx="627059" cy="299524"/>
          </a:xfrm>
          <a:prstGeom prst="rect">
            <a:avLst/>
          </a:prstGeom>
          <a:solidFill>
            <a:schemeClr val="bg2"/>
          </a:solidFill>
        </p:spPr>
        <p:txBody>
          <a:bodyPr wrap="square" lIns="0" tIns="0" rIns="0" bIns="0" rtlCol="0" anchor="ct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buClrTx/>
            </a:pPr>
            <a:r>
              <a:rPr lang="en-US" sz="788">
                <a:solidFill>
                  <a:srgbClr val="5C59C6"/>
                </a:solidFill>
                <a:latin typeface="Arial"/>
                <a:ea typeface="Inter Light" panose="02000503000000020004" pitchFamily="2" charset="0"/>
                <a:cs typeface="Arial"/>
              </a:rPr>
              <a:t>Extensions Identified</a:t>
            </a:r>
          </a:p>
        </p:txBody>
      </p:sp>
      <p:sp>
        <p:nvSpPr>
          <p:cNvPr id="27" name="Star: 5 Points 26">
            <a:extLst>
              <a:ext uri="{FF2B5EF4-FFF2-40B4-BE49-F238E27FC236}">
                <a16:creationId xmlns:a16="http://schemas.microsoft.com/office/drawing/2014/main" id="{75047FA3-E191-1C76-3722-FC7C7357C333}"/>
              </a:ext>
            </a:extLst>
          </p:cNvPr>
          <p:cNvSpPr/>
          <p:nvPr/>
        </p:nvSpPr>
        <p:spPr>
          <a:xfrm rot="1500000">
            <a:off x="8229939" y="3074415"/>
            <a:ext cx="109453" cy="102269"/>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pic>
        <p:nvPicPr>
          <p:cNvPr id="107" name="Seismic-Barcode" descr="20000S4JW" title="Seismic-Barcode"/>
          <p:cNvPicPr>
            <a:picLocks noChangeAspect="1"/>
          </p:cNvPicPr>
          <p:nvPr/>
        </p:nvPicPr>
        <p:blipFill>
          <a:blip r:embed="rId19"/>
          <a:stretch>
            <a:fillRect/>
          </a:stretch>
        </p:blipFill>
        <p:spPr>
          <a:xfrm>
            <a:off x="0" y="5100637"/>
            <a:ext cx="9144000" cy="42863"/>
          </a:xfrm>
          <a:prstGeom prst="rect">
            <a:avLst/>
          </a:prstGeom>
        </p:spPr>
      </p:pic>
      <p:sp>
        <p:nvSpPr>
          <p:cNvPr id="19" name="Rectangle 18">
            <a:extLst>
              <a:ext uri="{FF2B5EF4-FFF2-40B4-BE49-F238E27FC236}">
                <a16:creationId xmlns:a16="http://schemas.microsoft.com/office/drawing/2014/main" id="{D8681A85-03C6-8B49-0B2A-20A181BEA12C}"/>
              </a:ext>
            </a:extLst>
          </p:cNvPr>
          <p:cNvSpPr/>
          <p:nvPr/>
        </p:nvSpPr>
        <p:spPr>
          <a:xfrm>
            <a:off x="1996646" y="2974466"/>
            <a:ext cx="759001" cy="546150"/>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58646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7F78-0F81-C635-AAD2-A53E89299F7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437ACA7-E958-669A-4369-8A3DA49E9BA2}"/>
              </a:ext>
            </a:extLst>
          </p:cNvPr>
          <p:cNvSpPr/>
          <p:nvPr/>
        </p:nvSpPr>
        <p:spPr>
          <a:xfrm>
            <a:off x="586052" y="1010005"/>
            <a:ext cx="1263720" cy="4149617"/>
          </a:xfrm>
          <a:prstGeom prst="rect">
            <a:avLst/>
          </a:prstGeom>
          <a:gradFill flip="none" rotWithShape="1">
            <a:gsLst>
              <a:gs pos="0">
                <a:schemeClr val="tx2">
                  <a:tint val="66000"/>
                  <a:satMod val="160000"/>
                </a:schemeClr>
              </a:gs>
              <a:gs pos="0">
                <a:schemeClr val="tx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a:buChar char="•"/>
            </a:pPr>
            <a:endParaRPr lang="en-US" sz="750">
              <a:solidFill>
                <a:srgbClr val="0A2F46"/>
              </a:solidFill>
              <a:ea typeface="+mn-lt"/>
              <a:cs typeface="+mn-lt"/>
            </a:endParaRPr>
          </a:p>
          <a:p>
            <a:pPr marL="85725" indent="-85725">
              <a:buFont typeface="Arial"/>
              <a:buChar char="•"/>
            </a:pPr>
            <a:r>
              <a:rPr lang="en-US" sz="750">
                <a:solidFill>
                  <a:srgbClr val="0A2F46"/>
                </a:solidFill>
                <a:ea typeface="+mn-lt"/>
                <a:cs typeface="+mn-lt"/>
              </a:rPr>
              <a:t>Discovery Workshop </a:t>
            </a:r>
          </a:p>
          <a:p>
            <a:pPr marL="85725" indent="-85725">
              <a:buFont typeface="Arial"/>
              <a:buChar char="•"/>
            </a:pPr>
            <a:r>
              <a:rPr lang="en-US" sz="750">
                <a:solidFill>
                  <a:srgbClr val="0A2F46"/>
                </a:solidFill>
                <a:ea typeface="+mn-lt"/>
                <a:cs typeface="+mn-lt"/>
              </a:rPr>
              <a:t>Project Success Criteria</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Planning Metrics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Business Processes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Functional Scope </a:t>
            </a:r>
          </a:p>
          <a:p>
            <a:pPr marL="85725" indent="-85725">
              <a:buFont typeface="Arial"/>
              <a:buChar char="•"/>
            </a:pPr>
            <a:r>
              <a:rPr lang="en-US" sz="750">
                <a:solidFill>
                  <a:srgbClr val="0A2F46"/>
                </a:solidFill>
                <a:ea typeface="+mn-lt"/>
                <a:cs typeface="+mn-lt"/>
              </a:rPr>
              <a:t>Application Mapping (Business Need vs Application Coverage)</a:t>
            </a:r>
          </a:p>
          <a:p>
            <a:pPr marL="85725" indent="-85725">
              <a:buFont typeface="Arial"/>
              <a:buChar char="•"/>
            </a:pPr>
            <a:r>
              <a:rPr lang="en-US" sz="750">
                <a:solidFill>
                  <a:srgbClr val="0A2F46"/>
                </a:solidFill>
                <a:ea typeface="+mn-lt"/>
                <a:cs typeface="+mn-lt"/>
              </a:rPr>
              <a:t>Data Readiness &amp; Template Review </a:t>
            </a:r>
            <a:endParaRPr lang="en-US" sz="750">
              <a:solidFill>
                <a:srgbClr val="0A2F46"/>
              </a:solidFill>
              <a:cs typeface="Arial"/>
            </a:endParaRPr>
          </a:p>
          <a:p>
            <a:pPr marL="85725" indent="-85725">
              <a:buFont typeface="Arial"/>
              <a:buChar char="•"/>
            </a:pPr>
            <a:r>
              <a:rPr lang="en-US" sz="750">
                <a:solidFill>
                  <a:srgbClr val="0A2F46"/>
                </a:solidFill>
                <a:ea typeface="+mn-lt"/>
                <a:cs typeface="+mn-lt"/>
              </a:rPr>
              <a:t>Training of Key Users</a:t>
            </a: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128588" indent="-128588">
              <a:buFont typeface="Wingdings"/>
              <a:buChar char="ü"/>
            </a:pPr>
            <a:r>
              <a:rPr lang="en-US" sz="750">
                <a:solidFill>
                  <a:srgbClr val="0A2F46"/>
                </a:solidFill>
                <a:ea typeface="+mn-lt"/>
                <a:cs typeface="+mn-lt"/>
              </a:rPr>
              <a:t>Signed SOW</a:t>
            </a:r>
          </a:p>
          <a:p>
            <a:pPr marL="128588" indent="-128588">
              <a:buFont typeface="Wingdings"/>
              <a:buChar char="ü"/>
            </a:pPr>
            <a:r>
              <a:rPr lang="en-US" sz="750">
                <a:solidFill>
                  <a:srgbClr val="0A2F46"/>
                </a:solidFill>
                <a:ea typeface="+mn-lt"/>
                <a:cs typeface="+mn-lt"/>
              </a:rPr>
              <a:t>Sales to Delivery Handoff</a:t>
            </a:r>
          </a:p>
          <a:p>
            <a:pPr marL="128588" indent="-128588">
              <a:buFont typeface="Wingdings"/>
              <a:buChar char="ü"/>
            </a:pPr>
            <a:r>
              <a:rPr lang="en-US" sz="750">
                <a:solidFill>
                  <a:srgbClr val="0A2F46"/>
                </a:solidFill>
                <a:ea typeface="+mn-lt"/>
                <a:cs typeface="+mn-lt"/>
              </a:rPr>
              <a:t>Sales Assets</a:t>
            </a:r>
          </a:p>
          <a:p>
            <a:pPr marL="128588" indent="-128588">
              <a:buFont typeface="Wingdings"/>
              <a:buChar char="ü"/>
            </a:pPr>
            <a:endParaRPr lang="en-US" sz="750">
              <a:solidFill>
                <a:srgbClr val="0A2F46"/>
              </a:solidFill>
              <a:cs typeface="Arial" panose="020B0604020202020204"/>
            </a:endParaRPr>
          </a:p>
        </p:txBody>
      </p:sp>
      <p:sp>
        <p:nvSpPr>
          <p:cNvPr id="34" name="Rectangle 33">
            <a:extLst>
              <a:ext uri="{FF2B5EF4-FFF2-40B4-BE49-F238E27FC236}">
                <a16:creationId xmlns:a16="http://schemas.microsoft.com/office/drawing/2014/main" id="{A9907059-25A5-EC64-C613-43FB6F919DB7}"/>
              </a:ext>
            </a:extLst>
          </p:cNvPr>
          <p:cNvSpPr/>
          <p:nvPr/>
        </p:nvSpPr>
        <p:spPr>
          <a:xfrm>
            <a:off x="1896400" y="993884"/>
            <a:ext cx="1263720" cy="4149617"/>
          </a:xfrm>
          <a:prstGeom prst="rect">
            <a:avLst/>
          </a:prstGeom>
          <a:gradFill flip="none" rotWithShape="1">
            <a:gsLst>
              <a:gs pos="0">
                <a:schemeClr val="tx2">
                  <a:tint val="66000"/>
                  <a:satMod val="160000"/>
                </a:schemeClr>
              </a:gs>
              <a:gs pos="0">
                <a:schemeClr val="accent3">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cs typeface="Arial" panose="020B0604020202020204"/>
              </a:rPr>
              <a:t>Data</a:t>
            </a:r>
          </a:p>
          <a:p>
            <a:pPr marL="85725" indent="-85725">
              <a:buFont typeface="Arial"/>
              <a:buChar char="•"/>
            </a:pPr>
            <a:r>
              <a:rPr lang="en-US" sz="750">
                <a:solidFill>
                  <a:srgbClr val="0A2F46"/>
                </a:solidFill>
                <a:ea typeface="+mn-lt"/>
                <a:cs typeface="+mn-lt"/>
              </a:rPr>
              <a:t>Analyze Customer Data </a:t>
            </a:r>
          </a:p>
          <a:p>
            <a:pPr marL="85725" indent="-85725">
              <a:buFont typeface="Arial"/>
              <a:buChar char="•"/>
            </a:pPr>
            <a:r>
              <a:rPr lang="en-US" sz="750">
                <a:solidFill>
                  <a:srgbClr val="0A2F46"/>
                </a:solidFill>
                <a:ea typeface="+mn-lt"/>
                <a:cs typeface="+mn-lt"/>
              </a:rPr>
              <a:t>Data Strategy and Mapping</a:t>
            </a:r>
          </a:p>
          <a:p>
            <a:endParaRPr lang="en-US" sz="750" b="1">
              <a:solidFill>
                <a:srgbClr val="0A2F46"/>
              </a:solidFill>
              <a:cs typeface="Arial" panose="020B0604020202020204"/>
            </a:endParaRPr>
          </a:p>
          <a:p>
            <a:r>
              <a:rPr lang="en-US" sz="750" b="1">
                <a:solidFill>
                  <a:srgbClr val="0A2F46"/>
                </a:solidFill>
                <a:cs typeface="Arial" panose="020B0604020202020204"/>
              </a:rPr>
              <a:t>Application Config &amp; Design</a:t>
            </a:r>
            <a:endParaRPr lang="en-US" sz="750">
              <a:solidFill>
                <a:srgbClr val="0A2F46"/>
              </a:solidFill>
              <a:cs typeface="Arial" panose="020B0604020202020204"/>
            </a:endParaRPr>
          </a:p>
          <a:p>
            <a:pPr marL="85725" indent="-85725">
              <a:buFont typeface="Arial,Sans-Serif"/>
              <a:buChar char="•"/>
            </a:pPr>
            <a:r>
              <a:rPr lang="en-US" sz="750">
                <a:solidFill>
                  <a:srgbClr val="0A2F46"/>
                </a:solidFill>
                <a:cs typeface="Arial" panose="020B0604020202020204"/>
              </a:rPr>
              <a:t>Configure Application </a:t>
            </a:r>
          </a:p>
          <a:p>
            <a:pPr marL="85725" indent="-85725">
              <a:buFont typeface="Arial,Sans-Serif"/>
              <a:buChar char="•"/>
            </a:pPr>
            <a:r>
              <a:rPr lang="en-US" sz="750">
                <a:solidFill>
                  <a:srgbClr val="0A2F46"/>
                </a:solidFill>
                <a:cs typeface="Arial" panose="020B0604020202020204"/>
              </a:rPr>
              <a:t>Review Data / Planning Granularity </a:t>
            </a:r>
          </a:p>
          <a:p>
            <a:pPr marL="85725" indent="-85725">
              <a:buFont typeface="Arial,Sans-Serif"/>
              <a:buChar char="•"/>
            </a:pPr>
            <a:r>
              <a:rPr lang="en-US" sz="750">
                <a:solidFill>
                  <a:srgbClr val="0A2F46"/>
                </a:solidFill>
                <a:cs typeface="Arial" panose="020B0604020202020204"/>
              </a:rPr>
              <a:t>Upload Customer Data into Application  </a:t>
            </a:r>
            <a:endParaRPr lang="en-US" sz="1013"/>
          </a:p>
          <a:p>
            <a:pPr marL="85725" indent="-85725">
              <a:buFont typeface="Arial,Sans-Serif"/>
              <a:buChar char="•"/>
            </a:pPr>
            <a:r>
              <a:rPr lang="en-US" sz="750">
                <a:solidFill>
                  <a:srgbClr val="0A2F46"/>
                </a:solidFill>
                <a:cs typeface="Arial" panose="020B0604020202020204"/>
              </a:rPr>
              <a:t>List and Hierarchy Validation</a:t>
            </a:r>
          </a:p>
          <a:p>
            <a:pPr marL="85725" indent="-85725">
              <a:buFont typeface="Arial"/>
              <a:buChar char="•"/>
            </a:pPr>
            <a:r>
              <a:rPr lang="en-US" sz="750">
                <a:solidFill>
                  <a:srgbClr val="0A2F46"/>
                </a:solidFill>
                <a:cs typeface="Arial" panose="020B0604020202020204"/>
              </a:rPr>
              <a:t>Conduct App-Led Design Workshops (Interactive Walk-through Session of the Base Application)</a:t>
            </a:r>
            <a:endParaRPr lang="en-US" sz="1013">
              <a:solidFill>
                <a:srgbClr val="0A2F46"/>
              </a:solidFill>
              <a:cs typeface="Arial"/>
            </a:endParaRPr>
          </a:p>
          <a:p>
            <a:pPr marL="85725" indent="-85725">
              <a:buFont typeface="Arial"/>
              <a:buChar char="•"/>
            </a:pPr>
            <a:r>
              <a:rPr lang="en-US" sz="750">
                <a:solidFill>
                  <a:srgbClr val="0A2F46"/>
                </a:solidFill>
                <a:cs typeface="Arial" panose="020B0604020202020204"/>
              </a:rPr>
              <a:t>Manage Security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Document High-Level Extension Possibilities</a:t>
            </a:r>
          </a:p>
          <a:p>
            <a:pPr marL="85725" indent="-85725">
              <a:buFont typeface="Arial"/>
              <a:buChar char="•"/>
            </a:pPr>
            <a:endParaRPr lang="en-US" sz="750">
              <a:solidFill>
                <a:srgbClr val="0A2F46"/>
              </a:solidFill>
              <a:cs typeface="Arial" panose="020B0604020202020204"/>
            </a:endParaRPr>
          </a:p>
          <a:p>
            <a:pPr marL="85725" indent="-85725">
              <a:buFont typeface="Arial"/>
              <a:buChar char="•"/>
            </a:pPr>
            <a:endParaRPr lang="en-US" sz="750">
              <a:solidFill>
                <a:srgbClr val="0A2F46"/>
              </a:solidFill>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Validation</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Configurations Close Checklist Completed</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 Phase Project Plan Signed Off</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pP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7" name="Rectangle 36">
            <a:extLst>
              <a:ext uri="{FF2B5EF4-FFF2-40B4-BE49-F238E27FC236}">
                <a16:creationId xmlns:a16="http://schemas.microsoft.com/office/drawing/2014/main" id="{B998445D-55E1-6EF3-E276-186C0E7111FA}"/>
              </a:ext>
            </a:extLst>
          </p:cNvPr>
          <p:cNvSpPr/>
          <p:nvPr/>
        </p:nvSpPr>
        <p:spPr>
          <a:xfrm>
            <a:off x="3194127"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ea"/>
                <a:cs typeface="Arial" panose="020B0604020202020204"/>
              </a:rPr>
              <a:t>Application </a:t>
            </a:r>
            <a:r>
              <a:rPr lang="en-US" sz="750" b="1">
                <a:solidFill>
                  <a:srgbClr val="0A2F46"/>
                </a:solidFill>
                <a:latin typeface="Arial" panose="020B0604020202020204"/>
                <a:cs typeface="Arial" panose="020B0604020202020204"/>
              </a:rPr>
              <a:t>Ready</a:t>
            </a:r>
            <a:r>
              <a:rPr kumimoji="0" lang="en-US" sz="750" b="1" i="0" u="none" strike="noStrike" kern="1200" cap="none" spc="0" normalizeH="0" baseline="0" noProof="0">
                <a:ln>
                  <a:noFill/>
                </a:ln>
                <a:solidFill>
                  <a:srgbClr val="0A2F46"/>
                </a:solidFill>
                <a:effectLst/>
                <a:uLnTx/>
                <a:uFillTx/>
                <a:latin typeface="Arial" panose="020B0604020202020204"/>
                <a:ea typeface="+mn-ea"/>
                <a:cs typeface="Arial" panose="020B0604020202020204"/>
              </a:rPr>
              <a:t> for </a:t>
            </a:r>
            <a:r>
              <a:rPr lang="en-US" sz="750" b="1">
                <a:solidFill>
                  <a:srgbClr val="0A2F46"/>
                </a:solidFill>
                <a:latin typeface="Arial" panose="020B0604020202020204"/>
                <a:cs typeface="Arial" panose="020B0604020202020204"/>
              </a:rPr>
              <a:t>Production</a:t>
            </a:r>
            <a:endParaRPr lang="en-US" sz="750" b="1"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indent="-85725">
              <a:buFont typeface="Arial"/>
              <a:buChar char="•"/>
              <a:defRPr/>
            </a:pPr>
            <a:r>
              <a:rPr lang="en-US" sz="750">
                <a:solidFill>
                  <a:srgbClr val="0A2F46"/>
                </a:solidFill>
                <a:latin typeface="Arial" panose="020B0604020202020204"/>
                <a:cs typeface="Arial" panose="020B0604020202020204"/>
              </a:rPr>
              <a:t>Finalized Application</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 </a:t>
            </a:r>
            <a:r>
              <a:rPr lang="en-US" sz="750">
                <a:solidFill>
                  <a:srgbClr val="0A2F46"/>
                </a:solidFill>
                <a:latin typeface="Arial" panose="020B0604020202020204"/>
                <a:cs typeface="Arial" panose="020B0604020202020204"/>
              </a:rPr>
              <a:t>Walkthrough</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a:t>
            </a:r>
            <a:r>
              <a:rPr lang="en-US" sz="750">
                <a:solidFill>
                  <a:srgbClr val="0A2F46"/>
                </a:solidFill>
                <a:latin typeface="Arial" panose="020B0604020202020204"/>
                <a:cs typeface="Arial" panose="020B0604020202020204"/>
              </a:rPr>
              <a:t>Validation</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indent="-85725">
              <a:buFont typeface="Arial"/>
              <a:buChar char="•"/>
              <a:defRPr/>
            </a:pPr>
            <a:r>
              <a:rPr lang="en-US" sz="750">
                <a:solidFill>
                  <a:srgbClr val="0A2F46"/>
                </a:solidFill>
                <a:latin typeface="Arial" panose="020B0604020202020204"/>
                <a:cs typeface="Arial" panose="020B0604020202020204"/>
              </a:rPr>
              <a:t>Systems Integration Testing (SIT)</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User Acceptance Testing (UAT)</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Preparation for </a:t>
            </a:r>
            <a:r>
              <a:rPr lang="en-US" sz="750">
                <a:solidFill>
                  <a:srgbClr val="0A2F46"/>
                </a:solidFill>
                <a:latin typeface="Arial" panose="020B0604020202020204"/>
                <a:cs typeface="Arial" panose="020B0604020202020204"/>
              </a:rPr>
              <a:t>go-Live</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Production Data Loaded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Base </a:t>
            </a:r>
            <a:r>
              <a:rPr lang="en-US" sz="750">
                <a:solidFill>
                  <a:srgbClr val="0A2F46"/>
                </a:solidFill>
                <a:latin typeface="Arial" panose="020B0604020202020204"/>
                <a:ea typeface="+mn-lt"/>
                <a:cs typeface="Arial" panose="020B0604020202020204"/>
              </a:rPr>
              <a:t>Application</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UAT Signed Off </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Application Deployed to Production</a:t>
            </a: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Base </a:t>
            </a:r>
            <a:r>
              <a:rPr lang="en-US" sz="750">
                <a:solidFill>
                  <a:srgbClr val="0A2F46"/>
                </a:solidFill>
                <a:latin typeface="Arial" panose="020B0604020202020204"/>
                <a:ea typeface="+mn-lt"/>
                <a:cs typeface="Arial" panose="020B0604020202020204"/>
              </a:rPr>
              <a:t>Application</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Go-Live</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AFBDA0F0-5C22-7CDC-924C-D9F0EBE85982}"/>
              </a:ext>
            </a:extLst>
          </p:cNvPr>
          <p:cNvSpPr/>
          <p:nvPr/>
        </p:nvSpPr>
        <p:spPr>
          <a:xfrm>
            <a:off x="4491854"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ea typeface="+mn-lt"/>
                <a:cs typeface="+mn-lt"/>
              </a:rPr>
              <a:t>Prepping for Extensions</a:t>
            </a:r>
          </a:p>
          <a:p>
            <a:pPr marL="85725" indent="-85725">
              <a:buFont typeface="Arial"/>
              <a:buChar char="•"/>
            </a:pPr>
            <a:r>
              <a:rPr lang="en-US" sz="750">
                <a:solidFill>
                  <a:srgbClr val="0A2F46"/>
                </a:solidFill>
                <a:ea typeface="+mn-lt"/>
                <a:cs typeface="+mn-lt"/>
              </a:rPr>
              <a:t>Extension Design Kick-off</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Detailed Review of Business Needs from App-Led Design Workshops </a:t>
            </a:r>
          </a:p>
          <a:p>
            <a:pPr marL="85725" indent="-85725">
              <a:buFont typeface="Arial"/>
              <a:buChar char="•"/>
            </a:pPr>
            <a:r>
              <a:rPr lang="en-US" sz="750">
                <a:solidFill>
                  <a:srgbClr val="0A2F46"/>
                </a:solidFill>
                <a:ea typeface="+mn-lt"/>
                <a:cs typeface="+mn-lt"/>
              </a:rPr>
              <a:t>Create User Stories</a:t>
            </a:r>
          </a:p>
          <a:p>
            <a:pPr marL="85725" indent="-85725">
              <a:buFont typeface="Arial"/>
              <a:buChar char="•"/>
            </a:pPr>
            <a:r>
              <a:rPr lang="en-US" sz="750">
                <a:solidFill>
                  <a:srgbClr val="0A2F46"/>
                </a:solidFill>
                <a:ea typeface="+mn-lt"/>
                <a:cs typeface="+mn-lt"/>
              </a:rPr>
              <a:t>Create Extension Design Document</a:t>
            </a:r>
          </a:p>
          <a:p>
            <a:pPr marL="85725" indent="-85725">
              <a:buFont typeface="Arial"/>
              <a:buChar char="•"/>
            </a:pPr>
            <a:r>
              <a:rPr lang="en-US" sz="750">
                <a:solidFill>
                  <a:srgbClr val="0A2F46"/>
                </a:solidFill>
                <a:ea typeface="+mn-lt"/>
                <a:cs typeface="+mn-lt"/>
              </a:rPr>
              <a:t>Confirm Project Plan for </a:t>
            </a:r>
            <a:r>
              <a:rPr lang="en-US" sz="750">
                <a:solidFill>
                  <a:srgbClr val="0A2F46"/>
                </a:solidFill>
                <a:latin typeface="Arial"/>
                <a:ea typeface="Verdana"/>
                <a:cs typeface="Arial"/>
              </a:rPr>
              <a:t>Implementation</a:t>
            </a: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Extension Design and Implementation Plan Signed Off</a:t>
            </a:r>
          </a:p>
          <a:p>
            <a:pPr marL="128588" indent="-128588">
              <a:buFont typeface="Wingdings"/>
              <a:buChar char="ü"/>
              <a:defRPr/>
            </a:pPr>
            <a:r>
              <a:rPr lang="en-US" sz="750">
                <a:solidFill>
                  <a:srgbClr val="0A2F46"/>
                </a:solidFill>
                <a:latin typeface="Arial" panose="020B0604020202020204"/>
                <a:ea typeface="+mn-lt"/>
                <a:cs typeface="Arial" panose="020B0604020202020204"/>
              </a:rPr>
              <a:t>SOW/Change Order Signed</a:t>
            </a:r>
          </a:p>
        </p:txBody>
      </p:sp>
      <p:sp>
        <p:nvSpPr>
          <p:cNvPr id="41" name="Rectangle 40">
            <a:extLst>
              <a:ext uri="{FF2B5EF4-FFF2-40B4-BE49-F238E27FC236}">
                <a16:creationId xmlns:a16="http://schemas.microsoft.com/office/drawing/2014/main" id="{205C259E-09EE-0961-C5EF-0516AE85E31E}"/>
              </a:ext>
            </a:extLst>
          </p:cNvPr>
          <p:cNvSpPr/>
          <p:nvPr/>
        </p:nvSpPr>
        <p:spPr>
          <a:xfrm>
            <a:off x="5789582"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a:defRPr/>
            </a:pPr>
            <a:r>
              <a:rPr lang="en-US" sz="750" b="1">
                <a:solidFill>
                  <a:srgbClr val="0A2F46"/>
                </a:solidFill>
                <a:latin typeface="Arial" panose="020B0604020202020204"/>
                <a:ea typeface="+mn-lt"/>
                <a:cs typeface="Arial" panose="020B0604020202020204"/>
              </a:rPr>
              <a:t>Executing the Plan </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defRPr/>
            </a:pPr>
            <a:r>
              <a:rPr lang="en-US" sz="750">
                <a:solidFill>
                  <a:srgbClr val="0A2F46"/>
                </a:solidFill>
                <a:latin typeface="Arial" panose="020B0604020202020204"/>
                <a:ea typeface="+mn-lt"/>
                <a:cs typeface="Arial" panose="020B0604020202020204"/>
              </a:rPr>
              <a:t>Execute Sprint</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SIT </a:t>
            </a:r>
            <a:r>
              <a:rPr lang="en-US" sz="750">
                <a:solidFill>
                  <a:srgbClr val="0A2F46"/>
                </a:solidFill>
                <a:latin typeface="Arial" panose="020B0604020202020204"/>
                <a:ea typeface="+mn-lt"/>
                <a:cs typeface="Arial" panose="020B0604020202020204"/>
              </a:rPr>
              <a:t>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UAT </a:t>
            </a:r>
            <a:r>
              <a:rPr lang="en-US" sz="750">
                <a:solidFill>
                  <a:srgbClr val="0A2F46"/>
                </a:solidFill>
                <a:latin typeface="Arial" panose="020B0604020202020204"/>
                <a:ea typeface="+mn-lt"/>
                <a:cs typeface="Arial" panose="020B0604020202020204"/>
              </a:rPr>
              <a:t>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t>
            </a:r>
            <a:r>
              <a:rPr lang="en-US" sz="750">
                <a:solidFill>
                  <a:srgbClr val="0A2F46"/>
                </a:solidFill>
                <a:latin typeface="Arial" panose="020B0604020202020204"/>
                <a:ea typeface="+mn-lt"/>
                <a:cs typeface="Arial" panose="020B0604020202020204"/>
              </a:rPr>
              <a:t>Admin</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Training</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t>
            </a:r>
            <a:r>
              <a:rPr lang="en-US" sz="750">
                <a:solidFill>
                  <a:srgbClr val="0A2F46"/>
                </a:solidFill>
                <a:latin typeface="Arial" panose="020B0604020202020204"/>
                <a:ea typeface="+mn-lt"/>
                <a:cs typeface="Arial" panose="020B0604020202020204"/>
              </a:rPr>
              <a:t>User</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Guide</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to </a:t>
            </a:r>
            <a:r>
              <a:rPr lang="en-US" sz="750">
                <a:solidFill>
                  <a:srgbClr val="0A2F46"/>
                </a:solidFill>
                <a:latin typeface="Arial" panose="020B0604020202020204"/>
                <a:ea typeface="+mn-lt"/>
                <a:cs typeface="Arial" panose="020B0604020202020204"/>
              </a:rPr>
              <a:t>Include</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Extensions</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R="0" lvl="0" algn="l" defTabSz="685800" rtl="0" eaLnBrk="1" fontAlgn="auto" latinLnBrk="0" hangingPunct="1">
              <a:lnSpc>
                <a:spcPct val="100000"/>
              </a:lnSpc>
              <a:spcBef>
                <a:spcPts val="0"/>
              </a:spcBef>
              <a:spcAft>
                <a:spcPts val="0"/>
              </a:spcAft>
              <a:buClrTx/>
              <a:buSzTx/>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Functional Unit Testing Passed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Customer Approval to move to SIT and UAT</a:t>
            </a: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endParaRPr lang="en-US" sz="750" i="0" u="none" strike="noStrike" kern="1200" cap="none" spc="0" normalizeH="0" baseline="0" noProof="0">
              <a:ln>
                <a:noFill/>
              </a:ln>
              <a:solidFill>
                <a:srgbClr val="0A2F46"/>
              </a:solidFill>
              <a:effectLst/>
              <a:uLnTx/>
              <a:uFillTx/>
              <a:ea typeface="+mn-lt"/>
              <a:cs typeface="+mn-lt"/>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endParaRPr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indent="-85725">
              <a:buFont typeface="Arial"/>
              <a:buChar char="•"/>
              <a:defRPr/>
            </a:pP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52D34860-EBE6-98DB-0A0F-48CD9846CB72}"/>
              </a:ext>
            </a:extLst>
          </p:cNvPr>
          <p:cNvSpPr/>
          <p:nvPr/>
        </p:nvSpPr>
        <p:spPr>
          <a:xfrm>
            <a:off x="7093601"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sz="750" b="1">
                <a:solidFill>
                  <a:srgbClr val="0A2F46"/>
                </a:solidFill>
                <a:latin typeface="Arial" panose="020B0604020202020204"/>
                <a:ea typeface="+mn-lt"/>
                <a:cs typeface="Arial" panose="020B0604020202020204"/>
              </a:rPr>
              <a:t>Extension</a:t>
            </a: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b="1">
                <a:solidFill>
                  <a:srgbClr val="0A2F46"/>
                </a:solidFill>
                <a:latin typeface="Arial" panose="020B0604020202020204"/>
                <a:ea typeface="+mn-lt"/>
                <a:cs typeface="Arial" panose="020B0604020202020204"/>
              </a:rPr>
              <a:t>Ready</a:t>
            </a: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for </a:t>
            </a:r>
            <a:r>
              <a:rPr lang="en-US" sz="750" b="1">
                <a:solidFill>
                  <a:srgbClr val="0A2F46"/>
                </a:solidFill>
                <a:latin typeface="Arial" panose="020B0604020202020204"/>
                <a:ea typeface="+mn-lt"/>
                <a:cs typeface="Arial" panose="020B0604020202020204"/>
              </a:rPr>
              <a:t>Production</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Test Scripts Created</a:t>
            </a:r>
            <a:endParaRPr lang="en-US" sz="13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Superuser </a:t>
            </a:r>
            <a:r>
              <a:rPr lang="en-US" sz="750">
                <a:solidFill>
                  <a:srgbClr val="0A2F46"/>
                </a:solidFill>
                <a:latin typeface="Arial" panose="020B0604020202020204"/>
                <a:cs typeface="Arial"/>
              </a:rPr>
              <a:t>Train-the-Trainer</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 </a:t>
            </a:r>
            <a:r>
              <a:rPr lang="en-US" sz="750">
                <a:solidFill>
                  <a:srgbClr val="0A2F46"/>
                </a:solidFill>
                <a:latin typeface="Arial" panose="020B0604020202020204"/>
                <a:cs typeface="Arial"/>
              </a:rPr>
              <a:t>Sessions</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indent="-85725">
              <a:buFont typeface="Arial"/>
              <a:buChar char="•"/>
              <a:defRPr/>
            </a:pPr>
            <a:r>
              <a:rPr lang="en-US" sz="750">
                <a:solidFill>
                  <a:srgbClr val="0A2F46"/>
                </a:solidFill>
                <a:latin typeface="Arial" panose="020B0604020202020204"/>
                <a:cs typeface="Arial"/>
              </a:rPr>
              <a:t>Execute SIT</a:t>
            </a:r>
          </a:p>
          <a:p>
            <a:pPr marL="85725" indent="-85725">
              <a:buFont typeface="Arial"/>
              <a:buChar char="•"/>
              <a:defRPr/>
            </a:pPr>
            <a:r>
              <a:rPr lang="en-US" sz="750">
                <a:solidFill>
                  <a:srgbClr val="0A2F46"/>
                </a:solidFill>
                <a:latin typeface="Arial" panose="020B0604020202020204"/>
                <a:cs typeface="Arial"/>
              </a:rPr>
              <a:t>Execute UAT</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indent="-85725">
              <a:buFont typeface="Arial"/>
              <a:buChar char="•"/>
              <a:defRPr/>
            </a:pPr>
            <a:r>
              <a:rPr lang="en-US" sz="750">
                <a:solidFill>
                  <a:srgbClr val="0A2F46"/>
                </a:solidFill>
                <a:latin typeface="Arial" panose="020B0604020202020204"/>
                <a:cs typeface="Arial"/>
              </a:rPr>
              <a:t>Testing Defect Resolution</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 and </a:t>
            </a:r>
            <a:r>
              <a:rPr lang="en-US" sz="750">
                <a:solidFill>
                  <a:srgbClr val="0A2F46"/>
                </a:solidFill>
                <a:latin typeface="Arial" panose="020B0604020202020204"/>
                <a:cs typeface="Arial"/>
              </a:rPr>
              <a:t>Backlog Confirmation </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Preparation for </a:t>
            </a:r>
            <a:r>
              <a:rPr lang="en-US" sz="750">
                <a:solidFill>
                  <a:srgbClr val="0A2F46"/>
                </a:solidFill>
                <a:latin typeface="Arial" panose="020B0604020202020204"/>
                <a:cs typeface="Arial"/>
              </a:rPr>
              <a:t>Go-Live</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indent="-85725">
              <a:buFont typeface="Arial"/>
              <a:buChar char="•"/>
              <a:defRPr/>
            </a:pPr>
            <a:r>
              <a:rPr lang="en-US" sz="750">
                <a:solidFill>
                  <a:srgbClr val="0A2F46"/>
                </a:solidFill>
                <a:latin typeface="Arial" panose="020B0604020202020204"/>
                <a:cs typeface="Arial"/>
              </a:rPr>
              <a:t>Post Go-Live Support Plan Confirmed </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pPr>
            <a:r>
              <a:rPr lang="en-US" sz="750">
                <a:solidFill>
                  <a:srgbClr val="0A2F46"/>
                </a:solidFill>
                <a:ea typeface="+mn-lt"/>
                <a:cs typeface="+mn-lt"/>
              </a:rPr>
              <a:t>SIT Signed Off </a:t>
            </a:r>
            <a:endParaRPr lang="en-US" sz="750">
              <a:solidFill>
                <a:srgbClr val="0A2F46"/>
              </a:solidFill>
              <a:cs typeface="Arial"/>
            </a:endParaRPr>
          </a:p>
          <a:p>
            <a:pPr marL="128588" indent="-128588">
              <a:buFont typeface="Wingdings"/>
              <a:buChar char="ü"/>
            </a:pPr>
            <a:r>
              <a:rPr lang="en-US" sz="750">
                <a:solidFill>
                  <a:srgbClr val="0A2F46"/>
                </a:solidFill>
                <a:ea typeface="+mn-lt"/>
                <a:cs typeface="+mn-lt"/>
              </a:rPr>
              <a:t>UAT Signed Off</a:t>
            </a:r>
          </a:p>
          <a:p>
            <a:pPr marL="128588" indent="-128588">
              <a:buFont typeface="Wingdings,Sans-Serif"/>
              <a:buChar char="ü"/>
            </a:pPr>
            <a:r>
              <a:rPr lang="en-US" sz="750">
                <a:solidFill>
                  <a:srgbClr val="0A2F46"/>
                </a:solidFill>
                <a:ea typeface="+mn-lt"/>
                <a:cs typeface="+mn-lt"/>
              </a:rPr>
              <a:t>Application Deployed to Production</a:t>
            </a:r>
          </a:p>
          <a:p>
            <a:pPr marL="128588" indent="-128588">
              <a:buFont typeface="Wingdings"/>
              <a:buChar char="ü"/>
            </a:pPr>
            <a:r>
              <a:rPr lang="en-US" sz="750">
                <a:solidFill>
                  <a:srgbClr val="0A2F46"/>
                </a:solidFill>
                <a:ea typeface="+mn-lt"/>
                <a:cs typeface="+mn-lt"/>
              </a:rPr>
              <a:t>Application Go-Live!</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18" name="Title 17">
            <a:extLst>
              <a:ext uri="{FF2B5EF4-FFF2-40B4-BE49-F238E27FC236}">
                <a16:creationId xmlns:a16="http://schemas.microsoft.com/office/drawing/2014/main" id="{10FC098D-BF06-0B5D-0505-C15A5CD1F526}"/>
              </a:ext>
            </a:extLst>
          </p:cNvPr>
          <p:cNvSpPr>
            <a:spLocks noGrp="1"/>
          </p:cNvSpPr>
          <p:nvPr>
            <p:ph type="title"/>
          </p:nvPr>
        </p:nvSpPr>
        <p:spPr>
          <a:xfrm>
            <a:off x="517065" y="140722"/>
            <a:ext cx="8426910" cy="331499"/>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solidFill>
                  <a:srgbClr val="0A2F46"/>
                </a:solidFill>
                <a:latin typeface="Arial"/>
                <a:cs typeface="Arial"/>
              </a:rPr>
              <a:t>T</a:t>
            </a:r>
            <a:r>
              <a:rPr lang="en-US">
                <a:latin typeface="Arial"/>
                <a:cs typeface="Arial"/>
              </a:rPr>
              <a:t>he </a:t>
            </a:r>
            <a:r>
              <a:rPr lang="en-US">
                <a:solidFill>
                  <a:srgbClr val="0A2F46"/>
                </a:solidFill>
                <a:latin typeface="Arial"/>
                <a:cs typeface="Arial"/>
              </a:rPr>
              <a:t>A</a:t>
            </a:r>
            <a:r>
              <a:rPr lang="en-US">
                <a:latin typeface="Arial"/>
                <a:cs typeface="Arial"/>
              </a:rPr>
              <a:t>naplan </a:t>
            </a:r>
            <a:r>
              <a:rPr lang="en-US">
                <a:solidFill>
                  <a:srgbClr val="0A2F46"/>
                </a:solidFill>
                <a:latin typeface="Arial"/>
                <a:cs typeface="Arial"/>
              </a:rPr>
              <a:t>W</a:t>
            </a:r>
            <a:r>
              <a:rPr lang="en-US">
                <a:latin typeface="Arial"/>
                <a:cs typeface="Arial"/>
              </a:rPr>
              <a:t>ay for </a:t>
            </a:r>
            <a:r>
              <a:rPr lang="en-US">
                <a:solidFill>
                  <a:srgbClr val="0A2F46"/>
                </a:solidFill>
                <a:latin typeface="Arial"/>
                <a:cs typeface="Arial"/>
              </a:rPr>
              <a:t>A</a:t>
            </a:r>
            <a:r>
              <a:rPr lang="en-US">
                <a:latin typeface="Arial"/>
                <a:cs typeface="Arial"/>
              </a:rPr>
              <a:t>pplications </a:t>
            </a:r>
            <a:endParaRPr lang="en-US"/>
          </a:p>
        </p:txBody>
      </p:sp>
      <p:sp>
        <p:nvSpPr>
          <p:cNvPr id="3" name="Pentagon 2">
            <a:extLst>
              <a:ext uri="{FF2B5EF4-FFF2-40B4-BE49-F238E27FC236}">
                <a16:creationId xmlns:a16="http://schemas.microsoft.com/office/drawing/2014/main" id="{1BA6F4A9-95E5-EEAC-8A35-1FE0204038B3}"/>
              </a:ext>
            </a:extLst>
          </p:cNvPr>
          <p:cNvSpPr/>
          <p:nvPr/>
        </p:nvSpPr>
        <p:spPr>
          <a:xfrm>
            <a:off x="586089" y="767460"/>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5" name="Rounded Rectangle 8">
            <a:extLst>
              <a:ext uri="{FF2B5EF4-FFF2-40B4-BE49-F238E27FC236}">
                <a16:creationId xmlns:a16="http://schemas.microsoft.com/office/drawing/2014/main" id="{7EB95BFC-0004-0C25-EAF0-3E3339548B72}"/>
              </a:ext>
            </a:extLst>
          </p:cNvPr>
          <p:cNvSpPr/>
          <p:nvPr/>
        </p:nvSpPr>
        <p:spPr>
          <a:xfrm>
            <a:off x="292420" y="1041738"/>
            <a:ext cx="8187064" cy="2711663"/>
          </a:xfrm>
          <a:prstGeom prst="roundRect">
            <a:avLst>
              <a:gd name="adj" fmla="val 6361"/>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45" name="Rectangle: Top Corners Rounded 44">
            <a:extLst>
              <a:ext uri="{FF2B5EF4-FFF2-40B4-BE49-F238E27FC236}">
                <a16:creationId xmlns:a16="http://schemas.microsoft.com/office/drawing/2014/main" id="{3309BB61-A2A9-789A-15B6-CB725427B814}"/>
              </a:ext>
            </a:extLst>
          </p:cNvPr>
          <p:cNvSpPr/>
          <p:nvPr/>
        </p:nvSpPr>
        <p:spPr>
          <a:xfrm rot="16200000">
            <a:off x="-903747" y="2255847"/>
            <a:ext cx="2692453" cy="295940"/>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1"/>
                </a:solidFill>
                <a:latin typeface="Arial"/>
                <a:ea typeface="Verdana"/>
                <a:cs typeface="Arial"/>
              </a:rPr>
              <a:t>Activities</a:t>
            </a:r>
            <a:endParaRPr lang="en-US" sz="900">
              <a:solidFill>
                <a:schemeClr val="bg1"/>
              </a:solidFill>
            </a:endParaRPr>
          </a:p>
        </p:txBody>
      </p:sp>
      <p:sp>
        <p:nvSpPr>
          <p:cNvPr id="65" name="Rounded Rectangle 8">
            <a:extLst>
              <a:ext uri="{FF2B5EF4-FFF2-40B4-BE49-F238E27FC236}">
                <a16:creationId xmlns:a16="http://schemas.microsoft.com/office/drawing/2014/main" id="{27E7A92D-8F00-7C9F-4C72-21B3DC8B3DB7}"/>
              </a:ext>
            </a:extLst>
          </p:cNvPr>
          <p:cNvSpPr/>
          <p:nvPr/>
        </p:nvSpPr>
        <p:spPr>
          <a:xfrm>
            <a:off x="289706" y="3846435"/>
            <a:ext cx="8188972" cy="1041571"/>
          </a:xfrm>
          <a:prstGeom prst="roundRect">
            <a:avLst>
              <a:gd name="adj" fmla="val 12160"/>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75" name="Rectangle: Top Corners Rounded 48">
            <a:extLst>
              <a:ext uri="{FF2B5EF4-FFF2-40B4-BE49-F238E27FC236}">
                <a16:creationId xmlns:a16="http://schemas.microsoft.com/office/drawing/2014/main" id="{2F78CF9F-3293-9E25-24C2-98D55AA5B4FE}"/>
              </a:ext>
            </a:extLst>
          </p:cNvPr>
          <p:cNvSpPr/>
          <p:nvPr/>
        </p:nvSpPr>
        <p:spPr>
          <a:xfrm rot="16200000">
            <a:off x="-84539" y="4223828"/>
            <a:ext cx="1031934" cy="28219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ea typeface="+mn-lt"/>
                <a:cs typeface="+mn-lt"/>
              </a:rPr>
              <a:t>Control Gates</a:t>
            </a:r>
            <a:endParaRPr lang="en-US" sz="900">
              <a:solidFill>
                <a:schemeClr val="bg2"/>
              </a:solidFill>
            </a:endParaRPr>
          </a:p>
        </p:txBody>
      </p:sp>
      <p:sp>
        <p:nvSpPr>
          <p:cNvPr id="33" name="Chevron 3">
            <a:extLst>
              <a:ext uri="{FF2B5EF4-FFF2-40B4-BE49-F238E27FC236}">
                <a16:creationId xmlns:a16="http://schemas.microsoft.com/office/drawing/2014/main" id="{4D39F9CB-623C-46D6-6F5B-B662C61AFD1C}"/>
              </a:ext>
            </a:extLst>
          </p:cNvPr>
          <p:cNvSpPr/>
          <p:nvPr/>
        </p:nvSpPr>
        <p:spPr>
          <a:xfrm>
            <a:off x="1890108" y="767246"/>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6" name="Chevron 3">
            <a:extLst>
              <a:ext uri="{FF2B5EF4-FFF2-40B4-BE49-F238E27FC236}">
                <a16:creationId xmlns:a16="http://schemas.microsoft.com/office/drawing/2014/main" id="{65A7F1BE-76DD-2A2A-01AC-43C29D3CA8A3}"/>
              </a:ext>
            </a:extLst>
          </p:cNvPr>
          <p:cNvSpPr/>
          <p:nvPr/>
        </p:nvSpPr>
        <p:spPr>
          <a:xfrm>
            <a:off x="3187836"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Test &amp; Deploy</a:t>
            </a:r>
          </a:p>
        </p:txBody>
      </p:sp>
      <p:sp>
        <p:nvSpPr>
          <p:cNvPr id="38" name="Chevron 3">
            <a:extLst>
              <a:ext uri="{FF2B5EF4-FFF2-40B4-BE49-F238E27FC236}">
                <a16:creationId xmlns:a16="http://schemas.microsoft.com/office/drawing/2014/main" id="{8AE2562C-E8E9-A89E-7423-CA14D59E51C4}"/>
              </a:ext>
            </a:extLst>
          </p:cNvPr>
          <p:cNvSpPr/>
          <p:nvPr/>
        </p:nvSpPr>
        <p:spPr>
          <a:xfrm>
            <a:off x="4485563"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ea typeface="Verdana"/>
                <a:cs typeface="Arial"/>
              </a:rPr>
              <a:t>Extension Design</a:t>
            </a:r>
          </a:p>
        </p:txBody>
      </p:sp>
      <p:sp>
        <p:nvSpPr>
          <p:cNvPr id="40" name="Chevron 3">
            <a:extLst>
              <a:ext uri="{FF2B5EF4-FFF2-40B4-BE49-F238E27FC236}">
                <a16:creationId xmlns:a16="http://schemas.microsoft.com/office/drawing/2014/main" id="{0F695652-2E14-D970-E1A3-E0F845AE1785}"/>
              </a:ext>
            </a:extLst>
          </p:cNvPr>
          <p:cNvSpPr/>
          <p:nvPr/>
        </p:nvSpPr>
        <p:spPr>
          <a:xfrm>
            <a:off x="5783290"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ea typeface="Verdana"/>
                <a:cs typeface="Arial"/>
              </a:rPr>
              <a:t>Extension Build</a:t>
            </a:r>
          </a:p>
        </p:txBody>
      </p:sp>
      <p:sp>
        <p:nvSpPr>
          <p:cNvPr id="43" name="Chevron 3">
            <a:extLst>
              <a:ext uri="{FF2B5EF4-FFF2-40B4-BE49-F238E27FC236}">
                <a16:creationId xmlns:a16="http://schemas.microsoft.com/office/drawing/2014/main" id="{6B10009E-0521-74A6-6694-05973AD80E2C}"/>
              </a:ext>
            </a:extLst>
          </p:cNvPr>
          <p:cNvSpPr/>
          <p:nvPr/>
        </p:nvSpPr>
        <p:spPr>
          <a:xfrm>
            <a:off x="7087309"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ea typeface="+mn-lt"/>
                <a:cs typeface="+mn-lt"/>
              </a:rPr>
              <a:t>Ext Test &amp; Deploy</a:t>
            </a:r>
          </a:p>
        </p:txBody>
      </p:sp>
      <p:sp>
        <p:nvSpPr>
          <p:cNvPr id="46" name="Right Bracket 45">
            <a:extLst>
              <a:ext uri="{FF2B5EF4-FFF2-40B4-BE49-F238E27FC236}">
                <a16:creationId xmlns:a16="http://schemas.microsoft.com/office/drawing/2014/main" id="{69F1AAC4-8128-1774-4F14-FB9F8C4A5CDF}"/>
              </a:ext>
            </a:extLst>
          </p:cNvPr>
          <p:cNvSpPr/>
          <p:nvPr/>
        </p:nvSpPr>
        <p:spPr>
          <a:xfrm rot="16200000">
            <a:off x="6405769" y="-1269148"/>
            <a:ext cx="37637" cy="3865468"/>
          </a:xfrm>
          <a:prstGeom prst="rightBracket">
            <a:avLst/>
          </a:prstGeom>
          <a:ln w="127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4" name="TextBox 3">
            <a:extLst>
              <a:ext uri="{FF2B5EF4-FFF2-40B4-BE49-F238E27FC236}">
                <a16:creationId xmlns:a16="http://schemas.microsoft.com/office/drawing/2014/main" id="{65BD2C71-1D09-7CB4-5534-A3DB53FE9F29}"/>
              </a:ext>
            </a:extLst>
          </p:cNvPr>
          <p:cNvSpPr txBox="1"/>
          <p:nvPr/>
        </p:nvSpPr>
        <p:spPr>
          <a:xfrm>
            <a:off x="5965582" y="598769"/>
            <a:ext cx="1111915" cy="152911"/>
          </a:xfrm>
          <a:prstGeom prst="rect">
            <a:avLst/>
          </a:prstGeom>
          <a:solidFill>
            <a:schemeClr val="bg2"/>
          </a:solidFill>
        </p:spPr>
        <p:txBody>
          <a:bodyPr wrap="square" lIns="0" tIns="0" rIns="0" bIns="0" anchor="t">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675" i="1">
                <a:highlight>
                  <a:srgbClr val="F2F1EE"/>
                </a:highlight>
                <a:latin typeface="Arial" panose="020B0604020202020204"/>
                <a:ea typeface="Verdana"/>
                <a:cs typeface="Arial"/>
              </a:rPr>
              <a:t>EXTENSION PHASES  </a:t>
            </a:r>
          </a:p>
        </p:txBody>
      </p:sp>
      <p:pic>
        <p:nvPicPr>
          <p:cNvPr id="76" name="Seismic-Barcode" descr="20000S4JX" title="Seismic-Barcode"/>
          <p:cNvPicPr>
            <a:picLocks noChangeAspect="1"/>
          </p:cNvPicPr>
          <p:nvPr/>
        </p:nvPicPr>
        <p:blipFill>
          <a:blip r:embed="rId3"/>
          <a:stretch>
            <a:fillRect/>
          </a:stretch>
        </p:blipFill>
        <p:spPr>
          <a:xfrm>
            <a:off x="0" y="5100637"/>
            <a:ext cx="9144000" cy="42863"/>
          </a:xfrm>
          <a:prstGeom prst="rect">
            <a:avLst/>
          </a:prstGeom>
        </p:spPr>
      </p:pic>
    </p:spTree>
    <p:extLst>
      <p:ext uri="{BB962C8B-B14F-4D97-AF65-F5344CB8AC3E}">
        <p14:creationId xmlns:p14="http://schemas.microsoft.com/office/powerpoint/2010/main" val="205244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8D32A-6D41-D34B-99E7-E6496A3AD77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DC7B999-A9C8-E49F-05C1-D268D8BB2A62}"/>
              </a:ext>
            </a:extLst>
          </p:cNvPr>
          <p:cNvSpPr/>
          <p:nvPr/>
        </p:nvSpPr>
        <p:spPr>
          <a:xfrm>
            <a:off x="583677" y="981782"/>
            <a:ext cx="1263720" cy="4149617"/>
          </a:xfrm>
          <a:prstGeom prst="rect">
            <a:avLst/>
          </a:prstGeom>
          <a:gradFill flip="none" rotWithShape="1">
            <a:gsLst>
              <a:gs pos="0">
                <a:schemeClr val="tx2">
                  <a:tint val="66000"/>
                  <a:satMod val="160000"/>
                </a:schemeClr>
              </a:gs>
              <a:gs pos="0">
                <a:schemeClr val="tx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a:buChar char="•"/>
            </a:pPr>
            <a:endParaRPr lang="en-US" sz="750">
              <a:solidFill>
                <a:srgbClr val="0A2F46"/>
              </a:solidFill>
              <a:ea typeface="+mn-lt"/>
              <a:cs typeface="+mn-lt"/>
            </a:endParaRPr>
          </a:p>
          <a:p>
            <a:pPr marL="85725" indent="-85725">
              <a:buFont typeface="Arial"/>
              <a:buChar char="•"/>
            </a:pPr>
            <a:r>
              <a:rPr lang="en-US" sz="750">
                <a:solidFill>
                  <a:srgbClr val="0A2F46"/>
                </a:solidFill>
                <a:ea typeface="+mn-lt"/>
                <a:cs typeface="+mn-lt"/>
              </a:rPr>
              <a:t>Discovery workshop </a:t>
            </a:r>
          </a:p>
          <a:p>
            <a:pPr marL="85725" indent="-85725">
              <a:buFont typeface="Arial"/>
              <a:buChar char="•"/>
            </a:pPr>
            <a:r>
              <a:rPr lang="en-US" sz="750">
                <a:solidFill>
                  <a:srgbClr val="0A2F46"/>
                </a:solidFill>
                <a:ea typeface="+mn-lt"/>
                <a:cs typeface="+mn-lt"/>
              </a:rPr>
              <a:t>Project success drivers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planning metrics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functional scope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business processes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Application mapping (business need vs application coverage)</a:t>
            </a:r>
          </a:p>
          <a:p>
            <a:pPr marL="85725" indent="-85725">
              <a:buFont typeface="Arial"/>
              <a:buChar char="•"/>
            </a:pPr>
            <a:r>
              <a:rPr lang="en-US" sz="750">
                <a:solidFill>
                  <a:srgbClr val="0A2F46"/>
                </a:solidFill>
                <a:ea typeface="+mn-lt"/>
                <a:cs typeface="+mn-lt"/>
              </a:rPr>
              <a:t>Data readiness &amp; template review </a:t>
            </a:r>
            <a:endParaRPr lang="en-US" sz="750">
              <a:solidFill>
                <a:srgbClr val="0A2F46"/>
              </a:solidFill>
              <a:cs typeface="Arial"/>
            </a:endParaRPr>
          </a:p>
          <a:p>
            <a:pPr marL="85725" indent="-85725">
              <a:buFont typeface="Arial"/>
              <a:buChar char="•"/>
            </a:pPr>
            <a:r>
              <a:rPr lang="en-US" sz="750">
                <a:solidFill>
                  <a:srgbClr val="0A2F46"/>
                </a:solidFill>
                <a:ea typeface="+mn-lt"/>
                <a:cs typeface="+mn-lt"/>
              </a:rPr>
              <a:t>Training of key users</a:t>
            </a: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128588" indent="-128588">
              <a:buFont typeface="Wingdings"/>
              <a:buChar char="ü"/>
            </a:pPr>
            <a:r>
              <a:rPr lang="en-US" sz="750">
                <a:solidFill>
                  <a:srgbClr val="0A2F46"/>
                </a:solidFill>
                <a:ea typeface="+mn-lt"/>
                <a:cs typeface="+mn-lt"/>
              </a:rPr>
              <a:t>Signed SOW</a:t>
            </a:r>
          </a:p>
          <a:p>
            <a:pPr marL="128588" indent="-128588">
              <a:buFont typeface="Wingdings"/>
              <a:buChar char="ü"/>
            </a:pPr>
            <a:r>
              <a:rPr lang="en-US" sz="750">
                <a:solidFill>
                  <a:srgbClr val="0A2F46"/>
                </a:solidFill>
                <a:ea typeface="+mn-lt"/>
                <a:cs typeface="+mn-lt"/>
              </a:rPr>
              <a:t>Sales Assets</a:t>
            </a:r>
          </a:p>
          <a:p>
            <a:pPr marL="128588" indent="-128588">
              <a:buFont typeface="Wingdings"/>
              <a:buChar char="ü"/>
            </a:pPr>
            <a:r>
              <a:rPr lang="en-US" sz="750">
                <a:solidFill>
                  <a:srgbClr val="0A2F46"/>
                </a:solidFill>
                <a:ea typeface="+mn-lt"/>
                <a:cs typeface="+mn-lt"/>
              </a:rPr>
              <a:t>Sales to Delivery Handoff</a:t>
            </a:r>
            <a:endParaRPr lang="en-US" sz="750">
              <a:solidFill>
                <a:srgbClr val="0A2F46"/>
              </a:solidFill>
              <a:cs typeface="Arial" panose="020B0604020202020204"/>
            </a:endParaRPr>
          </a:p>
        </p:txBody>
      </p:sp>
      <p:sp>
        <p:nvSpPr>
          <p:cNvPr id="34" name="Rectangle 33">
            <a:extLst>
              <a:ext uri="{FF2B5EF4-FFF2-40B4-BE49-F238E27FC236}">
                <a16:creationId xmlns:a16="http://schemas.microsoft.com/office/drawing/2014/main" id="{72D4C377-7039-6770-0CB0-9B9BD36EF39B}"/>
              </a:ext>
            </a:extLst>
          </p:cNvPr>
          <p:cNvSpPr/>
          <p:nvPr/>
        </p:nvSpPr>
        <p:spPr>
          <a:xfrm>
            <a:off x="1894025" y="965662"/>
            <a:ext cx="1263720" cy="4149617"/>
          </a:xfrm>
          <a:prstGeom prst="rect">
            <a:avLst/>
          </a:prstGeom>
          <a:gradFill flip="none" rotWithShape="1">
            <a:gsLst>
              <a:gs pos="0">
                <a:schemeClr val="tx2">
                  <a:tint val="66000"/>
                  <a:satMod val="160000"/>
                </a:schemeClr>
              </a:gs>
              <a:gs pos="0">
                <a:schemeClr val="accent3">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cs typeface="Arial" panose="020B0604020202020204"/>
              </a:rPr>
              <a:t>Data</a:t>
            </a:r>
          </a:p>
          <a:p>
            <a:pPr marL="85725" indent="-85725">
              <a:buFont typeface="Arial"/>
              <a:buChar char="•"/>
            </a:pPr>
            <a:r>
              <a:rPr lang="en-US" sz="750">
                <a:solidFill>
                  <a:srgbClr val="0A2F46"/>
                </a:solidFill>
                <a:ea typeface="+mn-lt"/>
                <a:cs typeface="+mn-lt"/>
              </a:rPr>
              <a:t>Analyze customer data </a:t>
            </a:r>
          </a:p>
          <a:p>
            <a:pPr marL="85725" indent="-85725">
              <a:buFont typeface="Arial"/>
              <a:buChar char="•"/>
            </a:pPr>
            <a:r>
              <a:rPr lang="en-US" sz="750">
                <a:solidFill>
                  <a:srgbClr val="0A2F46"/>
                </a:solidFill>
                <a:ea typeface="+mn-lt"/>
                <a:cs typeface="+mn-lt"/>
              </a:rPr>
              <a:t>Data strategy and mapping</a:t>
            </a:r>
          </a:p>
          <a:p>
            <a:endParaRPr lang="en-US" sz="750" b="1">
              <a:solidFill>
                <a:srgbClr val="0A2F46"/>
              </a:solidFill>
              <a:cs typeface="Arial" panose="020B0604020202020204"/>
            </a:endParaRPr>
          </a:p>
          <a:p>
            <a:r>
              <a:rPr lang="en-US" sz="750" b="1">
                <a:solidFill>
                  <a:srgbClr val="0A2F46"/>
                </a:solidFill>
                <a:cs typeface="Arial" panose="020B0604020202020204"/>
              </a:rPr>
              <a:t>Application Config &amp; Design</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Conduct App-Led Design Workshops </a:t>
            </a:r>
          </a:p>
          <a:p>
            <a:pPr marL="85725" indent="-85725">
              <a:buFont typeface="Arial"/>
              <a:buChar char="•"/>
            </a:pPr>
            <a:r>
              <a:rPr lang="en-US" sz="750">
                <a:solidFill>
                  <a:srgbClr val="0A2F46"/>
                </a:solidFill>
                <a:cs typeface="Arial" panose="020B0604020202020204"/>
              </a:rPr>
              <a:t>Upload customer data into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Review data / planning granularity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Manage security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Configure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Extension / additional use-case design and prioritization</a:t>
            </a:r>
          </a:p>
          <a:p>
            <a:pPr marL="85725" indent="-85725">
              <a:buFont typeface="Arial"/>
              <a:buChar char="•"/>
            </a:pPr>
            <a:r>
              <a:rPr lang="en-US" sz="750">
                <a:solidFill>
                  <a:srgbClr val="0A2F46"/>
                </a:solidFill>
                <a:cs typeface="Arial" panose="020B0604020202020204"/>
              </a:rPr>
              <a:t>Interactive walk-through session of the base application with customer</a:t>
            </a:r>
          </a:p>
          <a:p>
            <a:pPr marL="85725" indent="-85725">
              <a:buFont typeface="Arial"/>
              <a:buChar char="•"/>
            </a:pPr>
            <a:endParaRPr lang="en-US" sz="750">
              <a:solidFill>
                <a:srgbClr val="0A2F46"/>
              </a:solidFill>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Validation</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Configurations Close Checklist Completed</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 Phase Project Plan Signed Off</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06DB5B11-2029-3324-19BE-A555BDE7EB85}"/>
              </a:ext>
            </a:extLst>
          </p:cNvPr>
          <p:cNvSpPr/>
          <p:nvPr/>
        </p:nvSpPr>
        <p:spPr>
          <a:xfrm>
            <a:off x="3187729" y="965662"/>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ea typeface="+mn-lt"/>
                <a:cs typeface="+mn-lt"/>
              </a:rPr>
              <a:t>Extension Design</a:t>
            </a:r>
          </a:p>
          <a:p>
            <a:pPr marL="85725" indent="-85725">
              <a:buFont typeface="Arial"/>
              <a:buChar char="•"/>
            </a:pPr>
            <a:r>
              <a:rPr lang="en-US" sz="750">
                <a:solidFill>
                  <a:srgbClr val="0A2F46"/>
                </a:solidFill>
                <a:ea typeface="+mn-lt"/>
                <a:cs typeface="+mn-lt"/>
              </a:rPr>
              <a:t>Extension Design Kick-off</a:t>
            </a:r>
            <a:endParaRPr lang="en-US" sz="750">
              <a:solidFill>
                <a:srgbClr val="0A2F46"/>
              </a:solidFill>
            </a:endParaRPr>
          </a:p>
          <a:p>
            <a:pPr marL="85725" indent="-85725">
              <a:buFont typeface="Arial"/>
              <a:buChar char="•"/>
            </a:pPr>
            <a:r>
              <a:rPr lang="en-US" sz="750">
                <a:solidFill>
                  <a:srgbClr val="0A2F46"/>
                </a:solidFill>
                <a:cs typeface="Arial"/>
              </a:rPr>
              <a:t>Detailed review of business needs from App-Led Design Workshops </a:t>
            </a:r>
          </a:p>
          <a:p>
            <a:pPr marL="85725" indent="-85725">
              <a:buFont typeface="Arial"/>
              <a:buChar char="•"/>
            </a:pPr>
            <a:r>
              <a:rPr lang="en-US" sz="750">
                <a:solidFill>
                  <a:srgbClr val="0A2F46"/>
                </a:solidFill>
                <a:ea typeface="+mn-lt"/>
                <a:cs typeface="+mn-lt"/>
              </a:rPr>
              <a:t>Design and Implementation Plan for Additional Functionality</a:t>
            </a:r>
          </a:p>
          <a:p>
            <a:pPr marL="85725" indent="-85725">
              <a:buFont typeface="Arial"/>
              <a:buChar char="•"/>
            </a:pPr>
            <a:r>
              <a:rPr lang="en-US" sz="750">
                <a:solidFill>
                  <a:srgbClr val="0A2F46"/>
                </a:solidFill>
                <a:cs typeface="Arial"/>
              </a:rPr>
              <a:t>Create user stories</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SOW/Change Order Signed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p:txBody>
      </p:sp>
      <p:sp>
        <p:nvSpPr>
          <p:cNvPr id="41" name="Rectangle 40">
            <a:extLst>
              <a:ext uri="{FF2B5EF4-FFF2-40B4-BE49-F238E27FC236}">
                <a16:creationId xmlns:a16="http://schemas.microsoft.com/office/drawing/2014/main" id="{E432E711-0C7F-64FB-6BE1-5507E7D68FC8}"/>
              </a:ext>
            </a:extLst>
          </p:cNvPr>
          <p:cNvSpPr/>
          <p:nvPr/>
        </p:nvSpPr>
        <p:spPr>
          <a:xfrm>
            <a:off x="4485456" y="965662"/>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Build</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Sprint plan execution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SIT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UAT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admin training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user guide to include extensions</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Functional Unit Testing Passed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Customer Approval </a:t>
            </a:r>
            <a:r>
              <a:rPr lang="en-US" sz="750">
                <a:solidFill>
                  <a:srgbClr val="0A2F46"/>
                </a:solidFill>
                <a:latin typeface="Arial" panose="020B0604020202020204"/>
                <a:ea typeface="+mn-lt"/>
                <a:cs typeface="Arial" panose="020B0604020202020204"/>
              </a:rPr>
              <a:t>to move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to </a:t>
            </a:r>
            <a:r>
              <a:rPr lang="en-US" sz="750">
                <a:solidFill>
                  <a:srgbClr val="0A2F46"/>
                </a:solidFill>
                <a:latin typeface="Arial" panose="020B0604020202020204"/>
                <a:ea typeface="+mn-lt"/>
                <a:cs typeface="Arial" panose="020B0604020202020204"/>
              </a:rPr>
              <a:t>SIT and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UAT</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FE3E5396-AEBF-4A64-AF15-5C030073B71F}"/>
              </a:ext>
            </a:extLst>
          </p:cNvPr>
          <p:cNvSpPr/>
          <p:nvPr/>
        </p:nvSpPr>
        <p:spPr>
          <a:xfrm>
            <a:off x="5789475" y="965662"/>
            <a:ext cx="1440156"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ready for production</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Sans-Serif"/>
              <a:buChar char="•"/>
              <a:defRPr/>
            </a:pPr>
            <a:r>
              <a:rPr lang="en-US" sz="750">
                <a:solidFill>
                  <a:srgbClr val="0A2F46"/>
                </a:solidFill>
                <a:latin typeface="Arial" panose="020B0604020202020204"/>
                <a:ea typeface="+mn-lt"/>
                <a:cs typeface="Arial" panose="020B0604020202020204"/>
              </a:rPr>
              <a:t>Application guide review</a:t>
            </a:r>
          </a:p>
          <a:p>
            <a:pPr marL="85725" indent="-85725">
              <a:buFont typeface="Arial,Sans-Serif"/>
              <a:buChar char="•"/>
              <a:defRPr/>
            </a:pPr>
            <a:r>
              <a:rPr lang="en-US" sz="750">
                <a:solidFill>
                  <a:srgbClr val="0A2F46"/>
                </a:solidFill>
                <a:latin typeface="Arial" panose="020B0604020202020204"/>
                <a:ea typeface="+mn-lt"/>
                <a:cs typeface="Arial" panose="020B0604020202020204"/>
              </a:rPr>
              <a:t>Data validation</a:t>
            </a:r>
          </a:p>
          <a:p>
            <a:pPr marL="85725" indent="-85725">
              <a:buFont typeface="Arial,Sans-Serif"/>
              <a:buChar char="•"/>
              <a:defRPr/>
            </a:pPr>
            <a:r>
              <a:rPr lang="en-US" sz="750">
                <a:solidFill>
                  <a:srgbClr val="0A2F46"/>
                </a:solidFill>
                <a:latin typeface="Arial" panose="020B0604020202020204"/>
                <a:ea typeface="+mn-lt"/>
                <a:cs typeface="Arial" panose="020B0604020202020204"/>
              </a:rPr>
              <a:t>List and hierarchy validation</a:t>
            </a:r>
          </a:p>
          <a:p>
            <a:pPr marL="85725" indent="-85725">
              <a:buFont typeface="Arial,Sans-Serif"/>
              <a:buChar char="•"/>
              <a:defRPr/>
            </a:pPr>
            <a:r>
              <a:rPr lang="en-US" sz="750">
                <a:solidFill>
                  <a:srgbClr val="0A2F46"/>
                </a:solidFill>
                <a:latin typeface="Arial" panose="020B0604020202020204"/>
                <a:ea typeface="+mn-lt"/>
                <a:cs typeface="Arial" panose="020B0604020202020204"/>
              </a:rPr>
              <a:t>End to end data flow testing</a:t>
            </a:r>
          </a:p>
          <a:p>
            <a:pPr marL="85725" marR="0" lvl="0" indent="-85725" algn="l" defTabSz="685800">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Test Scripts Created</a:t>
            </a:r>
            <a:endParaRPr lang="en-US" sz="13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Superuser train the trainer sessions</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Systems integration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User Acceptance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UAT resolution and backlog management</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Preparation for go-Live</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Support through agreed number of cycles</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marL="128588" indent="-128588">
              <a:buFont typeface="Wingdings,Sans-Serif"/>
              <a:buChar char="ü"/>
            </a:pPr>
            <a:r>
              <a:rPr lang="en-US" sz="750">
                <a:solidFill>
                  <a:srgbClr val="0A2F46"/>
                </a:solidFill>
                <a:ea typeface="+mn-lt"/>
                <a:cs typeface="+mn-lt"/>
              </a:rPr>
              <a:t>Production data loaded </a:t>
            </a:r>
          </a:p>
          <a:p>
            <a:pPr marL="128588" indent="-128588">
              <a:buFont typeface="Wingdings"/>
              <a:buChar char="ü"/>
            </a:pPr>
            <a:r>
              <a:rPr lang="en-US" sz="750">
                <a:solidFill>
                  <a:srgbClr val="0A2F46"/>
                </a:solidFill>
                <a:ea typeface="+mn-lt"/>
                <a:cs typeface="+mn-lt"/>
              </a:rPr>
              <a:t>SIT Signed Off </a:t>
            </a:r>
            <a:endParaRPr lang="en-US" sz="1013">
              <a:solidFill>
                <a:srgbClr val="0A2F46"/>
              </a:solidFill>
            </a:endParaRPr>
          </a:p>
          <a:p>
            <a:pPr marL="128588" indent="-128588">
              <a:buFont typeface="Wingdings"/>
              <a:buChar char="ü"/>
            </a:pPr>
            <a:r>
              <a:rPr lang="en-US" sz="750">
                <a:solidFill>
                  <a:srgbClr val="0A2F46"/>
                </a:solidFill>
                <a:ea typeface="+mn-lt"/>
                <a:cs typeface="+mn-lt"/>
              </a:rPr>
              <a:t>UAT Signed Off</a:t>
            </a:r>
          </a:p>
          <a:p>
            <a:pPr marL="128588" indent="-128588">
              <a:buFont typeface="Wingdings"/>
              <a:buChar char="ü"/>
            </a:pPr>
            <a:r>
              <a:rPr lang="en-US" sz="750">
                <a:solidFill>
                  <a:srgbClr val="0A2F46"/>
                </a:solidFill>
                <a:ea typeface="+mn-lt"/>
                <a:cs typeface="+mn-lt"/>
              </a:rPr>
              <a:t>Go-Live!</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 name="Rounded Rectangle 8">
            <a:extLst>
              <a:ext uri="{FF2B5EF4-FFF2-40B4-BE49-F238E27FC236}">
                <a16:creationId xmlns:a16="http://schemas.microsoft.com/office/drawing/2014/main" id="{480A188C-65E2-B2BC-285A-24508C7FD93D}"/>
              </a:ext>
            </a:extLst>
          </p:cNvPr>
          <p:cNvSpPr/>
          <p:nvPr/>
        </p:nvSpPr>
        <p:spPr>
          <a:xfrm>
            <a:off x="380322" y="1036999"/>
            <a:ext cx="6962550" cy="2693900"/>
          </a:xfrm>
          <a:prstGeom prst="roundRect">
            <a:avLst>
              <a:gd name="adj" fmla="val 6361"/>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7" name="Rounded Rectangle 8">
            <a:extLst>
              <a:ext uri="{FF2B5EF4-FFF2-40B4-BE49-F238E27FC236}">
                <a16:creationId xmlns:a16="http://schemas.microsoft.com/office/drawing/2014/main" id="{B75FB0C1-4F90-F41A-F183-13DC5BC9BB60}"/>
              </a:ext>
            </a:extLst>
          </p:cNvPr>
          <p:cNvSpPr/>
          <p:nvPr/>
        </p:nvSpPr>
        <p:spPr>
          <a:xfrm>
            <a:off x="377609" y="3798324"/>
            <a:ext cx="6969260" cy="900461"/>
          </a:xfrm>
          <a:prstGeom prst="roundRect">
            <a:avLst>
              <a:gd name="adj" fmla="val 12160"/>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18" name="Title 17">
            <a:extLst>
              <a:ext uri="{FF2B5EF4-FFF2-40B4-BE49-F238E27FC236}">
                <a16:creationId xmlns:a16="http://schemas.microsoft.com/office/drawing/2014/main" id="{381F2FD4-F95A-97CD-3A2E-809914640142}"/>
              </a:ext>
            </a:extLst>
          </p:cNvPr>
          <p:cNvSpPr>
            <a:spLocks noGrp="1"/>
          </p:cNvSpPr>
          <p:nvPr>
            <p:ph type="title"/>
          </p:nvPr>
        </p:nvSpPr>
        <p:spPr>
          <a:xfrm>
            <a:off x="517065" y="140722"/>
            <a:ext cx="8341407" cy="331499"/>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a:solidFill>
                  <a:srgbClr val="0A2F46"/>
                </a:solidFill>
                <a:latin typeface="Arial"/>
                <a:cs typeface="Arial"/>
              </a:rPr>
              <a:t>T</a:t>
            </a:r>
            <a:r>
              <a:rPr lang="en-US" sz="1800">
                <a:latin typeface="Arial"/>
                <a:cs typeface="Arial"/>
              </a:rPr>
              <a:t>he </a:t>
            </a:r>
            <a:r>
              <a:rPr lang="en-US" sz="1800">
                <a:solidFill>
                  <a:srgbClr val="0A2F46"/>
                </a:solidFill>
                <a:latin typeface="Arial"/>
                <a:cs typeface="Arial"/>
              </a:rPr>
              <a:t>A</a:t>
            </a:r>
            <a:r>
              <a:rPr lang="en-US" sz="1800">
                <a:latin typeface="Arial"/>
                <a:cs typeface="Arial"/>
              </a:rPr>
              <a:t>naplan </a:t>
            </a:r>
            <a:r>
              <a:rPr lang="en-US" sz="1800">
                <a:solidFill>
                  <a:srgbClr val="0A2F46"/>
                </a:solidFill>
                <a:latin typeface="Arial"/>
                <a:cs typeface="Arial"/>
              </a:rPr>
              <a:t>W</a:t>
            </a:r>
            <a:r>
              <a:rPr lang="en-US" sz="1800">
                <a:latin typeface="Arial"/>
                <a:cs typeface="Arial"/>
              </a:rPr>
              <a:t>ay for </a:t>
            </a:r>
            <a:r>
              <a:rPr lang="en-US" sz="1800">
                <a:solidFill>
                  <a:srgbClr val="0A2F46"/>
                </a:solidFill>
                <a:latin typeface="Arial"/>
                <a:cs typeface="Arial"/>
              </a:rPr>
              <a:t>A</a:t>
            </a:r>
            <a:r>
              <a:rPr lang="en-US" sz="1800">
                <a:latin typeface="Arial"/>
                <a:cs typeface="Arial"/>
              </a:rPr>
              <a:t>pplications – Base Application + Extension Deployment</a:t>
            </a:r>
            <a:endParaRPr lang="en-US" sz="1800"/>
          </a:p>
        </p:txBody>
      </p:sp>
      <p:sp>
        <p:nvSpPr>
          <p:cNvPr id="3" name="Pentagon 2">
            <a:extLst>
              <a:ext uri="{FF2B5EF4-FFF2-40B4-BE49-F238E27FC236}">
                <a16:creationId xmlns:a16="http://schemas.microsoft.com/office/drawing/2014/main" id="{6174EEF3-631E-F23E-F14D-92DF3E81F60C}"/>
              </a:ext>
            </a:extLst>
          </p:cNvPr>
          <p:cNvSpPr/>
          <p:nvPr/>
        </p:nvSpPr>
        <p:spPr>
          <a:xfrm>
            <a:off x="583714" y="739238"/>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45" name="Rectangle: Top Corners Rounded 44">
            <a:extLst>
              <a:ext uri="{FF2B5EF4-FFF2-40B4-BE49-F238E27FC236}">
                <a16:creationId xmlns:a16="http://schemas.microsoft.com/office/drawing/2014/main" id="{DD297225-5018-329E-DCE1-0EB4D7C4F523}"/>
              </a:ext>
            </a:extLst>
          </p:cNvPr>
          <p:cNvSpPr/>
          <p:nvPr/>
        </p:nvSpPr>
        <p:spPr>
          <a:xfrm rot="16200000">
            <a:off x="-918851" y="2249957"/>
            <a:ext cx="2693900" cy="28153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1"/>
                </a:solidFill>
                <a:latin typeface="+mj-lt"/>
                <a:ea typeface="Verdana"/>
                <a:cs typeface="Arial"/>
              </a:rPr>
              <a:t>Activities</a:t>
            </a:r>
            <a:endParaRPr lang="en-US" sz="900">
              <a:solidFill>
                <a:schemeClr val="bg1"/>
              </a:solidFill>
              <a:latin typeface="+mj-lt"/>
            </a:endParaRPr>
          </a:p>
        </p:txBody>
      </p:sp>
      <p:sp>
        <p:nvSpPr>
          <p:cNvPr id="75" name="Rectangle: Top Corners Rounded 48">
            <a:extLst>
              <a:ext uri="{FF2B5EF4-FFF2-40B4-BE49-F238E27FC236}">
                <a16:creationId xmlns:a16="http://schemas.microsoft.com/office/drawing/2014/main" id="{46CD8D8A-7D25-9AFA-864B-61C5A35C1657}"/>
              </a:ext>
            </a:extLst>
          </p:cNvPr>
          <p:cNvSpPr/>
          <p:nvPr/>
        </p:nvSpPr>
        <p:spPr>
          <a:xfrm rot="16200000">
            <a:off x="-16358" y="4107922"/>
            <a:ext cx="890824" cy="28219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latin typeface="+mj-lt"/>
                <a:ea typeface="+mn-lt"/>
                <a:cs typeface="+mn-lt"/>
              </a:rPr>
              <a:t>Control Gates</a:t>
            </a:r>
            <a:endParaRPr lang="en-US" sz="900">
              <a:solidFill>
                <a:schemeClr val="bg2"/>
              </a:solidFill>
              <a:latin typeface="+mj-lt"/>
            </a:endParaRPr>
          </a:p>
        </p:txBody>
      </p:sp>
      <p:sp>
        <p:nvSpPr>
          <p:cNvPr id="33" name="Chevron 3">
            <a:extLst>
              <a:ext uri="{FF2B5EF4-FFF2-40B4-BE49-F238E27FC236}">
                <a16:creationId xmlns:a16="http://schemas.microsoft.com/office/drawing/2014/main" id="{990D0F4A-B333-C8F0-2A99-3B3541ECAB68}"/>
              </a:ext>
            </a:extLst>
          </p:cNvPr>
          <p:cNvSpPr/>
          <p:nvPr/>
        </p:nvSpPr>
        <p:spPr>
          <a:xfrm>
            <a:off x="1887733" y="739024"/>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8" name="Chevron 3">
            <a:extLst>
              <a:ext uri="{FF2B5EF4-FFF2-40B4-BE49-F238E27FC236}">
                <a16:creationId xmlns:a16="http://schemas.microsoft.com/office/drawing/2014/main" id="{E509E518-90E1-4288-68B7-C71EEB8D8EA3}"/>
              </a:ext>
            </a:extLst>
          </p:cNvPr>
          <p:cNvSpPr/>
          <p:nvPr/>
        </p:nvSpPr>
        <p:spPr>
          <a:xfrm>
            <a:off x="3181438" y="739024"/>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Design</a:t>
            </a:r>
          </a:p>
        </p:txBody>
      </p:sp>
      <p:sp>
        <p:nvSpPr>
          <p:cNvPr id="40" name="Chevron 3">
            <a:extLst>
              <a:ext uri="{FF2B5EF4-FFF2-40B4-BE49-F238E27FC236}">
                <a16:creationId xmlns:a16="http://schemas.microsoft.com/office/drawing/2014/main" id="{7965BF22-1448-65F7-21CA-1839AF1E7992}"/>
              </a:ext>
            </a:extLst>
          </p:cNvPr>
          <p:cNvSpPr/>
          <p:nvPr/>
        </p:nvSpPr>
        <p:spPr>
          <a:xfrm>
            <a:off x="4479165" y="739024"/>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Build</a:t>
            </a:r>
          </a:p>
        </p:txBody>
      </p:sp>
      <p:sp>
        <p:nvSpPr>
          <p:cNvPr id="43" name="Chevron 3">
            <a:extLst>
              <a:ext uri="{FF2B5EF4-FFF2-40B4-BE49-F238E27FC236}">
                <a16:creationId xmlns:a16="http://schemas.microsoft.com/office/drawing/2014/main" id="{B9CB404C-B774-38BD-0496-C5F2630CB971}"/>
              </a:ext>
            </a:extLst>
          </p:cNvPr>
          <p:cNvSpPr/>
          <p:nvPr/>
        </p:nvSpPr>
        <p:spPr>
          <a:xfrm>
            <a:off x="5783184" y="739024"/>
            <a:ext cx="1576695"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Ext Test &amp; Deploy</a:t>
            </a:r>
          </a:p>
        </p:txBody>
      </p:sp>
    </p:spTree>
    <p:custDataLst>
      <p:tags r:id="rId1"/>
    </p:custDataLst>
    <p:extLst>
      <p:ext uri="{BB962C8B-B14F-4D97-AF65-F5344CB8AC3E}">
        <p14:creationId xmlns:p14="http://schemas.microsoft.com/office/powerpoint/2010/main" val="419741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CC5B-B187-961E-FBED-4DA1F5455A9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2033216-65A4-7A41-21D9-451CBF06D304}"/>
              </a:ext>
            </a:extLst>
          </p:cNvPr>
          <p:cNvSpPr>
            <a:spLocks noGrp="1"/>
          </p:cNvSpPr>
          <p:nvPr>
            <p:ph type="title"/>
          </p:nvPr>
        </p:nvSpPr>
        <p:spPr/>
        <p:txBody>
          <a:bodyPr/>
          <a:lstStyle/>
          <a:p>
            <a:r>
              <a:rPr lang="fr-FR"/>
              <a:t>Workshops Agenda, Participants, and Outcomes </a:t>
            </a:r>
          </a:p>
        </p:txBody>
      </p:sp>
      <p:graphicFrame>
        <p:nvGraphicFramePr>
          <p:cNvPr id="29" name="Content Placeholder 6">
            <a:extLst>
              <a:ext uri="{FF2B5EF4-FFF2-40B4-BE49-F238E27FC236}">
                <a16:creationId xmlns:a16="http://schemas.microsoft.com/office/drawing/2014/main" id="{FB41280E-A023-5D99-626F-804F01AC837D}"/>
              </a:ext>
            </a:extLst>
          </p:cNvPr>
          <p:cNvGraphicFramePr>
            <a:graphicFrameLocks/>
          </p:cNvGraphicFramePr>
          <p:nvPr/>
        </p:nvGraphicFramePr>
        <p:xfrm>
          <a:off x="227442" y="744132"/>
          <a:ext cx="8536715" cy="4223094"/>
        </p:xfrm>
        <a:graphic>
          <a:graphicData uri="http://schemas.openxmlformats.org/drawingml/2006/table">
            <a:tbl>
              <a:tblPr firstRow="1" bandRow="1">
                <a:tableStyleId>{F5AB1C69-6EDB-4FF4-983F-18BD219EF322}</a:tableStyleId>
              </a:tblPr>
              <a:tblGrid>
                <a:gridCol w="432630">
                  <a:extLst>
                    <a:ext uri="{9D8B030D-6E8A-4147-A177-3AD203B41FA5}">
                      <a16:colId xmlns:a16="http://schemas.microsoft.com/office/drawing/2014/main" val="318619860"/>
                    </a:ext>
                  </a:extLst>
                </a:gridCol>
                <a:gridCol w="1020806">
                  <a:extLst>
                    <a:ext uri="{9D8B030D-6E8A-4147-A177-3AD203B41FA5}">
                      <a16:colId xmlns:a16="http://schemas.microsoft.com/office/drawing/2014/main" val="2026150729"/>
                    </a:ext>
                  </a:extLst>
                </a:gridCol>
                <a:gridCol w="2346158">
                  <a:extLst>
                    <a:ext uri="{9D8B030D-6E8A-4147-A177-3AD203B41FA5}">
                      <a16:colId xmlns:a16="http://schemas.microsoft.com/office/drawing/2014/main" val="2022897790"/>
                    </a:ext>
                  </a:extLst>
                </a:gridCol>
                <a:gridCol w="1532657">
                  <a:extLst>
                    <a:ext uri="{9D8B030D-6E8A-4147-A177-3AD203B41FA5}">
                      <a16:colId xmlns:a16="http://schemas.microsoft.com/office/drawing/2014/main" val="3930715383"/>
                    </a:ext>
                  </a:extLst>
                </a:gridCol>
                <a:gridCol w="1846781">
                  <a:extLst>
                    <a:ext uri="{9D8B030D-6E8A-4147-A177-3AD203B41FA5}">
                      <a16:colId xmlns:a16="http://schemas.microsoft.com/office/drawing/2014/main" val="817247276"/>
                    </a:ext>
                  </a:extLst>
                </a:gridCol>
                <a:gridCol w="1357683">
                  <a:extLst>
                    <a:ext uri="{9D8B030D-6E8A-4147-A177-3AD203B41FA5}">
                      <a16:colId xmlns:a16="http://schemas.microsoft.com/office/drawing/2014/main" val="2256393854"/>
                    </a:ext>
                  </a:extLst>
                </a:gridCol>
              </a:tblGrid>
              <a:tr h="217329">
                <a:tc>
                  <a:txBody>
                    <a:bodyPr/>
                    <a:lstStyle/>
                    <a:p>
                      <a:pPr algn="ctr" rtl="0" fontAlgn="ctr"/>
                      <a:r>
                        <a:rPr lang="en-GB" sz="800" u="none" strike="noStrike">
                          <a:effectLst/>
                        </a:rPr>
                        <a:t>Session</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713532">
                <a:tc>
                  <a:txBody>
                    <a:bodyPr/>
                    <a:lstStyle/>
                    <a:p>
                      <a:pPr algn="ctr" rtl="0" fontAlgn="ctr"/>
                      <a:r>
                        <a:rPr lang="en-GB" sz="800" u="none" strike="noStrike">
                          <a:solidFill>
                            <a:schemeClr val="tx1"/>
                          </a:solidFill>
                          <a:effectLst/>
                        </a:rPr>
                        <a:t>0</a:t>
                      </a:r>
                    </a:p>
                  </a:txBody>
                  <a:tcPr marL="4711" marR="4711" marT="4711" marB="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Data &amp; Integrations </a:t>
                      </a:r>
                      <a:r>
                        <a:rPr lang="en-GB" sz="800" b="0" i="0">
                          <a:solidFill>
                            <a:schemeClr val="tx1"/>
                          </a:solidFill>
                          <a:effectLst/>
                          <a:latin typeface="Arial"/>
                        </a:rPr>
                        <a:t>​</a:t>
                      </a:r>
                    </a:p>
                  </a:txBody>
                  <a:tcPr marL="45720" marR="45720" anchor="ctr">
                    <a:solidFill>
                      <a:schemeClr val="bg2"/>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Confirm input and output data sources</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Identify source &amp; target systems</a:t>
                      </a:r>
                      <a:r>
                        <a:rPr lang="en-GB" sz="800" b="0" i="0">
                          <a:solidFill>
                            <a:schemeClr val="tx1"/>
                          </a:solidFill>
                          <a:effectLst/>
                          <a:latin typeface="Arial"/>
                        </a:rPr>
                        <a:t>​</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Review file structure &amp; format and interface approach</a:t>
                      </a:r>
                      <a:r>
                        <a:rPr lang="en-GB" sz="800" b="0" i="0">
                          <a:solidFill>
                            <a:schemeClr val="tx1"/>
                          </a:solidFill>
                          <a:effectLst/>
                          <a:latin typeface="Arial"/>
                        </a:rPr>
                        <a:t>​</a:t>
                      </a:r>
                    </a:p>
                    <a:p>
                      <a:pPr marL="171450" indent="-171450" algn="l" fontAlgn="base">
                        <a:lnSpc>
                          <a:spcPts val="1050"/>
                        </a:lnSpc>
                        <a:buFont typeface="Arial" panose="020B0604020202020204" pitchFamily="34" charset="0"/>
                        <a:buChar char="•"/>
                      </a:pPr>
                      <a:r>
                        <a:rPr lang="en-GB" sz="800" b="0" i="0">
                          <a:solidFill>
                            <a:schemeClr val="tx1"/>
                          </a:solidFill>
                          <a:effectLst/>
                          <a:latin typeface="Arial"/>
                        </a:rPr>
                        <a:t>Identify data owners</a:t>
                      </a:r>
                    </a:p>
                  </a:txBody>
                  <a:tcPr marL="45720" marR="4572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SMEs &amp; IT</a:t>
                      </a:r>
                      <a:r>
                        <a:rPr lang="en-GB" sz="800" b="0" i="0">
                          <a:solidFill>
                            <a:schemeClr val="tx1"/>
                          </a:solidFill>
                          <a:effectLst/>
                          <a:latin typeface="Arial"/>
                        </a:rPr>
                        <a:t>​</a:t>
                      </a:r>
                    </a:p>
                  </a:txBody>
                  <a:tcPr marL="45720" marR="45720" anchor="ctr">
                    <a:solidFill>
                      <a:schemeClr val="bg2"/>
                    </a:solidFill>
                  </a:tcPr>
                </a:tc>
                <a:tc>
                  <a:txBody>
                    <a:bodyPr/>
                    <a:lstStyle/>
                    <a:p>
                      <a:pPr algn="l" fontAlgn="base">
                        <a:lnSpc>
                          <a:spcPts val="1050"/>
                        </a:lnSpc>
                        <a:buNone/>
                      </a:pPr>
                      <a:endParaRPr lang="en-GB" sz="800" b="0" i="0">
                        <a:solidFill>
                          <a:schemeClr val="tx1"/>
                        </a:solidFill>
                        <a:effectLst/>
                        <a:latin typeface="Arial"/>
                      </a:endParaRPr>
                    </a:p>
                  </a:txBody>
                  <a:tcPr marL="45720" marR="4572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Anaplan standard templates with instructions</a:t>
                      </a:r>
                      <a:r>
                        <a:rPr lang="en-GB" sz="800" b="0" i="0">
                          <a:solidFill>
                            <a:schemeClr val="tx1"/>
                          </a:solidFill>
                          <a:effectLst/>
                          <a:latin typeface="Arial"/>
                        </a:rPr>
                        <a:t>​</a:t>
                      </a:r>
                    </a:p>
                    <a:p>
                      <a:pPr algn="l" fontAlgn="base">
                        <a:lnSpc>
                          <a:spcPts val="1050"/>
                        </a:lnSpc>
                        <a:buNone/>
                      </a:pPr>
                      <a:r>
                        <a:rPr lang="en-GB" sz="800" b="0" i="0">
                          <a:solidFill>
                            <a:schemeClr val="tx1"/>
                          </a:solidFill>
                          <a:effectLst/>
                          <a:latin typeface="Arial"/>
                        </a:rPr>
                        <a:t>​</a:t>
                      </a:r>
                    </a:p>
                  </a:txBody>
                  <a:tcPr marL="45720" marR="45720" anchor="ctr">
                    <a:solidFill>
                      <a:schemeClr val="bg2"/>
                    </a:solidFill>
                  </a:tcPr>
                </a:tc>
                <a:extLst>
                  <a:ext uri="{0D108BD9-81ED-4DB2-BD59-A6C34878D82A}">
                    <a16:rowId xmlns:a16="http://schemas.microsoft.com/office/drawing/2014/main" val="1485339405"/>
                  </a:ext>
                </a:extLst>
              </a:tr>
              <a:tr h="713532">
                <a:tc>
                  <a:txBody>
                    <a:bodyPr/>
                    <a:lstStyle/>
                    <a:p>
                      <a:pPr algn="ctr" rtl="0" fontAlgn="ctr"/>
                      <a:r>
                        <a:rPr lang="en-GB" sz="800" u="none" strike="noStrike">
                          <a:solidFill>
                            <a:schemeClr val="tx1"/>
                          </a:solidFill>
                          <a:effectLst/>
                        </a:rPr>
                        <a:t>1</a:t>
                      </a:r>
                    </a:p>
                  </a:txBody>
                  <a:tcPr marL="4711" marR="4711" marT="4711" marB="0" anchor="ctr">
                    <a:solidFill>
                      <a:schemeClr val="bg2"/>
                    </a:solidFill>
                  </a:tcPr>
                </a:tc>
                <a:tc>
                  <a:txBody>
                    <a:bodyPr/>
                    <a:lstStyle/>
                    <a:p>
                      <a:pPr algn="l" rtl="0" fontAlgn="ctr"/>
                      <a:r>
                        <a:rPr lang="en-GB" sz="800" u="none" strike="noStrike">
                          <a:solidFill>
                            <a:schemeClr val="tx1"/>
                          </a:solidFill>
                          <a:effectLst/>
                        </a:rPr>
                        <a:t>Solution Introduction &amp; Foundational Kick-Off</a:t>
                      </a: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Introduction to the implementation approach</a:t>
                      </a:r>
                      <a:endParaRPr lang="en-GB" sz="800" u="none" strike="noStrike">
                        <a:solidFill>
                          <a:srgbClr val="0A2F46"/>
                        </a:solidFill>
                        <a:effectLst/>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SIM/PM to lead</a:t>
                      </a:r>
                    </a:p>
                    <a:p>
                      <a:pPr lvl="0" algn="l">
                        <a:buNone/>
                      </a:pPr>
                      <a:r>
                        <a:rPr lang="en-GB" sz="800" u="none" strike="noStrike">
                          <a:solidFill>
                            <a:schemeClr val="tx1"/>
                          </a:solidFill>
                          <a:effectLst/>
                        </a:rPr>
                        <a:t>Project Team (Business users, SMEs, etc.) to attend</a:t>
                      </a:r>
                    </a:p>
                  </a:txBody>
                  <a:tcPr marL="45720" marR="45720" anchor="ctr">
                    <a:solidFill>
                      <a:schemeClr val="bg2"/>
                    </a:solidFill>
                  </a:tcPr>
                </a:tc>
                <a:tc>
                  <a:txBody>
                    <a:bodyPr/>
                    <a:lstStyle/>
                    <a:p>
                      <a:pPr algn="l" rtl="0" fontAlgn="ctr"/>
                      <a:endParaRPr lang="en-GB" sz="800" u="none" strike="noStrike">
                        <a:solidFill>
                          <a:schemeClr val="tx1"/>
                        </a:solidFill>
                        <a:effectLst/>
                      </a:endParaRPr>
                    </a:p>
                  </a:txBody>
                  <a:tcPr marL="45720" marR="45720" anchor="ctr">
                    <a:solidFill>
                      <a:schemeClr val="bg2"/>
                    </a:solidFill>
                  </a:tcPr>
                </a:tc>
                <a:tc>
                  <a:txBody>
                    <a:bodyPr/>
                    <a:lstStyle/>
                    <a:p>
                      <a:pPr lvl="0" algn="l">
                        <a:lnSpc>
                          <a:spcPct val="100000"/>
                        </a:lnSpc>
                        <a:spcBef>
                          <a:spcPts val="0"/>
                        </a:spcBef>
                        <a:spcAft>
                          <a:spcPts val="0"/>
                        </a:spcAft>
                        <a:buNone/>
                      </a:pPr>
                      <a:r>
                        <a:rPr lang="en-GB" sz="800" b="0" u="none" strike="noStrike" noProof="0">
                          <a:solidFill>
                            <a:schemeClr val="tx1"/>
                          </a:solidFill>
                          <a:effectLst/>
                        </a:rPr>
                        <a:t>Project Kick-Off Deck and list of Foundation Workshops</a:t>
                      </a:r>
                      <a:endParaRPr lang="en-GB" sz="800" b="0" i="0" u="none" strike="noStrike" noProof="0">
                        <a:solidFill>
                          <a:schemeClr val="tx1"/>
                        </a:solidFill>
                        <a:effectLst/>
                        <a:latin typeface="Arial"/>
                      </a:endParaRPr>
                    </a:p>
                  </a:txBody>
                  <a:tcPr marL="45720" marR="45720" anchor="ctr">
                    <a:solidFill>
                      <a:schemeClr val="bg2"/>
                    </a:solidFill>
                  </a:tcPr>
                </a:tc>
                <a:extLst>
                  <a:ext uri="{0D108BD9-81ED-4DB2-BD59-A6C34878D82A}">
                    <a16:rowId xmlns:a16="http://schemas.microsoft.com/office/drawing/2014/main" val="3612544707"/>
                  </a:ext>
                </a:extLst>
              </a:tr>
              <a:tr h="1013966">
                <a:tc>
                  <a:txBody>
                    <a:bodyPr/>
                    <a:lstStyle/>
                    <a:p>
                      <a:pPr algn="ctr" rtl="0" fontAlgn="ctr"/>
                      <a:r>
                        <a:rPr lang="en-GB" sz="800" u="none" strike="noStrike">
                          <a:solidFill>
                            <a:schemeClr val="tx1"/>
                          </a:solidFill>
                          <a:effectLst/>
                        </a:rPr>
                        <a:t>2</a:t>
                      </a:r>
                    </a:p>
                  </a:txBody>
                  <a:tcPr marL="4711" marR="4711" marT="4711" marB="0" anchor="ctr">
                    <a:solidFill>
                      <a:schemeClr val="bg2"/>
                    </a:solidFill>
                  </a:tcPr>
                </a:tc>
                <a:tc>
                  <a:txBody>
                    <a:bodyPr/>
                    <a:lstStyle/>
                    <a:p>
                      <a:pPr algn="l" rtl="0" fontAlgn="ctr"/>
                      <a:r>
                        <a:rPr lang="en-GB" sz="800" u="none" strike="noStrike">
                          <a:solidFill>
                            <a:schemeClr val="tx1"/>
                          </a:solidFill>
                          <a:effectLst/>
                        </a:rPr>
                        <a:t>Fitting T&amp;Q Process to App Functionality (Demo)</a:t>
                      </a: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High level overview of the base app functionality, key capabilities, user roles, interaction with other systems, cadence &amp; granularity</a:t>
                      </a:r>
                    </a:p>
                    <a:p>
                      <a:pPr marL="171450" indent="-171450" algn="l" rtl="0" fontAlgn="ctr">
                        <a:buFont typeface="Arial" panose="020B0604020202020204" pitchFamily="34" charset="0"/>
                        <a:buChar char="•"/>
                      </a:pPr>
                      <a:r>
                        <a:rPr lang="en-GB" sz="800" u="none" strike="noStrike">
                          <a:solidFill>
                            <a:schemeClr val="tx1"/>
                          </a:solidFill>
                          <a:effectLst/>
                        </a:rPr>
                        <a:t>High level functional fit assessment, key gaps to be addressed</a:t>
                      </a:r>
                    </a:p>
                  </a:txBody>
                  <a:tcPr marL="45720" marR="45720" anchor="ctr">
                    <a:solidFill>
                      <a:schemeClr val="bg2"/>
                    </a:solidFill>
                  </a:tcPr>
                </a:tc>
                <a:tc>
                  <a:txBody>
                    <a:bodyPr/>
                    <a:lstStyle/>
                    <a:p>
                      <a:pPr algn="l" rtl="0" fontAlgn="ctr"/>
                      <a:r>
                        <a:rPr lang="en-GB" sz="800" b="0" u="none" strike="noStrike">
                          <a:solidFill>
                            <a:schemeClr val="tx1"/>
                          </a:solidFill>
                          <a:effectLst/>
                        </a:rPr>
                        <a:t>Customer Process Owners, SMEs, T&amp;Q Stakeholders &amp; Data + IT for high level end to end process</a:t>
                      </a:r>
                    </a:p>
                  </a:txBody>
                  <a:tcPr marL="45720" marR="45720" anchor="ctr">
                    <a:solidFill>
                      <a:schemeClr val="bg2"/>
                    </a:solidFill>
                  </a:tcPr>
                </a:tc>
                <a:tc>
                  <a:txBody>
                    <a:bodyPr/>
                    <a:lstStyle/>
                    <a:p>
                      <a:pPr lvl="0" algn="l">
                        <a:buNone/>
                      </a:pPr>
                      <a:r>
                        <a:rPr lang="en-GB" sz="800" u="none" strike="noStrike">
                          <a:solidFill>
                            <a:schemeClr val="tx1"/>
                          </a:solidFill>
                          <a:effectLst/>
                        </a:rPr>
                        <a:t>List of Proposed Data Sources </a:t>
                      </a:r>
                    </a:p>
                    <a:p>
                      <a:pPr lvl="0" algn="l">
                        <a:buNone/>
                      </a:pPr>
                      <a:r>
                        <a:rPr lang="en-GB" sz="800" u="none" strike="noStrike">
                          <a:solidFill>
                            <a:schemeClr val="tx1"/>
                          </a:solidFill>
                          <a:effectLst/>
                        </a:rPr>
                        <a:t>User Personas</a:t>
                      </a:r>
                    </a:p>
                  </a:txBody>
                  <a:tcPr marL="45720" marR="45720" anchor="ctr">
                    <a:solidFill>
                      <a:schemeClr val="bg2"/>
                    </a:solidFill>
                  </a:tcPr>
                </a:tc>
                <a:tc>
                  <a:txBody>
                    <a:bodyPr/>
                    <a:lstStyle/>
                    <a:p>
                      <a:pPr lvl="0" algn="l">
                        <a:buNone/>
                      </a:pPr>
                      <a:r>
                        <a:rPr lang="en-GB" sz="800" b="0" u="none" strike="noStrike">
                          <a:solidFill>
                            <a:schemeClr val="tx1"/>
                          </a:solidFill>
                          <a:effectLst/>
                        </a:rPr>
                        <a:t>T&amp;Q App Demo Prepared, T&amp;Q </a:t>
                      </a:r>
                      <a:r>
                        <a:rPr lang="en-GB" sz="800" u="none" strike="noStrike">
                          <a:solidFill>
                            <a:schemeClr val="tx1"/>
                          </a:solidFill>
                          <a:effectLst/>
                        </a:rPr>
                        <a:t>App and L1/L2 Process Flows</a:t>
                      </a:r>
                    </a:p>
                  </a:txBody>
                  <a:tcPr marL="45720" marR="45720" anchor="ctr">
                    <a:solidFill>
                      <a:schemeClr val="bg2"/>
                    </a:solidFill>
                  </a:tcPr>
                </a:tc>
                <a:extLst>
                  <a:ext uri="{0D108BD9-81ED-4DB2-BD59-A6C34878D82A}">
                    <a16:rowId xmlns:a16="http://schemas.microsoft.com/office/drawing/2014/main" val="3294064948"/>
                  </a:ext>
                </a:extLst>
              </a:tr>
              <a:tr h="713532">
                <a:tc>
                  <a:txBody>
                    <a:bodyPr/>
                    <a:lstStyle/>
                    <a:p>
                      <a:pPr algn="ctr" rtl="0" fontAlgn="ctr"/>
                      <a:r>
                        <a:rPr lang="en-GB" sz="800" u="none" strike="noStrike">
                          <a:solidFill>
                            <a:schemeClr val="tx1"/>
                          </a:solidFill>
                          <a:effectLst/>
                        </a:rPr>
                        <a:t>3</a:t>
                      </a:r>
                    </a:p>
                  </a:txBody>
                  <a:tcPr marL="4711" marR="4711" marT="4711" marB="0" anchor="ctr">
                    <a:solidFill>
                      <a:srgbClr val="F2F1EE">
                        <a:alpha val="60000"/>
                      </a:srgbClr>
                    </a:solidFill>
                  </a:tcPr>
                </a:tc>
                <a:tc>
                  <a:txBody>
                    <a:bodyPr/>
                    <a:lstStyle/>
                    <a:p>
                      <a:pPr algn="l" rtl="0" fontAlgn="ctr"/>
                      <a:r>
                        <a:rPr lang="en-GB" sz="800" u="none" strike="noStrike">
                          <a:solidFill>
                            <a:schemeClr val="tx1"/>
                          </a:solidFill>
                          <a:effectLst/>
                        </a:rPr>
                        <a:t>First review; dimensions &amp; hierarchies</a:t>
                      </a:r>
                    </a:p>
                  </a:txBody>
                  <a:tcPr marL="45720" marR="45720" anchor="ctr">
                    <a:solidFill>
                      <a:srgbClr val="F2F1EE">
                        <a:alpha val="60000"/>
                      </a:srgbClr>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Understanding of client dimensions and hierarchies</a:t>
                      </a:r>
                    </a:p>
                    <a:p>
                      <a:pPr marL="171450" indent="-171450" algn="l" rtl="0" fontAlgn="ctr">
                        <a:buFont typeface="Arial" panose="020B0604020202020204" pitchFamily="34" charset="0"/>
                        <a:buChar char="•"/>
                      </a:pPr>
                      <a:r>
                        <a:rPr lang="en-GB" sz="800" u="none" strike="noStrike">
                          <a:solidFill>
                            <a:schemeClr val="tx1"/>
                          </a:solidFill>
                          <a:effectLst/>
                        </a:rPr>
                        <a:t>First pass goal/target/assignment setting rules within the model</a:t>
                      </a:r>
                    </a:p>
                  </a:txBody>
                  <a:tcPr marL="45720" marR="45720" anchor="ctr">
                    <a:solidFill>
                      <a:srgbClr val="F2F1EE">
                        <a:alpha val="60000"/>
                      </a:srgbClr>
                    </a:solidFill>
                  </a:tcPr>
                </a:tc>
                <a:tc>
                  <a:txBody>
                    <a:bodyPr/>
                    <a:lstStyle/>
                    <a:p>
                      <a:pPr algn="l" rtl="0" fontAlgn="ctr"/>
                      <a:r>
                        <a:rPr lang="en-GB" sz="800" u="none" strike="noStrike">
                          <a:solidFill>
                            <a:schemeClr val="tx1"/>
                          </a:solidFill>
                          <a:effectLst/>
                        </a:rPr>
                        <a:t>Project Team (SMEs, T&amp;Q Stakeholders, Data </a:t>
                      </a:r>
                      <a:r>
                        <a:rPr lang="en-GB" sz="800" b="0" u="none" strike="noStrike" noProof="0">
                          <a:solidFill>
                            <a:schemeClr val="tx1"/>
                          </a:solidFill>
                          <a:effectLst/>
                        </a:rPr>
                        <a:t>Modelling Team </a:t>
                      </a:r>
                      <a:r>
                        <a:rPr lang="en-GB" sz="800" u="none" strike="noStrike">
                          <a:solidFill>
                            <a:schemeClr val="tx1"/>
                          </a:solidFill>
                          <a:effectLst/>
                        </a:rPr>
                        <a:t>+ IT etc.)</a:t>
                      </a:r>
                    </a:p>
                  </a:txBody>
                  <a:tcPr marL="45720" marR="45720" anchor="ctr">
                    <a:solidFill>
                      <a:srgbClr val="F2F1EE">
                        <a:alpha val="60000"/>
                      </a:srgbClr>
                    </a:solidFill>
                  </a:tcPr>
                </a:tc>
                <a:tc>
                  <a:txBody>
                    <a:bodyPr/>
                    <a:lstStyle/>
                    <a:p>
                      <a:pPr algn="l" rtl="0" fontAlgn="ctr"/>
                      <a:r>
                        <a:rPr lang="en-GB" sz="800" u="none" strike="noStrike">
                          <a:solidFill>
                            <a:schemeClr val="tx1"/>
                          </a:solidFill>
                          <a:effectLst/>
                        </a:rPr>
                        <a:t>Desired Goal/Target/Assignment Setting Rules</a:t>
                      </a:r>
                    </a:p>
                  </a:txBody>
                  <a:tcPr marL="45720" marR="45720" anchor="ctr">
                    <a:solidFill>
                      <a:srgbClr val="F2F1EE">
                        <a:alpha val="60000"/>
                      </a:srgbClr>
                    </a:solidFill>
                  </a:tcPr>
                </a:tc>
                <a:tc>
                  <a:txBody>
                    <a:bodyPr/>
                    <a:lstStyle/>
                    <a:p>
                      <a:pPr lvl="0" algn="l">
                        <a:buNone/>
                      </a:pPr>
                      <a:r>
                        <a:rPr lang="en-GB" sz="800" b="0" u="none" strike="noStrike" noProof="0">
                          <a:solidFill>
                            <a:schemeClr val="tx1"/>
                          </a:solidFill>
                          <a:effectLst/>
                        </a:rPr>
                        <a:t>Presentation of session content (supporting slides as needed); examples of customer’s hierarchies</a:t>
                      </a:r>
                      <a:endParaRPr lang="en-US" sz="800" i="0">
                        <a:solidFill>
                          <a:schemeClr val="tx1"/>
                        </a:solidFill>
                      </a:endParaRPr>
                    </a:p>
                  </a:txBody>
                  <a:tcPr marL="45720" marR="45720" anchor="ctr">
                    <a:solidFill>
                      <a:srgbClr val="F2F1EE">
                        <a:alpha val="60000"/>
                      </a:srgbClr>
                    </a:solidFill>
                  </a:tcPr>
                </a:tc>
                <a:extLst>
                  <a:ext uri="{0D108BD9-81ED-4DB2-BD59-A6C34878D82A}">
                    <a16:rowId xmlns:a16="http://schemas.microsoft.com/office/drawing/2014/main" val="1936566769"/>
                  </a:ext>
                </a:extLst>
              </a:tr>
              <a:tr h="786606">
                <a:tc>
                  <a:txBody>
                    <a:bodyPr/>
                    <a:lstStyle/>
                    <a:p>
                      <a:pPr algn="ctr" rtl="0" fontAlgn="ctr"/>
                      <a:r>
                        <a:rPr lang="en-GB" sz="800" u="none" strike="noStrike">
                          <a:solidFill>
                            <a:schemeClr val="tx1"/>
                          </a:solidFill>
                          <a:effectLst/>
                        </a:rPr>
                        <a:t>4</a:t>
                      </a:r>
                    </a:p>
                  </a:txBody>
                  <a:tcPr marL="4711" marR="4711" marT="4711" marB="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Data &amp; Integrations Deep Dive </a:t>
                      </a:r>
                      <a:r>
                        <a:rPr lang="en-GB" sz="800" b="0" i="0">
                          <a:solidFill>
                            <a:schemeClr val="tx1"/>
                          </a:solidFill>
                          <a:effectLst/>
                          <a:latin typeface="Arial"/>
                        </a:rPr>
                        <a:t>​</a:t>
                      </a:r>
                    </a:p>
                  </a:txBody>
                  <a:tcPr marL="45720" marR="45720" anchor="ctr">
                    <a:solidFill>
                      <a:srgbClr val="F2F1EE">
                        <a:alpha val="60000"/>
                      </a:srgbClr>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Deep dive on customer pre-filled data templates</a:t>
                      </a:r>
                      <a:endParaRPr lang="en-GB" sz="800" b="0" i="0">
                        <a:solidFill>
                          <a:schemeClr val="tx1"/>
                        </a:solidFill>
                        <a:effectLst/>
                        <a:latin typeface="Arial"/>
                      </a:endParaRPr>
                    </a:p>
                  </a:txBody>
                  <a:tcPr marL="45720" marR="4572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SMEs &amp; IT</a:t>
                      </a:r>
                      <a:r>
                        <a:rPr lang="en-GB" sz="800" b="0" i="0">
                          <a:solidFill>
                            <a:schemeClr val="tx1"/>
                          </a:solidFill>
                          <a:effectLst/>
                          <a:latin typeface="Arial"/>
                        </a:rPr>
                        <a:t>​</a:t>
                      </a:r>
                    </a:p>
                  </a:txBody>
                  <a:tcPr marL="45720" marR="4572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Customer to provide pre-filled templates (T&amp;Q Planning App Data Prep Workbook)</a:t>
                      </a:r>
                      <a:endParaRPr lang="en-GB" sz="800" b="0" i="0">
                        <a:solidFill>
                          <a:schemeClr val="tx1"/>
                        </a:solidFill>
                        <a:effectLst/>
                        <a:latin typeface="Arial"/>
                      </a:endParaRPr>
                    </a:p>
                  </a:txBody>
                  <a:tcPr marL="45720" marR="45720" anchor="ctr">
                    <a:solidFill>
                      <a:srgbClr val="F2F1EE">
                        <a:alpha val="60000"/>
                      </a:srgbClr>
                    </a:solidFill>
                  </a:tcPr>
                </a:tc>
                <a:tc>
                  <a:txBody>
                    <a:bodyPr/>
                    <a:lstStyle/>
                    <a:p>
                      <a:pPr algn="l" fontAlgn="base">
                        <a:lnSpc>
                          <a:spcPts val="1050"/>
                        </a:lnSpc>
                        <a:buNone/>
                      </a:pPr>
                      <a:r>
                        <a:rPr lang="en-GB" sz="800" b="0" i="0">
                          <a:solidFill>
                            <a:schemeClr val="tx1"/>
                          </a:solidFill>
                          <a:effectLst/>
                          <a:latin typeface="Arial"/>
                        </a:rPr>
                        <a:t>​</a:t>
                      </a:r>
                    </a:p>
                    <a:p>
                      <a:pPr algn="l" fontAlgn="base">
                        <a:lnSpc>
                          <a:spcPts val="1050"/>
                        </a:lnSpc>
                        <a:buNone/>
                      </a:pPr>
                      <a:r>
                        <a:rPr lang="en-GB" sz="800" b="0" i="0">
                          <a:solidFill>
                            <a:schemeClr val="tx1"/>
                          </a:solidFill>
                          <a:effectLst/>
                          <a:latin typeface="Arial"/>
                        </a:rPr>
                        <a:t>​</a:t>
                      </a:r>
                    </a:p>
                  </a:txBody>
                  <a:tcPr marL="45720" marR="45720" anchor="ctr">
                    <a:solidFill>
                      <a:srgbClr val="F2F1EE">
                        <a:alpha val="60000"/>
                      </a:srgbClr>
                    </a:solidFill>
                  </a:tcPr>
                </a:tc>
                <a:extLst>
                  <a:ext uri="{0D108BD9-81ED-4DB2-BD59-A6C34878D82A}">
                    <a16:rowId xmlns:a16="http://schemas.microsoft.com/office/drawing/2014/main" val="1466951726"/>
                  </a:ext>
                </a:extLst>
              </a:tr>
            </a:tbl>
          </a:graphicData>
        </a:graphic>
      </p:graphicFrame>
    </p:spTree>
    <p:custDataLst>
      <p:tags r:id="rId1"/>
    </p:custDataLst>
    <p:extLst>
      <p:ext uri="{BB962C8B-B14F-4D97-AF65-F5344CB8AC3E}">
        <p14:creationId xmlns:p14="http://schemas.microsoft.com/office/powerpoint/2010/main" val="22250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13DA-988B-3131-23CF-30D8CE3F2C9F}"/>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D52EFF8-62B8-F74F-DA38-860AE00CDFF6}"/>
              </a:ext>
            </a:extLst>
          </p:cNvPr>
          <p:cNvSpPr>
            <a:spLocks noGrp="1"/>
          </p:cNvSpPr>
          <p:nvPr>
            <p:ph type="title"/>
          </p:nvPr>
        </p:nvSpPr>
        <p:spPr>
          <a:xfrm>
            <a:off x="267769" y="269947"/>
            <a:ext cx="8153401" cy="338554"/>
          </a:xfrm>
        </p:spPr>
        <p:txBody>
          <a:bodyPr/>
          <a:lstStyle/>
          <a:p>
            <a:r>
              <a:rPr lang="fr-FR"/>
              <a:t>Workshops Agenda, Participants, and Outcomes</a:t>
            </a:r>
          </a:p>
        </p:txBody>
      </p:sp>
      <p:sp>
        <p:nvSpPr>
          <p:cNvPr id="5" name="Rectangle 1">
            <a:extLst>
              <a:ext uri="{FF2B5EF4-FFF2-40B4-BE49-F238E27FC236}">
                <a16:creationId xmlns:a16="http://schemas.microsoft.com/office/drawing/2014/main" id="{E66AA076-CEDD-D662-E9E8-239D23A9D913}"/>
              </a:ext>
            </a:extLst>
          </p:cNvPr>
          <p:cNvSpPr>
            <a:spLocks noChangeArrowheads="1"/>
          </p:cNvSpPr>
          <p:nvPr/>
        </p:nvSpPr>
        <p:spPr bwMode="auto">
          <a:xfrm>
            <a:off x="628650" y="9349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FR" altLang="en-FR" sz="1800" b="0" i="0" u="none" strike="noStrike" cap="none" normalizeH="0" baseline="0">
                <a:ln>
                  <a:noFill/>
                </a:ln>
                <a:solidFill>
                  <a:srgbClr val="000000"/>
                </a:solidFill>
                <a:effectLst/>
                <a:latin typeface="Times"/>
              </a:rPr>
              <a:t> </a:t>
            </a:r>
            <a:endParaRPr kumimoji="0" lang="en-FR" altLang="en-FR"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FR" altLang="en-FR" sz="1800" b="0" i="0" u="none" strike="noStrike" cap="none" normalizeH="0" baseline="0">
              <a:ln>
                <a:noFill/>
              </a:ln>
              <a:solidFill>
                <a:schemeClr val="tx1"/>
              </a:solidFill>
              <a:effectLst/>
              <a:latin typeface="Arial" panose="020B0604020202020204" pitchFamily="34" charset="0"/>
            </a:endParaRPr>
          </a:p>
        </p:txBody>
      </p:sp>
      <p:graphicFrame>
        <p:nvGraphicFramePr>
          <p:cNvPr id="6" name="Content Placeholder 6">
            <a:extLst>
              <a:ext uri="{FF2B5EF4-FFF2-40B4-BE49-F238E27FC236}">
                <a16:creationId xmlns:a16="http://schemas.microsoft.com/office/drawing/2014/main" id="{1A04A808-3DA8-1D28-4CD6-8944CC0EBA8E}"/>
              </a:ext>
            </a:extLst>
          </p:cNvPr>
          <p:cNvGraphicFramePr>
            <a:graphicFrameLocks/>
          </p:cNvGraphicFramePr>
          <p:nvPr/>
        </p:nvGraphicFramePr>
        <p:xfrm>
          <a:off x="216150" y="727777"/>
          <a:ext cx="8559299" cy="2552814"/>
        </p:xfrm>
        <a:graphic>
          <a:graphicData uri="http://schemas.openxmlformats.org/drawingml/2006/table">
            <a:tbl>
              <a:tblPr firstRow="1" bandRow="1">
                <a:tableStyleId>{F5AB1C69-6EDB-4FF4-983F-18BD219EF322}</a:tableStyleId>
              </a:tblPr>
              <a:tblGrid>
                <a:gridCol w="463343">
                  <a:extLst>
                    <a:ext uri="{9D8B030D-6E8A-4147-A177-3AD203B41FA5}">
                      <a16:colId xmlns:a16="http://schemas.microsoft.com/office/drawing/2014/main" val="318619860"/>
                    </a:ext>
                  </a:extLst>
                </a:gridCol>
                <a:gridCol w="993939">
                  <a:extLst>
                    <a:ext uri="{9D8B030D-6E8A-4147-A177-3AD203B41FA5}">
                      <a16:colId xmlns:a16="http://schemas.microsoft.com/office/drawing/2014/main" val="2026150729"/>
                    </a:ext>
                  </a:extLst>
                </a:gridCol>
                <a:gridCol w="2352366">
                  <a:extLst>
                    <a:ext uri="{9D8B030D-6E8A-4147-A177-3AD203B41FA5}">
                      <a16:colId xmlns:a16="http://schemas.microsoft.com/office/drawing/2014/main" val="2022897790"/>
                    </a:ext>
                  </a:extLst>
                </a:gridCol>
                <a:gridCol w="1536711">
                  <a:extLst>
                    <a:ext uri="{9D8B030D-6E8A-4147-A177-3AD203B41FA5}">
                      <a16:colId xmlns:a16="http://schemas.microsoft.com/office/drawing/2014/main" val="3930715383"/>
                    </a:ext>
                  </a:extLst>
                </a:gridCol>
                <a:gridCol w="1851666">
                  <a:extLst>
                    <a:ext uri="{9D8B030D-6E8A-4147-A177-3AD203B41FA5}">
                      <a16:colId xmlns:a16="http://schemas.microsoft.com/office/drawing/2014/main" val="817247276"/>
                    </a:ext>
                  </a:extLst>
                </a:gridCol>
                <a:gridCol w="1361274">
                  <a:extLst>
                    <a:ext uri="{9D8B030D-6E8A-4147-A177-3AD203B41FA5}">
                      <a16:colId xmlns:a16="http://schemas.microsoft.com/office/drawing/2014/main" val="2256393854"/>
                    </a:ext>
                  </a:extLst>
                </a:gridCol>
              </a:tblGrid>
              <a:tr h="176390">
                <a:tc>
                  <a:txBody>
                    <a:bodyPr/>
                    <a:lstStyle/>
                    <a:p>
                      <a:pPr algn="ctr" rtl="0" fontAlgn="ctr"/>
                      <a:r>
                        <a:rPr lang="en-GB" sz="800" u="none" strike="noStrike">
                          <a:effectLst/>
                        </a:rPr>
                        <a:t>Session</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514187">
                <a:tc>
                  <a:txBody>
                    <a:bodyPr/>
                    <a:lstStyle/>
                    <a:p>
                      <a:pPr algn="ctr" rtl="0" fontAlgn="ctr"/>
                      <a:r>
                        <a:rPr lang="en-GB" sz="800" b="0" i="0" u="none" strike="noStrike">
                          <a:solidFill>
                            <a:schemeClr val="tx1"/>
                          </a:solidFill>
                          <a:effectLst/>
                          <a:latin typeface="Arial"/>
                        </a:rPr>
                        <a:t>5</a:t>
                      </a:r>
                    </a:p>
                  </a:txBody>
                  <a:tcPr marL="4711" marR="4711" marT="4711" marB="0" anchor="ctr">
                    <a:solidFill>
                      <a:schemeClr val="bg2"/>
                    </a:solidFill>
                  </a:tcPr>
                </a:tc>
                <a:tc>
                  <a:txBody>
                    <a:bodyPr/>
                    <a:lstStyle/>
                    <a:p>
                      <a:pPr algn="l" rtl="0" fontAlgn="ctr"/>
                      <a:r>
                        <a:rPr lang="en-GB" sz="800" u="none" strike="noStrike">
                          <a:solidFill>
                            <a:schemeClr val="tx1"/>
                          </a:solidFill>
                          <a:effectLst/>
                        </a:rPr>
                        <a:t>T&amp;Q Detailed Exploration (App Walkthrough) Pt. 1</a:t>
                      </a:r>
                      <a:endParaRPr lang="en-GB" sz="800" b="0" i="0" u="none" strike="noStrike">
                        <a:solidFill>
                          <a:schemeClr val="tx1"/>
                        </a:solidFill>
                        <a:effectLst/>
                        <a:latin typeface="Arial"/>
                      </a:endParaRP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Further define configuration requirements for each component within the App</a:t>
                      </a:r>
                    </a:p>
                    <a:p>
                      <a:pPr marL="171450" indent="-171450" algn="l" rtl="0" fontAlgn="ctr">
                        <a:buFont typeface="Arial" panose="020B0604020202020204" pitchFamily="34" charset="0"/>
                        <a:buChar char="•"/>
                      </a:pPr>
                      <a:r>
                        <a:rPr lang="en-GB" sz="800" u="none" strike="noStrike">
                          <a:solidFill>
                            <a:schemeClr val="tx1"/>
                          </a:solidFill>
                          <a:effectLst/>
                        </a:rPr>
                        <a:t>Review dimension &amp; hierarchy definitions configured in App</a:t>
                      </a:r>
                    </a:p>
                    <a:p>
                      <a:pPr marL="171450" indent="-171450" algn="l" rtl="0" fontAlgn="ctr">
                        <a:buFont typeface="Arial" panose="020B0604020202020204" pitchFamily="34" charset="0"/>
                        <a:buChar char="•"/>
                      </a:pPr>
                      <a:r>
                        <a:rPr lang="en-GB" sz="800" u="none" strike="noStrike">
                          <a:solidFill>
                            <a:schemeClr val="tx1"/>
                          </a:solidFill>
                          <a:effectLst/>
                        </a:rPr>
                        <a:t>Identify customizations required in comparison to standard functionality</a:t>
                      </a:r>
                      <a:endParaRPr lang="en-GB" sz="800" b="0" i="0" u="none" strike="noStrike">
                        <a:solidFill>
                          <a:schemeClr val="tx1"/>
                        </a:solidFill>
                        <a:effectLst/>
                        <a:latin typeface="+mn-lt"/>
                      </a:endParaRPr>
                    </a:p>
                  </a:txBody>
                  <a:tcPr marL="45720" marR="45720" anchor="ctr">
                    <a:solidFill>
                      <a:schemeClr val="bg2"/>
                    </a:solidFill>
                  </a:tcPr>
                </a:tc>
                <a:tc>
                  <a:txBody>
                    <a:bodyPr/>
                    <a:lstStyle/>
                    <a:p>
                      <a:pPr algn="l" rtl="0" fontAlgn="ctr"/>
                      <a:r>
                        <a:rPr lang="en-GB" sz="800" u="none" strike="noStrike">
                          <a:solidFill>
                            <a:schemeClr val="tx1"/>
                          </a:solidFill>
                          <a:effectLst/>
                        </a:rPr>
                        <a:t>T&amp;Q SM</a:t>
                      </a:r>
                      <a:r>
                        <a:rPr lang="en-GB" sz="800" u="none" strike="noStrike" kern="1200">
                          <a:solidFill>
                            <a:schemeClr val="tx1"/>
                          </a:solidFill>
                          <a:effectLst/>
                        </a:rPr>
                        <a:t>Es, </a:t>
                      </a:r>
                      <a:r>
                        <a:rPr lang="en-GB" sz="800" u="none" strike="noStrike" kern="1200" noProof="0">
                          <a:solidFill>
                            <a:schemeClr val="tx1"/>
                          </a:solidFill>
                          <a:effectLst/>
                        </a:rPr>
                        <a:t>Data Modeling Team </a:t>
                      </a:r>
                      <a:r>
                        <a:rPr lang="en-GB" sz="800" u="none" strike="noStrike" kern="1200">
                          <a:solidFill>
                            <a:schemeClr val="tx1"/>
                          </a:solidFill>
                          <a:effectLst/>
                        </a:rPr>
                        <a:t>&amp; users</a:t>
                      </a:r>
                      <a:endParaRPr lang="en-GB" sz="800" u="none" strike="noStrike" kern="1200">
                        <a:solidFill>
                          <a:schemeClr val="tx1"/>
                        </a:solidFill>
                        <a:effectLst/>
                        <a:latin typeface="+mn-lt"/>
                        <a:ea typeface="+mn-ea"/>
                        <a:cs typeface="+mn-cs"/>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T&amp;Q App Templates Completed with Sample Data, Desired T&amp;Q output Granularity, Historical Data </a:t>
                      </a:r>
                      <a:r>
                        <a:rPr lang="en-GB" sz="800" b="0" u="none" strike="noStrike" noProof="0">
                          <a:solidFill>
                            <a:schemeClr val="tx1"/>
                          </a:solidFill>
                          <a:effectLst/>
                        </a:rPr>
                        <a:t>Availability</a:t>
                      </a:r>
                      <a:endParaRPr lang="en-GB" sz="800" b="0" i="0" u="none" strike="noStrike" noProof="0">
                        <a:solidFill>
                          <a:schemeClr val="tx1"/>
                        </a:solidFill>
                        <a:effectLst/>
                        <a:latin typeface="Arial"/>
                      </a:endParaRPr>
                    </a:p>
                  </a:txBody>
                  <a:tcPr marL="45720" marR="45720" anchor="ctr">
                    <a:solidFill>
                      <a:schemeClr val="bg2"/>
                    </a:solidFill>
                  </a:tcPr>
                </a:tc>
                <a:tc>
                  <a:txBody>
                    <a:bodyPr/>
                    <a:lstStyle/>
                    <a:p>
                      <a:pPr lvl="0" algn="l">
                        <a:buNone/>
                      </a:pPr>
                      <a:r>
                        <a:rPr lang="en-GB" sz="800" b="0" u="none" strike="noStrike" noProof="0">
                          <a:solidFill>
                            <a:schemeClr val="tx1"/>
                          </a:solidFill>
                          <a:effectLst/>
                        </a:rPr>
                        <a:t>Base App Configured with Customer T&amp;Q App Template Sample Data</a:t>
                      </a:r>
                      <a:endParaRPr lang="en-US" sz="800">
                        <a:solidFill>
                          <a:schemeClr val="tx1"/>
                        </a:solidFill>
                      </a:endParaRPr>
                    </a:p>
                  </a:txBody>
                  <a:tcPr marL="45720" marR="45720" anchor="ctr">
                    <a:solidFill>
                      <a:schemeClr val="bg2"/>
                    </a:solidFill>
                  </a:tcPr>
                </a:tc>
                <a:extLst>
                  <a:ext uri="{0D108BD9-81ED-4DB2-BD59-A6C34878D82A}">
                    <a16:rowId xmlns:a16="http://schemas.microsoft.com/office/drawing/2014/main" val="3706782849"/>
                  </a:ext>
                </a:extLst>
              </a:tr>
              <a:tr h="514187">
                <a:tc>
                  <a:txBody>
                    <a:bodyPr/>
                    <a:lstStyle/>
                    <a:p>
                      <a:pPr algn="ctr" rtl="0" fontAlgn="ctr"/>
                      <a:r>
                        <a:rPr lang="en-GB" sz="800" b="0" i="0" u="none" strike="noStrike">
                          <a:solidFill>
                            <a:schemeClr val="tx1"/>
                          </a:solidFill>
                          <a:effectLst/>
                          <a:latin typeface="Arial"/>
                        </a:rPr>
                        <a:t>6</a:t>
                      </a:r>
                    </a:p>
                  </a:txBody>
                  <a:tcPr marL="4711" marR="4711" marT="4711" marB="0" anchor="ctr">
                    <a:solidFill>
                      <a:schemeClr val="bg2"/>
                    </a:solidFill>
                  </a:tcPr>
                </a:tc>
                <a:tc>
                  <a:txBody>
                    <a:bodyPr/>
                    <a:lstStyle/>
                    <a:p>
                      <a:pPr algn="l" rtl="0" fontAlgn="ctr"/>
                      <a:r>
                        <a:rPr lang="en-GB" sz="800" u="none" strike="noStrike">
                          <a:solidFill>
                            <a:schemeClr val="tx1"/>
                          </a:solidFill>
                          <a:effectLst/>
                        </a:rPr>
                        <a:t>T&amp;Q Detailed Exploration (App Walkthrough) Pt. 2</a:t>
                      </a:r>
                      <a:endParaRPr lang="en-GB" sz="800" b="0" i="0" u="none" strike="noStrike">
                        <a:solidFill>
                          <a:schemeClr val="tx1"/>
                        </a:solidFill>
                        <a:effectLst/>
                        <a:latin typeface="Arial"/>
                      </a:endParaRP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Further define configuration requirements for each component</a:t>
                      </a:r>
                    </a:p>
                    <a:p>
                      <a:pPr marL="171450" indent="-171450" algn="l" rtl="0" fontAlgn="ctr">
                        <a:buFont typeface="Arial" panose="020B0604020202020204" pitchFamily="34" charset="0"/>
                        <a:buChar char="•"/>
                      </a:pPr>
                      <a:r>
                        <a:rPr lang="en-GB" sz="800" u="none" strike="noStrike">
                          <a:solidFill>
                            <a:schemeClr val="tx1"/>
                          </a:solidFill>
                          <a:effectLst/>
                        </a:rPr>
                        <a:t>Review dimension &amp; hierarchy definitions configured in App</a:t>
                      </a:r>
                    </a:p>
                    <a:p>
                      <a:pPr marL="171450" indent="-171450" algn="l" rtl="0" fontAlgn="ctr">
                        <a:buFont typeface="Arial" panose="020B0604020202020204" pitchFamily="34" charset="0"/>
                        <a:buChar char="•"/>
                      </a:pPr>
                      <a:r>
                        <a:rPr lang="en-GB" sz="800" u="none" strike="noStrike">
                          <a:solidFill>
                            <a:schemeClr val="tx1"/>
                          </a:solidFill>
                          <a:effectLst/>
                        </a:rPr>
                        <a:t>Identify customizations required in comparison to standard functionality</a:t>
                      </a:r>
                      <a:endParaRPr lang="en-GB" sz="800" b="0" i="0" u="none" strike="noStrike">
                        <a:solidFill>
                          <a:schemeClr val="tx1"/>
                        </a:solidFill>
                        <a:effectLst/>
                        <a:latin typeface="+mn-lt"/>
                      </a:endParaRPr>
                    </a:p>
                  </a:txBody>
                  <a:tcPr marL="45720" marR="45720" anchor="ctr">
                    <a:solidFill>
                      <a:schemeClr val="bg2"/>
                    </a:solidFill>
                  </a:tcPr>
                </a:tc>
                <a:tc>
                  <a:txBody>
                    <a:bodyPr/>
                    <a:lstStyle/>
                    <a:p>
                      <a:pPr algn="l" rtl="0" fontAlgn="ctr"/>
                      <a:r>
                        <a:rPr lang="en-GB" sz="800" u="none" strike="noStrike">
                          <a:solidFill>
                            <a:schemeClr val="tx1"/>
                          </a:solidFill>
                          <a:effectLst/>
                        </a:rPr>
                        <a:t>T&amp;Q SM</a:t>
                      </a:r>
                      <a:r>
                        <a:rPr lang="en-GB" sz="800" u="none" strike="noStrike" kern="1200">
                          <a:solidFill>
                            <a:schemeClr val="tx1"/>
                          </a:solidFill>
                          <a:effectLst/>
                        </a:rPr>
                        <a:t>Es, </a:t>
                      </a:r>
                      <a:r>
                        <a:rPr lang="en-GB" sz="800" u="none" strike="noStrike" kern="1200" noProof="0">
                          <a:solidFill>
                            <a:schemeClr val="tx1"/>
                          </a:solidFill>
                          <a:effectLst/>
                        </a:rPr>
                        <a:t>Data Modeling Team </a:t>
                      </a:r>
                      <a:r>
                        <a:rPr lang="en-GB" sz="800" u="none" strike="noStrike" kern="1200">
                          <a:solidFill>
                            <a:schemeClr val="tx1"/>
                          </a:solidFill>
                          <a:effectLst/>
                        </a:rPr>
                        <a:t>&amp; users</a:t>
                      </a:r>
                      <a:endParaRPr lang="en-GB" sz="800" u="none" strike="noStrike" kern="1200">
                        <a:solidFill>
                          <a:schemeClr val="tx1"/>
                        </a:solidFill>
                        <a:effectLst/>
                        <a:latin typeface="+mn-lt"/>
                        <a:ea typeface="+mn-ea"/>
                        <a:cs typeface="+mn-cs"/>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T&amp;Q App Templates Completed with Sample Data, Desired T&amp;Q output Granularity, Historical Data </a:t>
                      </a:r>
                      <a:r>
                        <a:rPr lang="en-GB" sz="800" b="0" u="none" strike="noStrike" noProof="0">
                          <a:solidFill>
                            <a:schemeClr val="tx1"/>
                          </a:solidFill>
                          <a:effectLst/>
                        </a:rPr>
                        <a:t>Availability</a:t>
                      </a:r>
                      <a:endParaRPr lang="en-GB" sz="800" b="0" i="0" u="none" strike="noStrike" noProof="0">
                        <a:solidFill>
                          <a:schemeClr val="tx1"/>
                        </a:solidFill>
                        <a:effectLst/>
                        <a:latin typeface="Arial"/>
                      </a:endParaRPr>
                    </a:p>
                  </a:txBody>
                  <a:tcPr marL="45720" marR="45720" anchor="ctr">
                    <a:solidFill>
                      <a:schemeClr val="bg2"/>
                    </a:solidFill>
                  </a:tcPr>
                </a:tc>
                <a:tc>
                  <a:txBody>
                    <a:bodyPr/>
                    <a:lstStyle/>
                    <a:p>
                      <a:pPr lvl="0" algn="l">
                        <a:buNone/>
                      </a:pPr>
                      <a:r>
                        <a:rPr lang="en-GB" sz="800" b="0" u="none" strike="noStrike" noProof="0">
                          <a:solidFill>
                            <a:schemeClr val="tx1"/>
                          </a:solidFill>
                          <a:effectLst/>
                        </a:rPr>
                        <a:t>Base App Configured with Customer T&amp;Q App Template Sample Data</a:t>
                      </a:r>
                      <a:endParaRPr lang="en-US" sz="800">
                        <a:solidFill>
                          <a:schemeClr val="tx1"/>
                        </a:solidFill>
                      </a:endParaRPr>
                    </a:p>
                  </a:txBody>
                  <a:tcPr marL="45720" marR="45720" anchor="ctr">
                    <a:solidFill>
                      <a:schemeClr val="bg2"/>
                    </a:solidFill>
                  </a:tcPr>
                </a:tc>
                <a:extLst>
                  <a:ext uri="{0D108BD9-81ED-4DB2-BD59-A6C34878D82A}">
                    <a16:rowId xmlns:a16="http://schemas.microsoft.com/office/drawing/2014/main" val="3612544707"/>
                  </a:ext>
                </a:extLst>
              </a:tr>
              <a:tr h="724885">
                <a:tc>
                  <a:txBody>
                    <a:bodyPr/>
                    <a:lstStyle/>
                    <a:p>
                      <a:pPr algn="ctr" fontAlgn="base">
                        <a:lnSpc>
                          <a:spcPts val="1050"/>
                        </a:lnSpc>
                        <a:buNone/>
                      </a:pPr>
                      <a:r>
                        <a:rPr lang="en-GB" sz="800" b="0" i="0" u="none" strike="noStrike">
                          <a:solidFill>
                            <a:schemeClr val="tx1"/>
                          </a:solidFill>
                          <a:effectLst/>
                          <a:latin typeface="Arial"/>
                        </a:rPr>
                        <a:t>7</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Playback of High-Level Design (HLD) &amp; Configuration Document</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Document review &amp; questions</a:t>
                      </a:r>
                      <a:r>
                        <a:rPr lang="en-GB" sz="800" b="0" i="0">
                          <a:solidFill>
                            <a:schemeClr val="tx1"/>
                          </a:solidFill>
                          <a:effectLst/>
                          <a:latin typeface="Arial"/>
                        </a:rPr>
                        <a:t>​</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Agree on elements that will likely evolve as the project progresses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Project Team </a:t>
                      </a:r>
                      <a:r>
                        <a:rPr lang="en-GB" sz="800" b="0" i="0">
                          <a:solidFill>
                            <a:schemeClr val="tx1"/>
                          </a:solidFill>
                          <a:effectLst/>
                          <a:latin typeface="Arial"/>
                        </a:rPr>
                        <a:t>​</a:t>
                      </a:r>
                    </a:p>
                    <a:p>
                      <a:pPr algn="l" fontAlgn="base">
                        <a:lnSpc>
                          <a:spcPts val="975"/>
                        </a:lnSpc>
                        <a:buNone/>
                      </a:pPr>
                      <a:r>
                        <a:rPr lang="en-GB" sz="800" b="0" i="0" u="none" strike="noStrike">
                          <a:solidFill>
                            <a:schemeClr val="tx1"/>
                          </a:solidFill>
                          <a:effectLst/>
                          <a:latin typeface="Arial"/>
                        </a:rPr>
                        <a:t>Customer Process Owners, SMEs, T&amp;Q Stakeholders &amp; Data + IT for high level end to end process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Customer completed review of the High-Level Design document to contribute and feedback to discuss in the workshop</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Anaplan to draft and share High level design document prior to the workshop</a:t>
                      </a:r>
                      <a:r>
                        <a:rPr lang="en-GB" sz="800" b="0" i="0">
                          <a:solidFill>
                            <a:schemeClr val="tx1"/>
                          </a:solidFill>
                          <a:effectLst/>
                          <a:latin typeface="Arial"/>
                        </a:rPr>
                        <a:t>​</a:t>
                      </a:r>
                    </a:p>
                  </a:txBody>
                  <a:tcPr marL="45720" marR="45720" anchor="ctr">
                    <a:solidFill>
                      <a:schemeClr val="bg2">
                        <a:alpha val="60000"/>
                      </a:schemeClr>
                    </a:solidFill>
                  </a:tcPr>
                </a:tc>
                <a:extLst>
                  <a:ext uri="{0D108BD9-81ED-4DB2-BD59-A6C34878D82A}">
                    <a16:rowId xmlns:a16="http://schemas.microsoft.com/office/drawing/2014/main" val="2460361128"/>
                  </a:ext>
                </a:extLst>
              </a:tr>
            </a:tbl>
          </a:graphicData>
        </a:graphic>
      </p:graphicFrame>
      <p:graphicFrame>
        <p:nvGraphicFramePr>
          <p:cNvPr id="2" name="Content Placeholder 6">
            <a:extLst>
              <a:ext uri="{FF2B5EF4-FFF2-40B4-BE49-F238E27FC236}">
                <a16:creationId xmlns:a16="http://schemas.microsoft.com/office/drawing/2014/main" id="{58B0B991-11EE-5B63-42BF-7CFB9064C635}"/>
              </a:ext>
            </a:extLst>
          </p:cNvPr>
          <p:cNvGraphicFramePr>
            <a:graphicFrameLocks/>
          </p:cNvGraphicFramePr>
          <p:nvPr/>
        </p:nvGraphicFramePr>
        <p:xfrm>
          <a:off x="216150" y="3826284"/>
          <a:ext cx="8559299" cy="814819"/>
        </p:xfrm>
        <a:graphic>
          <a:graphicData uri="http://schemas.openxmlformats.org/drawingml/2006/table">
            <a:tbl>
              <a:tblPr firstRow="1" bandRow="1">
                <a:tableStyleId>{F5AB1C69-6EDB-4FF4-983F-18BD219EF322}</a:tableStyleId>
              </a:tblPr>
              <a:tblGrid>
                <a:gridCol w="463343">
                  <a:extLst>
                    <a:ext uri="{9D8B030D-6E8A-4147-A177-3AD203B41FA5}">
                      <a16:colId xmlns:a16="http://schemas.microsoft.com/office/drawing/2014/main" val="318619860"/>
                    </a:ext>
                  </a:extLst>
                </a:gridCol>
                <a:gridCol w="993939">
                  <a:extLst>
                    <a:ext uri="{9D8B030D-6E8A-4147-A177-3AD203B41FA5}">
                      <a16:colId xmlns:a16="http://schemas.microsoft.com/office/drawing/2014/main" val="2026150729"/>
                    </a:ext>
                  </a:extLst>
                </a:gridCol>
                <a:gridCol w="2352366">
                  <a:extLst>
                    <a:ext uri="{9D8B030D-6E8A-4147-A177-3AD203B41FA5}">
                      <a16:colId xmlns:a16="http://schemas.microsoft.com/office/drawing/2014/main" val="2022897790"/>
                    </a:ext>
                  </a:extLst>
                </a:gridCol>
                <a:gridCol w="1536711">
                  <a:extLst>
                    <a:ext uri="{9D8B030D-6E8A-4147-A177-3AD203B41FA5}">
                      <a16:colId xmlns:a16="http://schemas.microsoft.com/office/drawing/2014/main" val="3930715383"/>
                    </a:ext>
                  </a:extLst>
                </a:gridCol>
                <a:gridCol w="1851666">
                  <a:extLst>
                    <a:ext uri="{9D8B030D-6E8A-4147-A177-3AD203B41FA5}">
                      <a16:colId xmlns:a16="http://schemas.microsoft.com/office/drawing/2014/main" val="817247276"/>
                    </a:ext>
                  </a:extLst>
                </a:gridCol>
                <a:gridCol w="1361274">
                  <a:extLst>
                    <a:ext uri="{9D8B030D-6E8A-4147-A177-3AD203B41FA5}">
                      <a16:colId xmlns:a16="http://schemas.microsoft.com/office/drawing/2014/main" val="2256393854"/>
                    </a:ext>
                  </a:extLst>
                </a:gridCol>
              </a:tblGrid>
              <a:tr h="176390">
                <a:tc>
                  <a:txBody>
                    <a:bodyPr/>
                    <a:lstStyle/>
                    <a:p>
                      <a:pPr algn="ctr" rtl="0" fontAlgn="ctr"/>
                      <a:r>
                        <a:rPr lang="en-GB" sz="800" u="none" strike="noStrike">
                          <a:effectLst/>
                        </a:rPr>
                        <a:t>Session</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511683">
                <a:tc>
                  <a:txBody>
                    <a:bodyPr/>
                    <a:lstStyle/>
                    <a:p>
                      <a:pPr algn="ctr" fontAlgn="base">
                        <a:lnSpc>
                          <a:spcPts val="1050"/>
                        </a:lnSpc>
                        <a:buNone/>
                      </a:pPr>
                      <a:r>
                        <a:rPr lang="en-GB" sz="800" b="0" i="0" u="none" strike="noStrike">
                          <a:solidFill>
                            <a:schemeClr val="tx1"/>
                          </a:solidFill>
                          <a:effectLst/>
                          <a:latin typeface="Arial"/>
                        </a:rPr>
                        <a:t>Extension Phase</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Deep dive on Extension </a:t>
                      </a:r>
                    </a:p>
                    <a:p>
                      <a:pPr algn="l" fontAlgn="base">
                        <a:lnSpc>
                          <a:spcPts val="1050"/>
                        </a:lnSpc>
                        <a:buNone/>
                      </a:pPr>
                      <a:r>
                        <a:rPr lang="en-GB" sz="800" b="0" i="0" u="none" strike="noStrike">
                          <a:solidFill>
                            <a:schemeClr val="tx1"/>
                          </a:solidFill>
                          <a:effectLst/>
                          <a:latin typeface="Arial"/>
                        </a:rPr>
                        <a:t>Requirements and User Stories</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marL="171450" indent="-171450" algn="l" fontAlgn="base">
                        <a:lnSpc>
                          <a:spcPts val="1050"/>
                        </a:lnSpc>
                        <a:buFont typeface="Arial" panose="020B0604020202020204" pitchFamily="34" charset="0"/>
                        <a:buChar char="•"/>
                      </a:pPr>
                      <a:r>
                        <a:rPr lang="en-GB" sz="800" b="0" i="0" u="none" strike="noStrike" noProof="0">
                          <a:solidFill>
                            <a:schemeClr val="tx1"/>
                          </a:solidFill>
                          <a:effectLst/>
                          <a:latin typeface="Arial"/>
                        </a:rPr>
                        <a:t>T&amp;Q App </a:t>
                      </a:r>
                      <a:r>
                        <a:rPr lang="en-GB" sz="800" b="0" i="0" u="none" strike="noStrike">
                          <a:solidFill>
                            <a:schemeClr val="tx1"/>
                          </a:solidFill>
                          <a:effectLst/>
                          <a:latin typeface="Arial"/>
                        </a:rPr>
                        <a:t>extensions required </a:t>
                      </a:r>
                      <a:r>
                        <a:rPr lang="en-GB" sz="800" b="0" i="0">
                          <a:solidFill>
                            <a:schemeClr val="tx1"/>
                          </a:solidFill>
                          <a:effectLst/>
                          <a:latin typeface="Arial"/>
                        </a:rPr>
                        <a:t>​</a:t>
                      </a:r>
                      <a:br>
                        <a:rPr lang="en-GB" sz="800" b="0" i="0">
                          <a:solidFill>
                            <a:srgbClr val="0A2F46"/>
                          </a:solidFill>
                          <a:effectLst/>
                          <a:latin typeface="Arial"/>
                        </a:rPr>
                      </a:br>
                      <a:r>
                        <a:rPr lang="en-GB" sz="800" b="0" i="0" u="none" strike="noStrike">
                          <a:solidFill>
                            <a:schemeClr val="tx1"/>
                          </a:solidFill>
                          <a:effectLst/>
                          <a:latin typeface="Arial"/>
                        </a:rPr>
                        <a:t>Additional reports required</a:t>
                      </a:r>
                      <a:r>
                        <a:rPr lang="en-GB" sz="800" b="0" i="0">
                          <a:solidFill>
                            <a:schemeClr val="tx1"/>
                          </a:solidFill>
                          <a:effectLst/>
                          <a:latin typeface="Arial"/>
                        </a:rPr>
                        <a:t>​</a:t>
                      </a:r>
                    </a:p>
                    <a:p>
                      <a:pPr marL="171450" indent="-171450" algn="l" defTabSz="914400" rtl="0" eaLnBrk="1" fontAlgn="base" latinLnBrk="0" hangingPunct="1">
                        <a:lnSpc>
                          <a:spcPts val="1050"/>
                        </a:lnSpc>
                        <a:buFont typeface="Arial" panose="020B0604020202020204" pitchFamily="34" charset="0"/>
                        <a:buChar char="•"/>
                      </a:pPr>
                      <a:r>
                        <a:rPr lang="en-GB" sz="800" b="0" i="0" u="none" strike="noStrike" kern="1200">
                          <a:solidFill>
                            <a:schemeClr val="tx1"/>
                          </a:solidFill>
                          <a:effectLst/>
                          <a:latin typeface="Arial"/>
                          <a:ea typeface="+mn-ea"/>
                          <a:cs typeface="+mn-cs"/>
                        </a:rPr>
                        <a:t>Prioritize most important extensions to least important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T&amp;Q SMEs &amp; Users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rtl="0" fontAlgn="ctr"/>
                      <a:r>
                        <a:rPr lang="en-GB" sz="800" u="none" strike="noStrike">
                          <a:solidFill>
                            <a:schemeClr val="tx1"/>
                          </a:solidFill>
                          <a:effectLst/>
                        </a:rPr>
                        <a:t>Current state process flow diagrams (As-Is) &amp; Cadences/Timings</a:t>
                      </a:r>
                      <a:endParaRPr lang="en-US" sz="800">
                        <a:solidFill>
                          <a:schemeClr val="tx1"/>
                        </a:solidFill>
                      </a:endParaRPr>
                    </a:p>
                  </a:txBody>
                  <a:tcPr marL="45720" marR="45720" anchor="ctr">
                    <a:solidFill>
                      <a:schemeClr val="bg2">
                        <a:alpha val="60000"/>
                      </a:schemeClr>
                    </a:solidFill>
                  </a:tcPr>
                </a:tc>
                <a:tc>
                  <a:txBody>
                    <a:bodyPr/>
                    <a:lstStyle/>
                    <a:p>
                      <a:pPr algn="l" fontAlgn="auto">
                        <a:lnSpc>
                          <a:spcPts val="1050"/>
                        </a:lnSpc>
                        <a:buNone/>
                      </a:pPr>
                      <a:r>
                        <a:rPr lang="en-GB" sz="800" b="0" i="0" u="none" strike="noStrike">
                          <a:solidFill>
                            <a:schemeClr val="tx1"/>
                          </a:solidFill>
                          <a:effectLst/>
                          <a:latin typeface="Arial"/>
                        </a:rPr>
                        <a:t>​</a:t>
                      </a:r>
                    </a:p>
                  </a:txBody>
                  <a:tcPr marL="45720" marR="45720" anchor="ctr">
                    <a:solidFill>
                      <a:schemeClr val="bg2">
                        <a:alpha val="60000"/>
                      </a:schemeClr>
                    </a:solidFill>
                  </a:tcPr>
                </a:tc>
                <a:extLst>
                  <a:ext uri="{0D108BD9-81ED-4DB2-BD59-A6C34878D82A}">
                    <a16:rowId xmlns:a16="http://schemas.microsoft.com/office/drawing/2014/main" val="1936566769"/>
                  </a:ext>
                </a:extLst>
              </a:tr>
            </a:tbl>
          </a:graphicData>
        </a:graphic>
      </p:graphicFrame>
      <p:sp>
        <p:nvSpPr>
          <p:cNvPr id="18" name="Titre 1">
            <a:extLst>
              <a:ext uri="{FF2B5EF4-FFF2-40B4-BE49-F238E27FC236}">
                <a16:creationId xmlns:a16="http://schemas.microsoft.com/office/drawing/2014/main" id="{A420798A-5280-7169-B548-1E52B2E3EF51}"/>
              </a:ext>
            </a:extLst>
          </p:cNvPr>
          <p:cNvSpPr txBox="1">
            <a:spLocks/>
          </p:cNvSpPr>
          <p:nvPr/>
        </p:nvSpPr>
        <p:spPr>
          <a:xfrm>
            <a:off x="267770" y="3487730"/>
            <a:ext cx="8153401" cy="338554"/>
          </a:xfrm>
          <a:prstGeom prst="rect">
            <a:avLst/>
          </a:prstGeom>
        </p:spPr>
        <p:txBody>
          <a:bodyPr lIns="0" rIns="0"/>
          <a:lstStyle>
            <a:lvl1pPr algn="l" defTabSz="914400" rtl="0" eaLnBrk="1" latinLnBrk="0" hangingPunct="1">
              <a:spcBef>
                <a:spcPct val="0"/>
              </a:spcBef>
              <a:buNone/>
              <a:defRPr sz="18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fr-FR" sz="1100"/>
              <a:t>Decision Point: Move into Extension Phase</a:t>
            </a:r>
          </a:p>
        </p:txBody>
      </p:sp>
    </p:spTree>
    <p:custDataLst>
      <p:tags r:id="rId1"/>
    </p:custDataLst>
    <p:extLst>
      <p:ext uri="{BB962C8B-B14F-4D97-AF65-F5344CB8AC3E}">
        <p14:creationId xmlns:p14="http://schemas.microsoft.com/office/powerpoint/2010/main" val="356597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5B56-D495-1ADD-1A8B-75A30DED4A97}"/>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1C831FD6-E273-3E5D-4C39-B51DA8F71363}"/>
              </a:ext>
            </a:extLst>
          </p:cNvPr>
          <p:cNvSpPr>
            <a:spLocks noGrp="1"/>
          </p:cNvSpPr>
          <p:nvPr>
            <p:ph type="title"/>
          </p:nvPr>
        </p:nvSpPr>
        <p:spPr>
          <a:xfrm>
            <a:off x="419100" y="294640"/>
            <a:ext cx="7978409" cy="338554"/>
          </a:xfrm>
        </p:spPr>
        <p:txBody>
          <a:bodyPr lIns="0" tIns="45720" rIns="0" bIns="45720" anchor="t"/>
          <a:lstStyle/>
          <a:p>
            <a:r>
              <a:rPr lang="en-US">
                <a:latin typeface="Arial"/>
                <a:cs typeface="Arial"/>
              </a:rPr>
              <a:t>Implementation Risks</a:t>
            </a:r>
            <a:endParaRPr lang="en-US"/>
          </a:p>
        </p:txBody>
      </p:sp>
      <p:sp>
        <p:nvSpPr>
          <p:cNvPr id="47" name="Text Placeholder 46">
            <a:extLst>
              <a:ext uri="{FF2B5EF4-FFF2-40B4-BE49-F238E27FC236}">
                <a16:creationId xmlns:a16="http://schemas.microsoft.com/office/drawing/2014/main" id="{93171AC4-9C5D-6198-74FB-2697E6AEF1FD}"/>
              </a:ext>
            </a:extLst>
          </p:cNvPr>
          <p:cNvSpPr>
            <a:spLocks noGrp="1"/>
          </p:cNvSpPr>
          <p:nvPr>
            <p:ph type="body" sz="quarter" idx="46"/>
          </p:nvPr>
        </p:nvSpPr>
        <p:spPr>
          <a:xfrm>
            <a:off x="527876" y="1045769"/>
            <a:ext cx="1697037" cy="297516"/>
          </a:xfrm>
        </p:spPr>
        <p:txBody>
          <a:bodyPr lIns="0" tIns="45720" rIns="91440" bIns="45720" anchor="b"/>
          <a:lstStyle/>
          <a:p>
            <a:r>
              <a:rPr lang="en-US">
                <a:latin typeface="Arial"/>
                <a:cs typeface="Arial"/>
              </a:rPr>
              <a:t>Key data not available by kick-off</a:t>
            </a:r>
            <a:endParaRPr lang="en-US"/>
          </a:p>
        </p:txBody>
      </p:sp>
      <p:sp>
        <p:nvSpPr>
          <p:cNvPr id="49" name="Text Placeholder 48">
            <a:extLst>
              <a:ext uri="{FF2B5EF4-FFF2-40B4-BE49-F238E27FC236}">
                <a16:creationId xmlns:a16="http://schemas.microsoft.com/office/drawing/2014/main" id="{21AEEEB5-1440-1361-C338-C87DCF09E116}"/>
              </a:ext>
            </a:extLst>
          </p:cNvPr>
          <p:cNvSpPr>
            <a:spLocks noGrp="1"/>
          </p:cNvSpPr>
          <p:nvPr>
            <p:ph type="body" sz="quarter" idx="48"/>
          </p:nvPr>
        </p:nvSpPr>
        <p:spPr>
          <a:xfrm>
            <a:off x="2541611" y="1045769"/>
            <a:ext cx="1683968" cy="297516"/>
          </a:xfrm>
        </p:spPr>
        <p:txBody>
          <a:bodyPr lIns="0" tIns="45720" rIns="91440" bIns="45720" anchor="b"/>
          <a:lstStyle/>
          <a:p>
            <a:r>
              <a:rPr lang="en-US">
                <a:latin typeface="Arial"/>
                <a:cs typeface="Arial"/>
              </a:rPr>
              <a:t>Territory hierarchy is not available</a:t>
            </a:r>
            <a:endParaRPr lang="en-US" err="1"/>
          </a:p>
        </p:txBody>
      </p:sp>
      <p:sp>
        <p:nvSpPr>
          <p:cNvPr id="51" name="Text Placeholder 50">
            <a:extLst>
              <a:ext uri="{FF2B5EF4-FFF2-40B4-BE49-F238E27FC236}">
                <a16:creationId xmlns:a16="http://schemas.microsoft.com/office/drawing/2014/main" id="{A590540C-3184-CCD3-C1F7-E9C29FB5DC47}"/>
              </a:ext>
            </a:extLst>
          </p:cNvPr>
          <p:cNvSpPr>
            <a:spLocks noGrp="1"/>
          </p:cNvSpPr>
          <p:nvPr>
            <p:ph type="body" sz="quarter" idx="51"/>
          </p:nvPr>
        </p:nvSpPr>
        <p:spPr>
          <a:xfrm>
            <a:off x="4611424" y="1045769"/>
            <a:ext cx="1697037" cy="297516"/>
          </a:xfrm>
        </p:spPr>
        <p:txBody>
          <a:bodyPr lIns="0" tIns="45720" rIns="91440" bIns="45720" anchor="b"/>
          <a:lstStyle/>
          <a:p>
            <a:r>
              <a:rPr lang="en-US">
                <a:latin typeface="Arial"/>
                <a:cs typeface="Arial"/>
              </a:rPr>
              <a:t>Territory hierarchy is not finalized</a:t>
            </a:r>
            <a:endParaRPr lang="en-US"/>
          </a:p>
        </p:txBody>
      </p:sp>
      <p:sp>
        <p:nvSpPr>
          <p:cNvPr id="53" name="Text Placeholder 52">
            <a:extLst>
              <a:ext uri="{FF2B5EF4-FFF2-40B4-BE49-F238E27FC236}">
                <a16:creationId xmlns:a16="http://schemas.microsoft.com/office/drawing/2014/main" id="{556EBC67-D3D3-EC7F-B8D9-155403D602B4}"/>
              </a:ext>
            </a:extLst>
          </p:cNvPr>
          <p:cNvSpPr>
            <a:spLocks noGrp="1"/>
          </p:cNvSpPr>
          <p:nvPr>
            <p:ph type="body" sz="quarter" idx="54"/>
          </p:nvPr>
        </p:nvSpPr>
        <p:spPr>
          <a:xfrm>
            <a:off x="6620452" y="1045769"/>
            <a:ext cx="1686008" cy="297516"/>
          </a:xfrm>
        </p:spPr>
        <p:txBody>
          <a:bodyPr lIns="0" tIns="45720" rIns="91440" bIns="45720" anchor="b"/>
          <a:lstStyle/>
          <a:p>
            <a:r>
              <a:rPr lang="en-US">
                <a:latin typeface="Arial"/>
                <a:cs typeface="Arial"/>
              </a:rPr>
              <a:t>No defined process for in-year changes (LOA)</a:t>
            </a:r>
            <a:endParaRPr lang="en-US"/>
          </a:p>
        </p:txBody>
      </p:sp>
      <p:sp>
        <p:nvSpPr>
          <p:cNvPr id="55" name="Text Placeholder 54">
            <a:extLst>
              <a:ext uri="{FF2B5EF4-FFF2-40B4-BE49-F238E27FC236}">
                <a16:creationId xmlns:a16="http://schemas.microsoft.com/office/drawing/2014/main" id="{4DA5646C-03FC-A970-D93A-EB48D428A7C3}"/>
              </a:ext>
            </a:extLst>
          </p:cNvPr>
          <p:cNvSpPr>
            <a:spLocks noGrp="1"/>
          </p:cNvSpPr>
          <p:nvPr>
            <p:ph type="body" sz="quarter" idx="57"/>
          </p:nvPr>
        </p:nvSpPr>
        <p:spPr>
          <a:xfrm>
            <a:off x="520550" y="3038955"/>
            <a:ext cx="1762978" cy="297516"/>
          </a:xfrm>
        </p:spPr>
        <p:txBody>
          <a:bodyPr lIns="0" tIns="45720" rIns="91440" bIns="45720" anchor="b"/>
          <a:lstStyle/>
          <a:p>
            <a:r>
              <a:rPr lang="en-US">
                <a:latin typeface="Arial"/>
                <a:cs typeface="Arial"/>
              </a:rPr>
              <a:t>Quota methodology is unclear or under debate</a:t>
            </a:r>
            <a:endParaRPr lang="en-US"/>
          </a:p>
        </p:txBody>
      </p:sp>
      <p:sp>
        <p:nvSpPr>
          <p:cNvPr id="57" name="Text Placeholder 56">
            <a:extLst>
              <a:ext uri="{FF2B5EF4-FFF2-40B4-BE49-F238E27FC236}">
                <a16:creationId xmlns:a16="http://schemas.microsoft.com/office/drawing/2014/main" id="{D11A8D57-1606-C920-6F5A-0801FB3D8F5F}"/>
              </a:ext>
            </a:extLst>
          </p:cNvPr>
          <p:cNvSpPr>
            <a:spLocks noGrp="1"/>
          </p:cNvSpPr>
          <p:nvPr>
            <p:ph type="body" sz="quarter" idx="60"/>
          </p:nvPr>
        </p:nvSpPr>
        <p:spPr>
          <a:xfrm>
            <a:off x="2548938" y="3119551"/>
            <a:ext cx="1690817" cy="297516"/>
          </a:xfrm>
        </p:spPr>
        <p:txBody>
          <a:bodyPr lIns="0" tIns="45720" rIns="91440" bIns="45720" anchor="b"/>
          <a:lstStyle/>
          <a:p>
            <a:r>
              <a:rPr lang="en-US">
                <a:latin typeface="Arial"/>
                <a:cs typeface="Arial"/>
              </a:rPr>
              <a:t>Stakeholders are unavailable for review/decisions</a:t>
            </a:r>
            <a:endParaRPr lang="en-US"/>
          </a:p>
        </p:txBody>
      </p:sp>
      <p:sp>
        <p:nvSpPr>
          <p:cNvPr id="59" name="Text Placeholder 58">
            <a:extLst>
              <a:ext uri="{FF2B5EF4-FFF2-40B4-BE49-F238E27FC236}">
                <a16:creationId xmlns:a16="http://schemas.microsoft.com/office/drawing/2014/main" id="{A1FF1BF0-0668-BE2D-0677-2081B931660D}"/>
              </a:ext>
            </a:extLst>
          </p:cNvPr>
          <p:cNvSpPr>
            <a:spLocks noGrp="1"/>
          </p:cNvSpPr>
          <p:nvPr>
            <p:ph type="body" sz="quarter" idx="63"/>
          </p:nvPr>
        </p:nvSpPr>
        <p:spPr>
          <a:xfrm>
            <a:off x="4611424" y="3038955"/>
            <a:ext cx="1686008" cy="297516"/>
          </a:xfrm>
        </p:spPr>
        <p:txBody>
          <a:bodyPr lIns="0" tIns="45720" rIns="91440" bIns="45720" anchor="b"/>
          <a:lstStyle/>
          <a:p>
            <a:r>
              <a:rPr lang="en-US">
                <a:latin typeface="Arial"/>
                <a:cs typeface="Arial"/>
              </a:rPr>
              <a:t>Customer lacks Anaplan </a:t>
            </a:r>
            <a:r>
              <a:rPr lang="en-US" err="1">
                <a:latin typeface="Arial"/>
                <a:cs typeface="Arial"/>
              </a:rPr>
              <a:t>CoE</a:t>
            </a:r>
            <a:r>
              <a:rPr lang="en-US">
                <a:latin typeface="Arial"/>
                <a:cs typeface="Arial"/>
              </a:rPr>
              <a:t> or model owner</a:t>
            </a:r>
            <a:endParaRPr lang="en-US"/>
          </a:p>
        </p:txBody>
      </p:sp>
      <p:sp>
        <p:nvSpPr>
          <p:cNvPr id="61" name="Text Placeholder 60">
            <a:extLst>
              <a:ext uri="{FF2B5EF4-FFF2-40B4-BE49-F238E27FC236}">
                <a16:creationId xmlns:a16="http://schemas.microsoft.com/office/drawing/2014/main" id="{BCEF6766-8D3D-BB8B-7FA4-DE26264CDC0C}"/>
              </a:ext>
            </a:extLst>
          </p:cNvPr>
          <p:cNvSpPr>
            <a:spLocks noGrp="1"/>
          </p:cNvSpPr>
          <p:nvPr>
            <p:ph type="body" sz="quarter" idx="66"/>
          </p:nvPr>
        </p:nvSpPr>
        <p:spPr>
          <a:xfrm>
            <a:off x="6620452" y="3038955"/>
            <a:ext cx="1686008" cy="297516"/>
          </a:xfrm>
        </p:spPr>
        <p:txBody>
          <a:bodyPr lIns="0" tIns="45720" rIns="91440" bIns="45720" anchor="b"/>
          <a:lstStyle/>
          <a:p>
            <a:r>
              <a:rPr lang="en-US">
                <a:latin typeface="Arial"/>
                <a:cs typeface="Arial"/>
              </a:rPr>
              <a:t>Lack of will to change</a:t>
            </a:r>
            <a:endParaRPr lang="en-US"/>
          </a:p>
        </p:txBody>
      </p:sp>
      <p:sp>
        <p:nvSpPr>
          <p:cNvPr id="48" name="Text Placeholder 47">
            <a:extLst>
              <a:ext uri="{FF2B5EF4-FFF2-40B4-BE49-F238E27FC236}">
                <a16:creationId xmlns:a16="http://schemas.microsoft.com/office/drawing/2014/main" id="{0A25A9D9-314B-9036-6246-22DC50498B40}"/>
              </a:ext>
            </a:extLst>
          </p:cNvPr>
          <p:cNvSpPr>
            <a:spLocks noGrp="1"/>
          </p:cNvSpPr>
          <p:nvPr>
            <p:ph type="body" sz="quarter" idx="69"/>
          </p:nvPr>
        </p:nvSpPr>
        <p:spPr/>
        <p:txBody>
          <a:bodyPr lIns="0" tIns="0" rIns="91440" bIns="45720" anchor="t"/>
          <a:lstStyle/>
          <a:p>
            <a:r>
              <a:rPr lang="en-US">
                <a:latin typeface="Arial"/>
                <a:ea typeface="Verdana"/>
                <a:cs typeface="Arial"/>
              </a:rPr>
              <a:t>Blocks application generation</a:t>
            </a:r>
            <a:r>
              <a:rPr lang="en-US" noProof="0">
                <a:latin typeface="Arial"/>
                <a:ea typeface="Verdana"/>
                <a:cs typeface="Arial"/>
              </a:rPr>
              <a:t>, </a:t>
            </a:r>
            <a:r>
              <a:rPr lang="en-US">
                <a:latin typeface="Arial"/>
                <a:ea typeface="Verdana"/>
                <a:cs typeface="Arial"/>
              </a:rPr>
              <a:t>testing</a:t>
            </a:r>
            <a:r>
              <a:rPr lang="en-US" noProof="0">
                <a:latin typeface="Arial"/>
                <a:ea typeface="Verdana"/>
                <a:cs typeface="Arial"/>
              </a:rPr>
              <a:t>, </a:t>
            </a:r>
            <a:r>
              <a:rPr lang="en-US">
                <a:latin typeface="Arial"/>
                <a:ea typeface="Verdana"/>
                <a:cs typeface="Arial"/>
              </a:rPr>
              <a:t>and UAT</a:t>
            </a:r>
            <a:r>
              <a:rPr lang="en-US" noProof="0">
                <a:latin typeface="Arial"/>
                <a:ea typeface="Verdana"/>
                <a:cs typeface="Arial"/>
              </a:rPr>
              <a:t>.</a:t>
            </a:r>
            <a:br>
              <a:rPr lang="en-US">
                <a:latin typeface="Arial"/>
                <a:ea typeface="Verdana"/>
                <a:cs typeface="Arial"/>
              </a:rPr>
            </a:br>
            <a:br>
              <a:rPr lang="en-US">
                <a:latin typeface="Arial"/>
                <a:ea typeface="Verdana"/>
                <a:cs typeface="Arial"/>
              </a:rPr>
            </a:br>
            <a:r>
              <a:rPr lang="en-US">
                <a:latin typeface="Arial"/>
                <a:ea typeface="Verdana"/>
                <a:cs typeface="Arial"/>
              </a:rPr>
              <a:t>Production quality data preferred</a:t>
            </a:r>
            <a:endParaRPr lang="en-US" noProof="0">
              <a:latin typeface="Arial"/>
              <a:cs typeface="Arial"/>
            </a:endParaRPr>
          </a:p>
        </p:txBody>
      </p:sp>
      <p:sp>
        <p:nvSpPr>
          <p:cNvPr id="50" name="Text Placeholder 49">
            <a:extLst>
              <a:ext uri="{FF2B5EF4-FFF2-40B4-BE49-F238E27FC236}">
                <a16:creationId xmlns:a16="http://schemas.microsoft.com/office/drawing/2014/main" id="{568478D3-D465-BF48-7F80-2215EC64F559}"/>
              </a:ext>
            </a:extLst>
          </p:cNvPr>
          <p:cNvSpPr>
            <a:spLocks noGrp="1"/>
          </p:cNvSpPr>
          <p:nvPr>
            <p:ph type="body" sz="quarter" idx="70"/>
          </p:nvPr>
        </p:nvSpPr>
        <p:spPr/>
        <p:txBody>
          <a:bodyPr lIns="0" tIns="0" rIns="91440" bIns="45720" anchor="t"/>
          <a:lstStyle/>
          <a:p>
            <a:r>
              <a:rPr lang="en-US">
                <a:latin typeface="Arial"/>
                <a:cs typeface="Arial"/>
              </a:rPr>
              <a:t>If only the rep/reporting hierarchy is given</a:t>
            </a:r>
            <a:r>
              <a:rPr lang="en-US" noProof="0">
                <a:latin typeface="Arial"/>
                <a:cs typeface="Arial"/>
              </a:rPr>
              <a:t>, </a:t>
            </a:r>
            <a:r>
              <a:rPr lang="en-US">
                <a:latin typeface="Arial"/>
                <a:cs typeface="Arial"/>
              </a:rPr>
              <a:t>it may take more time to build a usable territory structure</a:t>
            </a:r>
            <a:r>
              <a:rPr lang="en-US" noProof="0">
                <a:latin typeface="Arial"/>
                <a:cs typeface="Arial"/>
              </a:rPr>
              <a:t>. </a:t>
            </a:r>
            <a:r>
              <a:rPr lang="en-US">
                <a:latin typeface="Arial"/>
                <a:cs typeface="Arial"/>
              </a:rPr>
              <a:t>This can cause project or sprint delays</a:t>
            </a:r>
            <a:r>
              <a:rPr lang="en-US" noProof="0">
                <a:latin typeface="Arial"/>
                <a:cs typeface="Arial"/>
              </a:rPr>
              <a:t>.</a:t>
            </a:r>
          </a:p>
          <a:p>
            <a:endParaRPr lang="en-US"/>
          </a:p>
        </p:txBody>
      </p:sp>
      <p:sp>
        <p:nvSpPr>
          <p:cNvPr id="52" name="Text Placeholder 51">
            <a:extLst>
              <a:ext uri="{FF2B5EF4-FFF2-40B4-BE49-F238E27FC236}">
                <a16:creationId xmlns:a16="http://schemas.microsoft.com/office/drawing/2014/main" id="{F5AA89DD-4068-3704-2FAE-97F6DA210459}"/>
              </a:ext>
            </a:extLst>
          </p:cNvPr>
          <p:cNvSpPr>
            <a:spLocks noGrp="1"/>
          </p:cNvSpPr>
          <p:nvPr>
            <p:ph type="body" sz="quarter" idx="71"/>
          </p:nvPr>
        </p:nvSpPr>
        <p:spPr/>
        <p:txBody>
          <a:bodyPr lIns="0" tIns="0" rIns="91440" bIns="45720" anchor="t"/>
          <a:lstStyle/>
          <a:p>
            <a:r>
              <a:rPr lang="en-US">
                <a:latin typeface="Arial"/>
                <a:cs typeface="Arial"/>
              </a:rPr>
              <a:t>Results in rework of assignments and quota alignment logic</a:t>
            </a:r>
            <a:r>
              <a:rPr lang="en-US" noProof="0">
                <a:latin typeface="Arial"/>
                <a:cs typeface="Arial"/>
              </a:rPr>
              <a:t>.</a:t>
            </a:r>
          </a:p>
          <a:p>
            <a:endParaRPr lang="en-US"/>
          </a:p>
        </p:txBody>
      </p:sp>
      <p:sp>
        <p:nvSpPr>
          <p:cNvPr id="54" name="Text Placeholder 53">
            <a:extLst>
              <a:ext uri="{FF2B5EF4-FFF2-40B4-BE49-F238E27FC236}">
                <a16:creationId xmlns:a16="http://schemas.microsoft.com/office/drawing/2014/main" id="{B023A3E6-85CC-D71A-725E-104E9B5CD0A4}"/>
              </a:ext>
            </a:extLst>
          </p:cNvPr>
          <p:cNvSpPr>
            <a:spLocks noGrp="1"/>
          </p:cNvSpPr>
          <p:nvPr>
            <p:ph type="body" sz="quarter" idx="72"/>
          </p:nvPr>
        </p:nvSpPr>
        <p:spPr>
          <a:xfrm>
            <a:off x="6620452" y="1427854"/>
            <a:ext cx="1784496" cy="1340619"/>
          </a:xfrm>
        </p:spPr>
        <p:txBody>
          <a:bodyPr lIns="0" tIns="0" rIns="91440" bIns="45720" anchor="t"/>
          <a:lstStyle/>
          <a:p>
            <a:r>
              <a:rPr lang="en-US">
                <a:latin typeface="Arial"/>
                <a:cs typeface="Arial"/>
              </a:rPr>
              <a:t>Leads to confusion post-launch; undermines administration adoption</a:t>
            </a:r>
            <a:r>
              <a:rPr lang="en-US" noProof="0">
                <a:latin typeface="Arial"/>
                <a:cs typeface="Arial"/>
              </a:rPr>
              <a:t>.</a:t>
            </a:r>
          </a:p>
          <a:p>
            <a:endParaRPr lang="en-US"/>
          </a:p>
        </p:txBody>
      </p:sp>
      <p:sp>
        <p:nvSpPr>
          <p:cNvPr id="56" name="Text Placeholder 55">
            <a:extLst>
              <a:ext uri="{FF2B5EF4-FFF2-40B4-BE49-F238E27FC236}">
                <a16:creationId xmlns:a16="http://schemas.microsoft.com/office/drawing/2014/main" id="{68648935-3481-46D6-26BA-E7CF4015261A}"/>
              </a:ext>
            </a:extLst>
          </p:cNvPr>
          <p:cNvSpPr>
            <a:spLocks noGrp="1"/>
          </p:cNvSpPr>
          <p:nvPr>
            <p:ph type="body" sz="quarter" idx="73"/>
          </p:nvPr>
        </p:nvSpPr>
        <p:spPr/>
        <p:txBody>
          <a:bodyPr lIns="0" tIns="0" rIns="91440" bIns="45720" anchor="t"/>
          <a:lstStyle/>
          <a:p>
            <a:r>
              <a:rPr lang="en-US">
                <a:latin typeface="Arial"/>
                <a:cs typeface="Arial"/>
              </a:rPr>
              <a:t>Delays quota allocation design and downstream QMF alignment</a:t>
            </a:r>
            <a:r>
              <a:rPr lang="en-US" noProof="0">
                <a:latin typeface="Arial"/>
                <a:cs typeface="Arial"/>
              </a:rPr>
              <a:t>.</a:t>
            </a:r>
          </a:p>
          <a:p>
            <a:endParaRPr lang="en-US"/>
          </a:p>
        </p:txBody>
      </p:sp>
      <p:sp>
        <p:nvSpPr>
          <p:cNvPr id="58" name="Text Placeholder 57">
            <a:extLst>
              <a:ext uri="{FF2B5EF4-FFF2-40B4-BE49-F238E27FC236}">
                <a16:creationId xmlns:a16="http://schemas.microsoft.com/office/drawing/2014/main" id="{33F62EB1-505B-8347-CBAB-240AC8EEB926}"/>
              </a:ext>
            </a:extLst>
          </p:cNvPr>
          <p:cNvSpPr>
            <a:spLocks noGrp="1"/>
          </p:cNvSpPr>
          <p:nvPr>
            <p:ph type="body" sz="quarter" idx="74"/>
          </p:nvPr>
        </p:nvSpPr>
        <p:spPr/>
        <p:txBody>
          <a:bodyPr lIns="0" tIns="0" rIns="91440" bIns="45720" anchor="t"/>
          <a:lstStyle/>
          <a:p>
            <a:r>
              <a:rPr lang="en-US">
                <a:latin typeface="Arial"/>
                <a:cs typeface="Arial"/>
              </a:rPr>
              <a:t>Slows design sign-off</a:t>
            </a:r>
            <a:r>
              <a:rPr lang="en-US" noProof="0">
                <a:latin typeface="Arial"/>
                <a:cs typeface="Arial"/>
              </a:rPr>
              <a:t>, </a:t>
            </a:r>
            <a:r>
              <a:rPr lang="en-US">
                <a:latin typeface="Arial"/>
                <a:cs typeface="Arial"/>
              </a:rPr>
              <a:t>data validation</a:t>
            </a:r>
            <a:r>
              <a:rPr lang="en-US" noProof="0">
                <a:latin typeface="Arial"/>
                <a:cs typeface="Arial"/>
              </a:rPr>
              <a:t>, </a:t>
            </a:r>
            <a:r>
              <a:rPr lang="en-US">
                <a:latin typeface="Arial"/>
                <a:cs typeface="Arial"/>
              </a:rPr>
              <a:t>and approval workflows</a:t>
            </a:r>
            <a:r>
              <a:rPr lang="en-US" noProof="0">
                <a:latin typeface="Arial"/>
                <a:cs typeface="Arial"/>
              </a:rPr>
              <a:t>. </a:t>
            </a:r>
            <a:endParaRPr lang="en-US">
              <a:latin typeface="Arial"/>
              <a:cs typeface="Arial"/>
            </a:endParaRPr>
          </a:p>
          <a:p>
            <a:endParaRPr lang="en-US"/>
          </a:p>
        </p:txBody>
      </p:sp>
      <p:sp>
        <p:nvSpPr>
          <p:cNvPr id="60" name="Text Placeholder 59">
            <a:extLst>
              <a:ext uri="{FF2B5EF4-FFF2-40B4-BE49-F238E27FC236}">
                <a16:creationId xmlns:a16="http://schemas.microsoft.com/office/drawing/2014/main" id="{A1A854C1-B337-4239-F849-4D4A02083A68}"/>
              </a:ext>
            </a:extLst>
          </p:cNvPr>
          <p:cNvSpPr>
            <a:spLocks noGrp="1"/>
          </p:cNvSpPr>
          <p:nvPr>
            <p:ph type="body" sz="quarter" idx="75"/>
          </p:nvPr>
        </p:nvSpPr>
        <p:spPr/>
        <p:txBody>
          <a:bodyPr lIns="0" tIns="0" rIns="91440" bIns="45720" anchor="t"/>
          <a:lstStyle/>
          <a:p>
            <a:r>
              <a:rPr lang="en-US">
                <a:latin typeface="Arial"/>
                <a:cs typeface="Arial"/>
              </a:rPr>
              <a:t>Increases delivery risk and post-go-live support load</a:t>
            </a:r>
            <a:r>
              <a:rPr lang="en-US" noProof="0">
                <a:latin typeface="Arial"/>
                <a:cs typeface="Arial"/>
              </a:rPr>
              <a:t>. </a:t>
            </a:r>
            <a:endParaRPr lang="en-US">
              <a:latin typeface="Arial"/>
              <a:cs typeface="Arial"/>
            </a:endParaRPr>
          </a:p>
          <a:p>
            <a:endParaRPr lang="en-US"/>
          </a:p>
        </p:txBody>
      </p:sp>
      <p:sp>
        <p:nvSpPr>
          <p:cNvPr id="62" name="Text Placeholder 61">
            <a:extLst>
              <a:ext uri="{FF2B5EF4-FFF2-40B4-BE49-F238E27FC236}">
                <a16:creationId xmlns:a16="http://schemas.microsoft.com/office/drawing/2014/main" id="{3E42494C-0050-87AF-E1A2-35686F51C495}"/>
              </a:ext>
            </a:extLst>
          </p:cNvPr>
          <p:cNvSpPr>
            <a:spLocks noGrp="1"/>
          </p:cNvSpPr>
          <p:nvPr>
            <p:ph type="body" sz="quarter" idx="76"/>
          </p:nvPr>
        </p:nvSpPr>
        <p:spPr/>
        <p:txBody>
          <a:bodyPr lIns="0" tIns="0" rIns="91440" bIns="45720" anchor="t"/>
          <a:lstStyle/>
          <a:p>
            <a:r>
              <a:rPr lang="en-US">
                <a:latin typeface="Arial"/>
                <a:ea typeface="Verdana"/>
                <a:cs typeface="Arial"/>
              </a:rPr>
              <a:t>lack of standardization lead to scope creep. </a:t>
            </a:r>
            <a:br>
              <a:rPr lang="en-US">
                <a:latin typeface="Arial"/>
                <a:ea typeface="Verdana"/>
                <a:cs typeface="Arial"/>
              </a:rPr>
            </a:br>
            <a:br>
              <a:rPr lang="en-US"/>
            </a:br>
            <a:r>
              <a:rPr lang="en-US">
                <a:latin typeface="Arial"/>
                <a:ea typeface="Verdana"/>
                <a:cs typeface="Arial"/>
              </a:rPr>
              <a:t>Risk of low adoption  - &gt; low ROI</a:t>
            </a:r>
            <a:endParaRPr lang="en-US" noProof="0"/>
          </a:p>
          <a:p>
            <a:endParaRPr lang="en-US"/>
          </a:p>
          <a:p>
            <a:endParaRPr lang="en-US"/>
          </a:p>
          <a:p>
            <a:endParaRPr lang="en-US"/>
          </a:p>
        </p:txBody>
      </p:sp>
    </p:spTree>
    <p:extLst>
      <p:ext uri="{BB962C8B-B14F-4D97-AF65-F5344CB8AC3E}">
        <p14:creationId xmlns:p14="http://schemas.microsoft.com/office/powerpoint/2010/main" val="303267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F2EE5-7EB0-8F64-3676-67A6240C8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578E8-D281-26D5-8196-CBA464C1ED3C}"/>
              </a:ext>
            </a:extLst>
          </p:cNvPr>
          <p:cNvSpPr>
            <a:spLocks noGrp="1"/>
          </p:cNvSpPr>
          <p:nvPr>
            <p:ph type="title"/>
          </p:nvPr>
        </p:nvSpPr>
        <p:spPr>
          <a:xfrm>
            <a:off x="914405" y="2571750"/>
            <a:ext cx="7658096" cy="1035396"/>
          </a:xfrm>
        </p:spPr>
        <p:txBody>
          <a:bodyPr/>
          <a:lstStyle/>
          <a:p>
            <a:r>
              <a:rPr lang="en-US"/>
              <a:t>Have feedback or questions?</a:t>
            </a:r>
          </a:p>
        </p:txBody>
      </p:sp>
    </p:spTree>
    <p:extLst>
      <p:ext uri="{BB962C8B-B14F-4D97-AF65-F5344CB8AC3E}">
        <p14:creationId xmlns:p14="http://schemas.microsoft.com/office/powerpoint/2010/main" val="251371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F0ED3D-6654-403B-9884-CF65CF102955}">
  <ds:schemaRefs>
    <ds:schemaRef ds:uri="http://schemas.microsoft.com/sharepoint/v3/contenttype/forms"/>
  </ds:schemaRefs>
</ds:datastoreItem>
</file>

<file path=customXml/itemProps2.xml><?xml version="1.0" encoding="utf-8"?>
<ds:datastoreItem xmlns:ds="http://schemas.openxmlformats.org/officeDocument/2006/customXml" ds:itemID="{A9FEF226-2A2D-4391-9647-CAE00A0A4519}">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7B58C47-DB29-43F7-BFBF-E652DB62C432}">
  <ds:schemaRefs>
    <ds:schemaRef ds:uri="1312f2c0-dda1-4b36-bf7c-5f95f823505b"/>
    <ds:schemaRef ds:uri="c4a93292-96be-422c-9bb6-49a5d66e42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77e544-630e-475c-a07a-cd4143ce5140}" enabled="0" method="" siteId="{e777e544-630e-475c-a07a-cd4143ce5140}"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22</Slides>
  <Notes>9</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1_Anaplan</vt:lpstr>
      <vt:lpstr>Anaplan RPM Applications </vt:lpstr>
      <vt:lpstr>Day 1: 9:00AM – 5:00PM</vt:lpstr>
      <vt:lpstr>Day 2: 9:00AM – 4:15PM</vt:lpstr>
      <vt:lpstr>Who you are stuck with today</vt:lpstr>
      <vt:lpstr>Enablement Objectives</vt:lpstr>
      <vt:lpstr>Sales Performance Management (SPM) Overview</vt:lpstr>
      <vt:lpstr>Sales Performance Management</vt:lpstr>
      <vt:lpstr>Why is SPM Important</vt:lpstr>
      <vt:lpstr>SPM in practice</vt:lpstr>
      <vt:lpstr>Territory and Quota Planning/Management</vt:lpstr>
      <vt:lpstr>Territory Management</vt:lpstr>
      <vt:lpstr>Quota Management</vt:lpstr>
      <vt:lpstr>T&amp;Q Challenges</vt:lpstr>
      <vt:lpstr>T&amp;Q Key Elements</vt:lpstr>
      <vt:lpstr>Anaplan Territory and Quota Planning Application Out-of-the-box</vt:lpstr>
      <vt:lpstr>High-Level The Anaplan Way for Applications </vt:lpstr>
      <vt:lpstr>The Anaplan Way for Applications </vt:lpstr>
      <vt:lpstr>The Anaplan Way for Applications – Base Application + Extension Deployment</vt:lpstr>
      <vt:lpstr>Workshops Agenda, Participants, and Outcomes </vt:lpstr>
      <vt:lpstr>Workshops Agenda, Participants, and Outcomes</vt:lpstr>
      <vt:lpstr>Implementation Risks</vt:lpstr>
      <vt:lpstr>Have feedback or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revision>2</cp:revision>
  <cp:lastPrinted>2019-08-13T18:16:27Z</cp:lastPrinted>
  <dcterms:created xsi:type="dcterms:W3CDTF">2017-07-06T21:11:50Z</dcterms:created>
  <dcterms:modified xsi:type="dcterms:W3CDTF">2026-04-08T00:24:30Z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